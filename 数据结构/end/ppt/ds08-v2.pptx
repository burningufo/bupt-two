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341" r:id="rId6"/>
    <p:sldId id="259" r:id="rId7"/>
    <p:sldId id="260" r:id="rId8"/>
    <p:sldId id="261" r:id="rId9"/>
    <p:sldId id="263" r:id="rId10"/>
    <p:sldId id="264" r:id="rId11"/>
    <p:sldId id="266" r:id="rId12"/>
    <p:sldId id="267" r:id="rId13"/>
    <p:sldId id="268" r:id="rId14"/>
    <p:sldId id="269" r:id="rId15"/>
    <p:sldId id="274" r:id="rId16"/>
    <p:sldId id="270" r:id="rId17"/>
    <p:sldId id="271" r:id="rId18"/>
    <p:sldId id="281" r:id="rId19"/>
    <p:sldId id="342" r:id="rId20"/>
    <p:sldId id="343" r:id="rId21"/>
    <p:sldId id="284" r:id="rId22"/>
    <p:sldId id="285" r:id="rId23"/>
    <p:sldId id="344" r:id="rId24"/>
    <p:sldId id="286" r:id="rId25"/>
    <p:sldId id="345" r:id="rId26"/>
    <p:sldId id="335" r:id="rId27"/>
    <p:sldId id="287" r:id="rId28"/>
    <p:sldId id="288" r:id="rId29"/>
    <p:sldId id="289" r:id="rId30"/>
    <p:sldId id="346" r:id="rId31"/>
    <p:sldId id="291" r:id="rId32"/>
    <p:sldId id="292" r:id="rId33"/>
    <p:sldId id="293" r:id="rId34"/>
    <p:sldId id="347" r:id="rId35"/>
    <p:sldId id="294" r:id="rId36"/>
    <p:sldId id="295" r:id="rId37"/>
    <p:sldId id="296" r:id="rId38"/>
    <p:sldId id="297" r:id="rId39"/>
    <p:sldId id="298" r:id="rId40"/>
    <p:sldId id="299" r:id="rId41"/>
    <p:sldId id="300" r:id="rId42"/>
    <p:sldId id="301" r:id="rId43"/>
    <p:sldId id="348" r:id="rId44"/>
    <p:sldId id="349" r:id="rId45"/>
    <p:sldId id="302" r:id="rId46"/>
    <p:sldId id="304" r:id="rId47"/>
    <p:sldId id="305" r:id="rId48"/>
    <p:sldId id="306" r:id="rId49"/>
    <p:sldId id="308" r:id="rId50"/>
    <p:sldId id="307" r:id="rId51"/>
    <p:sldId id="311" r:id="rId52"/>
    <p:sldId id="310" r:id="rId53"/>
    <p:sldId id="312" r:id="rId54"/>
    <p:sldId id="313" r:id="rId55"/>
    <p:sldId id="314" r:id="rId56"/>
    <p:sldId id="315" r:id="rId57"/>
    <p:sldId id="316" r:id="rId58"/>
    <p:sldId id="317" r:id="rId59"/>
    <p:sldId id="318" r:id="rId60"/>
    <p:sldId id="319" r:id="rId61"/>
    <p:sldId id="320" r:id="rId62"/>
    <p:sldId id="321" r:id="rId63"/>
    <p:sldId id="350" r:id="rId64"/>
    <p:sldId id="322" r:id="rId65"/>
    <p:sldId id="323" r:id="rId66"/>
    <p:sldId id="351" r:id="rId67"/>
    <p:sldId id="352" r:id="rId68"/>
    <p:sldId id="324" r:id="rId69"/>
    <p:sldId id="325" r:id="rId70"/>
    <p:sldId id="353" r:id="rId71"/>
    <p:sldId id="354" r:id="rId72"/>
    <p:sldId id="326" r:id="rId73"/>
    <p:sldId id="327" r:id="rId74"/>
    <p:sldId id="328" r:id="rId75"/>
    <p:sldId id="338" r:id="rId76"/>
    <p:sldId id="340" r:id="rId77"/>
    <p:sldId id="339" r:id="rId78"/>
    <p:sldId id="329" r:id="rId79"/>
    <p:sldId id="330" r:id="rId80"/>
    <p:sldId id="331" r:id="rId81"/>
    <p:sldId id="332" r:id="rId82"/>
    <p:sldId id="333" r:id="rId83"/>
    <p:sldId id="334" r:id="rId84"/>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50" d="100"/>
          <a:sy n="50" d="100"/>
        </p:scale>
        <p:origin x="1090" y="29"/>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7" Type="http://schemas.openxmlformats.org/officeDocument/2006/relationships/tableStyles" Target="tableStyles.xml"/><Relationship Id="rId86" Type="http://schemas.openxmlformats.org/officeDocument/2006/relationships/viewProps" Target="viewProps.xml"/><Relationship Id="rId85" Type="http://schemas.openxmlformats.org/officeDocument/2006/relationships/presProps" Target="presProps.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7.vml.rels><?xml version="1.0" encoding="UTF-8" standalone="yes"?>
<Relationships xmlns="http://schemas.openxmlformats.org/package/2006/relationships"><Relationship Id="rId7" Type="http://schemas.openxmlformats.org/officeDocument/2006/relationships/image" Target="../media/image25.wmf"/><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Rectangle 2"/>
          <p:cNvSpPr>
            <a:spLocks noChangeArrowheads="1"/>
          </p:cNvSpPr>
          <p:nvPr/>
        </p:nvSpPr>
        <p:spPr bwMode="ltGray">
          <a:xfrm>
            <a:off x="0" y="6611938"/>
            <a:ext cx="9144000" cy="26035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dirty="0" smtClean="0">
              <a:latin typeface="Times New Roman" panose="02020603050405020304" pitchFamily="18" charset="0"/>
              <a:ea typeface="华文楷体" panose="02010600040101010101" pitchFamily="2" charset="-122"/>
            </a:endParaRP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37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5"/>
          <p:cNvSpPr txBox="1">
            <a:spLocks noChangeArrowheads="1"/>
          </p:cNvSpPr>
          <p:nvPr/>
        </p:nvSpPr>
        <p:spPr bwMode="auto">
          <a:xfrm>
            <a:off x="376238" y="228600"/>
            <a:ext cx="11477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600" b="1" dirty="0" smtClean="0">
                <a:solidFill>
                  <a:schemeClr val="tx2"/>
                </a:solidFill>
                <a:latin typeface="Times New Roman" panose="02020603050405020304" pitchFamily="18" charset="0"/>
                <a:ea typeface="华文楷体" panose="02010600040101010101" pitchFamily="2" charset="-122"/>
              </a:rPr>
              <a:t>BUPT</a:t>
            </a:r>
            <a:endParaRPr lang="en-US" altLang="zh-CN" sz="2400" b="1" dirty="0" smtClean="0">
              <a:latin typeface="Times New Roman" panose="02020603050405020304" pitchFamily="18" charset="0"/>
              <a:ea typeface="华文楷体" panose="02010600040101010101" pitchFamily="2" charset="-122"/>
            </a:endParaRPr>
          </a:p>
        </p:txBody>
      </p:sp>
      <p:sp>
        <p:nvSpPr>
          <p:cNvPr id="5124" name="Rectangle 4"/>
          <p:cNvSpPr>
            <a:spLocks noGrp="1" noChangeArrowheads="1"/>
          </p:cNvSpPr>
          <p:nvPr>
            <p:ph type="subTitle" idx="1"/>
          </p:nvPr>
        </p:nvSpPr>
        <p:spPr bwMode="gray">
          <a:xfrm>
            <a:off x="1371600" y="5867400"/>
            <a:ext cx="6553200" cy="533400"/>
          </a:xfrm>
        </p:spPr>
        <p:txBody>
          <a:bodyPr/>
          <a:lstStyle>
            <a:lvl1pPr marL="0" indent="0" algn="ctr">
              <a:buFont typeface="Wingdings" panose="05000000000000000000" pitchFamily="2" charset="2"/>
              <a:buNone/>
              <a:defRPr sz="1800" b="1">
                <a:solidFill>
                  <a:schemeClr val="tx2"/>
                </a:solidFill>
                <a:latin typeface="Verdana" panose="020B0604030504040204" pitchFamily="34" charset="0"/>
              </a:defRPr>
            </a:lvl1pPr>
          </a:lstStyle>
          <a:p>
            <a:pPr lvl="0"/>
            <a:r>
              <a:rPr lang="en-US" altLang="zh-CN" noProof="0" smtClean="0"/>
              <a:t>Click to edit Master subtitle style</a:t>
            </a:r>
            <a:endParaRPr lang="en-US" altLang="zh-CN" noProof="0" smtClean="0"/>
          </a:p>
        </p:txBody>
      </p:sp>
      <p:sp>
        <p:nvSpPr>
          <p:cNvPr id="5126" name="Rectangle 6"/>
          <p:cNvSpPr>
            <a:spLocks noGrp="1" noChangeArrowheads="1"/>
          </p:cNvSpPr>
          <p:nvPr>
            <p:ph type="ctrTitle" sz="quarter" hasCustomPrompt="1"/>
          </p:nvPr>
        </p:nvSpPr>
        <p:spPr bwMode="gray">
          <a:xfrm>
            <a:off x="0" y="4868863"/>
            <a:ext cx="9144000" cy="720725"/>
          </a:xfrm>
          <a:gradFill rotWithShape="1">
            <a:gsLst>
              <a:gs pos="0">
                <a:schemeClr val="tx1">
                  <a:gamma/>
                  <a:shade val="46275"/>
                  <a:invGamma/>
                </a:schemeClr>
              </a:gs>
              <a:gs pos="50000">
                <a:schemeClr val="tx1"/>
              </a:gs>
              <a:gs pos="100000">
                <a:schemeClr val="tx1">
                  <a:gamma/>
                  <a:shade val="46275"/>
                  <a:invGamma/>
                </a:schemeClr>
              </a:gs>
            </a:gsLst>
            <a:lin ang="0" scaled="1"/>
          </a:gradFill>
          <a:extLst>
            <a:ext uri="{AF507438-7753-43E0-B8FC-AC1667EBCBE1}">
              <a14:hiddenEffects xmlns:a14="http://schemas.microsoft.com/office/drawing/2010/main">
                <a:effectLst>
                  <a:outerShdw dist="81320" dir="3080412" algn="ctr" rotWithShape="0">
                    <a:schemeClr val="tx2">
                      <a:alpha val="50000"/>
                    </a:schemeClr>
                  </a:outerShdw>
                </a:effectLst>
              </a14:hiddenEffects>
            </a:ext>
          </a:extLst>
        </p:spPr>
        <p:txBody>
          <a:bodyPr/>
          <a:lstStyle>
            <a:lvl1pPr>
              <a:defRPr sz="4000"/>
            </a:lvl1pPr>
          </a:lstStyle>
          <a:p>
            <a:pPr lvl="0"/>
            <a:r>
              <a:rPr lang="en-US" altLang="ko-KR" noProof="0" smtClean="0"/>
              <a:t>Click to edit Master title</a:t>
            </a:r>
            <a:br>
              <a:rPr lang="en-US" altLang="ko-KR" noProof="0" smtClean="0"/>
            </a:br>
            <a:r>
              <a:rPr lang="en-US" altLang="ko-KR" noProof="0" smtClean="0"/>
              <a:t> style</a:t>
            </a:r>
            <a:endParaRPr lang="en-US" altLang="ko-KR"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5" name="Rectangle 5"/>
          <p:cNvSpPr>
            <a:spLocks noGrp="1" noChangeArrowheads="1"/>
          </p:cNvSpPr>
          <p:nvPr>
            <p:ph type="sldNum" sz="quarter" idx="11"/>
          </p:nvPr>
        </p:nvSpPr>
        <p:spPr/>
        <p:txBody>
          <a:bodyPr/>
          <a:lstStyle>
            <a:lvl1pPr>
              <a:defRPr/>
            </a:lvl1pPr>
          </a:lstStyle>
          <a:p>
            <a:pPr>
              <a:defRPr/>
            </a:pPr>
            <a:fld id="{AA2A0524-B160-4EAD-8E7B-AB932AA0134A}" type="slidenum">
              <a:rPr lang="en-US" altLang="zh-CN"/>
            </a:fld>
            <a:endParaRPr lang="en-US" altLang="zh-CN"/>
          </a:p>
        </p:txBody>
      </p:sp>
      <p:sp>
        <p:nvSpPr>
          <p:cNvPr id="6"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endParaRPr lang="zh-CN" altLang="en-US" smtClean="0"/>
          </a:p>
        </p:txBody>
      </p:sp>
      <p:sp>
        <p:nvSpPr>
          <p:cNvPr id="4"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5" name="Rectangle 5"/>
          <p:cNvSpPr>
            <a:spLocks noGrp="1" noChangeArrowheads="1"/>
          </p:cNvSpPr>
          <p:nvPr>
            <p:ph type="sldNum" sz="quarter" idx="11"/>
          </p:nvPr>
        </p:nvSpPr>
        <p:spPr/>
        <p:txBody>
          <a:bodyPr/>
          <a:lstStyle>
            <a:lvl1pPr>
              <a:defRPr/>
            </a:lvl1pPr>
          </a:lstStyle>
          <a:p>
            <a:pPr>
              <a:defRPr/>
            </a:pPr>
            <a:fld id="{B5F775F9-D32D-49AD-8654-BD4000FBEE2F}" type="slidenum">
              <a:rPr lang="en-US" altLang="zh-CN"/>
            </a:fld>
            <a:endParaRPr lang="en-US" altLang="zh-CN"/>
          </a:p>
        </p:txBody>
      </p:sp>
      <p:sp>
        <p:nvSpPr>
          <p:cNvPr id="6"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457200" y="1152525"/>
            <a:ext cx="4038600" cy="5248275"/>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4648200" y="1152525"/>
            <a:ext cx="4038600" cy="5248275"/>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6" name="Rectangle 5"/>
          <p:cNvSpPr>
            <a:spLocks noGrp="1" noChangeArrowheads="1"/>
          </p:cNvSpPr>
          <p:nvPr>
            <p:ph type="sldNum" sz="quarter" idx="11"/>
          </p:nvPr>
        </p:nvSpPr>
        <p:spPr/>
        <p:txBody>
          <a:bodyPr/>
          <a:lstStyle>
            <a:lvl1pPr>
              <a:defRPr/>
            </a:lvl1pPr>
          </a:lstStyle>
          <a:p>
            <a:pPr>
              <a:defRPr/>
            </a:pPr>
            <a:fld id="{87F786CE-FC12-44CE-AC38-ADDE4659D9B9}" type="slidenum">
              <a:rPr lang="en-US" altLang="zh-CN"/>
            </a:fld>
            <a:endParaRPr lang="en-US" altLang="zh-CN"/>
          </a:p>
        </p:txBody>
      </p:sp>
      <p:sp>
        <p:nvSpPr>
          <p:cNvPr id="7"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630238" y="2505075"/>
            <a:ext cx="3868737"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8" name="Rectangle 5"/>
          <p:cNvSpPr>
            <a:spLocks noGrp="1" noChangeArrowheads="1"/>
          </p:cNvSpPr>
          <p:nvPr>
            <p:ph type="sldNum" sz="quarter" idx="11"/>
          </p:nvPr>
        </p:nvSpPr>
        <p:spPr/>
        <p:txBody>
          <a:bodyPr/>
          <a:lstStyle>
            <a:lvl1pPr>
              <a:defRPr/>
            </a:lvl1pPr>
          </a:lstStyle>
          <a:p>
            <a:pPr>
              <a:defRPr/>
            </a:pPr>
            <a:fld id="{0CE8B565-6D13-4847-BBA9-6101EE3E0197}" type="slidenum">
              <a:rPr lang="en-US" altLang="zh-CN"/>
            </a:fld>
            <a:endParaRPr lang="en-US" altLang="zh-CN"/>
          </a:p>
        </p:txBody>
      </p:sp>
      <p:sp>
        <p:nvSpPr>
          <p:cNvPr id="9"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4" name="Rectangle 5"/>
          <p:cNvSpPr>
            <a:spLocks noGrp="1" noChangeArrowheads="1"/>
          </p:cNvSpPr>
          <p:nvPr>
            <p:ph type="sldNum" sz="quarter" idx="11"/>
          </p:nvPr>
        </p:nvSpPr>
        <p:spPr/>
        <p:txBody>
          <a:bodyPr/>
          <a:lstStyle>
            <a:lvl1pPr>
              <a:defRPr/>
            </a:lvl1pPr>
          </a:lstStyle>
          <a:p>
            <a:pPr>
              <a:defRPr/>
            </a:pPr>
            <a:fld id="{E0C78136-8881-43EE-9B7D-B3F9477B44BC}" type="slidenum">
              <a:rPr lang="en-US" altLang="zh-CN"/>
            </a:fld>
            <a:endParaRPr lang="en-US" altLang="zh-CN"/>
          </a:p>
        </p:txBody>
      </p:sp>
      <p:sp>
        <p:nvSpPr>
          <p:cNvPr id="5"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3" name="Rectangle 5"/>
          <p:cNvSpPr>
            <a:spLocks noGrp="1" noChangeArrowheads="1"/>
          </p:cNvSpPr>
          <p:nvPr>
            <p:ph type="sldNum" sz="quarter" idx="11"/>
          </p:nvPr>
        </p:nvSpPr>
        <p:spPr/>
        <p:txBody>
          <a:bodyPr/>
          <a:lstStyle>
            <a:lvl1pPr>
              <a:defRPr/>
            </a:lvl1pPr>
          </a:lstStyle>
          <a:p>
            <a:pPr>
              <a:defRPr/>
            </a:pPr>
            <a:fld id="{58A9BC94-F77E-443A-B3E2-E4AB2624F5C6}" type="slidenum">
              <a:rPr lang="en-US" altLang="zh-CN"/>
            </a:fld>
            <a:endParaRPr lang="en-US" altLang="zh-CN"/>
          </a:p>
        </p:txBody>
      </p:sp>
      <p:sp>
        <p:nvSpPr>
          <p:cNvPr id="4"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6" name="Rectangle 5"/>
          <p:cNvSpPr>
            <a:spLocks noGrp="1" noChangeArrowheads="1"/>
          </p:cNvSpPr>
          <p:nvPr>
            <p:ph type="sldNum" sz="quarter" idx="11"/>
          </p:nvPr>
        </p:nvSpPr>
        <p:spPr/>
        <p:txBody>
          <a:bodyPr/>
          <a:lstStyle>
            <a:lvl1pPr>
              <a:defRPr/>
            </a:lvl1pPr>
          </a:lstStyle>
          <a:p>
            <a:pPr>
              <a:defRPr/>
            </a:pPr>
            <a:fld id="{7C2AB24F-B38E-424A-B1E5-82867E18DE4C}" type="slidenum">
              <a:rPr lang="en-US" altLang="zh-CN"/>
            </a:fld>
            <a:endParaRPr lang="en-US" altLang="zh-CN"/>
          </a:p>
        </p:txBody>
      </p:sp>
      <p:sp>
        <p:nvSpPr>
          <p:cNvPr id="7"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6" name="Rectangle 5"/>
          <p:cNvSpPr>
            <a:spLocks noGrp="1" noChangeArrowheads="1"/>
          </p:cNvSpPr>
          <p:nvPr>
            <p:ph type="sldNum" sz="quarter" idx="11"/>
          </p:nvPr>
        </p:nvSpPr>
        <p:spPr/>
        <p:txBody>
          <a:bodyPr/>
          <a:lstStyle>
            <a:lvl1pPr>
              <a:defRPr/>
            </a:lvl1pPr>
          </a:lstStyle>
          <a:p>
            <a:pPr>
              <a:defRPr/>
            </a:pPr>
            <a:fld id="{A4438DF4-98A6-4DCB-95D0-99167810D987}" type="slidenum">
              <a:rPr lang="en-US" altLang="zh-CN"/>
            </a:fld>
            <a:endParaRPr lang="en-US" altLang="zh-CN"/>
          </a:p>
        </p:txBody>
      </p:sp>
      <p:sp>
        <p:nvSpPr>
          <p:cNvPr id="7"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5" name="Rectangle 5"/>
          <p:cNvSpPr>
            <a:spLocks noGrp="1" noChangeArrowheads="1"/>
          </p:cNvSpPr>
          <p:nvPr>
            <p:ph type="sldNum" sz="quarter" idx="11"/>
          </p:nvPr>
        </p:nvSpPr>
        <p:spPr/>
        <p:txBody>
          <a:bodyPr/>
          <a:lstStyle>
            <a:lvl1pPr>
              <a:defRPr/>
            </a:lvl1pPr>
          </a:lstStyle>
          <a:p>
            <a:pPr>
              <a:defRPr/>
            </a:pPr>
            <a:fld id="{986B2A83-3190-4EB7-B98D-879D136BE5F3}" type="slidenum">
              <a:rPr lang="en-US" altLang="zh-CN"/>
            </a:fld>
            <a:endParaRPr lang="en-US" altLang="zh-CN"/>
          </a:p>
        </p:txBody>
      </p:sp>
      <p:sp>
        <p:nvSpPr>
          <p:cNvPr id="6"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304800" y="152400"/>
            <a:ext cx="6191250" cy="6248400"/>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5" name="Rectangle 5"/>
          <p:cNvSpPr>
            <a:spLocks noGrp="1" noChangeArrowheads="1"/>
          </p:cNvSpPr>
          <p:nvPr>
            <p:ph type="sldNum" sz="quarter" idx="11"/>
          </p:nvPr>
        </p:nvSpPr>
        <p:spPr/>
        <p:txBody>
          <a:bodyPr/>
          <a:lstStyle>
            <a:lvl1pPr>
              <a:defRPr/>
            </a:lvl1pPr>
          </a:lstStyle>
          <a:p>
            <a:pPr>
              <a:defRPr/>
            </a:pPr>
            <a:fld id="{E43ABF5B-D6CF-4D23-918E-D17F822C1C67}" type="slidenum">
              <a:rPr lang="en-US" altLang="zh-CN"/>
            </a:fld>
            <a:endParaRPr lang="en-US" altLang="zh-CN"/>
          </a:p>
        </p:txBody>
      </p:sp>
      <p:sp>
        <p:nvSpPr>
          <p:cNvPr id="6"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hasCustomPrompt="1"/>
          </p:nvPr>
        </p:nvSpPr>
        <p:spPr>
          <a:xfrm>
            <a:off x="457200" y="1152525"/>
            <a:ext cx="4038600" cy="5248275"/>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4648200" y="1152525"/>
            <a:ext cx="4038600" cy="5248275"/>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6" name="Rectangle 5"/>
          <p:cNvSpPr>
            <a:spLocks noGrp="1" noChangeArrowheads="1"/>
          </p:cNvSpPr>
          <p:nvPr>
            <p:ph type="sldNum" sz="quarter" idx="11"/>
          </p:nvPr>
        </p:nvSpPr>
        <p:spPr/>
        <p:txBody>
          <a:bodyPr/>
          <a:lstStyle>
            <a:lvl1pPr>
              <a:defRPr/>
            </a:lvl1pPr>
          </a:lstStyle>
          <a:p>
            <a:pPr>
              <a:defRPr/>
            </a:pPr>
            <a:fld id="{07BFE3FA-95C0-4CD2-ACCC-9A2D7159E439}" type="slidenum">
              <a:rPr lang="en-US" altLang="zh-CN"/>
            </a:fld>
            <a:endParaRPr lang="en-US" altLang="zh-CN"/>
          </a:p>
        </p:txBody>
      </p:sp>
      <p:sp>
        <p:nvSpPr>
          <p:cNvPr id="7"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hasCustomPrompt="1"/>
          </p:nvPr>
        </p:nvSpPr>
        <p:spPr>
          <a:xfrm>
            <a:off x="457200" y="1152525"/>
            <a:ext cx="4038600" cy="5248275"/>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hasCustomPrompt="1"/>
          </p:nvPr>
        </p:nvSpPr>
        <p:spPr>
          <a:xfrm>
            <a:off x="4648200" y="1152525"/>
            <a:ext cx="4038600" cy="25479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hasCustomPrompt="1"/>
          </p:nvPr>
        </p:nvSpPr>
        <p:spPr>
          <a:xfrm>
            <a:off x="4648200" y="3852863"/>
            <a:ext cx="4038600" cy="2547937"/>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Rectangle 4"/>
          <p:cNvSpPr>
            <a:spLocks noGrp="1" noChangeArrowheads="1"/>
          </p:cNvSpPr>
          <p:nvPr>
            <p:ph type="ftr" sz="quarter" idx="10"/>
          </p:nvPr>
        </p:nvSpPr>
        <p:spPr/>
        <p:txBody>
          <a:bodyPr/>
          <a:lstStyle>
            <a:lvl1pPr>
              <a:defRPr/>
            </a:lvl1pPr>
          </a:lstStyle>
          <a:p>
            <a:pPr>
              <a:defRPr/>
            </a:pPr>
            <a:r>
              <a:rPr lang="en-US" altLang="zh-CN"/>
              <a:t>BUPT SCST</a:t>
            </a:r>
            <a:endParaRPr lang="en-US" altLang="zh-CN"/>
          </a:p>
        </p:txBody>
      </p:sp>
      <p:sp>
        <p:nvSpPr>
          <p:cNvPr id="7" name="Rectangle 5"/>
          <p:cNvSpPr>
            <a:spLocks noGrp="1" noChangeArrowheads="1"/>
          </p:cNvSpPr>
          <p:nvPr>
            <p:ph type="sldNum" sz="quarter" idx="11"/>
          </p:nvPr>
        </p:nvSpPr>
        <p:spPr/>
        <p:txBody>
          <a:bodyPr/>
          <a:lstStyle>
            <a:lvl1pPr>
              <a:defRPr/>
            </a:lvl1pPr>
          </a:lstStyle>
          <a:p>
            <a:pPr>
              <a:defRPr/>
            </a:pPr>
            <a:fld id="{A118F7D7-2EDD-4793-9147-B364B80E3EF3}" type="slidenum">
              <a:rPr lang="en-US" altLang="zh-CN"/>
            </a:fld>
            <a:endParaRPr lang="en-US" altLang="zh-CN"/>
          </a:p>
        </p:txBody>
      </p:sp>
      <p:sp>
        <p:nvSpPr>
          <p:cNvPr id="8" name="Rectangle 8"/>
          <p:cNvSpPr>
            <a:spLocks noGrp="1" noChangeArrowheads="1"/>
          </p:cNvSpPr>
          <p:nvPr>
            <p:ph type="dt" sz="half" idx="12"/>
          </p:nvPr>
        </p:nvSpPr>
        <p:spPr/>
        <p:txBody>
          <a:bodyPr/>
          <a:lstStyle>
            <a:lvl1pPr>
              <a:defRPr/>
            </a:lvl1pPr>
          </a:lstStyle>
          <a:p>
            <a:pPr>
              <a:defRPr/>
            </a:pPr>
            <a:r>
              <a:rPr lang="en-US" altLang="zh-CN"/>
              <a:t>BUPT</a:t>
            </a: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ChangeArrowheads="1"/>
          </p:cNvSpPr>
          <p:nvPr/>
        </p:nvSpPr>
        <p:spPr bwMode="ltGray">
          <a:xfrm>
            <a:off x="0" y="0"/>
            <a:ext cx="9144000" cy="836613"/>
          </a:xfrm>
          <a:prstGeom prst="rect">
            <a:avLst/>
          </a:prstGeom>
          <a:gradFill rotWithShape="1">
            <a:gsLst>
              <a:gs pos="0">
                <a:schemeClr val="tx1">
                  <a:gamma/>
                  <a:shade val="46275"/>
                  <a:invGamma/>
                </a:schemeClr>
              </a:gs>
              <a:gs pos="50000">
                <a:schemeClr val="tx1"/>
              </a:gs>
              <a:gs pos="100000">
                <a:schemeClr val="tx1">
                  <a:gamma/>
                  <a:shade val="46275"/>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dirty="0">
              <a:latin typeface="Times New Roman" panose="02020603050405020304" pitchFamily="18" charset="0"/>
              <a:ea typeface="华文楷体" panose="02010600040101010101" pitchFamily="2" charset="-122"/>
            </a:endParaRPr>
          </a:p>
        </p:txBody>
      </p:sp>
      <p:sp>
        <p:nvSpPr>
          <p:cNvPr id="1027" name="Rectangle 3"/>
          <p:cNvSpPr>
            <a:spLocks noGrp="1" noChangeArrowheads="1"/>
          </p:cNvSpPr>
          <p:nvPr>
            <p:ph type="body" idx="1"/>
          </p:nvPr>
        </p:nvSpPr>
        <p:spPr bwMode="auto">
          <a:xfrm>
            <a:off x="457200" y="1152525"/>
            <a:ext cx="8229600" cy="524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dirty="0" smtClean="0"/>
              <a:t>Click to edit Master text styles</a:t>
            </a:r>
            <a:endParaRPr lang="en-US" altLang="zh-CN" dirty="0" smtClean="0"/>
          </a:p>
          <a:p>
            <a:pPr lvl="1"/>
            <a:r>
              <a:rPr lang="en-US" altLang="zh-CN" dirty="0" smtClean="0"/>
              <a:t>Second level</a:t>
            </a:r>
            <a:endParaRPr lang="en-US" altLang="zh-CN" dirty="0" smtClean="0"/>
          </a:p>
          <a:p>
            <a:pPr lvl="2"/>
            <a:r>
              <a:rPr lang="en-US" altLang="zh-CN" dirty="0" smtClean="0"/>
              <a:t>Third level</a:t>
            </a:r>
            <a:endParaRPr lang="en-US" altLang="zh-CN" dirty="0" smtClean="0"/>
          </a:p>
          <a:p>
            <a:pPr lvl="3"/>
            <a:r>
              <a:rPr lang="en-US" altLang="zh-CN" dirty="0" smtClean="0"/>
              <a:t>Fourth level</a:t>
            </a:r>
            <a:endParaRPr lang="en-US" altLang="zh-CN" dirty="0" smtClean="0"/>
          </a:p>
          <a:p>
            <a:pPr lvl="4"/>
            <a:r>
              <a:rPr lang="en-US" altLang="zh-CN" dirty="0" smtClean="0"/>
              <a:t>Fifth level</a:t>
            </a:r>
            <a:endParaRPr lang="en-US" altLang="zh-CN" dirty="0" smtClean="0"/>
          </a:p>
        </p:txBody>
      </p:sp>
      <p:sp>
        <p:nvSpPr>
          <p:cNvPr id="4100" name="Rectangle 4"/>
          <p:cNvSpPr>
            <a:spLocks noGrp="1" noChangeArrowheads="1"/>
          </p:cNvSpPr>
          <p:nvPr>
            <p:ph type="ftr" sz="quarter" idx="3"/>
          </p:nvPr>
        </p:nvSpPr>
        <p:spPr bwMode="auto">
          <a:xfrm>
            <a:off x="3851275" y="6461125"/>
            <a:ext cx="491172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b="1">
                <a:latin typeface="+mj-lt"/>
                <a:ea typeface="华文楷体" panose="02010600040101010101" pitchFamily="2" charset="-122"/>
              </a:defRPr>
            </a:lvl1pPr>
          </a:lstStyle>
          <a:p>
            <a:pPr>
              <a:defRPr/>
            </a:pPr>
            <a:r>
              <a:rPr lang="en-US" altLang="zh-CN" dirty="0" smtClean="0"/>
              <a:t>BUPT SCST</a:t>
            </a:r>
            <a:endParaRPr lang="en-US" altLang="zh-CN" dirty="0"/>
          </a:p>
        </p:txBody>
      </p:sp>
      <p:sp>
        <p:nvSpPr>
          <p:cNvPr id="4101" name="Rectangle 5"/>
          <p:cNvSpPr>
            <a:spLocks noGrp="1" noChangeArrowheads="1"/>
          </p:cNvSpPr>
          <p:nvPr>
            <p:ph type="sldNum" sz="quarter" idx="4"/>
          </p:nvPr>
        </p:nvSpPr>
        <p:spPr bwMode="auto">
          <a:xfrm>
            <a:off x="107950" y="6421438"/>
            <a:ext cx="79216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200">
                <a:latin typeface="+mj-lt"/>
                <a:ea typeface="华文楷体" panose="02010600040101010101" pitchFamily="2" charset="-122"/>
              </a:defRPr>
            </a:lvl1pPr>
          </a:lstStyle>
          <a:p>
            <a:pPr>
              <a:defRPr/>
            </a:pPr>
            <a:fld id="{7749AE74-C009-403F-B1C3-FBFEC1E781A2}" type="slidenum">
              <a:rPr lang="en-US" altLang="zh-CN" smtClean="0"/>
            </a:fld>
            <a:endParaRPr lang="en-US" altLang="zh-CN" dirty="0"/>
          </a:p>
        </p:txBody>
      </p:sp>
      <p:sp>
        <p:nvSpPr>
          <p:cNvPr id="1030" name="Rectangle 6"/>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en-US" altLang="zh-CN" smtClean="0"/>
              <a:t>Click to edit Master title style</a:t>
            </a:r>
            <a:endParaRPr lang="en-US" altLang="zh-CN" smtClean="0"/>
          </a:p>
        </p:txBody>
      </p:sp>
      <p:sp>
        <p:nvSpPr>
          <p:cNvPr id="1031" name="Text Box 7"/>
          <p:cNvSpPr txBox="1">
            <a:spLocks noChangeArrowheads="1"/>
          </p:cNvSpPr>
          <p:nvPr/>
        </p:nvSpPr>
        <p:spPr bwMode="gray">
          <a:xfrm>
            <a:off x="0" y="838200"/>
            <a:ext cx="9144000" cy="244475"/>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endParaRPr lang="zh-CN" altLang="zh-CN" sz="1000" b="1" dirty="0" smtClean="0">
              <a:solidFill>
                <a:schemeClr val="bg1"/>
              </a:solidFill>
              <a:latin typeface="Verdana" panose="020B0604030504040204" pitchFamily="34" charset="0"/>
              <a:ea typeface="华文楷体" panose="02010600040101010101" pitchFamily="2" charset="-122"/>
            </a:endParaRPr>
          </a:p>
        </p:txBody>
      </p:sp>
      <p:sp>
        <p:nvSpPr>
          <p:cNvPr id="4104" name="Rectangle 8"/>
          <p:cNvSpPr>
            <a:spLocks noGrp="1" noChangeArrowheads="1"/>
          </p:cNvSpPr>
          <p:nvPr>
            <p:ph type="dt" sz="half" idx="2"/>
          </p:nvPr>
        </p:nvSpPr>
        <p:spPr bwMode="gray">
          <a:xfrm>
            <a:off x="14288" y="838200"/>
            <a:ext cx="84582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b="1">
                <a:solidFill>
                  <a:schemeClr val="bg1"/>
                </a:solidFill>
                <a:latin typeface="+mj-lt"/>
                <a:ea typeface="华文楷体" panose="02010600040101010101" pitchFamily="2" charset="-122"/>
              </a:defRPr>
            </a:lvl1pPr>
          </a:lstStyle>
          <a:p>
            <a:pPr>
              <a:defRPr/>
            </a:pPr>
            <a:r>
              <a:rPr lang="en-US" altLang="zh-CN" dirty="0" smtClean="0"/>
              <a:t>BUPT</a:t>
            </a:r>
            <a:endParaRPr lang="en-US"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p:txStyles>
    <p:titleStyle>
      <a:lvl1pPr algn="ctr" rtl="0" eaLnBrk="0" fontAlgn="base" hangingPunct="0">
        <a:spcBef>
          <a:spcPct val="0"/>
        </a:spcBef>
        <a:spcAft>
          <a:spcPct val="0"/>
        </a:spcAft>
        <a:defRPr sz="3200" b="1" kern="1200">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anose="020B0604030504040204" pitchFamily="34" charset="0"/>
        </a:defRPr>
      </a:lvl2pPr>
      <a:lvl3pPr algn="ctr" rtl="0" eaLnBrk="0" fontAlgn="base" hangingPunct="0">
        <a:spcBef>
          <a:spcPct val="0"/>
        </a:spcBef>
        <a:spcAft>
          <a:spcPct val="0"/>
        </a:spcAft>
        <a:defRPr sz="3200" b="1">
          <a:solidFill>
            <a:schemeClr val="bg1"/>
          </a:solidFill>
          <a:latin typeface="Verdana" panose="020B0604030504040204" pitchFamily="34" charset="0"/>
        </a:defRPr>
      </a:lvl3pPr>
      <a:lvl4pPr algn="ctr" rtl="0" eaLnBrk="0" fontAlgn="base" hangingPunct="0">
        <a:spcBef>
          <a:spcPct val="0"/>
        </a:spcBef>
        <a:spcAft>
          <a:spcPct val="0"/>
        </a:spcAft>
        <a:defRPr sz="3200" b="1">
          <a:solidFill>
            <a:schemeClr val="bg1"/>
          </a:solidFill>
          <a:latin typeface="Verdana" panose="020B0604030504040204" pitchFamily="34" charset="0"/>
        </a:defRPr>
      </a:lvl4pPr>
      <a:lvl5pPr algn="ctr" rtl="0" eaLnBrk="0" fontAlgn="base" hangingPunct="0">
        <a:spcBef>
          <a:spcPct val="0"/>
        </a:spcBef>
        <a:spcAft>
          <a:spcPct val="0"/>
        </a:spcAft>
        <a:defRPr sz="3200" b="1">
          <a:solidFill>
            <a:schemeClr val="bg1"/>
          </a:solidFill>
          <a:latin typeface="Verdana" panose="020B0604030504040204" pitchFamily="34" charset="0"/>
        </a:defRPr>
      </a:lvl5pPr>
      <a:lvl6pPr marL="457200" algn="ctr" rtl="0" fontAlgn="base">
        <a:spcBef>
          <a:spcPct val="0"/>
        </a:spcBef>
        <a:spcAft>
          <a:spcPct val="0"/>
        </a:spcAft>
        <a:defRPr sz="3200" b="1">
          <a:solidFill>
            <a:schemeClr val="bg1"/>
          </a:solidFill>
          <a:latin typeface="Verdana" panose="020B0604030504040204" pitchFamily="34" charset="0"/>
        </a:defRPr>
      </a:lvl6pPr>
      <a:lvl7pPr marL="914400" algn="ctr" rtl="0" fontAlgn="base">
        <a:spcBef>
          <a:spcPct val="0"/>
        </a:spcBef>
        <a:spcAft>
          <a:spcPct val="0"/>
        </a:spcAft>
        <a:defRPr sz="3200" b="1">
          <a:solidFill>
            <a:schemeClr val="bg1"/>
          </a:solidFill>
          <a:latin typeface="Verdana" panose="020B0604030504040204" pitchFamily="34" charset="0"/>
        </a:defRPr>
      </a:lvl7pPr>
      <a:lvl8pPr marL="1371600" algn="ctr" rtl="0" fontAlgn="base">
        <a:spcBef>
          <a:spcPct val="0"/>
        </a:spcBef>
        <a:spcAft>
          <a:spcPct val="0"/>
        </a:spcAft>
        <a:defRPr sz="3200" b="1">
          <a:solidFill>
            <a:schemeClr val="bg1"/>
          </a:solidFill>
          <a:latin typeface="Verdana" panose="020B0604030504040204" pitchFamily="34" charset="0"/>
        </a:defRPr>
      </a:lvl8pPr>
      <a:lvl9pPr marL="1828800" algn="ctr" rtl="0" fontAlgn="base">
        <a:spcBef>
          <a:spcPct val="0"/>
        </a:spcBef>
        <a:spcAft>
          <a:spcPct val="0"/>
        </a:spcAft>
        <a:defRPr sz="3200" b="1">
          <a:solidFill>
            <a:schemeClr val="bg1"/>
          </a:solidFill>
          <a:latin typeface="Verdana" panose="020B0604030504040204"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tx1"/>
        </a:buClr>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2.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2.xml"/><Relationship Id="rId2" Type="http://schemas.openxmlformats.org/officeDocument/2006/relationships/image" Target="../media/image4.wmf"/><Relationship Id="rId1"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12.xml"/><Relationship Id="rId2" Type="http://schemas.openxmlformats.org/officeDocument/2006/relationships/image" Target="../media/image5.wmf"/><Relationship Id="rId1"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12.xml"/><Relationship Id="rId2" Type="http://schemas.openxmlformats.org/officeDocument/2006/relationships/image" Target="../media/image6.wmf"/><Relationship Id="rId1" Type="http://schemas.openxmlformats.org/officeDocument/2006/relationships/oleObject" Target="../embeddings/oleObject4.bin"/></Relationships>
</file>

<file path=ppt/slides/_rels/slide13.xml.rels><?xml version="1.0" encoding="UTF-8" standalone="yes"?>
<Relationships xmlns="http://schemas.openxmlformats.org/package/2006/relationships"><Relationship Id="rId8" Type="http://schemas.openxmlformats.org/officeDocument/2006/relationships/vmlDrawing" Target="../drawings/vmlDrawing5.vml"/><Relationship Id="rId7" Type="http://schemas.openxmlformats.org/officeDocument/2006/relationships/slideLayout" Target="../slideLayouts/slideLayout13.xml"/><Relationship Id="rId6" Type="http://schemas.openxmlformats.org/officeDocument/2006/relationships/image" Target="../media/image9.wmf"/><Relationship Id="rId5" Type="http://schemas.openxmlformats.org/officeDocument/2006/relationships/oleObject" Target="../embeddings/oleObject7.bin"/><Relationship Id="rId4" Type="http://schemas.openxmlformats.org/officeDocument/2006/relationships/image" Target="../media/image8.wmf"/><Relationship Id="rId3" Type="http://schemas.openxmlformats.org/officeDocument/2006/relationships/oleObject" Target="../embeddings/oleObject6.bin"/><Relationship Id="rId2" Type="http://schemas.openxmlformats.org/officeDocument/2006/relationships/image" Target="../media/image7.wmf"/><Relationship Id="rId1" Type="http://schemas.openxmlformats.org/officeDocument/2006/relationships/oleObject" Target="../embeddings/oleObject5.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vmlDrawing" Target="../drawings/vmlDrawing6.vml"/><Relationship Id="rId7" Type="http://schemas.openxmlformats.org/officeDocument/2006/relationships/slideLayout" Target="../slideLayouts/slideLayout13.xml"/><Relationship Id="rId6" Type="http://schemas.openxmlformats.org/officeDocument/2006/relationships/image" Target="../media/image12.wmf"/><Relationship Id="rId5" Type="http://schemas.openxmlformats.org/officeDocument/2006/relationships/oleObject" Target="../embeddings/oleObject10.bin"/><Relationship Id="rId4" Type="http://schemas.openxmlformats.org/officeDocument/2006/relationships/image" Target="../media/image11.wmf"/><Relationship Id="rId3" Type="http://schemas.openxmlformats.org/officeDocument/2006/relationships/oleObject" Target="../embeddings/oleObject9.bin"/><Relationship Id="rId2" Type="http://schemas.openxmlformats.org/officeDocument/2006/relationships/image" Target="../media/image10.wmf"/><Relationship Id="rId1" Type="http://schemas.openxmlformats.org/officeDocument/2006/relationships/oleObject" Target="../embeddings/oleObject8.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emf"/><Relationship Id="rId1" Type="http://schemas.openxmlformats.org/officeDocument/2006/relationships/image" Target="../media/image13.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image" Target="../media/image15.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79.xml.rels><?xml version="1.0" encoding="UTF-8" standalone="yes"?>
<Relationships xmlns="http://schemas.openxmlformats.org/package/2006/relationships"><Relationship Id="rId9" Type="http://schemas.openxmlformats.org/officeDocument/2006/relationships/oleObject" Target="../embeddings/oleObject15.bin"/><Relationship Id="rId8" Type="http://schemas.openxmlformats.org/officeDocument/2006/relationships/image" Target="../media/image22.wmf"/><Relationship Id="rId7" Type="http://schemas.openxmlformats.org/officeDocument/2006/relationships/oleObject" Target="../embeddings/oleObject14.bin"/><Relationship Id="rId6" Type="http://schemas.openxmlformats.org/officeDocument/2006/relationships/image" Target="../media/image21.wmf"/><Relationship Id="rId5" Type="http://schemas.openxmlformats.org/officeDocument/2006/relationships/oleObject" Target="../embeddings/oleObject13.bin"/><Relationship Id="rId4" Type="http://schemas.openxmlformats.org/officeDocument/2006/relationships/image" Target="../media/image20.wmf"/><Relationship Id="rId3" Type="http://schemas.openxmlformats.org/officeDocument/2006/relationships/oleObject" Target="../embeddings/oleObject12.bin"/><Relationship Id="rId2" Type="http://schemas.openxmlformats.org/officeDocument/2006/relationships/image" Target="../media/image19.wmf"/><Relationship Id="rId16" Type="http://schemas.openxmlformats.org/officeDocument/2006/relationships/vmlDrawing" Target="../drawings/vmlDrawing7.vml"/><Relationship Id="rId15" Type="http://schemas.openxmlformats.org/officeDocument/2006/relationships/slideLayout" Target="../slideLayouts/slideLayout13.xml"/><Relationship Id="rId14" Type="http://schemas.openxmlformats.org/officeDocument/2006/relationships/image" Target="../media/image25.wmf"/><Relationship Id="rId13" Type="http://schemas.openxmlformats.org/officeDocument/2006/relationships/oleObject" Target="../embeddings/oleObject17.bin"/><Relationship Id="rId12" Type="http://schemas.openxmlformats.org/officeDocument/2006/relationships/image" Target="../media/image24.wmf"/><Relationship Id="rId11" Type="http://schemas.openxmlformats.org/officeDocument/2006/relationships/oleObject" Target="../embeddings/oleObject16.bin"/><Relationship Id="rId10" Type="http://schemas.openxmlformats.org/officeDocument/2006/relationships/image" Target="../media/image23.wmf"/><Relationship Id="rId1" Type="http://schemas.openxmlformats.org/officeDocument/2006/relationships/oleObject" Target="../embeddings/oleObject11.bin"/></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eaLnBrk="1" hangingPunct="1">
              <a:defRPr/>
            </a:pPr>
            <a:r>
              <a:rPr lang="zh-CN" altLang="en-US" dirty="0" smtClean="0">
                <a:ea typeface="华文楷体" panose="02010600040101010101" pitchFamily="2" charset="-122"/>
              </a:rPr>
              <a:t>第八章   查找</a:t>
            </a:r>
            <a:endParaRPr lang="zh-CN" altLang="en-US" dirty="0" smtClean="0">
              <a:ea typeface="华文楷体" panose="02010600040101010101" pitchFamily="2" charset="-122"/>
            </a:endParaRPr>
          </a:p>
        </p:txBody>
      </p:sp>
      <p:sp>
        <p:nvSpPr>
          <p:cNvPr id="3075" name="Rectangle 3"/>
          <p:cNvSpPr>
            <a:spLocks noGrp="1" noChangeArrowheads="1"/>
          </p:cNvSpPr>
          <p:nvPr>
            <p:ph type="subTitle" idx="1"/>
          </p:nvPr>
        </p:nvSpPr>
        <p:spPr/>
        <p:txBody>
          <a:bodyPr/>
          <a:lstStyle/>
          <a:p>
            <a:pPr eaLnBrk="1" hangingPunct="1"/>
            <a:r>
              <a:rPr lang="zh-CN" altLang="en-US" dirty="0">
                <a:ea typeface="华文楷体" panose="02010600040101010101" pitchFamily="2" charset="-122"/>
              </a:rPr>
              <a:t>杨</a:t>
            </a:r>
            <a:r>
              <a:rPr lang="zh-CN" altLang="en-US" dirty="0" smtClean="0">
                <a:ea typeface="华文楷体" panose="02010600040101010101" pitchFamily="2" charset="-122"/>
              </a:rPr>
              <a:t>震    计算机学院</a:t>
            </a:r>
            <a:endParaRPr lang="zh-CN" altLang="zh-CN"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4100" name="Rectangle 2"/>
          <p:cNvSpPr>
            <a:spLocks noGrp="1" noChangeArrowheads="1"/>
          </p:cNvSpPr>
          <p:nvPr>
            <p:ph type="title"/>
          </p:nvPr>
        </p:nvSpPr>
        <p:spPr/>
        <p:txBody>
          <a:bodyPr/>
          <a:lstStyle/>
          <a:p>
            <a:pPr algn="l" eaLnBrk="1" hangingPunct="1"/>
            <a:r>
              <a:rPr lang="en-US" altLang="zh-CN" sz="2800" dirty="0" smtClean="0">
                <a:ea typeface="华文楷体" panose="02010600040101010101" pitchFamily="2" charset="-122"/>
              </a:rPr>
              <a:t>8.1 </a:t>
            </a:r>
            <a:r>
              <a:rPr lang="zh-CN" altLang="en-US" sz="2800" dirty="0" smtClean="0">
                <a:ea typeface="华文楷体" panose="02010600040101010101" pitchFamily="2" charset="-122"/>
              </a:rPr>
              <a:t>基本概念与术语</a:t>
            </a:r>
            <a:endParaRPr lang="zh-CN" altLang="en-US" sz="2800" dirty="0" smtClean="0">
              <a:ea typeface="华文楷体" panose="02010600040101010101" pitchFamily="2" charset="-122"/>
            </a:endParaRPr>
          </a:p>
        </p:txBody>
      </p:sp>
      <p:sp>
        <p:nvSpPr>
          <p:cNvPr id="4101"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zh-CN" altLang="en-US" sz="2400" b="1" dirty="0" smtClean="0">
                <a:solidFill>
                  <a:srgbClr val="FF3300"/>
                </a:solidFill>
                <a:ea typeface="华文楷体" panose="02010600040101010101" pitchFamily="2" charset="-122"/>
              </a:rPr>
              <a:t>查找表   </a:t>
            </a:r>
            <a:r>
              <a:rPr lang="zh-CN" altLang="en-US" sz="2400" dirty="0" smtClean="0">
                <a:ea typeface="华文楷体" panose="02010600040101010101" pitchFamily="2" charset="-122"/>
              </a:rPr>
              <a:t>同一类型的记录</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数据元素</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的</a:t>
            </a:r>
            <a:r>
              <a:rPr lang="zh-CN" altLang="en-US" sz="2400" b="1" dirty="0" smtClean="0">
                <a:solidFill>
                  <a:srgbClr val="FF3300"/>
                </a:solidFill>
                <a:ea typeface="华文楷体" panose="02010600040101010101" pitchFamily="2" charset="-122"/>
              </a:rPr>
              <a:t>集合</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b="1" dirty="0" smtClean="0">
                <a:solidFill>
                  <a:srgbClr val="FF3300"/>
                </a:solidFill>
                <a:ea typeface="华文楷体" panose="02010600040101010101" pitchFamily="2" charset="-122"/>
              </a:rPr>
              <a:t>查找   </a:t>
            </a:r>
            <a:r>
              <a:rPr lang="zh-CN" altLang="en-US" sz="2400" dirty="0" smtClean="0">
                <a:ea typeface="华文楷体" panose="02010600040101010101" pitchFamily="2" charset="-122"/>
              </a:rPr>
              <a:t>指定某个值，在查找表中确定是否存在一个记录，该记录的</a:t>
            </a:r>
            <a:r>
              <a:rPr lang="zh-CN" altLang="en-US" sz="2400" b="1" dirty="0" smtClean="0">
                <a:ea typeface="华文楷体" panose="02010600040101010101" pitchFamily="2" charset="-122"/>
              </a:rPr>
              <a:t>关键字</a:t>
            </a:r>
            <a:r>
              <a:rPr lang="zh-CN" altLang="en-US" sz="2400" dirty="0" smtClean="0">
                <a:ea typeface="华文楷体" panose="02010600040101010101" pitchFamily="2" charset="-122"/>
              </a:rPr>
              <a:t>等于给定值。</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b="1" dirty="0" smtClean="0">
                <a:solidFill>
                  <a:srgbClr val="FF3300"/>
                </a:solidFill>
                <a:ea typeface="华文楷体" panose="02010600040101010101" pitchFamily="2" charset="-122"/>
              </a:rPr>
              <a:t>关键字   </a:t>
            </a:r>
            <a:r>
              <a:rPr lang="zh-CN" altLang="en-US" sz="2400" dirty="0" smtClean="0">
                <a:ea typeface="华文楷体" panose="02010600040101010101" pitchFamily="2" charset="-122"/>
              </a:rPr>
              <a:t>记录</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数据元素</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中的某个数据项的值。</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solidFill>
                  <a:srgbClr val="FF3300"/>
                </a:solidFill>
                <a:ea typeface="华文楷体" panose="02010600040101010101" pitchFamily="2" charset="-122"/>
              </a:rPr>
              <a:t>     </a:t>
            </a:r>
            <a:r>
              <a:rPr lang="zh-CN" altLang="en-US" sz="2400" b="1" dirty="0" smtClean="0">
                <a:solidFill>
                  <a:srgbClr val="FF3300"/>
                </a:solidFill>
                <a:ea typeface="华文楷体" panose="02010600040101010101" pitchFamily="2" charset="-122"/>
              </a:rPr>
              <a:t>主关键字</a:t>
            </a:r>
            <a:r>
              <a:rPr lang="zh-CN" altLang="en-US" sz="2400" dirty="0" smtClean="0">
                <a:ea typeface="华文楷体" panose="02010600040101010101" pitchFamily="2" charset="-122"/>
              </a:rPr>
              <a:t>   该关键字可以唯一地标识一个记录。</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solidFill>
                  <a:srgbClr val="FF3300"/>
                </a:solidFill>
                <a:ea typeface="华文楷体" panose="02010600040101010101" pitchFamily="2" charset="-122"/>
              </a:rPr>
              <a:t>     </a:t>
            </a:r>
            <a:r>
              <a:rPr lang="zh-CN" altLang="en-US" sz="2400" b="1" dirty="0" smtClean="0">
                <a:solidFill>
                  <a:srgbClr val="FF3300"/>
                </a:solidFill>
                <a:ea typeface="华文楷体" panose="02010600040101010101" pitchFamily="2" charset="-122"/>
              </a:rPr>
              <a:t>次关键字</a:t>
            </a:r>
            <a:r>
              <a:rPr lang="zh-CN" altLang="en-US" sz="2400" dirty="0" smtClean="0">
                <a:ea typeface="华文楷体" panose="02010600040101010101" pitchFamily="2" charset="-122"/>
              </a:rPr>
              <a:t>   该关键字不能唯一标识一个记录。</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b="1" dirty="0" smtClean="0">
                <a:solidFill>
                  <a:srgbClr val="FF3300"/>
                </a:solidFill>
                <a:ea typeface="华文楷体" panose="02010600040101010101" pitchFamily="2" charset="-122"/>
              </a:rPr>
              <a:t>静态查找表</a:t>
            </a:r>
            <a:r>
              <a:rPr lang="zh-CN" altLang="en-US" sz="2400" dirty="0" smtClean="0">
                <a:ea typeface="华文楷体" panose="02010600040101010101" pitchFamily="2" charset="-122"/>
              </a:rPr>
              <a:t>   对查找表的查找仅是以查询为目的，不改动查找表中的数据。</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b="1" dirty="0" smtClean="0">
                <a:solidFill>
                  <a:srgbClr val="FF3300"/>
                </a:solidFill>
                <a:ea typeface="华文楷体" panose="02010600040101010101" pitchFamily="2" charset="-122"/>
              </a:rPr>
              <a:t>动态查找表</a:t>
            </a:r>
            <a:r>
              <a:rPr lang="zh-CN" altLang="en-US" sz="2400" dirty="0" smtClean="0">
                <a:ea typeface="华文楷体" panose="02010600040101010101" pitchFamily="2" charset="-122"/>
              </a:rPr>
              <a:t>   在查找的过程中同时插入不存在的记录，或删除某个已存在的记录。</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b="1" dirty="0" smtClean="0">
                <a:solidFill>
                  <a:srgbClr val="FF3300"/>
                </a:solidFill>
                <a:ea typeface="华文楷体" panose="02010600040101010101" pitchFamily="2" charset="-122"/>
              </a:rPr>
              <a:t>查找成功</a:t>
            </a:r>
            <a:r>
              <a:rPr lang="zh-CN" altLang="en-US" sz="2400" dirty="0" smtClean="0">
                <a:ea typeface="华文楷体" panose="02010600040101010101" pitchFamily="2" charset="-122"/>
              </a:rPr>
              <a:t>   查找表中存在满足查找条件的记录。</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b="1" dirty="0" smtClean="0">
                <a:solidFill>
                  <a:srgbClr val="FF3300"/>
                </a:solidFill>
                <a:ea typeface="华文楷体" panose="02010600040101010101" pitchFamily="2" charset="-122"/>
              </a:rPr>
              <a:t>查找不成功   </a:t>
            </a:r>
            <a:r>
              <a:rPr lang="zh-CN" altLang="en-US" sz="2400" dirty="0" smtClean="0">
                <a:ea typeface="华文楷体" panose="02010600040101010101" pitchFamily="2" charset="-122"/>
              </a:rPr>
              <a:t>查找表中不存在满足查找条件的记录。</a:t>
            </a:r>
            <a:endParaRPr lang="zh-CN" altLang="en-US" sz="24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0"/>
          </p:nvPr>
        </p:nvSpPr>
        <p:spPr/>
        <p:txBody>
          <a:bodyPr/>
          <a:lstStyle/>
          <a:p>
            <a:pPr>
              <a:defRPr/>
            </a:pPr>
            <a:r>
              <a:rPr lang="en-US" altLang="zh-CN"/>
              <a:t>BUPT SCST</a:t>
            </a:r>
            <a:endParaRPr lang="en-US" altLang="zh-CN"/>
          </a:p>
        </p:txBody>
      </p:sp>
      <p:sp>
        <p:nvSpPr>
          <p:cNvPr id="6" name="日期占位符 6"/>
          <p:cNvSpPr>
            <a:spLocks noGrp="1"/>
          </p:cNvSpPr>
          <p:nvPr>
            <p:ph type="dt" sz="quarter" idx="12"/>
          </p:nvPr>
        </p:nvSpPr>
        <p:spPr/>
        <p:txBody>
          <a:bodyPr/>
          <a:lstStyle/>
          <a:p>
            <a:pPr>
              <a:defRPr/>
            </a:pPr>
            <a:r>
              <a:rPr lang="en-US" altLang="zh-CN"/>
              <a:t>BUPT</a:t>
            </a:r>
            <a:endParaRPr lang="en-US" altLang="zh-CN"/>
          </a:p>
        </p:txBody>
      </p:sp>
      <p:sp>
        <p:nvSpPr>
          <p:cNvPr id="5124" name="Rectangle 8"/>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125" name="Rectangle 3"/>
          <p:cNvSpPr>
            <a:spLocks noGrp="1" noChangeArrowheads="1"/>
          </p:cNvSpPr>
          <p:nvPr>
            <p:ph type="body" sz="half" idx="1"/>
          </p:nvPr>
        </p:nvSpPr>
        <p:spPr>
          <a:xfrm>
            <a:off x="457200" y="1152525"/>
            <a:ext cx="8291513" cy="5248275"/>
          </a:xfrm>
        </p:spPr>
        <p:txBody>
          <a:bodyPr/>
          <a:lstStyle/>
          <a:p>
            <a:pPr eaLnBrk="1" hangingPunct="1">
              <a:lnSpc>
                <a:spcPct val="90000"/>
              </a:lnSpc>
              <a:buFont typeface="Wingdings" panose="05000000000000000000" pitchFamily="2" charset="2"/>
              <a:buNone/>
            </a:pPr>
            <a:r>
              <a:rPr lang="zh-CN" altLang="en-US" sz="2400" b="1" dirty="0" smtClean="0">
                <a:solidFill>
                  <a:srgbClr val="FF3300"/>
                </a:solidFill>
                <a:ea typeface="华文楷体" panose="02010600040101010101" pitchFamily="2" charset="-122"/>
              </a:rPr>
              <a:t>内查找   </a:t>
            </a:r>
            <a:r>
              <a:rPr lang="zh-CN" altLang="en-US" sz="2400" dirty="0" smtClean="0">
                <a:ea typeface="华文楷体" panose="02010600040101010101" pitchFamily="2" charset="-122"/>
              </a:rPr>
              <a:t>整个查找过程都在内存中进行。</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solidFill>
                  <a:srgbClr val="FF3300"/>
                </a:solidFill>
                <a:ea typeface="华文楷体" panose="02010600040101010101" pitchFamily="2" charset="-122"/>
              </a:rPr>
              <a:t>外查找</a:t>
            </a:r>
            <a:r>
              <a:rPr lang="zh-CN" altLang="en-US" sz="2400" dirty="0" smtClean="0">
                <a:ea typeface="华文楷体" panose="02010600040101010101" pitchFamily="2" charset="-122"/>
              </a:rPr>
              <a:t>   在查找过程中需要访问外存。</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solidFill>
                  <a:srgbClr val="FF3300"/>
                </a:solidFill>
                <a:ea typeface="华文楷体" panose="02010600040101010101" pitchFamily="2" charset="-122"/>
              </a:rPr>
              <a:t>平均查找长度</a:t>
            </a:r>
            <a:r>
              <a:rPr lang="en-US" altLang="zh-CN" sz="2400" b="1" dirty="0" smtClean="0">
                <a:solidFill>
                  <a:srgbClr val="FF3300"/>
                </a:solidFill>
                <a:ea typeface="华文楷体" panose="02010600040101010101" pitchFamily="2" charset="-122"/>
              </a:rPr>
              <a:t>ASL</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查找方法时效的度量</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为确定记录在查找表中的位置，需将关键字和给定值比较次数的期望值。</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查找成功时的</a:t>
            </a:r>
            <a:r>
              <a:rPr lang="en-US" altLang="zh-CN" sz="2400" dirty="0" smtClean="0">
                <a:ea typeface="华文楷体" panose="02010600040101010101" pitchFamily="2" charset="-122"/>
              </a:rPr>
              <a:t>ASL</a:t>
            </a:r>
            <a:r>
              <a:rPr lang="zh-CN" altLang="en-US" sz="2400" dirty="0" smtClean="0">
                <a:ea typeface="华文楷体" panose="02010600040101010101" pitchFamily="2" charset="-122"/>
              </a:rPr>
              <a:t>计算方法：</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：记录的个数</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p</a:t>
            </a:r>
            <a:r>
              <a:rPr lang="en-US" altLang="zh-CN" sz="2400" baseline="-25000" dirty="0" smtClean="0">
                <a:ea typeface="华文楷体" panose="02010600040101010101" pitchFamily="2" charset="-122"/>
              </a:rPr>
              <a:t>i</a:t>
            </a:r>
            <a:r>
              <a:rPr lang="zh-CN" altLang="en-US" sz="2400" dirty="0" smtClean="0">
                <a:ea typeface="华文楷体" panose="02010600040101010101" pitchFamily="2" charset="-122"/>
              </a:rPr>
              <a:t>：查找第</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个记录的概率，</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不特别声明时认为等概率 </a:t>
            </a:r>
            <a:r>
              <a:rPr lang="en-US" altLang="zh-CN" sz="2400" dirty="0" smtClean="0">
                <a:ea typeface="华文楷体" panose="02010600040101010101" pitchFamily="2" charset="-122"/>
              </a:rPr>
              <a:t>p</a:t>
            </a:r>
            <a:r>
              <a:rPr lang="en-US" altLang="zh-CN" sz="2400" baseline="-25000" dirty="0" smtClean="0">
                <a:ea typeface="华文楷体" panose="02010600040101010101" pitchFamily="2" charset="-122"/>
              </a:rPr>
              <a:t>i</a:t>
            </a:r>
            <a:r>
              <a:rPr lang="en-US" altLang="zh-CN" sz="2400" dirty="0" smtClean="0">
                <a:ea typeface="华文楷体" panose="02010600040101010101" pitchFamily="2" charset="-122"/>
              </a:rPr>
              <a:t> =1/n )</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c</a:t>
            </a:r>
            <a:r>
              <a:rPr lang="en-US" altLang="zh-CN" sz="2400" baseline="-25000" dirty="0" smtClean="0">
                <a:ea typeface="华文楷体" panose="02010600040101010101" pitchFamily="2" charset="-122"/>
              </a:rPr>
              <a:t>i</a:t>
            </a:r>
            <a:r>
              <a:rPr lang="zh-CN" altLang="en-US" sz="2400" dirty="0" smtClean="0">
                <a:ea typeface="华文楷体" panose="02010600040101010101" pitchFamily="2" charset="-122"/>
              </a:rPr>
              <a:t>：找到第</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个记录所需的比较次数</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solidFill>
                  <a:schemeClr val="accent2"/>
                </a:solidFill>
                <a:latin typeface="华文楷体" panose="02010600040101010101" pitchFamily="2" charset="-122"/>
                <a:ea typeface="华文楷体" panose="02010600040101010101" pitchFamily="2" charset="-122"/>
              </a:rPr>
              <a:t>约定：无特殊说明，一般默认关键字的类型为整型</a:t>
            </a:r>
            <a:endParaRPr lang="zh-CN" altLang="en-US" sz="2400" dirty="0" smtClean="0">
              <a:latin typeface="华文楷体" panose="02010600040101010101" pitchFamily="2" charset="-122"/>
              <a:ea typeface="华文楷体" panose="02010600040101010101" pitchFamily="2" charset="-122"/>
            </a:endParaRPr>
          </a:p>
          <a:p>
            <a:pPr eaLnBrk="1" hangingPunct="1">
              <a:lnSpc>
                <a:spcPct val="90000"/>
              </a:lnSpc>
              <a:buFont typeface="Wingdings" panose="05000000000000000000" pitchFamily="2" charset="2"/>
              <a:buNone/>
            </a:pPr>
            <a:endParaRPr lang="en-US" altLang="zh-CN" sz="2400" dirty="0" smtClean="0">
              <a:ea typeface="华文楷体" panose="02010600040101010101" pitchFamily="2" charset="-122"/>
            </a:endParaRPr>
          </a:p>
        </p:txBody>
      </p:sp>
      <p:graphicFrame>
        <p:nvGraphicFramePr>
          <p:cNvPr id="5126" name="Object 7"/>
          <p:cNvGraphicFramePr>
            <a:graphicFrameLocks noGrp="1" noChangeAspect="1"/>
          </p:cNvGraphicFramePr>
          <p:nvPr>
            <p:ph sz="half" idx="2"/>
          </p:nvPr>
        </p:nvGraphicFramePr>
        <p:xfrm>
          <a:off x="4716463" y="3213100"/>
          <a:ext cx="2016125" cy="979488"/>
        </p:xfrm>
        <a:graphic>
          <a:graphicData uri="http://schemas.openxmlformats.org/presentationml/2006/ole">
            <mc:AlternateContent xmlns:mc="http://schemas.openxmlformats.org/markup-compatibility/2006">
              <mc:Choice xmlns:v="urn:schemas-microsoft-com:vml" Requires="v">
                <p:oleObj spid="_x0000_s5238" name="Equation" r:id="rId1" imgW="888365" imgH="431800" progId="Equation.DSMT4">
                  <p:embed/>
                </p:oleObj>
              </mc:Choice>
              <mc:Fallback>
                <p:oleObj name="Equation" r:id="rId1" imgW="888365" imgH="431800" progId="Equation.DSMT4">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463" y="3213100"/>
                        <a:ext cx="2016125" cy="97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zh-CN" altLang="en-US" sz="2400" dirty="0" smtClean="0">
                <a:latin typeface="Times New Roman" panose="02020603050405020304" pitchFamily="18" charset="0"/>
                <a:ea typeface="华文楷体" panose="02010600040101010101" pitchFamily="2" charset="-122"/>
              </a:rPr>
              <a:t>本章中如未做特殊声明，将采用如下顺序存储结构。</a:t>
            </a:r>
            <a:endParaRPr lang="en-US" altLang="zh-CN" sz="2400" dirty="0" smtClean="0">
              <a:latin typeface="Times New Roman" panose="02020603050405020304" pitchFamily="18" charset="0"/>
              <a:ea typeface="华文楷体" panose="02010600040101010101" pitchFamily="2" charset="-122"/>
            </a:endParaRPr>
          </a:p>
          <a:p>
            <a:pPr marL="0" indent="0">
              <a:buNone/>
            </a:pPr>
            <a:r>
              <a:rPr lang="en-US" altLang="zh-CN" sz="2400" dirty="0" smtClean="0">
                <a:latin typeface="Times New Roman" panose="02020603050405020304" pitchFamily="18" charset="0"/>
                <a:ea typeface="华文楷体" panose="02010600040101010101" pitchFamily="2" charset="-122"/>
              </a:rPr>
              <a:t>#define MAXSIZE 1000</a:t>
            </a:r>
            <a:endParaRPr lang="en-US" altLang="zh-CN" sz="2400" dirty="0" smtClean="0">
              <a:latin typeface="Times New Roman" panose="02020603050405020304" pitchFamily="18" charset="0"/>
              <a:ea typeface="华文楷体" panose="02010600040101010101" pitchFamily="2" charset="-122"/>
            </a:endParaRPr>
          </a:p>
          <a:p>
            <a:pPr marL="0" indent="0">
              <a:buNone/>
            </a:pPr>
            <a:r>
              <a:rPr lang="en-US" altLang="zh-CN" sz="2400" dirty="0" err="1" smtClean="0">
                <a:latin typeface="Times New Roman" panose="02020603050405020304" pitchFamily="18" charset="0"/>
                <a:ea typeface="华文楷体" panose="02010600040101010101" pitchFamily="2" charset="-122"/>
              </a:rPr>
              <a:t>typedef</a:t>
            </a:r>
            <a:r>
              <a:rPr lang="en-US" altLang="zh-CN" sz="2400" dirty="0" smtClean="0">
                <a:latin typeface="Times New Roman" panose="02020603050405020304" pitchFamily="18" charset="0"/>
                <a:ea typeface="华文楷体" panose="02010600040101010101" pitchFamily="2" charset="-122"/>
              </a:rPr>
              <a:t> </a:t>
            </a:r>
            <a:r>
              <a:rPr lang="en-US" altLang="zh-CN" sz="2400" dirty="0" err="1" smtClean="0">
                <a:latin typeface="Times New Roman" panose="02020603050405020304" pitchFamily="18" charset="0"/>
                <a:ea typeface="华文楷体" panose="02010600040101010101" pitchFamily="2" charset="-122"/>
              </a:rPr>
              <a:t>struct</a:t>
            </a:r>
            <a:endParaRPr lang="en-US" altLang="zh-CN" sz="2400" dirty="0" smtClean="0">
              <a:latin typeface="Times New Roman" panose="02020603050405020304" pitchFamily="18" charset="0"/>
              <a:ea typeface="华文楷体" panose="02010600040101010101" pitchFamily="2" charset="-122"/>
            </a:endParaRPr>
          </a:p>
          <a:p>
            <a:pPr marL="0" indent="0">
              <a:buNone/>
            </a:pPr>
            <a:r>
              <a:rPr lang="en-US" altLang="zh-CN" sz="2400" dirty="0" smtClean="0">
                <a:latin typeface="Times New Roman" panose="02020603050405020304" pitchFamily="18" charset="0"/>
                <a:ea typeface="华文楷体" panose="02010600040101010101" pitchFamily="2" charset="-122"/>
              </a:rPr>
              <a:t>{</a:t>
            </a:r>
            <a:endParaRPr lang="en-US" altLang="zh-CN" sz="2400" dirty="0" smtClean="0">
              <a:latin typeface="Times New Roman" panose="02020603050405020304" pitchFamily="18" charset="0"/>
              <a:ea typeface="华文楷体" panose="02010600040101010101" pitchFamily="2" charset="-122"/>
            </a:endParaRPr>
          </a:p>
          <a:p>
            <a:pPr marL="0" indent="0">
              <a:buNone/>
            </a:pPr>
            <a:r>
              <a:rPr lang="en-US" altLang="zh-CN" sz="2400" dirty="0">
                <a:latin typeface="Times New Roman" panose="02020603050405020304" pitchFamily="18" charset="0"/>
                <a:ea typeface="华文楷体" panose="02010600040101010101" pitchFamily="2" charset="-122"/>
              </a:rPr>
              <a:t> </a:t>
            </a:r>
            <a:r>
              <a:rPr lang="en-US" altLang="zh-CN" sz="2400" dirty="0" smtClean="0">
                <a:latin typeface="Times New Roman" panose="02020603050405020304" pitchFamily="18" charset="0"/>
                <a:ea typeface="华文楷体" panose="02010600040101010101" pitchFamily="2" charset="-122"/>
              </a:rPr>
              <a:t>   </a:t>
            </a:r>
            <a:r>
              <a:rPr lang="en-US" altLang="zh-CN" sz="2400" dirty="0" err="1" smtClean="0">
                <a:latin typeface="Times New Roman" panose="02020603050405020304" pitchFamily="18" charset="0"/>
                <a:ea typeface="华文楷体" panose="02010600040101010101" pitchFamily="2" charset="-122"/>
              </a:rPr>
              <a:t>int</a:t>
            </a:r>
            <a:r>
              <a:rPr lang="en-US" altLang="zh-CN" sz="2400" dirty="0" smtClean="0">
                <a:latin typeface="Times New Roman" panose="02020603050405020304" pitchFamily="18" charset="0"/>
                <a:ea typeface="华文楷体" panose="02010600040101010101" pitchFamily="2" charset="-122"/>
              </a:rPr>
              <a:t> key;</a:t>
            </a:r>
            <a:endParaRPr lang="en-US" altLang="zh-CN" sz="2400" dirty="0" smtClean="0">
              <a:latin typeface="Times New Roman" panose="02020603050405020304" pitchFamily="18" charset="0"/>
              <a:ea typeface="华文楷体" panose="02010600040101010101" pitchFamily="2" charset="-122"/>
            </a:endParaRPr>
          </a:p>
          <a:p>
            <a:pPr marL="0" indent="0">
              <a:buNone/>
            </a:pPr>
            <a:r>
              <a:rPr lang="en-US" altLang="zh-CN" sz="2400" dirty="0">
                <a:latin typeface="Times New Roman" panose="02020603050405020304" pitchFamily="18" charset="0"/>
                <a:ea typeface="华文楷体" panose="02010600040101010101" pitchFamily="2" charset="-122"/>
              </a:rPr>
              <a:t> </a:t>
            </a:r>
            <a:r>
              <a:rPr lang="en-US" altLang="zh-CN" sz="2400" dirty="0" smtClean="0">
                <a:latin typeface="Times New Roman" panose="02020603050405020304" pitchFamily="18" charset="0"/>
                <a:ea typeface="华文楷体" panose="02010600040101010101" pitchFamily="2" charset="-122"/>
              </a:rPr>
              <a:t>   /* </a:t>
            </a:r>
            <a:r>
              <a:rPr lang="en-US" altLang="zh-CN" sz="2400" dirty="0" err="1" smtClean="0">
                <a:latin typeface="Times New Roman" panose="02020603050405020304" pitchFamily="18" charset="0"/>
                <a:ea typeface="华文楷体" panose="02010600040101010101" pitchFamily="2" charset="-122"/>
              </a:rPr>
              <a:t>otherinfo</a:t>
            </a:r>
            <a:r>
              <a:rPr lang="en-US" altLang="zh-CN" sz="2400" dirty="0" smtClean="0">
                <a:latin typeface="Times New Roman" panose="02020603050405020304" pitchFamily="18" charset="0"/>
                <a:ea typeface="华文楷体" panose="02010600040101010101" pitchFamily="2" charset="-122"/>
              </a:rPr>
              <a:t> field;*/</a:t>
            </a:r>
            <a:endParaRPr lang="en-US" altLang="zh-CN" sz="2400" dirty="0" smtClean="0">
              <a:latin typeface="Times New Roman" panose="02020603050405020304" pitchFamily="18" charset="0"/>
              <a:ea typeface="华文楷体" panose="02010600040101010101" pitchFamily="2" charset="-122"/>
            </a:endParaRPr>
          </a:p>
          <a:p>
            <a:pPr marL="0" indent="0">
              <a:buNone/>
            </a:pPr>
            <a:r>
              <a:rPr lang="en-US" altLang="zh-CN" sz="2400" dirty="0" smtClean="0">
                <a:latin typeface="Times New Roman" panose="02020603050405020304" pitchFamily="18" charset="0"/>
                <a:ea typeface="华文楷体" panose="02010600040101010101" pitchFamily="2" charset="-122"/>
              </a:rPr>
              <a:t>} </a:t>
            </a:r>
            <a:r>
              <a:rPr lang="en-US" altLang="zh-CN" sz="2400" dirty="0" err="1" smtClean="0">
                <a:latin typeface="Times New Roman" panose="02020603050405020304" pitchFamily="18" charset="0"/>
                <a:ea typeface="华文楷体" panose="02010600040101010101" pitchFamily="2" charset="-122"/>
              </a:rPr>
              <a:t>elemtype</a:t>
            </a:r>
            <a:r>
              <a:rPr lang="en-US" altLang="zh-CN" sz="2400" dirty="0" smtClean="0">
                <a:latin typeface="Times New Roman" panose="02020603050405020304" pitchFamily="18" charset="0"/>
                <a:ea typeface="华文楷体" panose="02010600040101010101" pitchFamily="2" charset="-122"/>
              </a:rPr>
              <a:t>;</a:t>
            </a:r>
            <a:endParaRPr lang="en-US" altLang="zh-CN" sz="2400" dirty="0" smtClean="0">
              <a:latin typeface="Times New Roman" panose="02020603050405020304" pitchFamily="18" charset="0"/>
              <a:ea typeface="华文楷体" panose="02010600040101010101" pitchFamily="2" charset="-122"/>
            </a:endParaRPr>
          </a:p>
          <a:p>
            <a:pPr marL="0" indent="0">
              <a:buNone/>
            </a:pPr>
            <a:r>
              <a:rPr lang="en-US" altLang="zh-CN" sz="2400" dirty="0" err="1" smtClean="0">
                <a:latin typeface="Times New Roman" panose="02020603050405020304" pitchFamily="18" charset="0"/>
                <a:ea typeface="华文楷体" panose="02010600040101010101" pitchFamily="2" charset="-122"/>
              </a:rPr>
              <a:t>elemtype</a:t>
            </a:r>
            <a:r>
              <a:rPr lang="en-US" altLang="zh-CN" sz="2400" dirty="0" smtClean="0">
                <a:latin typeface="Times New Roman" panose="02020603050405020304" pitchFamily="18" charset="0"/>
                <a:ea typeface="华文楷体" panose="02010600040101010101" pitchFamily="2" charset="-122"/>
              </a:rPr>
              <a:t> list[MAXSIZE];</a:t>
            </a:r>
            <a:endParaRPr lang="zh-CN" altLang="en-US" sz="2400" dirty="0">
              <a:latin typeface="Times New Roman" panose="02020603050405020304" pitchFamily="18" charset="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页脚占位符 3"/>
          <p:cNvSpPr>
            <a:spLocks noGrp="1"/>
          </p:cNvSpPr>
          <p:nvPr>
            <p:ph type="ftr" sz="quarter" idx="10"/>
          </p:nvPr>
        </p:nvSpPr>
        <p:spPr/>
        <p:txBody>
          <a:bodyPr/>
          <a:lstStyle/>
          <a:p>
            <a:pPr>
              <a:defRPr/>
            </a:pPr>
            <a:r>
              <a:rPr lang="en-US" altLang="zh-CN"/>
              <a:t>BUPT SCST</a:t>
            </a:r>
            <a:endParaRPr lang="en-US" altLang="zh-CN"/>
          </a:p>
        </p:txBody>
      </p:sp>
      <p:sp>
        <p:nvSpPr>
          <p:cNvPr id="10" name="日期占位符 5"/>
          <p:cNvSpPr>
            <a:spLocks noGrp="1"/>
          </p:cNvSpPr>
          <p:nvPr>
            <p:ph type="dt" sz="quarter" idx="12"/>
          </p:nvPr>
        </p:nvSpPr>
        <p:spPr/>
        <p:txBody>
          <a:bodyPr/>
          <a:lstStyle/>
          <a:p>
            <a:pPr>
              <a:defRPr/>
            </a:pPr>
            <a:r>
              <a:rPr lang="en-US" altLang="zh-CN"/>
              <a:t>BUPT</a:t>
            </a:r>
            <a:endParaRPr lang="en-US" altLang="zh-CN"/>
          </a:p>
        </p:txBody>
      </p:sp>
      <p:sp>
        <p:nvSpPr>
          <p:cNvPr id="6148" name="Rectangle 2"/>
          <p:cNvSpPr>
            <a:spLocks noGrp="1" noChangeArrowheads="1"/>
          </p:cNvSpPr>
          <p:nvPr>
            <p:ph type="title"/>
          </p:nvPr>
        </p:nvSpPr>
        <p:spPr/>
        <p:txBody>
          <a:bodyPr/>
          <a:lstStyle/>
          <a:p>
            <a:pPr algn="l" eaLnBrk="1" hangingPunct="1"/>
            <a:r>
              <a:rPr lang="en-US" altLang="zh-CN" sz="2800" dirty="0" smtClean="0">
                <a:ea typeface="华文楷体" panose="02010600040101010101" pitchFamily="2" charset="-122"/>
              </a:rPr>
              <a:t>8.2 </a:t>
            </a:r>
            <a:r>
              <a:rPr lang="zh-CN" altLang="en-US" sz="2800" dirty="0" smtClean="0">
                <a:ea typeface="华文楷体" panose="02010600040101010101" pitchFamily="2" charset="-122"/>
              </a:rPr>
              <a:t>顺序表的查找</a:t>
            </a:r>
            <a:r>
              <a:rPr lang="en-US" altLang="zh-CN" sz="2800" dirty="0" smtClean="0">
                <a:ea typeface="华文楷体" panose="02010600040101010101" pitchFamily="2" charset="-122"/>
              </a:rPr>
              <a:t> </a:t>
            </a:r>
            <a:r>
              <a:rPr lang="zh-CN" altLang="en-US" sz="2800" dirty="0" smtClean="0">
                <a:solidFill>
                  <a:srgbClr val="FF0000"/>
                </a:solidFill>
                <a:ea typeface="华文楷体" panose="02010600040101010101" pitchFamily="2" charset="-122"/>
              </a:rPr>
              <a:t>快插入慢查找</a:t>
            </a:r>
            <a:endParaRPr lang="zh-CN" altLang="en-US" sz="2800" dirty="0" smtClean="0">
              <a:solidFill>
                <a:srgbClr val="FF0000"/>
              </a:solidFill>
              <a:ea typeface="华文楷体" panose="02010600040101010101" pitchFamily="2" charset="-122"/>
            </a:endParaRPr>
          </a:p>
        </p:txBody>
      </p:sp>
      <mc:AlternateContent xmlns:mc="http://schemas.openxmlformats.org/markup-compatibility/2006">
        <mc:Choice xmlns:a14="http://schemas.microsoft.com/office/drawing/2010/main" Requires="a14">
          <p:sp>
            <p:nvSpPr>
              <p:cNvPr id="6149"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ea typeface="华文楷体" panose="02010600040101010101" pitchFamily="2" charset="-122"/>
                    <a:sym typeface="Symbol" panose="05050102010706020507" pitchFamily="18" charset="2"/>
                  </a:rPr>
                  <a:t>                          0   1            n-1 n</a:t>
                </a:r>
                <a:endParaRPr lang="en-US" altLang="zh-CN" sz="2400" b="1"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400" b="1" dirty="0" smtClean="0">
                    <a:ea typeface="华文楷体" panose="02010600040101010101" pitchFamily="2" charset="-122"/>
                    <a:sym typeface="Symbol" panose="05050102010706020507" pitchFamily="18" charset="2"/>
                  </a:rPr>
                  <a:t>     list[0..n]       k</a:t>
                </a:r>
                <a:r>
                  <a:rPr lang="en-US" altLang="zh-CN" sz="2400" b="1" baseline="-25000" dirty="0" smtClean="0">
                    <a:ea typeface="华文楷体" panose="02010600040101010101" pitchFamily="2" charset="-122"/>
                    <a:sym typeface="Symbol" panose="05050102010706020507" pitchFamily="18" charset="2"/>
                  </a:rPr>
                  <a:t>0  </a:t>
                </a:r>
                <a:r>
                  <a:rPr lang="en-US" altLang="zh-CN" sz="2400" b="1" dirty="0" smtClean="0">
                    <a:ea typeface="华文楷体" panose="02010600040101010101" pitchFamily="2" charset="-122"/>
                    <a:sym typeface="Symbol" panose="05050102010706020507" pitchFamily="18" charset="2"/>
                  </a:rPr>
                  <a:t>k</a:t>
                </a:r>
                <a:r>
                  <a:rPr lang="en-US" altLang="zh-CN" sz="2400" b="1" baseline="-25000" dirty="0" smtClean="0">
                    <a:ea typeface="华文楷体" panose="02010600040101010101" pitchFamily="2" charset="-122"/>
                    <a:sym typeface="Symbol" panose="05050102010706020507" pitchFamily="18" charset="2"/>
                  </a:rPr>
                  <a:t>1                </a:t>
                </a:r>
                <a:r>
                  <a:rPr lang="en-US" altLang="zh-CN" sz="2400" b="1" dirty="0" smtClean="0">
                    <a:ea typeface="华文楷体" panose="02010600040101010101" pitchFamily="2" charset="-122"/>
                    <a:sym typeface="Symbol" panose="05050102010706020507" pitchFamily="18" charset="2"/>
                  </a:rPr>
                  <a:t>k</a:t>
                </a:r>
                <a:r>
                  <a:rPr lang="en-US" altLang="zh-CN" sz="2400" b="1" baseline="-25000" dirty="0" smtClean="0">
                    <a:ea typeface="华文楷体" panose="02010600040101010101" pitchFamily="2" charset="-122"/>
                    <a:sym typeface="Symbol" panose="05050102010706020507" pitchFamily="18" charset="2"/>
                  </a:rPr>
                  <a:t>n-1              </a:t>
                </a:r>
                <a:r>
                  <a:rPr lang="en-US" altLang="zh-CN" sz="2400" b="1" dirty="0" smtClean="0">
                    <a:solidFill>
                      <a:schemeClr val="accent2"/>
                    </a:solidFill>
                    <a:ea typeface="华文楷体" panose="02010600040101010101" pitchFamily="2" charset="-122"/>
                    <a:sym typeface="Symbol" panose="05050102010706020507" pitchFamily="18" charset="2"/>
                  </a:rPr>
                  <a:t>list[n].key=K</a:t>
                </a:r>
                <a:endParaRPr lang="en-US" altLang="zh-CN" sz="2400" b="1"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endParaRPr lang="en-US" altLang="zh-CN" sz="2400" b="1" dirty="0" smtClean="0">
                  <a:solidFill>
                    <a:srgbClr val="CC6600"/>
                  </a:solidFill>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sym typeface="Symbol" panose="05050102010706020507" pitchFamily="18" charset="2"/>
                  </a:rPr>
                  <a:t>[</a:t>
                </a:r>
                <a:r>
                  <a:rPr lang="zh-CN" altLang="zh-CN" sz="2400" b="1" dirty="0" smtClean="0">
                    <a:solidFill>
                      <a:srgbClr val="CC6600"/>
                    </a:solidFill>
                    <a:ea typeface="华文楷体" panose="02010600040101010101" pitchFamily="2" charset="-122"/>
                    <a:sym typeface="Symbol" panose="05050102010706020507" pitchFamily="18" charset="2"/>
                  </a:rPr>
                  <a:t>算法描述]</a:t>
                </a:r>
                <a:endParaRPr kumimoji="1" lang="en-US" altLang="zh-CN" sz="2400" b="1" dirty="0" smtClean="0">
                  <a:ea typeface="华文楷体" panose="02010600040101010101" pitchFamily="2" charset="-122"/>
                </a:endParaRPr>
              </a:p>
              <a:p>
                <a:pPr eaLnBrk="1" hangingPunct="1">
                  <a:buNone/>
                </a:pPr>
                <a:r>
                  <a:rPr lang="en-US" altLang="zh-CN" sz="2400" dirty="0" err="1">
                    <a:ea typeface="华文楷体" panose="02010600040101010101" pitchFamily="2" charset="-122"/>
                  </a:rPr>
                  <a:t>int</a:t>
                </a:r>
                <a:r>
                  <a:rPr lang="en-US" altLang="zh-CN" sz="2400" dirty="0">
                    <a:ea typeface="华文楷体" panose="02010600040101010101" pitchFamily="2" charset="-122"/>
                  </a:rPr>
                  <a:t> </a:t>
                </a:r>
                <a:r>
                  <a:rPr lang="en-US" altLang="zh-CN" sz="2400" dirty="0" err="1">
                    <a:ea typeface="华文楷体" panose="02010600040101010101" pitchFamily="2" charset="-122"/>
                  </a:rPr>
                  <a:t>seqsearch</a:t>
                </a:r>
                <a:r>
                  <a:rPr lang="en-US" altLang="zh-CN" sz="2400" dirty="0">
                    <a:ea typeface="华文楷体" panose="02010600040101010101" pitchFamily="2" charset="-122"/>
                  </a:rPr>
                  <a:t> (</a:t>
                </a:r>
                <a:r>
                  <a:rPr lang="en-US" altLang="zh-CN" sz="2400" dirty="0" err="1">
                    <a:ea typeface="华文楷体" panose="02010600040101010101" pitchFamily="2" charset="-122"/>
                  </a:rPr>
                  <a:t>elemtype</a:t>
                </a:r>
                <a:r>
                  <a:rPr lang="en-US" altLang="zh-CN" sz="2400" dirty="0">
                    <a:ea typeface="华文楷体" panose="02010600040101010101" pitchFamily="2" charset="-122"/>
                  </a:rPr>
                  <a:t> </a:t>
                </a:r>
                <a:r>
                  <a:rPr lang="en-US" altLang="zh-CN" sz="2400" dirty="0" smtClean="0">
                    <a:ea typeface="华文楷体" panose="02010600040101010101" pitchFamily="2" charset="-122"/>
                  </a:rPr>
                  <a:t>list[], </a:t>
                </a:r>
                <a:r>
                  <a:rPr lang="en-US" altLang="zh-CN" sz="2400" dirty="0" err="1">
                    <a:ea typeface="华文楷体" panose="02010600040101010101" pitchFamily="2" charset="-122"/>
                  </a:rPr>
                  <a:t>const</a:t>
                </a:r>
                <a:r>
                  <a:rPr lang="en-US" altLang="zh-CN" sz="2400" dirty="0">
                    <a:ea typeface="华文楷体" panose="02010600040101010101" pitchFamily="2" charset="-122"/>
                  </a:rPr>
                  <a:t> </a:t>
                </a:r>
                <a:r>
                  <a:rPr lang="en-US" altLang="zh-CN" sz="2400" dirty="0" err="1">
                    <a:ea typeface="华文楷体" panose="02010600040101010101" pitchFamily="2" charset="-122"/>
                  </a:rPr>
                  <a:t>int</a:t>
                </a:r>
                <a:r>
                  <a:rPr lang="en-US" altLang="zh-CN" sz="2400" dirty="0">
                    <a:ea typeface="华文楷体" panose="02010600040101010101" pitchFamily="2" charset="-122"/>
                  </a:rPr>
                  <a:t> n, </a:t>
                </a:r>
                <a:r>
                  <a:rPr lang="en-US" altLang="zh-CN" sz="2400" dirty="0" err="1">
                    <a:ea typeface="华文楷体" panose="02010600040101010101" pitchFamily="2" charset="-122"/>
                  </a:rPr>
                  <a:t>const</a:t>
                </a:r>
                <a:r>
                  <a:rPr lang="en-US" altLang="zh-CN" sz="2400" dirty="0">
                    <a:ea typeface="华文楷体" panose="02010600040101010101" pitchFamily="2" charset="-122"/>
                  </a:rPr>
                  <a:t> </a:t>
                </a:r>
                <a:r>
                  <a:rPr lang="en-US" altLang="zh-CN" sz="2400" dirty="0" err="1">
                    <a:ea typeface="华文楷体" panose="02010600040101010101" pitchFamily="2" charset="-122"/>
                  </a:rPr>
                  <a:t>int</a:t>
                </a:r>
                <a:r>
                  <a:rPr lang="en-US" altLang="zh-CN" sz="2400" dirty="0">
                    <a:ea typeface="华文楷体" panose="02010600040101010101" pitchFamily="2" charset="-122"/>
                  </a:rPr>
                  <a:t> K ) </a:t>
                </a:r>
                <a:endParaRPr lang="en-US" altLang="zh-CN" sz="2400" dirty="0">
                  <a:ea typeface="华文楷体" panose="02010600040101010101" pitchFamily="2" charset="-122"/>
                </a:endParaRPr>
              </a:p>
              <a:p>
                <a:pPr eaLnBrk="1" hangingPunct="1">
                  <a:buFont typeface="Wingdings" panose="05000000000000000000" pitchFamily="2" charset="2"/>
                  <a:buNone/>
                </a:pPr>
                <a:r>
                  <a:rPr lang="en-US" altLang="zh-CN" sz="2400" dirty="0">
                    <a:ea typeface="华文楷体" panose="02010600040101010101" pitchFamily="2" charset="-122"/>
                  </a:rPr>
                  <a:t>{</a:t>
                </a:r>
                <a:endParaRPr lang="en-US" altLang="zh-CN" sz="2400" dirty="0">
                  <a:ea typeface="华文楷体" panose="02010600040101010101" pitchFamily="2" charset="-122"/>
                </a:endParaRPr>
              </a:p>
              <a:p>
                <a:pPr eaLnBrk="1" hangingPunct="1">
                  <a:buFont typeface="Wingdings" panose="05000000000000000000" pitchFamily="2" charset="2"/>
                  <a:buNone/>
                </a:pPr>
                <a:r>
                  <a:rPr lang="en-US" altLang="zh-CN" sz="2400" dirty="0">
                    <a:ea typeface="华文楷体" panose="02010600040101010101" pitchFamily="2" charset="-122"/>
                  </a:rPr>
                  <a:t>    </a:t>
                </a:r>
                <a:r>
                  <a:rPr lang="en-US" altLang="zh-CN" sz="2400" dirty="0" err="1">
                    <a:ea typeface="华文楷体" panose="02010600040101010101" pitchFamily="2" charset="-122"/>
                  </a:rPr>
                  <a:t>int</a:t>
                </a:r>
                <a:r>
                  <a:rPr lang="en-US" altLang="zh-CN" sz="2400" dirty="0">
                    <a:ea typeface="华文楷体" panose="02010600040101010101" pitchFamily="2" charset="-122"/>
                  </a:rPr>
                  <a:t> </a:t>
                </a:r>
                <a:r>
                  <a:rPr lang="en-US" altLang="zh-CN" sz="2400" dirty="0" err="1">
                    <a:ea typeface="华文楷体" panose="02010600040101010101" pitchFamily="2" charset="-122"/>
                  </a:rPr>
                  <a:t>i</a:t>
                </a:r>
                <a:r>
                  <a:rPr lang="en-US" altLang="zh-CN" sz="2400" dirty="0">
                    <a:ea typeface="华文楷体" panose="02010600040101010101" pitchFamily="2" charset="-122"/>
                  </a:rPr>
                  <a:t> = 0;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a:ea typeface="华文楷体" panose="02010600040101010101" pitchFamily="2" charset="-122"/>
                  </a:rPr>
                  <a:t> </a:t>
                </a:r>
                <a:r>
                  <a:rPr lang="en-US" altLang="zh-CN" sz="2400" dirty="0" smtClean="0">
                    <a:ea typeface="华文楷体" panose="02010600040101010101" pitchFamily="2" charset="-122"/>
                  </a:rPr>
                  <a:t>   list[n</a:t>
                </a:r>
                <a:r>
                  <a:rPr lang="en-US" altLang="zh-CN" sz="2400" dirty="0">
                    <a:ea typeface="华文楷体" panose="02010600040101010101" pitchFamily="2" charset="-122"/>
                  </a:rPr>
                  <a:t>].key = K</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设置监视哨，简化操作</a:t>
                </a:r>
                <a:endParaRPr lang="en-US" altLang="zh-CN" sz="2400" dirty="0">
                  <a:ea typeface="华文楷体" panose="02010600040101010101" pitchFamily="2" charset="-122"/>
                </a:endParaRPr>
              </a:p>
              <a:p>
                <a:pPr eaLnBrk="1" hangingPunct="1">
                  <a:buFont typeface="Wingdings" panose="05000000000000000000" pitchFamily="2" charset="2"/>
                  <a:buNone/>
                </a:pPr>
                <a:r>
                  <a:rPr lang="en-US" altLang="zh-CN" sz="2400" dirty="0">
                    <a:ea typeface="华文楷体" panose="02010600040101010101" pitchFamily="2" charset="-122"/>
                  </a:rPr>
                  <a:t>    while (list[</a:t>
                </a:r>
                <a:r>
                  <a:rPr lang="en-US" altLang="zh-CN" sz="2400" dirty="0" err="1">
                    <a:ea typeface="华文楷体" panose="02010600040101010101" pitchFamily="2" charset="-122"/>
                  </a:rPr>
                  <a:t>i</a:t>
                </a:r>
                <a:r>
                  <a:rPr lang="en-US" altLang="zh-CN" sz="2400" dirty="0">
                    <a:ea typeface="华文楷体" panose="02010600040101010101" pitchFamily="2" charset="-122"/>
                  </a:rPr>
                  <a:t>].key != K)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a:ea typeface="华文楷体" panose="02010600040101010101" pitchFamily="2" charset="-122"/>
                  </a:rPr>
                  <a:t> </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i</a:t>
                </a:r>
                <a:r>
                  <a:rPr lang="en-US" altLang="zh-CN" sz="2400" dirty="0">
                    <a:ea typeface="华文楷体" panose="02010600040101010101" pitchFamily="2" charset="-122"/>
                  </a:rPr>
                  <a:t>++;</a:t>
                </a:r>
                <a:endParaRPr lang="en-US" altLang="zh-CN" sz="2400" dirty="0">
                  <a:ea typeface="华文楷体" panose="02010600040101010101" pitchFamily="2" charset="-122"/>
                </a:endParaRPr>
              </a:p>
              <a:p>
                <a:pPr eaLnBrk="1" hangingPunct="1">
                  <a:buFont typeface="Wingdings" panose="05000000000000000000" pitchFamily="2" charset="2"/>
                  <a:buNone/>
                </a:pPr>
                <a:r>
                  <a:rPr lang="en-US" altLang="zh-CN" sz="2400" dirty="0">
                    <a:ea typeface="华文楷体" panose="02010600040101010101" pitchFamily="2" charset="-122"/>
                  </a:rPr>
                  <a:t>    return </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&lt;n)?</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查找成功返回</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(0</a:t>
                </a:r>
                <a14:m>
                  <m:oMath xmlns:m="http://schemas.openxmlformats.org/officeDocument/2006/math">
                    <m:r>
                      <a:rPr lang="en-US" altLang="zh-CN" sz="2400" i="1" smtClean="0">
                        <a:latin typeface="Cambria Math" panose="02040503050406030204" pitchFamily="18" charset="0"/>
                        <a:ea typeface="Cambria Math" panose="02040503050406030204" pitchFamily="18" charset="0"/>
                      </a:rPr>
                      <m:t>≤</m:t>
                    </m:r>
                  </m:oMath>
                </a14:m>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&lt;n)</a:t>
                </a:r>
                <a:r>
                  <a:rPr lang="zh-CN" altLang="en-US" sz="2400" dirty="0" smtClean="0">
                    <a:ea typeface="华文楷体" panose="02010600040101010101" pitchFamily="2" charset="-122"/>
                  </a:rPr>
                  <a:t>，查找失败返回</a:t>
                </a:r>
                <a:r>
                  <a:rPr lang="en-US" altLang="zh-CN" sz="2400" dirty="0" smtClean="0">
                    <a:ea typeface="华文楷体" panose="02010600040101010101" pitchFamily="2" charset="-122"/>
                  </a:rPr>
                  <a:t>-1</a:t>
                </a:r>
                <a:endParaRPr lang="en-US" altLang="zh-CN" sz="2400" dirty="0">
                  <a:ea typeface="华文楷体" panose="02010600040101010101" pitchFamily="2" charset="-122"/>
                </a:endParaRPr>
              </a:p>
              <a:p>
                <a:pPr eaLnBrk="1" hangingPunct="1">
                  <a:buFont typeface="Wingdings" panose="05000000000000000000" pitchFamily="2" charset="2"/>
                  <a:buNone/>
                </a:pPr>
                <a:r>
                  <a:rPr lang="en-US" altLang="zh-CN" sz="2400" dirty="0">
                    <a:ea typeface="华文楷体" panose="02010600040101010101" pitchFamily="2" charset="-122"/>
                  </a:rPr>
                  <a:t>}</a:t>
                </a:r>
                <a:endParaRPr lang="en-US" altLang="zh-CN" sz="2400" dirty="0">
                  <a:ea typeface="华文楷体" panose="02010600040101010101" pitchFamily="2" charset="-122"/>
                </a:endParaRPr>
              </a:p>
            </p:txBody>
          </p:sp>
        </mc:Choice>
        <mc:Fallback>
          <p:sp>
            <p:nvSpPr>
              <p:cNvPr id="6149" name="Rectangle 3"/>
              <p:cNvSpPr>
                <a:spLocks noRot="1" noChangeAspect="1" noMove="1" noResize="1" noEditPoints="1" noAdjustHandles="1" noChangeArrowheads="1" noChangeShapeType="1" noTextEdit="1"/>
              </p:cNvSpPr>
              <p:nvPr>
                <p:ph type="body" idx="1"/>
              </p:nvPr>
            </p:nvSpPr>
            <p:spPr>
              <a:blipFill rotWithShape="1">
                <a:blip r:embed="rId1"/>
                <a:stretch>
                  <a:fillRect/>
                </a:stretch>
              </a:blipFill>
            </p:spPr>
            <p:txBody>
              <a:bodyPr/>
              <a:lstStyle/>
              <a:p>
                <a:r>
                  <a:rPr lang="zh-CN" altLang="en-US">
                    <a:noFill/>
                  </a:rPr>
                  <a:t> </a:t>
                </a:r>
              </a:p>
            </p:txBody>
          </p:sp>
        </mc:Fallback>
      </mc:AlternateContent>
      <p:sp>
        <p:nvSpPr>
          <p:cNvPr id="6150" name="Rectangle 4"/>
          <p:cNvSpPr>
            <a:spLocks noChangeArrowheads="1"/>
          </p:cNvSpPr>
          <p:nvPr/>
        </p:nvSpPr>
        <p:spPr bwMode="auto">
          <a:xfrm>
            <a:off x="2438400" y="1676400"/>
            <a:ext cx="2438400" cy="4572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6151" name="Line 5"/>
          <p:cNvSpPr>
            <a:spLocks noChangeShapeType="1"/>
          </p:cNvSpPr>
          <p:nvPr/>
        </p:nvSpPr>
        <p:spPr bwMode="auto">
          <a:xfrm>
            <a:off x="2819400" y="1676400"/>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152" name="Line 6"/>
          <p:cNvSpPr>
            <a:spLocks noChangeShapeType="1"/>
          </p:cNvSpPr>
          <p:nvPr/>
        </p:nvSpPr>
        <p:spPr bwMode="auto">
          <a:xfrm>
            <a:off x="3200400" y="1676400"/>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153" name="Line 7"/>
          <p:cNvSpPr>
            <a:spLocks noChangeShapeType="1"/>
          </p:cNvSpPr>
          <p:nvPr/>
        </p:nvSpPr>
        <p:spPr bwMode="auto">
          <a:xfrm>
            <a:off x="3962400" y="1676400"/>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154" name="Line 8"/>
          <p:cNvSpPr>
            <a:spLocks noChangeShapeType="1"/>
          </p:cNvSpPr>
          <p:nvPr/>
        </p:nvSpPr>
        <p:spPr bwMode="auto">
          <a:xfrm>
            <a:off x="4419600" y="1676400"/>
            <a:ext cx="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cxnSp>
        <p:nvCxnSpPr>
          <p:cNvPr id="3" name="直接箭头连接符 2"/>
          <p:cNvCxnSpPr/>
          <p:nvPr/>
        </p:nvCxnSpPr>
        <p:spPr bwMode="auto">
          <a:xfrm flipH="1">
            <a:off x="4644008" y="1844824"/>
            <a:ext cx="576064" cy="0"/>
          </a:xfrm>
          <a:prstGeom prst="straightConnector1">
            <a:avLst/>
          </a:prstGeom>
          <a:solidFill>
            <a:schemeClr val="accent1"/>
          </a:solidFill>
          <a:ln w="22225" cap="flat" cmpd="sng" algn="ctr">
            <a:solidFill>
              <a:schemeClr val="accent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717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173"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程序设计技巧</a:t>
            </a:r>
            <a:r>
              <a:rPr lang="en-US" altLang="zh-CN" sz="2400" b="1" dirty="0" smtClean="0">
                <a:solidFill>
                  <a:srgbClr val="CC6600"/>
                </a:solidFill>
                <a:ea typeface="华文楷体" panose="02010600040101010101" pitchFamily="2" charset="-122"/>
              </a:rPr>
              <a:t>]</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设置</a:t>
            </a:r>
            <a:r>
              <a:rPr lang="zh-CN" altLang="en-US" sz="2400" dirty="0" smtClean="0">
                <a:solidFill>
                  <a:schemeClr val="accent2"/>
                </a:solidFill>
                <a:ea typeface="华文楷体" panose="02010600040101010101" pitchFamily="2" charset="-122"/>
              </a:rPr>
              <a:t>监视哨</a:t>
            </a:r>
            <a:r>
              <a:rPr lang="zh-CN" altLang="en-US" sz="2400" dirty="0" smtClean="0">
                <a:ea typeface="华文楷体" panose="02010600040101010101" pitchFamily="2" charset="-122"/>
              </a:rPr>
              <a:t>，提高算法效率。</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性能分析</a:t>
            </a:r>
            <a:r>
              <a:rPr lang="en-US" altLang="zh-CN" sz="2400" b="1" dirty="0" smtClean="0">
                <a:solidFill>
                  <a:srgbClr val="CC6600"/>
                </a:solidFill>
                <a:ea typeface="华文楷体" panose="02010600040101010101" pitchFamily="2" charset="-122"/>
              </a:rPr>
              <a:t>]</a:t>
            </a:r>
            <a:endParaRPr lang="en-US" altLang="zh-CN" sz="2400" dirty="0" smtClean="0">
              <a:solidFill>
                <a:srgbClr val="CC6600"/>
              </a:solidFill>
              <a:ea typeface="华文楷体" panose="02010600040101010101" pitchFamily="2" charset="-122"/>
            </a:endParaRPr>
          </a:p>
          <a:p>
            <a:pPr eaLnBrk="1" hangingPunct="1">
              <a:lnSpc>
                <a:spcPct val="90000"/>
              </a:lnSpc>
            </a:pPr>
            <a:r>
              <a:rPr lang="zh-CN" altLang="en-US" sz="2400" dirty="0" smtClean="0">
                <a:ea typeface="华文楷体" panose="02010600040101010101" pitchFamily="2" charset="-122"/>
              </a:rPr>
              <a:t>空间：一个辅助空间。</a:t>
            </a:r>
            <a:endParaRPr lang="zh-CN" altLang="en-US" sz="2400" dirty="0" smtClean="0">
              <a:ea typeface="华文楷体" panose="02010600040101010101" pitchFamily="2" charset="-122"/>
            </a:endParaRPr>
          </a:p>
          <a:p>
            <a:pPr eaLnBrk="1" hangingPunct="1">
              <a:lnSpc>
                <a:spcPct val="90000"/>
              </a:lnSpc>
            </a:pPr>
            <a:r>
              <a:rPr lang="zh-CN" altLang="en-US" sz="2400" dirty="0" smtClean="0">
                <a:ea typeface="华文楷体" panose="02010600040101010101" pitchFamily="2" charset="-122"/>
              </a:rPr>
              <a:t>时间：</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1) </a:t>
            </a:r>
            <a:r>
              <a:rPr lang="zh-CN" altLang="en-US" sz="2400" dirty="0" smtClean="0">
                <a:ea typeface="华文楷体" panose="02010600040101010101" pitchFamily="2" charset="-122"/>
              </a:rPr>
              <a:t>查找成功时的平均查找长度</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设表中各记录查找概率相等</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ASL</a:t>
            </a:r>
            <a:r>
              <a:rPr lang="en-US" altLang="zh-CN" sz="2400" baseline="-25000" dirty="0" smtClean="0">
                <a:ea typeface="华文楷体" panose="02010600040101010101" pitchFamily="2" charset="-122"/>
              </a:rPr>
              <a:t>s</a:t>
            </a:r>
            <a:r>
              <a:rPr lang="en-US" altLang="zh-CN" sz="2400" dirty="0" smtClean="0">
                <a:ea typeface="华文楷体" panose="02010600040101010101" pitchFamily="2" charset="-122"/>
              </a:rPr>
              <a:t>(n)=(1+2+ ... +n)/n =(n+1)/2</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2)</a:t>
            </a:r>
            <a:r>
              <a:rPr lang="zh-CN" altLang="en-US" sz="2400" dirty="0" smtClean="0">
                <a:ea typeface="华文楷体" panose="02010600040101010101" pitchFamily="2" charset="-122"/>
              </a:rPr>
              <a:t>查找不成功时的平均查找长度    </a:t>
            </a:r>
            <a:r>
              <a:rPr lang="en-US" altLang="zh-CN" sz="2400" dirty="0" err="1" smtClean="0">
                <a:ea typeface="华文楷体" panose="02010600040101010101" pitchFamily="2" charset="-122"/>
              </a:rPr>
              <a:t>ASL</a:t>
            </a:r>
            <a:r>
              <a:rPr lang="en-US" altLang="zh-CN" sz="2400" baseline="-25000" dirty="0" err="1" smtClean="0">
                <a:ea typeface="华文楷体" panose="02010600040101010101" pitchFamily="2" charset="-122"/>
              </a:rPr>
              <a:t>f</a:t>
            </a:r>
            <a:r>
              <a:rPr lang="en-US" altLang="zh-CN" sz="2400" baseline="-25000" dirty="0" smtClean="0">
                <a:ea typeface="华文楷体" panose="02010600040101010101" pitchFamily="2" charset="-122"/>
              </a:rPr>
              <a:t> </a:t>
            </a:r>
            <a:r>
              <a:rPr lang="en-US" altLang="zh-CN" sz="2400" dirty="0" smtClean="0">
                <a:ea typeface="华文楷体" panose="02010600040101010101" pitchFamily="2" charset="-122"/>
              </a:rPr>
              <a:t>=n+1</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算法特点</a:t>
            </a:r>
            <a:r>
              <a:rPr lang="en-US" altLang="zh-CN" sz="2400" b="1" dirty="0" smtClean="0">
                <a:solidFill>
                  <a:srgbClr val="CC66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a:p>
            <a:pPr eaLnBrk="1" hangingPunct="1">
              <a:lnSpc>
                <a:spcPct val="90000"/>
              </a:lnSpc>
            </a:pPr>
            <a:r>
              <a:rPr lang="zh-CN" altLang="en-US" sz="2400" dirty="0" smtClean="0">
                <a:ea typeface="华文楷体" panose="02010600040101010101" pitchFamily="2" charset="-122"/>
              </a:rPr>
              <a:t>算法简单，对表结构无任何要求 </a:t>
            </a:r>
            <a:r>
              <a:rPr lang="zh-CN" altLang="en-US" sz="2400" b="1" dirty="0" smtClean="0">
                <a:solidFill>
                  <a:srgbClr val="FF0000"/>
                </a:solidFill>
                <a:ea typeface="华文楷体" panose="02010600040101010101" pitchFamily="2" charset="-122"/>
              </a:rPr>
              <a:t>快插入慢查找</a:t>
            </a:r>
            <a:endParaRPr lang="zh-CN" altLang="en-US" sz="2400" b="1" dirty="0" smtClean="0">
              <a:solidFill>
                <a:srgbClr val="FF0000"/>
              </a:solidFill>
              <a:ea typeface="华文楷体" panose="02010600040101010101" pitchFamily="2" charset="-122"/>
            </a:endParaRPr>
          </a:p>
          <a:p>
            <a:pPr eaLnBrk="1" hangingPunct="1">
              <a:lnSpc>
                <a:spcPct val="90000"/>
              </a:lnSpc>
            </a:pP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很大</a:t>
            </a:r>
            <a:r>
              <a:rPr lang="en-US" altLang="zh-CN" sz="2400" dirty="0" smtClean="0">
                <a:ea typeface="华文楷体" panose="02010600040101010101" pitchFamily="2" charset="-122"/>
              </a:rPr>
              <a:t>=&gt;</a:t>
            </a:r>
            <a:r>
              <a:rPr lang="zh-CN" altLang="en-US" sz="2400" dirty="0" smtClean="0">
                <a:ea typeface="华文楷体" panose="02010600040101010101" pitchFamily="2" charset="-122"/>
              </a:rPr>
              <a:t>查找效率较低</a:t>
            </a:r>
            <a:endParaRPr lang="zh-CN" altLang="en-US" sz="2400" dirty="0" smtClean="0">
              <a:ea typeface="华文楷体" panose="02010600040101010101" pitchFamily="2" charset="-122"/>
            </a:endParaRPr>
          </a:p>
          <a:p>
            <a:pPr eaLnBrk="1" hangingPunct="1">
              <a:lnSpc>
                <a:spcPct val="90000"/>
              </a:lnSpc>
            </a:pPr>
            <a:r>
              <a:rPr lang="zh-CN" altLang="en-US" sz="2400" dirty="0" smtClean="0">
                <a:ea typeface="华文楷体" panose="02010600040101010101" pitchFamily="2" charset="-122"/>
              </a:rPr>
              <a:t>改进措施：非等概率查找时，可将查找概率高的记录尽量排在表前部。</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en-US" altLang="zh-CN" sz="24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页脚占位符 3"/>
          <p:cNvSpPr>
            <a:spLocks noGrp="1"/>
          </p:cNvSpPr>
          <p:nvPr>
            <p:ph type="ftr" sz="quarter" idx="10"/>
          </p:nvPr>
        </p:nvSpPr>
        <p:spPr/>
        <p:txBody>
          <a:bodyPr/>
          <a:lstStyle/>
          <a:p>
            <a:pPr>
              <a:defRPr/>
            </a:pPr>
            <a:r>
              <a:rPr lang="en-US" altLang="zh-CN"/>
              <a:t>BUPT SCST</a:t>
            </a:r>
            <a:endParaRPr lang="en-US" altLang="zh-CN"/>
          </a:p>
        </p:txBody>
      </p:sp>
      <p:sp>
        <p:nvSpPr>
          <p:cNvPr id="22" name="日期占位符 5"/>
          <p:cNvSpPr>
            <a:spLocks noGrp="1"/>
          </p:cNvSpPr>
          <p:nvPr>
            <p:ph type="dt" sz="quarter" idx="12"/>
          </p:nvPr>
        </p:nvSpPr>
        <p:spPr/>
        <p:txBody>
          <a:bodyPr/>
          <a:lstStyle/>
          <a:p>
            <a:pPr>
              <a:defRPr/>
            </a:pPr>
            <a:r>
              <a:rPr lang="en-US" altLang="zh-CN"/>
              <a:t>BUPT</a:t>
            </a:r>
            <a:endParaRPr lang="en-US" altLang="zh-CN"/>
          </a:p>
        </p:txBody>
      </p:sp>
      <p:sp>
        <p:nvSpPr>
          <p:cNvPr id="8196" name="Rectangle 2"/>
          <p:cNvSpPr>
            <a:spLocks noGrp="1" noChangeArrowheads="1"/>
          </p:cNvSpPr>
          <p:nvPr>
            <p:ph type="title"/>
          </p:nvPr>
        </p:nvSpPr>
        <p:spPr/>
        <p:txBody>
          <a:bodyPr/>
          <a:lstStyle/>
          <a:p>
            <a:pPr algn="l" eaLnBrk="1" hangingPunct="1"/>
            <a:r>
              <a:rPr lang="en-US" altLang="zh-CN" sz="2800" dirty="0" smtClean="0">
                <a:ea typeface="华文楷体" panose="02010600040101010101" pitchFamily="2" charset="-122"/>
              </a:rPr>
              <a:t>8.3 </a:t>
            </a:r>
            <a:r>
              <a:rPr lang="zh-CN" altLang="en-US" sz="2800" dirty="0" smtClean="0">
                <a:ea typeface="华文楷体" panose="02010600040101010101" pitchFamily="2" charset="-122"/>
              </a:rPr>
              <a:t>二</a:t>
            </a:r>
            <a:r>
              <a:rPr lang="zh-CN" altLang="en-US" sz="2800" smtClean="0">
                <a:ea typeface="华文楷体" panose="02010600040101010101" pitchFamily="2" charset="-122"/>
              </a:rPr>
              <a:t>分查找</a:t>
            </a:r>
            <a:r>
              <a:rPr lang="zh-CN" altLang="en-US" sz="2800" smtClean="0">
                <a:solidFill>
                  <a:srgbClr val="FF0000"/>
                </a:solidFill>
                <a:ea typeface="华文楷体" panose="02010600040101010101" pitchFamily="2" charset="-122"/>
              </a:rPr>
              <a:t> 慢插入快查找</a:t>
            </a:r>
            <a:endParaRPr lang="zh-CN" altLang="en-US" sz="2800" dirty="0" smtClean="0">
              <a:ea typeface="华文楷体" panose="02010600040101010101" pitchFamily="2" charset="-122"/>
            </a:endParaRPr>
          </a:p>
        </p:txBody>
      </p:sp>
      <p:sp>
        <p:nvSpPr>
          <p:cNvPr id="8197"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zh-CN" altLang="zh-CN" sz="1800" b="1" dirty="0" smtClean="0">
                <a:ea typeface="华文楷体" panose="02010600040101010101" pitchFamily="2" charset="-122"/>
                <a:sym typeface="Symbol" panose="05050102010706020507" pitchFamily="18" charset="2"/>
              </a:rPr>
              <a:t>满足 </a:t>
            </a:r>
            <a:r>
              <a:rPr lang="en-US" altLang="zh-CN" sz="1800" b="1" dirty="0" smtClean="0">
                <a:ea typeface="华文楷体" panose="02010600040101010101" pitchFamily="2" charset="-122"/>
                <a:sym typeface="Symbol" panose="05050102010706020507" pitchFamily="18" charset="2"/>
              </a:rPr>
              <a:t>list[</a:t>
            </a:r>
            <a:r>
              <a:rPr lang="en-US" altLang="zh-CN" sz="1800" b="1" dirty="0" err="1" smtClean="0">
                <a:ea typeface="华文楷体" panose="02010600040101010101" pitchFamily="2" charset="-122"/>
                <a:sym typeface="Symbol" panose="05050102010706020507" pitchFamily="18" charset="2"/>
              </a:rPr>
              <a:t>i</a:t>
            </a:r>
            <a:r>
              <a:rPr lang="en-US" altLang="zh-CN" sz="1800" b="1" dirty="0" smtClean="0">
                <a:ea typeface="华文楷体" panose="02010600040101010101" pitchFamily="2" charset="-122"/>
                <a:sym typeface="Symbol" panose="05050102010706020507" pitchFamily="18" charset="2"/>
              </a:rPr>
              <a:t>].key  list[i+1].key,   0 </a:t>
            </a:r>
            <a:r>
              <a:rPr lang="en-US" altLang="zh-CN" sz="1800" b="1" dirty="0" err="1" smtClean="0">
                <a:ea typeface="华文楷体" panose="02010600040101010101" pitchFamily="2" charset="-122"/>
                <a:sym typeface="Symbol" panose="05050102010706020507" pitchFamily="18" charset="2"/>
              </a:rPr>
              <a:t>i</a:t>
            </a:r>
            <a:r>
              <a:rPr lang="en-US" altLang="zh-CN" sz="1800" b="1" dirty="0" smtClean="0">
                <a:ea typeface="华文楷体" panose="02010600040101010101" pitchFamily="2" charset="-122"/>
                <a:sym typeface="Symbol" panose="05050102010706020507" pitchFamily="18" charset="2"/>
              </a:rPr>
              <a:t> &lt;n-1</a:t>
            </a:r>
            <a:endParaRPr lang="en-US" altLang="zh-CN" sz="1800" b="1" dirty="0" smtClean="0">
              <a:ea typeface="华文楷体" panose="02010600040101010101" pitchFamily="2" charset="-122"/>
              <a:sym typeface="Symbol" panose="05050102010706020507" pitchFamily="18" charset="2"/>
            </a:endParaRPr>
          </a:p>
          <a:p>
            <a:pPr eaLnBrk="1" hangingPunct="1">
              <a:lnSpc>
                <a:spcPct val="90000"/>
              </a:lnSpc>
              <a:spcBef>
                <a:spcPct val="50000"/>
              </a:spcBef>
              <a:buFont typeface="Wingdings" panose="05000000000000000000" pitchFamily="2" charset="2"/>
              <a:buNone/>
            </a:pPr>
            <a:r>
              <a:rPr lang="en-US" altLang="zh-CN" sz="1800" dirty="0" smtClean="0">
                <a:solidFill>
                  <a:schemeClr val="accent2"/>
                </a:solidFill>
                <a:ea typeface="华文楷体" panose="02010600040101010101" pitchFamily="2" charset="-122"/>
              </a:rPr>
              <a:t> </a:t>
            </a:r>
            <a:r>
              <a:rPr lang="zh-CN" altLang="en-US" sz="1800" dirty="0" smtClean="0">
                <a:solidFill>
                  <a:schemeClr val="accent2"/>
                </a:solidFill>
                <a:ea typeface="华文楷体" panose="02010600040101010101" pitchFamily="2" charset="-122"/>
              </a:rPr>
              <a:t>仍可用顺序查找，但在找不到时不需比较到表尾，只需比较到比给定值大的记录就可终止。</a:t>
            </a:r>
            <a:endParaRPr lang="zh-CN" altLang="en-US" sz="1800" dirty="0" smtClean="0">
              <a:solidFill>
                <a:schemeClr val="accent2"/>
              </a:solidFill>
              <a:ea typeface="华文楷体" panose="02010600040101010101" pitchFamily="2" charset="-122"/>
            </a:endParaRPr>
          </a:p>
          <a:p>
            <a:pPr eaLnBrk="1" hangingPunct="1">
              <a:lnSpc>
                <a:spcPct val="90000"/>
              </a:lnSpc>
              <a:spcBef>
                <a:spcPct val="50000"/>
              </a:spcBef>
              <a:buFont typeface="Wingdings" panose="05000000000000000000" pitchFamily="2" charset="2"/>
              <a:buNone/>
            </a:pPr>
            <a:r>
              <a:rPr lang="en-US" altLang="zh-CN" sz="2400" b="1" dirty="0" smtClean="0">
                <a:solidFill>
                  <a:srgbClr val="CC6600"/>
                </a:solidFill>
                <a:ea typeface="华文楷体" panose="02010600040101010101" pitchFamily="2" charset="-122"/>
                <a:sym typeface="Symbol" panose="05050102010706020507" pitchFamily="18" charset="2"/>
              </a:rPr>
              <a:t>[</a:t>
            </a:r>
            <a:r>
              <a:rPr lang="zh-CN" altLang="zh-CN" sz="2400" b="1" dirty="0" smtClean="0">
                <a:solidFill>
                  <a:srgbClr val="CC6600"/>
                </a:solidFill>
                <a:ea typeface="华文楷体" panose="02010600040101010101" pitchFamily="2" charset="-122"/>
                <a:sym typeface="Symbol" panose="05050102010706020507" pitchFamily="18" charset="2"/>
              </a:rPr>
              <a:t>折半</a:t>
            </a:r>
            <a:r>
              <a:rPr lang="en-US" altLang="zh-CN" sz="2400" b="1" dirty="0" smtClean="0">
                <a:solidFill>
                  <a:srgbClr val="CC6600"/>
                </a:solidFill>
                <a:ea typeface="华文楷体" panose="02010600040101010101" pitchFamily="2" charset="-122"/>
                <a:sym typeface="Symbol" panose="05050102010706020507" pitchFamily="18" charset="2"/>
              </a:rPr>
              <a:t>(</a:t>
            </a:r>
            <a:r>
              <a:rPr lang="zh-CN" altLang="en-US" sz="2400" b="1" dirty="0" smtClean="0">
                <a:solidFill>
                  <a:srgbClr val="CC6600"/>
                </a:solidFill>
                <a:ea typeface="华文楷体" panose="02010600040101010101" pitchFamily="2" charset="-122"/>
                <a:sym typeface="Symbol" panose="05050102010706020507" pitchFamily="18" charset="2"/>
              </a:rPr>
              <a:t>二分</a:t>
            </a:r>
            <a:r>
              <a:rPr lang="en-US" altLang="zh-CN" sz="2400" b="1" dirty="0" smtClean="0">
                <a:solidFill>
                  <a:srgbClr val="CC6600"/>
                </a:solidFill>
                <a:ea typeface="华文楷体" panose="02010600040101010101" pitchFamily="2" charset="-122"/>
                <a:sym typeface="Symbol" panose="05050102010706020507" pitchFamily="18" charset="2"/>
              </a:rPr>
              <a:t>)</a:t>
            </a:r>
            <a:r>
              <a:rPr lang="zh-CN" altLang="en-US" sz="2400" b="1" dirty="0" smtClean="0">
                <a:solidFill>
                  <a:srgbClr val="CC6600"/>
                </a:solidFill>
                <a:ea typeface="华文楷体" panose="02010600040101010101" pitchFamily="2" charset="-122"/>
                <a:sym typeface="Symbol" panose="05050102010706020507" pitchFamily="18" charset="2"/>
              </a:rPr>
              <a:t>查找法</a:t>
            </a:r>
            <a:r>
              <a:rPr lang="zh-CN" altLang="zh-CN" sz="2400" b="1" dirty="0" smtClean="0">
                <a:solidFill>
                  <a:srgbClr val="CC6600"/>
                </a:solidFill>
                <a:ea typeface="华文楷体" panose="02010600040101010101" pitchFamily="2" charset="-122"/>
                <a:sym typeface="Symbol" panose="05050102010706020507" pitchFamily="18" charset="2"/>
              </a:rPr>
              <a:t>]</a:t>
            </a:r>
            <a:r>
              <a:rPr lang="zh-CN" altLang="zh-CN" sz="2400" dirty="0" smtClean="0">
                <a:solidFill>
                  <a:srgbClr val="CC6600"/>
                </a:solidFill>
                <a:ea typeface="华文楷体" panose="02010600040101010101" pitchFamily="2" charset="-122"/>
                <a:sym typeface="Symbol" panose="05050102010706020507" pitchFamily="18" charset="2"/>
              </a:rPr>
              <a:t> </a:t>
            </a:r>
            <a:endParaRPr lang="zh-CN" altLang="zh-CN" sz="2400" dirty="0" smtClean="0">
              <a:solidFill>
                <a:srgbClr val="CC6600"/>
              </a:solidFill>
              <a:ea typeface="华文楷体" panose="02010600040101010101" pitchFamily="2" charset="-122"/>
              <a:sym typeface="Symbol" panose="05050102010706020507" pitchFamily="18" charset="2"/>
            </a:endParaRPr>
          </a:p>
          <a:p>
            <a:pPr eaLnBrk="1" hangingPunct="1">
              <a:lnSpc>
                <a:spcPct val="90000"/>
              </a:lnSpc>
              <a:buFont typeface="Wingdings" panose="05000000000000000000" pitchFamily="2" charset="2"/>
              <a:buNone/>
            </a:pPr>
            <a:r>
              <a:rPr lang="zh-CN" altLang="zh-CN" sz="2400" dirty="0" smtClean="0">
                <a:ea typeface="华文楷体" panose="02010600040101010101" pitchFamily="2" charset="-122"/>
                <a:sym typeface="Symbol" panose="05050102010706020507" pitchFamily="18" charset="2"/>
              </a:rPr>
              <a:t>         </a:t>
            </a:r>
            <a:r>
              <a:rPr lang="en-US" altLang="zh-CN" sz="2400" dirty="0" smtClean="0">
                <a:ea typeface="华文楷体" panose="02010600040101010101" pitchFamily="2" charset="-122"/>
                <a:sym typeface="Symbol" panose="05050102010706020507" pitchFamily="18" charset="2"/>
              </a:rPr>
              <a:t>  0</a:t>
            </a:r>
            <a:r>
              <a:rPr lang="zh-CN" altLang="zh-CN" sz="2400" dirty="0" smtClean="0">
                <a:ea typeface="华文楷体" panose="02010600040101010101" pitchFamily="2" charset="-122"/>
                <a:sym typeface="Symbol" panose="05050102010706020507" pitchFamily="18" charset="2"/>
              </a:rPr>
              <a:t>    </a:t>
            </a:r>
            <a:r>
              <a:rPr lang="en-US" altLang="zh-CN" sz="2400" dirty="0" smtClean="0">
                <a:ea typeface="华文楷体" panose="02010600040101010101" pitchFamily="2" charset="-122"/>
                <a:sym typeface="Symbol" panose="05050102010706020507" pitchFamily="18" charset="2"/>
              </a:rPr>
              <a:t>1</a:t>
            </a:r>
            <a:r>
              <a:rPr lang="zh-CN" altLang="zh-CN" sz="2400" dirty="0" smtClean="0">
                <a:ea typeface="华文楷体" panose="02010600040101010101" pitchFamily="2" charset="-122"/>
                <a:sym typeface="Symbol" panose="05050102010706020507" pitchFamily="18" charset="2"/>
              </a:rPr>
              <a:t>    </a:t>
            </a:r>
            <a:r>
              <a:rPr lang="en-US" altLang="zh-CN" sz="2400" dirty="0" smtClean="0">
                <a:ea typeface="华文楷体" panose="02010600040101010101" pitchFamily="2" charset="-122"/>
                <a:sym typeface="Symbol" panose="05050102010706020507" pitchFamily="18" charset="2"/>
              </a:rPr>
              <a:t> 2</a:t>
            </a:r>
            <a:r>
              <a:rPr lang="zh-CN" altLang="zh-CN" sz="2400" dirty="0" smtClean="0">
                <a:ea typeface="华文楷体" panose="02010600040101010101" pitchFamily="2" charset="-122"/>
                <a:sym typeface="Symbol" panose="05050102010706020507" pitchFamily="18" charset="2"/>
              </a:rPr>
              <a:t>   </a:t>
            </a:r>
            <a:r>
              <a:rPr lang="en-US" altLang="zh-CN" sz="2400" dirty="0" smtClean="0">
                <a:ea typeface="华文楷体" panose="02010600040101010101" pitchFamily="2" charset="-122"/>
                <a:sym typeface="Symbol" panose="05050102010706020507" pitchFamily="18" charset="2"/>
              </a:rPr>
              <a:t> </a:t>
            </a:r>
            <a:r>
              <a:rPr lang="zh-CN" altLang="zh-CN" sz="2400" dirty="0" smtClean="0">
                <a:ea typeface="华文楷体" panose="02010600040101010101" pitchFamily="2" charset="-122"/>
                <a:sym typeface="Symbol" panose="05050102010706020507" pitchFamily="18" charset="2"/>
              </a:rPr>
              <a:t> </a:t>
            </a:r>
            <a:r>
              <a:rPr lang="en-US" altLang="zh-CN" sz="2400" dirty="0" smtClean="0">
                <a:ea typeface="华文楷体" panose="02010600040101010101" pitchFamily="2" charset="-122"/>
                <a:sym typeface="Symbol" panose="05050102010706020507" pitchFamily="18" charset="2"/>
              </a:rPr>
              <a:t>3</a:t>
            </a:r>
            <a:r>
              <a:rPr lang="zh-CN" altLang="zh-CN" sz="2400" dirty="0" smtClean="0">
                <a:ea typeface="华文楷体" panose="02010600040101010101" pitchFamily="2" charset="-122"/>
                <a:sym typeface="Symbol" panose="05050102010706020507" pitchFamily="18" charset="2"/>
              </a:rPr>
              <a:t>  </a:t>
            </a:r>
            <a:r>
              <a:rPr lang="en-US" altLang="zh-CN" sz="2400" dirty="0" smtClean="0">
                <a:ea typeface="华文楷体" panose="02010600040101010101" pitchFamily="2" charset="-122"/>
                <a:sym typeface="Symbol" panose="05050102010706020507" pitchFamily="18" charset="2"/>
              </a:rPr>
              <a:t> </a:t>
            </a:r>
            <a:r>
              <a:rPr lang="zh-CN" altLang="zh-CN" sz="2400" dirty="0" smtClean="0">
                <a:ea typeface="华文楷体" panose="02010600040101010101" pitchFamily="2" charset="-122"/>
                <a:sym typeface="Symbol" panose="05050102010706020507" pitchFamily="18" charset="2"/>
              </a:rPr>
              <a:t>  </a:t>
            </a:r>
            <a:r>
              <a:rPr lang="en-US" altLang="zh-CN" sz="2400" dirty="0" smtClean="0">
                <a:ea typeface="华文楷体" panose="02010600040101010101" pitchFamily="2" charset="-122"/>
                <a:sym typeface="Symbol" panose="05050102010706020507" pitchFamily="18" charset="2"/>
              </a:rPr>
              <a:t>4</a:t>
            </a:r>
            <a:r>
              <a:rPr lang="zh-CN" altLang="zh-CN" sz="2400" dirty="0" smtClean="0">
                <a:ea typeface="华文楷体" panose="02010600040101010101" pitchFamily="2" charset="-122"/>
                <a:sym typeface="Symbol" panose="05050102010706020507" pitchFamily="18" charset="2"/>
              </a:rPr>
              <a:t>   </a:t>
            </a:r>
            <a:r>
              <a:rPr lang="en-US" altLang="zh-CN" sz="2400" dirty="0" smtClean="0">
                <a:ea typeface="华文楷体" panose="02010600040101010101" pitchFamily="2" charset="-122"/>
                <a:sym typeface="Symbol" panose="05050102010706020507" pitchFamily="18" charset="2"/>
              </a:rPr>
              <a:t> </a:t>
            </a:r>
            <a:r>
              <a:rPr lang="zh-CN" altLang="zh-CN" sz="2400" dirty="0" smtClean="0">
                <a:ea typeface="华文楷体" panose="02010600040101010101" pitchFamily="2" charset="-122"/>
                <a:sym typeface="Symbol" panose="05050102010706020507" pitchFamily="18" charset="2"/>
              </a:rPr>
              <a:t> </a:t>
            </a:r>
            <a:r>
              <a:rPr lang="en-US" altLang="zh-CN" sz="2400" dirty="0" smtClean="0">
                <a:ea typeface="华文楷体" panose="02010600040101010101" pitchFamily="2" charset="-122"/>
                <a:sym typeface="Symbol" panose="05050102010706020507" pitchFamily="18" charset="2"/>
              </a:rPr>
              <a:t>5</a:t>
            </a:r>
            <a:r>
              <a:rPr lang="zh-CN" altLang="zh-CN" sz="2400" dirty="0" smtClean="0">
                <a:ea typeface="华文楷体" panose="02010600040101010101" pitchFamily="2" charset="-122"/>
                <a:sym typeface="Symbol" panose="05050102010706020507" pitchFamily="18" charset="2"/>
              </a:rPr>
              <a:t>    </a:t>
            </a:r>
            <a:r>
              <a:rPr lang="en-US" altLang="zh-CN" sz="2400" dirty="0" smtClean="0">
                <a:ea typeface="华文楷体" panose="02010600040101010101" pitchFamily="2" charset="-122"/>
                <a:sym typeface="Symbol" panose="05050102010706020507" pitchFamily="18" charset="2"/>
              </a:rPr>
              <a:t>6</a:t>
            </a:r>
            <a:r>
              <a:rPr lang="zh-CN" altLang="zh-CN" sz="2400" dirty="0" smtClean="0">
                <a:ea typeface="华文楷体" panose="02010600040101010101" pitchFamily="2" charset="-122"/>
                <a:sym typeface="Symbol" panose="05050102010706020507" pitchFamily="18" charset="2"/>
              </a:rPr>
              <a:t>    </a:t>
            </a:r>
            <a:r>
              <a:rPr lang="en-US" altLang="zh-CN" sz="2400" dirty="0" smtClean="0">
                <a:ea typeface="华文楷体" panose="02010600040101010101" pitchFamily="2" charset="-122"/>
                <a:sym typeface="Symbol" panose="05050102010706020507" pitchFamily="18" charset="2"/>
              </a:rPr>
              <a:t> 7</a:t>
            </a:r>
            <a:r>
              <a:rPr lang="zh-CN" altLang="zh-CN" sz="2400" dirty="0" smtClean="0">
                <a:ea typeface="华文楷体" panose="02010600040101010101" pitchFamily="2" charset="-122"/>
                <a:sym typeface="Symbol" panose="05050102010706020507" pitchFamily="18" charset="2"/>
              </a:rPr>
              <a:t>   </a:t>
            </a:r>
            <a:r>
              <a:rPr lang="en-US" altLang="zh-CN" sz="2400" dirty="0" smtClean="0">
                <a:ea typeface="华文楷体" panose="02010600040101010101" pitchFamily="2" charset="-122"/>
                <a:sym typeface="Symbol" panose="05050102010706020507" pitchFamily="18" charset="2"/>
              </a:rPr>
              <a:t> 8</a:t>
            </a:r>
            <a:r>
              <a:rPr lang="zh-CN" altLang="zh-CN" sz="2400" dirty="0" smtClean="0">
                <a:ea typeface="华文楷体" panose="02010600040101010101" pitchFamily="2" charset="-122"/>
                <a:sym typeface="Symbol" panose="05050102010706020507" pitchFamily="18" charset="2"/>
              </a:rPr>
              <a:t>  </a:t>
            </a:r>
            <a:r>
              <a:rPr lang="en-US" altLang="zh-CN" sz="2400" dirty="0" smtClean="0">
                <a:ea typeface="华文楷体" panose="02010600040101010101" pitchFamily="2" charset="-122"/>
                <a:sym typeface="Symbol" panose="05050102010706020507" pitchFamily="18" charset="2"/>
              </a:rPr>
              <a:t>   9    10</a:t>
            </a:r>
            <a:endParaRPr lang="zh-CN" altLang="zh-CN" sz="2400" dirty="0" smtClean="0">
              <a:ea typeface="华文楷体" panose="02010600040101010101" pitchFamily="2" charset="-122"/>
              <a:sym typeface="Symbol" panose="05050102010706020507" pitchFamily="18" charset="2"/>
            </a:endParaRPr>
          </a:p>
          <a:p>
            <a:pPr eaLnBrk="1" hangingPunct="1">
              <a:lnSpc>
                <a:spcPct val="90000"/>
              </a:lnSpc>
              <a:buFont typeface="Wingdings" panose="05000000000000000000" pitchFamily="2" charset="2"/>
              <a:buNone/>
            </a:pPr>
            <a:r>
              <a:rPr lang="zh-CN" altLang="zh-CN" sz="2800" dirty="0" smtClean="0">
                <a:ea typeface="华文楷体" panose="02010600040101010101" pitchFamily="2" charset="-122"/>
                <a:sym typeface="Symbol" panose="05050102010706020507" pitchFamily="18" charset="2"/>
              </a:rPr>
              <a:t>        </a:t>
            </a:r>
            <a:r>
              <a:rPr lang="en-US" altLang="zh-CN" sz="2800" dirty="0" smtClean="0">
                <a:ea typeface="华文楷体" panose="02010600040101010101" pitchFamily="2" charset="-122"/>
                <a:sym typeface="Symbol" panose="05050102010706020507" pitchFamily="18" charset="2"/>
              </a:rPr>
              <a:t> </a:t>
            </a:r>
            <a:r>
              <a:rPr lang="zh-CN" altLang="zh-CN" sz="2400" dirty="0" smtClean="0">
                <a:ea typeface="华文楷体" panose="02010600040101010101" pitchFamily="2" charset="-122"/>
                <a:sym typeface="Symbol" panose="05050102010706020507" pitchFamily="18" charset="2"/>
              </a:rPr>
              <a:t>05  13  19 </a:t>
            </a:r>
            <a:r>
              <a:rPr lang="en-US" altLang="zh-CN" sz="2400" dirty="0" smtClean="0">
                <a:ea typeface="华文楷体" panose="02010600040101010101" pitchFamily="2" charset="-122"/>
                <a:sym typeface="Symbol" panose="05050102010706020507" pitchFamily="18" charset="2"/>
              </a:rPr>
              <a:t>  </a:t>
            </a:r>
            <a:r>
              <a:rPr lang="zh-CN" altLang="zh-CN" sz="2400" dirty="0" smtClean="0">
                <a:ea typeface="华文楷体" panose="02010600040101010101" pitchFamily="2" charset="-122"/>
                <a:sym typeface="Symbol" panose="05050102010706020507" pitchFamily="18" charset="2"/>
              </a:rPr>
              <a:t> 21  37 </a:t>
            </a:r>
            <a:r>
              <a:rPr lang="en-US" altLang="zh-CN" sz="2400" dirty="0" smtClean="0">
                <a:ea typeface="华文楷体" panose="02010600040101010101" pitchFamily="2" charset="-122"/>
                <a:sym typeface="Symbol" panose="05050102010706020507" pitchFamily="18" charset="2"/>
              </a:rPr>
              <a:t> </a:t>
            </a:r>
            <a:r>
              <a:rPr lang="zh-CN" altLang="zh-CN" sz="2400" dirty="0" smtClean="0">
                <a:ea typeface="华文楷体" panose="02010600040101010101" pitchFamily="2" charset="-122"/>
                <a:sym typeface="Symbol" panose="05050102010706020507" pitchFamily="18" charset="2"/>
              </a:rPr>
              <a:t> 56</a:t>
            </a:r>
            <a:r>
              <a:rPr lang="en-US" altLang="zh-CN" sz="2400" dirty="0" smtClean="0">
                <a:ea typeface="华文楷体" panose="02010600040101010101" pitchFamily="2" charset="-122"/>
                <a:sym typeface="Symbol" panose="05050102010706020507" pitchFamily="18" charset="2"/>
              </a:rPr>
              <a:t> </a:t>
            </a:r>
            <a:r>
              <a:rPr lang="zh-CN" altLang="zh-CN" sz="2400" dirty="0" smtClean="0">
                <a:ea typeface="华文楷体" panose="02010600040101010101" pitchFamily="2" charset="-122"/>
                <a:sym typeface="Symbol" panose="05050102010706020507" pitchFamily="18" charset="2"/>
              </a:rPr>
              <a:t>  64  75 </a:t>
            </a:r>
            <a:r>
              <a:rPr lang="en-US" altLang="zh-CN" sz="2400" dirty="0" smtClean="0">
                <a:ea typeface="华文楷体" panose="02010600040101010101" pitchFamily="2" charset="-122"/>
                <a:sym typeface="Symbol" panose="05050102010706020507" pitchFamily="18" charset="2"/>
              </a:rPr>
              <a:t> </a:t>
            </a:r>
            <a:r>
              <a:rPr lang="zh-CN" altLang="zh-CN" sz="2400" dirty="0" smtClean="0">
                <a:ea typeface="华文楷体" panose="02010600040101010101" pitchFamily="2" charset="-122"/>
                <a:sym typeface="Symbol" panose="05050102010706020507" pitchFamily="18" charset="2"/>
              </a:rPr>
              <a:t> 80</a:t>
            </a:r>
            <a:r>
              <a:rPr lang="en-US" altLang="zh-CN" sz="2400" dirty="0" smtClean="0">
                <a:ea typeface="华文楷体" panose="02010600040101010101" pitchFamily="2" charset="-122"/>
                <a:sym typeface="Symbol" panose="05050102010706020507" pitchFamily="18" charset="2"/>
              </a:rPr>
              <a:t> </a:t>
            </a:r>
            <a:r>
              <a:rPr lang="zh-CN" altLang="zh-CN" sz="2400" dirty="0" smtClean="0">
                <a:ea typeface="华文楷体" panose="02010600040101010101" pitchFamily="2" charset="-122"/>
                <a:sym typeface="Symbol" panose="05050102010706020507" pitchFamily="18" charset="2"/>
              </a:rPr>
              <a:t>  88  92</a:t>
            </a:r>
            <a:endParaRPr lang="zh-CN" altLang="zh-CN" sz="2400" dirty="0" smtClean="0">
              <a:ea typeface="华文楷体" panose="02010600040101010101" pitchFamily="2" charset="-122"/>
              <a:sym typeface="Symbol" panose="05050102010706020507" pitchFamily="18" charset="2"/>
            </a:endParaRPr>
          </a:p>
          <a:p>
            <a:pPr eaLnBrk="1" hangingPunct="1">
              <a:lnSpc>
                <a:spcPct val="90000"/>
              </a:lnSpc>
              <a:buFont typeface="Wingdings" panose="05000000000000000000" pitchFamily="2" charset="2"/>
              <a:buNone/>
            </a:pPr>
            <a:r>
              <a:rPr lang="zh-CN" altLang="zh-CN" sz="2400" dirty="0" smtClean="0">
                <a:ea typeface="华文楷体" panose="02010600040101010101" pitchFamily="2" charset="-122"/>
                <a:sym typeface="Symbol" panose="05050102010706020507" pitchFamily="18" charset="2"/>
              </a:rPr>
              <a:t>        </a:t>
            </a:r>
            <a:r>
              <a:rPr lang="en-US" altLang="zh-CN" sz="2400" dirty="0" smtClean="0">
                <a:ea typeface="华文楷体" panose="02010600040101010101" pitchFamily="2" charset="-122"/>
                <a:sym typeface="Symbol" panose="05050102010706020507" pitchFamily="18" charset="2"/>
              </a:rPr>
              <a:t>  </a:t>
            </a:r>
            <a:r>
              <a:rPr lang="zh-CN"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sym typeface="Symbol" panose="05050102010706020507" pitchFamily="18" charset="2"/>
              </a:rPr>
              <a:t>low                         mid                          high</a:t>
            </a:r>
            <a:endParaRPr lang="en-US" altLang="zh-CN" sz="2400" dirty="0" smtClean="0">
              <a:ea typeface="华文楷体" panose="02010600040101010101" pitchFamily="2" charset="-122"/>
              <a:sym typeface="Symbol" panose="05050102010706020507" pitchFamily="18" charset="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a:t>
            </a:r>
            <a:r>
              <a:rPr lang="en-US" altLang="zh-CN" sz="2400" dirty="0" err="1" smtClean="0">
                <a:ea typeface="华文楷体" panose="02010600040101010101" pitchFamily="2" charset="-122"/>
                <a:sym typeface="Symbol" panose="05050102010706020507" pitchFamily="18" charset="2"/>
              </a:rPr>
              <a:t>low+high</a:t>
            </a:r>
            <a:r>
              <a:rPr lang="en-US" altLang="zh-CN" sz="2400" dirty="0" smtClean="0">
                <a:ea typeface="华文楷体" panose="02010600040101010101" pitchFamily="2" charset="-122"/>
                <a:sym typeface="Symbol" panose="05050102010706020507" pitchFamily="18" charset="2"/>
              </a:rPr>
              <a:t>)/2</a:t>
            </a:r>
            <a:endParaRPr lang="en-US" altLang="zh-CN" sz="2400" dirty="0" smtClean="0">
              <a:ea typeface="华文楷体" panose="02010600040101010101" pitchFamily="2" charset="-122"/>
              <a:sym typeface="Symbol" panose="05050102010706020507" pitchFamily="18" charset="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a:t>
            </a:r>
            <a:r>
              <a:rPr lang="en-US" altLang="zh-CN" sz="2000" b="1" dirty="0" smtClean="0">
                <a:solidFill>
                  <a:schemeClr val="accent2"/>
                </a:solidFill>
                <a:ea typeface="华文楷体" panose="02010600040101010101" pitchFamily="2" charset="-122"/>
                <a:sym typeface="Symbol" panose="05050102010706020507" pitchFamily="18" charset="2"/>
              </a:rPr>
              <a:t>K=21</a:t>
            </a:r>
            <a:r>
              <a:rPr lang="en-US" altLang="zh-CN" sz="2400" dirty="0" smtClean="0">
                <a:ea typeface="华文楷体" panose="02010600040101010101" pitchFamily="2" charset="-122"/>
                <a:sym typeface="Symbol" panose="05050102010706020507" pitchFamily="18" charset="2"/>
              </a:rPr>
              <a:t>      l     h    m              </a:t>
            </a:r>
            <a:r>
              <a:rPr lang="en-US" altLang="zh-CN" sz="2000" b="1" dirty="0" smtClean="0">
                <a:solidFill>
                  <a:schemeClr val="accent2"/>
                </a:solidFill>
                <a:ea typeface="华文楷体" panose="02010600040101010101" pitchFamily="2" charset="-122"/>
                <a:sym typeface="Symbol" panose="05050102010706020507" pitchFamily="18" charset="2"/>
              </a:rPr>
              <a:t>K=85</a:t>
            </a:r>
            <a:r>
              <a:rPr lang="en-US" altLang="zh-CN" sz="2000" dirty="0" smtClean="0">
                <a:solidFill>
                  <a:schemeClr val="accent2"/>
                </a:solidFill>
                <a:ea typeface="华文楷体" panose="02010600040101010101" pitchFamily="2" charset="-122"/>
                <a:sym typeface="Symbol" panose="05050102010706020507" pitchFamily="18" charset="2"/>
              </a:rPr>
              <a:t>  </a:t>
            </a:r>
            <a:r>
              <a:rPr lang="en-US" altLang="zh-CN" sz="2400" dirty="0" smtClean="0">
                <a:ea typeface="华文楷体" panose="02010600040101010101" pitchFamily="2" charset="-122"/>
                <a:sym typeface="Symbol" panose="05050102010706020507" pitchFamily="18" charset="2"/>
              </a:rPr>
              <a:t>   l    h    m</a:t>
            </a:r>
            <a:endParaRPr lang="en-US" altLang="zh-CN" sz="24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0    10   5                            0   10  5</a:t>
            </a:r>
            <a:endParaRPr lang="en-US" altLang="zh-CN" sz="24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0     4    2                            6   10  8</a:t>
            </a:r>
            <a:endParaRPr lang="en-US" altLang="zh-CN" sz="24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3     4    3                            9   10  9</a:t>
            </a:r>
            <a:endParaRPr lang="en-US" altLang="zh-CN" sz="24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9    8</a:t>
            </a:r>
            <a:endParaRPr lang="en-US" altLang="zh-CN" sz="2400" dirty="0" smtClean="0">
              <a:ea typeface="华文楷体" panose="02010600040101010101" pitchFamily="2" charset="-122"/>
              <a:sym typeface="Symbol" panose="05050102010706020507" pitchFamily="18" charset="2"/>
            </a:endParaRPr>
          </a:p>
          <a:p>
            <a:pPr eaLnBrk="1" hangingPunct="1">
              <a:lnSpc>
                <a:spcPct val="90000"/>
              </a:lnSpc>
              <a:spcBef>
                <a:spcPct val="50000"/>
              </a:spcBef>
              <a:buFont typeface="Wingdings" panose="05000000000000000000" pitchFamily="2" charset="2"/>
              <a:buNone/>
            </a:pPr>
            <a:endParaRPr lang="en-US" altLang="zh-CN" sz="1800" dirty="0" smtClean="0">
              <a:solidFill>
                <a:schemeClr val="accent2"/>
              </a:solidFill>
              <a:ea typeface="华文楷体" panose="02010600040101010101" pitchFamily="2" charset="-122"/>
            </a:endParaRPr>
          </a:p>
        </p:txBody>
      </p:sp>
      <p:sp>
        <p:nvSpPr>
          <p:cNvPr id="8198" name="Rectangle 4"/>
          <p:cNvSpPr>
            <a:spLocks noChangeArrowheads="1"/>
          </p:cNvSpPr>
          <p:nvPr/>
        </p:nvSpPr>
        <p:spPr bwMode="auto">
          <a:xfrm>
            <a:off x="1331913" y="2971800"/>
            <a:ext cx="5472112" cy="5334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199" name="Line 5"/>
          <p:cNvSpPr>
            <a:spLocks noChangeShapeType="1"/>
          </p:cNvSpPr>
          <p:nvPr/>
        </p:nvSpPr>
        <p:spPr bwMode="auto">
          <a:xfrm>
            <a:off x="1712913" y="2971800"/>
            <a:ext cx="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200" name="Line 6"/>
          <p:cNvSpPr>
            <a:spLocks noChangeShapeType="1"/>
          </p:cNvSpPr>
          <p:nvPr/>
        </p:nvSpPr>
        <p:spPr bwMode="auto">
          <a:xfrm>
            <a:off x="2246313" y="2971800"/>
            <a:ext cx="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201" name="Line 7"/>
          <p:cNvSpPr>
            <a:spLocks noChangeShapeType="1"/>
          </p:cNvSpPr>
          <p:nvPr/>
        </p:nvSpPr>
        <p:spPr bwMode="auto">
          <a:xfrm>
            <a:off x="2771775" y="2971800"/>
            <a:ext cx="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202" name="Line 8"/>
          <p:cNvSpPr>
            <a:spLocks noChangeShapeType="1"/>
          </p:cNvSpPr>
          <p:nvPr/>
        </p:nvSpPr>
        <p:spPr bwMode="auto">
          <a:xfrm>
            <a:off x="3276600" y="2971800"/>
            <a:ext cx="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203" name="Line 9"/>
          <p:cNvSpPr>
            <a:spLocks noChangeShapeType="1"/>
          </p:cNvSpPr>
          <p:nvPr/>
        </p:nvSpPr>
        <p:spPr bwMode="auto">
          <a:xfrm>
            <a:off x="3779838" y="2971800"/>
            <a:ext cx="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204" name="Line 10"/>
          <p:cNvSpPr>
            <a:spLocks noChangeShapeType="1"/>
          </p:cNvSpPr>
          <p:nvPr/>
        </p:nvSpPr>
        <p:spPr bwMode="auto">
          <a:xfrm>
            <a:off x="4284663" y="2971800"/>
            <a:ext cx="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205" name="Line 11"/>
          <p:cNvSpPr>
            <a:spLocks noChangeShapeType="1"/>
          </p:cNvSpPr>
          <p:nvPr/>
        </p:nvSpPr>
        <p:spPr bwMode="auto">
          <a:xfrm>
            <a:off x="4787900" y="2971800"/>
            <a:ext cx="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206" name="Line 12"/>
          <p:cNvSpPr>
            <a:spLocks noChangeShapeType="1"/>
          </p:cNvSpPr>
          <p:nvPr/>
        </p:nvSpPr>
        <p:spPr bwMode="auto">
          <a:xfrm>
            <a:off x="5292725" y="2971800"/>
            <a:ext cx="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207" name="Line 13"/>
          <p:cNvSpPr>
            <a:spLocks noChangeShapeType="1"/>
          </p:cNvSpPr>
          <p:nvPr/>
        </p:nvSpPr>
        <p:spPr bwMode="auto">
          <a:xfrm>
            <a:off x="5795963" y="2971800"/>
            <a:ext cx="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208" name="Line 14"/>
          <p:cNvSpPr>
            <a:spLocks noChangeShapeType="1"/>
          </p:cNvSpPr>
          <p:nvPr/>
        </p:nvSpPr>
        <p:spPr bwMode="auto">
          <a:xfrm>
            <a:off x="6300788" y="2971800"/>
            <a:ext cx="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209" name="Rectangle 15"/>
          <p:cNvSpPr>
            <a:spLocks noChangeArrowheads="1"/>
          </p:cNvSpPr>
          <p:nvPr/>
        </p:nvSpPr>
        <p:spPr bwMode="auto">
          <a:xfrm>
            <a:off x="1828800" y="4724400"/>
            <a:ext cx="1524000" cy="9604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210" name="Line 16"/>
          <p:cNvSpPr>
            <a:spLocks noChangeShapeType="1"/>
          </p:cNvSpPr>
          <p:nvPr/>
        </p:nvSpPr>
        <p:spPr bwMode="auto">
          <a:xfrm>
            <a:off x="2286000" y="4724400"/>
            <a:ext cx="1588" cy="9604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211" name="Line 17"/>
          <p:cNvSpPr>
            <a:spLocks noChangeShapeType="1"/>
          </p:cNvSpPr>
          <p:nvPr/>
        </p:nvSpPr>
        <p:spPr bwMode="auto">
          <a:xfrm flipH="1">
            <a:off x="2819400" y="4724400"/>
            <a:ext cx="1588" cy="96043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212" name="Rectangle 18"/>
          <p:cNvSpPr>
            <a:spLocks noChangeArrowheads="1"/>
          </p:cNvSpPr>
          <p:nvPr/>
        </p:nvSpPr>
        <p:spPr bwMode="auto">
          <a:xfrm>
            <a:off x="4919663" y="4721225"/>
            <a:ext cx="1524000" cy="13716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213" name="Line 19"/>
          <p:cNvSpPr>
            <a:spLocks noChangeShapeType="1"/>
          </p:cNvSpPr>
          <p:nvPr/>
        </p:nvSpPr>
        <p:spPr bwMode="auto">
          <a:xfrm>
            <a:off x="5376863" y="4721225"/>
            <a:ext cx="1587" cy="1371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8214" name="Line 20"/>
          <p:cNvSpPr>
            <a:spLocks noChangeShapeType="1"/>
          </p:cNvSpPr>
          <p:nvPr/>
        </p:nvSpPr>
        <p:spPr bwMode="auto">
          <a:xfrm>
            <a:off x="5910263" y="4721225"/>
            <a:ext cx="1587" cy="1371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 name="文本框 1"/>
          <p:cNvSpPr txBox="1"/>
          <p:nvPr/>
        </p:nvSpPr>
        <p:spPr>
          <a:xfrm>
            <a:off x="1828800" y="5858153"/>
            <a:ext cx="1107996" cy="369332"/>
          </a:xfrm>
          <a:prstGeom prst="rect">
            <a:avLst/>
          </a:prstGeom>
          <a:noFill/>
        </p:spPr>
        <p:txBody>
          <a:bodyPr wrap="none" rtlCol="0">
            <a:spAutoFit/>
          </a:bodyPr>
          <a:lstStyle/>
          <a:p>
            <a:r>
              <a:rPr lang="zh-CN" altLang="en-US" dirty="0" smtClean="0">
                <a:solidFill>
                  <a:srgbClr val="C00000"/>
                </a:solidFill>
                <a:latin typeface="华文楷体" panose="02010600040101010101" pitchFamily="2" charset="-122"/>
                <a:ea typeface="华文楷体" panose="02010600040101010101" pitchFamily="2" charset="-122"/>
              </a:rPr>
              <a:t>查找成功</a:t>
            </a:r>
            <a:endParaRPr lang="zh-CN" altLang="en-US" dirty="0">
              <a:solidFill>
                <a:srgbClr val="C00000"/>
              </a:solidFill>
              <a:latin typeface="华文楷体" panose="02010600040101010101" pitchFamily="2" charset="-122"/>
              <a:ea typeface="华文楷体" panose="02010600040101010101" pitchFamily="2" charset="-122"/>
            </a:endParaRPr>
          </a:p>
        </p:txBody>
      </p:sp>
      <p:sp>
        <p:nvSpPr>
          <p:cNvPr id="24" name="文本框 23"/>
          <p:cNvSpPr txBox="1"/>
          <p:nvPr/>
        </p:nvSpPr>
        <p:spPr>
          <a:xfrm>
            <a:off x="4919663" y="6185456"/>
            <a:ext cx="1107996" cy="369332"/>
          </a:xfrm>
          <a:prstGeom prst="rect">
            <a:avLst/>
          </a:prstGeom>
          <a:noFill/>
        </p:spPr>
        <p:txBody>
          <a:bodyPr wrap="none" rtlCol="0">
            <a:spAutoFit/>
          </a:bodyPr>
          <a:lstStyle/>
          <a:p>
            <a:r>
              <a:rPr lang="zh-CN" altLang="en-US" dirty="0" smtClean="0">
                <a:solidFill>
                  <a:srgbClr val="C00000"/>
                </a:solidFill>
                <a:latin typeface="华文楷体" panose="02010600040101010101" pitchFamily="2" charset="-122"/>
                <a:ea typeface="华文楷体" panose="02010600040101010101" pitchFamily="2" charset="-122"/>
              </a:rPr>
              <a:t>查找失败</a:t>
            </a:r>
            <a:endParaRPr lang="zh-CN" altLang="en-US" dirty="0">
              <a:solidFill>
                <a:srgbClr val="C00000"/>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922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9221"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算法描述</a:t>
            </a:r>
            <a:r>
              <a:rPr lang="en-US" altLang="zh-CN" sz="2400" b="1" dirty="0" smtClean="0">
                <a:solidFill>
                  <a:srgbClr val="CC66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a:p>
            <a:pPr eaLnBrk="1" hangingPunct="1">
              <a:lnSpc>
                <a:spcPct val="80000"/>
              </a:lnSpc>
              <a:buNone/>
            </a:pPr>
            <a:r>
              <a:rPr lang="en-US" altLang="zh-CN" sz="1800" dirty="0" err="1">
                <a:ea typeface="华文楷体" panose="02010600040101010101" pitchFamily="2" charset="-122"/>
              </a:rPr>
              <a:t>int</a:t>
            </a:r>
            <a:r>
              <a:rPr lang="en-US" altLang="zh-CN" sz="1800" dirty="0">
                <a:ea typeface="华文楷体" panose="02010600040101010101" pitchFamily="2" charset="-122"/>
              </a:rPr>
              <a:t> </a:t>
            </a:r>
            <a:r>
              <a:rPr lang="en-US" altLang="zh-CN" sz="1800" dirty="0" err="1">
                <a:ea typeface="华文楷体" panose="02010600040101010101" pitchFamily="2" charset="-122"/>
              </a:rPr>
              <a:t>binsearch</a:t>
            </a:r>
            <a:r>
              <a:rPr lang="en-US" altLang="zh-CN" sz="1800" dirty="0">
                <a:ea typeface="华文楷体" panose="02010600040101010101" pitchFamily="2" charset="-122"/>
              </a:rPr>
              <a:t> </a:t>
            </a:r>
            <a:r>
              <a:rPr lang="en-US" altLang="zh-CN" sz="1800" dirty="0" smtClean="0">
                <a:ea typeface="华文楷体" panose="02010600040101010101" pitchFamily="2" charset="-122"/>
              </a:rPr>
              <a:t>(</a:t>
            </a:r>
            <a:r>
              <a:rPr lang="en-US" altLang="zh-CN" sz="1800" dirty="0" err="1" smtClean="0">
                <a:ea typeface="华文楷体" panose="02010600040101010101" pitchFamily="2" charset="-122"/>
              </a:rPr>
              <a:t>const</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elemtype</a:t>
            </a:r>
            <a:r>
              <a:rPr lang="en-US" altLang="zh-CN" sz="1800" dirty="0" smtClean="0">
                <a:ea typeface="华文楷体" panose="02010600040101010101" pitchFamily="2" charset="-122"/>
              </a:rPr>
              <a:t> </a:t>
            </a:r>
            <a:r>
              <a:rPr lang="en-US" altLang="zh-CN" sz="1800" dirty="0">
                <a:ea typeface="华文楷体" panose="02010600040101010101" pitchFamily="2" charset="-122"/>
              </a:rPr>
              <a:t>list[], </a:t>
            </a:r>
            <a:r>
              <a:rPr lang="en-US" altLang="zh-CN" sz="1800" dirty="0" err="1">
                <a:ea typeface="华文楷体" panose="02010600040101010101" pitchFamily="2" charset="-122"/>
              </a:rPr>
              <a:t>const</a:t>
            </a:r>
            <a:r>
              <a:rPr lang="en-US" altLang="zh-CN" sz="1800" dirty="0">
                <a:ea typeface="华文楷体" panose="02010600040101010101" pitchFamily="2" charset="-122"/>
              </a:rPr>
              <a:t> </a:t>
            </a:r>
            <a:r>
              <a:rPr lang="en-US" altLang="zh-CN" sz="1800" dirty="0" err="1">
                <a:ea typeface="华文楷体" panose="02010600040101010101" pitchFamily="2" charset="-122"/>
              </a:rPr>
              <a:t>int</a:t>
            </a:r>
            <a:r>
              <a:rPr lang="en-US" altLang="zh-CN" sz="1800" dirty="0">
                <a:ea typeface="华文楷体" panose="02010600040101010101" pitchFamily="2" charset="-122"/>
              </a:rPr>
              <a:t> n, </a:t>
            </a:r>
            <a:r>
              <a:rPr lang="en-US" altLang="zh-CN" sz="1800" dirty="0" err="1">
                <a:ea typeface="华文楷体" panose="02010600040101010101" pitchFamily="2" charset="-122"/>
              </a:rPr>
              <a:t>const</a:t>
            </a:r>
            <a:r>
              <a:rPr lang="en-US" altLang="zh-CN" sz="1800" dirty="0">
                <a:ea typeface="华文楷体" panose="02010600040101010101" pitchFamily="2" charset="-122"/>
              </a:rPr>
              <a:t> </a:t>
            </a:r>
            <a:r>
              <a:rPr lang="en-US" altLang="zh-CN" sz="1800" dirty="0" err="1">
                <a:ea typeface="华文楷体" panose="02010600040101010101" pitchFamily="2" charset="-122"/>
              </a:rPr>
              <a:t>int</a:t>
            </a:r>
            <a:r>
              <a:rPr lang="en-US" altLang="zh-CN" sz="1800" dirty="0">
                <a:ea typeface="华文楷体" panose="02010600040101010101" pitchFamily="2" charset="-122"/>
              </a:rPr>
              <a:t> K )</a:t>
            </a:r>
            <a:endParaRPr lang="en-US" altLang="zh-CN" sz="1800" dirty="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a:ea typeface="华文楷体" panose="02010600040101010101" pitchFamily="2" charset="-122"/>
              </a:rPr>
              <a:t>{</a:t>
            </a:r>
            <a:endParaRPr lang="en-US" altLang="zh-CN" sz="1800" dirty="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a:ea typeface="华文楷体" panose="02010600040101010101" pitchFamily="2" charset="-122"/>
              </a:rPr>
              <a:t>    </a:t>
            </a:r>
            <a:r>
              <a:rPr lang="en-US" altLang="zh-CN" sz="1800" dirty="0" err="1">
                <a:ea typeface="华文楷体" panose="02010600040101010101" pitchFamily="2" charset="-122"/>
              </a:rPr>
              <a:t>int</a:t>
            </a:r>
            <a:r>
              <a:rPr lang="en-US" altLang="zh-CN" sz="1800" dirty="0">
                <a:ea typeface="华文楷体" panose="02010600040101010101" pitchFamily="2" charset="-122"/>
              </a:rPr>
              <a:t> low, high, mid;</a:t>
            </a:r>
            <a:endParaRPr lang="en-US" altLang="zh-CN" sz="1800" dirty="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a:ea typeface="华文楷体" panose="02010600040101010101" pitchFamily="2" charset="-122"/>
              </a:rPr>
              <a:t>    low = </a:t>
            </a:r>
            <a:r>
              <a:rPr lang="en-US" altLang="zh-CN" sz="1800" dirty="0" smtClean="0">
                <a:ea typeface="华文楷体" panose="02010600040101010101" pitchFamily="2" charset="-122"/>
              </a:rPr>
              <a:t>0;</a:t>
            </a:r>
            <a:endParaRPr lang="en-US" altLang="zh-CN" sz="1800" dirty="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a:ea typeface="华文楷体" panose="02010600040101010101" pitchFamily="2" charset="-122"/>
              </a:rPr>
              <a:t>    high = </a:t>
            </a:r>
            <a:r>
              <a:rPr lang="en-US" altLang="zh-CN" sz="1800" dirty="0" smtClean="0">
                <a:ea typeface="华文楷体" panose="02010600040101010101" pitchFamily="2" charset="-122"/>
              </a:rPr>
              <a:t>n-1;</a:t>
            </a:r>
            <a:endParaRPr lang="en-US" altLang="zh-CN" sz="1800" dirty="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a:ea typeface="华文楷体" panose="02010600040101010101" pitchFamily="2" charset="-122"/>
              </a:rPr>
              <a:t>    while ( low &lt;= high ) </a:t>
            </a:r>
            <a:endParaRPr lang="en-US" altLang="zh-CN" sz="1800" dirty="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a:ea typeface="华文楷体" panose="02010600040101010101" pitchFamily="2" charset="-122"/>
              </a:rPr>
              <a:t>    {</a:t>
            </a:r>
            <a:endParaRPr lang="en-US" altLang="zh-CN" sz="1800" dirty="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a:ea typeface="华文楷体" panose="02010600040101010101" pitchFamily="2" charset="-122"/>
              </a:rPr>
              <a:t>        mid = ( low + high ) / 2;</a:t>
            </a:r>
            <a:endParaRPr lang="en-US" altLang="zh-CN" sz="1800" dirty="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a:ea typeface="华文楷体" panose="02010600040101010101" pitchFamily="2" charset="-122"/>
              </a:rPr>
              <a:t>        if ( K &lt; </a:t>
            </a:r>
            <a:r>
              <a:rPr lang="en-US" altLang="zh-CN" sz="1800" dirty="0" smtClean="0">
                <a:ea typeface="华文楷体" panose="02010600040101010101" pitchFamily="2" charset="-122"/>
              </a:rPr>
              <a:t>list[mid].key </a:t>
            </a:r>
            <a:r>
              <a:rPr lang="en-US" altLang="zh-CN" sz="1800" dirty="0">
                <a:ea typeface="华文楷体" panose="02010600040101010101" pitchFamily="2" charset="-122"/>
              </a:rPr>
              <a:t>)</a:t>
            </a:r>
            <a:endParaRPr lang="en-US" altLang="zh-CN" sz="1800" dirty="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a:ea typeface="华文楷体" panose="02010600040101010101" pitchFamily="2" charset="-122"/>
              </a:rPr>
              <a:t>            high = mid - 1;</a:t>
            </a:r>
            <a:endParaRPr lang="en-US" altLang="zh-CN" sz="1800" dirty="0">
              <a:ea typeface="华文楷体" panose="02010600040101010101" pitchFamily="2" charset="-122"/>
            </a:endParaRPr>
          </a:p>
          <a:p>
            <a:pPr eaLnBrk="1" hangingPunct="1">
              <a:lnSpc>
                <a:spcPct val="80000"/>
              </a:lnSpc>
              <a:buNone/>
            </a:pPr>
            <a:r>
              <a:rPr lang="en-US" altLang="zh-CN" sz="1800" dirty="0">
                <a:ea typeface="华文楷体" panose="02010600040101010101" pitchFamily="2" charset="-122"/>
              </a:rPr>
              <a:t>        else if ( K &gt; </a:t>
            </a:r>
            <a:r>
              <a:rPr lang="en-US" altLang="zh-CN" sz="1800" dirty="0" smtClean="0">
                <a:ea typeface="华文楷体" panose="02010600040101010101" pitchFamily="2" charset="-122"/>
              </a:rPr>
              <a:t>list [</a:t>
            </a:r>
            <a:r>
              <a:rPr lang="en-US" altLang="zh-CN" sz="1800" dirty="0">
                <a:ea typeface="华文楷体" panose="02010600040101010101" pitchFamily="2" charset="-122"/>
              </a:rPr>
              <a:t>mid</a:t>
            </a:r>
            <a:r>
              <a:rPr lang="en-US" altLang="zh-CN" sz="1800" dirty="0" smtClean="0">
                <a:ea typeface="华文楷体" panose="02010600040101010101" pitchFamily="2" charset="-122"/>
              </a:rPr>
              <a:t>].key </a:t>
            </a:r>
            <a:r>
              <a:rPr lang="en-US" altLang="zh-CN" sz="1800" dirty="0">
                <a:ea typeface="华文楷体" panose="02010600040101010101" pitchFamily="2" charset="-122"/>
              </a:rPr>
              <a:t>)</a:t>
            </a:r>
            <a:endParaRPr lang="en-US" altLang="zh-CN" sz="1800" dirty="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a:ea typeface="华文楷体" panose="02010600040101010101" pitchFamily="2" charset="-122"/>
              </a:rPr>
              <a:t>            low = mid + 1;</a:t>
            </a:r>
            <a:endParaRPr lang="en-US" altLang="zh-CN" sz="1800" dirty="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a:ea typeface="华文楷体" panose="02010600040101010101" pitchFamily="2" charset="-122"/>
              </a:rPr>
              <a:t>        else /* </a:t>
            </a:r>
            <a:r>
              <a:rPr lang="zh-CN" altLang="en-US" sz="1800" dirty="0">
                <a:ea typeface="华文楷体" panose="02010600040101010101" pitchFamily="2" charset="-122"/>
              </a:rPr>
              <a:t>找到了匹配的值*</a:t>
            </a:r>
            <a:r>
              <a:rPr lang="en-US" altLang="zh-CN" sz="1800" dirty="0">
                <a:ea typeface="华文楷体" panose="02010600040101010101" pitchFamily="2" charset="-122"/>
              </a:rPr>
              <a:t>/</a:t>
            </a:r>
            <a:endParaRPr lang="en-US" altLang="zh-CN" sz="1800" dirty="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a:ea typeface="华文楷体" panose="02010600040101010101" pitchFamily="2" charset="-122"/>
              </a:rPr>
              <a:t>            return mid</a:t>
            </a:r>
            <a:r>
              <a:rPr lang="en-US" altLang="zh-CN" sz="1800" dirty="0" smtClean="0">
                <a:ea typeface="华文楷体" panose="02010600040101010101" pitchFamily="2" charset="-122"/>
              </a:rPr>
              <a:t>; //</a:t>
            </a:r>
            <a:r>
              <a:rPr lang="zh-CN" altLang="en-US" sz="1800" dirty="0" smtClean="0">
                <a:ea typeface="华文楷体" panose="02010600040101010101" pitchFamily="2" charset="-122"/>
              </a:rPr>
              <a:t>返回匹配值的数组下标</a:t>
            </a:r>
            <a:endParaRPr lang="en-US" altLang="zh-CN" sz="1800" dirty="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a:ea typeface="华文楷体" panose="02010600040101010101" pitchFamily="2" charset="-122"/>
              </a:rPr>
              <a:t>    }</a:t>
            </a:r>
            <a:endParaRPr lang="en-US" altLang="zh-CN" sz="1800" dirty="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a:ea typeface="华文楷体" panose="02010600040101010101" pitchFamily="2" charset="-122"/>
              </a:rPr>
              <a:t>    return -1; /* </a:t>
            </a:r>
            <a:r>
              <a:rPr lang="zh-CN" altLang="en-US" sz="1800" dirty="0">
                <a:ea typeface="华文楷体" panose="02010600040101010101" pitchFamily="2" charset="-122"/>
              </a:rPr>
              <a:t>没有查到*</a:t>
            </a:r>
            <a:r>
              <a:rPr lang="en-US" altLang="zh-CN" sz="1800" dirty="0">
                <a:ea typeface="华文楷体" panose="02010600040101010101" pitchFamily="2" charset="-122"/>
              </a:rPr>
              <a:t>/</a:t>
            </a:r>
            <a:endParaRPr lang="en-US" altLang="zh-CN" sz="1800" dirty="0">
              <a:ea typeface="华文楷体" panose="02010600040101010101" pitchFamily="2" charset="-122"/>
            </a:endParaRPr>
          </a:p>
          <a:p>
            <a:pPr eaLnBrk="1" hangingPunct="1">
              <a:lnSpc>
                <a:spcPct val="80000"/>
              </a:lnSpc>
              <a:buFont typeface="Wingdings" panose="05000000000000000000" pitchFamily="2" charset="2"/>
              <a:buNone/>
            </a:pPr>
            <a:r>
              <a:rPr lang="en-US" altLang="zh-CN" sz="1800" dirty="0">
                <a:ea typeface="华文楷体" panose="02010600040101010101" pitchFamily="2" charset="-122"/>
              </a:rPr>
              <a:t>}</a:t>
            </a:r>
            <a:endParaRPr lang="en-US" altLang="zh-CN" sz="1800" dirty="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页脚占位符 4"/>
          <p:cNvSpPr>
            <a:spLocks noGrp="1"/>
          </p:cNvSpPr>
          <p:nvPr>
            <p:ph type="ftr" sz="quarter" idx="10"/>
          </p:nvPr>
        </p:nvSpPr>
        <p:spPr/>
        <p:txBody>
          <a:bodyPr/>
          <a:lstStyle/>
          <a:p>
            <a:pPr>
              <a:defRPr/>
            </a:pPr>
            <a:r>
              <a:rPr lang="en-US" altLang="zh-CN"/>
              <a:t>BUPT SCST</a:t>
            </a:r>
            <a:endParaRPr lang="en-US" altLang="zh-CN"/>
          </a:p>
        </p:txBody>
      </p:sp>
      <p:sp>
        <p:nvSpPr>
          <p:cNvPr id="74" name="日期占位符 6"/>
          <p:cNvSpPr>
            <a:spLocks noGrp="1"/>
          </p:cNvSpPr>
          <p:nvPr>
            <p:ph type="dt" sz="quarter" idx="12"/>
          </p:nvPr>
        </p:nvSpPr>
        <p:spPr/>
        <p:txBody>
          <a:bodyPr/>
          <a:lstStyle/>
          <a:p>
            <a:pPr>
              <a:defRPr/>
            </a:pPr>
            <a:r>
              <a:rPr lang="en-US" altLang="zh-CN"/>
              <a:t>BUPT</a:t>
            </a:r>
            <a:endParaRPr lang="en-US" altLang="zh-CN"/>
          </a:p>
        </p:txBody>
      </p:sp>
      <p:sp>
        <p:nvSpPr>
          <p:cNvPr id="10244" name="Rectangle 74"/>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0245" name="Rectangle 3"/>
          <p:cNvSpPr>
            <a:spLocks noGrp="1" noChangeArrowheads="1"/>
          </p:cNvSpPr>
          <p:nvPr>
            <p:ph type="body" sz="half" idx="1"/>
          </p:nvPr>
        </p:nvSpPr>
        <p:spPr>
          <a:xfrm>
            <a:off x="457200" y="1152525"/>
            <a:ext cx="8218488" cy="5705475"/>
          </a:xfrm>
        </p:spPr>
        <p:txBody>
          <a:bodyPr/>
          <a:lstStyle/>
          <a:p>
            <a:pPr eaLnBrk="1" hangingPunct="1">
              <a:lnSpc>
                <a:spcPct val="80000"/>
              </a:lnSpc>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性能分析</a:t>
            </a:r>
            <a:r>
              <a:rPr lang="en-US" altLang="zh-CN" sz="2400" b="1" dirty="0" smtClean="0">
                <a:solidFill>
                  <a:srgbClr val="CC66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a:p>
            <a:pPr eaLnBrk="1" hangingPunct="1">
              <a:lnSpc>
                <a:spcPct val="80000"/>
              </a:lnSpc>
              <a:buFont typeface="Wingdings" panose="05000000000000000000" pitchFamily="2" charset="2"/>
              <a:buNone/>
            </a:pPr>
            <a:r>
              <a:rPr lang="en-US" altLang="zh-CN" sz="2800" dirty="0" smtClean="0">
                <a:ea typeface="华文楷体" panose="02010600040101010101" pitchFamily="2" charset="-122"/>
              </a:rPr>
              <a:t> </a:t>
            </a:r>
            <a:endParaRPr lang="en-US" altLang="zh-CN" sz="2800" dirty="0" smtClean="0">
              <a:ea typeface="华文楷体" panose="02010600040101010101" pitchFamily="2" charset="-122"/>
            </a:endParaRPr>
          </a:p>
          <a:p>
            <a:pPr eaLnBrk="1" hangingPunct="1">
              <a:lnSpc>
                <a:spcPct val="80000"/>
              </a:lnSpc>
              <a:buFont typeface="Wingdings" panose="05000000000000000000" pitchFamily="2" charset="2"/>
              <a:buNone/>
            </a:pPr>
            <a:endParaRPr lang="en-US" altLang="zh-CN" sz="2800" dirty="0" smtClean="0">
              <a:ea typeface="华文楷体" panose="02010600040101010101" pitchFamily="2" charset="-122"/>
            </a:endParaRPr>
          </a:p>
          <a:p>
            <a:pPr eaLnBrk="1" hangingPunct="1">
              <a:lnSpc>
                <a:spcPct val="80000"/>
              </a:lnSpc>
              <a:buFont typeface="Wingdings" panose="05000000000000000000" pitchFamily="2" charset="2"/>
              <a:buNone/>
            </a:pPr>
            <a:endParaRPr lang="en-US" altLang="zh-CN" sz="2800" dirty="0" smtClean="0">
              <a:ea typeface="华文楷体" panose="02010600040101010101" pitchFamily="2" charset="-122"/>
            </a:endParaRPr>
          </a:p>
          <a:p>
            <a:pPr eaLnBrk="1" hangingPunct="1">
              <a:lnSpc>
                <a:spcPct val="80000"/>
              </a:lnSpc>
              <a:buFont typeface="Wingdings" panose="05000000000000000000" pitchFamily="2" charset="2"/>
              <a:buNone/>
            </a:pP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h=</a:t>
            </a:r>
            <a:r>
              <a:rPr lang="en-US" altLang="zh-CN" sz="2400" dirty="0" smtClean="0">
                <a:ea typeface="华文楷体" panose="02010600040101010101" pitchFamily="2" charset="-122"/>
                <a:sym typeface="Symbol" panose="05050102010706020507" pitchFamily="18" charset="2"/>
              </a:rPr>
              <a:t>log</a:t>
            </a:r>
            <a:r>
              <a:rPr lang="en-US" altLang="zh-CN" sz="2400" baseline="-25000" dirty="0" smtClean="0">
                <a:ea typeface="华文楷体" panose="02010600040101010101" pitchFamily="2" charset="-122"/>
                <a:sym typeface="Symbol" panose="05050102010706020507" pitchFamily="18" charset="2"/>
              </a:rPr>
              <a:t>2</a:t>
            </a:r>
            <a:r>
              <a:rPr lang="en-US" altLang="zh-CN" sz="2400" dirty="0" smtClean="0">
                <a:ea typeface="华文楷体" panose="02010600040101010101" pitchFamily="2" charset="-122"/>
                <a:sym typeface="Symbol" panose="05050102010706020507" pitchFamily="18" charset="2"/>
              </a:rPr>
              <a:t>n+1  </a:t>
            </a:r>
            <a:r>
              <a:rPr lang="en-US" altLang="zh-CN" sz="2400" dirty="0" smtClean="0">
                <a:solidFill>
                  <a:schemeClr val="accent2"/>
                </a:solidFill>
                <a:ea typeface="华文楷体" panose="02010600040101010101" pitchFamily="2" charset="-122"/>
                <a:sym typeface="Symbol" panose="05050102010706020507" pitchFamily="18" charset="2"/>
              </a:rPr>
              <a:t>{</a:t>
            </a:r>
            <a:r>
              <a:rPr lang="zh-CN" altLang="en-US" sz="2400" dirty="0" smtClean="0">
                <a:solidFill>
                  <a:schemeClr val="accent2"/>
                </a:solidFill>
                <a:ea typeface="华文楷体" panose="02010600040101010101" pitchFamily="2" charset="-122"/>
                <a:sym typeface="Symbol" panose="05050102010706020507" pitchFamily="18" charset="2"/>
              </a:rPr>
              <a:t>同完全二叉树，二叉树性质</a:t>
            </a:r>
            <a:r>
              <a:rPr lang="en-US" altLang="zh-CN" sz="2400" dirty="0" smtClean="0">
                <a:solidFill>
                  <a:schemeClr val="accent2"/>
                </a:solidFill>
                <a:ea typeface="华文楷体" panose="02010600040101010101" pitchFamily="2" charset="-122"/>
                <a:sym typeface="Symbol" panose="05050102010706020507" pitchFamily="18" charset="2"/>
              </a:rPr>
              <a:t>4}</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成功查找时的平均查找长度（等概率）：</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ASL</a:t>
            </a:r>
            <a:r>
              <a:rPr lang="en-US" altLang="zh-CN" sz="2400" baseline="-25000" dirty="0" smtClean="0">
                <a:ea typeface="华文楷体" panose="02010600040101010101" pitchFamily="2" charset="-122"/>
              </a:rPr>
              <a:t>s</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solidFill>
                  <a:schemeClr val="accent2"/>
                </a:solidFill>
                <a:ea typeface="华文楷体" panose="02010600040101010101" pitchFamily="2" charset="-122"/>
              </a:rPr>
              <a:t>例：</a:t>
            </a:r>
            <a:r>
              <a:rPr lang="en-US" altLang="zh-CN" sz="2400" dirty="0" smtClean="0">
                <a:solidFill>
                  <a:schemeClr val="accent2"/>
                </a:solidFill>
                <a:ea typeface="华文楷体" panose="02010600040101010101" pitchFamily="2" charset="-122"/>
              </a:rPr>
              <a:t>ASL</a:t>
            </a:r>
            <a:r>
              <a:rPr lang="en-US" altLang="zh-CN" sz="2400" baseline="-25000" dirty="0" smtClean="0">
                <a:solidFill>
                  <a:schemeClr val="accent2"/>
                </a:solidFill>
                <a:ea typeface="华文楷体" panose="02010600040101010101" pitchFamily="2" charset="-122"/>
              </a:rPr>
              <a:t>S</a:t>
            </a:r>
            <a:r>
              <a:rPr lang="en-US" altLang="zh-CN" sz="2400" dirty="0" smtClean="0">
                <a:solidFill>
                  <a:schemeClr val="accent2"/>
                </a:solidFill>
                <a:ea typeface="华文楷体" panose="02010600040101010101" pitchFamily="2" charset="-122"/>
              </a:rPr>
              <a:t>=(1*1+2*2+3*4+4*4)/11=3</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不成功查找时的查找长度：</a:t>
            </a:r>
            <a:r>
              <a:rPr lang="en-US" altLang="zh-CN" sz="2400" dirty="0" smtClean="0">
                <a:ea typeface="华文楷体" panose="02010600040101010101" pitchFamily="2" charset="-122"/>
              </a:rPr>
              <a:t>h-1</a:t>
            </a:r>
            <a:r>
              <a:rPr lang="zh-CN" altLang="en-US" sz="2400" dirty="0" smtClean="0">
                <a:ea typeface="华文楷体" panose="02010600040101010101" pitchFamily="2" charset="-122"/>
              </a:rPr>
              <a:t>或</a:t>
            </a:r>
            <a:r>
              <a:rPr lang="en-US" altLang="zh-CN" sz="2400" dirty="0" smtClean="0">
                <a:ea typeface="华文楷体" panose="02010600040101010101" pitchFamily="2" charset="-122"/>
              </a:rPr>
              <a:t>h</a:t>
            </a:r>
            <a:r>
              <a:rPr lang="zh-CN" altLang="en-US" sz="2400" dirty="0" smtClean="0">
                <a:ea typeface="华文楷体" panose="02010600040101010101" pitchFamily="2" charset="-122"/>
              </a:rPr>
              <a:t>次</a:t>
            </a:r>
            <a:endParaRPr lang="zh-CN" altLang="en-US" sz="2400" dirty="0" smtClean="0">
              <a:ea typeface="华文楷体" panose="02010600040101010101" pitchFamily="2" charset="-122"/>
            </a:endParaRPr>
          </a:p>
        </p:txBody>
      </p:sp>
      <p:sp>
        <p:nvSpPr>
          <p:cNvPr id="10246" name="Oval 5"/>
          <p:cNvSpPr>
            <a:spLocks noChangeArrowheads="1"/>
          </p:cNvSpPr>
          <p:nvPr/>
        </p:nvSpPr>
        <p:spPr bwMode="auto">
          <a:xfrm>
            <a:off x="4191000" y="1436688"/>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0247" name="Oval 6"/>
          <p:cNvSpPr>
            <a:spLocks noChangeArrowheads="1"/>
          </p:cNvSpPr>
          <p:nvPr/>
        </p:nvSpPr>
        <p:spPr bwMode="auto">
          <a:xfrm>
            <a:off x="2438400" y="1893888"/>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0248" name="Oval 7"/>
          <p:cNvSpPr>
            <a:spLocks noChangeArrowheads="1"/>
          </p:cNvSpPr>
          <p:nvPr/>
        </p:nvSpPr>
        <p:spPr bwMode="auto">
          <a:xfrm>
            <a:off x="6019800" y="1893888"/>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0249" name="Oval 8"/>
          <p:cNvSpPr>
            <a:spLocks noChangeArrowheads="1"/>
          </p:cNvSpPr>
          <p:nvPr/>
        </p:nvSpPr>
        <p:spPr bwMode="auto">
          <a:xfrm>
            <a:off x="1524000" y="2351088"/>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0250" name="Oval 9"/>
          <p:cNvSpPr>
            <a:spLocks noChangeArrowheads="1"/>
          </p:cNvSpPr>
          <p:nvPr/>
        </p:nvSpPr>
        <p:spPr bwMode="auto">
          <a:xfrm>
            <a:off x="3276600" y="2351088"/>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0251" name="Oval 10"/>
          <p:cNvSpPr>
            <a:spLocks noChangeArrowheads="1"/>
          </p:cNvSpPr>
          <p:nvPr/>
        </p:nvSpPr>
        <p:spPr bwMode="auto">
          <a:xfrm>
            <a:off x="5105400" y="2351088"/>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0252" name="Oval 11"/>
          <p:cNvSpPr>
            <a:spLocks noChangeArrowheads="1"/>
          </p:cNvSpPr>
          <p:nvPr/>
        </p:nvSpPr>
        <p:spPr bwMode="auto">
          <a:xfrm>
            <a:off x="7086600" y="2351088"/>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0253" name="Text Box 12"/>
          <p:cNvSpPr txBox="1">
            <a:spLocks noChangeArrowheads="1"/>
          </p:cNvSpPr>
          <p:nvPr/>
        </p:nvSpPr>
        <p:spPr bwMode="auto">
          <a:xfrm>
            <a:off x="914400" y="3036888"/>
            <a:ext cx="609600" cy="46672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  </a:t>
            </a:r>
            <a:r>
              <a:rPr kumimoji="1" lang="en-US" altLang="zh-CN" sz="2400" dirty="0" smtClean="0">
                <a:latin typeface="Times New Roman" panose="02020603050405020304" pitchFamily="18" charset="0"/>
                <a:ea typeface="华文楷体" panose="02010600040101010101" pitchFamily="2" charset="-122"/>
              </a:rPr>
              <a:t>-0</a:t>
            </a:r>
            <a:endParaRPr kumimoji="1" lang="en-US" altLang="zh-CN" sz="2400" dirty="0">
              <a:latin typeface="Times New Roman" panose="02020603050405020304" pitchFamily="18" charset="0"/>
              <a:ea typeface="华文楷体" panose="02010600040101010101" pitchFamily="2" charset="-122"/>
            </a:endParaRPr>
          </a:p>
        </p:txBody>
      </p:sp>
      <p:sp>
        <p:nvSpPr>
          <p:cNvPr id="10254" name="Oval 13"/>
          <p:cNvSpPr>
            <a:spLocks noChangeArrowheads="1"/>
          </p:cNvSpPr>
          <p:nvPr/>
        </p:nvSpPr>
        <p:spPr bwMode="auto">
          <a:xfrm>
            <a:off x="1828800" y="3036888"/>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0255" name="Text Box 14"/>
          <p:cNvSpPr txBox="1">
            <a:spLocks noChangeArrowheads="1"/>
          </p:cNvSpPr>
          <p:nvPr/>
        </p:nvSpPr>
        <p:spPr bwMode="auto">
          <a:xfrm>
            <a:off x="2590800" y="3036888"/>
            <a:ext cx="685800" cy="46672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2-3</a:t>
            </a:r>
            <a:endParaRPr kumimoji="1" lang="en-US" altLang="zh-CN" sz="2400" dirty="0">
              <a:latin typeface="Times New Roman" panose="02020603050405020304" pitchFamily="18" charset="0"/>
              <a:ea typeface="华文楷体" panose="02010600040101010101" pitchFamily="2" charset="-122"/>
            </a:endParaRPr>
          </a:p>
        </p:txBody>
      </p:sp>
      <p:sp>
        <p:nvSpPr>
          <p:cNvPr id="10256" name="Oval 15"/>
          <p:cNvSpPr>
            <a:spLocks noChangeArrowheads="1"/>
          </p:cNvSpPr>
          <p:nvPr/>
        </p:nvSpPr>
        <p:spPr bwMode="auto">
          <a:xfrm>
            <a:off x="3733800" y="3113088"/>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0257" name="Text Box 16"/>
          <p:cNvSpPr txBox="1">
            <a:spLocks noChangeArrowheads="1"/>
          </p:cNvSpPr>
          <p:nvPr/>
        </p:nvSpPr>
        <p:spPr bwMode="auto">
          <a:xfrm>
            <a:off x="4572000" y="3113088"/>
            <a:ext cx="762000" cy="46672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5-6</a:t>
            </a:r>
            <a:endParaRPr kumimoji="1" lang="en-US" altLang="zh-CN" sz="2400" dirty="0">
              <a:latin typeface="Times New Roman" panose="02020603050405020304" pitchFamily="18" charset="0"/>
              <a:ea typeface="华文楷体" panose="02010600040101010101" pitchFamily="2" charset="-122"/>
            </a:endParaRPr>
          </a:p>
        </p:txBody>
      </p:sp>
      <p:sp>
        <p:nvSpPr>
          <p:cNvPr id="10258" name="Oval 17"/>
          <p:cNvSpPr>
            <a:spLocks noChangeArrowheads="1"/>
          </p:cNvSpPr>
          <p:nvPr/>
        </p:nvSpPr>
        <p:spPr bwMode="auto">
          <a:xfrm>
            <a:off x="5715000" y="3113088"/>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0259" name="Text Box 18"/>
          <p:cNvSpPr txBox="1">
            <a:spLocks noChangeArrowheads="1"/>
          </p:cNvSpPr>
          <p:nvPr/>
        </p:nvSpPr>
        <p:spPr bwMode="auto">
          <a:xfrm>
            <a:off x="6324600" y="3113088"/>
            <a:ext cx="762000" cy="46672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8-9</a:t>
            </a:r>
            <a:endParaRPr kumimoji="1" lang="en-US" altLang="zh-CN" sz="2400" dirty="0">
              <a:latin typeface="Times New Roman" panose="02020603050405020304" pitchFamily="18" charset="0"/>
              <a:ea typeface="华文楷体" panose="02010600040101010101" pitchFamily="2" charset="-122"/>
            </a:endParaRPr>
          </a:p>
        </p:txBody>
      </p:sp>
      <p:sp>
        <p:nvSpPr>
          <p:cNvPr id="10260" name="Oval 19"/>
          <p:cNvSpPr>
            <a:spLocks noChangeArrowheads="1"/>
          </p:cNvSpPr>
          <p:nvPr/>
        </p:nvSpPr>
        <p:spPr bwMode="auto">
          <a:xfrm>
            <a:off x="7620000" y="3113088"/>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0261" name="Text Box 20"/>
          <p:cNvSpPr txBox="1">
            <a:spLocks noChangeArrowheads="1"/>
          </p:cNvSpPr>
          <p:nvPr/>
        </p:nvSpPr>
        <p:spPr bwMode="auto">
          <a:xfrm>
            <a:off x="1066800" y="3798888"/>
            <a:ext cx="685800" cy="46672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0-1</a:t>
            </a:r>
            <a:endParaRPr kumimoji="1" lang="en-US" altLang="zh-CN" sz="2400" dirty="0">
              <a:latin typeface="Times New Roman" panose="02020603050405020304" pitchFamily="18" charset="0"/>
              <a:ea typeface="华文楷体" panose="02010600040101010101" pitchFamily="2" charset="-122"/>
            </a:endParaRPr>
          </a:p>
        </p:txBody>
      </p:sp>
      <p:sp>
        <p:nvSpPr>
          <p:cNvPr id="10262" name="Text Box 21"/>
          <p:cNvSpPr txBox="1">
            <a:spLocks noChangeArrowheads="1"/>
          </p:cNvSpPr>
          <p:nvPr/>
        </p:nvSpPr>
        <p:spPr bwMode="auto">
          <a:xfrm>
            <a:off x="1981200" y="3798888"/>
            <a:ext cx="609600" cy="46672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1-2</a:t>
            </a:r>
            <a:endParaRPr kumimoji="1" lang="en-US" altLang="zh-CN" sz="2400" dirty="0">
              <a:latin typeface="Times New Roman" panose="02020603050405020304" pitchFamily="18" charset="0"/>
              <a:ea typeface="华文楷体" panose="02010600040101010101" pitchFamily="2" charset="-122"/>
            </a:endParaRPr>
          </a:p>
        </p:txBody>
      </p:sp>
      <p:sp>
        <p:nvSpPr>
          <p:cNvPr id="10263" name="Text Box 22"/>
          <p:cNvSpPr txBox="1">
            <a:spLocks noChangeArrowheads="1"/>
          </p:cNvSpPr>
          <p:nvPr/>
        </p:nvSpPr>
        <p:spPr bwMode="auto">
          <a:xfrm>
            <a:off x="3048000" y="3798888"/>
            <a:ext cx="685800" cy="46672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3-4</a:t>
            </a:r>
            <a:endParaRPr kumimoji="1" lang="en-US" altLang="zh-CN" sz="2400" dirty="0">
              <a:latin typeface="Times New Roman" panose="02020603050405020304" pitchFamily="18" charset="0"/>
              <a:ea typeface="华文楷体" panose="02010600040101010101" pitchFamily="2" charset="-122"/>
            </a:endParaRPr>
          </a:p>
        </p:txBody>
      </p:sp>
      <p:sp>
        <p:nvSpPr>
          <p:cNvPr id="10264" name="Text Box 23"/>
          <p:cNvSpPr txBox="1">
            <a:spLocks noChangeArrowheads="1"/>
          </p:cNvSpPr>
          <p:nvPr/>
        </p:nvSpPr>
        <p:spPr bwMode="auto">
          <a:xfrm>
            <a:off x="3886200" y="3798888"/>
            <a:ext cx="685800" cy="46672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4-5</a:t>
            </a:r>
            <a:endParaRPr kumimoji="1" lang="en-US" altLang="zh-CN" sz="2400" dirty="0">
              <a:latin typeface="Times New Roman" panose="02020603050405020304" pitchFamily="18" charset="0"/>
              <a:ea typeface="华文楷体" panose="02010600040101010101" pitchFamily="2" charset="-122"/>
            </a:endParaRPr>
          </a:p>
        </p:txBody>
      </p:sp>
      <p:sp>
        <p:nvSpPr>
          <p:cNvPr id="10265" name="Text Box 24"/>
          <p:cNvSpPr txBox="1">
            <a:spLocks noChangeArrowheads="1"/>
          </p:cNvSpPr>
          <p:nvPr/>
        </p:nvSpPr>
        <p:spPr bwMode="auto">
          <a:xfrm>
            <a:off x="4953000" y="3798888"/>
            <a:ext cx="685800" cy="46672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6-7</a:t>
            </a:r>
            <a:endParaRPr kumimoji="1" lang="en-US" altLang="zh-CN" sz="2400" dirty="0">
              <a:latin typeface="Times New Roman" panose="02020603050405020304" pitchFamily="18" charset="0"/>
              <a:ea typeface="华文楷体" panose="02010600040101010101" pitchFamily="2" charset="-122"/>
            </a:endParaRPr>
          </a:p>
        </p:txBody>
      </p:sp>
      <p:sp>
        <p:nvSpPr>
          <p:cNvPr id="10266" name="Text Box 25"/>
          <p:cNvSpPr txBox="1">
            <a:spLocks noChangeArrowheads="1"/>
          </p:cNvSpPr>
          <p:nvPr/>
        </p:nvSpPr>
        <p:spPr bwMode="auto">
          <a:xfrm>
            <a:off x="5943600" y="3798888"/>
            <a:ext cx="685800" cy="46672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7-8</a:t>
            </a:r>
            <a:endParaRPr kumimoji="1" lang="en-US" altLang="zh-CN" sz="2400" dirty="0">
              <a:latin typeface="Times New Roman" panose="02020603050405020304" pitchFamily="18" charset="0"/>
              <a:ea typeface="华文楷体" panose="02010600040101010101" pitchFamily="2" charset="-122"/>
            </a:endParaRPr>
          </a:p>
        </p:txBody>
      </p:sp>
      <p:sp>
        <p:nvSpPr>
          <p:cNvPr id="10267" name="Text Box 26"/>
          <p:cNvSpPr txBox="1">
            <a:spLocks noChangeArrowheads="1"/>
          </p:cNvSpPr>
          <p:nvPr/>
        </p:nvSpPr>
        <p:spPr bwMode="auto">
          <a:xfrm>
            <a:off x="6858000" y="3798888"/>
            <a:ext cx="990600" cy="46672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9-10</a:t>
            </a:r>
            <a:endParaRPr kumimoji="1" lang="en-US" altLang="zh-CN" sz="2400" dirty="0">
              <a:latin typeface="Times New Roman" panose="02020603050405020304" pitchFamily="18" charset="0"/>
              <a:ea typeface="华文楷体" panose="02010600040101010101" pitchFamily="2" charset="-122"/>
            </a:endParaRPr>
          </a:p>
        </p:txBody>
      </p:sp>
      <p:sp>
        <p:nvSpPr>
          <p:cNvPr id="10268" name="Text Box 27"/>
          <p:cNvSpPr txBox="1">
            <a:spLocks noChangeArrowheads="1"/>
          </p:cNvSpPr>
          <p:nvPr/>
        </p:nvSpPr>
        <p:spPr bwMode="auto">
          <a:xfrm>
            <a:off x="8077200" y="3798888"/>
            <a:ext cx="685800" cy="46672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10-</a:t>
            </a:r>
            <a:endParaRPr kumimoji="1" lang="en-US" altLang="zh-CN" sz="2400" dirty="0">
              <a:latin typeface="Times New Roman" panose="02020603050405020304" pitchFamily="18" charset="0"/>
              <a:ea typeface="华文楷体" panose="02010600040101010101" pitchFamily="2" charset="-122"/>
            </a:endParaRPr>
          </a:p>
        </p:txBody>
      </p:sp>
      <p:sp>
        <p:nvSpPr>
          <p:cNvPr id="10269" name="Line 28"/>
          <p:cNvSpPr>
            <a:spLocks noChangeShapeType="1"/>
          </p:cNvSpPr>
          <p:nvPr/>
        </p:nvSpPr>
        <p:spPr bwMode="auto">
          <a:xfrm flipH="1">
            <a:off x="2819400" y="1665288"/>
            <a:ext cx="13716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70" name="Line 29"/>
          <p:cNvSpPr>
            <a:spLocks noChangeShapeType="1"/>
          </p:cNvSpPr>
          <p:nvPr/>
        </p:nvSpPr>
        <p:spPr bwMode="auto">
          <a:xfrm>
            <a:off x="4572000" y="1665288"/>
            <a:ext cx="14478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71" name="Text Box 30"/>
          <p:cNvSpPr txBox="1">
            <a:spLocks noChangeArrowheads="1"/>
          </p:cNvSpPr>
          <p:nvPr/>
        </p:nvSpPr>
        <p:spPr bwMode="auto">
          <a:xfrm>
            <a:off x="4191000" y="1436688"/>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10272" name="Text Box 31"/>
          <p:cNvSpPr txBox="1">
            <a:spLocks noChangeArrowheads="1"/>
          </p:cNvSpPr>
          <p:nvPr/>
        </p:nvSpPr>
        <p:spPr bwMode="auto">
          <a:xfrm>
            <a:off x="2438400" y="1893888"/>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10273" name="Text Box 32"/>
          <p:cNvSpPr txBox="1">
            <a:spLocks noChangeArrowheads="1"/>
          </p:cNvSpPr>
          <p:nvPr/>
        </p:nvSpPr>
        <p:spPr bwMode="auto">
          <a:xfrm>
            <a:off x="6096000" y="1893888"/>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8</a:t>
            </a:r>
            <a:endParaRPr kumimoji="1" lang="en-US" altLang="zh-CN" sz="2400" dirty="0">
              <a:latin typeface="Times New Roman" panose="02020603050405020304" pitchFamily="18" charset="0"/>
              <a:ea typeface="华文楷体" panose="02010600040101010101" pitchFamily="2" charset="-122"/>
            </a:endParaRPr>
          </a:p>
        </p:txBody>
      </p:sp>
      <p:sp>
        <p:nvSpPr>
          <p:cNvPr id="10274" name="Text Box 33"/>
          <p:cNvSpPr txBox="1">
            <a:spLocks noChangeArrowheads="1"/>
          </p:cNvSpPr>
          <p:nvPr/>
        </p:nvSpPr>
        <p:spPr bwMode="auto">
          <a:xfrm>
            <a:off x="1547813" y="2351088"/>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0</a:t>
            </a:r>
            <a:endParaRPr kumimoji="1" lang="en-US" altLang="zh-CN" sz="2400" dirty="0">
              <a:latin typeface="Times New Roman" panose="02020603050405020304" pitchFamily="18" charset="0"/>
              <a:ea typeface="华文楷体" panose="02010600040101010101" pitchFamily="2" charset="-122"/>
            </a:endParaRPr>
          </a:p>
        </p:txBody>
      </p:sp>
      <p:sp>
        <p:nvSpPr>
          <p:cNvPr id="10275" name="Text Box 34"/>
          <p:cNvSpPr txBox="1">
            <a:spLocks noChangeArrowheads="1"/>
          </p:cNvSpPr>
          <p:nvPr/>
        </p:nvSpPr>
        <p:spPr bwMode="auto">
          <a:xfrm>
            <a:off x="3276600" y="2351088"/>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10276" name="Text Box 35"/>
          <p:cNvSpPr txBox="1">
            <a:spLocks noChangeArrowheads="1"/>
          </p:cNvSpPr>
          <p:nvPr/>
        </p:nvSpPr>
        <p:spPr bwMode="auto">
          <a:xfrm>
            <a:off x="5105400" y="2351088"/>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6</a:t>
            </a:r>
            <a:endParaRPr kumimoji="1" lang="en-US" altLang="zh-CN" sz="2400" dirty="0">
              <a:latin typeface="Times New Roman" panose="02020603050405020304" pitchFamily="18" charset="0"/>
              <a:ea typeface="华文楷体" panose="02010600040101010101" pitchFamily="2" charset="-122"/>
            </a:endParaRPr>
          </a:p>
        </p:txBody>
      </p:sp>
      <p:sp>
        <p:nvSpPr>
          <p:cNvPr id="10277" name="Text Box 36"/>
          <p:cNvSpPr txBox="1">
            <a:spLocks noChangeArrowheads="1"/>
          </p:cNvSpPr>
          <p:nvPr/>
        </p:nvSpPr>
        <p:spPr bwMode="auto">
          <a:xfrm>
            <a:off x="7010400" y="2351088"/>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 </a:t>
            </a:r>
            <a:r>
              <a:rPr kumimoji="1" lang="en-US" altLang="zh-CN" sz="2400" dirty="0" smtClean="0">
                <a:latin typeface="Times New Roman" panose="02020603050405020304" pitchFamily="18" charset="0"/>
                <a:ea typeface="华文楷体" panose="02010600040101010101" pitchFamily="2" charset="-122"/>
              </a:rPr>
              <a:t>9</a:t>
            </a:r>
            <a:endParaRPr kumimoji="1" lang="en-US" altLang="zh-CN" sz="2400" dirty="0">
              <a:latin typeface="Times New Roman" panose="02020603050405020304" pitchFamily="18" charset="0"/>
              <a:ea typeface="华文楷体" panose="02010600040101010101" pitchFamily="2" charset="-122"/>
            </a:endParaRPr>
          </a:p>
        </p:txBody>
      </p:sp>
      <p:sp>
        <p:nvSpPr>
          <p:cNvPr id="10278" name="Text Box 37"/>
          <p:cNvSpPr txBox="1">
            <a:spLocks noChangeArrowheads="1"/>
          </p:cNvSpPr>
          <p:nvPr/>
        </p:nvSpPr>
        <p:spPr bwMode="auto">
          <a:xfrm>
            <a:off x="1828800" y="3036888"/>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10279" name="Text Box 38"/>
          <p:cNvSpPr txBox="1">
            <a:spLocks noChangeArrowheads="1"/>
          </p:cNvSpPr>
          <p:nvPr/>
        </p:nvSpPr>
        <p:spPr bwMode="auto">
          <a:xfrm>
            <a:off x="3733800" y="3036888"/>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10280" name="Text Box 39"/>
          <p:cNvSpPr txBox="1">
            <a:spLocks noChangeArrowheads="1"/>
          </p:cNvSpPr>
          <p:nvPr/>
        </p:nvSpPr>
        <p:spPr bwMode="auto">
          <a:xfrm>
            <a:off x="5715000" y="3113088"/>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7</a:t>
            </a:r>
            <a:endParaRPr kumimoji="1" lang="en-US" altLang="zh-CN" sz="2400" dirty="0">
              <a:latin typeface="Times New Roman" panose="02020603050405020304" pitchFamily="18" charset="0"/>
              <a:ea typeface="华文楷体" panose="02010600040101010101" pitchFamily="2" charset="-122"/>
            </a:endParaRPr>
          </a:p>
        </p:txBody>
      </p:sp>
      <p:sp>
        <p:nvSpPr>
          <p:cNvPr id="10281" name="Text Box 40"/>
          <p:cNvSpPr txBox="1">
            <a:spLocks noChangeArrowheads="1"/>
          </p:cNvSpPr>
          <p:nvPr/>
        </p:nvSpPr>
        <p:spPr bwMode="auto">
          <a:xfrm>
            <a:off x="7543800" y="3113088"/>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10</a:t>
            </a:r>
            <a:endParaRPr kumimoji="1" lang="en-US" altLang="zh-CN" sz="2400" dirty="0">
              <a:latin typeface="Times New Roman" panose="02020603050405020304" pitchFamily="18" charset="0"/>
              <a:ea typeface="华文楷体" panose="02010600040101010101" pitchFamily="2" charset="-122"/>
            </a:endParaRPr>
          </a:p>
        </p:txBody>
      </p:sp>
      <p:sp>
        <p:nvSpPr>
          <p:cNvPr id="10282" name="Line 41"/>
          <p:cNvSpPr>
            <a:spLocks noChangeShapeType="1"/>
          </p:cNvSpPr>
          <p:nvPr/>
        </p:nvSpPr>
        <p:spPr bwMode="auto">
          <a:xfrm flipH="1">
            <a:off x="1752600" y="2122488"/>
            <a:ext cx="6858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83" name="Line 42"/>
          <p:cNvSpPr>
            <a:spLocks noChangeShapeType="1"/>
          </p:cNvSpPr>
          <p:nvPr/>
        </p:nvSpPr>
        <p:spPr bwMode="auto">
          <a:xfrm>
            <a:off x="2819400" y="2198688"/>
            <a:ext cx="6096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84" name="Line 43"/>
          <p:cNvSpPr>
            <a:spLocks noChangeShapeType="1"/>
          </p:cNvSpPr>
          <p:nvPr/>
        </p:nvSpPr>
        <p:spPr bwMode="auto">
          <a:xfrm flipH="1">
            <a:off x="5334000" y="2046288"/>
            <a:ext cx="6858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85" name="Line 44"/>
          <p:cNvSpPr>
            <a:spLocks noChangeShapeType="1"/>
          </p:cNvSpPr>
          <p:nvPr/>
        </p:nvSpPr>
        <p:spPr bwMode="auto">
          <a:xfrm>
            <a:off x="6400800" y="2122488"/>
            <a:ext cx="8382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86" name="Line 45"/>
          <p:cNvSpPr>
            <a:spLocks noChangeShapeType="1"/>
          </p:cNvSpPr>
          <p:nvPr/>
        </p:nvSpPr>
        <p:spPr bwMode="auto">
          <a:xfrm flipH="1">
            <a:off x="1143000" y="2655888"/>
            <a:ext cx="38100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87" name="Line 46"/>
          <p:cNvSpPr>
            <a:spLocks noChangeShapeType="1"/>
          </p:cNvSpPr>
          <p:nvPr/>
        </p:nvSpPr>
        <p:spPr bwMode="auto">
          <a:xfrm>
            <a:off x="1752600" y="2732088"/>
            <a:ext cx="3048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88" name="Line 47"/>
          <p:cNvSpPr>
            <a:spLocks noChangeShapeType="1"/>
          </p:cNvSpPr>
          <p:nvPr/>
        </p:nvSpPr>
        <p:spPr bwMode="auto">
          <a:xfrm flipH="1">
            <a:off x="2971800" y="2732088"/>
            <a:ext cx="4572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89" name="Line 48"/>
          <p:cNvSpPr>
            <a:spLocks noChangeShapeType="1"/>
          </p:cNvSpPr>
          <p:nvPr/>
        </p:nvSpPr>
        <p:spPr bwMode="auto">
          <a:xfrm>
            <a:off x="3505200" y="2732088"/>
            <a:ext cx="45720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90" name="Line 49"/>
          <p:cNvSpPr>
            <a:spLocks noChangeShapeType="1"/>
          </p:cNvSpPr>
          <p:nvPr/>
        </p:nvSpPr>
        <p:spPr bwMode="auto">
          <a:xfrm flipH="1">
            <a:off x="4953000" y="2732088"/>
            <a:ext cx="22860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91" name="Line 50"/>
          <p:cNvSpPr>
            <a:spLocks noChangeShapeType="1"/>
          </p:cNvSpPr>
          <p:nvPr/>
        </p:nvSpPr>
        <p:spPr bwMode="auto">
          <a:xfrm>
            <a:off x="5334000" y="2732088"/>
            <a:ext cx="60960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92" name="Line 51"/>
          <p:cNvSpPr>
            <a:spLocks noChangeShapeType="1"/>
          </p:cNvSpPr>
          <p:nvPr/>
        </p:nvSpPr>
        <p:spPr bwMode="auto">
          <a:xfrm flipH="1">
            <a:off x="6629400" y="2732088"/>
            <a:ext cx="60960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93" name="Line 52"/>
          <p:cNvSpPr>
            <a:spLocks noChangeShapeType="1"/>
          </p:cNvSpPr>
          <p:nvPr/>
        </p:nvSpPr>
        <p:spPr bwMode="auto">
          <a:xfrm>
            <a:off x="7315200" y="2732088"/>
            <a:ext cx="53340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94" name="Line 53"/>
          <p:cNvSpPr>
            <a:spLocks noChangeShapeType="1"/>
          </p:cNvSpPr>
          <p:nvPr/>
        </p:nvSpPr>
        <p:spPr bwMode="auto">
          <a:xfrm flipH="1">
            <a:off x="1524000" y="3417888"/>
            <a:ext cx="38100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95" name="Line 54"/>
          <p:cNvSpPr>
            <a:spLocks noChangeShapeType="1"/>
          </p:cNvSpPr>
          <p:nvPr/>
        </p:nvSpPr>
        <p:spPr bwMode="auto">
          <a:xfrm>
            <a:off x="2057400" y="3417888"/>
            <a:ext cx="22860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96" name="Line 55"/>
          <p:cNvSpPr>
            <a:spLocks noChangeShapeType="1"/>
          </p:cNvSpPr>
          <p:nvPr/>
        </p:nvSpPr>
        <p:spPr bwMode="auto">
          <a:xfrm flipH="1">
            <a:off x="3352800" y="3494088"/>
            <a:ext cx="4572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97" name="Line 56"/>
          <p:cNvSpPr>
            <a:spLocks noChangeShapeType="1"/>
          </p:cNvSpPr>
          <p:nvPr/>
        </p:nvSpPr>
        <p:spPr bwMode="auto">
          <a:xfrm>
            <a:off x="3962400" y="3494088"/>
            <a:ext cx="3048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98" name="Line 57"/>
          <p:cNvSpPr>
            <a:spLocks noChangeShapeType="1"/>
          </p:cNvSpPr>
          <p:nvPr/>
        </p:nvSpPr>
        <p:spPr bwMode="auto">
          <a:xfrm flipH="1">
            <a:off x="5257800" y="3494088"/>
            <a:ext cx="5334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299" name="Line 58"/>
          <p:cNvSpPr>
            <a:spLocks noChangeShapeType="1"/>
          </p:cNvSpPr>
          <p:nvPr/>
        </p:nvSpPr>
        <p:spPr bwMode="auto">
          <a:xfrm>
            <a:off x="5943600" y="3494088"/>
            <a:ext cx="3810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300" name="Line 59"/>
          <p:cNvSpPr>
            <a:spLocks noChangeShapeType="1"/>
          </p:cNvSpPr>
          <p:nvPr/>
        </p:nvSpPr>
        <p:spPr bwMode="auto">
          <a:xfrm flipH="1">
            <a:off x="7315200" y="3494088"/>
            <a:ext cx="3810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301" name="Line 60"/>
          <p:cNvSpPr>
            <a:spLocks noChangeShapeType="1"/>
          </p:cNvSpPr>
          <p:nvPr/>
        </p:nvSpPr>
        <p:spPr bwMode="auto">
          <a:xfrm>
            <a:off x="7848600" y="3494088"/>
            <a:ext cx="6096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302" name="Line 61"/>
          <p:cNvSpPr>
            <a:spLocks noChangeShapeType="1"/>
          </p:cNvSpPr>
          <p:nvPr/>
        </p:nvSpPr>
        <p:spPr bwMode="auto">
          <a:xfrm>
            <a:off x="4724400" y="1589088"/>
            <a:ext cx="3581400" cy="0"/>
          </a:xfrm>
          <a:prstGeom prst="line">
            <a:avLst/>
          </a:prstGeom>
          <a:noFill/>
          <a:ln w="9525"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303" name="Line 62"/>
          <p:cNvSpPr>
            <a:spLocks noChangeShapeType="1"/>
          </p:cNvSpPr>
          <p:nvPr/>
        </p:nvSpPr>
        <p:spPr bwMode="auto">
          <a:xfrm>
            <a:off x="6477000" y="1970088"/>
            <a:ext cx="1828800" cy="0"/>
          </a:xfrm>
          <a:prstGeom prst="line">
            <a:avLst/>
          </a:prstGeom>
          <a:noFill/>
          <a:ln w="9525"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304" name="Line 63"/>
          <p:cNvSpPr>
            <a:spLocks noChangeShapeType="1"/>
          </p:cNvSpPr>
          <p:nvPr/>
        </p:nvSpPr>
        <p:spPr bwMode="auto">
          <a:xfrm>
            <a:off x="8001000" y="3265488"/>
            <a:ext cx="457200" cy="0"/>
          </a:xfrm>
          <a:prstGeom prst="line">
            <a:avLst/>
          </a:prstGeom>
          <a:noFill/>
          <a:ln w="9525" cap="rnd">
            <a:solidFill>
              <a:schemeClr val="tx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0305" name="Text Box 64"/>
          <p:cNvSpPr txBox="1">
            <a:spLocks noChangeArrowheads="1"/>
          </p:cNvSpPr>
          <p:nvPr/>
        </p:nvSpPr>
        <p:spPr bwMode="auto">
          <a:xfrm>
            <a:off x="8305800" y="1360488"/>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10306" name="Text Box 65"/>
          <p:cNvSpPr txBox="1">
            <a:spLocks noChangeArrowheads="1"/>
          </p:cNvSpPr>
          <p:nvPr/>
        </p:nvSpPr>
        <p:spPr bwMode="auto">
          <a:xfrm>
            <a:off x="8305800" y="1665288"/>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10307" name="Text Box 66"/>
          <p:cNvSpPr txBox="1">
            <a:spLocks noChangeArrowheads="1"/>
          </p:cNvSpPr>
          <p:nvPr/>
        </p:nvSpPr>
        <p:spPr bwMode="auto">
          <a:xfrm>
            <a:off x="8305800" y="3036888"/>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h</a:t>
            </a:r>
            <a:endParaRPr kumimoji="1" lang="en-US" altLang="zh-CN" sz="2400" dirty="0">
              <a:latin typeface="Times New Roman" panose="02020603050405020304" pitchFamily="18" charset="0"/>
              <a:ea typeface="华文楷体" panose="02010600040101010101" pitchFamily="2" charset="-122"/>
            </a:endParaRPr>
          </a:p>
        </p:txBody>
      </p:sp>
      <p:sp>
        <p:nvSpPr>
          <p:cNvPr id="10308" name="Text Box 67"/>
          <p:cNvSpPr txBox="1">
            <a:spLocks noChangeArrowheads="1"/>
          </p:cNvSpPr>
          <p:nvPr/>
        </p:nvSpPr>
        <p:spPr bwMode="auto">
          <a:xfrm>
            <a:off x="3886200" y="979488"/>
            <a:ext cx="3810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CN" altLang="en-US" sz="2000" b="1" dirty="0">
                <a:solidFill>
                  <a:schemeClr val="accent2"/>
                </a:solidFill>
                <a:latin typeface="Times New Roman" panose="02020603050405020304" pitchFamily="18" charset="0"/>
                <a:ea typeface="楷体_GB2312" pitchFamily="49" charset="-122"/>
              </a:rPr>
              <a:t>判定树</a:t>
            </a:r>
            <a:r>
              <a:rPr kumimoji="1" lang="zh-CN" altLang="en-US" sz="2000" dirty="0">
                <a:solidFill>
                  <a:schemeClr val="accent2"/>
                </a:solidFill>
                <a:latin typeface="Times New Roman" panose="02020603050405020304" pitchFamily="18" charset="0"/>
                <a:ea typeface="楷体_GB2312" pitchFamily="49" charset="-122"/>
              </a:rPr>
              <a:t>（</a:t>
            </a:r>
            <a:r>
              <a:rPr kumimoji="1" lang="zh-CN" altLang="en-US" sz="2000" dirty="0">
                <a:solidFill>
                  <a:schemeClr val="accent2"/>
                </a:solidFill>
                <a:latin typeface="Times New Roman" panose="02020603050405020304" pitchFamily="18" charset="0"/>
                <a:ea typeface="华文楷体" panose="02010600040101010101" pitchFamily="2" charset="-122"/>
              </a:rPr>
              <a:t>描述查找过程的二叉树）</a:t>
            </a:r>
            <a:endParaRPr kumimoji="1" lang="zh-CN" altLang="en-US" sz="2000" dirty="0">
              <a:latin typeface="Times New Roman" panose="02020603050405020304" pitchFamily="18" charset="0"/>
              <a:ea typeface="华文楷体" panose="02010600040101010101" pitchFamily="2" charset="-122"/>
            </a:endParaRPr>
          </a:p>
        </p:txBody>
      </p:sp>
      <p:sp>
        <p:nvSpPr>
          <p:cNvPr id="10309" name="Text Box 68"/>
          <p:cNvSpPr txBox="1">
            <a:spLocks noChangeArrowheads="1"/>
          </p:cNvSpPr>
          <p:nvPr/>
        </p:nvSpPr>
        <p:spPr bwMode="auto">
          <a:xfrm>
            <a:off x="7924800" y="4256088"/>
            <a:ext cx="990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CN" altLang="en-US" sz="2000" dirty="0">
                <a:solidFill>
                  <a:schemeClr val="accent2"/>
                </a:solidFill>
                <a:latin typeface="Times New Roman" panose="02020603050405020304" pitchFamily="18" charset="0"/>
                <a:ea typeface="华文楷体" panose="02010600040101010101" pitchFamily="2" charset="-122"/>
              </a:rPr>
              <a:t>外结点</a:t>
            </a:r>
            <a:endParaRPr kumimoji="1" lang="zh-CN" altLang="en-US" sz="2000" dirty="0">
              <a:latin typeface="Times New Roman" panose="02020603050405020304" pitchFamily="18" charset="0"/>
              <a:ea typeface="华文楷体" panose="02010600040101010101" pitchFamily="2" charset="-122"/>
            </a:endParaRPr>
          </a:p>
        </p:txBody>
      </p:sp>
      <p:sp>
        <p:nvSpPr>
          <p:cNvPr id="10310" name="Text Box 69"/>
          <p:cNvSpPr txBox="1">
            <a:spLocks noChangeArrowheads="1"/>
          </p:cNvSpPr>
          <p:nvPr/>
        </p:nvSpPr>
        <p:spPr bwMode="auto">
          <a:xfrm>
            <a:off x="7391400" y="2351088"/>
            <a:ext cx="990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CN" altLang="en-US" sz="2000" dirty="0">
                <a:solidFill>
                  <a:schemeClr val="accent2"/>
                </a:solidFill>
                <a:latin typeface="Times New Roman" panose="02020603050405020304" pitchFamily="18" charset="0"/>
                <a:ea typeface="华文楷体" panose="02010600040101010101" pitchFamily="2" charset="-122"/>
              </a:rPr>
              <a:t>内结点</a:t>
            </a:r>
            <a:endParaRPr kumimoji="1" lang="zh-CN" altLang="en-US" sz="2000" dirty="0">
              <a:solidFill>
                <a:schemeClr val="accent2"/>
              </a:solidFill>
              <a:latin typeface="Times New Roman" panose="02020603050405020304" pitchFamily="18" charset="0"/>
              <a:ea typeface="华文楷体" panose="02010600040101010101" pitchFamily="2" charset="-122"/>
            </a:endParaRPr>
          </a:p>
        </p:txBody>
      </p:sp>
      <p:sp>
        <p:nvSpPr>
          <p:cNvPr id="10311" name="Text Box 70"/>
          <p:cNvSpPr txBox="1">
            <a:spLocks noChangeArrowheads="1"/>
          </p:cNvSpPr>
          <p:nvPr/>
        </p:nvSpPr>
        <p:spPr bwMode="auto">
          <a:xfrm>
            <a:off x="4800600" y="1665288"/>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chemeClr val="accent2"/>
                </a:solidFill>
                <a:latin typeface="Times New Roman" panose="02020603050405020304" pitchFamily="18" charset="0"/>
                <a:ea typeface="华文楷体" panose="02010600040101010101" pitchFamily="2" charset="-122"/>
              </a:rPr>
              <a:t>&gt;</a:t>
            </a:r>
            <a:endParaRPr kumimoji="1" lang="en-US" altLang="zh-CN" sz="2400" dirty="0">
              <a:latin typeface="Times New Roman" panose="02020603050405020304" pitchFamily="18" charset="0"/>
              <a:ea typeface="华文楷体" panose="02010600040101010101" pitchFamily="2" charset="-122"/>
            </a:endParaRPr>
          </a:p>
        </p:txBody>
      </p:sp>
      <p:sp>
        <p:nvSpPr>
          <p:cNvPr id="10312" name="Text Box 71"/>
          <p:cNvSpPr txBox="1">
            <a:spLocks noChangeArrowheads="1"/>
          </p:cNvSpPr>
          <p:nvPr/>
        </p:nvSpPr>
        <p:spPr bwMode="auto">
          <a:xfrm>
            <a:off x="3581400" y="1665288"/>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chemeClr val="accent2"/>
                </a:solidFill>
                <a:latin typeface="Times New Roman" panose="02020603050405020304" pitchFamily="18" charset="0"/>
                <a:ea typeface="华文楷体" panose="02010600040101010101" pitchFamily="2" charset="-122"/>
              </a:rPr>
              <a:t>&lt;</a:t>
            </a:r>
            <a:endParaRPr kumimoji="1" lang="en-US" altLang="zh-CN" sz="2400" dirty="0">
              <a:solidFill>
                <a:schemeClr val="accent2"/>
              </a:solidFill>
              <a:latin typeface="Times New Roman" panose="02020603050405020304" pitchFamily="18" charset="0"/>
              <a:ea typeface="华文楷体" panose="02010600040101010101" pitchFamily="2" charset="-122"/>
            </a:endParaRPr>
          </a:p>
        </p:txBody>
      </p:sp>
      <p:sp>
        <p:nvSpPr>
          <p:cNvPr id="10313" name="Text Box 72"/>
          <p:cNvSpPr txBox="1">
            <a:spLocks noChangeArrowheads="1"/>
          </p:cNvSpPr>
          <p:nvPr/>
        </p:nvSpPr>
        <p:spPr bwMode="auto">
          <a:xfrm>
            <a:off x="4267200" y="1665288"/>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chemeClr val="accent2"/>
                </a:solidFill>
                <a:latin typeface="Times New Roman" panose="02020603050405020304" pitchFamily="18" charset="0"/>
                <a:ea typeface="华文楷体" panose="02010600040101010101" pitchFamily="2" charset="-122"/>
              </a:rPr>
              <a:t>=</a:t>
            </a:r>
            <a:endParaRPr kumimoji="1" lang="en-US" altLang="zh-CN" sz="2400" dirty="0">
              <a:solidFill>
                <a:schemeClr val="accent2"/>
              </a:solidFill>
              <a:latin typeface="Times New Roman" panose="02020603050405020304" pitchFamily="18" charset="0"/>
              <a:ea typeface="华文楷体" panose="02010600040101010101" pitchFamily="2" charset="-122"/>
            </a:endParaRPr>
          </a:p>
        </p:txBody>
      </p:sp>
      <p:graphicFrame>
        <p:nvGraphicFramePr>
          <p:cNvPr id="10314" name="Object 73"/>
          <p:cNvGraphicFramePr>
            <a:graphicFrameLocks noGrp="1" noChangeAspect="1"/>
          </p:cNvGraphicFramePr>
          <p:nvPr>
            <p:ph sz="half" idx="2"/>
          </p:nvPr>
        </p:nvGraphicFramePr>
        <p:xfrm>
          <a:off x="2052638" y="4868863"/>
          <a:ext cx="5111750" cy="762000"/>
        </p:xfrm>
        <a:graphic>
          <a:graphicData uri="http://schemas.openxmlformats.org/presentationml/2006/ole">
            <mc:AlternateContent xmlns:mc="http://schemas.openxmlformats.org/markup-compatibility/2006">
              <mc:Choice xmlns:v="urn:schemas-microsoft-com:vml" Requires="v">
                <p:oleObj spid="_x0000_s10426" name="公式" r:id="rId1" imgW="2984500" imgH="444500" progId="Equation.3">
                  <p:embed/>
                </p:oleObj>
              </mc:Choice>
              <mc:Fallback>
                <p:oleObj name="公式" r:id="rId1" imgW="2984500" imgH="444500" progId="Equation.3">
                  <p:embed/>
                  <p:pic>
                    <p:nvPicPr>
                      <p:cNvPr id="0" name="Object 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2638" y="4868863"/>
                        <a:ext cx="5111750"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页脚占位符 3"/>
          <p:cNvSpPr>
            <a:spLocks noGrp="1"/>
          </p:cNvSpPr>
          <p:nvPr>
            <p:ph type="ftr" sz="quarter" idx="10"/>
          </p:nvPr>
        </p:nvSpPr>
        <p:spPr/>
        <p:txBody>
          <a:bodyPr/>
          <a:lstStyle/>
          <a:p>
            <a:pPr>
              <a:defRPr/>
            </a:pPr>
            <a:r>
              <a:rPr lang="en-US" altLang="zh-CN"/>
              <a:t>BUPT SCST</a:t>
            </a:r>
            <a:endParaRPr lang="en-US" altLang="zh-CN"/>
          </a:p>
        </p:txBody>
      </p:sp>
      <p:sp>
        <p:nvSpPr>
          <p:cNvPr id="33" name="日期占位符 5"/>
          <p:cNvSpPr>
            <a:spLocks noGrp="1"/>
          </p:cNvSpPr>
          <p:nvPr>
            <p:ph type="dt" sz="quarter" idx="12"/>
          </p:nvPr>
        </p:nvSpPr>
        <p:spPr/>
        <p:txBody>
          <a:bodyPr/>
          <a:lstStyle/>
          <a:p>
            <a:pPr>
              <a:defRPr/>
            </a:pPr>
            <a:r>
              <a:rPr lang="en-US" altLang="zh-CN"/>
              <a:t>BUPT</a:t>
            </a:r>
            <a:endParaRPr lang="en-US" altLang="zh-CN"/>
          </a:p>
        </p:txBody>
      </p:sp>
      <p:sp>
        <p:nvSpPr>
          <p:cNvPr id="12292" name="Rectangle 2"/>
          <p:cNvSpPr>
            <a:spLocks noGrp="1" noChangeArrowheads="1"/>
          </p:cNvSpPr>
          <p:nvPr>
            <p:ph type="title"/>
          </p:nvPr>
        </p:nvSpPr>
        <p:spPr/>
        <p:txBody>
          <a:bodyPr/>
          <a:lstStyle/>
          <a:p>
            <a:pPr algn="l" eaLnBrk="1" hangingPunct="1"/>
            <a:r>
              <a:rPr lang="en-US" altLang="zh-CN" sz="2800" dirty="0" smtClean="0">
                <a:ea typeface="华文楷体" panose="02010600040101010101" pitchFamily="2" charset="-122"/>
              </a:rPr>
              <a:t>8.4 </a:t>
            </a:r>
            <a:r>
              <a:rPr lang="zh-CN" altLang="en-US" sz="2800" dirty="0" smtClean="0">
                <a:ea typeface="华文楷体" panose="02010600040101010101" pitchFamily="2" charset="-122"/>
              </a:rPr>
              <a:t>静态树表的查找</a:t>
            </a:r>
            <a:endParaRPr lang="zh-CN" altLang="en-US" sz="2800" dirty="0" smtClean="0">
              <a:ea typeface="华文楷体" panose="02010600040101010101" pitchFamily="2" charset="-122"/>
            </a:endParaRPr>
          </a:p>
        </p:txBody>
      </p:sp>
      <p:sp>
        <p:nvSpPr>
          <p:cNvPr id="12293"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800" b="1" dirty="0" smtClean="0">
                <a:solidFill>
                  <a:srgbClr val="CC6600"/>
                </a:solidFill>
                <a:ea typeface="华文楷体" panose="02010600040101010101" pitchFamily="2" charset="-122"/>
              </a:rPr>
              <a:t>[</a:t>
            </a:r>
            <a:r>
              <a:rPr lang="zh-CN" altLang="en-US" sz="2800" b="1" dirty="0" smtClean="0">
                <a:solidFill>
                  <a:srgbClr val="CC6600"/>
                </a:solidFill>
                <a:ea typeface="华文楷体" panose="02010600040101010101" pitchFamily="2" charset="-122"/>
              </a:rPr>
              <a:t>问题出发点</a:t>
            </a:r>
            <a:r>
              <a:rPr lang="en-US" altLang="zh-CN" sz="2800" b="1" dirty="0" smtClean="0">
                <a:solidFill>
                  <a:srgbClr val="CC6600"/>
                </a:solidFill>
                <a:ea typeface="华文楷体" panose="02010600040101010101" pitchFamily="2" charset="-122"/>
              </a:rPr>
              <a:t>]</a:t>
            </a:r>
            <a:endParaRPr lang="en-US" altLang="zh-CN" sz="2800" b="1" dirty="0" smtClean="0">
              <a:solidFill>
                <a:srgbClr val="CC6600"/>
              </a:solidFill>
              <a:ea typeface="华文楷体" panose="02010600040101010101" pitchFamily="2" charset="-122"/>
            </a:endParaRPr>
          </a:p>
          <a:p>
            <a:pPr eaLnBrk="1" hangingPunct="1">
              <a:lnSpc>
                <a:spcPct val="90000"/>
              </a:lnSpc>
              <a:buFont typeface="Wingdings" panose="05000000000000000000" pitchFamily="2" charset="2"/>
              <a:buNone/>
            </a:pPr>
            <a:r>
              <a:rPr lang="en-US" altLang="zh-CN" sz="2800" dirty="0" smtClean="0">
                <a:ea typeface="华文楷体" panose="02010600040101010101" pitchFamily="2" charset="-122"/>
              </a:rPr>
              <a:t>  </a:t>
            </a:r>
            <a:r>
              <a:rPr lang="zh-CN" altLang="en-US" sz="2800" dirty="0" smtClean="0">
                <a:ea typeface="华文楷体" panose="02010600040101010101" pitchFamily="2" charset="-122"/>
              </a:rPr>
              <a:t>讨论有序表中各记录查找概率不等时，查找成功时的</a:t>
            </a:r>
            <a:r>
              <a:rPr lang="en-US" altLang="zh-CN" sz="2800" dirty="0" smtClean="0">
                <a:ea typeface="华文楷体" panose="02010600040101010101" pitchFamily="2" charset="-122"/>
              </a:rPr>
              <a:t>ASL</a:t>
            </a:r>
            <a:r>
              <a:rPr lang="en-US" altLang="zh-CN" sz="2800" baseline="-25000" dirty="0" smtClean="0">
                <a:ea typeface="华文楷体" panose="02010600040101010101" pitchFamily="2" charset="-122"/>
              </a:rPr>
              <a:t>s</a:t>
            </a:r>
            <a:r>
              <a:rPr lang="zh-CN" altLang="en-US" sz="2800" dirty="0" smtClean="0">
                <a:ea typeface="华文楷体" panose="02010600040101010101" pitchFamily="2" charset="-122"/>
              </a:rPr>
              <a:t>。</a:t>
            </a:r>
            <a:endParaRPr lang="zh-CN" altLang="en-US" sz="28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800" dirty="0" smtClean="0">
                <a:ea typeface="华文楷体" panose="02010600040101010101" pitchFamily="2" charset="-122"/>
              </a:rPr>
              <a:t>                              </a:t>
            </a:r>
            <a:r>
              <a:rPr lang="zh-CN" altLang="en-US" sz="2800" b="1" dirty="0" smtClean="0">
                <a:solidFill>
                  <a:schemeClr val="accent2"/>
                </a:solidFill>
                <a:ea typeface="华文楷体" panose="02010600040101010101" pitchFamily="2" charset="-122"/>
              </a:rPr>
              <a:t> </a:t>
            </a:r>
            <a:r>
              <a:rPr lang="en-US" altLang="zh-CN" sz="2800" b="1" dirty="0" smtClean="0">
                <a:solidFill>
                  <a:schemeClr val="accent2"/>
                </a:solidFill>
                <a:ea typeface="华文楷体" panose="02010600040101010101" pitchFamily="2" charset="-122"/>
              </a:rPr>
              <a:t>1         2         3           4        5</a:t>
            </a:r>
            <a:endParaRPr lang="en-US" altLang="zh-CN" sz="2800" b="1" dirty="0" smtClean="0">
              <a:solidFill>
                <a:schemeClr val="accent2"/>
              </a:solidFill>
              <a:ea typeface="华文楷体" panose="02010600040101010101" pitchFamily="2" charset="-122"/>
            </a:endParaRPr>
          </a:p>
          <a:p>
            <a:pPr eaLnBrk="1" hangingPunct="1">
              <a:lnSpc>
                <a:spcPct val="90000"/>
              </a:lnSpc>
              <a:buFont typeface="Wingdings" panose="05000000000000000000" pitchFamily="2" charset="2"/>
              <a:buNone/>
            </a:pPr>
            <a:r>
              <a:rPr lang="en-US" altLang="zh-CN" sz="2800" dirty="0" smtClean="0">
                <a:ea typeface="华文楷体" panose="02010600040101010101" pitchFamily="2" charset="-122"/>
              </a:rPr>
              <a:t>            </a:t>
            </a:r>
            <a:r>
              <a:rPr lang="zh-CN" altLang="en-US" sz="2800" dirty="0" smtClean="0">
                <a:ea typeface="华文楷体" panose="02010600040101010101" pitchFamily="2" charset="-122"/>
              </a:rPr>
              <a:t>关键字       </a:t>
            </a:r>
            <a:r>
              <a:rPr lang="en-US" altLang="zh-CN" sz="2800" dirty="0" smtClean="0">
                <a:ea typeface="华文楷体" panose="02010600040101010101" pitchFamily="2" charset="-122"/>
              </a:rPr>
              <a:t>15      19       36       42         67</a:t>
            </a:r>
            <a:endParaRPr lang="en-US" altLang="zh-CN" sz="28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800" dirty="0" smtClean="0">
                <a:ea typeface="华文楷体" panose="02010600040101010101" pitchFamily="2" charset="-122"/>
              </a:rPr>
              <a:t>        </a:t>
            </a:r>
            <a:r>
              <a:rPr lang="zh-CN" altLang="en-US" sz="2800" dirty="0" smtClean="0">
                <a:ea typeface="华文楷体" panose="02010600040101010101" pitchFamily="2" charset="-122"/>
              </a:rPr>
              <a:t>查找概率       </a:t>
            </a:r>
            <a:r>
              <a:rPr lang="en-US" altLang="zh-CN" sz="2800" dirty="0" smtClean="0">
                <a:ea typeface="华文楷体" panose="02010600040101010101" pitchFamily="2" charset="-122"/>
              </a:rPr>
              <a:t>0.1     0.2      0.1      0.4        0.2</a:t>
            </a:r>
            <a:endParaRPr lang="en-US" altLang="zh-CN" sz="28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800" dirty="0" smtClean="0">
                <a:ea typeface="华文楷体" panose="02010600040101010101" pitchFamily="2" charset="-122"/>
              </a:rPr>
              <a:t> </a:t>
            </a:r>
            <a:r>
              <a:rPr lang="zh-CN" altLang="en-US" sz="2800" b="1" dirty="0" smtClean="0">
                <a:solidFill>
                  <a:schemeClr val="accent2"/>
                </a:solidFill>
                <a:latin typeface="楷体_GB2312" pitchFamily="49" charset="-122"/>
                <a:ea typeface="楷体_GB2312" pitchFamily="49" charset="-122"/>
              </a:rPr>
              <a:t>折半查找              高概率为根</a:t>
            </a:r>
            <a:endParaRPr lang="zh-CN" altLang="en-US" sz="2800" b="1" dirty="0" smtClean="0">
              <a:solidFill>
                <a:schemeClr val="accent2"/>
              </a:solidFill>
              <a:latin typeface="楷体_GB2312" pitchFamily="49" charset="-122"/>
              <a:ea typeface="楷体_GB2312" pitchFamily="49" charset="-122"/>
            </a:endParaRPr>
          </a:p>
          <a:p>
            <a:pPr eaLnBrk="1" hangingPunct="1">
              <a:lnSpc>
                <a:spcPct val="90000"/>
              </a:lnSpc>
              <a:buFont typeface="Wingdings" panose="05000000000000000000" pitchFamily="2" charset="2"/>
              <a:buNone/>
            </a:pPr>
            <a:r>
              <a:rPr lang="zh-CN" altLang="en-US" sz="2800" b="1" dirty="0" smtClean="0">
                <a:solidFill>
                  <a:schemeClr val="accent2"/>
                </a:solidFill>
                <a:latin typeface="楷体_GB2312" pitchFamily="49" charset="-122"/>
                <a:ea typeface="楷体_GB2312" pitchFamily="49" charset="-122"/>
              </a:rPr>
              <a:t>                      </a:t>
            </a:r>
            <a:r>
              <a:rPr lang="en-US" altLang="zh-CN" sz="2800" b="1" dirty="0" smtClean="0">
                <a:solidFill>
                  <a:schemeClr val="accent2"/>
                </a:solidFill>
                <a:latin typeface="楷体_GB2312" pitchFamily="49" charset="-122"/>
                <a:ea typeface="楷体_GB2312" pitchFamily="49" charset="-122"/>
              </a:rPr>
              <a:t>+</a:t>
            </a:r>
            <a:r>
              <a:rPr lang="zh-CN" altLang="en-US" sz="2800" b="1" dirty="0" smtClean="0">
                <a:solidFill>
                  <a:schemeClr val="accent2"/>
                </a:solidFill>
                <a:latin typeface="楷体_GB2312" pitchFamily="49" charset="-122"/>
                <a:ea typeface="楷体_GB2312" pitchFamily="49" charset="-122"/>
              </a:rPr>
              <a:t>折半</a:t>
            </a:r>
            <a:endParaRPr lang="zh-CN" altLang="en-US" sz="2800" b="1" dirty="0" smtClean="0">
              <a:solidFill>
                <a:schemeClr val="accent2"/>
              </a:solidFill>
              <a:latin typeface="楷体_GB2312" pitchFamily="49" charset="-122"/>
              <a:ea typeface="楷体_GB2312" pitchFamily="49" charset="-122"/>
            </a:endParaRPr>
          </a:p>
          <a:p>
            <a:pPr eaLnBrk="1" hangingPunct="1">
              <a:lnSpc>
                <a:spcPct val="90000"/>
              </a:lnSpc>
              <a:buFont typeface="Wingdings" panose="05000000000000000000" pitchFamily="2" charset="2"/>
              <a:buNone/>
            </a:pPr>
            <a:endParaRPr lang="zh-CN" altLang="en-US" sz="2800" b="1" dirty="0" smtClean="0">
              <a:solidFill>
                <a:schemeClr val="accent2"/>
              </a:solidFill>
              <a:latin typeface="楷体_GB2312" pitchFamily="49" charset="-122"/>
              <a:ea typeface="楷体_GB2312" pitchFamily="49" charset="-122"/>
            </a:endParaRPr>
          </a:p>
          <a:p>
            <a:pPr eaLnBrk="1" hangingPunct="1">
              <a:lnSpc>
                <a:spcPct val="90000"/>
              </a:lnSpc>
              <a:buFont typeface="Wingdings" panose="05000000000000000000" pitchFamily="2" charset="2"/>
              <a:buNone/>
            </a:pPr>
            <a:endParaRPr lang="zh-CN" altLang="en-US" sz="2800" dirty="0" smtClean="0">
              <a:solidFill>
                <a:schemeClr val="accent2"/>
              </a:solidFill>
              <a:ea typeface="华文楷体" panose="02010600040101010101" pitchFamily="2" charset="-122"/>
            </a:endParaRPr>
          </a:p>
          <a:p>
            <a:pPr eaLnBrk="1" hangingPunct="1">
              <a:lnSpc>
                <a:spcPct val="90000"/>
              </a:lnSpc>
              <a:buFont typeface="Wingdings" panose="05000000000000000000" pitchFamily="2" charset="2"/>
              <a:buNone/>
            </a:pPr>
            <a:r>
              <a:rPr lang="zh-CN" altLang="en-US" sz="2800" dirty="0" smtClean="0">
                <a:ea typeface="华文楷体" panose="02010600040101010101" pitchFamily="2" charset="-122"/>
              </a:rPr>
              <a:t>    </a:t>
            </a:r>
            <a:r>
              <a:rPr lang="en-US" altLang="zh-CN" sz="2800" dirty="0" smtClean="0">
                <a:ea typeface="华文楷体" panose="02010600040101010101" pitchFamily="2" charset="-122"/>
              </a:rPr>
              <a:t>ASL</a:t>
            </a:r>
            <a:r>
              <a:rPr lang="en-US" altLang="zh-CN" sz="2800" baseline="-25000" dirty="0" smtClean="0">
                <a:ea typeface="华文楷体" panose="02010600040101010101" pitchFamily="2" charset="-122"/>
              </a:rPr>
              <a:t>s</a:t>
            </a:r>
            <a:r>
              <a:rPr lang="en-US" altLang="zh-CN" sz="2800" dirty="0" smtClean="0">
                <a:ea typeface="华文楷体" panose="02010600040101010101" pitchFamily="2" charset="-122"/>
              </a:rPr>
              <a:t>=2.3                        ASL</a:t>
            </a:r>
            <a:r>
              <a:rPr lang="en-US" altLang="zh-CN" sz="2800" baseline="-25000" dirty="0" smtClean="0">
                <a:ea typeface="华文楷体" panose="02010600040101010101" pitchFamily="2" charset="-122"/>
              </a:rPr>
              <a:t>s</a:t>
            </a:r>
            <a:r>
              <a:rPr lang="en-US" altLang="zh-CN" sz="2800" dirty="0" smtClean="0">
                <a:ea typeface="华文楷体" panose="02010600040101010101" pitchFamily="2" charset="-122"/>
              </a:rPr>
              <a:t>=1.8</a:t>
            </a:r>
            <a:endParaRPr lang="en-US" altLang="zh-CN" sz="2800" dirty="0" smtClean="0">
              <a:ea typeface="华文楷体" panose="02010600040101010101" pitchFamily="2" charset="-122"/>
            </a:endParaRPr>
          </a:p>
          <a:p>
            <a:pPr eaLnBrk="1" hangingPunct="1">
              <a:lnSpc>
                <a:spcPct val="90000"/>
              </a:lnSpc>
              <a:buFont typeface="Wingdings" panose="05000000000000000000" pitchFamily="2" charset="2"/>
              <a:buNone/>
            </a:pPr>
            <a:endParaRPr lang="en-US" altLang="zh-CN" sz="2800" dirty="0" smtClean="0">
              <a:ea typeface="华文楷体" panose="02010600040101010101" pitchFamily="2" charset="-122"/>
            </a:endParaRPr>
          </a:p>
        </p:txBody>
      </p:sp>
      <p:sp>
        <p:nvSpPr>
          <p:cNvPr id="12294" name="Oval 4"/>
          <p:cNvSpPr>
            <a:spLocks noChangeArrowheads="1"/>
          </p:cNvSpPr>
          <p:nvPr/>
        </p:nvSpPr>
        <p:spPr bwMode="auto">
          <a:xfrm>
            <a:off x="2671763" y="4205288"/>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2295" name="Text Box 5"/>
          <p:cNvSpPr txBox="1">
            <a:spLocks noChangeArrowheads="1"/>
          </p:cNvSpPr>
          <p:nvPr/>
        </p:nvSpPr>
        <p:spPr bwMode="auto">
          <a:xfrm>
            <a:off x="2595563" y="4205288"/>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36 </a:t>
            </a:r>
            <a:r>
              <a:rPr kumimoji="1" lang="en-US" altLang="zh-CN" sz="2400" dirty="0">
                <a:solidFill>
                  <a:schemeClr val="accent2"/>
                </a:solidFill>
                <a:latin typeface="Times New Roman" panose="02020603050405020304" pitchFamily="18" charset="0"/>
                <a:ea typeface="华文楷体" panose="02010600040101010101" pitchFamily="2" charset="-122"/>
              </a:rPr>
              <a:t>3</a:t>
            </a:r>
            <a:endParaRPr kumimoji="1" lang="en-US" altLang="zh-CN" sz="2400" dirty="0">
              <a:solidFill>
                <a:schemeClr val="accent2"/>
              </a:solidFill>
              <a:latin typeface="Times New Roman" panose="02020603050405020304" pitchFamily="18" charset="0"/>
              <a:ea typeface="华文楷体" panose="02010600040101010101" pitchFamily="2" charset="-122"/>
            </a:endParaRPr>
          </a:p>
        </p:txBody>
      </p:sp>
      <p:sp>
        <p:nvSpPr>
          <p:cNvPr id="12296" name="Oval 6"/>
          <p:cNvSpPr>
            <a:spLocks noChangeArrowheads="1"/>
          </p:cNvSpPr>
          <p:nvPr/>
        </p:nvSpPr>
        <p:spPr bwMode="auto">
          <a:xfrm>
            <a:off x="2138363" y="4738688"/>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2297" name="Text Box 7"/>
          <p:cNvSpPr txBox="1">
            <a:spLocks noChangeArrowheads="1"/>
          </p:cNvSpPr>
          <p:nvPr/>
        </p:nvSpPr>
        <p:spPr bwMode="auto">
          <a:xfrm>
            <a:off x="2062163" y="4738688"/>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15 </a:t>
            </a:r>
            <a:r>
              <a:rPr kumimoji="1" lang="en-US" altLang="zh-CN" sz="2400" dirty="0">
                <a:solidFill>
                  <a:schemeClr val="accent2"/>
                </a:solidFill>
                <a:latin typeface="Times New Roman" panose="02020603050405020304" pitchFamily="18" charset="0"/>
                <a:ea typeface="华文楷体" panose="02010600040101010101" pitchFamily="2" charset="-122"/>
              </a:rPr>
              <a:t>1</a:t>
            </a:r>
            <a:endParaRPr kumimoji="1" lang="en-US" altLang="zh-CN" sz="2400" dirty="0">
              <a:solidFill>
                <a:schemeClr val="accent1"/>
              </a:solidFill>
              <a:latin typeface="Times New Roman" panose="02020603050405020304" pitchFamily="18" charset="0"/>
              <a:ea typeface="华文楷体" panose="02010600040101010101" pitchFamily="2" charset="-122"/>
            </a:endParaRPr>
          </a:p>
        </p:txBody>
      </p:sp>
      <p:sp>
        <p:nvSpPr>
          <p:cNvPr id="12298" name="Text Box 8"/>
          <p:cNvSpPr txBox="1">
            <a:spLocks noChangeArrowheads="1"/>
          </p:cNvSpPr>
          <p:nvPr/>
        </p:nvSpPr>
        <p:spPr bwMode="auto">
          <a:xfrm>
            <a:off x="2366963" y="5348288"/>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19 </a:t>
            </a:r>
            <a:r>
              <a:rPr kumimoji="1" lang="en-US" altLang="zh-CN" sz="2400" dirty="0">
                <a:solidFill>
                  <a:schemeClr val="accent2"/>
                </a:solidFill>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12299" name="Oval 9"/>
          <p:cNvSpPr>
            <a:spLocks noChangeArrowheads="1"/>
          </p:cNvSpPr>
          <p:nvPr/>
        </p:nvSpPr>
        <p:spPr bwMode="auto">
          <a:xfrm>
            <a:off x="2443163" y="5348288"/>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2300" name="Text Box 10"/>
          <p:cNvSpPr txBox="1">
            <a:spLocks noChangeArrowheads="1"/>
          </p:cNvSpPr>
          <p:nvPr/>
        </p:nvSpPr>
        <p:spPr bwMode="auto">
          <a:xfrm>
            <a:off x="3205163" y="4738688"/>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42 </a:t>
            </a:r>
            <a:r>
              <a:rPr kumimoji="1" lang="en-US" altLang="zh-CN" sz="2400" dirty="0">
                <a:solidFill>
                  <a:schemeClr val="accent2"/>
                </a:solidFill>
                <a:latin typeface="Times New Roman" panose="02020603050405020304" pitchFamily="18" charset="0"/>
                <a:ea typeface="华文楷体" panose="02010600040101010101" pitchFamily="2" charset="-122"/>
              </a:rPr>
              <a:t>4</a:t>
            </a:r>
            <a:endParaRPr kumimoji="1" lang="en-US" altLang="zh-CN" sz="2400" dirty="0">
              <a:solidFill>
                <a:schemeClr val="accent2"/>
              </a:solidFill>
              <a:latin typeface="Times New Roman" panose="02020603050405020304" pitchFamily="18" charset="0"/>
              <a:ea typeface="华文楷体" panose="02010600040101010101" pitchFamily="2" charset="-122"/>
            </a:endParaRPr>
          </a:p>
        </p:txBody>
      </p:sp>
      <p:sp>
        <p:nvSpPr>
          <p:cNvPr id="12301" name="Oval 11"/>
          <p:cNvSpPr>
            <a:spLocks noChangeArrowheads="1"/>
          </p:cNvSpPr>
          <p:nvPr/>
        </p:nvSpPr>
        <p:spPr bwMode="auto">
          <a:xfrm>
            <a:off x="3281363" y="4738688"/>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2302" name="Text Box 12"/>
          <p:cNvSpPr txBox="1">
            <a:spLocks noChangeArrowheads="1"/>
          </p:cNvSpPr>
          <p:nvPr/>
        </p:nvSpPr>
        <p:spPr bwMode="auto">
          <a:xfrm>
            <a:off x="3586163" y="5348288"/>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67 </a:t>
            </a:r>
            <a:r>
              <a:rPr kumimoji="1" lang="en-US" altLang="zh-CN" sz="2400" dirty="0">
                <a:solidFill>
                  <a:schemeClr val="accent2"/>
                </a:solidFill>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12303" name="Oval 13"/>
          <p:cNvSpPr>
            <a:spLocks noChangeArrowheads="1"/>
          </p:cNvSpPr>
          <p:nvPr/>
        </p:nvSpPr>
        <p:spPr bwMode="auto">
          <a:xfrm>
            <a:off x="3662363" y="5348288"/>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2304" name="Line 14"/>
          <p:cNvSpPr>
            <a:spLocks noChangeShapeType="1"/>
          </p:cNvSpPr>
          <p:nvPr/>
        </p:nvSpPr>
        <p:spPr bwMode="auto">
          <a:xfrm flipH="1">
            <a:off x="2366963" y="4433888"/>
            <a:ext cx="3048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2305" name="Line 15"/>
          <p:cNvSpPr>
            <a:spLocks noChangeShapeType="1"/>
          </p:cNvSpPr>
          <p:nvPr/>
        </p:nvSpPr>
        <p:spPr bwMode="auto">
          <a:xfrm>
            <a:off x="2976563" y="4510088"/>
            <a:ext cx="3048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2306" name="Line 16"/>
          <p:cNvSpPr>
            <a:spLocks noChangeShapeType="1"/>
          </p:cNvSpPr>
          <p:nvPr/>
        </p:nvSpPr>
        <p:spPr bwMode="auto">
          <a:xfrm>
            <a:off x="2443163" y="5119688"/>
            <a:ext cx="1524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2307" name="Line 17"/>
          <p:cNvSpPr>
            <a:spLocks noChangeShapeType="1"/>
          </p:cNvSpPr>
          <p:nvPr/>
        </p:nvSpPr>
        <p:spPr bwMode="auto">
          <a:xfrm>
            <a:off x="3509963" y="5119688"/>
            <a:ext cx="2286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2308" name="Text Box 18"/>
          <p:cNvSpPr txBox="1">
            <a:spLocks noChangeArrowheads="1"/>
          </p:cNvSpPr>
          <p:nvPr/>
        </p:nvSpPr>
        <p:spPr bwMode="auto">
          <a:xfrm>
            <a:off x="7175500" y="400526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42 </a:t>
            </a:r>
            <a:r>
              <a:rPr kumimoji="1" lang="en-US" altLang="zh-CN" sz="2400" dirty="0">
                <a:solidFill>
                  <a:schemeClr val="accent2"/>
                </a:solidFill>
                <a:latin typeface="Times New Roman" panose="02020603050405020304" pitchFamily="18" charset="0"/>
                <a:ea typeface="华文楷体" panose="02010600040101010101" pitchFamily="2" charset="-122"/>
              </a:rPr>
              <a:t>4</a:t>
            </a:r>
            <a:endParaRPr kumimoji="1" lang="en-US" altLang="zh-CN" sz="2400" dirty="0">
              <a:latin typeface="Times New Roman" panose="02020603050405020304" pitchFamily="18" charset="0"/>
              <a:ea typeface="华文楷体" panose="02010600040101010101" pitchFamily="2" charset="-122"/>
            </a:endParaRPr>
          </a:p>
        </p:txBody>
      </p:sp>
      <p:sp>
        <p:nvSpPr>
          <p:cNvPr id="12309" name="Oval 19"/>
          <p:cNvSpPr>
            <a:spLocks noChangeArrowheads="1"/>
          </p:cNvSpPr>
          <p:nvPr/>
        </p:nvSpPr>
        <p:spPr bwMode="auto">
          <a:xfrm>
            <a:off x="7251700" y="4005263"/>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2310" name="Text Box 20"/>
          <p:cNvSpPr txBox="1">
            <a:spLocks noChangeArrowheads="1"/>
          </p:cNvSpPr>
          <p:nvPr/>
        </p:nvSpPr>
        <p:spPr bwMode="auto">
          <a:xfrm>
            <a:off x="6337300" y="4462463"/>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19 </a:t>
            </a:r>
            <a:r>
              <a:rPr kumimoji="1" lang="en-US" altLang="zh-CN" sz="2400" dirty="0">
                <a:solidFill>
                  <a:schemeClr val="accent2"/>
                </a:solidFill>
                <a:latin typeface="Times New Roman" panose="02020603050405020304" pitchFamily="18" charset="0"/>
                <a:ea typeface="华文楷体" panose="02010600040101010101" pitchFamily="2" charset="-122"/>
              </a:rPr>
              <a:t>2</a:t>
            </a:r>
            <a:endParaRPr kumimoji="1" lang="en-US" altLang="zh-CN" sz="2400" dirty="0">
              <a:solidFill>
                <a:schemeClr val="accent1"/>
              </a:solidFill>
              <a:latin typeface="Times New Roman" panose="02020603050405020304" pitchFamily="18" charset="0"/>
              <a:ea typeface="华文楷体" panose="02010600040101010101" pitchFamily="2" charset="-122"/>
            </a:endParaRPr>
          </a:p>
        </p:txBody>
      </p:sp>
      <p:sp>
        <p:nvSpPr>
          <p:cNvPr id="12311" name="Oval 21"/>
          <p:cNvSpPr>
            <a:spLocks noChangeArrowheads="1"/>
          </p:cNvSpPr>
          <p:nvPr/>
        </p:nvSpPr>
        <p:spPr bwMode="auto">
          <a:xfrm>
            <a:off x="6413500" y="4538663"/>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2312" name="Text Box 22"/>
          <p:cNvSpPr txBox="1">
            <a:spLocks noChangeArrowheads="1"/>
          </p:cNvSpPr>
          <p:nvPr/>
        </p:nvSpPr>
        <p:spPr bwMode="auto">
          <a:xfrm>
            <a:off x="8089900" y="4462463"/>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67 </a:t>
            </a:r>
            <a:r>
              <a:rPr kumimoji="1" lang="en-US" altLang="zh-CN" sz="2400" dirty="0">
                <a:solidFill>
                  <a:schemeClr val="accent2"/>
                </a:solidFill>
                <a:latin typeface="Times New Roman" panose="02020603050405020304" pitchFamily="18" charset="0"/>
                <a:ea typeface="华文楷体" panose="02010600040101010101" pitchFamily="2" charset="-122"/>
              </a:rPr>
              <a:t>5</a:t>
            </a:r>
            <a:endParaRPr kumimoji="1" lang="en-US" altLang="zh-CN" sz="2400" dirty="0">
              <a:latin typeface="Times New Roman" panose="02020603050405020304" pitchFamily="18" charset="0"/>
              <a:ea typeface="华文楷体" panose="02010600040101010101" pitchFamily="2" charset="-122"/>
            </a:endParaRPr>
          </a:p>
        </p:txBody>
      </p:sp>
      <p:sp>
        <p:nvSpPr>
          <p:cNvPr id="12313" name="Oval 23"/>
          <p:cNvSpPr>
            <a:spLocks noChangeArrowheads="1"/>
          </p:cNvSpPr>
          <p:nvPr/>
        </p:nvSpPr>
        <p:spPr bwMode="auto">
          <a:xfrm>
            <a:off x="8166100" y="4538663"/>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2314" name="Text Box 24"/>
          <p:cNvSpPr txBox="1">
            <a:spLocks noChangeArrowheads="1"/>
          </p:cNvSpPr>
          <p:nvPr/>
        </p:nvSpPr>
        <p:spPr bwMode="auto">
          <a:xfrm>
            <a:off x="5651500" y="514826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15 </a:t>
            </a:r>
            <a:r>
              <a:rPr kumimoji="1" lang="en-US" altLang="zh-CN" sz="2400" dirty="0">
                <a:solidFill>
                  <a:schemeClr val="accent2"/>
                </a:solidFill>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12315" name="Oval 25"/>
          <p:cNvSpPr>
            <a:spLocks noChangeArrowheads="1"/>
          </p:cNvSpPr>
          <p:nvPr/>
        </p:nvSpPr>
        <p:spPr bwMode="auto">
          <a:xfrm>
            <a:off x="5727700" y="5224463"/>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2316" name="Text Box 26"/>
          <p:cNvSpPr txBox="1">
            <a:spLocks noChangeArrowheads="1"/>
          </p:cNvSpPr>
          <p:nvPr/>
        </p:nvSpPr>
        <p:spPr bwMode="auto">
          <a:xfrm>
            <a:off x="6870700" y="5148263"/>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36 </a:t>
            </a:r>
            <a:r>
              <a:rPr kumimoji="1" lang="en-US" altLang="zh-CN" sz="2400" dirty="0">
                <a:solidFill>
                  <a:schemeClr val="accent2"/>
                </a:solidFill>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12317" name="Oval 27"/>
          <p:cNvSpPr>
            <a:spLocks noChangeArrowheads="1"/>
          </p:cNvSpPr>
          <p:nvPr/>
        </p:nvSpPr>
        <p:spPr bwMode="auto">
          <a:xfrm>
            <a:off x="6946900" y="5224463"/>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2318" name="Line 28"/>
          <p:cNvSpPr>
            <a:spLocks noChangeShapeType="1"/>
          </p:cNvSpPr>
          <p:nvPr/>
        </p:nvSpPr>
        <p:spPr bwMode="auto">
          <a:xfrm flipH="1">
            <a:off x="6718300" y="4233863"/>
            <a:ext cx="5334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2319" name="Line 29"/>
          <p:cNvSpPr>
            <a:spLocks noChangeShapeType="1"/>
          </p:cNvSpPr>
          <p:nvPr/>
        </p:nvSpPr>
        <p:spPr bwMode="auto">
          <a:xfrm>
            <a:off x="7556500" y="4310063"/>
            <a:ext cx="6096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2320" name="Line 30"/>
          <p:cNvSpPr>
            <a:spLocks noChangeShapeType="1"/>
          </p:cNvSpPr>
          <p:nvPr/>
        </p:nvSpPr>
        <p:spPr bwMode="auto">
          <a:xfrm flipH="1">
            <a:off x="5956300" y="4843463"/>
            <a:ext cx="45720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2321" name="Line 31"/>
          <p:cNvSpPr>
            <a:spLocks noChangeShapeType="1"/>
          </p:cNvSpPr>
          <p:nvPr/>
        </p:nvSpPr>
        <p:spPr bwMode="auto">
          <a:xfrm>
            <a:off x="6718300" y="4843463"/>
            <a:ext cx="38100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0"/>
          </p:nvPr>
        </p:nvSpPr>
        <p:spPr/>
        <p:txBody>
          <a:bodyPr/>
          <a:lstStyle/>
          <a:p>
            <a:pPr>
              <a:defRPr/>
            </a:pPr>
            <a:r>
              <a:rPr lang="en-US" altLang="zh-CN"/>
              <a:t>BUPT SCST</a:t>
            </a:r>
            <a:endParaRPr lang="en-US" altLang="zh-CN"/>
          </a:p>
        </p:txBody>
      </p:sp>
      <p:sp>
        <p:nvSpPr>
          <p:cNvPr id="6" name="日期占位符 6"/>
          <p:cNvSpPr>
            <a:spLocks noGrp="1"/>
          </p:cNvSpPr>
          <p:nvPr>
            <p:ph type="dt" sz="quarter" idx="12"/>
          </p:nvPr>
        </p:nvSpPr>
        <p:spPr/>
        <p:txBody>
          <a:bodyPr/>
          <a:lstStyle/>
          <a:p>
            <a:pPr>
              <a:defRPr/>
            </a:pPr>
            <a:r>
              <a:rPr lang="en-US" altLang="zh-CN"/>
              <a:t>BUPT</a:t>
            </a:r>
            <a:endParaRPr lang="en-US" altLang="zh-CN"/>
          </a:p>
        </p:txBody>
      </p:sp>
      <p:sp>
        <p:nvSpPr>
          <p:cNvPr id="13316" name="Rectangle 5"/>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3317" name="Rectangle 3"/>
          <p:cNvSpPr>
            <a:spLocks noGrp="1" noChangeArrowheads="1"/>
          </p:cNvSpPr>
          <p:nvPr>
            <p:ph type="body" sz="half" idx="1"/>
          </p:nvPr>
        </p:nvSpPr>
        <p:spPr>
          <a:xfrm>
            <a:off x="457200" y="1152525"/>
            <a:ext cx="8075613" cy="5248275"/>
          </a:xfrm>
        </p:spPr>
        <p:txBody>
          <a:bodyPr/>
          <a:lstStyle/>
          <a:p>
            <a:pPr eaLnBrk="1" hangingPunct="1">
              <a:lnSpc>
                <a:spcPct val="90000"/>
              </a:lnSpc>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zh-CN" sz="2400" b="1" dirty="0" smtClean="0">
                <a:solidFill>
                  <a:srgbClr val="CC6600"/>
                </a:solidFill>
                <a:ea typeface="华文楷体" panose="02010600040101010101" pitchFamily="2" charset="-122"/>
              </a:rPr>
              <a:t>静态最优查找树</a:t>
            </a:r>
            <a:r>
              <a:rPr lang="en-US" altLang="zh-CN" sz="2400" b="1" dirty="0" smtClean="0">
                <a:solidFill>
                  <a:srgbClr val="CC66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solidFill>
                  <a:schemeClr val="accent2"/>
                </a:solidFill>
                <a:ea typeface="华文楷体" panose="02010600040101010101" pitchFamily="2" charset="-122"/>
              </a:rPr>
              <a:t>定义</a:t>
            </a:r>
            <a:r>
              <a:rPr lang="zh-CN" altLang="en-US" sz="2400" dirty="0" smtClean="0">
                <a:ea typeface="华文楷体" panose="02010600040101010101" pitchFamily="2" charset="-122"/>
              </a:rPr>
              <a:t>：查找性能最佳的判定树。</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solidFill>
                  <a:schemeClr val="accent2"/>
                </a:solidFill>
                <a:ea typeface="华文楷体" panose="02010600040101010101" pitchFamily="2" charset="-122"/>
              </a:rPr>
              <a:t>性质</a:t>
            </a:r>
            <a:r>
              <a:rPr lang="zh-CN" altLang="en-US" sz="2400" dirty="0" smtClean="0">
                <a:ea typeface="华文楷体" panose="02010600040101010101" pitchFamily="2" charset="-122"/>
              </a:rPr>
              <a:t>：带权内路径长度之和</a:t>
            </a:r>
            <a:r>
              <a:rPr lang="en-US" altLang="zh-CN" sz="2400" dirty="0" smtClean="0">
                <a:ea typeface="华文楷体" panose="02010600040101010101" pitchFamily="2" charset="-122"/>
              </a:rPr>
              <a:t>PH</a:t>
            </a:r>
            <a:r>
              <a:rPr lang="zh-CN" altLang="en-US" sz="2400" dirty="0" smtClean="0">
                <a:ea typeface="华文楷体" panose="02010600040101010101" pitchFamily="2" charset="-122"/>
              </a:rPr>
              <a:t>为最小值。</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PH=                   </a:t>
            </a:r>
            <a:r>
              <a:rPr lang="zh-CN" altLang="en-US" sz="2400" dirty="0" smtClean="0">
                <a:solidFill>
                  <a:schemeClr val="accent2"/>
                </a:solidFill>
                <a:latin typeface="楷体_GB2312" pitchFamily="49" charset="-122"/>
                <a:ea typeface="楷体_GB2312" pitchFamily="49" charset="-122"/>
              </a:rPr>
              <a:t>与</a:t>
            </a:r>
            <a:r>
              <a:rPr lang="en-US" altLang="zh-CN" sz="2400" dirty="0" smtClean="0">
                <a:solidFill>
                  <a:schemeClr val="accent2"/>
                </a:solidFill>
                <a:latin typeface="楷体_GB2312" pitchFamily="49" charset="-122"/>
                <a:ea typeface="楷体_GB2312" pitchFamily="49" charset="-122"/>
              </a:rPr>
              <a:t>ASL</a:t>
            </a:r>
            <a:r>
              <a:rPr lang="en-US" altLang="zh-CN" sz="2400" baseline="-25000" dirty="0" smtClean="0">
                <a:solidFill>
                  <a:schemeClr val="accent2"/>
                </a:solidFill>
                <a:latin typeface="楷体_GB2312" pitchFamily="49" charset="-122"/>
                <a:ea typeface="楷体_GB2312" pitchFamily="49" charset="-122"/>
              </a:rPr>
              <a:t>s</a:t>
            </a:r>
            <a:r>
              <a:rPr lang="zh-CN" altLang="en-US" sz="2400" dirty="0" smtClean="0">
                <a:solidFill>
                  <a:schemeClr val="accent2"/>
                </a:solidFill>
                <a:latin typeface="楷体_GB2312" pitchFamily="49" charset="-122"/>
                <a:ea typeface="楷体_GB2312" pitchFamily="49" charset="-122"/>
              </a:rPr>
              <a:t>成正比</a:t>
            </a:r>
            <a:endParaRPr lang="zh-CN" altLang="en-US" sz="2400" dirty="0" smtClean="0">
              <a:latin typeface="楷体_GB2312" pitchFamily="49" charset="-122"/>
              <a:ea typeface="楷体_GB2312" pitchFamily="49"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其中</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：二叉树上结点的个数</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有序表长度</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h</a:t>
            </a:r>
            <a:r>
              <a:rPr lang="en-US" altLang="zh-CN" sz="2400" baseline="-25000" dirty="0" smtClean="0">
                <a:ea typeface="华文楷体" panose="02010600040101010101" pitchFamily="2" charset="-122"/>
              </a:rPr>
              <a:t>i</a:t>
            </a:r>
            <a:r>
              <a:rPr lang="zh-CN" altLang="en-US" sz="2400" dirty="0" smtClean="0">
                <a:ea typeface="华文楷体" panose="02010600040101010101" pitchFamily="2" charset="-122"/>
              </a:rPr>
              <a:t>：第</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个结点在二叉树上的层次数</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err="1" smtClean="0">
                <a:ea typeface="华文楷体" panose="02010600040101010101" pitchFamily="2" charset="-122"/>
              </a:rPr>
              <a:t>w</a:t>
            </a:r>
            <a:r>
              <a:rPr lang="en-US" altLang="zh-CN" sz="2400" baseline="-25000" dirty="0" err="1" smtClean="0">
                <a:ea typeface="华文楷体" panose="02010600040101010101" pitchFamily="2" charset="-122"/>
              </a:rPr>
              <a:t>i</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cp</a:t>
            </a:r>
            <a:r>
              <a:rPr lang="en-US" altLang="zh-CN" sz="2400" baseline="-25000" dirty="0" err="1" smtClean="0">
                <a:ea typeface="华文楷体" panose="02010600040101010101" pitchFamily="2" charset="-122"/>
              </a:rPr>
              <a:t>i</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c</a:t>
            </a:r>
            <a:r>
              <a:rPr lang="zh-CN" altLang="en-US" sz="2400" dirty="0" smtClean="0">
                <a:ea typeface="华文楷体" panose="02010600040101010101" pitchFamily="2" charset="-122"/>
              </a:rPr>
              <a:t>为某个常量；</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p</a:t>
            </a:r>
            <a:r>
              <a:rPr lang="en-US" altLang="zh-CN" sz="2400" baseline="-25000" dirty="0" smtClean="0">
                <a:ea typeface="华文楷体" panose="02010600040101010101" pitchFamily="2" charset="-122"/>
              </a:rPr>
              <a:t>i</a:t>
            </a:r>
            <a:r>
              <a:rPr lang="zh-CN" altLang="en-US" sz="2400" dirty="0" smtClean="0">
                <a:ea typeface="华文楷体" panose="02010600040101010101" pitchFamily="2" charset="-122"/>
              </a:rPr>
              <a:t>：第</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个结点的查找概率</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b="1" dirty="0" smtClean="0">
                <a:solidFill>
                  <a:schemeClr val="accent2"/>
                </a:solidFill>
                <a:ea typeface="华文楷体" panose="02010600040101010101" pitchFamily="2" charset="-122"/>
              </a:rPr>
              <a:t>最优查找体现的原则</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）最先访问的结点应是访问概率最大的结点；</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）每次访问应使结点两边尚未访问的结点的被访概率之和尽可能相等。</a:t>
            </a:r>
            <a:endParaRPr lang="zh-CN" altLang="en-US" sz="1800" b="1" dirty="0" smtClean="0">
              <a:solidFill>
                <a:srgbClr val="CC6600"/>
              </a:solidFill>
              <a:ea typeface="华文楷体" panose="02010600040101010101" pitchFamily="2" charset="-122"/>
            </a:endParaRPr>
          </a:p>
          <a:p>
            <a:pPr eaLnBrk="1" hangingPunct="1">
              <a:lnSpc>
                <a:spcPct val="90000"/>
              </a:lnSpc>
              <a:buFont typeface="Wingdings" panose="05000000000000000000" pitchFamily="2" charset="2"/>
              <a:buNone/>
            </a:pPr>
            <a:endParaRPr lang="en-US" altLang="zh-CN" sz="1800" b="1" dirty="0" smtClean="0">
              <a:solidFill>
                <a:srgbClr val="CC6600"/>
              </a:solidFill>
              <a:ea typeface="华文楷体" panose="02010600040101010101" pitchFamily="2" charset="-122"/>
            </a:endParaRPr>
          </a:p>
        </p:txBody>
      </p:sp>
      <p:graphicFrame>
        <p:nvGraphicFramePr>
          <p:cNvPr id="13318" name="Object 4"/>
          <p:cNvGraphicFramePr>
            <a:graphicFrameLocks noGrp="1" noChangeAspect="1"/>
          </p:cNvGraphicFramePr>
          <p:nvPr>
            <p:ph sz="half" idx="2"/>
          </p:nvPr>
        </p:nvGraphicFramePr>
        <p:xfrm>
          <a:off x="3059113" y="2141538"/>
          <a:ext cx="1008062" cy="927100"/>
        </p:xfrm>
        <a:graphic>
          <a:graphicData uri="http://schemas.openxmlformats.org/presentationml/2006/ole">
            <mc:AlternateContent xmlns:mc="http://schemas.openxmlformats.org/markup-compatibility/2006">
              <mc:Choice xmlns:v="urn:schemas-microsoft-com:vml" Requires="v">
                <p:oleObj spid="_x0000_s13430" name="公式" r:id="rId1" imgW="469900" imgH="431800" progId="Equation.3">
                  <p:embed/>
                </p:oleObj>
              </mc:Choice>
              <mc:Fallback>
                <p:oleObj name="公式" r:id="rId1" imgW="469900" imgH="4318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113" y="2141538"/>
                        <a:ext cx="1008062" cy="927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0"/>
          </p:nvPr>
        </p:nvSpPr>
        <p:spPr/>
        <p:txBody>
          <a:bodyPr/>
          <a:lstStyle/>
          <a:p>
            <a:pPr>
              <a:defRPr/>
            </a:pPr>
            <a:r>
              <a:rPr lang="en-US" altLang="zh-CN"/>
              <a:t>BUPT SCST</a:t>
            </a:r>
            <a:endParaRPr lang="en-US" altLang="zh-CN"/>
          </a:p>
        </p:txBody>
      </p:sp>
      <p:sp>
        <p:nvSpPr>
          <p:cNvPr id="6" name="日期占位符 6"/>
          <p:cNvSpPr>
            <a:spLocks noGrp="1"/>
          </p:cNvSpPr>
          <p:nvPr>
            <p:ph type="dt" sz="quarter" idx="12"/>
          </p:nvPr>
        </p:nvSpPr>
        <p:spPr/>
        <p:txBody>
          <a:bodyPr/>
          <a:lstStyle/>
          <a:p>
            <a:pPr>
              <a:defRPr/>
            </a:pPr>
            <a:r>
              <a:rPr lang="en-US" altLang="zh-CN"/>
              <a:t>BUPT</a:t>
            </a:r>
            <a:endParaRPr lang="en-US" altLang="zh-CN"/>
          </a:p>
        </p:txBody>
      </p:sp>
      <p:sp>
        <p:nvSpPr>
          <p:cNvPr id="14340" name="Rectangle 5"/>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4341" name="Rectangle 3"/>
          <p:cNvSpPr>
            <a:spLocks noGrp="1" noChangeArrowheads="1"/>
          </p:cNvSpPr>
          <p:nvPr>
            <p:ph type="body" sz="half" idx="1"/>
          </p:nvPr>
        </p:nvSpPr>
        <p:spPr>
          <a:xfrm>
            <a:off x="457200" y="1152525"/>
            <a:ext cx="8002588" cy="5248275"/>
          </a:xfrm>
        </p:spPr>
        <p:txBody>
          <a:bodyPr/>
          <a:lstStyle/>
          <a:p>
            <a:pPr eaLnBrk="1" hangingPunct="1">
              <a:lnSpc>
                <a:spcPct val="90000"/>
              </a:lnSpc>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次优查找树的构造方法</a:t>
            </a:r>
            <a:r>
              <a:rPr lang="en-US" altLang="zh-CN" sz="2400" b="1" dirty="0" smtClean="0">
                <a:solidFill>
                  <a:srgbClr val="CC66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a:p>
            <a:pPr lvl="1" eaLnBrk="1" hangingPunct="1">
              <a:lnSpc>
                <a:spcPct val="90000"/>
              </a:lnSpc>
            </a:pPr>
            <a:r>
              <a:rPr lang="en-US" altLang="zh-CN" sz="2400" dirty="0" smtClean="0">
                <a:ea typeface="华文楷体" panose="02010600040101010101" pitchFamily="2" charset="-122"/>
              </a:rPr>
              <a:t>PH</a:t>
            </a:r>
            <a:r>
              <a:rPr lang="zh-CN" altLang="en-US" sz="2400" dirty="0" smtClean="0">
                <a:ea typeface="华文楷体" panose="02010600040101010101" pitchFamily="2" charset="-122"/>
              </a:rPr>
              <a:t>值近似为最小</a:t>
            </a:r>
            <a:endParaRPr lang="zh-CN" altLang="en-US" sz="2400" dirty="0" smtClean="0">
              <a:ea typeface="华文楷体" panose="02010600040101010101" pitchFamily="2" charset="-122"/>
            </a:endParaRPr>
          </a:p>
          <a:p>
            <a:pPr lvl="1" eaLnBrk="1" hangingPunct="1">
              <a:lnSpc>
                <a:spcPct val="90000"/>
              </a:lnSpc>
            </a:pPr>
            <a:r>
              <a:rPr lang="zh-CN" altLang="en-US" sz="2400" dirty="0" smtClean="0">
                <a:ea typeface="华文楷体" panose="02010600040101010101" pitchFamily="2" charset="-122"/>
              </a:rPr>
              <a:t>比静态最优查找树易于构造，时间开销少</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已知按关键字有</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升</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序的记录序列：</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楷体_GB2312" pitchFamily="49" charset="-122"/>
              </a:rPr>
              <a:t>( </a:t>
            </a:r>
            <a:r>
              <a:rPr lang="en-US" altLang="zh-CN" sz="2400" dirty="0" err="1" smtClean="0">
                <a:ea typeface="楷体_GB2312" pitchFamily="49" charset="-122"/>
              </a:rPr>
              <a:t>r</a:t>
            </a:r>
            <a:r>
              <a:rPr lang="en-US" altLang="zh-CN" sz="2400" baseline="-25000" dirty="0" err="1" smtClean="0">
                <a:ea typeface="楷体_GB2312" pitchFamily="49" charset="-122"/>
              </a:rPr>
              <a:t>l</a:t>
            </a:r>
            <a:r>
              <a:rPr lang="en-US" altLang="zh-CN" sz="2400" dirty="0" smtClean="0">
                <a:ea typeface="楷体_GB2312" pitchFamily="49" charset="-122"/>
              </a:rPr>
              <a:t>, r</a:t>
            </a:r>
            <a:r>
              <a:rPr lang="en-US" altLang="zh-CN" sz="2400" baseline="-25000" dirty="0" smtClean="0">
                <a:ea typeface="楷体_GB2312" pitchFamily="49" charset="-122"/>
              </a:rPr>
              <a:t>l+1</a:t>
            </a:r>
            <a:r>
              <a:rPr lang="en-US" altLang="zh-CN" sz="2400" dirty="0" smtClean="0">
                <a:ea typeface="楷体_GB2312" pitchFamily="49" charset="-122"/>
              </a:rPr>
              <a:t>, ..., </a:t>
            </a:r>
            <a:r>
              <a:rPr lang="en-US" altLang="zh-CN" sz="2400" dirty="0" smtClean="0">
                <a:ea typeface="华文楷体" panose="02010600040101010101" pitchFamily="2" charset="-122"/>
              </a:rPr>
              <a:t>r</a:t>
            </a:r>
            <a:r>
              <a:rPr lang="en-US" altLang="zh-CN" sz="2400" baseline="-25000" dirty="0" smtClean="0">
                <a:ea typeface="华文楷体" panose="02010600040101010101" pitchFamily="2" charset="-122"/>
              </a:rPr>
              <a:t>i-1</a:t>
            </a:r>
            <a:r>
              <a:rPr lang="en-US" altLang="zh-CN" sz="2400" dirty="0" smtClean="0">
                <a:ea typeface="华文楷体" panose="02010600040101010101" pitchFamily="2" charset="-122"/>
              </a:rPr>
              <a:t>, </a:t>
            </a:r>
            <a:r>
              <a:rPr lang="en-US" altLang="zh-CN" sz="2400" b="1" dirty="0" err="1" smtClean="0">
                <a:solidFill>
                  <a:srgbClr val="FF3300"/>
                </a:solidFill>
                <a:ea typeface="华文楷体" panose="02010600040101010101" pitchFamily="2" charset="-122"/>
              </a:rPr>
              <a:t>r</a:t>
            </a:r>
            <a:r>
              <a:rPr lang="en-US" altLang="zh-CN" sz="2400" b="1" baseline="-25000" dirty="0" err="1" smtClean="0">
                <a:solidFill>
                  <a:srgbClr val="FF3300"/>
                </a:solidFill>
                <a:ea typeface="华文楷体" panose="02010600040101010101" pitchFamily="2" charset="-122"/>
              </a:rPr>
              <a:t>i</a:t>
            </a:r>
            <a:r>
              <a:rPr lang="en-US" altLang="zh-CN" sz="2400" dirty="0" smtClean="0">
                <a:ea typeface="华文楷体" panose="02010600040101010101" pitchFamily="2" charset="-122"/>
              </a:rPr>
              <a:t>, r</a:t>
            </a:r>
            <a:r>
              <a:rPr lang="en-US" altLang="zh-CN" sz="2400" baseline="-25000" dirty="0" smtClean="0">
                <a:ea typeface="华文楷体" panose="02010600040101010101" pitchFamily="2" charset="-122"/>
              </a:rPr>
              <a:t>i+1</a:t>
            </a:r>
            <a:r>
              <a:rPr lang="en-US" altLang="zh-CN" sz="2400" dirty="0" smtClean="0">
                <a:ea typeface="华文楷体" panose="02010600040101010101" pitchFamily="2" charset="-122"/>
              </a:rPr>
              <a:t>, ..., r</a:t>
            </a:r>
            <a:r>
              <a:rPr lang="en-US" altLang="zh-CN" sz="2400" baseline="-25000" dirty="0" smtClean="0">
                <a:ea typeface="华文楷体" panose="02010600040101010101" pitchFamily="2" charset="-122"/>
              </a:rPr>
              <a:t>h-1</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r</a:t>
            </a:r>
            <a:r>
              <a:rPr lang="en-US" altLang="zh-CN" sz="2400" baseline="-25000" dirty="0" err="1" smtClean="0">
                <a:ea typeface="华文楷体" panose="02010600040101010101" pitchFamily="2" charset="-122"/>
              </a:rPr>
              <a:t>h</a:t>
            </a: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选取记录</a:t>
            </a:r>
            <a:r>
              <a:rPr lang="en-US" altLang="zh-CN" sz="2400" dirty="0" err="1" smtClean="0">
                <a:ea typeface="华文楷体" panose="02010600040101010101" pitchFamily="2" charset="-122"/>
              </a:rPr>
              <a:t>r</a:t>
            </a:r>
            <a:r>
              <a:rPr lang="en-US" altLang="zh-CN" sz="2400" baseline="-25000" dirty="0" err="1" smtClean="0">
                <a:ea typeface="华文楷体" panose="02010600040101010101" pitchFamily="2" charset="-122"/>
              </a:rPr>
              <a:t>i</a:t>
            </a:r>
            <a:r>
              <a:rPr lang="zh-CN" altLang="en-US" sz="2400" dirty="0" smtClean="0">
                <a:ea typeface="华文楷体" panose="02010600040101010101" pitchFamily="2" charset="-122"/>
              </a:rPr>
              <a:t>作为根结点：</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计算所有</a:t>
            </a:r>
            <a:r>
              <a:rPr lang="zh-CN" altLang="en-US"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sym typeface="Symbol" panose="05050102010706020507" pitchFamily="18" charset="2"/>
              </a:rPr>
              <a:t>p</a:t>
            </a:r>
            <a:r>
              <a:rPr lang="en-US" altLang="zh-CN" sz="2400" baseline="-25000" dirty="0" smtClean="0">
                <a:ea typeface="华文楷体" panose="02010600040101010101" pitchFamily="2" charset="-122"/>
                <a:sym typeface="Symbol" panose="05050102010706020507" pitchFamily="18" charset="2"/>
              </a:rPr>
              <a:t>i</a:t>
            </a:r>
            <a:r>
              <a:rPr lang="en-US" altLang="zh-CN" sz="2400" dirty="0" smtClean="0">
                <a:ea typeface="华文楷体" panose="02010600040101010101" pitchFamily="2" charset="-122"/>
                <a:sym typeface="Symbol" panose="05050102010706020507" pitchFamily="18" charset="2"/>
              </a:rPr>
              <a:t> (</a:t>
            </a:r>
            <a:r>
              <a:rPr lang="en-US" altLang="zh-CN" sz="2400" dirty="0" err="1" smtClean="0">
                <a:ea typeface="华文楷体" panose="02010600040101010101" pitchFamily="2" charset="-122"/>
                <a:sym typeface="Symbol" panose="05050102010706020507" pitchFamily="18" charset="2"/>
              </a:rPr>
              <a:t>lih</a:t>
            </a:r>
            <a:r>
              <a:rPr lang="en-US" altLang="zh-CN" sz="2400" dirty="0" smtClean="0">
                <a:ea typeface="华文楷体" panose="02010600040101010101" pitchFamily="2" charset="-122"/>
                <a:sym typeface="Symbol" panose="05050102010706020507" pitchFamily="18" charset="2"/>
              </a:rPr>
              <a:t>)</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找出最小</a:t>
            </a:r>
            <a:r>
              <a:rPr lang="zh-CN" altLang="en-US"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sym typeface="Symbol" panose="05050102010706020507" pitchFamily="18" charset="2"/>
              </a:rPr>
              <a:t>p</a:t>
            </a:r>
            <a:r>
              <a:rPr lang="en-US" altLang="zh-CN" sz="2400" baseline="-25000" dirty="0" smtClean="0">
                <a:ea typeface="华文楷体" panose="02010600040101010101" pitchFamily="2" charset="-122"/>
                <a:sym typeface="Symbol" panose="05050102010706020507" pitchFamily="18" charset="2"/>
              </a:rPr>
              <a:t>i</a:t>
            </a:r>
            <a:r>
              <a:rPr lang="zh-CN" altLang="en-US" sz="2400" dirty="0" smtClean="0">
                <a:ea typeface="华文楷体" panose="02010600040101010101" pitchFamily="2" charset="-122"/>
              </a:rPr>
              <a:t>的对应的</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若相邻关键字的权值大，则确定为权值大的关</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键字对应的</a:t>
            </a:r>
            <a:r>
              <a:rPr lang="en-US" altLang="zh-CN" sz="2400" dirty="0" err="1" smtClean="0">
                <a:ea typeface="华文楷体" panose="02010600040101010101" pitchFamily="2" charset="-122"/>
              </a:rPr>
              <a:t>i</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en-US" altLang="zh-CN" sz="2400" b="1" dirty="0" smtClean="0">
              <a:solidFill>
                <a:srgbClr val="CC6600"/>
              </a:solidFill>
              <a:ea typeface="华文楷体" panose="02010600040101010101" pitchFamily="2" charset="-122"/>
            </a:endParaRPr>
          </a:p>
        </p:txBody>
      </p:sp>
      <p:graphicFrame>
        <p:nvGraphicFramePr>
          <p:cNvPr id="14342" name="Object 4"/>
          <p:cNvGraphicFramePr>
            <a:graphicFrameLocks noGrp="1" noChangeAspect="1"/>
          </p:cNvGraphicFramePr>
          <p:nvPr>
            <p:ph sz="half" idx="2"/>
          </p:nvPr>
        </p:nvGraphicFramePr>
        <p:xfrm>
          <a:off x="3595688" y="3789363"/>
          <a:ext cx="2271712" cy="881062"/>
        </p:xfrm>
        <a:graphic>
          <a:graphicData uri="http://schemas.openxmlformats.org/presentationml/2006/ole">
            <mc:AlternateContent xmlns:mc="http://schemas.openxmlformats.org/markup-compatibility/2006">
              <mc:Choice xmlns:v="urn:schemas-microsoft-com:vml" Requires="v">
                <p:oleObj spid="_x0000_s14454" name="公式" r:id="rId1" imgW="1244600" imgH="482600" progId="Equation.3">
                  <p:embed/>
                </p:oleObj>
              </mc:Choice>
              <mc:Fallback>
                <p:oleObj name="公式" r:id="rId1" imgW="1244600" imgH="4826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5688" y="3789363"/>
                        <a:ext cx="2271712" cy="881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页脚占位符 5"/>
          <p:cNvSpPr>
            <a:spLocks noGrp="1"/>
          </p:cNvSpPr>
          <p:nvPr>
            <p:ph type="ftr" sz="quarter" idx="10"/>
          </p:nvPr>
        </p:nvSpPr>
        <p:spPr/>
        <p:txBody>
          <a:bodyPr/>
          <a:lstStyle/>
          <a:p>
            <a:pPr>
              <a:defRPr/>
            </a:pPr>
            <a:r>
              <a:rPr lang="en-US" altLang="zh-CN"/>
              <a:t>BUPT SCST</a:t>
            </a:r>
            <a:endParaRPr lang="en-US" altLang="zh-CN"/>
          </a:p>
        </p:txBody>
      </p:sp>
      <p:sp>
        <p:nvSpPr>
          <p:cNvPr id="8" name="日期占位符 7"/>
          <p:cNvSpPr>
            <a:spLocks noGrp="1"/>
          </p:cNvSpPr>
          <p:nvPr>
            <p:ph type="dt" sz="quarter" idx="12"/>
          </p:nvPr>
        </p:nvSpPr>
        <p:spPr/>
        <p:txBody>
          <a:bodyPr/>
          <a:lstStyle/>
          <a:p>
            <a:pPr>
              <a:defRPr/>
            </a:pPr>
            <a:r>
              <a:rPr lang="en-US" altLang="zh-CN"/>
              <a:t>BUPT</a:t>
            </a:r>
            <a:endParaRPr lang="en-US" altLang="zh-CN"/>
          </a:p>
        </p:txBody>
      </p:sp>
      <p:sp>
        <p:nvSpPr>
          <p:cNvPr id="15364" name="Rectangle 8"/>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5365" name="Rectangle 3"/>
          <p:cNvSpPr>
            <a:spLocks noGrp="1" noChangeArrowheads="1"/>
          </p:cNvSpPr>
          <p:nvPr>
            <p:ph type="body" sz="half" idx="1"/>
          </p:nvPr>
        </p:nvSpPr>
        <p:spPr>
          <a:xfrm>
            <a:off x="457200" y="1152525"/>
            <a:ext cx="7786688" cy="5248275"/>
          </a:xfrm>
        </p:spPr>
        <p:txBody>
          <a:bodyPr/>
          <a:lstStyle/>
          <a:p>
            <a:pPr eaLnBrk="1" hangingPunct="1">
              <a:buFont typeface="Wingdings" panose="05000000000000000000" pitchFamily="2" charset="2"/>
              <a:buNone/>
            </a:pPr>
            <a:r>
              <a:rPr lang="zh-CN" altLang="en-US" sz="2400" dirty="0" smtClean="0">
                <a:ea typeface="华文楷体" panose="02010600040101010101" pitchFamily="2" charset="-122"/>
              </a:rPr>
              <a:t>简化计算</a:t>
            </a:r>
            <a:r>
              <a:rPr lang="zh-CN" altLang="en-US"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sym typeface="Symbol" panose="05050102010706020507" pitchFamily="18" charset="2"/>
              </a:rPr>
              <a:t>p</a:t>
            </a:r>
            <a:r>
              <a:rPr lang="en-US" altLang="zh-CN" sz="2400" baseline="-25000" dirty="0" smtClean="0">
                <a:ea typeface="华文楷体" panose="02010600040101010101" pitchFamily="2" charset="-122"/>
                <a:sym typeface="Symbol" panose="05050102010706020507" pitchFamily="18" charset="2"/>
              </a:rPr>
              <a:t>i</a:t>
            </a:r>
            <a:r>
              <a:rPr lang="zh-CN" altLang="en-US" sz="2400" dirty="0" smtClean="0">
                <a:ea typeface="华文楷体" panose="02010600040101010101" pitchFamily="2" charset="-122"/>
              </a:rPr>
              <a:t>的方法：</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设定累计权值和 </a:t>
            </a:r>
            <a:r>
              <a:rPr lang="en-US" altLang="zh-CN" sz="2400" dirty="0" err="1" smtClean="0">
                <a:ea typeface="华文楷体" panose="02010600040101010101" pitchFamily="2" charset="-122"/>
              </a:rPr>
              <a:t>sw</a:t>
            </a:r>
            <a:r>
              <a:rPr lang="en-US" altLang="zh-CN" sz="2400" baseline="-25000" dirty="0" err="1" smtClean="0">
                <a:ea typeface="华文楷体" panose="02010600040101010101" pitchFamily="2" charset="-122"/>
              </a:rPr>
              <a:t>i</a:t>
            </a: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则</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zh-CN" altLang="en-US"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sym typeface="Symbol" panose="05050102010706020507" pitchFamily="18" charset="2"/>
              </a:rPr>
              <a:t>p</a:t>
            </a:r>
            <a:r>
              <a:rPr lang="en-US" altLang="zh-CN" sz="2400" baseline="-25000" dirty="0" smtClean="0">
                <a:ea typeface="华文楷体" panose="02010600040101010101" pitchFamily="2" charset="-122"/>
                <a:sym typeface="Symbol" panose="05050102010706020507" pitchFamily="18" charset="2"/>
              </a:rPr>
              <a:t>i </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sw</a:t>
            </a:r>
            <a:r>
              <a:rPr lang="en-US" altLang="zh-CN" sz="2400" baseline="-25000" dirty="0" err="1" smtClean="0">
                <a:ea typeface="华文楷体" panose="02010600040101010101" pitchFamily="2" charset="-122"/>
              </a:rPr>
              <a:t>h</a:t>
            </a:r>
            <a:r>
              <a:rPr lang="en-US" altLang="zh-CN" sz="2400" dirty="0" err="1" smtClean="0">
                <a:ea typeface="华文楷体" panose="02010600040101010101" pitchFamily="2" charset="-122"/>
              </a:rPr>
              <a:t>-sw</a:t>
            </a:r>
            <a:r>
              <a:rPr lang="en-US" altLang="zh-CN" sz="2400" baseline="-25000" dirty="0" err="1" smtClean="0">
                <a:ea typeface="华文楷体" panose="02010600040101010101" pitchFamily="2" charset="-122"/>
              </a:rPr>
              <a:t>i</a:t>
            </a:r>
            <a:r>
              <a:rPr lang="en-US" altLang="zh-CN" sz="2400" dirty="0" smtClean="0">
                <a:ea typeface="华文楷体" panose="02010600040101010101" pitchFamily="2" charset="-122"/>
              </a:rPr>
              <a:t>)-(sw</a:t>
            </a:r>
            <a:r>
              <a:rPr lang="en-US" altLang="zh-CN" sz="2400" baseline="-25000" dirty="0" smtClean="0">
                <a:ea typeface="华文楷体" panose="02010600040101010101" pitchFamily="2" charset="-122"/>
              </a:rPr>
              <a:t>i-1</a:t>
            </a:r>
            <a:r>
              <a:rPr lang="en-US" altLang="zh-CN" sz="2400" dirty="0" smtClean="0">
                <a:ea typeface="华文楷体" panose="02010600040101010101" pitchFamily="2" charset="-122"/>
              </a:rPr>
              <a:t>-sw</a:t>
            </a:r>
            <a:r>
              <a:rPr lang="en-US" altLang="zh-CN" sz="2400" baseline="-25000" dirty="0" smtClean="0">
                <a:ea typeface="华文楷体" panose="02010600040101010101" pitchFamily="2" charset="-122"/>
              </a:rPr>
              <a:t>l-1</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sw</a:t>
            </a:r>
            <a:r>
              <a:rPr lang="en-US" altLang="zh-CN" sz="2400" baseline="-25000" dirty="0" err="1" smtClean="0">
                <a:ea typeface="华文楷体" panose="02010600040101010101" pitchFamily="2" charset="-122"/>
              </a:rPr>
              <a:t>h</a:t>
            </a:r>
            <a:r>
              <a:rPr lang="en-US" altLang="zh-CN" sz="2400" dirty="0" smtClean="0">
                <a:ea typeface="华文楷体" panose="02010600040101010101" pitchFamily="2" charset="-122"/>
              </a:rPr>
              <a:t> + sw</a:t>
            </a:r>
            <a:r>
              <a:rPr lang="en-US" altLang="zh-CN" sz="2400" baseline="-25000" dirty="0" smtClean="0">
                <a:ea typeface="华文楷体" panose="02010600040101010101" pitchFamily="2" charset="-122"/>
              </a:rPr>
              <a:t>l-1</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sw</a:t>
            </a:r>
            <a:r>
              <a:rPr lang="en-US" altLang="zh-CN" sz="2400" baseline="-25000" dirty="0" err="1" smtClean="0">
                <a:ea typeface="华文楷体" panose="02010600040101010101" pitchFamily="2" charset="-122"/>
              </a:rPr>
              <a:t>i</a:t>
            </a:r>
            <a:r>
              <a:rPr lang="en-US" altLang="zh-CN" sz="2400" dirty="0" smtClean="0">
                <a:ea typeface="华文楷体" panose="02010600040101010101" pitchFamily="2" charset="-122"/>
              </a:rPr>
              <a:t> - sw</a:t>
            </a:r>
            <a:r>
              <a:rPr lang="en-US" altLang="zh-CN" sz="2400" baseline="-25000" dirty="0" smtClean="0">
                <a:ea typeface="华文楷体" panose="02010600040101010101" pitchFamily="2" charset="-122"/>
              </a:rPr>
              <a:t>i-1</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zh-CN" sz="2400" dirty="0" smtClean="0">
                <a:ea typeface="华文楷体" panose="02010600040101010101" pitchFamily="2" charset="-122"/>
              </a:rPr>
              <a:t>设 </a:t>
            </a:r>
            <a:r>
              <a:rPr lang="en-US" altLang="zh-CN" sz="2400" dirty="0" smtClean="0">
                <a:ea typeface="华文楷体" panose="02010600040101010101" pitchFamily="2" charset="-122"/>
              </a:rPr>
              <a:t>sw</a:t>
            </a:r>
            <a:r>
              <a:rPr lang="en-US" altLang="zh-CN" sz="2400" baseline="-25000" dirty="0" smtClean="0">
                <a:ea typeface="华文楷体" panose="02010600040101010101" pitchFamily="2" charset="-122"/>
              </a:rPr>
              <a:t>-1</a:t>
            </a:r>
            <a:r>
              <a:rPr lang="en-US" altLang="zh-CN" sz="2400" dirty="0" smtClean="0">
                <a:ea typeface="华文楷体" panose="02010600040101010101" pitchFamily="2" charset="-122"/>
              </a:rPr>
              <a:t>=0</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2)</a:t>
            </a:r>
            <a:r>
              <a:rPr lang="en-US" altLang="zh-CN" sz="2400" dirty="0" err="1" smtClean="0">
                <a:ea typeface="华文楷体" panose="02010600040101010101" pitchFamily="2" charset="-122"/>
              </a:rPr>
              <a:t>r</a:t>
            </a:r>
            <a:r>
              <a:rPr lang="en-US" altLang="zh-CN" sz="2400" baseline="-25000" dirty="0" err="1" smtClean="0">
                <a:ea typeface="华文楷体" panose="02010600040101010101" pitchFamily="2" charset="-122"/>
              </a:rPr>
              <a:t>i</a:t>
            </a:r>
            <a:r>
              <a:rPr lang="zh-CN" altLang="en-US" sz="2400" dirty="0" smtClean="0">
                <a:ea typeface="华文楷体" panose="02010600040101010101" pitchFamily="2" charset="-122"/>
              </a:rPr>
              <a:t>的左子树： </a:t>
            </a:r>
            <a:r>
              <a:rPr lang="en-US" altLang="zh-CN" sz="2400" dirty="0" smtClean="0">
                <a:ea typeface="楷体_GB2312" pitchFamily="49" charset="-122"/>
              </a:rPr>
              <a:t>( </a:t>
            </a:r>
            <a:r>
              <a:rPr lang="en-US" altLang="zh-CN" sz="2400" dirty="0" err="1" smtClean="0">
                <a:ea typeface="楷体_GB2312" pitchFamily="49" charset="-122"/>
              </a:rPr>
              <a:t>r</a:t>
            </a:r>
            <a:r>
              <a:rPr lang="en-US" altLang="zh-CN" sz="2400" baseline="-25000" dirty="0" err="1" smtClean="0">
                <a:ea typeface="楷体_GB2312" pitchFamily="49" charset="-122"/>
              </a:rPr>
              <a:t>l</a:t>
            </a:r>
            <a:r>
              <a:rPr lang="en-US" altLang="zh-CN" sz="2400" dirty="0" smtClean="0">
                <a:ea typeface="楷体_GB2312" pitchFamily="49" charset="-122"/>
              </a:rPr>
              <a:t>, r</a:t>
            </a:r>
            <a:r>
              <a:rPr lang="en-US" altLang="zh-CN" sz="2400" baseline="-25000" dirty="0" smtClean="0">
                <a:ea typeface="楷体_GB2312" pitchFamily="49" charset="-122"/>
              </a:rPr>
              <a:t>l+1</a:t>
            </a:r>
            <a:r>
              <a:rPr lang="en-US" altLang="zh-CN" sz="2400" dirty="0" smtClean="0">
                <a:ea typeface="楷体_GB2312" pitchFamily="49" charset="-122"/>
              </a:rPr>
              <a:t>, ..., </a:t>
            </a:r>
            <a:r>
              <a:rPr lang="en-US" altLang="zh-CN" sz="2400" dirty="0" smtClean="0">
                <a:ea typeface="华文楷体" panose="02010600040101010101" pitchFamily="2" charset="-122"/>
              </a:rPr>
              <a:t>r</a:t>
            </a:r>
            <a:r>
              <a:rPr lang="en-US" altLang="zh-CN" sz="2400" baseline="-25000" dirty="0" smtClean="0">
                <a:ea typeface="华文楷体" panose="02010600040101010101" pitchFamily="2" charset="-122"/>
              </a:rPr>
              <a:t>i-1</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构造的次优查找树</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3)</a:t>
            </a:r>
            <a:r>
              <a:rPr lang="en-US" altLang="zh-CN" sz="2400" dirty="0" err="1" smtClean="0">
                <a:ea typeface="华文楷体" panose="02010600040101010101" pitchFamily="2" charset="-122"/>
              </a:rPr>
              <a:t>r</a:t>
            </a:r>
            <a:r>
              <a:rPr lang="en-US" altLang="zh-CN" sz="2400" baseline="-25000" dirty="0" err="1" smtClean="0">
                <a:ea typeface="华文楷体" panose="02010600040101010101" pitchFamily="2" charset="-122"/>
              </a:rPr>
              <a:t>i</a:t>
            </a:r>
            <a:r>
              <a:rPr lang="zh-CN" altLang="en-US" sz="2400" dirty="0" smtClean="0">
                <a:ea typeface="华文楷体" panose="02010600040101010101" pitchFamily="2" charset="-122"/>
              </a:rPr>
              <a:t>的右子树： </a:t>
            </a:r>
            <a:r>
              <a:rPr lang="en-US" altLang="zh-CN" sz="2400" dirty="0" smtClean="0">
                <a:ea typeface="楷体_GB2312" pitchFamily="49" charset="-122"/>
              </a:rPr>
              <a:t>(</a:t>
            </a:r>
            <a:r>
              <a:rPr lang="en-US" altLang="zh-CN" sz="2400" dirty="0" smtClean="0">
                <a:ea typeface="华文楷体" panose="02010600040101010101" pitchFamily="2" charset="-122"/>
              </a:rPr>
              <a:t> r</a:t>
            </a:r>
            <a:r>
              <a:rPr lang="en-US" altLang="zh-CN" sz="2400" baseline="-25000" dirty="0" smtClean="0">
                <a:ea typeface="华文楷体" panose="02010600040101010101" pitchFamily="2" charset="-122"/>
              </a:rPr>
              <a:t>i+1</a:t>
            </a:r>
            <a:r>
              <a:rPr lang="en-US" altLang="zh-CN" sz="2400" dirty="0" smtClean="0">
                <a:ea typeface="华文楷体" panose="02010600040101010101" pitchFamily="2" charset="-122"/>
              </a:rPr>
              <a:t>, ..., r</a:t>
            </a:r>
            <a:r>
              <a:rPr lang="en-US" altLang="zh-CN" sz="2400" baseline="-25000" dirty="0" smtClean="0">
                <a:ea typeface="华文楷体" panose="02010600040101010101" pitchFamily="2" charset="-122"/>
              </a:rPr>
              <a:t>h-1</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r</a:t>
            </a:r>
            <a:r>
              <a:rPr lang="en-US" altLang="zh-CN" sz="2400" baseline="-25000" dirty="0" err="1" smtClean="0">
                <a:ea typeface="华文楷体" panose="02010600040101010101" pitchFamily="2" charset="-122"/>
              </a:rPr>
              <a:t>h</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构造的次优查找树</a:t>
            </a:r>
            <a:endParaRPr lang="zh-CN" altLang="en-US" sz="2400" dirty="0" smtClean="0">
              <a:ea typeface="华文楷体" panose="02010600040101010101" pitchFamily="2" charset="-122"/>
            </a:endParaRPr>
          </a:p>
        </p:txBody>
      </p:sp>
      <p:graphicFrame>
        <p:nvGraphicFramePr>
          <p:cNvPr id="15366" name="Object 4"/>
          <p:cNvGraphicFramePr>
            <a:graphicFrameLocks noGrp="1" noChangeAspect="1"/>
          </p:cNvGraphicFramePr>
          <p:nvPr>
            <p:ph sz="quarter" idx="2"/>
          </p:nvPr>
        </p:nvGraphicFramePr>
        <p:xfrm>
          <a:off x="4276725" y="1412875"/>
          <a:ext cx="655638" cy="792163"/>
        </p:xfrm>
        <a:graphic>
          <a:graphicData uri="http://schemas.openxmlformats.org/presentationml/2006/ole">
            <mc:AlternateContent xmlns:mc="http://schemas.openxmlformats.org/markup-compatibility/2006">
              <mc:Choice xmlns:v="urn:schemas-microsoft-com:vml" Requires="v">
                <p:oleObj spid="_x0000_s15702" name="Equation" r:id="rId1" imgW="368300" imgH="444500" progId="Equation.DSMT4">
                  <p:embed/>
                </p:oleObj>
              </mc:Choice>
              <mc:Fallback>
                <p:oleObj name="Equation" r:id="rId1" imgW="368300" imgH="4445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6725" y="1412875"/>
                        <a:ext cx="655638" cy="792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7" name="Object 7"/>
          <p:cNvGraphicFramePr>
            <a:graphicFrameLocks noGrp="1" noChangeAspect="1"/>
          </p:cNvGraphicFramePr>
          <p:nvPr>
            <p:ph sz="quarter" idx="3"/>
          </p:nvPr>
        </p:nvGraphicFramePr>
        <p:xfrm>
          <a:off x="1763713" y="2205038"/>
          <a:ext cx="2520950" cy="855662"/>
        </p:xfrm>
        <a:graphic>
          <a:graphicData uri="http://schemas.openxmlformats.org/presentationml/2006/ole">
            <mc:AlternateContent xmlns:mc="http://schemas.openxmlformats.org/markup-compatibility/2006">
              <mc:Choice xmlns:v="urn:schemas-microsoft-com:vml" Requires="v">
                <p:oleObj spid="_x0000_s15703" name="Equation" r:id="rId3" imgW="1307465" imgH="444500" progId="Equation.DSMT4">
                  <p:embed/>
                </p:oleObj>
              </mc:Choice>
              <mc:Fallback>
                <p:oleObj name="Equation" r:id="rId3" imgW="1307465" imgH="4445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2205038"/>
                        <a:ext cx="2520950" cy="855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8" name="Object 10"/>
          <p:cNvGraphicFramePr>
            <a:graphicFrameLocks noChangeAspect="1"/>
          </p:cNvGraphicFramePr>
          <p:nvPr/>
        </p:nvGraphicFramePr>
        <p:xfrm>
          <a:off x="4502150" y="2205038"/>
          <a:ext cx="2590800" cy="838200"/>
        </p:xfrm>
        <a:graphic>
          <a:graphicData uri="http://schemas.openxmlformats.org/presentationml/2006/ole">
            <mc:AlternateContent xmlns:mc="http://schemas.openxmlformats.org/markup-compatibility/2006">
              <mc:Choice xmlns:v="urn:schemas-microsoft-com:vml" Requires="v">
                <p:oleObj spid="_x0000_s15704" name="公式" r:id="rId5" imgW="1091565" imgH="444500" progId="Equation.3">
                  <p:embed/>
                </p:oleObj>
              </mc:Choice>
              <mc:Fallback>
                <p:oleObj name="公式" r:id="rId5" imgW="1091565" imgH="4445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02150" y="2205038"/>
                        <a:ext cx="25908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1638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6389"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zh-CN" altLang="en-US" sz="1800" dirty="0" smtClean="0">
                <a:ea typeface="华文楷体" panose="02010600040101010101" pitchFamily="2" charset="-122"/>
              </a:rPr>
              <a:t>设有一组数据</a:t>
            </a:r>
            <a:r>
              <a:rPr lang="en-US" altLang="zh-CN" sz="1800" dirty="0" err="1" smtClean="0">
                <a:ea typeface="华文楷体" panose="02010600040101010101" pitchFamily="2" charset="-122"/>
              </a:rPr>
              <a:t>black,blue,green,purple,red,white,yellow</a:t>
            </a:r>
            <a:r>
              <a:rPr lang="zh-CN" altLang="en-US" sz="1800" dirty="0" smtClean="0">
                <a:ea typeface="华文楷体" panose="02010600040101010101" pitchFamily="2" charset="-122"/>
              </a:rPr>
              <a:t>，它们的查找概率分别为</a:t>
            </a:r>
            <a:r>
              <a:rPr lang="en-US" altLang="zh-CN" sz="1800" dirty="0" smtClean="0">
                <a:ea typeface="华文楷体" panose="02010600040101010101" pitchFamily="2" charset="-122"/>
              </a:rPr>
              <a:t>0.10,0.08,0.12,0.05,0.20,0.25,0.20</a:t>
            </a:r>
            <a:r>
              <a:rPr lang="zh-CN" altLang="en-US" sz="1800" dirty="0" smtClean="0">
                <a:ea typeface="华文楷体" panose="02010600040101010101" pitchFamily="2" charset="-122"/>
              </a:rPr>
              <a:t>。 试以它们的查找概率为权值，构造一棵次优查找树，并计算其查找成功的平均查找长度。</a:t>
            </a:r>
            <a:endParaRPr lang="zh-CN" altLang="en-US" sz="18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关键字  </a:t>
            </a:r>
            <a:r>
              <a:rPr lang="en-US" altLang="zh-CN" sz="2400" dirty="0" smtClean="0">
                <a:ea typeface="华文楷体" panose="02010600040101010101" pitchFamily="2" charset="-122"/>
              </a:rPr>
              <a:t>black  blue  green  purple  red   white  yellow</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权值   </a:t>
            </a:r>
            <a:r>
              <a:rPr lang="en-US" altLang="zh-CN" sz="2400" dirty="0" smtClean="0">
                <a:ea typeface="华文楷体" panose="02010600040101010101" pitchFamily="2" charset="-122"/>
              </a:rPr>
              <a:t>0.10   0.08  0.12    0.05   0.20   0.25    0.20 </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j           1        2         3        4        5         6       7</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SWj</a:t>
            </a:r>
            <a:r>
              <a:rPr lang="en-US" altLang="zh-CN" sz="2400" dirty="0" smtClean="0">
                <a:ea typeface="华文楷体" panose="02010600040101010101" pitchFamily="2" charset="-122"/>
              </a:rPr>
              <a:t>    0.1    0.18  0.30   0.35    0.55   0.80    1.00</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Pj</a:t>
            </a:r>
            <a:r>
              <a:rPr lang="en-US" altLang="zh-CN" sz="2400" dirty="0" smtClean="0">
                <a:ea typeface="华文楷体" panose="02010600040101010101" pitchFamily="2" charset="-122"/>
              </a:rPr>
              <a:t>   0.9    0.72  0.52   0.35     0.10   0.35    0.80</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（根）                                         </a:t>
            </a:r>
            <a:r>
              <a:rPr lang="zh-CN" altLang="en-US" sz="2400" b="1" dirty="0" smtClean="0">
                <a:solidFill>
                  <a:schemeClr val="accent2"/>
                </a:solidFill>
                <a:ea typeface="华文楷体" panose="02010600040101010101" pitchFamily="2" charset="-122"/>
              </a:rPr>
              <a:t>↑</a:t>
            </a:r>
            <a:r>
              <a:rPr lang="en-US" altLang="zh-CN" sz="2400" b="1" dirty="0" err="1" smtClean="0">
                <a:solidFill>
                  <a:schemeClr val="accent2"/>
                </a:solidFill>
                <a:ea typeface="华文楷体" panose="02010600040101010101" pitchFamily="2" charset="-122"/>
              </a:rPr>
              <a:t>i</a:t>
            </a:r>
            <a:endParaRPr lang="en-US" altLang="zh-CN" sz="2400" b="1" dirty="0" smtClean="0">
              <a:solidFill>
                <a:schemeClr val="accent2"/>
              </a:solidFill>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Pj</a:t>
            </a:r>
            <a:r>
              <a:rPr lang="en-US" altLang="zh-CN" sz="2400" dirty="0" smtClean="0">
                <a:ea typeface="华文楷体" panose="02010600040101010101" pitchFamily="2" charset="-122"/>
              </a:rPr>
              <a:t>   0.25  0.07  0.13   0.30               0.20    0.25</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a:t>
            </a:r>
            <a:r>
              <a:rPr lang="en-US" altLang="zh-CN" sz="2400" b="1" dirty="0" smtClean="0">
                <a:solidFill>
                  <a:schemeClr val="accent2"/>
                </a:solidFill>
                <a:ea typeface="华文楷体" panose="02010600040101010101" pitchFamily="2" charset="-122"/>
              </a:rPr>
              <a:t>↑</a:t>
            </a:r>
            <a:r>
              <a:rPr lang="en-US" altLang="zh-CN" sz="2400" b="1" dirty="0" err="1" smtClean="0">
                <a:solidFill>
                  <a:schemeClr val="accent2"/>
                </a:solidFill>
                <a:ea typeface="华文楷体" panose="02010600040101010101" pitchFamily="2" charset="-122"/>
              </a:rPr>
              <a:t>i</a:t>
            </a:r>
            <a:r>
              <a:rPr lang="en-US" altLang="zh-CN" sz="2400" dirty="0" smtClean="0">
                <a:ea typeface="华文楷体" panose="02010600040101010101" pitchFamily="2" charset="-122"/>
              </a:rPr>
              <a:t>                                      </a:t>
            </a:r>
            <a:r>
              <a:rPr lang="en-US" altLang="zh-CN" sz="2400" b="1" dirty="0" smtClean="0">
                <a:solidFill>
                  <a:schemeClr val="accent2"/>
                </a:solidFill>
                <a:ea typeface="华文楷体" panose="02010600040101010101" pitchFamily="2" charset="-122"/>
              </a:rPr>
              <a:t>↑</a:t>
            </a:r>
            <a:r>
              <a:rPr lang="en-US" altLang="zh-CN" sz="2400" b="1" dirty="0" err="1" smtClean="0">
                <a:solidFill>
                  <a:schemeClr val="accent2"/>
                </a:solidFill>
                <a:ea typeface="华文楷体" panose="02010600040101010101" pitchFamily="2" charset="-122"/>
              </a:rPr>
              <a:t>i</a:t>
            </a:r>
            <a:endParaRPr lang="en-US" altLang="zh-CN" sz="2400" b="1" dirty="0" smtClean="0">
              <a:solidFill>
                <a:schemeClr val="accent2"/>
              </a:solidFill>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Pj</a:t>
            </a:r>
            <a:r>
              <a:rPr lang="en-US" altLang="zh-CN" sz="2400" dirty="0" smtClean="0">
                <a:ea typeface="华文楷体" panose="02010600040101010101" pitchFamily="2" charset="-122"/>
              </a:rPr>
              <a:t>                0.05   0.12              </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a:t>
            </a:r>
            <a:r>
              <a:rPr lang="en-US" altLang="zh-CN" sz="2400" b="1" dirty="0" smtClean="0">
                <a:solidFill>
                  <a:schemeClr val="accent2"/>
                </a:solidFill>
                <a:ea typeface="华文楷体" panose="02010600040101010101" pitchFamily="2" charset="-122"/>
              </a:rPr>
              <a:t>↑</a:t>
            </a:r>
            <a:r>
              <a:rPr lang="en-US" altLang="zh-CN" sz="2400" b="1" dirty="0" err="1" smtClean="0">
                <a:solidFill>
                  <a:schemeClr val="accent2"/>
                </a:solidFill>
                <a:ea typeface="华文楷体" panose="02010600040101010101" pitchFamily="2" charset="-122"/>
              </a:rPr>
              <a:t>i</a:t>
            </a: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页脚占位符 3"/>
          <p:cNvSpPr>
            <a:spLocks noGrp="1"/>
          </p:cNvSpPr>
          <p:nvPr>
            <p:ph type="ftr" sz="quarter" idx="10"/>
          </p:nvPr>
        </p:nvSpPr>
        <p:spPr/>
        <p:txBody>
          <a:bodyPr/>
          <a:lstStyle/>
          <a:p>
            <a:pPr>
              <a:defRPr/>
            </a:pPr>
            <a:r>
              <a:rPr lang="en-US" altLang="zh-CN"/>
              <a:t>BUPT SCST</a:t>
            </a:r>
            <a:endParaRPr lang="en-US" altLang="zh-CN"/>
          </a:p>
        </p:txBody>
      </p:sp>
      <p:sp>
        <p:nvSpPr>
          <p:cNvPr id="25" name="日期占位符 5"/>
          <p:cNvSpPr>
            <a:spLocks noGrp="1"/>
          </p:cNvSpPr>
          <p:nvPr>
            <p:ph type="dt" sz="quarter" idx="12"/>
          </p:nvPr>
        </p:nvSpPr>
        <p:spPr/>
        <p:txBody>
          <a:bodyPr/>
          <a:lstStyle/>
          <a:p>
            <a:pPr>
              <a:defRPr/>
            </a:pPr>
            <a:r>
              <a:rPr lang="en-US" altLang="zh-CN"/>
              <a:t>BUPT</a:t>
            </a:r>
            <a:endParaRPr lang="en-US" altLang="zh-CN"/>
          </a:p>
        </p:txBody>
      </p:sp>
      <p:sp>
        <p:nvSpPr>
          <p:cNvPr id="17412" name="Rectangle 2"/>
          <p:cNvSpPr>
            <a:spLocks noGrp="1" noChangeArrowheads="1"/>
          </p:cNvSpPr>
          <p:nvPr>
            <p:ph type="title"/>
          </p:nvPr>
        </p:nvSpPr>
        <p:spPr/>
        <p:txBody>
          <a:bodyPr/>
          <a:lstStyle/>
          <a:p>
            <a:pPr algn="l" eaLnBrk="1" hangingPunct="1"/>
            <a:r>
              <a:rPr lang="en-US" altLang="zh-CN" sz="2800" dirty="0" smtClean="0">
                <a:ea typeface="华文楷体" panose="02010600040101010101" pitchFamily="2" charset="-122"/>
              </a:rPr>
              <a:t>8.5 </a:t>
            </a:r>
            <a:r>
              <a:rPr lang="zh-CN" altLang="en-US" sz="2800" dirty="0" smtClean="0">
                <a:ea typeface="华文楷体" panose="02010600040101010101" pitchFamily="2" charset="-122"/>
              </a:rPr>
              <a:t>分块查找</a:t>
            </a:r>
            <a:endParaRPr lang="zh-CN" altLang="en-US" sz="2800" dirty="0" smtClean="0">
              <a:ea typeface="华文楷体" panose="02010600040101010101" pitchFamily="2" charset="-122"/>
            </a:endParaRPr>
          </a:p>
        </p:txBody>
      </p:sp>
      <p:sp>
        <p:nvSpPr>
          <p:cNvPr id="17413"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索引表的构造</a:t>
            </a:r>
            <a:r>
              <a:rPr lang="en-US" altLang="zh-CN" sz="2400" b="1" dirty="0" smtClean="0">
                <a:solidFill>
                  <a:srgbClr val="CC6600"/>
                </a:solidFill>
                <a:ea typeface="华文楷体" panose="02010600040101010101" pitchFamily="2" charset="-122"/>
              </a:rPr>
              <a:t>]</a:t>
            </a:r>
            <a:r>
              <a:rPr lang="en-US" altLang="zh-CN" sz="2400" dirty="0" smtClean="0">
                <a:ea typeface="华文楷体" panose="02010600040101010101" pitchFamily="2" charset="-122"/>
              </a:rPr>
              <a:t>           </a:t>
            </a:r>
            <a:r>
              <a:rPr lang="zh-CN" altLang="en-US" sz="2400" b="1" dirty="0" smtClean="0">
                <a:solidFill>
                  <a:schemeClr val="accent2"/>
                </a:solidFill>
                <a:ea typeface="华文楷体" panose="02010600040101010101" pitchFamily="2" charset="-122"/>
              </a:rPr>
              <a:t>索引表 </a:t>
            </a:r>
            <a:r>
              <a:rPr lang="en-US" altLang="zh-CN" sz="2400" b="1" dirty="0" smtClean="0">
                <a:solidFill>
                  <a:schemeClr val="accent2"/>
                </a:solidFill>
                <a:ea typeface="华文楷体" panose="02010600040101010101" pitchFamily="2" charset="-122"/>
              </a:rPr>
              <a:t>index[0..b-1]</a:t>
            </a:r>
            <a:endParaRPr lang="en-US" altLang="zh-CN" sz="2400" b="1"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最大关键字值       </a:t>
            </a:r>
            <a:r>
              <a:rPr lang="en-US" altLang="zh-CN" sz="2400" dirty="0" smtClean="0">
                <a:ea typeface="华文楷体" panose="02010600040101010101" pitchFamily="2" charset="-122"/>
              </a:rPr>
              <a:t>22   42   86</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起始地址       </a:t>
            </a:r>
            <a:r>
              <a:rPr lang="en-US" altLang="zh-CN" sz="2400" dirty="0" smtClean="0">
                <a:ea typeface="华文楷体" panose="02010600040101010101" pitchFamily="2" charset="-122"/>
              </a:rPr>
              <a:t>0     4     8</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ea typeface="华文楷体" panose="02010600040101010101" pitchFamily="2" charset="-122"/>
              </a:rPr>
              <a:t>    </a:t>
            </a:r>
            <a:r>
              <a:rPr lang="zh-CN" altLang="en-US" sz="2400" b="1" dirty="0" smtClean="0">
                <a:solidFill>
                  <a:schemeClr val="accent2"/>
                </a:solidFill>
                <a:ea typeface="华文楷体" panose="02010600040101010101" pitchFamily="2" charset="-122"/>
              </a:rPr>
              <a:t>主表 </a:t>
            </a:r>
            <a:r>
              <a:rPr lang="en-US" altLang="zh-CN" sz="2400" b="1" dirty="0" smtClean="0">
                <a:solidFill>
                  <a:schemeClr val="accent2"/>
                </a:solidFill>
                <a:ea typeface="华文楷体" panose="02010600040101010101" pitchFamily="2" charset="-122"/>
              </a:rPr>
              <a:t>r [0..n-1]</a:t>
            </a:r>
            <a:r>
              <a:rPr lang="zh-CN" altLang="en-US" sz="2400" b="1" dirty="0" smtClean="0">
                <a:solidFill>
                  <a:schemeClr val="accent2"/>
                </a:solidFill>
                <a:ea typeface="华文楷体" panose="02010600040101010101" pitchFamily="2" charset="-122"/>
              </a:rPr>
              <a:t>（分块有序</a:t>
            </a:r>
            <a:r>
              <a:rPr lang="en-US" altLang="zh-CN" sz="2400" b="1" dirty="0" smtClean="0">
                <a:solidFill>
                  <a:schemeClr val="accent2"/>
                </a:solidFill>
                <a:ea typeface="华文楷体" panose="02010600040101010101" pitchFamily="2" charset="-122"/>
              </a:rPr>
              <a:t>/</a:t>
            </a:r>
            <a:r>
              <a:rPr lang="zh-CN" altLang="en-US" sz="2400" b="1" dirty="0" smtClean="0">
                <a:solidFill>
                  <a:schemeClr val="accent2"/>
                </a:solidFill>
                <a:ea typeface="华文楷体" panose="02010600040101010101" pitchFamily="2" charset="-122"/>
              </a:rPr>
              <a:t>有序）</a:t>
            </a:r>
            <a:endParaRPr lang="zh-CN" altLang="en-US" sz="2400" b="1"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key      12  22  13    8   28  33   38   42   86   76   50   63  </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其它项</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0     1     2    3    4    5     6      7     8     9    10   11</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分块查找步骤</a:t>
            </a:r>
            <a:r>
              <a:rPr lang="en-US" altLang="zh-CN" sz="2400" b="1" dirty="0" smtClean="0">
                <a:solidFill>
                  <a:srgbClr val="CC66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折半或者顺序查找</a:t>
            </a:r>
            <a:r>
              <a:rPr lang="zh-CN" altLang="en-US" sz="2400" dirty="0" smtClean="0">
                <a:solidFill>
                  <a:schemeClr val="accent2"/>
                </a:solidFill>
                <a:ea typeface="华文楷体" panose="02010600040101010101" pitchFamily="2" charset="-122"/>
              </a:rPr>
              <a:t>索引表</a:t>
            </a:r>
            <a:r>
              <a:rPr lang="zh-CN" altLang="en-US" sz="2400" dirty="0" smtClean="0">
                <a:ea typeface="华文楷体" panose="02010600040101010101" pitchFamily="2" charset="-122"/>
              </a:rPr>
              <a:t>，确定所在块</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在已确定的块中顺序查找</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折半查找</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en-US" altLang="zh-CN" sz="2800" dirty="0" smtClean="0">
              <a:ea typeface="华文楷体" panose="02010600040101010101" pitchFamily="2" charset="-122"/>
            </a:endParaRPr>
          </a:p>
        </p:txBody>
      </p:sp>
      <p:sp>
        <p:nvSpPr>
          <p:cNvPr id="17414" name="Rectangle 4"/>
          <p:cNvSpPr>
            <a:spLocks noChangeArrowheads="1"/>
          </p:cNvSpPr>
          <p:nvPr/>
        </p:nvSpPr>
        <p:spPr bwMode="auto">
          <a:xfrm>
            <a:off x="3635375" y="1628775"/>
            <a:ext cx="1752600" cy="9144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7415" name="Line 5"/>
          <p:cNvSpPr>
            <a:spLocks noChangeShapeType="1"/>
          </p:cNvSpPr>
          <p:nvPr/>
        </p:nvSpPr>
        <p:spPr bwMode="auto">
          <a:xfrm>
            <a:off x="3635375" y="2085975"/>
            <a:ext cx="1752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7416" name="Line 6"/>
          <p:cNvSpPr>
            <a:spLocks noChangeShapeType="1"/>
          </p:cNvSpPr>
          <p:nvPr/>
        </p:nvSpPr>
        <p:spPr bwMode="auto">
          <a:xfrm>
            <a:off x="4168775" y="1628775"/>
            <a:ext cx="0" cy="914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7417" name="Line 7"/>
          <p:cNvSpPr>
            <a:spLocks noChangeShapeType="1"/>
          </p:cNvSpPr>
          <p:nvPr/>
        </p:nvSpPr>
        <p:spPr bwMode="auto">
          <a:xfrm>
            <a:off x="4702175" y="1628775"/>
            <a:ext cx="0" cy="914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7418" name="Rectangle 8"/>
          <p:cNvSpPr>
            <a:spLocks noChangeArrowheads="1"/>
          </p:cNvSpPr>
          <p:nvPr/>
        </p:nvSpPr>
        <p:spPr bwMode="auto">
          <a:xfrm>
            <a:off x="2051050" y="2852738"/>
            <a:ext cx="6121400" cy="792162"/>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7419" name="Line 9"/>
          <p:cNvSpPr>
            <a:spLocks noChangeShapeType="1"/>
          </p:cNvSpPr>
          <p:nvPr/>
        </p:nvSpPr>
        <p:spPr bwMode="auto">
          <a:xfrm>
            <a:off x="2051050" y="3386138"/>
            <a:ext cx="6121400" cy="158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7420" name="Line 10"/>
          <p:cNvSpPr>
            <a:spLocks noChangeShapeType="1"/>
          </p:cNvSpPr>
          <p:nvPr/>
        </p:nvSpPr>
        <p:spPr bwMode="auto">
          <a:xfrm>
            <a:off x="2584450" y="2852738"/>
            <a:ext cx="1588" cy="7921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7421" name="Line 11"/>
          <p:cNvSpPr>
            <a:spLocks noChangeShapeType="1"/>
          </p:cNvSpPr>
          <p:nvPr/>
        </p:nvSpPr>
        <p:spPr bwMode="auto">
          <a:xfrm>
            <a:off x="3117850" y="2852738"/>
            <a:ext cx="1588" cy="7921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7422" name="Line 12"/>
          <p:cNvSpPr>
            <a:spLocks noChangeShapeType="1"/>
          </p:cNvSpPr>
          <p:nvPr/>
        </p:nvSpPr>
        <p:spPr bwMode="auto">
          <a:xfrm>
            <a:off x="3575050" y="2852738"/>
            <a:ext cx="1588" cy="7921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7423" name="Line 13"/>
          <p:cNvSpPr>
            <a:spLocks noChangeShapeType="1"/>
          </p:cNvSpPr>
          <p:nvPr/>
        </p:nvSpPr>
        <p:spPr bwMode="auto">
          <a:xfrm>
            <a:off x="4032250" y="2852738"/>
            <a:ext cx="1588" cy="79216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7424" name="Line 14"/>
          <p:cNvSpPr>
            <a:spLocks noChangeShapeType="1"/>
          </p:cNvSpPr>
          <p:nvPr/>
        </p:nvSpPr>
        <p:spPr bwMode="auto">
          <a:xfrm>
            <a:off x="4489450" y="2852738"/>
            <a:ext cx="1588" cy="7921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7425" name="Line 15"/>
          <p:cNvSpPr>
            <a:spLocks noChangeShapeType="1"/>
          </p:cNvSpPr>
          <p:nvPr/>
        </p:nvSpPr>
        <p:spPr bwMode="auto">
          <a:xfrm>
            <a:off x="5022850" y="2852738"/>
            <a:ext cx="1588" cy="7921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7426" name="Line 16"/>
          <p:cNvSpPr>
            <a:spLocks noChangeShapeType="1"/>
          </p:cNvSpPr>
          <p:nvPr/>
        </p:nvSpPr>
        <p:spPr bwMode="auto">
          <a:xfrm>
            <a:off x="5556250" y="2852738"/>
            <a:ext cx="1588" cy="7921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7427" name="Line 17"/>
          <p:cNvSpPr>
            <a:spLocks noChangeShapeType="1"/>
          </p:cNvSpPr>
          <p:nvPr/>
        </p:nvSpPr>
        <p:spPr bwMode="auto">
          <a:xfrm>
            <a:off x="6089650" y="2852738"/>
            <a:ext cx="1588" cy="79216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7428" name="Line 18"/>
          <p:cNvSpPr>
            <a:spLocks noChangeShapeType="1"/>
          </p:cNvSpPr>
          <p:nvPr/>
        </p:nvSpPr>
        <p:spPr bwMode="auto">
          <a:xfrm>
            <a:off x="6623050" y="2852738"/>
            <a:ext cx="1588" cy="7921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7429" name="Line 19"/>
          <p:cNvSpPr>
            <a:spLocks noChangeShapeType="1"/>
          </p:cNvSpPr>
          <p:nvPr/>
        </p:nvSpPr>
        <p:spPr bwMode="auto">
          <a:xfrm>
            <a:off x="7156450" y="2852738"/>
            <a:ext cx="1588" cy="7921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7430" name="Line 20"/>
          <p:cNvSpPr>
            <a:spLocks noChangeShapeType="1"/>
          </p:cNvSpPr>
          <p:nvPr/>
        </p:nvSpPr>
        <p:spPr bwMode="auto">
          <a:xfrm>
            <a:off x="7689850" y="2852738"/>
            <a:ext cx="1588" cy="7921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7431" name="Line 21"/>
          <p:cNvSpPr>
            <a:spLocks noChangeShapeType="1"/>
          </p:cNvSpPr>
          <p:nvPr/>
        </p:nvSpPr>
        <p:spPr bwMode="auto">
          <a:xfrm flipH="1">
            <a:off x="2338388" y="2349500"/>
            <a:ext cx="1511300" cy="503238"/>
          </a:xfrm>
          <a:prstGeom prst="line">
            <a:avLst/>
          </a:prstGeom>
          <a:noFill/>
          <a:ln w="2222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7432" name="Line 22"/>
          <p:cNvSpPr>
            <a:spLocks noChangeShapeType="1"/>
          </p:cNvSpPr>
          <p:nvPr/>
        </p:nvSpPr>
        <p:spPr bwMode="auto">
          <a:xfrm flipH="1">
            <a:off x="4211638" y="2349500"/>
            <a:ext cx="215900" cy="503238"/>
          </a:xfrm>
          <a:prstGeom prst="line">
            <a:avLst/>
          </a:prstGeom>
          <a:noFill/>
          <a:ln w="2222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华文楷体" panose="02010600040101010101" pitchFamily="2" charset="-122"/>
            </a:endParaRPr>
          </a:p>
        </p:txBody>
      </p:sp>
      <p:sp>
        <p:nvSpPr>
          <p:cNvPr id="17433" name="Line 23"/>
          <p:cNvSpPr>
            <a:spLocks noChangeShapeType="1"/>
          </p:cNvSpPr>
          <p:nvPr/>
        </p:nvSpPr>
        <p:spPr bwMode="auto">
          <a:xfrm>
            <a:off x="4932363" y="2349500"/>
            <a:ext cx="1368425" cy="503238"/>
          </a:xfrm>
          <a:prstGeom prst="line">
            <a:avLst/>
          </a:prstGeom>
          <a:noFill/>
          <a:ln w="2222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页脚占位符 5"/>
          <p:cNvSpPr>
            <a:spLocks noGrp="1"/>
          </p:cNvSpPr>
          <p:nvPr>
            <p:ph type="ftr" sz="quarter" idx="10"/>
          </p:nvPr>
        </p:nvSpPr>
        <p:spPr/>
        <p:txBody>
          <a:bodyPr/>
          <a:lstStyle/>
          <a:p>
            <a:pPr>
              <a:defRPr/>
            </a:pPr>
            <a:r>
              <a:rPr lang="en-US" altLang="zh-CN"/>
              <a:t>BUPT SCST</a:t>
            </a:r>
            <a:endParaRPr lang="en-US" altLang="zh-CN"/>
          </a:p>
        </p:txBody>
      </p:sp>
      <p:sp>
        <p:nvSpPr>
          <p:cNvPr id="8" name="日期占位符 7"/>
          <p:cNvSpPr>
            <a:spLocks noGrp="1"/>
          </p:cNvSpPr>
          <p:nvPr>
            <p:ph type="dt" sz="quarter" idx="12"/>
          </p:nvPr>
        </p:nvSpPr>
        <p:spPr/>
        <p:txBody>
          <a:bodyPr/>
          <a:lstStyle/>
          <a:p>
            <a:pPr>
              <a:defRPr/>
            </a:pPr>
            <a:r>
              <a:rPr lang="en-US" altLang="zh-CN"/>
              <a:t>BUPT</a:t>
            </a:r>
            <a:endParaRPr lang="en-US" altLang="zh-CN"/>
          </a:p>
        </p:txBody>
      </p:sp>
      <p:sp>
        <p:nvSpPr>
          <p:cNvPr id="18436" name="Rectangle 8"/>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18437" name="Rectangle 3"/>
          <p:cNvSpPr>
            <a:spLocks noGrp="1" noChangeArrowheads="1"/>
          </p:cNvSpPr>
          <p:nvPr>
            <p:ph type="body" sz="half" idx="1"/>
          </p:nvPr>
        </p:nvSpPr>
        <p:spPr>
          <a:xfrm>
            <a:off x="457200" y="1152525"/>
            <a:ext cx="8362950" cy="5248275"/>
          </a:xfrm>
        </p:spPr>
        <p:txBody>
          <a:bodyPr/>
          <a:lstStyle/>
          <a:p>
            <a:pPr eaLnBrk="1" hangingPunct="1">
              <a:buFont typeface="Wingdings" panose="05000000000000000000" pitchFamily="2" charset="2"/>
              <a:buNone/>
            </a:pPr>
            <a:r>
              <a:rPr lang="zh-CN" altLang="en-US" sz="2400" dirty="0" smtClean="0">
                <a:ea typeface="华文楷体" panose="02010600040101010101" pitchFamily="2" charset="-122"/>
              </a:rPr>
              <a:t>设</a:t>
            </a:r>
            <a:r>
              <a:rPr lang="en-US" altLang="zh-CN" sz="2400" dirty="0" smtClean="0">
                <a:ea typeface="华文楷体" panose="02010600040101010101" pitchFamily="2" charset="-122"/>
              </a:rPr>
              <a:t>b</a:t>
            </a:r>
            <a:r>
              <a:rPr lang="zh-CN" altLang="en-US" sz="2400" dirty="0" smtClean="0">
                <a:ea typeface="华文楷体" panose="02010600040101010101" pitchFamily="2" charset="-122"/>
              </a:rPr>
              <a:t>为索引表长度，</a:t>
            </a:r>
            <a:r>
              <a:rPr lang="en-US" altLang="zh-CN" sz="2400" dirty="0" smtClean="0">
                <a:ea typeface="华文楷体" panose="02010600040101010101" pitchFamily="2" charset="-122"/>
              </a:rPr>
              <a:t>s</a:t>
            </a:r>
            <a:r>
              <a:rPr lang="zh-CN" altLang="en-US" sz="2400" dirty="0" smtClean="0">
                <a:ea typeface="华文楷体" panose="02010600040101010101" pitchFamily="2" charset="-122"/>
              </a:rPr>
              <a:t>为块中记录个数</a:t>
            </a:r>
            <a:endParaRPr lang="zh-CN" altLang="en-US" sz="2400" dirty="0" smtClean="0">
              <a:ea typeface="华文楷体" panose="02010600040101010101" pitchFamily="2" charset="-122"/>
            </a:endParaRPr>
          </a:p>
          <a:p>
            <a:pPr eaLnBrk="1" hangingPunct="1"/>
            <a:r>
              <a:rPr lang="zh-CN" altLang="en-US" sz="2400" dirty="0" smtClean="0">
                <a:ea typeface="华文楷体" panose="02010600040101010101" pitchFamily="2" charset="-122"/>
              </a:rPr>
              <a:t>顺序查找索引表</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顺序查找被确定的块</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err="1" smtClean="0">
                <a:ea typeface="华文楷体" panose="02010600040101010101" pitchFamily="2" charset="-122"/>
              </a:rPr>
              <a:t>ASL</a:t>
            </a:r>
            <a:r>
              <a:rPr lang="en-US" altLang="zh-CN" sz="2400" baseline="-25000" dirty="0" err="1" smtClean="0">
                <a:ea typeface="华文楷体" panose="02010600040101010101" pitchFamily="2" charset="-122"/>
              </a:rPr>
              <a:t>bs</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当</a:t>
            </a:r>
            <a:r>
              <a:rPr lang="en-US" altLang="zh-CN" sz="2400" dirty="0" smtClean="0">
                <a:ea typeface="华文楷体" panose="02010600040101010101" pitchFamily="2" charset="-122"/>
              </a:rPr>
              <a:t>s</a:t>
            </a:r>
            <a:r>
              <a:rPr lang="zh-CN" altLang="en-US" sz="2400" dirty="0" smtClean="0">
                <a:ea typeface="华文楷体" panose="02010600040101010101" pitchFamily="2" charset="-122"/>
              </a:rPr>
              <a:t>取      时，</a:t>
            </a:r>
            <a:r>
              <a:rPr lang="en-US" altLang="zh-CN" sz="2400" dirty="0" err="1" smtClean="0">
                <a:ea typeface="华文楷体" panose="02010600040101010101" pitchFamily="2" charset="-122"/>
              </a:rPr>
              <a:t>ASL</a:t>
            </a:r>
            <a:r>
              <a:rPr lang="en-US" altLang="zh-CN" sz="2400" baseline="-25000" dirty="0" err="1" smtClean="0">
                <a:ea typeface="华文楷体" panose="02010600040101010101" pitchFamily="2" charset="-122"/>
              </a:rPr>
              <a:t>bs</a:t>
            </a:r>
            <a:r>
              <a:rPr lang="zh-CN" altLang="en-US" sz="2400" dirty="0" smtClean="0">
                <a:ea typeface="华文楷体" panose="02010600040101010101" pitchFamily="2" charset="-122"/>
              </a:rPr>
              <a:t>取最小值</a:t>
            </a:r>
            <a:endParaRPr lang="zh-CN" altLang="en-US" sz="2400" dirty="0" smtClean="0">
              <a:ea typeface="华文楷体" panose="02010600040101010101" pitchFamily="2" charset="-122"/>
            </a:endParaRPr>
          </a:p>
          <a:p>
            <a:pPr eaLnBrk="1" hangingPunct="1"/>
            <a:r>
              <a:rPr lang="zh-CN" altLang="en-US" sz="2400" dirty="0" smtClean="0">
                <a:ea typeface="华文楷体" panose="02010600040101010101" pitchFamily="2" charset="-122"/>
              </a:rPr>
              <a:t>折半查找索引表</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顺序查找被确定的块</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err="1" smtClean="0">
                <a:ea typeface="华文楷体" panose="02010600040101010101" pitchFamily="2" charset="-122"/>
              </a:rPr>
              <a:t>ASL</a:t>
            </a:r>
            <a:r>
              <a:rPr lang="en-US" altLang="zh-CN" sz="2400" baseline="-25000" dirty="0" err="1" smtClean="0">
                <a:ea typeface="华文楷体" panose="02010600040101010101" pitchFamily="2" charset="-122"/>
              </a:rPr>
              <a:t>bs</a:t>
            </a:r>
            <a:r>
              <a:rPr lang="en-US" altLang="zh-CN" sz="2400" dirty="0" smtClean="0">
                <a:ea typeface="华文楷体" panose="02010600040101010101" pitchFamily="2" charset="-122"/>
              </a:rPr>
              <a:t>=[log</a:t>
            </a:r>
            <a:r>
              <a:rPr lang="en-US" altLang="zh-CN" sz="2400" baseline="-25000" dirty="0" smtClean="0">
                <a:ea typeface="华文楷体" panose="02010600040101010101" pitchFamily="2" charset="-122"/>
              </a:rPr>
              <a:t>2</a:t>
            </a:r>
            <a:r>
              <a:rPr lang="en-US" altLang="zh-CN" sz="2400" dirty="0" smtClean="0">
                <a:ea typeface="华文楷体" panose="02010600040101010101" pitchFamily="2" charset="-122"/>
              </a:rPr>
              <a:t>(b+1)-1]+(s+1)/2 </a:t>
            </a:r>
            <a:r>
              <a:rPr lang="en-US" altLang="zh-CN" sz="2400" dirty="0" smtClean="0">
                <a:ea typeface="华文楷体" panose="02010600040101010101" pitchFamily="2" charset="-122"/>
                <a:sym typeface="Symbol" panose="05050102010706020507" pitchFamily="18" charset="2"/>
              </a:rPr>
              <a:t> log</a:t>
            </a:r>
            <a:r>
              <a:rPr lang="en-US" altLang="zh-CN" sz="2400" baseline="-25000" dirty="0" smtClean="0">
                <a:ea typeface="华文楷体" panose="02010600040101010101" pitchFamily="2" charset="-122"/>
                <a:sym typeface="Symbol" panose="05050102010706020507" pitchFamily="18" charset="2"/>
              </a:rPr>
              <a:t>2</a:t>
            </a:r>
            <a:r>
              <a:rPr lang="en-US" altLang="zh-CN" sz="2400" dirty="0" smtClean="0">
                <a:ea typeface="华文楷体" panose="02010600040101010101" pitchFamily="2" charset="-122"/>
                <a:sym typeface="Symbol" panose="05050102010706020507" pitchFamily="18" charset="2"/>
              </a:rPr>
              <a:t>(n/s+1)+s/2</a:t>
            </a:r>
            <a:endParaRPr lang="en-US" altLang="zh-CN" sz="2400" dirty="0" smtClean="0">
              <a:ea typeface="华文楷体" panose="02010600040101010101" pitchFamily="2" charset="-122"/>
              <a:sym typeface="Symbol" panose="05050102010706020507" pitchFamily="18" charset="2"/>
            </a:endParaRPr>
          </a:p>
          <a:p>
            <a:pPr eaLnBrk="1" hangingPunct="1"/>
            <a:r>
              <a:rPr lang="zh-CN" altLang="en-US" sz="2400" dirty="0" smtClean="0">
                <a:ea typeface="华文楷体" panose="02010600040101010101" pitchFamily="2" charset="-122"/>
                <a:sym typeface="Symbol" panose="05050102010706020507" pitchFamily="18" charset="2"/>
              </a:rPr>
              <a:t>实用中，各块大小不一定相等</a:t>
            </a:r>
            <a:endParaRPr lang="zh-CN" altLang="en-US" sz="2400" dirty="0" smtClean="0">
              <a:ea typeface="华文楷体" panose="02010600040101010101" pitchFamily="2" charset="-122"/>
              <a:sym typeface="Symbol" panose="05050102010706020507" pitchFamily="18" charset="2"/>
            </a:endParaRPr>
          </a:p>
          <a:p>
            <a:pPr eaLnBrk="1" hangingPunct="1"/>
            <a:r>
              <a:rPr lang="zh-CN" altLang="en-US" sz="2400" dirty="0" smtClean="0">
                <a:ea typeface="华文楷体" panose="02010600040101010101" pitchFamily="2" charset="-122"/>
                <a:sym typeface="Symbol" panose="05050102010706020507" pitchFamily="18" charset="2"/>
              </a:rPr>
              <a:t>分块查找效率介于顺序查找和折半查找之间</a:t>
            </a:r>
            <a:endParaRPr lang="zh-CN" altLang="en-US" sz="2400" dirty="0" smtClean="0">
              <a:ea typeface="华文楷体" panose="02010600040101010101" pitchFamily="2" charset="-122"/>
              <a:sym typeface="Symbol" panose="05050102010706020507" pitchFamily="18" charset="2"/>
            </a:endParaRPr>
          </a:p>
        </p:txBody>
      </p:sp>
      <p:graphicFrame>
        <p:nvGraphicFramePr>
          <p:cNvPr id="18438" name="Object 4"/>
          <p:cNvGraphicFramePr>
            <a:graphicFrameLocks noGrp="1" noChangeAspect="1"/>
          </p:cNvGraphicFramePr>
          <p:nvPr>
            <p:ph sz="quarter" idx="2"/>
          </p:nvPr>
        </p:nvGraphicFramePr>
        <p:xfrm>
          <a:off x="1979613" y="1989138"/>
          <a:ext cx="3887787" cy="687387"/>
        </p:xfrm>
        <a:graphic>
          <a:graphicData uri="http://schemas.openxmlformats.org/presentationml/2006/ole">
            <mc:AlternateContent xmlns:mc="http://schemas.openxmlformats.org/markup-compatibility/2006">
              <mc:Choice xmlns:v="urn:schemas-microsoft-com:vml" Requires="v">
                <p:oleObj spid="_x0000_s18774" name="公式" r:id="rId1" imgW="2514600" imgH="444500" progId="Equation.3">
                  <p:embed/>
                </p:oleObj>
              </mc:Choice>
              <mc:Fallback>
                <p:oleObj name="公式" r:id="rId1" imgW="2514600" imgH="4445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613" y="1989138"/>
                        <a:ext cx="3887787" cy="687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9" name="Object 7"/>
          <p:cNvGraphicFramePr>
            <a:graphicFrameLocks noGrp="1" noChangeAspect="1"/>
          </p:cNvGraphicFramePr>
          <p:nvPr>
            <p:ph sz="quarter" idx="3"/>
          </p:nvPr>
        </p:nvGraphicFramePr>
        <p:xfrm>
          <a:off x="1620838" y="2879725"/>
          <a:ext cx="503237" cy="477838"/>
        </p:xfrm>
        <a:graphic>
          <a:graphicData uri="http://schemas.openxmlformats.org/presentationml/2006/ole">
            <mc:AlternateContent xmlns:mc="http://schemas.openxmlformats.org/markup-compatibility/2006">
              <mc:Choice xmlns:v="urn:schemas-microsoft-com:vml" Requires="v">
                <p:oleObj spid="_x0000_s18775" name="公式" r:id="rId3" imgW="241300" imgH="228600" progId="Equation.3">
                  <p:embed/>
                </p:oleObj>
              </mc:Choice>
              <mc:Fallback>
                <p:oleObj name="公式" r:id="rId3" imgW="241300" imgH="2286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0838" y="2879725"/>
                        <a:ext cx="503237" cy="477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40" name="Object 10"/>
          <p:cNvGraphicFramePr>
            <a:graphicFrameLocks noChangeAspect="1"/>
          </p:cNvGraphicFramePr>
          <p:nvPr/>
        </p:nvGraphicFramePr>
        <p:xfrm>
          <a:off x="4932363" y="2852738"/>
          <a:ext cx="838200" cy="533400"/>
        </p:xfrm>
        <a:graphic>
          <a:graphicData uri="http://schemas.openxmlformats.org/presentationml/2006/ole">
            <mc:AlternateContent xmlns:mc="http://schemas.openxmlformats.org/markup-compatibility/2006">
              <mc:Choice xmlns:v="urn:schemas-microsoft-com:vml" Requires="v">
                <p:oleObj spid="_x0000_s18776" name="公式" r:id="rId5" imgW="419100" imgH="228600" progId="Equation.3">
                  <p:embed/>
                </p:oleObj>
              </mc:Choice>
              <mc:Fallback>
                <p:oleObj name="公式" r:id="rId5" imgW="419100" imgH="2286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2363" y="2852738"/>
                        <a:ext cx="8382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页脚占位符 3"/>
          <p:cNvSpPr>
            <a:spLocks noGrp="1"/>
          </p:cNvSpPr>
          <p:nvPr>
            <p:ph type="ftr" sz="quarter" idx="10"/>
          </p:nvPr>
        </p:nvSpPr>
        <p:spPr/>
        <p:txBody>
          <a:bodyPr/>
          <a:lstStyle/>
          <a:p>
            <a:pPr>
              <a:defRPr/>
            </a:pPr>
            <a:r>
              <a:rPr lang="en-US" altLang="zh-CN" dirty="0"/>
              <a:t>BUPT SCST</a:t>
            </a:r>
            <a:endParaRPr lang="en-US" altLang="zh-CN" dirty="0"/>
          </a:p>
        </p:txBody>
      </p:sp>
      <p:sp>
        <p:nvSpPr>
          <p:cNvPr id="23" name="日期占位符 5"/>
          <p:cNvSpPr>
            <a:spLocks noGrp="1"/>
          </p:cNvSpPr>
          <p:nvPr>
            <p:ph type="dt" sz="quarter" idx="12"/>
          </p:nvPr>
        </p:nvSpPr>
        <p:spPr/>
        <p:txBody>
          <a:bodyPr/>
          <a:lstStyle/>
          <a:p>
            <a:pPr>
              <a:defRPr/>
            </a:pPr>
            <a:r>
              <a:rPr lang="en-US" altLang="zh-CN"/>
              <a:t>BUPT</a:t>
            </a:r>
            <a:endParaRPr lang="en-US" altLang="zh-CN"/>
          </a:p>
        </p:txBody>
      </p:sp>
      <p:sp>
        <p:nvSpPr>
          <p:cNvPr id="20484" name="Rectangle 2"/>
          <p:cNvSpPr>
            <a:spLocks noGrp="1" noChangeArrowheads="1"/>
          </p:cNvSpPr>
          <p:nvPr>
            <p:ph type="title"/>
          </p:nvPr>
        </p:nvSpPr>
        <p:spPr/>
        <p:txBody>
          <a:bodyPr/>
          <a:lstStyle/>
          <a:p>
            <a:pPr algn="l" eaLnBrk="1" hangingPunct="1"/>
            <a:r>
              <a:rPr lang="en-US" altLang="zh-CN" sz="2800" dirty="0" smtClean="0">
                <a:ea typeface="华文楷体" panose="02010600040101010101" pitchFamily="2" charset="-122"/>
              </a:rPr>
              <a:t>8.6 </a:t>
            </a:r>
            <a:r>
              <a:rPr lang="zh-CN" altLang="en-US" sz="2800" dirty="0" smtClean="0">
                <a:ea typeface="华文楷体" panose="02010600040101010101" pitchFamily="2" charset="-122"/>
              </a:rPr>
              <a:t>二叉排序树</a:t>
            </a:r>
            <a:r>
              <a:rPr lang="en-US" altLang="zh-CN" sz="2800" dirty="0" smtClean="0">
                <a:ea typeface="华文楷体" panose="02010600040101010101" pitchFamily="2" charset="-122"/>
              </a:rPr>
              <a:t>BST(</a:t>
            </a:r>
            <a:r>
              <a:rPr lang="zh-CN" altLang="en-US" sz="2800" dirty="0" smtClean="0">
                <a:ea typeface="华文楷体" panose="02010600040101010101" pitchFamily="2" charset="-122"/>
              </a:rPr>
              <a:t>二叉查找</a:t>
            </a:r>
            <a:r>
              <a:rPr lang="en-US" altLang="zh-CN" sz="2800" dirty="0" smtClean="0">
                <a:ea typeface="华文楷体" panose="02010600040101010101" pitchFamily="2" charset="-122"/>
              </a:rPr>
              <a:t>/</a:t>
            </a:r>
            <a:r>
              <a:rPr lang="zh-CN" altLang="en-US" sz="2800" dirty="0" smtClean="0">
                <a:ea typeface="华文楷体" panose="02010600040101010101" pitchFamily="2" charset="-122"/>
              </a:rPr>
              <a:t>搜索树</a:t>
            </a:r>
            <a:r>
              <a:rPr lang="en-US" altLang="zh-CN" sz="2800" dirty="0" smtClean="0">
                <a:ea typeface="华文楷体" panose="02010600040101010101" pitchFamily="2" charset="-122"/>
              </a:rPr>
              <a:t>)</a:t>
            </a:r>
            <a:endParaRPr lang="en-US" altLang="zh-CN" sz="2800" dirty="0" smtClean="0">
              <a:ea typeface="华文楷体" panose="02010600040101010101" pitchFamily="2" charset="-122"/>
            </a:endParaRPr>
          </a:p>
        </p:txBody>
      </p:sp>
      <p:sp>
        <p:nvSpPr>
          <p:cNvPr id="20485"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400" b="1" dirty="0" smtClean="0">
                <a:solidFill>
                  <a:srgbClr val="800000"/>
                </a:solidFill>
                <a:ea typeface="华文楷体" panose="02010600040101010101" pitchFamily="2" charset="-122"/>
              </a:rPr>
              <a:t>[</a:t>
            </a:r>
            <a:r>
              <a:rPr lang="zh-CN" altLang="en-US" sz="2400" b="1" dirty="0" smtClean="0">
                <a:solidFill>
                  <a:srgbClr val="800000"/>
                </a:solidFill>
                <a:ea typeface="华文楷体" panose="02010600040101010101" pitchFamily="2" charset="-122"/>
              </a:rPr>
              <a:t>定义</a:t>
            </a:r>
            <a:r>
              <a:rPr lang="en-US" altLang="zh-CN" sz="2400" b="1" dirty="0" smtClean="0">
                <a:solidFill>
                  <a:srgbClr val="800000"/>
                </a:solidFill>
                <a:ea typeface="华文楷体" panose="02010600040101010101" pitchFamily="2" charset="-122"/>
              </a:rPr>
              <a:t>]</a:t>
            </a:r>
            <a:endParaRPr lang="en-US" altLang="zh-CN" sz="2400" dirty="0" smtClean="0">
              <a:solidFill>
                <a:srgbClr val="800000"/>
              </a:solidFill>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二叉排序树或者是空树，或者是满足如下性质的二叉树：</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若其左子树非空，则左子树上所有结点的值</a:t>
            </a:r>
            <a:r>
              <a:rPr lang="zh-CN" altLang="en-US" sz="2400" dirty="0" smtClean="0">
                <a:solidFill>
                  <a:schemeClr val="accent2"/>
                </a:solidFill>
                <a:ea typeface="华文楷体" panose="02010600040101010101" pitchFamily="2" charset="-122"/>
              </a:rPr>
              <a:t>均小于</a:t>
            </a:r>
            <a:r>
              <a:rPr lang="zh-CN" altLang="en-US" sz="2400" dirty="0" smtClean="0">
                <a:ea typeface="华文楷体" panose="02010600040101010101" pitchFamily="2" charset="-122"/>
              </a:rPr>
              <a:t>根</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结点的值；</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若其右子树非空，则右子树上所有结点的值</a:t>
            </a:r>
            <a:r>
              <a:rPr lang="zh-CN" altLang="en-US" sz="2400" dirty="0" smtClean="0">
                <a:solidFill>
                  <a:schemeClr val="accent2"/>
                </a:solidFill>
                <a:ea typeface="华文楷体" panose="02010600040101010101" pitchFamily="2" charset="-122"/>
              </a:rPr>
              <a:t>均大于</a:t>
            </a:r>
            <a:r>
              <a:rPr lang="zh-CN" altLang="en-US" sz="2400" dirty="0" smtClean="0">
                <a:ea typeface="华文楷体" panose="02010600040101010101" pitchFamily="2" charset="-122"/>
              </a:rPr>
              <a:t>等</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于根结点的值；</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3)</a:t>
            </a:r>
            <a:r>
              <a:rPr lang="zh-CN" altLang="en-US" sz="2400" dirty="0" smtClean="0">
                <a:ea typeface="华文楷体" panose="02010600040101010101" pitchFamily="2" charset="-122"/>
              </a:rPr>
              <a:t>其</a:t>
            </a:r>
            <a:r>
              <a:rPr lang="zh-CN" altLang="en-US" sz="2400" dirty="0" smtClean="0">
                <a:solidFill>
                  <a:schemeClr val="accent2"/>
                </a:solidFill>
                <a:ea typeface="华文楷体" panose="02010600040101010101" pitchFamily="2" charset="-122"/>
              </a:rPr>
              <a:t>左右子树</a:t>
            </a:r>
            <a:r>
              <a:rPr lang="zh-CN" altLang="en-US" sz="2400" dirty="0" smtClean="0">
                <a:ea typeface="华文楷体" panose="02010600040101010101" pitchFamily="2" charset="-122"/>
              </a:rPr>
              <a:t>本身又各是一棵二叉排序树</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b="1" dirty="0" smtClean="0">
                <a:solidFill>
                  <a:srgbClr val="800000"/>
                </a:solidFill>
                <a:ea typeface="华文楷体" panose="02010600040101010101" pitchFamily="2" charset="-122"/>
              </a:rPr>
              <a:t>[</a:t>
            </a:r>
            <a:r>
              <a:rPr lang="zh-CN" altLang="en-US" sz="2400" b="1" dirty="0" smtClean="0">
                <a:solidFill>
                  <a:srgbClr val="800000"/>
                </a:solidFill>
                <a:ea typeface="华文楷体" panose="02010600040101010101" pitchFamily="2" charset="-122"/>
              </a:rPr>
              <a:t>性质</a:t>
            </a:r>
            <a:r>
              <a:rPr lang="en-US" altLang="zh-CN" sz="2400" b="1" dirty="0" smtClean="0">
                <a:solidFill>
                  <a:srgbClr val="800000"/>
                </a:solidFill>
                <a:ea typeface="华文楷体" panose="02010600040101010101" pitchFamily="2" charset="-122"/>
              </a:rPr>
              <a:t>]</a:t>
            </a:r>
            <a:endParaRPr lang="en-US" altLang="zh-CN" sz="2400" b="1" dirty="0" smtClean="0">
              <a:solidFill>
                <a:srgbClr val="800000"/>
              </a:solidFill>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中序遍历一棵二叉排序树，将得到</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一个以关键字递增排列的有序序列</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en-US" altLang="zh-CN" sz="2400" dirty="0" smtClean="0">
              <a:ea typeface="华文楷体" panose="02010600040101010101" pitchFamily="2" charset="-122"/>
            </a:endParaRPr>
          </a:p>
        </p:txBody>
      </p:sp>
      <p:sp>
        <p:nvSpPr>
          <p:cNvPr id="20486" name="Oval 4"/>
          <p:cNvSpPr>
            <a:spLocks noChangeArrowheads="1"/>
          </p:cNvSpPr>
          <p:nvPr/>
        </p:nvSpPr>
        <p:spPr bwMode="auto">
          <a:xfrm>
            <a:off x="7467600" y="34290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0487" name="Oval 5"/>
          <p:cNvSpPr>
            <a:spLocks noChangeArrowheads="1"/>
          </p:cNvSpPr>
          <p:nvPr/>
        </p:nvSpPr>
        <p:spPr bwMode="auto">
          <a:xfrm>
            <a:off x="6781800" y="42672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0488" name="Oval 6"/>
          <p:cNvSpPr>
            <a:spLocks noChangeArrowheads="1"/>
          </p:cNvSpPr>
          <p:nvPr/>
        </p:nvSpPr>
        <p:spPr bwMode="auto">
          <a:xfrm>
            <a:off x="8001000" y="42672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0489" name="Oval 7"/>
          <p:cNvSpPr>
            <a:spLocks noChangeArrowheads="1"/>
          </p:cNvSpPr>
          <p:nvPr/>
        </p:nvSpPr>
        <p:spPr bwMode="auto">
          <a:xfrm>
            <a:off x="6324600" y="51816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0490" name="Oval 8"/>
          <p:cNvSpPr>
            <a:spLocks noChangeArrowheads="1"/>
          </p:cNvSpPr>
          <p:nvPr/>
        </p:nvSpPr>
        <p:spPr bwMode="auto">
          <a:xfrm>
            <a:off x="7239000" y="51816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0491" name="Oval 9"/>
          <p:cNvSpPr>
            <a:spLocks noChangeArrowheads="1"/>
          </p:cNvSpPr>
          <p:nvPr/>
        </p:nvSpPr>
        <p:spPr bwMode="auto">
          <a:xfrm>
            <a:off x="8229600" y="51816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0492" name="Text Box 10"/>
          <p:cNvSpPr txBox="1">
            <a:spLocks noChangeArrowheads="1"/>
          </p:cNvSpPr>
          <p:nvPr/>
        </p:nvSpPr>
        <p:spPr bwMode="auto">
          <a:xfrm>
            <a:off x="7391400" y="34290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45</a:t>
            </a:r>
            <a:endParaRPr kumimoji="1" lang="en-US" altLang="zh-CN" sz="2400" dirty="0">
              <a:latin typeface="Times New Roman" panose="02020603050405020304" pitchFamily="18" charset="0"/>
              <a:ea typeface="华文楷体" panose="02010600040101010101" pitchFamily="2" charset="-122"/>
            </a:endParaRPr>
          </a:p>
        </p:txBody>
      </p:sp>
      <p:sp>
        <p:nvSpPr>
          <p:cNvPr id="20493" name="Text Box 11"/>
          <p:cNvSpPr txBox="1">
            <a:spLocks noChangeArrowheads="1"/>
          </p:cNvSpPr>
          <p:nvPr/>
        </p:nvSpPr>
        <p:spPr bwMode="auto">
          <a:xfrm>
            <a:off x="6705600" y="42672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24</a:t>
            </a:r>
            <a:endParaRPr kumimoji="1" lang="en-US" altLang="zh-CN" sz="2400" dirty="0">
              <a:latin typeface="Times New Roman" panose="02020603050405020304" pitchFamily="18" charset="0"/>
              <a:ea typeface="华文楷体" panose="02010600040101010101" pitchFamily="2" charset="-122"/>
            </a:endParaRPr>
          </a:p>
        </p:txBody>
      </p:sp>
      <p:sp>
        <p:nvSpPr>
          <p:cNvPr id="20494" name="Text Box 12"/>
          <p:cNvSpPr txBox="1">
            <a:spLocks noChangeArrowheads="1"/>
          </p:cNvSpPr>
          <p:nvPr/>
        </p:nvSpPr>
        <p:spPr bwMode="auto">
          <a:xfrm>
            <a:off x="7924800" y="42672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53</a:t>
            </a:r>
            <a:endParaRPr kumimoji="1" lang="en-US" altLang="zh-CN" sz="2400" dirty="0">
              <a:latin typeface="Times New Roman" panose="02020603050405020304" pitchFamily="18" charset="0"/>
              <a:ea typeface="华文楷体" panose="02010600040101010101" pitchFamily="2" charset="-122"/>
            </a:endParaRPr>
          </a:p>
        </p:txBody>
      </p:sp>
      <p:sp>
        <p:nvSpPr>
          <p:cNvPr id="20495" name="Text Box 13"/>
          <p:cNvSpPr txBox="1">
            <a:spLocks noChangeArrowheads="1"/>
          </p:cNvSpPr>
          <p:nvPr/>
        </p:nvSpPr>
        <p:spPr bwMode="auto">
          <a:xfrm>
            <a:off x="6248400" y="5181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12</a:t>
            </a:r>
            <a:endParaRPr kumimoji="1" lang="en-US" altLang="zh-CN" sz="2400" dirty="0">
              <a:latin typeface="Times New Roman" panose="02020603050405020304" pitchFamily="18" charset="0"/>
              <a:ea typeface="华文楷体" panose="02010600040101010101" pitchFamily="2" charset="-122"/>
            </a:endParaRPr>
          </a:p>
        </p:txBody>
      </p:sp>
      <p:sp>
        <p:nvSpPr>
          <p:cNvPr id="20496" name="Text Box 14"/>
          <p:cNvSpPr txBox="1">
            <a:spLocks noChangeArrowheads="1"/>
          </p:cNvSpPr>
          <p:nvPr/>
        </p:nvSpPr>
        <p:spPr bwMode="auto">
          <a:xfrm>
            <a:off x="7239000" y="5181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28</a:t>
            </a:r>
            <a:endParaRPr kumimoji="1" lang="en-US" altLang="zh-CN" sz="2400" dirty="0">
              <a:latin typeface="Times New Roman" panose="02020603050405020304" pitchFamily="18" charset="0"/>
              <a:ea typeface="华文楷体" panose="02010600040101010101" pitchFamily="2" charset="-122"/>
            </a:endParaRPr>
          </a:p>
        </p:txBody>
      </p:sp>
      <p:sp>
        <p:nvSpPr>
          <p:cNvPr id="20497" name="Text Box 15"/>
          <p:cNvSpPr txBox="1">
            <a:spLocks noChangeArrowheads="1"/>
          </p:cNvSpPr>
          <p:nvPr/>
        </p:nvSpPr>
        <p:spPr bwMode="auto">
          <a:xfrm>
            <a:off x="8153400" y="5181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90</a:t>
            </a:r>
            <a:endParaRPr kumimoji="1" lang="en-US" altLang="zh-CN" sz="2400" dirty="0">
              <a:latin typeface="Times New Roman" panose="02020603050405020304" pitchFamily="18" charset="0"/>
              <a:ea typeface="华文楷体" panose="02010600040101010101" pitchFamily="2" charset="-122"/>
            </a:endParaRPr>
          </a:p>
        </p:txBody>
      </p:sp>
      <p:sp>
        <p:nvSpPr>
          <p:cNvPr id="20498" name="Line 16"/>
          <p:cNvSpPr>
            <a:spLocks noChangeShapeType="1"/>
          </p:cNvSpPr>
          <p:nvPr/>
        </p:nvSpPr>
        <p:spPr bwMode="auto">
          <a:xfrm flipH="1">
            <a:off x="7010400" y="3810000"/>
            <a:ext cx="4572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499" name="Line 17"/>
          <p:cNvSpPr>
            <a:spLocks noChangeShapeType="1"/>
          </p:cNvSpPr>
          <p:nvPr/>
        </p:nvSpPr>
        <p:spPr bwMode="auto">
          <a:xfrm>
            <a:off x="7696200" y="3810000"/>
            <a:ext cx="3810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00" name="Line 18"/>
          <p:cNvSpPr>
            <a:spLocks noChangeShapeType="1"/>
          </p:cNvSpPr>
          <p:nvPr/>
        </p:nvSpPr>
        <p:spPr bwMode="auto">
          <a:xfrm flipH="1">
            <a:off x="6553200" y="4648200"/>
            <a:ext cx="3810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01" name="Line 19"/>
          <p:cNvSpPr>
            <a:spLocks noChangeShapeType="1"/>
          </p:cNvSpPr>
          <p:nvPr/>
        </p:nvSpPr>
        <p:spPr bwMode="auto">
          <a:xfrm>
            <a:off x="7010400" y="4724400"/>
            <a:ext cx="3810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0502" name="Line 20"/>
          <p:cNvSpPr>
            <a:spLocks noChangeShapeType="1"/>
          </p:cNvSpPr>
          <p:nvPr/>
        </p:nvSpPr>
        <p:spPr bwMode="auto">
          <a:xfrm>
            <a:off x="8229600" y="4648200"/>
            <a:ext cx="228600" cy="533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 name="文本框 1"/>
          <p:cNvSpPr txBox="1"/>
          <p:nvPr/>
        </p:nvSpPr>
        <p:spPr>
          <a:xfrm>
            <a:off x="127892" y="5496019"/>
            <a:ext cx="7034908" cy="1323439"/>
          </a:xfrm>
          <a:prstGeom prst="rect">
            <a:avLst/>
          </a:prstGeom>
          <a:noFill/>
          <a:ln>
            <a:solidFill>
              <a:schemeClr val="accent1"/>
            </a:solidFill>
          </a:ln>
        </p:spPr>
        <p:txBody>
          <a:bodyPr wrap="square" rtlCol="0">
            <a:spAutoFit/>
          </a:bodyPr>
          <a:lstStyle/>
          <a:p>
            <a:r>
              <a:rPr lang="zh-CN" altLang="en-US" sz="1600" dirty="0" smtClean="0">
                <a:solidFill>
                  <a:srgbClr val="FF0000"/>
                </a:solidFill>
                <a:latin typeface="Times New Roman" panose="02020603050405020304" pitchFamily="18" charset="0"/>
                <a:ea typeface="华文楷体" panose="02010600040101010101" pitchFamily="2" charset="-122"/>
              </a:rPr>
              <a:t>求解方法归纳</a:t>
            </a:r>
            <a:r>
              <a:rPr lang="zh-CN" altLang="en-US" sz="1600" dirty="0" smtClean="0">
                <a:latin typeface="Times New Roman" panose="02020603050405020304" pitchFamily="18" charset="0"/>
                <a:ea typeface="华文楷体" panose="02010600040101010101" pitchFamily="2" charset="-122"/>
              </a:rPr>
              <a:t>：</a:t>
            </a:r>
            <a:endParaRPr lang="en-US" altLang="zh-CN" sz="1600" dirty="0" smtClean="0">
              <a:latin typeface="Times New Roman" panose="02020603050405020304" pitchFamily="18" charset="0"/>
              <a:ea typeface="华文楷体" panose="02010600040101010101" pitchFamily="2" charset="-122"/>
            </a:endParaRPr>
          </a:p>
          <a:p>
            <a:r>
              <a:rPr lang="zh-CN" altLang="zh-CN" sz="1600" dirty="0" smtClean="0">
                <a:latin typeface="Times New Roman" panose="02020603050405020304" pitchFamily="18" charset="0"/>
                <a:ea typeface="华文楷体" panose="02010600040101010101" pitchFamily="2" charset="-122"/>
              </a:rPr>
              <a:t>①</a:t>
            </a:r>
            <a:r>
              <a:rPr lang="zh-CN" altLang="en-US" sz="1600" dirty="0" smtClean="0">
                <a:latin typeface="Times New Roman" panose="02020603050405020304" pitchFamily="18" charset="0"/>
                <a:ea typeface="华文楷体" panose="02010600040101010101" pitchFamily="2" charset="-122"/>
              </a:rPr>
              <a:t>一棵</a:t>
            </a:r>
            <a:r>
              <a:rPr lang="en-US" altLang="zh-CN" sz="1600" dirty="0" smtClean="0">
                <a:latin typeface="Times New Roman" panose="02020603050405020304" pitchFamily="18" charset="0"/>
                <a:ea typeface="华文楷体" panose="02010600040101010101" pitchFamily="2" charset="-122"/>
              </a:rPr>
              <a:t>BST</a:t>
            </a:r>
            <a:r>
              <a:rPr lang="zh-CN" altLang="en-US" sz="1600" dirty="0" smtClean="0">
                <a:latin typeface="Times New Roman" panose="02020603050405020304" pitchFamily="18" charset="0"/>
                <a:ea typeface="华文楷体" panose="02010600040101010101" pitchFamily="2" charset="-122"/>
              </a:rPr>
              <a:t>的最大结点是根结点最右下的结点，即：中序最后一个结点；</a:t>
            </a:r>
            <a:endParaRPr lang="en-US" altLang="zh-CN" sz="1600" dirty="0" smtClean="0">
              <a:latin typeface="Times New Roman" panose="02020603050405020304" pitchFamily="18" charset="0"/>
              <a:ea typeface="华文楷体" panose="02010600040101010101" pitchFamily="2" charset="-122"/>
            </a:endParaRPr>
          </a:p>
          <a:p>
            <a:r>
              <a:rPr lang="zh-CN" altLang="zh-CN" sz="1600" dirty="0" smtClean="0">
                <a:latin typeface="Times New Roman" panose="02020603050405020304" pitchFamily="18" charset="0"/>
                <a:ea typeface="华文楷体" panose="02010600040101010101" pitchFamily="2" charset="-122"/>
              </a:rPr>
              <a:t>②</a:t>
            </a:r>
            <a:r>
              <a:rPr lang="zh-CN" altLang="en-US" sz="1600" dirty="0">
                <a:latin typeface="Times New Roman" panose="02020603050405020304" pitchFamily="18" charset="0"/>
                <a:ea typeface="华文楷体" panose="02010600040101010101" pitchFamily="2" charset="-122"/>
              </a:rPr>
              <a:t>一棵</a:t>
            </a:r>
            <a:r>
              <a:rPr lang="en-US" altLang="zh-CN" sz="1600" dirty="0">
                <a:latin typeface="Times New Roman" panose="02020603050405020304" pitchFamily="18" charset="0"/>
                <a:ea typeface="华文楷体" panose="02010600040101010101" pitchFamily="2" charset="-122"/>
              </a:rPr>
              <a:t>BST</a:t>
            </a:r>
            <a:r>
              <a:rPr lang="zh-CN" altLang="en-US" sz="1600" dirty="0">
                <a:latin typeface="Times New Roman" panose="02020603050405020304" pitchFamily="18" charset="0"/>
                <a:ea typeface="华文楷体" panose="02010600040101010101" pitchFamily="2" charset="-122"/>
              </a:rPr>
              <a:t>的</a:t>
            </a:r>
            <a:r>
              <a:rPr lang="zh-CN" altLang="en-US" sz="1600" dirty="0" smtClean="0">
                <a:latin typeface="Times New Roman" panose="02020603050405020304" pitchFamily="18" charset="0"/>
                <a:ea typeface="华文楷体" panose="02010600040101010101" pitchFamily="2" charset="-122"/>
              </a:rPr>
              <a:t>最小结点</a:t>
            </a:r>
            <a:r>
              <a:rPr lang="zh-CN" altLang="en-US" sz="1600" dirty="0">
                <a:latin typeface="Times New Roman" panose="02020603050405020304" pitchFamily="18" charset="0"/>
                <a:ea typeface="华文楷体" panose="02010600040101010101" pitchFamily="2" charset="-122"/>
              </a:rPr>
              <a:t>是根结点</a:t>
            </a:r>
            <a:r>
              <a:rPr lang="zh-CN" altLang="en-US" sz="1600" dirty="0" smtClean="0">
                <a:latin typeface="Times New Roman" panose="02020603050405020304" pitchFamily="18" charset="0"/>
                <a:ea typeface="华文楷体" panose="02010600040101010101" pitchFamily="2" charset="-122"/>
              </a:rPr>
              <a:t>最左下</a:t>
            </a:r>
            <a:r>
              <a:rPr lang="zh-CN" altLang="en-US" sz="1600" dirty="0">
                <a:latin typeface="Times New Roman" panose="02020603050405020304" pitchFamily="18" charset="0"/>
                <a:ea typeface="华文楷体" panose="02010600040101010101" pitchFamily="2" charset="-122"/>
              </a:rPr>
              <a:t>的结点，即：中</a:t>
            </a:r>
            <a:r>
              <a:rPr lang="zh-CN" altLang="en-US" sz="1600" dirty="0" smtClean="0">
                <a:latin typeface="Times New Roman" panose="02020603050405020304" pitchFamily="18" charset="0"/>
                <a:ea typeface="华文楷体" panose="02010600040101010101" pitchFamily="2" charset="-122"/>
              </a:rPr>
              <a:t>序第一</a:t>
            </a:r>
            <a:r>
              <a:rPr lang="zh-CN" altLang="en-US" sz="1600" dirty="0">
                <a:latin typeface="Times New Roman" panose="02020603050405020304" pitchFamily="18" charset="0"/>
                <a:ea typeface="华文楷体" panose="02010600040101010101" pitchFamily="2" charset="-122"/>
              </a:rPr>
              <a:t>个结点；</a:t>
            </a:r>
            <a:endParaRPr lang="en-US" altLang="zh-CN" sz="1600" dirty="0">
              <a:latin typeface="Times New Roman" panose="02020603050405020304" pitchFamily="18" charset="0"/>
              <a:ea typeface="华文楷体" panose="02010600040101010101" pitchFamily="2" charset="-122"/>
            </a:endParaRPr>
          </a:p>
          <a:p>
            <a:r>
              <a:rPr lang="zh-CN" altLang="en-US" sz="1600" dirty="0" smtClean="0">
                <a:latin typeface="Times New Roman" panose="02020603050405020304" pitchFamily="18" charset="0"/>
                <a:ea typeface="华文楷体" panose="02010600040101010101" pitchFamily="2" charset="-122"/>
              </a:rPr>
              <a:t>③只需</a:t>
            </a:r>
            <a:r>
              <a:rPr lang="zh-CN" altLang="en-US" sz="1600" dirty="0">
                <a:latin typeface="Times New Roman" panose="02020603050405020304" pitchFamily="18" charset="0"/>
                <a:ea typeface="华文楷体" panose="02010600040101010101" pitchFamily="2" charset="-122"/>
              </a:rPr>
              <a:t>给</a:t>
            </a:r>
            <a:r>
              <a:rPr lang="zh-CN" altLang="en-US" sz="1600" dirty="0" smtClean="0">
                <a:latin typeface="Times New Roman" panose="02020603050405020304" pitchFamily="18" charset="0"/>
                <a:ea typeface="华文楷体" panose="02010600040101010101" pitchFamily="2" charset="-122"/>
              </a:rPr>
              <a:t>出</a:t>
            </a:r>
            <a:r>
              <a:rPr lang="en-US" altLang="zh-CN" sz="1600" dirty="0" smtClean="0">
                <a:latin typeface="Times New Roman" panose="02020603050405020304" pitchFamily="18" charset="0"/>
                <a:ea typeface="华文楷体" panose="02010600040101010101" pitchFamily="2" charset="-122"/>
              </a:rPr>
              <a:t>BST</a:t>
            </a:r>
            <a:r>
              <a:rPr lang="zh-CN" altLang="en-US" sz="1600" dirty="0" smtClean="0">
                <a:latin typeface="Times New Roman" panose="02020603050405020304" pitchFamily="18" charset="0"/>
                <a:ea typeface="华文楷体" panose="02010600040101010101" pitchFamily="2" charset="-122"/>
              </a:rPr>
              <a:t>的先序</a:t>
            </a:r>
            <a:r>
              <a:rPr lang="en-US" altLang="zh-CN" sz="1600" dirty="0" smtClean="0">
                <a:latin typeface="Times New Roman" panose="02020603050405020304" pitchFamily="18" charset="0"/>
                <a:ea typeface="华文楷体" panose="02010600040101010101" pitchFamily="2" charset="-122"/>
              </a:rPr>
              <a:t>/</a:t>
            </a:r>
            <a:r>
              <a:rPr lang="zh-CN" altLang="en-US" sz="1600" dirty="0" smtClean="0">
                <a:latin typeface="Times New Roman" panose="02020603050405020304" pitchFamily="18" charset="0"/>
                <a:ea typeface="华文楷体" panose="02010600040101010101" pitchFamily="2" charset="-122"/>
              </a:rPr>
              <a:t>后序</a:t>
            </a:r>
            <a:r>
              <a:rPr lang="en-US" altLang="zh-CN" sz="1600" dirty="0" smtClean="0">
                <a:latin typeface="Times New Roman" panose="02020603050405020304" pitchFamily="18" charset="0"/>
                <a:ea typeface="华文楷体" panose="02010600040101010101" pitchFamily="2" charset="-122"/>
              </a:rPr>
              <a:t>/</a:t>
            </a:r>
            <a:r>
              <a:rPr lang="zh-CN" altLang="en-US" sz="1600" dirty="0" smtClean="0">
                <a:latin typeface="Times New Roman" panose="02020603050405020304" pitchFamily="18" charset="0"/>
                <a:ea typeface="华文楷体" panose="02010600040101010101" pitchFamily="2" charset="-122"/>
              </a:rPr>
              <a:t>层序之一，便可唯一确定这棵</a:t>
            </a:r>
            <a:r>
              <a:rPr lang="en-US" altLang="zh-CN" sz="1600" dirty="0" smtClean="0">
                <a:latin typeface="Times New Roman" panose="02020603050405020304" pitchFamily="18" charset="0"/>
                <a:ea typeface="华文楷体" panose="02010600040101010101" pitchFamily="2" charset="-122"/>
              </a:rPr>
              <a:t>BST</a:t>
            </a:r>
            <a:r>
              <a:rPr lang="zh-CN" altLang="en-US" sz="1600" dirty="0" smtClean="0">
                <a:latin typeface="Times New Roman" panose="02020603050405020304" pitchFamily="18" charset="0"/>
                <a:ea typeface="华文楷体" panose="02010600040101010101" pitchFamily="2" charset="-122"/>
              </a:rPr>
              <a:t>。</a:t>
            </a:r>
            <a:endParaRPr lang="en-US" altLang="zh-CN" sz="1600" dirty="0">
              <a:latin typeface="Times New Roman" panose="02020603050405020304" pitchFamily="18" charset="0"/>
              <a:ea typeface="华文楷体" panose="02010600040101010101" pitchFamily="2" charset="-122"/>
            </a:endParaRPr>
          </a:p>
          <a:p>
            <a:r>
              <a:rPr lang="zh-CN" altLang="en-US" sz="1600" dirty="0" smtClean="0">
                <a:latin typeface="Times New Roman" panose="02020603050405020304" pitchFamily="18" charset="0"/>
                <a:ea typeface="华文楷体" panose="02010600040101010101" pitchFamily="2" charset="-122"/>
              </a:rPr>
              <a:t>思考题：设计算法求一个给定序列</a:t>
            </a:r>
            <a:r>
              <a:rPr lang="en-US" altLang="zh-CN" sz="1600" dirty="0" smtClean="0">
                <a:latin typeface="Times New Roman" panose="02020603050405020304" pitchFamily="18" charset="0"/>
                <a:ea typeface="华文楷体" panose="02010600040101010101" pitchFamily="2" charset="-122"/>
              </a:rPr>
              <a:t>A</a:t>
            </a:r>
            <a:r>
              <a:rPr lang="zh-CN" altLang="en-US" sz="1600" dirty="0" smtClean="0">
                <a:latin typeface="Times New Roman" panose="02020603050405020304" pitchFamily="18" charset="0"/>
                <a:ea typeface="华文楷体" panose="02010600040101010101" pitchFamily="2" charset="-122"/>
              </a:rPr>
              <a:t>是否是一个</a:t>
            </a:r>
            <a:r>
              <a:rPr lang="en-US" altLang="zh-CN" sz="1600" dirty="0" smtClean="0">
                <a:latin typeface="Times New Roman" panose="02020603050405020304" pitchFamily="18" charset="0"/>
                <a:ea typeface="华文楷体" panose="02010600040101010101" pitchFamily="2" charset="-122"/>
              </a:rPr>
              <a:t>BST</a:t>
            </a:r>
            <a:r>
              <a:rPr lang="zh-CN" altLang="en-US" sz="1600" dirty="0" smtClean="0">
                <a:latin typeface="Times New Roman" panose="02020603050405020304" pitchFamily="18" charset="0"/>
                <a:ea typeface="华文楷体" panose="02010600040101010101" pitchFamily="2" charset="-122"/>
              </a:rPr>
              <a:t>的先序序列？</a:t>
            </a:r>
            <a:endParaRPr lang="en-US" altLang="zh-CN" sz="1600" dirty="0" smtClean="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124745"/>
            <a:ext cx="4258816" cy="3024336"/>
          </a:xfrm>
          <a:ln>
            <a:solidFill>
              <a:schemeClr val="accent1"/>
            </a:solidFill>
          </a:ln>
        </p:spPr>
        <p:txBody>
          <a:bodyPr/>
          <a:lstStyle/>
          <a:p>
            <a:pPr marL="0" indent="0">
              <a:buNone/>
            </a:pPr>
            <a:r>
              <a:rPr lang="en-US" altLang="zh-CN" sz="1800" dirty="0">
                <a:solidFill>
                  <a:srgbClr val="C00000"/>
                </a:solidFill>
                <a:ea typeface="华文楷体" panose="02010600040101010101" pitchFamily="2" charset="-122"/>
              </a:rPr>
              <a:t>[</a:t>
            </a:r>
            <a:r>
              <a:rPr lang="zh-CN" altLang="en-US" sz="1800" dirty="0" smtClean="0">
                <a:solidFill>
                  <a:srgbClr val="C00000"/>
                </a:solidFill>
                <a:ea typeface="华文楷体" panose="02010600040101010101" pitchFamily="2" charset="-122"/>
              </a:rPr>
              <a:t>二叉排序树结点声明</a:t>
            </a:r>
            <a:r>
              <a:rPr lang="en-US" altLang="zh-CN" sz="1800" dirty="0" smtClean="0">
                <a:solidFill>
                  <a:srgbClr val="C00000"/>
                </a:solidFill>
                <a:ea typeface="华文楷体" panose="02010600040101010101" pitchFamily="2" charset="-122"/>
              </a:rPr>
              <a:t>]</a:t>
            </a:r>
            <a:endParaRPr lang="en-US" altLang="zh-CN" sz="1800" dirty="0" smtClean="0">
              <a:solidFill>
                <a:srgbClr val="C00000"/>
              </a:solidFill>
              <a:ea typeface="华文楷体" panose="02010600040101010101" pitchFamily="2" charset="-122"/>
            </a:endParaRPr>
          </a:p>
          <a:p>
            <a:pPr marL="0" indent="0">
              <a:buNone/>
            </a:pPr>
            <a:r>
              <a:rPr lang="en-US" altLang="zh-CN" sz="1800" dirty="0" err="1" smtClean="0">
                <a:ea typeface="华文楷体" panose="02010600040101010101" pitchFamily="2" charset="-122"/>
              </a:rPr>
              <a:t>struct</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TreeNode</a:t>
            </a:r>
            <a:endParaRPr lang="en-US" altLang="zh-CN" sz="1800" dirty="0" smtClean="0">
              <a:ea typeface="华文楷体" panose="02010600040101010101" pitchFamily="2" charset="-122"/>
            </a:endParaRPr>
          </a:p>
          <a:p>
            <a:pPr marL="0" indent="0">
              <a:buNone/>
            </a:pP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elemtype</a:t>
            </a:r>
            <a:r>
              <a:rPr lang="en-US" altLang="zh-CN" sz="1800" dirty="0" smtClean="0">
                <a:ea typeface="华文楷体" panose="02010600040101010101" pitchFamily="2" charset="-122"/>
              </a:rPr>
              <a:t> data;</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struct</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TreeNode</a:t>
            </a:r>
            <a:r>
              <a:rPr lang="en-US" altLang="zh-CN" sz="1800" dirty="0" smtClean="0">
                <a:ea typeface="华文楷体" panose="02010600040101010101" pitchFamily="2" charset="-122"/>
              </a:rPr>
              <a:t> *left;//</a:t>
            </a:r>
            <a:r>
              <a:rPr lang="zh-CN" altLang="en-US" sz="1800" dirty="0" smtClean="0">
                <a:ea typeface="华文楷体" panose="02010600040101010101" pitchFamily="2" charset="-122"/>
              </a:rPr>
              <a:t>左孩子</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struct</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TreeNode</a:t>
            </a:r>
            <a:r>
              <a:rPr lang="en-US" altLang="zh-CN" sz="1800" dirty="0" smtClean="0">
                <a:ea typeface="华文楷体" panose="02010600040101010101" pitchFamily="2" charset="-122"/>
              </a:rPr>
              <a:t> *right;//</a:t>
            </a:r>
            <a:r>
              <a:rPr lang="zh-CN" altLang="en-US" sz="1800" dirty="0" smtClean="0">
                <a:ea typeface="华文楷体" panose="02010600040101010101" pitchFamily="2" charset="-122"/>
              </a:rPr>
              <a:t>右孩子</a:t>
            </a:r>
            <a:endParaRPr lang="en-US" altLang="zh-CN" sz="1800" dirty="0" smtClean="0">
              <a:ea typeface="华文楷体" panose="02010600040101010101" pitchFamily="2" charset="-122"/>
            </a:endParaRPr>
          </a:p>
          <a:p>
            <a:pPr marL="0" indent="0">
              <a:buNone/>
            </a:pP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marL="0" indent="0">
              <a:buNone/>
            </a:pPr>
            <a:r>
              <a:rPr lang="en-US" altLang="zh-CN" sz="1800" dirty="0" err="1" smtClean="0">
                <a:ea typeface="华文楷体" panose="02010600040101010101" pitchFamily="2" charset="-122"/>
              </a:rPr>
              <a:t>typedef</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struct</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TreeNode</a:t>
            </a:r>
            <a:r>
              <a:rPr lang="en-US" altLang="zh-CN" sz="1800" dirty="0" smtClean="0">
                <a:ea typeface="华文楷体" panose="02010600040101010101" pitchFamily="2" charset="-122"/>
              </a:rPr>
              <a:t> *Position;</a:t>
            </a:r>
            <a:endParaRPr lang="en-US" altLang="zh-CN" sz="1800" dirty="0" smtClean="0">
              <a:ea typeface="华文楷体" panose="02010600040101010101" pitchFamily="2" charset="-122"/>
            </a:endParaRPr>
          </a:p>
          <a:p>
            <a:pPr marL="0" indent="0">
              <a:buNone/>
            </a:pPr>
            <a:r>
              <a:rPr lang="en-US" altLang="zh-CN" sz="1800" dirty="0" err="1" smtClean="0">
                <a:ea typeface="华文楷体" panose="02010600040101010101" pitchFamily="2" charset="-122"/>
              </a:rPr>
              <a:t>typedef</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struct</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TreeNode</a:t>
            </a:r>
            <a:r>
              <a:rPr lang="en-US" altLang="zh-CN" sz="1800" dirty="0" smtClean="0">
                <a:ea typeface="华文楷体" panose="02010600040101010101" pitchFamily="2" charset="-122"/>
              </a:rPr>
              <a:t> * </a:t>
            </a:r>
            <a:r>
              <a:rPr lang="en-US" altLang="zh-CN" sz="1800" dirty="0" err="1" smtClean="0">
                <a:ea typeface="华文楷体" panose="02010600040101010101" pitchFamily="2" charset="-122"/>
              </a:rPr>
              <a:t>SearchTree</a:t>
            </a:r>
            <a:r>
              <a:rPr lang="en-US" altLang="zh-CN" sz="1800" dirty="0" smtClean="0">
                <a:ea typeface="华文楷体" panose="02010600040101010101" pitchFamily="2" charset="-122"/>
              </a:rPr>
              <a:t>;</a:t>
            </a:r>
            <a:endParaRPr lang="zh-CN" altLang="en-US" sz="1800" dirty="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
        <p:nvSpPr>
          <p:cNvPr id="6" name="文本框 5"/>
          <p:cNvSpPr txBox="1"/>
          <p:nvPr/>
        </p:nvSpPr>
        <p:spPr>
          <a:xfrm>
            <a:off x="432538" y="4313388"/>
            <a:ext cx="8236935" cy="2031325"/>
          </a:xfrm>
          <a:prstGeom prst="rect">
            <a:avLst/>
          </a:prstGeom>
          <a:noFill/>
          <a:ln>
            <a:solidFill>
              <a:schemeClr val="accent1"/>
            </a:solidFill>
          </a:ln>
        </p:spPr>
        <p:txBody>
          <a:bodyPr wrap="none" rtlCol="0">
            <a:spAutoFit/>
          </a:bodyPr>
          <a:lstStyle/>
          <a:p>
            <a:r>
              <a:rPr lang="en-US" altLang="zh-CN" dirty="0" smtClean="0">
                <a:solidFill>
                  <a:srgbClr val="C00000"/>
                </a:solidFill>
                <a:latin typeface="Times New Roman" panose="02020603050405020304" pitchFamily="18" charset="0"/>
                <a:ea typeface="华文楷体" panose="02010600040101010101" pitchFamily="2" charset="-122"/>
              </a:rPr>
              <a:t>[</a:t>
            </a:r>
            <a:r>
              <a:rPr lang="zh-CN" altLang="en-US" dirty="0" smtClean="0">
                <a:solidFill>
                  <a:srgbClr val="C00000"/>
                </a:solidFill>
                <a:latin typeface="Times New Roman" panose="02020603050405020304" pitchFamily="18" charset="0"/>
                <a:ea typeface="华文楷体" panose="02010600040101010101" pitchFamily="2" charset="-122"/>
              </a:rPr>
              <a:t>函数声明</a:t>
            </a:r>
            <a:r>
              <a:rPr lang="en-US" altLang="zh-CN" dirty="0" smtClean="0">
                <a:solidFill>
                  <a:srgbClr val="C00000"/>
                </a:solidFill>
                <a:latin typeface="Times New Roman" panose="02020603050405020304" pitchFamily="18" charset="0"/>
                <a:ea typeface="华文楷体" panose="02010600040101010101" pitchFamily="2" charset="-122"/>
              </a:rPr>
              <a:t>]</a:t>
            </a:r>
            <a:endParaRPr lang="en-US" altLang="zh-CN" dirty="0" smtClean="0">
              <a:solidFill>
                <a:srgbClr val="C00000"/>
              </a:solidFill>
              <a:latin typeface="Times New Roman" panose="02020603050405020304" pitchFamily="18" charset="0"/>
              <a:ea typeface="华文楷体" panose="02010600040101010101" pitchFamily="2" charset="-122"/>
            </a:endParaRPr>
          </a:p>
          <a:p>
            <a:r>
              <a:rPr lang="en-US" altLang="zh-CN" dirty="0" err="1" smtClean="0">
                <a:latin typeface="Times New Roman" panose="02020603050405020304" pitchFamily="18" charset="0"/>
                <a:ea typeface="华文楷体" panose="02010600040101010101" pitchFamily="2" charset="-122"/>
              </a:rPr>
              <a:t>SearchTree</a:t>
            </a:r>
            <a:r>
              <a:rPr lang="en-US" altLang="zh-CN" dirty="0" smtClean="0">
                <a:latin typeface="Times New Roman" panose="02020603050405020304" pitchFamily="18" charset="0"/>
                <a:ea typeface="华文楷体" panose="02010600040101010101" pitchFamily="2" charset="-122"/>
              </a:rPr>
              <a:t> </a:t>
            </a:r>
            <a:r>
              <a:rPr lang="en-US" altLang="zh-CN" dirty="0" err="1" smtClean="0">
                <a:latin typeface="Times New Roman" panose="02020603050405020304" pitchFamily="18" charset="0"/>
                <a:ea typeface="华文楷体" panose="02010600040101010101" pitchFamily="2" charset="-122"/>
              </a:rPr>
              <a:t>MakeEmpty</a:t>
            </a:r>
            <a:r>
              <a:rPr lang="en-US" altLang="zh-CN" dirty="0" smtClean="0">
                <a:latin typeface="Times New Roman" panose="02020603050405020304" pitchFamily="18" charset="0"/>
                <a:ea typeface="华文楷体" panose="02010600040101010101" pitchFamily="2" charset="-122"/>
              </a:rPr>
              <a:t>(Search T) //</a:t>
            </a:r>
            <a:r>
              <a:rPr lang="zh-CN" altLang="en-US" dirty="0" smtClean="0">
                <a:latin typeface="Times New Roman" panose="02020603050405020304" pitchFamily="18" charset="0"/>
                <a:ea typeface="华文楷体" panose="02010600040101010101" pitchFamily="2" charset="-122"/>
              </a:rPr>
              <a:t>建立一颗空的二叉排序树或树置空操作</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Position Find(</a:t>
            </a:r>
            <a:r>
              <a:rPr lang="en-US" altLang="zh-CN" dirty="0" err="1" smtClean="0">
                <a:latin typeface="Times New Roman" panose="02020603050405020304" pitchFamily="18" charset="0"/>
                <a:ea typeface="华文楷体" panose="02010600040101010101" pitchFamily="2" charset="-122"/>
              </a:rPr>
              <a:t>elemtype</a:t>
            </a:r>
            <a:r>
              <a:rPr lang="en-US" altLang="zh-CN" dirty="0" smtClean="0">
                <a:latin typeface="Times New Roman" panose="02020603050405020304" pitchFamily="18" charset="0"/>
                <a:ea typeface="华文楷体" panose="02010600040101010101" pitchFamily="2" charset="-122"/>
              </a:rPr>
              <a:t> X, </a:t>
            </a:r>
            <a:r>
              <a:rPr lang="en-US" altLang="zh-CN" dirty="0" err="1" smtClean="0">
                <a:latin typeface="Times New Roman" panose="02020603050405020304" pitchFamily="18" charset="0"/>
                <a:ea typeface="华文楷体" panose="02010600040101010101" pitchFamily="2" charset="-122"/>
              </a:rPr>
              <a:t>SearchTree</a:t>
            </a:r>
            <a:r>
              <a:rPr lang="en-US" altLang="zh-CN" dirty="0" smtClean="0">
                <a:latin typeface="Times New Roman" panose="02020603050405020304" pitchFamily="18" charset="0"/>
                <a:ea typeface="华文楷体" panose="02010600040101010101" pitchFamily="2" charset="-122"/>
              </a:rPr>
              <a:t> T)//</a:t>
            </a:r>
            <a:r>
              <a:rPr lang="zh-CN" altLang="en-US" dirty="0" smtClean="0">
                <a:latin typeface="Times New Roman" panose="02020603050405020304" pitchFamily="18" charset="0"/>
                <a:ea typeface="华文楷体" panose="02010600040101010101" pitchFamily="2" charset="-122"/>
              </a:rPr>
              <a:t>在树</a:t>
            </a:r>
            <a:r>
              <a:rPr lang="en-US" altLang="zh-CN" dirty="0" smtClean="0">
                <a:latin typeface="Times New Roman" panose="02020603050405020304" pitchFamily="18" charset="0"/>
                <a:ea typeface="华文楷体" panose="02010600040101010101" pitchFamily="2" charset="-122"/>
              </a:rPr>
              <a:t>T</a:t>
            </a:r>
            <a:r>
              <a:rPr lang="zh-CN" altLang="en-US" dirty="0" smtClean="0">
                <a:latin typeface="Times New Roman" panose="02020603050405020304" pitchFamily="18" charset="0"/>
                <a:ea typeface="华文楷体" panose="02010600040101010101" pitchFamily="2" charset="-122"/>
              </a:rPr>
              <a:t>上查找值为</a:t>
            </a:r>
            <a:r>
              <a:rPr lang="en-US" altLang="zh-CN" dirty="0" smtClean="0">
                <a:latin typeface="Times New Roman" panose="02020603050405020304" pitchFamily="18" charset="0"/>
                <a:ea typeface="华文楷体" panose="02010600040101010101" pitchFamily="2" charset="-122"/>
              </a:rPr>
              <a:t>X</a:t>
            </a:r>
            <a:r>
              <a:rPr lang="zh-CN" altLang="en-US" dirty="0" smtClean="0">
                <a:latin typeface="Times New Roman" panose="02020603050405020304" pitchFamily="18" charset="0"/>
                <a:ea typeface="华文楷体" panose="02010600040101010101" pitchFamily="2" charset="-122"/>
              </a:rPr>
              <a:t>的结点并返回</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Position </a:t>
            </a:r>
            <a:r>
              <a:rPr lang="en-US" altLang="zh-CN" dirty="0" err="1" smtClean="0">
                <a:latin typeface="Times New Roman" panose="02020603050405020304" pitchFamily="18" charset="0"/>
                <a:ea typeface="华文楷体" panose="02010600040101010101" pitchFamily="2" charset="-122"/>
              </a:rPr>
              <a:t>FindMin</a:t>
            </a:r>
            <a:r>
              <a:rPr lang="en-US" altLang="zh-CN" dirty="0" smtClean="0">
                <a:latin typeface="Times New Roman" panose="02020603050405020304" pitchFamily="18" charset="0"/>
                <a:ea typeface="华文楷体" panose="02010600040101010101" pitchFamily="2" charset="-122"/>
              </a:rPr>
              <a:t>(</a:t>
            </a:r>
            <a:r>
              <a:rPr lang="en-US" altLang="zh-CN" dirty="0" err="1" smtClean="0">
                <a:latin typeface="Times New Roman" panose="02020603050405020304" pitchFamily="18" charset="0"/>
                <a:ea typeface="华文楷体" panose="02010600040101010101" pitchFamily="2" charset="-122"/>
              </a:rPr>
              <a:t>SearchTree</a:t>
            </a:r>
            <a:r>
              <a:rPr lang="en-US" altLang="zh-CN" dirty="0" smtClean="0">
                <a:latin typeface="Times New Roman" panose="02020603050405020304" pitchFamily="18" charset="0"/>
                <a:ea typeface="华文楷体" panose="02010600040101010101" pitchFamily="2" charset="-122"/>
              </a:rPr>
              <a:t> T)//</a:t>
            </a:r>
            <a:r>
              <a:rPr lang="zh-CN" altLang="en-US" dirty="0" smtClean="0">
                <a:latin typeface="Times New Roman" panose="02020603050405020304" pitchFamily="18" charset="0"/>
                <a:ea typeface="华文楷体" panose="02010600040101010101" pitchFamily="2" charset="-122"/>
              </a:rPr>
              <a:t>在树</a:t>
            </a:r>
            <a:r>
              <a:rPr lang="en-US" altLang="zh-CN" dirty="0" smtClean="0">
                <a:latin typeface="Times New Roman" panose="02020603050405020304" pitchFamily="18" charset="0"/>
                <a:ea typeface="华文楷体" panose="02010600040101010101" pitchFamily="2" charset="-122"/>
              </a:rPr>
              <a:t>T</a:t>
            </a:r>
            <a:r>
              <a:rPr lang="zh-CN" altLang="en-US" dirty="0" smtClean="0">
                <a:latin typeface="Times New Roman" panose="02020603050405020304" pitchFamily="18" charset="0"/>
                <a:ea typeface="华文楷体" panose="02010600040101010101" pitchFamily="2" charset="-122"/>
              </a:rPr>
              <a:t>上查找值最小的结点</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Position </a:t>
            </a:r>
            <a:r>
              <a:rPr lang="en-US" altLang="zh-CN" dirty="0" err="1" smtClean="0">
                <a:latin typeface="Times New Roman" panose="02020603050405020304" pitchFamily="18" charset="0"/>
                <a:ea typeface="华文楷体" panose="02010600040101010101" pitchFamily="2" charset="-122"/>
              </a:rPr>
              <a:t>FindMax</a:t>
            </a:r>
            <a:r>
              <a:rPr lang="en-US" altLang="zh-CN" dirty="0" smtClean="0">
                <a:latin typeface="Times New Roman" panose="02020603050405020304" pitchFamily="18" charset="0"/>
                <a:ea typeface="华文楷体" panose="02010600040101010101" pitchFamily="2" charset="-122"/>
              </a:rPr>
              <a:t>(</a:t>
            </a:r>
            <a:r>
              <a:rPr lang="en-US" altLang="zh-CN" dirty="0" err="1" smtClean="0">
                <a:latin typeface="Times New Roman" panose="02020603050405020304" pitchFamily="18" charset="0"/>
                <a:ea typeface="华文楷体" panose="02010600040101010101" pitchFamily="2" charset="-122"/>
              </a:rPr>
              <a:t>SearchTree</a:t>
            </a:r>
            <a:r>
              <a:rPr lang="en-US" altLang="zh-CN" dirty="0" smtClean="0">
                <a:latin typeface="Times New Roman" panose="02020603050405020304" pitchFamily="18" charset="0"/>
                <a:ea typeface="华文楷体" panose="02010600040101010101" pitchFamily="2" charset="-122"/>
              </a:rPr>
              <a:t> T)//</a:t>
            </a:r>
            <a:r>
              <a:rPr lang="zh-CN" altLang="en-US" dirty="0" smtClean="0">
                <a:latin typeface="Times New Roman" panose="02020603050405020304" pitchFamily="18" charset="0"/>
                <a:ea typeface="华文楷体" panose="02010600040101010101" pitchFamily="2" charset="-122"/>
              </a:rPr>
              <a:t>在树</a:t>
            </a:r>
            <a:r>
              <a:rPr lang="en-US" altLang="zh-CN" dirty="0" smtClean="0">
                <a:latin typeface="Times New Roman" panose="02020603050405020304" pitchFamily="18" charset="0"/>
                <a:ea typeface="华文楷体" panose="02010600040101010101" pitchFamily="2" charset="-122"/>
              </a:rPr>
              <a:t>T</a:t>
            </a:r>
            <a:r>
              <a:rPr lang="zh-CN" altLang="en-US" dirty="0" smtClean="0">
                <a:latin typeface="Times New Roman" panose="02020603050405020304" pitchFamily="18" charset="0"/>
                <a:ea typeface="华文楷体" panose="02010600040101010101" pitchFamily="2" charset="-122"/>
              </a:rPr>
              <a:t>上查找值最</a:t>
            </a:r>
            <a:r>
              <a:rPr lang="zh-CN" altLang="en-US" dirty="0">
                <a:latin typeface="Times New Roman" panose="02020603050405020304" pitchFamily="18" charset="0"/>
                <a:ea typeface="华文楷体" panose="02010600040101010101" pitchFamily="2" charset="-122"/>
              </a:rPr>
              <a:t>大</a:t>
            </a:r>
            <a:r>
              <a:rPr lang="zh-CN" altLang="en-US" dirty="0" smtClean="0">
                <a:latin typeface="Times New Roman" panose="02020603050405020304" pitchFamily="18" charset="0"/>
                <a:ea typeface="华文楷体" panose="02010600040101010101" pitchFamily="2" charset="-122"/>
              </a:rPr>
              <a:t>的结点</a:t>
            </a:r>
            <a:endParaRPr lang="en-US" altLang="zh-CN" dirty="0" smtClean="0">
              <a:latin typeface="Times New Roman" panose="02020603050405020304" pitchFamily="18" charset="0"/>
              <a:ea typeface="华文楷体" panose="02010600040101010101" pitchFamily="2" charset="-122"/>
            </a:endParaRPr>
          </a:p>
          <a:p>
            <a:r>
              <a:rPr lang="en-US" altLang="zh-CN" dirty="0" err="1" smtClean="0">
                <a:latin typeface="Times New Roman" panose="02020603050405020304" pitchFamily="18" charset="0"/>
                <a:ea typeface="华文楷体" panose="02010600040101010101" pitchFamily="2" charset="-122"/>
              </a:rPr>
              <a:t>SearchTree</a:t>
            </a:r>
            <a:r>
              <a:rPr lang="en-US" altLang="zh-CN" dirty="0" smtClean="0">
                <a:latin typeface="Times New Roman" panose="02020603050405020304" pitchFamily="18" charset="0"/>
                <a:ea typeface="华文楷体" panose="02010600040101010101" pitchFamily="2" charset="-122"/>
              </a:rPr>
              <a:t> Insert(</a:t>
            </a:r>
            <a:r>
              <a:rPr lang="en-US" altLang="zh-CN" dirty="0" err="1" smtClean="0">
                <a:latin typeface="Times New Roman" panose="02020603050405020304" pitchFamily="18" charset="0"/>
                <a:ea typeface="华文楷体" panose="02010600040101010101" pitchFamily="2" charset="-122"/>
              </a:rPr>
              <a:t>elemtype</a:t>
            </a:r>
            <a:r>
              <a:rPr lang="en-US" altLang="zh-CN" dirty="0" smtClean="0">
                <a:latin typeface="Times New Roman" panose="02020603050405020304" pitchFamily="18" charset="0"/>
                <a:ea typeface="华文楷体" panose="02010600040101010101" pitchFamily="2" charset="-122"/>
              </a:rPr>
              <a:t> X, </a:t>
            </a:r>
            <a:r>
              <a:rPr lang="en-US" altLang="zh-CN" dirty="0" err="1" smtClean="0">
                <a:latin typeface="Times New Roman" panose="02020603050405020304" pitchFamily="18" charset="0"/>
                <a:ea typeface="华文楷体" panose="02010600040101010101" pitchFamily="2" charset="-122"/>
              </a:rPr>
              <a:t>SearchTree</a:t>
            </a:r>
            <a:r>
              <a:rPr lang="en-US" altLang="zh-CN" dirty="0" smtClean="0">
                <a:latin typeface="Times New Roman" panose="02020603050405020304" pitchFamily="18" charset="0"/>
                <a:ea typeface="华文楷体" panose="02010600040101010101" pitchFamily="2" charset="-122"/>
              </a:rPr>
              <a:t> T)</a:t>
            </a:r>
            <a:r>
              <a:rPr lang="zh-CN" altLang="en-US" dirty="0" smtClean="0">
                <a:latin typeface="Times New Roman" panose="02020603050405020304" pitchFamily="18" charset="0"/>
                <a:ea typeface="华文楷体" panose="02010600040101010101" pitchFamily="2" charset="-122"/>
              </a:rPr>
              <a:t>在树</a:t>
            </a:r>
            <a:r>
              <a:rPr lang="en-US" altLang="zh-CN" dirty="0" smtClean="0">
                <a:latin typeface="Times New Roman" panose="02020603050405020304" pitchFamily="18" charset="0"/>
                <a:ea typeface="华文楷体" panose="02010600040101010101" pitchFamily="2" charset="-122"/>
              </a:rPr>
              <a:t>T</a:t>
            </a:r>
            <a:r>
              <a:rPr lang="zh-CN" altLang="en-US" dirty="0" smtClean="0">
                <a:latin typeface="Times New Roman" panose="02020603050405020304" pitchFamily="18" charset="0"/>
                <a:ea typeface="华文楷体" panose="02010600040101010101" pitchFamily="2" charset="-122"/>
              </a:rPr>
              <a:t>上插入值为</a:t>
            </a:r>
            <a:r>
              <a:rPr lang="en-US" altLang="zh-CN" dirty="0" smtClean="0">
                <a:latin typeface="Times New Roman" panose="02020603050405020304" pitchFamily="18" charset="0"/>
                <a:ea typeface="华文楷体" panose="02010600040101010101" pitchFamily="2" charset="-122"/>
              </a:rPr>
              <a:t>X</a:t>
            </a:r>
            <a:r>
              <a:rPr lang="zh-CN" altLang="en-US" dirty="0" smtClean="0">
                <a:latin typeface="Times New Roman" panose="02020603050405020304" pitchFamily="18" charset="0"/>
                <a:ea typeface="华文楷体" panose="02010600040101010101" pitchFamily="2" charset="-122"/>
              </a:rPr>
              <a:t>的结点并返回新树</a:t>
            </a:r>
            <a:endParaRPr lang="en-US" altLang="zh-CN" dirty="0" smtClean="0">
              <a:latin typeface="Times New Roman" panose="02020603050405020304" pitchFamily="18" charset="0"/>
              <a:ea typeface="华文楷体" panose="02010600040101010101" pitchFamily="2" charset="-122"/>
            </a:endParaRPr>
          </a:p>
          <a:p>
            <a:r>
              <a:rPr lang="en-US" altLang="zh-CN" dirty="0" err="1" smtClean="0">
                <a:latin typeface="Times New Roman" panose="02020603050405020304" pitchFamily="18" charset="0"/>
                <a:ea typeface="华文楷体" panose="02010600040101010101" pitchFamily="2" charset="-122"/>
              </a:rPr>
              <a:t>SearchTree</a:t>
            </a:r>
            <a:r>
              <a:rPr lang="en-US" altLang="zh-CN" dirty="0" smtClean="0">
                <a:latin typeface="Times New Roman" panose="02020603050405020304" pitchFamily="18" charset="0"/>
                <a:ea typeface="华文楷体" panose="02010600040101010101" pitchFamily="2" charset="-122"/>
              </a:rPr>
              <a:t> Delete(</a:t>
            </a:r>
            <a:r>
              <a:rPr lang="en-US" altLang="zh-CN" dirty="0" err="1" smtClean="0">
                <a:latin typeface="Times New Roman" panose="02020603050405020304" pitchFamily="18" charset="0"/>
                <a:ea typeface="华文楷体" panose="02010600040101010101" pitchFamily="2" charset="-122"/>
              </a:rPr>
              <a:t>elemtype</a:t>
            </a:r>
            <a:r>
              <a:rPr lang="en-US" altLang="zh-CN" dirty="0" smtClean="0">
                <a:latin typeface="Times New Roman" panose="02020603050405020304" pitchFamily="18" charset="0"/>
                <a:ea typeface="华文楷体" panose="02010600040101010101" pitchFamily="2" charset="-122"/>
              </a:rPr>
              <a:t> X, </a:t>
            </a:r>
            <a:r>
              <a:rPr lang="en-US" altLang="zh-CN" dirty="0" err="1" smtClean="0">
                <a:latin typeface="Times New Roman" panose="02020603050405020304" pitchFamily="18" charset="0"/>
                <a:ea typeface="华文楷体" panose="02010600040101010101" pitchFamily="2" charset="-122"/>
              </a:rPr>
              <a:t>SearchTree</a:t>
            </a:r>
            <a:r>
              <a:rPr lang="en-US" altLang="zh-CN" dirty="0" smtClean="0">
                <a:latin typeface="Times New Roman" panose="02020603050405020304" pitchFamily="18" charset="0"/>
                <a:ea typeface="华文楷体" panose="02010600040101010101" pitchFamily="2" charset="-122"/>
              </a:rPr>
              <a:t> T)</a:t>
            </a:r>
            <a:r>
              <a:rPr lang="zh-CN" altLang="en-US" dirty="0" smtClean="0">
                <a:latin typeface="Times New Roman" panose="02020603050405020304" pitchFamily="18" charset="0"/>
                <a:ea typeface="华文楷体" panose="02010600040101010101" pitchFamily="2" charset="-122"/>
              </a:rPr>
              <a:t>在树</a:t>
            </a:r>
            <a:r>
              <a:rPr lang="en-US" altLang="zh-CN" dirty="0" smtClean="0">
                <a:latin typeface="Times New Roman" panose="02020603050405020304" pitchFamily="18" charset="0"/>
                <a:ea typeface="华文楷体" panose="02010600040101010101" pitchFamily="2" charset="-122"/>
              </a:rPr>
              <a:t>T</a:t>
            </a:r>
            <a:r>
              <a:rPr lang="zh-CN" altLang="en-US" dirty="0" smtClean="0">
                <a:latin typeface="Times New Roman" panose="02020603050405020304" pitchFamily="18" charset="0"/>
                <a:ea typeface="华文楷体" panose="02010600040101010101" pitchFamily="2" charset="-122"/>
              </a:rPr>
              <a:t>上删除值为</a:t>
            </a:r>
            <a:r>
              <a:rPr lang="en-US" altLang="zh-CN" dirty="0" smtClean="0">
                <a:latin typeface="Times New Roman" panose="02020603050405020304" pitchFamily="18" charset="0"/>
                <a:ea typeface="华文楷体" panose="02010600040101010101" pitchFamily="2" charset="-122"/>
              </a:rPr>
              <a:t>X</a:t>
            </a:r>
            <a:r>
              <a:rPr lang="zh-CN" altLang="en-US" dirty="0" smtClean="0">
                <a:latin typeface="Times New Roman" panose="02020603050405020304" pitchFamily="18" charset="0"/>
                <a:ea typeface="华文楷体" panose="02010600040101010101" pitchFamily="2" charset="-122"/>
              </a:rPr>
              <a:t>的结点并返回新树</a:t>
            </a:r>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ln>
            <a:solidFill>
              <a:schemeClr val="accent1"/>
            </a:solidFill>
          </a:ln>
        </p:spPr>
        <p:txBody>
          <a:bodyPr/>
          <a:lstStyle/>
          <a:p>
            <a:pPr eaLnBrk="1" hangingPunct="1">
              <a:buNone/>
            </a:pPr>
            <a:r>
              <a:rPr lang="en-US" altLang="zh-CN" sz="2400" b="1" dirty="0">
                <a:solidFill>
                  <a:srgbClr val="800000"/>
                </a:solidFill>
                <a:ea typeface="华文楷体" panose="02010600040101010101" pitchFamily="2" charset="-122"/>
              </a:rPr>
              <a:t>[</a:t>
            </a:r>
            <a:r>
              <a:rPr lang="zh-CN" altLang="en-US" sz="2400" b="1" dirty="0">
                <a:solidFill>
                  <a:srgbClr val="800000"/>
                </a:solidFill>
                <a:ea typeface="华文楷体" panose="02010600040101010101" pitchFamily="2" charset="-122"/>
              </a:rPr>
              <a:t>建空树</a:t>
            </a:r>
            <a:r>
              <a:rPr lang="en-US" altLang="zh-CN" sz="2400" b="1" dirty="0">
                <a:solidFill>
                  <a:srgbClr val="800000"/>
                </a:solidFill>
                <a:ea typeface="华文楷体" panose="02010600040101010101" pitchFamily="2" charset="-122"/>
              </a:rPr>
              <a:t>/</a:t>
            </a:r>
            <a:r>
              <a:rPr lang="zh-CN" altLang="en-US" sz="2400" b="1" dirty="0">
                <a:solidFill>
                  <a:srgbClr val="800000"/>
                </a:solidFill>
                <a:ea typeface="华文楷体" panose="02010600040101010101" pitchFamily="2" charset="-122"/>
              </a:rPr>
              <a:t>树置空</a:t>
            </a:r>
            <a:r>
              <a:rPr lang="en-US" altLang="zh-CN" sz="2400" b="1" dirty="0">
                <a:solidFill>
                  <a:srgbClr val="800000"/>
                </a:solidFill>
                <a:ea typeface="华文楷体" panose="02010600040101010101" pitchFamily="2" charset="-122"/>
              </a:rPr>
              <a:t>]</a:t>
            </a:r>
            <a:endParaRPr lang="en-US" altLang="zh-CN" sz="2400" b="1" dirty="0">
              <a:solidFill>
                <a:srgbClr val="800000"/>
              </a:solidFill>
              <a:ea typeface="华文楷体" panose="02010600040101010101" pitchFamily="2" charset="-122"/>
            </a:endParaRPr>
          </a:p>
          <a:p>
            <a:pPr marL="0" indent="0">
              <a:buNone/>
            </a:pPr>
            <a:r>
              <a:rPr lang="zh-CN" altLang="en-US" sz="2400" dirty="0" smtClean="0">
                <a:ea typeface="华文楷体" panose="02010600040101010101" pitchFamily="2" charset="-122"/>
              </a:rPr>
              <a:t>若树不空则置空返回空，若树为空直接返回空</a:t>
            </a:r>
            <a:endParaRPr lang="en-US" altLang="zh-CN" sz="2400" dirty="0" smtClean="0">
              <a:ea typeface="华文楷体" panose="02010600040101010101" pitchFamily="2" charset="-122"/>
            </a:endParaRPr>
          </a:p>
          <a:p>
            <a:pPr marL="0" indent="0">
              <a:buNone/>
            </a:pPr>
            <a:r>
              <a:rPr lang="en-US" altLang="zh-CN" sz="2400" dirty="0" err="1">
                <a:ea typeface="华文楷体" panose="02010600040101010101" pitchFamily="2" charset="-122"/>
              </a:rPr>
              <a:t>SearchTree</a:t>
            </a:r>
            <a:r>
              <a:rPr lang="en-US" altLang="zh-CN" sz="2400" dirty="0">
                <a:ea typeface="华文楷体" panose="02010600040101010101" pitchFamily="2" charset="-122"/>
              </a:rPr>
              <a:t> </a:t>
            </a:r>
            <a:r>
              <a:rPr lang="en-US" altLang="zh-CN" sz="2400" dirty="0" err="1">
                <a:ea typeface="华文楷体" panose="02010600040101010101" pitchFamily="2" charset="-122"/>
              </a:rPr>
              <a:t>MakeEmpty</a:t>
            </a:r>
            <a:r>
              <a:rPr lang="en-US" altLang="zh-CN" sz="2400" dirty="0">
                <a:ea typeface="华文楷体" panose="02010600040101010101" pitchFamily="2" charset="-122"/>
              </a:rPr>
              <a:t>(Search T</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marL="0" indent="0">
              <a:buNone/>
            </a:pP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marL="0" indent="0">
              <a:buNone/>
            </a:pPr>
            <a:r>
              <a:rPr lang="en-US" altLang="zh-CN" sz="2400" dirty="0">
                <a:ea typeface="华文楷体" panose="02010600040101010101" pitchFamily="2" charset="-122"/>
              </a:rPr>
              <a:t> </a:t>
            </a:r>
            <a:r>
              <a:rPr lang="en-US" altLang="zh-CN" sz="2400" dirty="0" smtClean="0">
                <a:ea typeface="华文楷体" panose="02010600040101010101" pitchFamily="2" charset="-122"/>
              </a:rPr>
              <a:t>   if(T != NULL)</a:t>
            </a:r>
            <a:endParaRPr lang="en-US" altLang="zh-CN" sz="2400" dirty="0" smtClean="0">
              <a:ea typeface="华文楷体" panose="02010600040101010101" pitchFamily="2" charset="-122"/>
            </a:endParaRPr>
          </a:p>
          <a:p>
            <a:pPr marL="0" indent="0">
              <a:buNone/>
            </a:pPr>
            <a:r>
              <a:rPr lang="en-US" altLang="zh-CN" sz="2400" dirty="0">
                <a:ea typeface="华文楷体" panose="02010600040101010101" pitchFamily="2" charset="-122"/>
              </a:rPr>
              <a:t> </a:t>
            </a: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marL="0" indent="0">
              <a:buNone/>
            </a:pPr>
            <a:r>
              <a:rPr lang="en-US" altLang="zh-CN" sz="2400" dirty="0">
                <a:ea typeface="华文楷体" panose="02010600040101010101" pitchFamily="2" charset="-122"/>
              </a:rPr>
              <a:t> </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MakeEmpty</a:t>
            </a:r>
            <a:r>
              <a:rPr lang="en-US" altLang="zh-CN" sz="2400" dirty="0" smtClean="0">
                <a:ea typeface="华文楷体" panose="02010600040101010101" pitchFamily="2" charset="-122"/>
              </a:rPr>
              <a:t>(T-&gt;left);</a:t>
            </a:r>
            <a:endParaRPr lang="en-US" altLang="zh-CN" sz="2400" dirty="0" smtClean="0">
              <a:ea typeface="华文楷体" panose="02010600040101010101" pitchFamily="2" charset="-122"/>
            </a:endParaRPr>
          </a:p>
          <a:p>
            <a:pPr marL="0" indent="0">
              <a:buNone/>
            </a:pPr>
            <a:r>
              <a:rPr lang="en-US" altLang="zh-CN" sz="2400" dirty="0">
                <a:ea typeface="华文楷体" panose="02010600040101010101" pitchFamily="2" charset="-122"/>
              </a:rPr>
              <a:t> </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MakeEmpty</a:t>
            </a:r>
            <a:r>
              <a:rPr lang="en-US" altLang="zh-CN" sz="2400" dirty="0" smtClean="0">
                <a:ea typeface="华文楷体" panose="02010600040101010101" pitchFamily="2" charset="-122"/>
              </a:rPr>
              <a:t>(T-&gt;right);</a:t>
            </a:r>
            <a:endParaRPr lang="en-US" altLang="zh-CN" sz="2400" dirty="0" smtClean="0">
              <a:ea typeface="华文楷体" panose="02010600040101010101" pitchFamily="2" charset="-122"/>
            </a:endParaRPr>
          </a:p>
          <a:p>
            <a:pPr marL="0" indent="0">
              <a:buNone/>
            </a:pPr>
            <a:r>
              <a:rPr lang="en-US" altLang="zh-CN" sz="2400" dirty="0">
                <a:ea typeface="华文楷体" panose="02010600040101010101" pitchFamily="2" charset="-122"/>
              </a:rPr>
              <a:t> </a:t>
            </a:r>
            <a:r>
              <a:rPr lang="en-US" altLang="zh-CN" sz="2400" dirty="0" smtClean="0">
                <a:ea typeface="华文楷体" panose="02010600040101010101" pitchFamily="2" charset="-122"/>
              </a:rPr>
              <a:t>       free(T);</a:t>
            </a:r>
            <a:endParaRPr lang="en-US" altLang="zh-CN" sz="2400" dirty="0" smtClean="0">
              <a:ea typeface="华文楷体" panose="02010600040101010101" pitchFamily="2" charset="-122"/>
            </a:endParaRPr>
          </a:p>
          <a:p>
            <a:pPr marL="0" indent="0">
              <a:buNone/>
            </a:pPr>
            <a:r>
              <a:rPr lang="en-US" altLang="zh-CN" sz="2400" dirty="0">
                <a:ea typeface="华文楷体" panose="02010600040101010101" pitchFamily="2" charset="-122"/>
              </a:rPr>
              <a:t> </a:t>
            </a: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marL="0" indent="0">
              <a:buNone/>
            </a:pPr>
            <a:r>
              <a:rPr lang="en-US" altLang="zh-CN" sz="2400" dirty="0">
                <a:ea typeface="华文楷体" panose="02010600040101010101" pitchFamily="2" charset="-122"/>
              </a:rPr>
              <a:t> </a:t>
            </a:r>
            <a:r>
              <a:rPr lang="en-US" altLang="zh-CN" sz="2400" dirty="0" smtClean="0">
                <a:ea typeface="华文楷体" panose="02010600040101010101" pitchFamily="2" charset="-122"/>
              </a:rPr>
              <a:t>    return NULL;   </a:t>
            </a:r>
            <a:endParaRPr lang="en-US" altLang="zh-CN" sz="2400" dirty="0" smtClean="0">
              <a:ea typeface="华文楷体" panose="02010600040101010101" pitchFamily="2" charset="-122"/>
            </a:endParaRPr>
          </a:p>
          <a:p>
            <a:pPr marL="0" indent="0">
              <a:buNone/>
            </a:pPr>
            <a:r>
              <a:rPr lang="en-US" altLang="zh-CN" sz="2400" dirty="0" smtClean="0">
                <a:ea typeface="华文楷体" panose="02010600040101010101" pitchFamily="2" charset="-122"/>
              </a:rPr>
              <a:t>}</a:t>
            </a:r>
            <a:endParaRPr lang="zh-CN" altLang="en-US" sz="2400" dirty="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页脚占位符 3"/>
          <p:cNvSpPr>
            <a:spLocks noGrp="1"/>
          </p:cNvSpPr>
          <p:nvPr>
            <p:ph type="ftr" sz="quarter" idx="10"/>
          </p:nvPr>
        </p:nvSpPr>
        <p:spPr/>
        <p:txBody>
          <a:bodyPr/>
          <a:lstStyle/>
          <a:p>
            <a:pPr>
              <a:defRPr/>
            </a:pPr>
            <a:r>
              <a:rPr lang="en-US" altLang="zh-CN"/>
              <a:t>BUPT SCST</a:t>
            </a:r>
            <a:endParaRPr lang="en-US" altLang="zh-CN"/>
          </a:p>
        </p:txBody>
      </p:sp>
      <p:sp>
        <p:nvSpPr>
          <p:cNvPr id="48" name="日期占位符 5"/>
          <p:cNvSpPr>
            <a:spLocks noGrp="1"/>
          </p:cNvSpPr>
          <p:nvPr>
            <p:ph type="dt" sz="quarter" idx="12"/>
          </p:nvPr>
        </p:nvSpPr>
        <p:spPr/>
        <p:txBody>
          <a:bodyPr/>
          <a:lstStyle/>
          <a:p>
            <a:pPr>
              <a:defRPr/>
            </a:pPr>
            <a:r>
              <a:rPr lang="en-US" altLang="zh-CN"/>
              <a:t>BUPT</a:t>
            </a:r>
            <a:endParaRPr lang="en-US" altLang="zh-CN"/>
          </a:p>
        </p:txBody>
      </p:sp>
      <p:sp>
        <p:nvSpPr>
          <p:cNvPr id="2458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24581" name="Rectangle 3"/>
          <p:cNvSpPr>
            <a:spLocks noGrp="1" noChangeArrowheads="1"/>
          </p:cNvSpPr>
          <p:nvPr>
            <p:ph type="body" idx="1"/>
          </p:nvPr>
        </p:nvSpPr>
        <p:spPr>
          <a:xfrm>
            <a:off x="128588" y="1143988"/>
            <a:ext cx="8229600" cy="5248275"/>
          </a:xfrm>
        </p:spPr>
        <p:txBody>
          <a:bodyPr/>
          <a:lstStyle/>
          <a:p>
            <a:pPr eaLnBrk="1" hangingPunct="1">
              <a:buFont typeface="Wingdings" panose="05000000000000000000" pitchFamily="2" charset="2"/>
              <a:buNone/>
            </a:pPr>
            <a:r>
              <a:rPr lang="en-US" altLang="zh-CN" sz="2400" b="1" dirty="0" smtClean="0">
                <a:solidFill>
                  <a:srgbClr val="800000"/>
                </a:solidFill>
                <a:ea typeface="华文楷体" panose="02010600040101010101" pitchFamily="2" charset="-122"/>
              </a:rPr>
              <a:t>[</a:t>
            </a:r>
            <a:r>
              <a:rPr lang="zh-CN" altLang="en-US" sz="2400" b="1" dirty="0" smtClean="0">
                <a:solidFill>
                  <a:srgbClr val="800000"/>
                </a:solidFill>
                <a:ea typeface="华文楷体" panose="02010600040101010101" pitchFamily="2" charset="-122"/>
              </a:rPr>
              <a:t>查找</a:t>
            </a:r>
            <a:r>
              <a:rPr lang="en-US" altLang="zh-CN" sz="2400" b="1" dirty="0" smtClean="0">
                <a:solidFill>
                  <a:srgbClr val="800000"/>
                </a:solidFill>
                <a:ea typeface="华文楷体" panose="02010600040101010101" pitchFamily="2" charset="-122"/>
              </a:rPr>
              <a:t>]</a:t>
            </a:r>
            <a:endParaRPr lang="en-US" altLang="zh-CN" sz="2400" b="1" dirty="0" smtClean="0">
              <a:solidFill>
                <a:srgbClr val="800000"/>
              </a:solidFill>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rgbClr val="FF0066"/>
                </a:solidFill>
                <a:ea typeface="华文楷体" panose="02010600040101010101" pitchFamily="2" charset="-122"/>
              </a:rPr>
              <a:t>     [</a:t>
            </a:r>
            <a:r>
              <a:rPr lang="zh-CN" altLang="en-US" sz="2400" b="1" dirty="0" smtClean="0">
                <a:solidFill>
                  <a:srgbClr val="FF0066"/>
                </a:solidFill>
                <a:ea typeface="华文楷体" panose="02010600040101010101" pitchFamily="2" charset="-122"/>
              </a:rPr>
              <a:t>例</a:t>
            </a:r>
            <a:r>
              <a:rPr lang="en-US" altLang="zh-CN" sz="2400" b="1" dirty="0" smtClean="0">
                <a:solidFill>
                  <a:srgbClr val="FF0066"/>
                </a:solidFill>
                <a:ea typeface="华文楷体" panose="02010600040101010101" pitchFamily="2" charset="-122"/>
              </a:rPr>
              <a:t>]</a:t>
            </a:r>
            <a:r>
              <a:rPr lang="en-US" altLang="zh-CN" sz="2400" dirty="0" smtClean="0">
                <a:ea typeface="华文楷体" panose="02010600040101010101" pitchFamily="2" charset="-122"/>
              </a:rPr>
              <a:t>            K=28                              K=32</a:t>
            </a:r>
            <a:endParaRPr lang="en-US" altLang="zh-CN" sz="2400" dirty="0" smtClean="0">
              <a:ea typeface="华文楷体" panose="02010600040101010101" pitchFamily="2" charset="-122"/>
            </a:endParaRPr>
          </a:p>
        </p:txBody>
      </p:sp>
      <p:sp>
        <p:nvSpPr>
          <p:cNvPr id="24582" name="Oval 4"/>
          <p:cNvSpPr>
            <a:spLocks noChangeArrowheads="1"/>
          </p:cNvSpPr>
          <p:nvPr/>
        </p:nvSpPr>
        <p:spPr bwMode="auto">
          <a:xfrm>
            <a:off x="2057400" y="2764424"/>
            <a:ext cx="457200" cy="314876"/>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4583" name="Oval 5"/>
          <p:cNvSpPr>
            <a:spLocks noChangeArrowheads="1"/>
          </p:cNvSpPr>
          <p:nvPr/>
        </p:nvSpPr>
        <p:spPr bwMode="auto">
          <a:xfrm>
            <a:off x="1219200" y="3221624"/>
            <a:ext cx="457200" cy="314876"/>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4584" name="Oval 6"/>
          <p:cNvSpPr>
            <a:spLocks noChangeArrowheads="1"/>
          </p:cNvSpPr>
          <p:nvPr/>
        </p:nvSpPr>
        <p:spPr bwMode="auto">
          <a:xfrm>
            <a:off x="2819400" y="3221624"/>
            <a:ext cx="457200" cy="314876"/>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4585" name="Oval 7"/>
          <p:cNvSpPr>
            <a:spLocks noChangeArrowheads="1"/>
          </p:cNvSpPr>
          <p:nvPr/>
        </p:nvSpPr>
        <p:spPr bwMode="auto">
          <a:xfrm>
            <a:off x="609600" y="3678824"/>
            <a:ext cx="457200" cy="314876"/>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4586" name="Oval 8"/>
          <p:cNvSpPr>
            <a:spLocks noChangeArrowheads="1"/>
          </p:cNvSpPr>
          <p:nvPr/>
        </p:nvSpPr>
        <p:spPr bwMode="auto">
          <a:xfrm>
            <a:off x="1752600" y="3678824"/>
            <a:ext cx="457200" cy="314876"/>
          </a:xfrm>
          <a:prstGeom prst="ellipse">
            <a:avLst/>
          </a:prstGeom>
          <a:noFill/>
          <a:ln w="9525">
            <a:solidFill>
              <a:srgbClr val="FF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kumimoji="1" lang="zh-CN" altLang="zh-CN" sz="2400">
              <a:solidFill>
                <a:srgbClr val="FF3300"/>
              </a:solidFill>
              <a:latin typeface="Times New Roman" panose="02020603050405020304" pitchFamily="18" charset="0"/>
              <a:ea typeface="黑体" panose="02010609060101010101" pitchFamily="49" charset="-122"/>
            </a:endParaRPr>
          </a:p>
        </p:txBody>
      </p:sp>
      <p:sp>
        <p:nvSpPr>
          <p:cNvPr id="24587" name="Oval 9"/>
          <p:cNvSpPr>
            <a:spLocks noChangeArrowheads="1"/>
          </p:cNvSpPr>
          <p:nvPr/>
        </p:nvSpPr>
        <p:spPr bwMode="auto">
          <a:xfrm>
            <a:off x="3352800" y="3678824"/>
            <a:ext cx="457200" cy="314876"/>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4588" name="Line 10"/>
          <p:cNvSpPr>
            <a:spLocks noChangeShapeType="1"/>
          </p:cNvSpPr>
          <p:nvPr/>
        </p:nvSpPr>
        <p:spPr bwMode="auto">
          <a:xfrm flipH="1">
            <a:off x="1542622" y="2973188"/>
            <a:ext cx="514777" cy="2428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589" name="Line 11"/>
          <p:cNvSpPr>
            <a:spLocks noChangeShapeType="1"/>
          </p:cNvSpPr>
          <p:nvPr/>
        </p:nvSpPr>
        <p:spPr bwMode="auto">
          <a:xfrm flipH="1">
            <a:off x="967520" y="3506586"/>
            <a:ext cx="309255" cy="1722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590" name="Line 12"/>
          <p:cNvSpPr>
            <a:spLocks noChangeShapeType="1"/>
          </p:cNvSpPr>
          <p:nvPr/>
        </p:nvSpPr>
        <p:spPr bwMode="auto">
          <a:xfrm>
            <a:off x="1649838" y="3486158"/>
            <a:ext cx="331362" cy="14637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591" name="Line 13"/>
          <p:cNvSpPr>
            <a:spLocks noChangeShapeType="1"/>
          </p:cNvSpPr>
          <p:nvPr/>
        </p:nvSpPr>
        <p:spPr bwMode="auto">
          <a:xfrm>
            <a:off x="2506662" y="3094597"/>
            <a:ext cx="381000" cy="12595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592" name="Line 14"/>
          <p:cNvSpPr>
            <a:spLocks noChangeShapeType="1"/>
          </p:cNvSpPr>
          <p:nvPr/>
        </p:nvSpPr>
        <p:spPr bwMode="auto">
          <a:xfrm>
            <a:off x="3200400" y="3533291"/>
            <a:ext cx="228600" cy="17544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593" name="Text Box 15"/>
          <p:cNvSpPr txBox="1">
            <a:spLocks noChangeArrowheads="1"/>
          </p:cNvSpPr>
          <p:nvPr/>
        </p:nvSpPr>
        <p:spPr bwMode="auto">
          <a:xfrm>
            <a:off x="2576775" y="2236167"/>
            <a:ext cx="762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华文楷体" panose="02010600040101010101" pitchFamily="2" charset="-122"/>
              </a:rPr>
              <a:t>T</a:t>
            </a:r>
            <a:endParaRPr kumimoji="1" lang="en-US" altLang="zh-CN" sz="2400" dirty="0">
              <a:latin typeface="Times New Roman" panose="02020603050405020304" pitchFamily="18" charset="0"/>
              <a:ea typeface="华文楷体" panose="02010600040101010101" pitchFamily="2" charset="-122"/>
            </a:endParaRPr>
          </a:p>
        </p:txBody>
      </p:sp>
      <p:sp>
        <p:nvSpPr>
          <p:cNvPr id="24594" name="Line 16"/>
          <p:cNvSpPr>
            <a:spLocks noChangeShapeType="1"/>
          </p:cNvSpPr>
          <p:nvPr/>
        </p:nvSpPr>
        <p:spPr bwMode="auto">
          <a:xfrm flipH="1">
            <a:off x="2362200" y="2592187"/>
            <a:ext cx="304800" cy="12595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595" name="Text Box 17"/>
          <p:cNvSpPr txBox="1">
            <a:spLocks noChangeArrowheads="1"/>
          </p:cNvSpPr>
          <p:nvPr/>
        </p:nvSpPr>
        <p:spPr bwMode="auto">
          <a:xfrm>
            <a:off x="2117725" y="2723725"/>
            <a:ext cx="415498" cy="30523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45</a:t>
            </a:r>
            <a:endParaRPr lang="en-US" altLang="zh-CN" sz="1800" dirty="0">
              <a:latin typeface="Times New Roman" panose="02020603050405020304" pitchFamily="18" charset="0"/>
              <a:ea typeface="华文楷体" panose="02010600040101010101" pitchFamily="2" charset="-122"/>
            </a:endParaRPr>
          </a:p>
        </p:txBody>
      </p:sp>
      <p:sp>
        <p:nvSpPr>
          <p:cNvPr id="24596" name="Text Box 18"/>
          <p:cNvSpPr txBox="1">
            <a:spLocks noChangeArrowheads="1"/>
          </p:cNvSpPr>
          <p:nvPr/>
        </p:nvSpPr>
        <p:spPr bwMode="auto">
          <a:xfrm>
            <a:off x="1279525" y="3180925"/>
            <a:ext cx="415498" cy="30523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24</a:t>
            </a:r>
            <a:endParaRPr lang="en-US" altLang="zh-CN" sz="1800" dirty="0">
              <a:latin typeface="Times New Roman" panose="02020603050405020304" pitchFamily="18" charset="0"/>
              <a:ea typeface="华文楷体" panose="02010600040101010101" pitchFamily="2" charset="-122"/>
            </a:endParaRPr>
          </a:p>
        </p:txBody>
      </p:sp>
      <p:sp>
        <p:nvSpPr>
          <p:cNvPr id="24597" name="Text Box 19"/>
          <p:cNvSpPr txBox="1">
            <a:spLocks noChangeArrowheads="1"/>
          </p:cNvSpPr>
          <p:nvPr/>
        </p:nvSpPr>
        <p:spPr bwMode="auto">
          <a:xfrm>
            <a:off x="669925" y="3638125"/>
            <a:ext cx="415498" cy="30523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12</a:t>
            </a:r>
            <a:endParaRPr lang="en-US" altLang="zh-CN" sz="1800" dirty="0">
              <a:latin typeface="Times New Roman" panose="02020603050405020304" pitchFamily="18" charset="0"/>
              <a:ea typeface="华文楷体" panose="02010600040101010101" pitchFamily="2" charset="-122"/>
            </a:endParaRPr>
          </a:p>
        </p:txBody>
      </p:sp>
      <p:sp>
        <p:nvSpPr>
          <p:cNvPr id="24598" name="Text Box 20"/>
          <p:cNvSpPr txBox="1">
            <a:spLocks noChangeArrowheads="1"/>
          </p:cNvSpPr>
          <p:nvPr/>
        </p:nvSpPr>
        <p:spPr bwMode="auto">
          <a:xfrm>
            <a:off x="1839486" y="3612267"/>
            <a:ext cx="415498" cy="30523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28</a:t>
            </a:r>
            <a:endParaRPr lang="en-US" altLang="zh-CN" sz="1800" dirty="0">
              <a:latin typeface="Times New Roman" panose="02020603050405020304" pitchFamily="18" charset="0"/>
              <a:ea typeface="华文楷体" panose="02010600040101010101" pitchFamily="2" charset="-122"/>
            </a:endParaRPr>
          </a:p>
        </p:txBody>
      </p:sp>
      <p:sp>
        <p:nvSpPr>
          <p:cNvPr id="24599" name="Oval 21"/>
          <p:cNvSpPr>
            <a:spLocks noChangeArrowheads="1"/>
          </p:cNvSpPr>
          <p:nvPr/>
        </p:nvSpPr>
        <p:spPr bwMode="auto">
          <a:xfrm>
            <a:off x="6324600" y="2688224"/>
            <a:ext cx="457200" cy="314876"/>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4600" name="Oval 22"/>
          <p:cNvSpPr>
            <a:spLocks noChangeArrowheads="1"/>
          </p:cNvSpPr>
          <p:nvPr/>
        </p:nvSpPr>
        <p:spPr bwMode="auto">
          <a:xfrm>
            <a:off x="5562600" y="3145424"/>
            <a:ext cx="457200" cy="314876"/>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4601" name="Oval 23"/>
          <p:cNvSpPr>
            <a:spLocks noChangeArrowheads="1"/>
          </p:cNvSpPr>
          <p:nvPr/>
        </p:nvSpPr>
        <p:spPr bwMode="auto">
          <a:xfrm>
            <a:off x="7010400" y="3145424"/>
            <a:ext cx="457200" cy="314876"/>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4602" name="Oval 24"/>
          <p:cNvSpPr>
            <a:spLocks noChangeArrowheads="1"/>
          </p:cNvSpPr>
          <p:nvPr/>
        </p:nvSpPr>
        <p:spPr bwMode="auto">
          <a:xfrm>
            <a:off x="5181600" y="3602624"/>
            <a:ext cx="457200" cy="314876"/>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4603" name="Oval 25"/>
          <p:cNvSpPr>
            <a:spLocks noChangeArrowheads="1"/>
          </p:cNvSpPr>
          <p:nvPr/>
        </p:nvSpPr>
        <p:spPr bwMode="auto">
          <a:xfrm>
            <a:off x="6019800" y="3602624"/>
            <a:ext cx="457200" cy="314876"/>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4604" name="Oval 26"/>
          <p:cNvSpPr>
            <a:spLocks noChangeArrowheads="1"/>
          </p:cNvSpPr>
          <p:nvPr/>
        </p:nvSpPr>
        <p:spPr bwMode="auto">
          <a:xfrm>
            <a:off x="7467600" y="3602624"/>
            <a:ext cx="457200" cy="314876"/>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4605" name="Oval 27"/>
          <p:cNvSpPr>
            <a:spLocks noChangeArrowheads="1"/>
          </p:cNvSpPr>
          <p:nvPr/>
        </p:nvSpPr>
        <p:spPr bwMode="auto">
          <a:xfrm>
            <a:off x="6553200" y="4059824"/>
            <a:ext cx="457200" cy="314876"/>
          </a:xfrm>
          <a:prstGeom prst="ellipse">
            <a:avLst/>
          </a:prstGeom>
          <a:noFill/>
          <a:ln w="9525">
            <a:solidFill>
              <a:srgbClr val="FF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24606" name="Line 28"/>
          <p:cNvSpPr>
            <a:spLocks noChangeShapeType="1"/>
          </p:cNvSpPr>
          <p:nvPr/>
        </p:nvSpPr>
        <p:spPr bwMode="auto">
          <a:xfrm flipH="1">
            <a:off x="5867401" y="2938509"/>
            <a:ext cx="457200" cy="20815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07" name="Line 29"/>
          <p:cNvSpPr>
            <a:spLocks noChangeShapeType="1"/>
          </p:cNvSpPr>
          <p:nvPr/>
        </p:nvSpPr>
        <p:spPr bwMode="auto">
          <a:xfrm>
            <a:off x="6781800" y="2920288"/>
            <a:ext cx="304802" cy="2251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08" name="Line 30"/>
          <p:cNvSpPr>
            <a:spLocks noChangeShapeType="1"/>
          </p:cNvSpPr>
          <p:nvPr/>
        </p:nvSpPr>
        <p:spPr bwMode="auto">
          <a:xfrm flipH="1">
            <a:off x="5391575" y="3430386"/>
            <a:ext cx="247225" cy="1722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09" name="Line 31"/>
          <p:cNvSpPr>
            <a:spLocks noChangeShapeType="1"/>
          </p:cNvSpPr>
          <p:nvPr/>
        </p:nvSpPr>
        <p:spPr bwMode="auto">
          <a:xfrm>
            <a:off x="6019801" y="3430386"/>
            <a:ext cx="113445" cy="1463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10" name="Line 32"/>
          <p:cNvSpPr>
            <a:spLocks noChangeShapeType="1"/>
          </p:cNvSpPr>
          <p:nvPr/>
        </p:nvSpPr>
        <p:spPr bwMode="auto">
          <a:xfrm>
            <a:off x="7467600" y="3360800"/>
            <a:ext cx="228600" cy="22867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11" name="Line 33"/>
          <p:cNvSpPr>
            <a:spLocks noChangeShapeType="1"/>
          </p:cNvSpPr>
          <p:nvPr/>
        </p:nvSpPr>
        <p:spPr bwMode="auto">
          <a:xfrm>
            <a:off x="6477000" y="3818000"/>
            <a:ext cx="228600" cy="188925"/>
          </a:xfrm>
          <a:prstGeom prst="line">
            <a:avLst/>
          </a:prstGeom>
          <a:noFill/>
          <a:ln w="9525">
            <a:solidFill>
              <a:srgbClr val="FF33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12" name="Text Box 34"/>
          <p:cNvSpPr txBox="1">
            <a:spLocks noChangeArrowheads="1"/>
          </p:cNvSpPr>
          <p:nvPr/>
        </p:nvSpPr>
        <p:spPr bwMode="auto">
          <a:xfrm>
            <a:off x="6858000" y="2161437"/>
            <a:ext cx="838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T</a:t>
            </a:r>
            <a:endParaRPr kumimoji="1" lang="en-US" altLang="zh-CN" sz="2400" dirty="0">
              <a:latin typeface="Times New Roman" panose="02020603050405020304" pitchFamily="18" charset="0"/>
              <a:ea typeface="华文楷体" panose="02010600040101010101" pitchFamily="2" charset="-122"/>
            </a:endParaRPr>
          </a:p>
        </p:txBody>
      </p:sp>
      <p:sp>
        <p:nvSpPr>
          <p:cNvPr id="24613" name="Line 35"/>
          <p:cNvSpPr>
            <a:spLocks noChangeShapeType="1"/>
          </p:cNvSpPr>
          <p:nvPr/>
        </p:nvSpPr>
        <p:spPr bwMode="auto">
          <a:xfrm flipH="1">
            <a:off x="6553200" y="2446400"/>
            <a:ext cx="381000" cy="188925"/>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14" name="Line 36"/>
          <p:cNvSpPr>
            <a:spLocks noChangeShapeType="1"/>
          </p:cNvSpPr>
          <p:nvPr/>
        </p:nvSpPr>
        <p:spPr bwMode="auto">
          <a:xfrm>
            <a:off x="4572000" y="1075273"/>
            <a:ext cx="0" cy="3877727"/>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4615" name="Text Box 37"/>
          <p:cNvSpPr txBox="1">
            <a:spLocks noChangeArrowheads="1"/>
          </p:cNvSpPr>
          <p:nvPr/>
        </p:nvSpPr>
        <p:spPr bwMode="auto">
          <a:xfrm>
            <a:off x="6384925" y="2647525"/>
            <a:ext cx="415498" cy="30523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45</a:t>
            </a:r>
            <a:endParaRPr lang="en-US" altLang="zh-CN" sz="1800" dirty="0">
              <a:latin typeface="Times New Roman" panose="02020603050405020304" pitchFamily="18" charset="0"/>
              <a:ea typeface="华文楷体" panose="02010600040101010101" pitchFamily="2" charset="-122"/>
            </a:endParaRPr>
          </a:p>
        </p:txBody>
      </p:sp>
      <p:sp>
        <p:nvSpPr>
          <p:cNvPr id="24616" name="Text Box 38"/>
          <p:cNvSpPr txBox="1">
            <a:spLocks noChangeArrowheads="1"/>
          </p:cNvSpPr>
          <p:nvPr/>
        </p:nvSpPr>
        <p:spPr bwMode="auto">
          <a:xfrm>
            <a:off x="2879725" y="3180925"/>
            <a:ext cx="415498" cy="30523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53</a:t>
            </a:r>
            <a:endParaRPr lang="en-US" altLang="zh-CN" sz="1800" dirty="0">
              <a:latin typeface="Times New Roman" panose="02020603050405020304" pitchFamily="18" charset="0"/>
              <a:ea typeface="华文楷体" panose="02010600040101010101" pitchFamily="2" charset="-122"/>
            </a:endParaRPr>
          </a:p>
        </p:txBody>
      </p:sp>
      <p:sp>
        <p:nvSpPr>
          <p:cNvPr id="24617" name="Text Box 39"/>
          <p:cNvSpPr txBox="1">
            <a:spLocks noChangeArrowheads="1"/>
          </p:cNvSpPr>
          <p:nvPr/>
        </p:nvSpPr>
        <p:spPr bwMode="auto">
          <a:xfrm>
            <a:off x="3413125" y="3638125"/>
            <a:ext cx="415498" cy="30523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90</a:t>
            </a:r>
            <a:endParaRPr lang="en-US" altLang="zh-CN" sz="1800" dirty="0">
              <a:latin typeface="Times New Roman" panose="02020603050405020304" pitchFamily="18" charset="0"/>
              <a:ea typeface="华文楷体" panose="02010600040101010101" pitchFamily="2" charset="-122"/>
            </a:endParaRPr>
          </a:p>
        </p:txBody>
      </p:sp>
      <p:sp>
        <p:nvSpPr>
          <p:cNvPr id="24618" name="Text Box 40"/>
          <p:cNvSpPr txBox="1">
            <a:spLocks noChangeArrowheads="1"/>
          </p:cNvSpPr>
          <p:nvPr/>
        </p:nvSpPr>
        <p:spPr bwMode="auto">
          <a:xfrm>
            <a:off x="5699125" y="3180925"/>
            <a:ext cx="415498" cy="30523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24</a:t>
            </a:r>
            <a:endParaRPr lang="en-US" altLang="zh-CN" sz="1800" dirty="0">
              <a:latin typeface="Times New Roman" panose="02020603050405020304" pitchFamily="18" charset="0"/>
              <a:ea typeface="华文楷体" panose="02010600040101010101" pitchFamily="2" charset="-122"/>
            </a:endParaRPr>
          </a:p>
        </p:txBody>
      </p:sp>
      <p:sp>
        <p:nvSpPr>
          <p:cNvPr id="24619" name="Text Box 41"/>
          <p:cNvSpPr txBox="1">
            <a:spLocks noChangeArrowheads="1"/>
          </p:cNvSpPr>
          <p:nvPr/>
        </p:nvSpPr>
        <p:spPr bwMode="auto">
          <a:xfrm>
            <a:off x="5241925" y="3638125"/>
            <a:ext cx="415498" cy="30523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12</a:t>
            </a:r>
            <a:endParaRPr lang="en-US" altLang="zh-CN" sz="1800" dirty="0">
              <a:latin typeface="Times New Roman" panose="02020603050405020304" pitchFamily="18" charset="0"/>
              <a:ea typeface="华文楷体" panose="02010600040101010101" pitchFamily="2" charset="-122"/>
            </a:endParaRPr>
          </a:p>
        </p:txBody>
      </p:sp>
      <p:sp>
        <p:nvSpPr>
          <p:cNvPr id="24620" name="Text Box 42"/>
          <p:cNvSpPr txBox="1">
            <a:spLocks noChangeArrowheads="1"/>
          </p:cNvSpPr>
          <p:nvPr/>
        </p:nvSpPr>
        <p:spPr bwMode="auto">
          <a:xfrm>
            <a:off x="6080125" y="3561925"/>
            <a:ext cx="415498" cy="30523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28</a:t>
            </a:r>
            <a:endParaRPr lang="en-US" altLang="zh-CN" sz="1800" dirty="0">
              <a:latin typeface="Times New Roman" panose="02020603050405020304" pitchFamily="18" charset="0"/>
              <a:ea typeface="华文楷体" panose="02010600040101010101" pitchFamily="2" charset="-122"/>
            </a:endParaRPr>
          </a:p>
        </p:txBody>
      </p:sp>
      <p:sp>
        <p:nvSpPr>
          <p:cNvPr id="24621" name="Text Box 43"/>
          <p:cNvSpPr txBox="1">
            <a:spLocks noChangeArrowheads="1"/>
          </p:cNvSpPr>
          <p:nvPr/>
        </p:nvSpPr>
        <p:spPr bwMode="auto">
          <a:xfrm>
            <a:off x="6559858" y="4007912"/>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smtClean="0">
                <a:solidFill>
                  <a:srgbClr val="A63204"/>
                </a:solidFill>
                <a:latin typeface="Times New Roman" panose="02020603050405020304" pitchFamily="18" charset="0"/>
                <a:ea typeface="华文楷体" panose="02010600040101010101" pitchFamily="2" charset="-122"/>
              </a:rPr>
              <a:t>32</a:t>
            </a:r>
            <a:endParaRPr lang="en-US" altLang="zh-CN" sz="1800" dirty="0">
              <a:solidFill>
                <a:srgbClr val="A63204"/>
              </a:solidFill>
              <a:latin typeface="Times New Roman" panose="02020603050405020304" pitchFamily="18" charset="0"/>
              <a:ea typeface="华文楷体" panose="02010600040101010101" pitchFamily="2" charset="-122"/>
            </a:endParaRPr>
          </a:p>
        </p:txBody>
      </p:sp>
      <p:sp>
        <p:nvSpPr>
          <p:cNvPr id="24622" name="Text Box 44"/>
          <p:cNvSpPr txBox="1">
            <a:spLocks noChangeArrowheads="1"/>
          </p:cNvSpPr>
          <p:nvPr/>
        </p:nvSpPr>
        <p:spPr bwMode="auto">
          <a:xfrm>
            <a:off x="7070725" y="3180925"/>
            <a:ext cx="415498" cy="30523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53</a:t>
            </a:r>
            <a:endParaRPr lang="en-US" altLang="zh-CN" sz="1800" dirty="0">
              <a:latin typeface="Times New Roman" panose="02020603050405020304" pitchFamily="18" charset="0"/>
              <a:ea typeface="华文楷体" panose="02010600040101010101" pitchFamily="2" charset="-122"/>
            </a:endParaRPr>
          </a:p>
        </p:txBody>
      </p:sp>
      <p:sp>
        <p:nvSpPr>
          <p:cNvPr id="24623" name="Text Box 45"/>
          <p:cNvSpPr txBox="1">
            <a:spLocks noChangeArrowheads="1"/>
          </p:cNvSpPr>
          <p:nvPr/>
        </p:nvSpPr>
        <p:spPr bwMode="auto">
          <a:xfrm>
            <a:off x="7486223" y="3506587"/>
            <a:ext cx="415498" cy="30523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90</a:t>
            </a:r>
            <a:endParaRPr lang="en-US" altLang="zh-CN" sz="1800" dirty="0">
              <a:latin typeface="Times New Roman" panose="02020603050405020304" pitchFamily="18" charset="0"/>
              <a:ea typeface="华文楷体" panose="02010600040101010101" pitchFamily="2" charset="-122"/>
            </a:endParaRPr>
          </a:p>
        </p:txBody>
      </p:sp>
      <p:sp>
        <p:nvSpPr>
          <p:cNvPr id="24624" name="Text Box 46"/>
          <p:cNvSpPr txBox="1">
            <a:spLocks noChangeArrowheads="1"/>
          </p:cNvSpPr>
          <p:nvPr/>
        </p:nvSpPr>
        <p:spPr bwMode="auto">
          <a:xfrm>
            <a:off x="1415301" y="5045750"/>
            <a:ext cx="6178669" cy="1631216"/>
          </a:xfrm>
          <a:prstGeom prst="rect">
            <a:avLst/>
          </a:prstGeom>
          <a:noFill/>
          <a:ln w="22225">
            <a:solidFill>
              <a:schemeClr val="accent1"/>
            </a:solidFill>
            <a:miter lim="800000"/>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1" eaLnBrk="1" hangingPunct="1">
              <a:spcBef>
                <a:spcPct val="0"/>
              </a:spcBef>
              <a:buClrTx/>
              <a:buFontTx/>
              <a:buNone/>
            </a:pPr>
            <a:r>
              <a:rPr kumimoji="1" lang="en-US" altLang="zh-CN" sz="1800" dirty="0">
                <a:latin typeface="Times New Roman" panose="02020603050405020304" pitchFamily="18" charset="0"/>
                <a:ea typeface="华文楷体" panose="02010600040101010101" pitchFamily="2" charset="-122"/>
              </a:rPr>
              <a:t> </a:t>
            </a:r>
            <a:r>
              <a:rPr kumimoji="1" lang="zh-CN" altLang="en-US" sz="2000" dirty="0">
                <a:latin typeface="Times New Roman" panose="02020603050405020304" pitchFamily="18" charset="0"/>
                <a:ea typeface="华文楷体" panose="02010600040101010101" pitchFamily="2" charset="-122"/>
              </a:rPr>
              <a:t>查找步骤</a:t>
            </a:r>
            <a:r>
              <a:rPr kumimoji="1" lang="zh-CN" altLang="en-US" sz="2000" dirty="0" smtClean="0">
                <a:latin typeface="Times New Roman" panose="02020603050405020304" pitchFamily="18" charset="0"/>
                <a:ea typeface="华文楷体" panose="02010600040101010101" pitchFamily="2" charset="-122"/>
              </a:rPr>
              <a:t>：</a:t>
            </a:r>
            <a:endParaRPr kumimoji="1" lang="en-US" altLang="zh-CN" sz="2000" dirty="0" smtClean="0">
              <a:latin typeface="Times New Roman" panose="02020603050405020304" pitchFamily="18" charset="0"/>
              <a:ea typeface="华文楷体" panose="02010600040101010101" pitchFamily="2" charset="-122"/>
            </a:endParaRPr>
          </a:p>
          <a:p>
            <a:pPr lvl="1" eaLnBrk="1" hangingPunct="1">
              <a:spcBef>
                <a:spcPct val="0"/>
              </a:spcBef>
              <a:buClrTx/>
              <a:buFontTx/>
              <a:buNone/>
            </a:pPr>
            <a:r>
              <a:rPr kumimoji="1" lang="zh-CN" altLang="en-US" sz="2000" dirty="0" smtClean="0">
                <a:latin typeface="Times New Roman" panose="02020603050405020304" pitchFamily="18" charset="0"/>
                <a:ea typeface="华文楷体" panose="02010600040101010101" pitchFamily="2" charset="-122"/>
              </a:rPr>
              <a:t>若</a:t>
            </a:r>
            <a:r>
              <a:rPr kumimoji="1" lang="zh-CN" altLang="en-US" sz="2000" dirty="0">
                <a:latin typeface="Times New Roman" panose="02020603050405020304" pitchFamily="18" charset="0"/>
                <a:ea typeface="华文楷体" panose="02010600040101010101" pitchFamily="2" charset="-122"/>
              </a:rPr>
              <a:t>根结点的关键字值等于查找的关键字，成功</a:t>
            </a:r>
            <a:r>
              <a:rPr kumimoji="1" lang="zh-CN" altLang="en-US" sz="2000" dirty="0" smtClean="0">
                <a:latin typeface="Times New Roman" panose="02020603050405020304" pitchFamily="18" charset="0"/>
                <a:ea typeface="华文楷体" panose="02010600040101010101" pitchFamily="2" charset="-122"/>
              </a:rPr>
              <a:t>。</a:t>
            </a:r>
            <a:endParaRPr kumimoji="1" lang="en-US" altLang="zh-CN" sz="2000" dirty="0" smtClean="0">
              <a:latin typeface="Times New Roman" panose="02020603050405020304" pitchFamily="18" charset="0"/>
              <a:ea typeface="华文楷体" panose="02010600040101010101" pitchFamily="2" charset="-122"/>
            </a:endParaRPr>
          </a:p>
          <a:p>
            <a:pPr lvl="1" eaLnBrk="1" hangingPunct="1">
              <a:spcBef>
                <a:spcPct val="0"/>
              </a:spcBef>
              <a:buClrTx/>
              <a:buFontTx/>
              <a:buNone/>
            </a:pPr>
            <a:r>
              <a:rPr kumimoji="1" lang="zh-CN" altLang="en-US" sz="2000" dirty="0" smtClean="0">
                <a:latin typeface="Times New Roman" panose="02020603050405020304" pitchFamily="18" charset="0"/>
                <a:ea typeface="华文楷体" panose="02010600040101010101" pitchFamily="2" charset="-122"/>
              </a:rPr>
              <a:t>否则</a:t>
            </a:r>
            <a:r>
              <a:rPr kumimoji="1" lang="zh-CN" altLang="en-US" sz="2000" dirty="0">
                <a:latin typeface="Times New Roman" panose="02020603050405020304" pitchFamily="18" charset="0"/>
                <a:ea typeface="华文楷体" panose="02010600040101010101" pitchFamily="2" charset="-122"/>
              </a:rPr>
              <a:t>，若小于根结点的关键字值，查其</a:t>
            </a:r>
            <a:r>
              <a:rPr kumimoji="1" lang="zh-CN" altLang="en-US" sz="2000" dirty="0" smtClean="0">
                <a:latin typeface="Times New Roman" panose="02020603050405020304" pitchFamily="18" charset="0"/>
                <a:ea typeface="华文楷体" panose="02010600040101010101" pitchFamily="2" charset="-122"/>
              </a:rPr>
              <a:t>左子树</a:t>
            </a:r>
            <a:endParaRPr kumimoji="1" lang="en-US" altLang="zh-CN" sz="2000" dirty="0">
              <a:latin typeface="Times New Roman" panose="02020603050405020304" pitchFamily="18" charset="0"/>
              <a:ea typeface="华文楷体" panose="02010600040101010101" pitchFamily="2" charset="-122"/>
            </a:endParaRPr>
          </a:p>
          <a:p>
            <a:pPr lvl="1" eaLnBrk="1" hangingPunct="1">
              <a:spcBef>
                <a:spcPct val="0"/>
              </a:spcBef>
              <a:buClrTx/>
              <a:buFontTx/>
              <a:buNone/>
            </a:pPr>
            <a:r>
              <a:rPr kumimoji="1" lang="en-US" altLang="zh-CN" sz="2000" dirty="0" smtClean="0">
                <a:latin typeface="Times New Roman" panose="02020603050405020304" pitchFamily="18" charset="0"/>
                <a:ea typeface="华文楷体" panose="02010600040101010101" pitchFamily="2" charset="-122"/>
              </a:rPr>
              <a:t>            </a:t>
            </a:r>
            <a:r>
              <a:rPr kumimoji="1" lang="zh-CN" altLang="en-US" sz="2000" dirty="0" smtClean="0">
                <a:latin typeface="Times New Roman" panose="02020603050405020304" pitchFamily="18" charset="0"/>
                <a:ea typeface="华文楷体" panose="02010600040101010101" pitchFamily="2" charset="-122"/>
              </a:rPr>
              <a:t>若</a:t>
            </a:r>
            <a:r>
              <a:rPr kumimoji="1" lang="zh-CN" altLang="en-US" sz="2000" dirty="0">
                <a:latin typeface="Times New Roman" panose="02020603050405020304" pitchFamily="18" charset="0"/>
                <a:ea typeface="华文楷体" panose="02010600040101010101" pitchFamily="2" charset="-122"/>
              </a:rPr>
              <a:t>大于根结点的关键字值，查其右子树。</a:t>
            </a:r>
            <a:endParaRPr kumimoji="1" lang="zh-CN" altLang="en-US" sz="2000" dirty="0">
              <a:latin typeface="Times New Roman" panose="02020603050405020304" pitchFamily="18" charset="0"/>
              <a:ea typeface="华文楷体" panose="02010600040101010101" pitchFamily="2" charset="-122"/>
            </a:endParaRPr>
          </a:p>
          <a:p>
            <a:pPr lvl="1" eaLnBrk="1" hangingPunct="1">
              <a:spcBef>
                <a:spcPct val="0"/>
              </a:spcBef>
              <a:buClrTx/>
              <a:buFontTx/>
              <a:buNone/>
            </a:pPr>
            <a:r>
              <a:rPr kumimoji="1" lang="zh-CN" altLang="en-US" sz="2000" dirty="0">
                <a:latin typeface="Times New Roman" panose="02020603050405020304" pitchFamily="18" charset="0"/>
                <a:ea typeface="华文楷体" panose="02010600040101010101" pitchFamily="2" charset="-122"/>
              </a:rPr>
              <a:t> </a:t>
            </a:r>
            <a:r>
              <a:rPr kumimoji="1" lang="zh-CN" altLang="en-US" sz="2000" dirty="0" smtClean="0">
                <a:latin typeface="Times New Roman" panose="02020603050405020304" pitchFamily="18" charset="0"/>
                <a:ea typeface="华文楷体" panose="02010600040101010101" pitchFamily="2" charset="-122"/>
              </a:rPr>
              <a:t>在</a:t>
            </a:r>
            <a:r>
              <a:rPr kumimoji="1" lang="zh-CN" altLang="en-US" sz="2000" dirty="0">
                <a:latin typeface="Times New Roman" panose="02020603050405020304" pitchFamily="18" charset="0"/>
                <a:ea typeface="华文楷体" panose="02010600040101010101" pitchFamily="2" charset="-122"/>
              </a:rPr>
              <a:t>左右子树上的操作类似。</a:t>
            </a:r>
            <a:endParaRPr kumimoji="1" lang="zh-CN" altLang="en-US" sz="2000" dirty="0">
              <a:latin typeface="Times New Roman" panose="02020603050405020304" pitchFamily="18" charset="0"/>
              <a:ea typeface="华文楷体" panose="02010600040101010101" pitchFamily="2" charset="-122"/>
            </a:endParaRPr>
          </a:p>
        </p:txBody>
      </p:sp>
      <p:sp>
        <p:nvSpPr>
          <p:cNvPr id="2" name="文本框 1"/>
          <p:cNvSpPr txBox="1"/>
          <p:nvPr/>
        </p:nvSpPr>
        <p:spPr>
          <a:xfrm>
            <a:off x="1468779" y="4504181"/>
            <a:ext cx="1107996" cy="369332"/>
          </a:xfrm>
          <a:prstGeom prst="rect">
            <a:avLst/>
          </a:prstGeom>
          <a:noFill/>
        </p:spPr>
        <p:txBody>
          <a:bodyPr wrap="none" rtlCol="0">
            <a:spAutoFit/>
          </a:bodyPr>
          <a:lstStyle/>
          <a:p>
            <a:r>
              <a:rPr lang="zh-CN" altLang="en-US" dirty="0" smtClean="0">
                <a:solidFill>
                  <a:srgbClr val="C00000"/>
                </a:solidFill>
                <a:latin typeface="华文楷体" panose="02010600040101010101" pitchFamily="2" charset="-122"/>
                <a:ea typeface="华文楷体" panose="02010600040101010101" pitchFamily="2" charset="-122"/>
              </a:rPr>
              <a:t>查找成功</a:t>
            </a:r>
            <a:endParaRPr lang="zh-CN" altLang="en-US" dirty="0">
              <a:solidFill>
                <a:srgbClr val="C00000"/>
              </a:solidFill>
              <a:latin typeface="华文楷体" panose="02010600040101010101" pitchFamily="2" charset="-122"/>
              <a:ea typeface="华文楷体" panose="02010600040101010101" pitchFamily="2" charset="-122"/>
            </a:endParaRPr>
          </a:p>
        </p:txBody>
      </p:sp>
      <p:sp>
        <p:nvSpPr>
          <p:cNvPr id="3" name="乘号 2"/>
          <p:cNvSpPr/>
          <p:nvPr/>
        </p:nvSpPr>
        <p:spPr bwMode="auto">
          <a:xfrm>
            <a:off x="6516996" y="3741897"/>
            <a:ext cx="322381" cy="317433"/>
          </a:xfrm>
          <a:prstGeom prst="mathMultiply">
            <a:avLst/>
          </a:prstGeom>
          <a:solidFill>
            <a:schemeClr val="accent1"/>
          </a:solidFill>
          <a:ln w="22225" cap="flat" cmpd="sng" algn="ctr">
            <a:solidFill>
              <a:schemeClr val="accent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51" name="文本框 50"/>
          <p:cNvSpPr txBox="1"/>
          <p:nvPr/>
        </p:nvSpPr>
        <p:spPr>
          <a:xfrm>
            <a:off x="6213609" y="4524983"/>
            <a:ext cx="1107996" cy="369332"/>
          </a:xfrm>
          <a:prstGeom prst="rect">
            <a:avLst/>
          </a:prstGeom>
          <a:noFill/>
        </p:spPr>
        <p:txBody>
          <a:bodyPr wrap="none" rtlCol="0">
            <a:spAutoFit/>
          </a:bodyPr>
          <a:lstStyle/>
          <a:p>
            <a:r>
              <a:rPr lang="zh-CN" altLang="en-US" dirty="0" smtClean="0">
                <a:solidFill>
                  <a:srgbClr val="C00000"/>
                </a:solidFill>
                <a:latin typeface="华文楷体" panose="02010600040101010101" pitchFamily="2" charset="-122"/>
                <a:ea typeface="华文楷体" panose="02010600040101010101" pitchFamily="2" charset="-122"/>
              </a:rPr>
              <a:t>查找失败</a:t>
            </a:r>
            <a:endParaRPr lang="zh-CN" altLang="en-US" dirty="0">
              <a:solidFill>
                <a:srgbClr val="C00000"/>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BUPT SCST</a:t>
            </a:r>
            <a:endParaRPr lang="en-US" altLang="zh-CN"/>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2560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25606" name="Text Box 4"/>
          <p:cNvSpPr txBox="1">
            <a:spLocks noChangeArrowheads="1"/>
          </p:cNvSpPr>
          <p:nvPr/>
        </p:nvSpPr>
        <p:spPr bwMode="auto">
          <a:xfrm>
            <a:off x="179512" y="1138162"/>
            <a:ext cx="1627369" cy="46166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b="1" dirty="0">
                <a:solidFill>
                  <a:srgbClr val="A63204"/>
                </a:solidFill>
                <a:latin typeface="Times New Roman" panose="02020603050405020304" pitchFamily="18" charset="0"/>
                <a:ea typeface="华文楷体" panose="02010600040101010101" pitchFamily="2" charset="-122"/>
              </a:rPr>
              <a:t>[</a:t>
            </a:r>
            <a:r>
              <a:rPr lang="zh-CN" altLang="en-US" sz="2400" b="1" dirty="0">
                <a:solidFill>
                  <a:srgbClr val="A63204"/>
                </a:solidFill>
                <a:latin typeface="Times New Roman" panose="02020603050405020304" pitchFamily="18" charset="0"/>
                <a:ea typeface="华文楷体" panose="02010600040101010101" pitchFamily="2" charset="-122"/>
              </a:rPr>
              <a:t>查找算法</a:t>
            </a:r>
            <a:r>
              <a:rPr lang="en-US" altLang="zh-CN" sz="2400" b="1" dirty="0">
                <a:solidFill>
                  <a:srgbClr val="A63204"/>
                </a:solidFill>
                <a:latin typeface="Times New Roman" panose="02020603050405020304" pitchFamily="18" charset="0"/>
                <a:ea typeface="华文楷体" panose="02010600040101010101" pitchFamily="2" charset="-122"/>
              </a:rPr>
              <a:t>]</a:t>
            </a:r>
            <a:endParaRPr lang="en-US" altLang="zh-CN" sz="2400" b="1" dirty="0">
              <a:solidFill>
                <a:srgbClr val="A63204"/>
              </a:solidFill>
              <a:latin typeface="Times New Roman" panose="02020603050405020304" pitchFamily="18" charset="0"/>
              <a:ea typeface="华文楷体" panose="02010600040101010101" pitchFamily="2" charset="-122"/>
            </a:endParaRPr>
          </a:p>
        </p:txBody>
      </p:sp>
      <p:sp>
        <p:nvSpPr>
          <p:cNvPr id="2" name="文本框 1"/>
          <p:cNvSpPr txBox="1"/>
          <p:nvPr/>
        </p:nvSpPr>
        <p:spPr>
          <a:xfrm>
            <a:off x="110862" y="1671189"/>
            <a:ext cx="4275594" cy="3416320"/>
          </a:xfrm>
          <a:prstGeom prst="rect">
            <a:avLst/>
          </a:prstGeom>
          <a:noFill/>
          <a:ln>
            <a:solidFill>
              <a:schemeClr val="accent1"/>
            </a:solidFill>
          </a:ln>
        </p:spPr>
        <p:txBody>
          <a:bodyPr wrap="none" rtlCol="0">
            <a:spAutoFit/>
          </a:bodyPr>
          <a:lstStyle/>
          <a:p>
            <a:r>
              <a:rPr lang="zh-CN" altLang="en-US" dirty="0" smtClean="0">
                <a:solidFill>
                  <a:srgbClr val="C00000"/>
                </a:solidFill>
                <a:ea typeface="华文楷体" panose="02010600040101010101" pitchFamily="2" charset="-122"/>
              </a:rPr>
              <a:t>递归实现</a:t>
            </a:r>
            <a:endParaRPr lang="en-US" altLang="zh-CN" dirty="0" smtClean="0">
              <a:solidFill>
                <a:srgbClr val="C00000"/>
              </a:solidFill>
              <a:ea typeface="华文楷体" panose="02010600040101010101" pitchFamily="2" charset="-122"/>
            </a:endParaRPr>
          </a:p>
          <a:p>
            <a:r>
              <a:rPr lang="en-US" altLang="zh-CN" dirty="0" smtClean="0">
                <a:ea typeface="华文楷体" panose="02010600040101010101" pitchFamily="2" charset="-122"/>
              </a:rPr>
              <a:t>Position Find(</a:t>
            </a:r>
            <a:r>
              <a:rPr lang="en-US" altLang="zh-CN" dirty="0" err="1" smtClean="0">
                <a:ea typeface="华文楷体" panose="02010600040101010101" pitchFamily="2" charset="-122"/>
              </a:rPr>
              <a:t>elemtype</a:t>
            </a:r>
            <a:r>
              <a:rPr lang="en-US" altLang="zh-CN" dirty="0" smtClean="0">
                <a:ea typeface="华文楷体" panose="02010600040101010101" pitchFamily="2" charset="-122"/>
              </a:rPr>
              <a:t> X, </a:t>
            </a:r>
            <a:r>
              <a:rPr lang="en-US" altLang="zh-CN" dirty="0" err="1" smtClean="0">
                <a:ea typeface="华文楷体" panose="02010600040101010101" pitchFamily="2" charset="-122"/>
              </a:rPr>
              <a:t>SearchTree</a:t>
            </a:r>
            <a:r>
              <a:rPr lang="en-US" altLang="zh-CN" dirty="0" smtClean="0">
                <a:ea typeface="华文楷体" panose="02010600040101010101" pitchFamily="2" charset="-122"/>
              </a:rPr>
              <a:t> T</a:t>
            </a:r>
            <a:endParaRPr lang="en-US" altLang="zh-CN" dirty="0" smtClean="0">
              <a:ea typeface="华文楷体" panose="02010600040101010101" pitchFamily="2" charset="-122"/>
            </a:endParaRPr>
          </a:p>
          <a:p>
            <a:r>
              <a:rPr lang="en-US" altLang="zh-CN" dirty="0" smtClean="0">
                <a:ea typeface="华文楷体" panose="02010600040101010101" pitchFamily="2" charset="-122"/>
              </a:rPr>
              <a:t> </a:t>
            </a:r>
            <a:r>
              <a:rPr lang="en-US" altLang="zh-CN" dirty="0" smtClean="0"/>
              <a:t>{</a:t>
            </a:r>
            <a:endParaRPr lang="en-US" altLang="zh-CN" dirty="0" smtClean="0"/>
          </a:p>
          <a:p>
            <a:r>
              <a:rPr lang="en-US" altLang="zh-CN" dirty="0"/>
              <a:t> </a:t>
            </a:r>
            <a:r>
              <a:rPr lang="en-US" altLang="zh-CN" dirty="0" smtClean="0"/>
              <a:t>   if (T == NULL)</a:t>
            </a:r>
            <a:endParaRPr lang="en-US" altLang="zh-CN" dirty="0" smtClean="0"/>
          </a:p>
          <a:p>
            <a:r>
              <a:rPr lang="en-US" altLang="zh-CN" dirty="0"/>
              <a:t> </a:t>
            </a:r>
            <a:r>
              <a:rPr lang="en-US" altLang="zh-CN" dirty="0" smtClean="0"/>
              <a:t>       return NULL;</a:t>
            </a:r>
            <a:endParaRPr lang="en-US" altLang="zh-CN" dirty="0" smtClean="0"/>
          </a:p>
          <a:p>
            <a:r>
              <a:rPr lang="en-US" altLang="zh-CN" dirty="0"/>
              <a:t> </a:t>
            </a:r>
            <a:r>
              <a:rPr lang="en-US" altLang="zh-CN" dirty="0" smtClean="0"/>
              <a:t>   if (X &lt; T-&gt;data)</a:t>
            </a:r>
            <a:endParaRPr lang="en-US" altLang="zh-CN" dirty="0" smtClean="0"/>
          </a:p>
          <a:p>
            <a:r>
              <a:rPr lang="en-US" altLang="zh-CN" dirty="0"/>
              <a:t> </a:t>
            </a:r>
            <a:r>
              <a:rPr lang="en-US" altLang="zh-CN" dirty="0" smtClean="0"/>
              <a:t>       return Find(X, T-&gt;left);</a:t>
            </a:r>
            <a:endParaRPr lang="en-US" altLang="zh-CN" dirty="0" smtClean="0"/>
          </a:p>
          <a:p>
            <a:r>
              <a:rPr lang="en-US" altLang="zh-CN" dirty="0"/>
              <a:t> </a:t>
            </a:r>
            <a:r>
              <a:rPr lang="en-US" altLang="zh-CN" dirty="0" smtClean="0"/>
              <a:t>   else if (X &gt; T-&gt;data)</a:t>
            </a:r>
            <a:endParaRPr lang="en-US" altLang="zh-CN" dirty="0" smtClean="0"/>
          </a:p>
          <a:p>
            <a:r>
              <a:rPr lang="en-US" altLang="zh-CN" dirty="0"/>
              <a:t> </a:t>
            </a:r>
            <a:r>
              <a:rPr lang="en-US" altLang="zh-CN" dirty="0" smtClean="0"/>
              <a:t>       return Find(X, T-&gt;right);</a:t>
            </a:r>
            <a:endParaRPr lang="en-US" altLang="zh-CN" dirty="0" smtClean="0"/>
          </a:p>
          <a:p>
            <a:r>
              <a:rPr lang="en-US" altLang="zh-CN" dirty="0"/>
              <a:t> </a:t>
            </a:r>
            <a:r>
              <a:rPr lang="en-US" altLang="zh-CN" dirty="0" smtClean="0"/>
              <a:t>   else</a:t>
            </a:r>
            <a:endParaRPr lang="en-US" altLang="zh-CN" dirty="0" smtClean="0"/>
          </a:p>
          <a:p>
            <a:r>
              <a:rPr lang="en-US" altLang="zh-CN" dirty="0"/>
              <a:t> </a:t>
            </a:r>
            <a:r>
              <a:rPr lang="en-US" altLang="zh-CN" dirty="0" smtClean="0"/>
              <a:t>       return T;</a:t>
            </a:r>
            <a:endParaRPr lang="en-US" altLang="zh-CN" dirty="0" smtClean="0"/>
          </a:p>
          <a:p>
            <a:r>
              <a:rPr lang="en-US" altLang="zh-CN" dirty="0" smtClean="0"/>
              <a:t>}</a:t>
            </a:r>
            <a:endParaRPr lang="zh-CN" altLang="en-US" dirty="0"/>
          </a:p>
        </p:txBody>
      </p:sp>
      <p:sp>
        <p:nvSpPr>
          <p:cNvPr id="3" name="文本框 2"/>
          <p:cNvSpPr txBox="1"/>
          <p:nvPr/>
        </p:nvSpPr>
        <p:spPr>
          <a:xfrm>
            <a:off x="110862" y="5161055"/>
            <a:ext cx="4275594" cy="1477328"/>
          </a:xfrm>
          <a:prstGeom prst="rect">
            <a:avLst/>
          </a:prstGeom>
          <a:noFill/>
          <a:ln>
            <a:solidFill>
              <a:srgbClr val="FF0000"/>
            </a:solidFill>
          </a:ln>
        </p:spPr>
        <p:txBody>
          <a:bodyPr wrap="square" rtlCol="0">
            <a:spAutoFit/>
          </a:bodyPr>
          <a:lstStyle/>
          <a:p>
            <a:r>
              <a:rPr lang="zh-CN" altLang="en-US" dirty="0" smtClean="0">
                <a:ea typeface="华文楷体" panose="02010600040101010101" pitchFamily="2" charset="-122"/>
              </a:rPr>
              <a:t>递归算法性能</a:t>
            </a:r>
            <a:endParaRPr lang="en-US" altLang="zh-CN" dirty="0" smtClean="0">
              <a:ea typeface="华文楷体" panose="02010600040101010101" pitchFamily="2" charset="-122"/>
            </a:endParaRPr>
          </a:p>
          <a:p>
            <a:r>
              <a:rPr lang="zh-CN" altLang="en-US" dirty="0" smtClean="0">
                <a:ea typeface="华文楷体" panose="02010600040101010101" pitchFamily="2" charset="-122"/>
              </a:rPr>
              <a:t>时间</a:t>
            </a:r>
            <a:r>
              <a:rPr lang="zh-CN" altLang="en-US" dirty="0">
                <a:ea typeface="华文楷体" panose="02010600040101010101" pitchFamily="2" charset="-122"/>
              </a:rPr>
              <a:t>复杂度：</a:t>
            </a:r>
            <a:r>
              <a:rPr lang="en-US" altLang="zh-CN" dirty="0">
                <a:ea typeface="华文楷体" panose="02010600040101010101" pitchFamily="2" charset="-122"/>
              </a:rPr>
              <a:t>O(n)</a:t>
            </a:r>
            <a:endParaRPr lang="en-US" altLang="zh-CN" dirty="0">
              <a:ea typeface="华文楷体" panose="02010600040101010101" pitchFamily="2" charset="-122"/>
            </a:endParaRPr>
          </a:p>
          <a:p>
            <a:r>
              <a:rPr lang="zh-CN" altLang="en-US" dirty="0">
                <a:ea typeface="华文楷体" panose="02010600040101010101" pitchFamily="2" charset="-122"/>
              </a:rPr>
              <a:t>空间复杂度</a:t>
            </a:r>
            <a:r>
              <a:rPr lang="zh-CN" altLang="en-US" dirty="0" smtClean="0">
                <a:ea typeface="华文楷体" panose="02010600040101010101" pitchFamily="2" charset="-122"/>
              </a:rPr>
              <a:t>：辅助变量</a:t>
            </a:r>
            <a:r>
              <a:rPr lang="zh-CN" altLang="en-US" dirty="0">
                <a:ea typeface="华文楷体" panose="02010600040101010101" pitchFamily="2" charset="-122"/>
              </a:rPr>
              <a:t>是工作栈</a:t>
            </a:r>
            <a:r>
              <a:rPr lang="en-US" altLang="zh-CN" dirty="0">
                <a:ea typeface="华文楷体" panose="02010600040101010101" pitchFamily="2" charset="-122"/>
              </a:rPr>
              <a:t>O(h</a:t>
            </a:r>
            <a:r>
              <a:rPr lang="en-US" altLang="zh-CN" dirty="0" smtClean="0">
                <a:ea typeface="华文楷体" panose="02010600040101010101" pitchFamily="2" charset="-122"/>
              </a:rPr>
              <a:t>)</a:t>
            </a:r>
            <a:endParaRPr lang="en-US" altLang="zh-CN" dirty="0">
              <a:ea typeface="华文楷体" panose="02010600040101010101" pitchFamily="2" charset="-122"/>
            </a:endParaRPr>
          </a:p>
          <a:p>
            <a:r>
              <a:rPr lang="zh-CN" altLang="en-US" dirty="0" smtClean="0">
                <a:ea typeface="华文楷体" panose="02010600040101010101" pitchFamily="2" charset="-122"/>
              </a:rPr>
              <a:t>    最好情况</a:t>
            </a:r>
            <a:r>
              <a:rPr lang="en-US" altLang="zh-CN" dirty="0" smtClean="0">
                <a:ea typeface="华文楷体" panose="02010600040101010101" pitchFamily="2" charset="-122"/>
              </a:rPr>
              <a:t>O(log</a:t>
            </a:r>
            <a:r>
              <a:rPr lang="en-US" altLang="zh-CN" baseline="-25000" dirty="0" smtClean="0">
                <a:ea typeface="华文楷体" panose="02010600040101010101" pitchFamily="2" charset="-122"/>
              </a:rPr>
              <a:t>2</a:t>
            </a:r>
            <a:r>
              <a:rPr lang="en-US" altLang="zh-CN" dirty="0" smtClean="0">
                <a:ea typeface="华文楷体" panose="02010600040101010101" pitchFamily="2" charset="-122"/>
              </a:rPr>
              <a:t>n</a:t>
            </a:r>
            <a:r>
              <a:rPr lang="en-US" altLang="zh-CN" dirty="0">
                <a:ea typeface="华文楷体" panose="02010600040101010101" pitchFamily="2" charset="-122"/>
              </a:rPr>
              <a:t>)</a:t>
            </a:r>
            <a:endParaRPr lang="en-US" altLang="zh-CN" dirty="0">
              <a:ea typeface="华文楷体" panose="02010600040101010101" pitchFamily="2" charset="-122"/>
            </a:endParaRPr>
          </a:p>
          <a:p>
            <a:r>
              <a:rPr lang="zh-CN" altLang="en-US" dirty="0" smtClean="0">
                <a:ea typeface="华文楷体" panose="02010600040101010101" pitchFamily="2" charset="-122"/>
              </a:rPr>
              <a:t>    最坏情况</a:t>
            </a:r>
            <a:r>
              <a:rPr lang="en-US" altLang="zh-CN" dirty="0" smtClean="0">
                <a:ea typeface="华文楷体" panose="02010600040101010101" pitchFamily="2" charset="-122"/>
              </a:rPr>
              <a:t>O(n</a:t>
            </a:r>
            <a:r>
              <a:rPr lang="en-US" altLang="zh-CN" dirty="0">
                <a:ea typeface="华文楷体" panose="02010600040101010101" pitchFamily="2" charset="-122"/>
              </a:rPr>
              <a:t>)</a:t>
            </a:r>
            <a:endParaRPr lang="zh-CN" altLang="en-US" dirty="0">
              <a:ea typeface="华文楷体" panose="02010600040101010101" pitchFamily="2" charset="-122"/>
            </a:endParaRPr>
          </a:p>
        </p:txBody>
      </p:sp>
      <p:sp>
        <p:nvSpPr>
          <p:cNvPr id="9" name="文本框 8"/>
          <p:cNvSpPr txBox="1"/>
          <p:nvPr/>
        </p:nvSpPr>
        <p:spPr>
          <a:xfrm>
            <a:off x="4572000" y="1658395"/>
            <a:ext cx="4506426" cy="3416320"/>
          </a:xfrm>
          <a:prstGeom prst="rect">
            <a:avLst/>
          </a:prstGeom>
          <a:noFill/>
          <a:ln>
            <a:solidFill>
              <a:schemeClr val="accent1"/>
            </a:solidFill>
          </a:ln>
        </p:spPr>
        <p:txBody>
          <a:bodyPr wrap="none" rtlCol="0">
            <a:spAutoFit/>
          </a:bodyPr>
          <a:lstStyle/>
          <a:p>
            <a:r>
              <a:rPr lang="zh-CN" altLang="en-US" dirty="0" smtClean="0">
                <a:solidFill>
                  <a:srgbClr val="C00000"/>
                </a:solidFill>
                <a:ea typeface="华文楷体" panose="02010600040101010101" pitchFamily="2" charset="-122"/>
              </a:rPr>
              <a:t>非递归实现</a:t>
            </a:r>
            <a:endParaRPr lang="en-US" altLang="zh-CN" dirty="0" smtClean="0">
              <a:solidFill>
                <a:srgbClr val="C00000"/>
              </a:solidFill>
              <a:ea typeface="华文楷体" panose="02010600040101010101" pitchFamily="2" charset="-122"/>
            </a:endParaRPr>
          </a:p>
          <a:p>
            <a:r>
              <a:rPr lang="en-US" altLang="zh-CN" dirty="0" smtClean="0">
                <a:ea typeface="华文楷体" panose="02010600040101010101" pitchFamily="2" charset="-122"/>
              </a:rPr>
              <a:t>Position Find(</a:t>
            </a:r>
            <a:r>
              <a:rPr lang="en-US" altLang="zh-CN" dirty="0" err="1" smtClean="0">
                <a:ea typeface="华文楷体" panose="02010600040101010101" pitchFamily="2" charset="-122"/>
              </a:rPr>
              <a:t>elemtype</a:t>
            </a:r>
            <a:r>
              <a:rPr lang="en-US" altLang="zh-CN" dirty="0" smtClean="0">
                <a:ea typeface="华文楷体" panose="02010600040101010101" pitchFamily="2" charset="-122"/>
              </a:rPr>
              <a:t> X, </a:t>
            </a:r>
            <a:r>
              <a:rPr lang="en-US" altLang="zh-CN" dirty="0" err="1" smtClean="0">
                <a:ea typeface="华文楷体" panose="02010600040101010101" pitchFamily="2" charset="-122"/>
              </a:rPr>
              <a:t>SearchTree</a:t>
            </a:r>
            <a:r>
              <a:rPr lang="en-US" altLang="zh-CN" dirty="0" smtClean="0">
                <a:ea typeface="华文楷体" panose="02010600040101010101" pitchFamily="2" charset="-122"/>
              </a:rPr>
              <a:t> T)</a:t>
            </a:r>
            <a:endParaRPr lang="en-US" altLang="zh-CN" dirty="0" smtClean="0">
              <a:ea typeface="华文楷体" panose="02010600040101010101" pitchFamily="2" charset="-122"/>
            </a:endParaRPr>
          </a:p>
          <a:p>
            <a:r>
              <a:rPr lang="en-US" altLang="zh-CN" dirty="0" smtClean="0">
                <a:ea typeface="华文楷体" panose="02010600040101010101" pitchFamily="2" charset="-122"/>
              </a:rPr>
              <a:t> </a:t>
            </a:r>
            <a:r>
              <a:rPr lang="en-US" altLang="zh-CN" dirty="0" smtClean="0"/>
              <a:t>{</a:t>
            </a:r>
            <a:endParaRPr lang="en-US" altLang="zh-CN" dirty="0" smtClean="0"/>
          </a:p>
          <a:p>
            <a:r>
              <a:rPr lang="en-US" altLang="zh-CN" dirty="0"/>
              <a:t> </a:t>
            </a:r>
            <a:r>
              <a:rPr lang="en-US" altLang="zh-CN" dirty="0" smtClean="0"/>
              <a:t>   while (T != NULL &amp;&amp; T-&gt;data != X)</a:t>
            </a:r>
            <a:endParaRPr lang="en-US" altLang="zh-CN" dirty="0" smtClean="0"/>
          </a:p>
          <a:p>
            <a:r>
              <a:rPr lang="en-US" altLang="zh-CN" dirty="0"/>
              <a:t> </a:t>
            </a:r>
            <a:r>
              <a:rPr lang="en-US" altLang="zh-CN" dirty="0" smtClean="0"/>
              <a:t>   {</a:t>
            </a:r>
            <a:endParaRPr lang="en-US" altLang="zh-CN" dirty="0" smtClean="0"/>
          </a:p>
          <a:p>
            <a:r>
              <a:rPr lang="en-US" altLang="zh-CN" dirty="0"/>
              <a:t> </a:t>
            </a:r>
            <a:r>
              <a:rPr lang="en-US" altLang="zh-CN" dirty="0" smtClean="0"/>
              <a:t>       if (X &lt; T-&gt;data)</a:t>
            </a:r>
            <a:endParaRPr lang="en-US" altLang="zh-CN" dirty="0" smtClean="0"/>
          </a:p>
          <a:p>
            <a:r>
              <a:rPr lang="en-US" altLang="zh-CN" dirty="0"/>
              <a:t> </a:t>
            </a:r>
            <a:r>
              <a:rPr lang="en-US" altLang="zh-CN" dirty="0" smtClean="0"/>
              <a:t>           T = T-&gt;left;</a:t>
            </a:r>
            <a:endParaRPr lang="en-US" altLang="zh-CN" dirty="0" smtClean="0"/>
          </a:p>
          <a:p>
            <a:r>
              <a:rPr lang="en-US" altLang="zh-CN" dirty="0"/>
              <a:t> </a:t>
            </a:r>
            <a:r>
              <a:rPr lang="en-US" altLang="zh-CN" dirty="0" smtClean="0"/>
              <a:t>       else</a:t>
            </a:r>
            <a:endParaRPr lang="en-US" altLang="zh-CN" dirty="0" smtClean="0"/>
          </a:p>
          <a:p>
            <a:r>
              <a:rPr lang="en-US" altLang="zh-CN" dirty="0"/>
              <a:t> </a:t>
            </a:r>
            <a:r>
              <a:rPr lang="en-US" altLang="zh-CN" dirty="0" smtClean="0"/>
              <a:t>           T = T-&gt;right;</a:t>
            </a:r>
            <a:endParaRPr lang="en-US" altLang="zh-CN" dirty="0" smtClean="0"/>
          </a:p>
          <a:p>
            <a:r>
              <a:rPr lang="en-US" altLang="zh-CN" dirty="0"/>
              <a:t> </a:t>
            </a:r>
            <a:r>
              <a:rPr lang="en-US" altLang="zh-CN" dirty="0" smtClean="0"/>
              <a:t>   }</a:t>
            </a:r>
            <a:endParaRPr lang="en-US" altLang="zh-CN" dirty="0" smtClean="0"/>
          </a:p>
          <a:p>
            <a:r>
              <a:rPr lang="en-US" altLang="zh-CN" dirty="0"/>
              <a:t> </a:t>
            </a:r>
            <a:r>
              <a:rPr lang="en-US" altLang="zh-CN" dirty="0" smtClean="0"/>
              <a:t>   return T;</a:t>
            </a:r>
            <a:endParaRPr lang="en-US" altLang="zh-CN" dirty="0" smtClean="0"/>
          </a:p>
          <a:p>
            <a:r>
              <a:rPr lang="en-US" altLang="zh-CN" dirty="0" smtClean="0"/>
              <a:t>}</a:t>
            </a:r>
            <a:endParaRPr lang="zh-CN" altLang="en-US" dirty="0"/>
          </a:p>
        </p:txBody>
      </p:sp>
      <p:sp>
        <p:nvSpPr>
          <p:cNvPr id="12" name="文本框 11"/>
          <p:cNvSpPr txBox="1"/>
          <p:nvPr/>
        </p:nvSpPr>
        <p:spPr>
          <a:xfrm>
            <a:off x="4787060" y="5160110"/>
            <a:ext cx="4275594" cy="923330"/>
          </a:xfrm>
          <a:prstGeom prst="rect">
            <a:avLst/>
          </a:prstGeom>
          <a:noFill/>
          <a:ln>
            <a:solidFill>
              <a:srgbClr val="FF0000"/>
            </a:solidFill>
          </a:ln>
        </p:spPr>
        <p:txBody>
          <a:bodyPr wrap="square" rtlCol="0">
            <a:spAutoFit/>
          </a:bodyPr>
          <a:lstStyle/>
          <a:p>
            <a:r>
              <a:rPr lang="zh-CN" altLang="en-US" dirty="0">
                <a:ea typeface="华文楷体" panose="02010600040101010101" pitchFamily="2" charset="-122"/>
              </a:rPr>
              <a:t>非</a:t>
            </a:r>
            <a:r>
              <a:rPr lang="zh-CN" altLang="en-US" dirty="0" smtClean="0">
                <a:ea typeface="华文楷体" panose="02010600040101010101" pitchFamily="2" charset="-122"/>
              </a:rPr>
              <a:t>递归算法性能</a:t>
            </a:r>
            <a:endParaRPr lang="en-US" altLang="zh-CN" dirty="0" smtClean="0">
              <a:ea typeface="华文楷体" panose="02010600040101010101" pitchFamily="2" charset="-122"/>
            </a:endParaRPr>
          </a:p>
          <a:p>
            <a:r>
              <a:rPr lang="zh-CN" altLang="en-US" dirty="0" smtClean="0">
                <a:ea typeface="华文楷体" panose="02010600040101010101" pitchFamily="2" charset="-122"/>
              </a:rPr>
              <a:t>时间</a:t>
            </a:r>
            <a:r>
              <a:rPr lang="zh-CN" altLang="en-US" dirty="0">
                <a:ea typeface="华文楷体" panose="02010600040101010101" pitchFamily="2" charset="-122"/>
              </a:rPr>
              <a:t>复杂度：</a:t>
            </a:r>
            <a:r>
              <a:rPr lang="en-US" altLang="zh-CN" dirty="0">
                <a:ea typeface="华文楷体" panose="02010600040101010101" pitchFamily="2" charset="-122"/>
              </a:rPr>
              <a:t>O(n)</a:t>
            </a:r>
            <a:endParaRPr lang="en-US" altLang="zh-CN" dirty="0">
              <a:ea typeface="华文楷体" panose="02010600040101010101" pitchFamily="2" charset="-122"/>
            </a:endParaRPr>
          </a:p>
          <a:p>
            <a:r>
              <a:rPr lang="zh-CN" altLang="en-US" dirty="0">
                <a:ea typeface="华文楷体" panose="02010600040101010101" pitchFamily="2" charset="-122"/>
              </a:rPr>
              <a:t>空间复杂度</a:t>
            </a:r>
            <a:r>
              <a:rPr lang="zh-CN" altLang="en-US" dirty="0" smtClean="0">
                <a:ea typeface="华文楷体" panose="02010600040101010101" pitchFamily="2" charset="-122"/>
              </a:rPr>
              <a:t>：</a:t>
            </a:r>
            <a:r>
              <a:rPr lang="en-US" altLang="zh-CN" dirty="0" smtClean="0">
                <a:ea typeface="华文楷体" panose="02010600040101010101" pitchFamily="2" charset="-122"/>
              </a:rPr>
              <a:t>O(1)</a:t>
            </a:r>
            <a:r>
              <a:rPr lang="zh-CN" altLang="en-US" dirty="0" smtClean="0">
                <a:ea typeface="华文楷体" panose="02010600040101010101" pitchFamily="2" charset="-122"/>
              </a:rPr>
              <a:t>    </a:t>
            </a:r>
            <a:endParaRPr lang="zh-CN" altLang="en-US" dirty="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
        <p:nvSpPr>
          <p:cNvPr id="6" name="Text Box 4"/>
          <p:cNvSpPr txBox="1">
            <a:spLocks noGrp="1" noChangeArrowheads="1"/>
          </p:cNvSpPr>
          <p:nvPr>
            <p:ph idx="1"/>
          </p:nvPr>
        </p:nvSpPr>
        <p:spPr bwMode="auto">
          <a:xfrm>
            <a:off x="457200" y="1106714"/>
            <a:ext cx="3552576" cy="46166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2400" b="1" dirty="0">
                <a:solidFill>
                  <a:srgbClr val="A63204"/>
                </a:solidFill>
                <a:latin typeface="Times New Roman" panose="02020603050405020304" pitchFamily="18" charset="0"/>
                <a:ea typeface="华文楷体" panose="02010600040101010101" pitchFamily="2" charset="-122"/>
              </a:rPr>
              <a:t>[</a:t>
            </a:r>
            <a:r>
              <a:rPr lang="zh-CN" altLang="en-US" sz="2400" b="1" dirty="0" smtClean="0">
                <a:solidFill>
                  <a:srgbClr val="A63204"/>
                </a:solidFill>
                <a:latin typeface="Times New Roman" panose="02020603050405020304" pitchFamily="18" charset="0"/>
                <a:ea typeface="华文楷体" panose="02010600040101010101" pitchFamily="2" charset="-122"/>
              </a:rPr>
              <a:t>查找最小值</a:t>
            </a:r>
            <a:r>
              <a:rPr lang="en-US" altLang="zh-CN" sz="2400" b="1" dirty="0" smtClean="0">
                <a:solidFill>
                  <a:srgbClr val="A63204"/>
                </a:solidFill>
                <a:latin typeface="Times New Roman" panose="02020603050405020304" pitchFamily="18" charset="0"/>
                <a:ea typeface="华文楷体" panose="02010600040101010101" pitchFamily="2" charset="-122"/>
              </a:rPr>
              <a:t>/</a:t>
            </a:r>
            <a:r>
              <a:rPr lang="zh-CN" altLang="en-US" sz="2400" b="1" dirty="0" smtClean="0">
                <a:solidFill>
                  <a:srgbClr val="A63204"/>
                </a:solidFill>
                <a:latin typeface="Times New Roman" panose="02020603050405020304" pitchFamily="18" charset="0"/>
                <a:ea typeface="华文楷体" panose="02010600040101010101" pitchFamily="2" charset="-122"/>
              </a:rPr>
              <a:t>最大值算法</a:t>
            </a:r>
            <a:r>
              <a:rPr lang="en-US" altLang="zh-CN" sz="2400" b="1" dirty="0">
                <a:solidFill>
                  <a:srgbClr val="A63204"/>
                </a:solidFill>
                <a:latin typeface="Times New Roman" panose="02020603050405020304" pitchFamily="18" charset="0"/>
                <a:ea typeface="华文楷体" panose="02010600040101010101" pitchFamily="2" charset="-122"/>
              </a:rPr>
              <a:t>]</a:t>
            </a:r>
            <a:endParaRPr lang="en-US" altLang="zh-CN" sz="2400" b="1" dirty="0">
              <a:solidFill>
                <a:srgbClr val="A63204"/>
              </a:solidFill>
              <a:latin typeface="Times New Roman" panose="02020603050405020304" pitchFamily="18" charset="0"/>
              <a:ea typeface="华文楷体" panose="02010600040101010101" pitchFamily="2" charset="-122"/>
            </a:endParaRPr>
          </a:p>
        </p:txBody>
      </p:sp>
      <p:sp>
        <p:nvSpPr>
          <p:cNvPr id="7" name="文本框 6"/>
          <p:cNvSpPr txBox="1"/>
          <p:nvPr/>
        </p:nvSpPr>
        <p:spPr>
          <a:xfrm>
            <a:off x="539552" y="1556792"/>
            <a:ext cx="3470224" cy="2862322"/>
          </a:xfrm>
          <a:prstGeom prst="rect">
            <a:avLst/>
          </a:prstGeom>
          <a:noFill/>
          <a:ln>
            <a:solidFill>
              <a:schemeClr val="accent1"/>
            </a:solidFill>
          </a:ln>
        </p:spPr>
        <p:txBody>
          <a:bodyPr wrap="square" rtlCol="0">
            <a:spAutoFit/>
          </a:bodyPr>
          <a:lstStyle/>
          <a:p>
            <a:r>
              <a:rPr lang="zh-CN" altLang="en-US" dirty="0" smtClean="0">
                <a:latin typeface="Times New Roman" panose="02020603050405020304" pitchFamily="18" charset="0"/>
                <a:ea typeface="华文楷体" panose="02010600040101010101" pitchFamily="2" charset="-122"/>
              </a:rPr>
              <a:t>查找最小值</a:t>
            </a:r>
            <a:r>
              <a:rPr lang="en-US" altLang="zh-CN" dirty="0" smtClean="0">
                <a:latin typeface="Times New Roman" panose="02020603050405020304" pitchFamily="18" charset="0"/>
                <a:ea typeface="华文楷体" panose="02010600040101010101" pitchFamily="2" charset="-122"/>
              </a:rPr>
              <a:t>-</a:t>
            </a:r>
            <a:r>
              <a:rPr lang="zh-CN" altLang="en-US" dirty="0" smtClean="0">
                <a:latin typeface="Times New Roman" panose="02020603050405020304" pitchFamily="18" charset="0"/>
                <a:ea typeface="华文楷体" panose="02010600040101010101" pitchFamily="2" charset="-122"/>
              </a:rPr>
              <a:t>递归算法</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Position </a:t>
            </a:r>
            <a:r>
              <a:rPr lang="en-US" altLang="zh-CN" dirty="0" err="1" smtClean="0">
                <a:latin typeface="Times New Roman" panose="02020603050405020304" pitchFamily="18" charset="0"/>
                <a:ea typeface="华文楷体" panose="02010600040101010101" pitchFamily="2" charset="-122"/>
              </a:rPr>
              <a:t>FindMin</a:t>
            </a:r>
            <a:r>
              <a:rPr lang="en-US" altLang="zh-CN" dirty="0" smtClean="0">
                <a:latin typeface="Times New Roman" panose="02020603050405020304" pitchFamily="18" charset="0"/>
                <a:ea typeface="华文楷体" panose="02010600040101010101" pitchFamily="2" charset="-122"/>
              </a:rPr>
              <a:t>(</a:t>
            </a:r>
            <a:r>
              <a:rPr lang="en-US" altLang="zh-CN" dirty="0" err="1" smtClean="0">
                <a:latin typeface="Times New Roman" panose="02020603050405020304" pitchFamily="18" charset="0"/>
                <a:ea typeface="华文楷体" panose="02010600040101010101" pitchFamily="2" charset="-122"/>
              </a:rPr>
              <a:t>SearchTree</a:t>
            </a:r>
            <a:r>
              <a:rPr lang="en-US" altLang="zh-CN" dirty="0" smtClean="0">
                <a:latin typeface="Times New Roman" panose="02020603050405020304" pitchFamily="18" charset="0"/>
                <a:ea typeface="华文楷体" panose="02010600040101010101" pitchFamily="2" charset="-122"/>
              </a:rPr>
              <a:t> T)</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if (T == NULL)</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return NULL;</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    else if (T-&gt;left == NULL)</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return T;</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else</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return </a:t>
            </a:r>
            <a:r>
              <a:rPr lang="en-US" altLang="zh-CN" dirty="0" err="1" smtClean="0">
                <a:latin typeface="Times New Roman" panose="02020603050405020304" pitchFamily="18" charset="0"/>
                <a:ea typeface="华文楷体" panose="02010600040101010101" pitchFamily="2" charset="-122"/>
              </a:rPr>
              <a:t>FindMin</a:t>
            </a:r>
            <a:r>
              <a:rPr lang="en-US" altLang="zh-CN" dirty="0" smtClean="0">
                <a:latin typeface="Times New Roman" panose="02020603050405020304" pitchFamily="18" charset="0"/>
                <a:ea typeface="华文楷体" panose="02010600040101010101" pitchFamily="2" charset="-122"/>
              </a:rPr>
              <a:t>(T-&gt;left</a:t>
            </a:r>
            <a:r>
              <a:rPr lang="en-US" altLang="zh-CN" dirty="0">
                <a:latin typeface="Times New Roman" panose="02020603050405020304" pitchFamily="18" charset="0"/>
                <a:ea typeface="华文楷体" panose="02010600040101010101" pitchFamily="2" charset="-122"/>
              </a:rPr>
              <a:t>)</a:t>
            </a:r>
            <a:r>
              <a:rPr lang="en-US" altLang="zh-CN" dirty="0" smtClean="0">
                <a:latin typeface="Times New Roman" panose="02020603050405020304" pitchFamily="18" charset="0"/>
                <a:ea typeface="华文楷体" panose="02010600040101010101" pitchFamily="2" charset="-122"/>
              </a:rPr>
              <a:t>;</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a:t>
            </a:r>
            <a:endParaRPr lang="zh-CN" altLang="en-US" dirty="0">
              <a:latin typeface="Times New Roman" panose="02020603050405020304" pitchFamily="18" charset="0"/>
              <a:ea typeface="华文楷体" panose="02010600040101010101" pitchFamily="2" charset="-122"/>
            </a:endParaRPr>
          </a:p>
        </p:txBody>
      </p:sp>
      <p:sp>
        <p:nvSpPr>
          <p:cNvPr id="8" name="文本框 7"/>
          <p:cNvSpPr txBox="1"/>
          <p:nvPr/>
        </p:nvSpPr>
        <p:spPr>
          <a:xfrm>
            <a:off x="540534" y="4509120"/>
            <a:ext cx="3469242" cy="2308324"/>
          </a:xfrm>
          <a:prstGeom prst="rect">
            <a:avLst/>
          </a:prstGeom>
          <a:noFill/>
          <a:ln>
            <a:solidFill>
              <a:schemeClr val="accent1"/>
            </a:solidFill>
          </a:ln>
        </p:spPr>
        <p:txBody>
          <a:bodyPr wrap="square" rtlCol="0">
            <a:spAutoFit/>
          </a:bodyPr>
          <a:lstStyle/>
          <a:p>
            <a:r>
              <a:rPr lang="zh-CN" altLang="en-US" dirty="0" smtClean="0">
                <a:latin typeface="Times New Roman" panose="02020603050405020304" pitchFamily="18" charset="0"/>
                <a:ea typeface="华文楷体" panose="02010600040101010101" pitchFamily="2" charset="-122"/>
              </a:rPr>
              <a:t>查找最小值</a:t>
            </a:r>
            <a:r>
              <a:rPr lang="en-US" altLang="zh-CN" dirty="0" smtClean="0">
                <a:latin typeface="Times New Roman" panose="02020603050405020304" pitchFamily="18" charset="0"/>
                <a:ea typeface="华文楷体" panose="02010600040101010101" pitchFamily="2" charset="-122"/>
              </a:rPr>
              <a:t>-</a:t>
            </a:r>
            <a:r>
              <a:rPr lang="zh-CN" altLang="en-US" dirty="0" smtClean="0">
                <a:latin typeface="Times New Roman" panose="02020603050405020304" pitchFamily="18" charset="0"/>
                <a:ea typeface="华文楷体" panose="02010600040101010101" pitchFamily="2" charset="-122"/>
              </a:rPr>
              <a:t>非递归算法</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Position </a:t>
            </a:r>
            <a:r>
              <a:rPr lang="en-US" altLang="zh-CN" dirty="0" err="1" smtClean="0">
                <a:latin typeface="Times New Roman" panose="02020603050405020304" pitchFamily="18" charset="0"/>
                <a:ea typeface="华文楷体" panose="02010600040101010101" pitchFamily="2" charset="-122"/>
              </a:rPr>
              <a:t>FindMin</a:t>
            </a:r>
            <a:r>
              <a:rPr lang="en-US" altLang="zh-CN" dirty="0" smtClean="0">
                <a:latin typeface="Times New Roman" panose="02020603050405020304" pitchFamily="18" charset="0"/>
                <a:ea typeface="华文楷体" panose="02010600040101010101" pitchFamily="2" charset="-122"/>
              </a:rPr>
              <a:t>(</a:t>
            </a:r>
            <a:r>
              <a:rPr lang="en-US" altLang="zh-CN" dirty="0" err="1" smtClean="0">
                <a:latin typeface="Times New Roman" panose="02020603050405020304" pitchFamily="18" charset="0"/>
                <a:ea typeface="华文楷体" panose="02010600040101010101" pitchFamily="2" charset="-122"/>
              </a:rPr>
              <a:t>SearchTree</a:t>
            </a:r>
            <a:r>
              <a:rPr lang="en-US" altLang="zh-CN" dirty="0" smtClean="0">
                <a:latin typeface="Times New Roman" panose="02020603050405020304" pitchFamily="18" charset="0"/>
                <a:ea typeface="华文楷体" panose="02010600040101010101" pitchFamily="2" charset="-122"/>
              </a:rPr>
              <a:t> T)</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if (T != NULL)</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while (T-&gt;left </a:t>
            </a:r>
            <a:r>
              <a:rPr lang="en-US" altLang="zh-CN" dirty="0">
                <a:latin typeface="Times New Roman" panose="02020603050405020304" pitchFamily="18" charset="0"/>
                <a:ea typeface="华文楷体" panose="02010600040101010101" pitchFamily="2" charset="-122"/>
              </a:rPr>
              <a:t>!</a:t>
            </a:r>
            <a:r>
              <a:rPr lang="en-US" altLang="zh-CN" dirty="0" smtClean="0">
                <a:latin typeface="Times New Roman" panose="02020603050405020304" pitchFamily="18" charset="0"/>
                <a:ea typeface="华文楷体" panose="02010600040101010101" pitchFamily="2" charset="-122"/>
              </a:rPr>
              <a:t>= NULL)</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T= T-&gt;left;</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return T;</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a:t>
            </a:r>
            <a:endParaRPr lang="zh-CN" altLang="en-US" dirty="0">
              <a:latin typeface="Times New Roman" panose="02020603050405020304" pitchFamily="18" charset="0"/>
              <a:ea typeface="华文楷体" panose="02010600040101010101" pitchFamily="2" charset="-122"/>
            </a:endParaRPr>
          </a:p>
        </p:txBody>
      </p:sp>
      <p:sp>
        <p:nvSpPr>
          <p:cNvPr id="9" name="文本框 8"/>
          <p:cNvSpPr txBox="1"/>
          <p:nvPr/>
        </p:nvSpPr>
        <p:spPr>
          <a:xfrm>
            <a:off x="4707724" y="1556792"/>
            <a:ext cx="3608691" cy="2862322"/>
          </a:xfrm>
          <a:prstGeom prst="rect">
            <a:avLst/>
          </a:prstGeom>
          <a:noFill/>
          <a:ln>
            <a:solidFill>
              <a:schemeClr val="accent1"/>
            </a:solidFill>
          </a:ln>
        </p:spPr>
        <p:txBody>
          <a:bodyPr wrap="square" rtlCol="0">
            <a:spAutoFit/>
          </a:bodyPr>
          <a:lstStyle/>
          <a:p>
            <a:r>
              <a:rPr lang="zh-CN" altLang="en-US" dirty="0" smtClean="0">
                <a:latin typeface="Times New Roman" panose="02020603050405020304" pitchFamily="18" charset="0"/>
                <a:ea typeface="华文楷体" panose="02010600040101010101" pitchFamily="2" charset="-122"/>
              </a:rPr>
              <a:t>查找最</a:t>
            </a:r>
            <a:r>
              <a:rPr lang="zh-CN" altLang="en-US" dirty="0">
                <a:latin typeface="Times New Roman" panose="02020603050405020304" pitchFamily="18" charset="0"/>
                <a:ea typeface="华文楷体" panose="02010600040101010101" pitchFamily="2" charset="-122"/>
              </a:rPr>
              <a:t>大</a:t>
            </a:r>
            <a:r>
              <a:rPr lang="zh-CN" altLang="en-US" dirty="0" smtClean="0">
                <a:latin typeface="Times New Roman" panose="02020603050405020304" pitchFamily="18" charset="0"/>
                <a:ea typeface="华文楷体" panose="02010600040101010101" pitchFamily="2" charset="-122"/>
              </a:rPr>
              <a:t>值</a:t>
            </a:r>
            <a:r>
              <a:rPr lang="en-US" altLang="zh-CN" dirty="0" smtClean="0">
                <a:latin typeface="Times New Roman" panose="02020603050405020304" pitchFamily="18" charset="0"/>
                <a:ea typeface="华文楷体" panose="02010600040101010101" pitchFamily="2" charset="-122"/>
              </a:rPr>
              <a:t>-</a:t>
            </a:r>
            <a:r>
              <a:rPr lang="zh-CN" altLang="en-US" dirty="0" smtClean="0">
                <a:latin typeface="Times New Roman" panose="02020603050405020304" pitchFamily="18" charset="0"/>
                <a:ea typeface="华文楷体" panose="02010600040101010101" pitchFamily="2" charset="-122"/>
              </a:rPr>
              <a:t>递归算法</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Position </a:t>
            </a:r>
            <a:r>
              <a:rPr lang="en-US" altLang="zh-CN" dirty="0" err="1" smtClean="0">
                <a:latin typeface="Times New Roman" panose="02020603050405020304" pitchFamily="18" charset="0"/>
                <a:ea typeface="华文楷体" panose="02010600040101010101" pitchFamily="2" charset="-122"/>
              </a:rPr>
              <a:t>FindMax</a:t>
            </a:r>
            <a:r>
              <a:rPr lang="en-US" altLang="zh-CN" dirty="0" smtClean="0">
                <a:latin typeface="Times New Roman" panose="02020603050405020304" pitchFamily="18" charset="0"/>
                <a:ea typeface="华文楷体" panose="02010600040101010101" pitchFamily="2" charset="-122"/>
              </a:rPr>
              <a:t>(</a:t>
            </a:r>
            <a:r>
              <a:rPr lang="en-US" altLang="zh-CN" dirty="0" err="1" smtClean="0">
                <a:latin typeface="Times New Roman" panose="02020603050405020304" pitchFamily="18" charset="0"/>
                <a:ea typeface="华文楷体" panose="02010600040101010101" pitchFamily="2" charset="-122"/>
              </a:rPr>
              <a:t>SearchTree</a:t>
            </a:r>
            <a:r>
              <a:rPr lang="en-US" altLang="zh-CN" dirty="0" smtClean="0">
                <a:latin typeface="Times New Roman" panose="02020603050405020304" pitchFamily="18" charset="0"/>
                <a:ea typeface="华文楷体" panose="02010600040101010101" pitchFamily="2" charset="-122"/>
              </a:rPr>
              <a:t> T)</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if (T == NULL)</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return NULL;</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    else if (T-&gt;right == NULL)</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return T;</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else</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return </a:t>
            </a:r>
            <a:r>
              <a:rPr lang="en-US" altLang="zh-CN" dirty="0" err="1" smtClean="0">
                <a:latin typeface="Times New Roman" panose="02020603050405020304" pitchFamily="18" charset="0"/>
                <a:ea typeface="华文楷体" panose="02010600040101010101" pitchFamily="2" charset="-122"/>
              </a:rPr>
              <a:t>FindMax</a:t>
            </a:r>
            <a:r>
              <a:rPr lang="en-US" altLang="zh-CN" dirty="0" smtClean="0">
                <a:latin typeface="Times New Roman" panose="02020603050405020304" pitchFamily="18" charset="0"/>
                <a:ea typeface="华文楷体" panose="02010600040101010101" pitchFamily="2" charset="-122"/>
              </a:rPr>
              <a:t>(T-&gt;right);</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a:t>
            </a:r>
            <a:endParaRPr lang="zh-CN" altLang="en-US" dirty="0">
              <a:latin typeface="Times New Roman" panose="02020603050405020304" pitchFamily="18" charset="0"/>
              <a:ea typeface="华文楷体" panose="02010600040101010101" pitchFamily="2" charset="-122"/>
            </a:endParaRPr>
          </a:p>
        </p:txBody>
      </p:sp>
      <p:sp>
        <p:nvSpPr>
          <p:cNvPr id="10" name="文本框 9"/>
          <p:cNvSpPr txBox="1"/>
          <p:nvPr/>
        </p:nvSpPr>
        <p:spPr>
          <a:xfrm>
            <a:off x="4707725" y="4509120"/>
            <a:ext cx="3608690" cy="2308324"/>
          </a:xfrm>
          <a:prstGeom prst="rect">
            <a:avLst/>
          </a:prstGeom>
          <a:noFill/>
          <a:ln>
            <a:solidFill>
              <a:schemeClr val="accent1"/>
            </a:solidFill>
          </a:ln>
        </p:spPr>
        <p:txBody>
          <a:bodyPr wrap="square" rtlCol="0">
            <a:spAutoFit/>
          </a:bodyPr>
          <a:lstStyle/>
          <a:p>
            <a:r>
              <a:rPr lang="zh-CN" altLang="en-US" smtClean="0">
                <a:latin typeface="Times New Roman" panose="02020603050405020304" pitchFamily="18" charset="0"/>
                <a:ea typeface="华文楷体" panose="02010600040101010101" pitchFamily="2" charset="-122"/>
              </a:rPr>
              <a:t>查找</a:t>
            </a:r>
            <a:r>
              <a:rPr lang="zh-CN" altLang="en-US" smtClean="0">
                <a:latin typeface="Times New Roman" panose="02020603050405020304" pitchFamily="18" charset="0"/>
                <a:ea typeface="华文楷体" panose="02010600040101010101" pitchFamily="2" charset="-122"/>
              </a:rPr>
              <a:t>最大值</a:t>
            </a:r>
            <a:r>
              <a:rPr lang="en-US" altLang="zh-CN" dirty="0" smtClean="0">
                <a:latin typeface="Times New Roman" panose="02020603050405020304" pitchFamily="18" charset="0"/>
                <a:ea typeface="华文楷体" panose="02010600040101010101" pitchFamily="2" charset="-122"/>
              </a:rPr>
              <a:t>-</a:t>
            </a:r>
            <a:r>
              <a:rPr lang="zh-CN" altLang="en-US" dirty="0" smtClean="0">
                <a:latin typeface="Times New Roman" panose="02020603050405020304" pitchFamily="18" charset="0"/>
                <a:ea typeface="华文楷体" panose="02010600040101010101" pitchFamily="2" charset="-122"/>
              </a:rPr>
              <a:t>非递归算法</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Position </a:t>
            </a:r>
            <a:r>
              <a:rPr lang="en-US" altLang="zh-CN" dirty="0" err="1" smtClean="0">
                <a:latin typeface="Times New Roman" panose="02020603050405020304" pitchFamily="18" charset="0"/>
                <a:ea typeface="华文楷体" panose="02010600040101010101" pitchFamily="2" charset="-122"/>
              </a:rPr>
              <a:t>FindMax</a:t>
            </a:r>
            <a:r>
              <a:rPr lang="en-US" altLang="zh-CN" dirty="0" smtClean="0">
                <a:latin typeface="Times New Roman" panose="02020603050405020304" pitchFamily="18" charset="0"/>
                <a:ea typeface="华文楷体" panose="02010600040101010101" pitchFamily="2" charset="-122"/>
              </a:rPr>
              <a:t>(</a:t>
            </a:r>
            <a:r>
              <a:rPr lang="en-US" altLang="zh-CN" dirty="0" err="1" smtClean="0">
                <a:latin typeface="Times New Roman" panose="02020603050405020304" pitchFamily="18" charset="0"/>
                <a:ea typeface="华文楷体" panose="02010600040101010101" pitchFamily="2" charset="-122"/>
              </a:rPr>
              <a:t>SearchTree</a:t>
            </a:r>
            <a:r>
              <a:rPr lang="en-US" altLang="zh-CN" dirty="0" smtClean="0">
                <a:latin typeface="Times New Roman" panose="02020603050405020304" pitchFamily="18" charset="0"/>
                <a:ea typeface="华文楷体" panose="02010600040101010101" pitchFamily="2" charset="-122"/>
              </a:rPr>
              <a:t> T)</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if (T != NULL)</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while (T-&gt;right </a:t>
            </a:r>
            <a:r>
              <a:rPr lang="en-US" altLang="zh-CN" dirty="0">
                <a:latin typeface="Times New Roman" panose="02020603050405020304" pitchFamily="18" charset="0"/>
                <a:ea typeface="华文楷体" panose="02010600040101010101" pitchFamily="2" charset="-122"/>
              </a:rPr>
              <a:t>!</a:t>
            </a:r>
            <a:r>
              <a:rPr lang="en-US" altLang="zh-CN" dirty="0" smtClean="0">
                <a:latin typeface="Times New Roman" panose="02020603050405020304" pitchFamily="18" charset="0"/>
                <a:ea typeface="华文楷体" panose="02010600040101010101" pitchFamily="2" charset="-122"/>
              </a:rPr>
              <a:t>= NULL)</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T= T-&gt;right;</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return T;</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a:t>
            </a:r>
            <a:endParaRPr lang="zh-CN" altLang="en-US" dirty="0">
              <a:latin typeface="Times New Roman" panose="02020603050405020304" pitchFamily="18" charset="0"/>
              <a:ea typeface="华文楷体" panose="02010600040101010101" pitchFamily="2" charset="-122"/>
            </a:endParaRPr>
          </a:p>
        </p:txBody>
      </p:sp>
      <p:cxnSp>
        <p:nvCxnSpPr>
          <p:cNvPr id="12" name="直接连接符 11"/>
          <p:cNvCxnSpPr/>
          <p:nvPr/>
        </p:nvCxnSpPr>
        <p:spPr bwMode="auto">
          <a:xfrm flipH="1">
            <a:off x="4324548" y="1094184"/>
            <a:ext cx="31428" cy="57912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26628" name="Rectangle 2"/>
          <p:cNvSpPr>
            <a:spLocks noGrp="1" noChangeArrowheads="1"/>
          </p:cNvSpPr>
          <p:nvPr>
            <p:ph type="title"/>
          </p:nvPr>
        </p:nvSpPr>
        <p:spPr/>
        <p:txBody>
          <a:bodyPr/>
          <a:lstStyle/>
          <a:p>
            <a:pPr eaLnBrk="1" hangingPunct="1"/>
            <a:endParaRPr lang="zh-CN" altLang="zh-CN" sz="2800" dirty="0" smtClean="0">
              <a:ea typeface="华文楷体" panose="02010600040101010101" pitchFamily="2" charset="-122"/>
            </a:endParaRPr>
          </a:p>
        </p:txBody>
      </p:sp>
      <p:sp>
        <p:nvSpPr>
          <p:cNvPr id="26629"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A63204"/>
                </a:solidFill>
                <a:ea typeface="华文楷体" panose="02010600040101010101" pitchFamily="2" charset="-122"/>
              </a:rPr>
              <a:t>[</a:t>
            </a:r>
            <a:r>
              <a:rPr lang="zh-CN" altLang="en-US" sz="2400" b="1" dirty="0" smtClean="0">
                <a:solidFill>
                  <a:srgbClr val="A63204"/>
                </a:solidFill>
                <a:ea typeface="华文楷体" panose="02010600040101010101" pitchFamily="2" charset="-122"/>
              </a:rPr>
              <a:t>插入</a:t>
            </a:r>
            <a:r>
              <a:rPr lang="en-US" altLang="zh-CN" sz="2400" b="1" dirty="0" smtClean="0">
                <a:solidFill>
                  <a:srgbClr val="A63204"/>
                </a:solidFill>
                <a:ea typeface="华文楷体" panose="02010600040101010101" pitchFamily="2" charset="-122"/>
              </a:rPr>
              <a:t>]</a:t>
            </a:r>
            <a:endParaRPr lang="en-US" altLang="zh-CN" sz="2400" b="1" dirty="0" smtClean="0">
              <a:solidFill>
                <a:srgbClr val="A63204"/>
              </a:solidFill>
              <a:ea typeface="华文楷体" panose="02010600040101010101" pitchFamily="2" charset="-122"/>
            </a:endParaRPr>
          </a:p>
          <a:p>
            <a:pPr lvl="1" eaLnBrk="1" hangingPunct="1"/>
            <a:r>
              <a:rPr kumimoji="1" lang="zh-CN" altLang="en-US" sz="2400" dirty="0" smtClean="0">
                <a:ea typeface="华文楷体" panose="02010600040101010101" pitchFamily="2" charset="-122"/>
              </a:rPr>
              <a:t>首先执行查找算法，找出被插结点的父亲结点。</a:t>
            </a:r>
            <a:endParaRPr kumimoji="1" lang="zh-CN" altLang="en-US" sz="2400" dirty="0" smtClean="0">
              <a:ea typeface="华文楷体" panose="02010600040101010101" pitchFamily="2" charset="-122"/>
            </a:endParaRPr>
          </a:p>
          <a:p>
            <a:pPr lvl="1" eaLnBrk="1" hangingPunct="1"/>
            <a:r>
              <a:rPr kumimoji="1" lang="zh-CN" altLang="en-US" sz="2400" dirty="0" smtClean="0">
                <a:ea typeface="华文楷体" panose="02010600040101010101" pitchFamily="2" charset="-122"/>
              </a:rPr>
              <a:t> 判断被插结点是其父亲结点的左、右儿子。将被</a:t>
            </a:r>
            <a:endParaRPr kumimoji="1" lang="zh-CN" altLang="en-US" sz="2400" dirty="0" smtClean="0">
              <a:ea typeface="华文楷体" panose="02010600040101010101" pitchFamily="2" charset="-122"/>
            </a:endParaRPr>
          </a:p>
          <a:p>
            <a:pPr lvl="1" eaLnBrk="1" hangingPunct="1"/>
            <a:r>
              <a:rPr kumimoji="1" lang="zh-CN" altLang="en-US" sz="2400" dirty="0" smtClean="0">
                <a:ea typeface="华文楷体" panose="02010600040101010101" pitchFamily="2" charset="-122"/>
              </a:rPr>
              <a:t>  插结点作为叶子结点插入。</a:t>
            </a:r>
            <a:endParaRPr kumimoji="1" lang="zh-CN" altLang="en-US" sz="2400" dirty="0" smtClean="0">
              <a:ea typeface="华文楷体" panose="02010600040101010101" pitchFamily="2" charset="-122"/>
            </a:endParaRPr>
          </a:p>
          <a:p>
            <a:pPr lvl="1" eaLnBrk="1" hangingPunct="1"/>
            <a:r>
              <a:rPr kumimoji="1" lang="zh-CN" altLang="en-US" sz="2400" dirty="0" smtClean="0">
                <a:ea typeface="华文楷体" panose="02010600040101010101" pitchFamily="2" charset="-122"/>
              </a:rPr>
              <a:t> 若二叉树为空。则首先单独生成根结点。</a:t>
            </a:r>
            <a:endParaRPr kumimoji="1" lang="zh-CN" altLang="en-US" sz="2400" dirty="0" smtClean="0">
              <a:ea typeface="华文楷体" panose="02010600040101010101" pitchFamily="2" charset="-122"/>
            </a:endParaRPr>
          </a:p>
          <a:p>
            <a:pPr lvl="1" eaLnBrk="1" hangingPunct="1">
              <a:buFont typeface="Wingdings" panose="05000000000000000000" pitchFamily="2" charset="2"/>
              <a:buNone/>
            </a:pPr>
            <a:r>
              <a:rPr kumimoji="1" lang="zh-CN" altLang="en-US" sz="2400" b="1" dirty="0" smtClean="0">
                <a:solidFill>
                  <a:srgbClr val="A63204"/>
                </a:solidFill>
                <a:ea typeface="华文楷体" panose="02010600040101010101" pitchFamily="2" charset="-122"/>
              </a:rPr>
              <a:t>注意：新插入的结点总是叶子结点。</a:t>
            </a:r>
            <a:endParaRPr kumimoji="1" lang="zh-CN" altLang="en-US" sz="2400" b="1" dirty="0" smtClean="0">
              <a:solidFill>
                <a:srgbClr val="A63204"/>
              </a:solidFill>
              <a:ea typeface="华文楷体" panose="02010600040101010101" pitchFamily="2" charset="-122"/>
            </a:endParaRPr>
          </a:p>
          <a:p>
            <a:pPr lvl="1" eaLnBrk="1" hangingPunct="1">
              <a:buFont typeface="Wingdings" panose="05000000000000000000" pitchFamily="2" charset="2"/>
              <a:buNone/>
            </a:pPr>
            <a:endParaRPr lang="zh-CN" altLang="en-US" sz="2000" b="1" dirty="0" smtClean="0">
              <a:solidFill>
                <a:srgbClr val="A63204"/>
              </a:solidFill>
              <a:ea typeface="华文楷体" panose="02010600040101010101" pitchFamily="2" charset="-122"/>
            </a:endParaRPr>
          </a:p>
        </p:txBody>
      </p:sp>
      <p:sp>
        <p:nvSpPr>
          <p:cNvPr id="6" name="Oval 21"/>
          <p:cNvSpPr>
            <a:spLocks noChangeArrowheads="1"/>
          </p:cNvSpPr>
          <p:nvPr/>
        </p:nvSpPr>
        <p:spPr bwMode="auto">
          <a:xfrm>
            <a:off x="3935611" y="4450970"/>
            <a:ext cx="457200" cy="314876"/>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 name="Oval 22"/>
          <p:cNvSpPr>
            <a:spLocks noChangeArrowheads="1"/>
          </p:cNvSpPr>
          <p:nvPr/>
        </p:nvSpPr>
        <p:spPr bwMode="auto">
          <a:xfrm>
            <a:off x="3173611" y="4908170"/>
            <a:ext cx="457200" cy="314876"/>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8" name="Oval 23"/>
          <p:cNvSpPr>
            <a:spLocks noChangeArrowheads="1"/>
          </p:cNvSpPr>
          <p:nvPr/>
        </p:nvSpPr>
        <p:spPr bwMode="auto">
          <a:xfrm>
            <a:off x="4621411" y="4908170"/>
            <a:ext cx="457200" cy="314876"/>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9" name="Oval 24"/>
          <p:cNvSpPr>
            <a:spLocks noChangeArrowheads="1"/>
          </p:cNvSpPr>
          <p:nvPr/>
        </p:nvSpPr>
        <p:spPr bwMode="auto">
          <a:xfrm>
            <a:off x="2792611" y="5365370"/>
            <a:ext cx="457200" cy="314876"/>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0" name="Oval 25"/>
          <p:cNvSpPr>
            <a:spLocks noChangeArrowheads="1"/>
          </p:cNvSpPr>
          <p:nvPr/>
        </p:nvSpPr>
        <p:spPr bwMode="auto">
          <a:xfrm>
            <a:off x="3630811" y="5365370"/>
            <a:ext cx="457200" cy="314876"/>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1" name="Oval 26"/>
          <p:cNvSpPr>
            <a:spLocks noChangeArrowheads="1"/>
          </p:cNvSpPr>
          <p:nvPr/>
        </p:nvSpPr>
        <p:spPr bwMode="auto">
          <a:xfrm>
            <a:off x="5078611" y="5365370"/>
            <a:ext cx="457200" cy="314876"/>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2" name="Oval 27"/>
          <p:cNvSpPr>
            <a:spLocks noChangeArrowheads="1"/>
          </p:cNvSpPr>
          <p:nvPr/>
        </p:nvSpPr>
        <p:spPr bwMode="auto">
          <a:xfrm>
            <a:off x="4164211" y="5822570"/>
            <a:ext cx="457200" cy="314876"/>
          </a:xfrm>
          <a:prstGeom prst="ellipse">
            <a:avLst/>
          </a:prstGeom>
          <a:noFill/>
          <a:ln w="9525">
            <a:solidFill>
              <a:srgbClr val="FF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13" name="Line 28"/>
          <p:cNvSpPr>
            <a:spLocks noChangeShapeType="1"/>
          </p:cNvSpPr>
          <p:nvPr/>
        </p:nvSpPr>
        <p:spPr bwMode="auto">
          <a:xfrm flipH="1">
            <a:off x="3478412" y="4701255"/>
            <a:ext cx="457200" cy="20815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4" name="Line 29"/>
          <p:cNvSpPr>
            <a:spLocks noChangeShapeType="1"/>
          </p:cNvSpPr>
          <p:nvPr/>
        </p:nvSpPr>
        <p:spPr bwMode="auto">
          <a:xfrm>
            <a:off x="4392811" y="4683034"/>
            <a:ext cx="304802" cy="22513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5" name="Line 30"/>
          <p:cNvSpPr>
            <a:spLocks noChangeShapeType="1"/>
          </p:cNvSpPr>
          <p:nvPr/>
        </p:nvSpPr>
        <p:spPr bwMode="auto">
          <a:xfrm flipH="1">
            <a:off x="3002586" y="5193132"/>
            <a:ext cx="247225" cy="1722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6" name="Line 31"/>
          <p:cNvSpPr>
            <a:spLocks noChangeShapeType="1"/>
          </p:cNvSpPr>
          <p:nvPr/>
        </p:nvSpPr>
        <p:spPr bwMode="auto">
          <a:xfrm>
            <a:off x="3630812" y="5193132"/>
            <a:ext cx="113445" cy="1463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7" name="Line 32"/>
          <p:cNvSpPr>
            <a:spLocks noChangeShapeType="1"/>
          </p:cNvSpPr>
          <p:nvPr/>
        </p:nvSpPr>
        <p:spPr bwMode="auto">
          <a:xfrm>
            <a:off x="5078611" y="5123546"/>
            <a:ext cx="228600" cy="22867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8" name="Line 33"/>
          <p:cNvSpPr>
            <a:spLocks noChangeShapeType="1"/>
          </p:cNvSpPr>
          <p:nvPr/>
        </p:nvSpPr>
        <p:spPr bwMode="auto">
          <a:xfrm>
            <a:off x="4088011" y="5580746"/>
            <a:ext cx="228600" cy="188925"/>
          </a:xfrm>
          <a:prstGeom prst="line">
            <a:avLst/>
          </a:prstGeom>
          <a:noFill/>
          <a:ln w="9525">
            <a:solidFill>
              <a:srgbClr val="FF33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19" name="Text Box 34"/>
          <p:cNvSpPr txBox="1">
            <a:spLocks noChangeArrowheads="1"/>
          </p:cNvSpPr>
          <p:nvPr/>
        </p:nvSpPr>
        <p:spPr bwMode="auto">
          <a:xfrm>
            <a:off x="4469011" y="3924183"/>
            <a:ext cx="838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smtClean="0">
                <a:latin typeface="Times New Roman" panose="02020603050405020304" pitchFamily="18" charset="0"/>
                <a:ea typeface="华文楷体" panose="02010600040101010101" pitchFamily="2" charset="-122"/>
              </a:rPr>
              <a:t>T</a:t>
            </a:r>
            <a:endParaRPr kumimoji="1" lang="en-US" altLang="zh-CN" sz="2400" dirty="0">
              <a:latin typeface="Times New Roman" panose="02020603050405020304" pitchFamily="18" charset="0"/>
              <a:ea typeface="华文楷体" panose="02010600040101010101" pitchFamily="2" charset="-122"/>
            </a:endParaRPr>
          </a:p>
        </p:txBody>
      </p:sp>
      <p:sp>
        <p:nvSpPr>
          <p:cNvPr id="20" name="Line 35"/>
          <p:cNvSpPr>
            <a:spLocks noChangeShapeType="1"/>
          </p:cNvSpPr>
          <p:nvPr/>
        </p:nvSpPr>
        <p:spPr bwMode="auto">
          <a:xfrm flipH="1">
            <a:off x="4164211" y="4209146"/>
            <a:ext cx="381000" cy="188925"/>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21" name="Text Box 37"/>
          <p:cNvSpPr txBox="1">
            <a:spLocks noChangeArrowheads="1"/>
          </p:cNvSpPr>
          <p:nvPr/>
        </p:nvSpPr>
        <p:spPr bwMode="auto">
          <a:xfrm>
            <a:off x="3995936" y="4410271"/>
            <a:ext cx="415498" cy="30523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45</a:t>
            </a:r>
            <a:endParaRPr lang="en-US" altLang="zh-CN" sz="1800" dirty="0">
              <a:latin typeface="Times New Roman" panose="02020603050405020304" pitchFamily="18" charset="0"/>
              <a:ea typeface="华文楷体" panose="02010600040101010101" pitchFamily="2" charset="-122"/>
            </a:endParaRPr>
          </a:p>
        </p:txBody>
      </p:sp>
      <p:sp>
        <p:nvSpPr>
          <p:cNvPr id="22" name="Text Box 40"/>
          <p:cNvSpPr txBox="1">
            <a:spLocks noChangeArrowheads="1"/>
          </p:cNvSpPr>
          <p:nvPr/>
        </p:nvSpPr>
        <p:spPr bwMode="auto">
          <a:xfrm>
            <a:off x="3206279" y="4908169"/>
            <a:ext cx="415498" cy="30523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24</a:t>
            </a:r>
            <a:endParaRPr lang="en-US" altLang="zh-CN" sz="1800" dirty="0">
              <a:latin typeface="Times New Roman" panose="02020603050405020304" pitchFamily="18" charset="0"/>
              <a:ea typeface="华文楷体" panose="02010600040101010101" pitchFamily="2" charset="-122"/>
            </a:endParaRPr>
          </a:p>
        </p:txBody>
      </p:sp>
      <p:sp>
        <p:nvSpPr>
          <p:cNvPr id="23" name="Text Box 41"/>
          <p:cNvSpPr txBox="1">
            <a:spLocks noChangeArrowheads="1"/>
          </p:cNvSpPr>
          <p:nvPr/>
        </p:nvSpPr>
        <p:spPr bwMode="auto">
          <a:xfrm>
            <a:off x="2830625" y="5356592"/>
            <a:ext cx="415498" cy="30523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12</a:t>
            </a:r>
            <a:endParaRPr lang="en-US" altLang="zh-CN" sz="1800" dirty="0">
              <a:latin typeface="Times New Roman" panose="02020603050405020304" pitchFamily="18" charset="0"/>
              <a:ea typeface="华文楷体" panose="02010600040101010101" pitchFamily="2" charset="-122"/>
            </a:endParaRPr>
          </a:p>
        </p:txBody>
      </p:sp>
      <p:sp>
        <p:nvSpPr>
          <p:cNvPr id="24" name="Text Box 42"/>
          <p:cNvSpPr txBox="1">
            <a:spLocks noChangeArrowheads="1"/>
          </p:cNvSpPr>
          <p:nvPr/>
        </p:nvSpPr>
        <p:spPr bwMode="auto">
          <a:xfrm>
            <a:off x="3691136" y="5324671"/>
            <a:ext cx="415498" cy="30523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28</a:t>
            </a:r>
            <a:endParaRPr lang="en-US" altLang="zh-CN" sz="1800" dirty="0">
              <a:latin typeface="Times New Roman" panose="02020603050405020304" pitchFamily="18" charset="0"/>
              <a:ea typeface="华文楷体" panose="02010600040101010101" pitchFamily="2" charset="-122"/>
            </a:endParaRPr>
          </a:p>
        </p:txBody>
      </p:sp>
      <p:sp>
        <p:nvSpPr>
          <p:cNvPr id="25" name="Text Box 43"/>
          <p:cNvSpPr txBox="1">
            <a:spLocks noChangeArrowheads="1"/>
          </p:cNvSpPr>
          <p:nvPr/>
        </p:nvSpPr>
        <p:spPr bwMode="auto">
          <a:xfrm>
            <a:off x="4170869" y="5770658"/>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smtClean="0">
                <a:solidFill>
                  <a:srgbClr val="A63204"/>
                </a:solidFill>
                <a:latin typeface="Times New Roman" panose="02020603050405020304" pitchFamily="18" charset="0"/>
                <a:ea typeface="华文楷体" panose="02010600040101010101" pitchFamily="2" charset="-122"/>
              </a:rPr>
              <a:t>32</a:t>
            </a:r>
            <a:endParaRPr lang="en-US" altLang="zh-CN" sz="1800" dirty="0">
              <a:solidFill>
                <a:srgbClr val="A63204"/>
              </a:solidFill>
              <a:latin typeface="Times New Roman" panose="02020603050405020304" pitchFamily="18" charset="0"/>
              <a:ea typeface="华文楷体" panose="02010600040101010101" pitchFamily="2" charset="-122"/>
            </a:endParaRPr>
          </a:p>
        </p:txBody>
      </p:sp>
      <p:sp>
        <p:nvSpPr>
          <p:cNvPr id="26" name="Text Box 44"/>
          <p:cNvSpPr txBox="1">
            <a:spLocks noChangeArrowheads="1"/>
          </p:cNvSpPr>
          <p:nvPr/>
        </p:nvSpPr>
        <p:spPr bwMode="auto">
          <a:xfrm>
            <a:off x="4663113" y="4916817"/>
            <a:ext cx="415498" cy="30523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53</a:t>
            </a:r>
            <a:endParaRPr lang="en-US" altLang="zh-CN" sz="1800" dirty="0">
              <a:latin typeface="Times New Roman" panose="02020603050405020304" pitchFamily="18" charset="0"/>
              <a:ea typeface="华文楷体" panose="02010600040101010101" pitchFamily="2" charset="-122"/>
            </a:endParaRPr>
          </a:p>
        </p:txBody>
      </p:sp>
      <p:sp>
        <p:nvSpPr>
          <p:cNvPr id="27" name="Text Box 45"/>
          <p:cNvSpPr txBox="1">
            <a:spLocks noChangeArrowheads="1"/>
          </p:cNvSpPr>
          <p:nvPr/>
        </p:nvSpPr>
        <p:spPr bwMode="auto">
          <a:xfrm>
            <a:off x="5097235" y="5315852"/>
            <a:ext cx="415498" cy="30523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90</a:t>
            </a:r>
            <a:endParaRPr lang="en-US" altLang="zh-CN" sz="1800" dirty="0">
              <a:latin typeface="Times New Roman" panose="02020603050405020304" pitchFamily="18" charset="0"/>
              <a:ea typeface="华文楷体" panose="02010600040101010101" pitchFamily="2" charset="-122"/>
            </a:endParaRPr>
          </a:p>
        </p:txBody>
      </p:sp>
      <p:sp>
        <p:nvSpPr>
          <p:cNvPr id="2" name="文本框 1"/>
          <p:cNvSpPr txBox="1"/>
          <p:nvPr/>
        </p:nvSpPr>
        <p:spPr>
          <a:xfrm>
            <a:off x="2267744" y="4398071"/>
            <a:ext cx="729687" cy="369332"/>
          </a:xfrm>
          <a:prstGeom prst="rect">
            <a:avLst/>
          </a:prstGeom>
          <a:noFill/>
        </p:spPr>
        <p:txBody>
          <a:bodyPr wrap="none" rtlCol="0">
            <a:spAutoFit/>
          </a:bodyPr>
          <a:lstStyle/>
          <a:p>
            <a:r>
              <a:rPr lang="en-US" altLang="zh-CN" dirty="0" smtClean="0">
                <a:latin typeface="Times New Roman" panose="02020603050405020304" pitchFamily="18" charset="0"/>
                <a:cs typeface="Times New Roman" panose="02020603050405020304" pitchFamily="18" charset="0"/>
              </a:rPr>
              <a:t>K=32</a:t>
            </a:r>
            <a:endParaRPr lang="zh-CN" altLang="en-US" dirty="0">
              <a:latin typeface="Times New Roman" panose="02020603050405020304" pitchFamily="18" charset="0"/>
              <a:cs typeface="Times New Roman" panose="02020603050405020304" pitchFamily="18" charset="0"/>
            </a:endParaRPr>
          </a:p>
        </p:txBody>
      </p:sp>
      <p:sp>
        <p:nvSpPr>
          <p:cNvPr id="3" name="文本框 2"/>
          <p:cNvSpPr txBox="1"/>
          <p:nvPr/>
        </p:nvSpPr>
        <p:spPr>
          <a:xfrm>
            <a:off x="5192911" y="5873508"/>
            <a:ext cx="2544286" cy="369332"/>
          </a:xfrm>
          <a:prstGeom prst="rect">
            <a:avLst/>
          </a:prstGeom>
          <a:noFill/>
          <a:ln>
            <a:solidFill>
              <a:srgbClr val="FF0000"/>
            </a:solidFill>
          </a:ln>
        </p:spPr>
        <p:txBody>
          <a:bodyPr wrap="none" rtlCol="0">
            <a:spAutoFit/>
          </a:bodyPr>
          <a:lstStyle/>
          <a:p>
            <a:r>
              <a:rPr lang="en-US" altLang="zh-CN" dirty="0" smtClean="0">
                <a:latin typeface="Times New Roman" panose="02020603050405020304" pitchFamily="18" charset="0"/>
                <a:ea typeface="华文楷体" panose="02010600040101010101" pitchFamily="2" charset="-122"/>
              </a:rPr>
              <a:t>32</a:t>
            </a:r>
            <a:r>
              <a:rPr lang="zh-CN" altLang="en-US" dirty="0" smtClean="0">
                <a:latin typeface="Times New Roman" panose="02020603050405020304" pitchFamily="18" charset="0"/>
                <a:ea typeface="华文楷体" panose="02010600040101010101" pitchFamily="2" charset="-122"/>
              </a:rPr>
              <a:t>作为</a:t>
            </a:r>
            <a:r>
              <a:rPr lang="en-US" altLang="zh-CN" dirty="0" smtClean="0">
                <a:latin typeface="Times New Roman" panose="02020603050405020304" pitchFamily="18" charset="0"/>
                <a:ea typeface="华文楷体" panose="02010600040101010101" pitchFamily="2" charset="-122"/>
              </a:rPr>
              <a:t>28</a:t>
            </a:r>
            <a:r>
              <a:rPr lang="zh-CN" altLang="en-US" dirty="0" smtClean="0">
                <a:latin typeface="Times New Roman" panose="02020603050405020304" pitchFamily="18" charset="0"/>
                <a:ea typeface="华文楷体" panose="02010600040101010101" pitchFamily="2" charset="-122"/>
              </a:rPr>
              <a:t>的右孩子插入</a:t>
            </a:r>
            <a:endParaRPr lang="zh-CN" altLang="en-US" dirty="0">
              <a:latin typeface="Times New Roman" panose="02020603050405020304" pitchFamily="18" charset="0"/>
              <a:ea typeface="华文楷体" panose="02010600040101010101" pitchFamily="2" charset="-122"/>
            </a:endParaRPr>
          </a:p>
        </p:txBody>
      </p:sp>
      <p:cxnSp>
        <p:nvCxnSpPr>
          <p:cNvPr id="30" name="直接箭头连接符 29"/>
          <p:cNvCxnSpPr/>
          <p:nvPr/>
        </p:nvCxnSpPr>
        <p:spPr bwMode="auto">
          <a:xfrm flipH="1" flipV="1">
            <a:off x="4681736" y="5980008"/>
            <a:ext cx="415499" cy="78166"/>
          </a:xfrm>
          <a:prstGeom prst="straightConnector1">
            <a:avLst/>
          </a:prstGeom>
          <a:solidFill>
            <a:schemeClr val="accent1"/>
          </a:solidFill>
          <a:ln w="22225" cap="flat" cmpd="sng" algn="ctr">
            <a:solidFill>
              <a:schemeClr val="accent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827584" y="1179240"/>
            <a:ext cx="7147520" cy="5602560"/>
          </a:xfrm>
          <a:ln>
            <a:solidFill>
              <a:schemeClr val="accent1"/>
            </a:solidFill>
          </a:ln>
        </p:spPr>
        <p:txBody>
          <a:bodyPr/>
          <a:lstStyle/>
          <a:p>
            <a:pPr eaLnBrk="1" hangingPunct="1">
              <a:buNone/>
            </a:pPr>
            <a:r>
              <a:rPr lang="en-US" altLang="zh-CN" sz="1500" b="1" dirty="0">
                <a:solidFill>
                  <a:srgbClr val="A63204"/>
                </a:solidFill>
                <a:ea typeface="华文楷体" panose="02010600040101010101" pitchFamily="2" charset="-122"/>
              </a:rPr>
              <a:t>[</a:t>
            </a:r>
            <a:r>
              <a:rPr lang="zh-CN" altLang="en-US" sz="1500" b="1" dirty="0">
                <a:solidFill>
                  <a:srgbClr val="A63204"/>
                </a:solidFill>
                <a:ea typeface="华文楷体" panose="02010600040101010101" pitchFamily="2" charset="-122"/>
              </a:rPr>
              <a:t>插入算法</a:t>
            </a:r>
            <a:r>
              <a:rPr lang="en-US" altLang="zh-CN" sz="1500" b="1" dirty="0">
                <a:solidFill>
                  <a:srgbClr val="A63204"/>
                </a:solidFill>
                <a:ea typeface="华文楷体" panose="02010600040101010101" pitchFamily="2" charset="-122"/>
              </a:rPr>
              <a:t>]</a:t>
            </a:r>
            <a:endParaRPr lang="en-US" altLang="zh-CN" sz="1500" b="1" dirty="0">
              <a:solidFill>
                <a:srgbClr val="A63204"/>
              </a:solidFill>
              <a:ea typeface="华文楷体" panose="02010600040101010101" pitchFamily="2" charset="-122"/>
            </a:endParaRPr>
          </a:p>
          <a:p>
            <a:pPr marL="0" indent="0">
              <a:buNone/>
            </a:pPr>
            <a:r>
              <a:rPr lang="en-US" altLang="zh-CN" sz="1500" dirty="0" err="1">
                <a:ea typeface="华文楷体" panose="02010600040101010101" pitchFamily="2" charset="-122"/>
              </a:rPr>
              <a:t>SearchTree</a:t>
            </a:r>
            <a:r>
              <a:rPr lang="en-US" altLang="zh-CN" sz="1500" dirty="0">
                <a:ea typeface="华文楷体" panose="02010600040101010101" pitchFamily="2" charset="-122"/>
              </a:rPr>
              <a:t> Insert(</a:t>
            </a:r>
            <a:r>
              <a:rPr lang="en-US" altLang="zh-CN" sz="1500" dirty="0" err="1">
                <a:ea typeface="华文楷体" panose="02010600040101010101" pitchFamily="2" charset="-122"/>
              </a:rPr>
              <a:t>elemtype</a:t>
            </a:r>
            <a:r>
              <a:rPr lang="en-US" altLang="zh-CN" sz="1500" dirty="0">
                <a:ea typeface="华文楷体" panose="02010600040101010101" pitchFamily="2" charset="-122"/>
              </a:rPr>
              <a:t> X, </a:t>
            </a:r>
            <a:r>
              <a:rPr lang="en-US" altLang="zh-CN" sz="1500" dirty="0" err="1">
                <a:ea typeface="华文楷体" panose="02010600040101010101" pitchFamily="2" charset="-122"/>
              </a:rPr>
              <a:t>SearchTree</a:t>
            </a:r>
            <a:r>
              <a:rPr lang="en-US" altLang="zh-CN" sz="1500" dirty="0">
                <a:ea typeface="华文楷体" panose="02010600040101010101" pitchFamily="2" charset="-122"/>
              </a:rPr>
              <a:t> T</a:t>
            </a:r>
            <a:r>
              <a:rPr lang="en-US" altLang="zh-CN" sz="1500" dirty="0" smtClean="0">
                <a:ea typeface="华文楷体" panose="02010600040101010101" pitchFamily="2" charset="-122"/>
              </a:rPr>
              <a:t>) //</a:t>
            </a:r>
            <a:r>
              <a:rPr lang="zh-CN" altLang="en-US" sz="1500" dirty="0" smtClean="0">
                <a:ea typeface="华文楷体" panose="02010600040101010101" pitchFamily="2" charset="-122"/>
              </a:rPr>
              <a:t>返回指向新树根结点的指针</a:t>
            </a:r>
            <a:endParaRPr lang="en-US" altLang="zh-CN" sz="1500" dirty="0" smtClean="0">
              <a:ea typeface="华文楷体" panose="02010600040101010101" pitchFamily="2" charset="-122"/>
            </a:endParaRPr>
          </a:p>
          <a:p>
            <a:pPr marL="0" indent="0">
              <a:buNone/>
            </a:pPr>
            <a:r>
              <a:rPr lang="en-US" altLang="zh-CN" sz="1500" dirty="0" smtClean="0">
                <a:ea typeface="华文楷体" panose="02010600040101010101" pitchFamily="2" charset="-122"/>
              </a:rPr>
              <a:t>{</a:t>
            </a:r>
            <a:endParaRPr lang="en-US" altLang="zh-CN" sz="1500" dirty="0" smtClean="0">
              <a:ea typeface="华文楷体" panose="02010600040101010101" pitchFamily="2" charset="-122"/>
            </a:endParaRPr>
          </a:p>
          <a:p>
            <a:pPr marL="0" indent="0">
              <a:buNone/>
            </a:pPr>
            <a:r>
              <a:rPr lang="en-US" altLang="zh-CN" sz="1500" dirty="0">
                <a:ea typeface="华文楷体" panose="02010600040101010101" pitchFamily="2" charset="-122"/>
              </a:rPr>
              <a:t> </a:t>
            </a:r>
            <a:r>
              <a:rPr lang="en-US" altLang="zh-CN" sz="1500" dirty="0" smtClean="0">
                <a:ea typeface="华文楷体" panose="02010600040101010101" pitchFamily="2" charset="-122"/>
              </a:rPr>
              <a:t>   if (T==NULL)</a:t>
            </a:r>
            <a:endParaRPr lang="en-US" altLang="zh-CN" sz="1500" dirty="0" smtClean="0">
              <a:ea typeface="华文楷体" panose="02010600040101010101" pitchFamily="2" charset="-122"/>
            </a:endParaRPr>
          </a:p>
          <a:p>
            <a:pPr marL="0" indent="0">
              <a:buNone/>
            </a:pPr>
            <a:r>
              <a:rPr lang="en-US" altLang="zh-CN" sz="1500" dirty="0">
                <a:ea typeface="华文楷体" panose="02010600040101010101" pitchFamily="2" charset="-122"/>
              </a:rPr>
              <a:t> </a:t>
            </a:r>
            <a:r>
              <a:rPr lang="en-US" altLang="zh-CN" sz="1500" dirty="0" smtClean="0">
                <a:ea typeface="华文楷体" panose="02010600040101010101" pitchFamily="2" charset="-122"/>
              </a:rPr>
              <a:t>   {</a:t>
            </a:r>
            <a:endParaRPr lang="en-US" altLang="zh-CN" sz="1500" dirty="0" smtClean="0">
              <a:ea typeface="华文楷体" panose="02010600040101010101" pitchFamily="2" charset="-122"/>
            </a:endParaRPr>
          </a:p>
          <a:p>
            <a:pPr marL="0" indent="0">
              <a:buNone/>
            </a:pPr>
            <a:r>
              <a:rPr lang="en-US" altLang="zh-CN" sz="1500" dirty="0" smtClean="0">
                <a:ea typeface="华文楷体" panose="02010600040101010101" pitchFamily="2" charset="-122"/>
              </a:rPr>
              <a:t>        T = (Search Tree)</a:t>
            </a:r>
            <a:r>
              <a:rPr lang="en-US" altLang="zh-CN" sz="1500" dirty="0" err="1" smtClean="0">
                <a:ea typeface="华文楷体" panose="02010600040101010101" pitchFamily="2" charset="-122"/>
              </a:rPr>
              <a:t>malloc</a:t>
            </a:r>
            <a:r>
              <a:rPr lang="en-US" altLang="zh-CN" sz="1500" dirty="0" smtClean="0">
                <a:ea typeface="华文楷体" panose="02010600040101010101" pitchFamily="2" charset="-122"/>
              </a:rPr>
              <a:t>( </a:t>
            </a:r>
            <a:r>
              <a:rPr lang="en-US" altLang="zh-CN" sz="1500" dirty="0" err="1" smtClean="0">
                <a:ea typeface="华文楷体" panose="02010600040101010101" pitchFamily="2" charset="-122"/>
              </a:rPr>
              <a:t>sizeof</a:t>
            </a:r>
            <a:r>
              <a:rPr lang="en-US" altLang="zh-CN" sz="1500" dirty="0" smtClean="0">
                <a:ea typeface="华文楷体" panose="02010600040101010101" pitchFamily="2" charset="-122"/>
              </a:rPr>
              <a:t>(</a:t>
            </a:r>
            <a:r>
              <a:rPr lang="en-US" altLang="zh-CN" sz="1500" dirty="0" err="1" smtClean="0">
                <a:ea typeface="华文楷体" panose="02010600040101010101" pitchFamily="2" charset="-122"/>
              </a:rPr>
              <a:t>struct</a:t>
            </a:r>
            <a:r>
              <a:rPr lang="en-US" altLang="zh-CN" sz="1500" dirty="0" smtClean="0">
                <a:ea typeface="华文楷体" panose="02010600040101010101" pitchFamily="2" charset="-122"/>
              </a:rPr>
              <a:t> </a:t>
            </a:r>
            <a:r>
              <a:rPr lang="en-US" altLang="zh-CN" sz="1500" dirty="0" err="1" smtClean="0">
                <a:ea typeface="华文楷体" panose="02010600040101010101" pitchFamily="2" charset="-122"/>
              </a:rPr>
              <a:t>TreeNode</a:t>
            </a:r>
            <a:r>
              <a:rPr lang="en-US" altLang="zh-CN" sz="1500" dirty="0" smtClean="0">
                <a:ea typeface="华文楷体" panose="02010600040101010101" pitchFamily="2" charset="-122"/>
              </a:rPr>
              <a:t>));   </a:t>
            </a:r>
            <a:endParaRPr lang="en-US" altLang="zh-CN" sz="1500" dirty="0" smtClean="0">
              <a:ea typeface="华文楷体" panose="02010600040101010101" pitchFamily="2" charset="-122"/>
            </a:endParaRPr>
          </a:p>
          <a:p>
            <a:pPr marL="0" indent="0">
              <a:buNone/>
            </a:pPr>
            <a:r>
              <a:rPr lang="en-US" altLang="zh-CN" sz="1500" dirty="0">
                <a:ea typeface="华文楷体" panose="02010600040101010101" pitchFamily="2" charset="-122"/>
              </a:rPr>
              <a:t> </a:t>
            </a:r>
            <a:r>
              <a:rPr lang="en-US" altLang="zh-CN" sz="1500" dirty="0" smtClean="0">
                <a:ea typeface="华文楷体" panose="02010600040101010101" pitchFamily="2" charset="-122"/>
              </a:rPr>
              <a:t>       if (T == NULL)    </a:t>
            </a:r>
            <a:r>
              <a:rPr lang="en-US" altLang="zh-CN" sz="1500" dirty="0" err="1" smtClean="0">
                <a:ea typeface="华文楷体" panose="02010600040101010101" pitchFamily="2" charset="-122"/>
              </a:rPr>
              <a:t>FatalError</a:t>
            </a:r>
            <a:r>
              <a:rPr lang="en-US" altLang="zh-CN" sz="1500" dirty="0" smtClean="0">
                <a:ea typeface="华文楷体" panose="02010600040101010101" pitchFamily="2" charset="-122"/>
              </a:rPr>
              <a:t>(“out of space!”)</a:t>
            </a:r>
            <a:endParaRPr lang="en-US" altLang="zh-CN" sz="1500" dirty="0" smtClean="0">
              <a:ea typeface="华文楷体" panose="02010600040101010101" pitchFamily="2" charset="-122"/>
            </a:endParaRPr>
          </a:p>
          <a:p>
            <a:pPr marL="0" indent="0">
              <a:buNone/>
            </a:pPr>
            <a:r>
              <a:rPr lang="en-US" altLang="zh-CN" sz="1500" dirty="0">
                <a:ea typeface="华文楷体" panose="02010600040101010101" pitchFamily="2" charset="-122"/>
              </a:rPr>
              <a:t> </a:t>
            </a:r>
            <a:r>
              <a:rPr lang="en-US" altLang="zh-CN" sz="1500" dirty="0" smtClean="0">
                <a:ea typeface="华文楷体" panose="02010600040101010101" pitchFamily="2" charset="-122"/>
              </a:rPr>
              <a:t>       else</a:t>
            </a:r>
            <a:endParaRPr lang="en-US" altLang="zh-CN" sz="1500" dirty="0" smtClean="0">
              <a:ea typeface="华文楷体" panose="02010600040101010101" pitchFamily="2" charset="-122"/>
            </a:endParaRPr>
          </a:p>
          <a:p>
            <a:pPr marL="0" indent="0">
              <a:buNone/>
            </a:pPr>
            <a:r>
              <a:rPr lang="en-US" altLang="zh-CN" sz="1500" dirty="0">
                <a:ea typeface="华文楷体" panose="02010600040101010101" pitchFamily="2" charset="-122"/>
              </a:rPr>
              <a:t> </a:t>
            </a:r>
            <a:r>
              <a:rPr lang="en-US" altLang="zh-CN" sz="1500" dirty="0" smtClean="0">
                <a:ea typeface="华文楷体" panose="02010600040101010101" pitchFamily="2" charset="-122"/>
              </a:rPr>
              <a:t>       {</a:t>
            </a:r>
            <a:endParaRPr lang="en-US" altLang="zh-CN" sz="1500" dirty="0" smtClean="0">
              <a:ea typeface="华文楷体" panose="02010600040101010101" pitchFamily="2" charset="-122"/>
            </a:endParaRPr>
          </a:p>
          <a:p>
            <a:pPr marL="0" indent="0">
              <a:buNone/>
            </a:pPr>
            <a:r>
              <a:rPr lang="en-US" altLang="zh-CN" sz="1500" dirty="0">
                <a:ea typeface="华文楷体" panose="02010600040101010101" pitchFamily="2" charset="-122"/>
              </a:rPr>
              <a:t> </a:t>
            </a:r>
            <a:r>
              <a:rPr lang="en-US" altLang="zh-CN" sz="1500" dirty="0" smtClean="0">
                <a:ea typeface="华文楷体" panose="02010600040101010101" pitchFamily="2" charset="-122"/>
              </a:rPr>
              <a:t>           T-&gt;data = X;</a:t>
            </a:r>
            <a:endParaRPr lang="en-US" altLang="zh-CN" sz="1500" dirty="0" smtClean="0">
              <a:ea typeface="华文楷体" panose="02010600040101010101" pitchFamily="2" charset="-122"/>
            </a:endParaRPr>
          </a:p>
          <a:p>
            <a:pPr marL="0" indent="0">
              <a:buNone/>
            </a:pPr>
            <a:r>
              <a:rPr lang="en-US" altLang="zh-CN" sz="1500" dirty="0">
                <a:ea typeface="华文楷体" panose="02010600040101010101" pitchFamily="2" charset="-122"/>
              </a:rPr>
              <a:t> </a:t>
            </a:r>
            <a:r>
              <a:rPr lang="en-US" altLang="zh-CN" sz="1500" dirty="0" smtClean="0">
                <a:ea typeface="华文楷体" panose="02010600040101010101" pitchFamily="2" charset="-122"/>
              </a:rPr>
              <a:t>           T-&gt;left = T-&gt;right =NULL;</a:t>
            </a:r>
            <a:endParaRPr lang="en-US" altLang="zh-CN" sz="1500" dirty="0" smtClean="0">
              <a:ea typeface="华文楷体" panose="02010600040101010101" pitchFamily="2" charset="-122"/>
            </a:endParaRPr>
          </a:p>
          <a:p>
            <a:pPr marL="0" indent="0">
              <a:buNone/>
            </a:pPr>
            <a:r>
              <a:rPr lang="en-US" altLang="zh-CN" sz="1500" dirty="0">
                <a:ea typeface="华文楷体" panose="02010600040101010101" pitchFamily="2" charset="-122"/>
              </a:rPr>
              <a:t> </a:t>
            </a:r>
            <a:r>
              <a:rPr lang="en-US" altLang="zh-CN" sz="1500" dirty="0" smtClean="0">
                <a:ea typeface="华文楷体" panose="02010600040101010101" pitchFamily="2" charset="-122"/>
              </a:rPr>
              <a:t>       }</a:t>
            </a:r>
            <a:endParaRPr lang="en-US" altLang="zh-CN" sz="1500" dirty="0">
              <a:ea typeface="华文楷体" panose="02010600040101010101" pitchFamily="2" charset="-122"/>
            </a:endParaRPr>
          </a:p>
          <a:p>
            <a:pPr marL="0" indent="0">
              <a:buNone/>
            </a:pPr>
            <a:r>
              <a:rPr lang="en-US" altLang="zh-CN" sz="1500" dirty="0" smtClean="0">
                <a:ea typeface="华文楷体" panose="02010600040101010101" pitchFamily="2" charset="-122"/>
              </a:rPr>
              <a:t>    }</a:t>
            </a:r>
            <a:endParaRPr lang="en-US" altLang="zh-CN" sz="1500" dirty="0" smtClean="0">
              <a:ea typeface="华文楷体" panose="02010600040101010101" pitchFamily="2" charset="-122"/>
            </a:endParaRPr>
          </a:p>
          <a:p>
            <a:pPr marL="0" indent="0">
              <a:buNone/>
            </a:pPr>
            <a:r>
              <a:rPr lang="en-US" altLang="zh-CN" sz="1500" dirty="0">
                <a:ea typeface="华文楷体" panose="02010600040101010101" pitchFamily="2" charset="-122"/>
              </a:rPr>
              <a:t> </a:t>
            </a:r>
            <a:r>
              <a:rPr lang="en-US" altLang="zh-CN" sz="1500" dirty="0" smtClean="0">
                <a:ea typeface="华文楷体" panose="02010600040101010101" pitchFamily="2" charset="-122"/>
              </a:rPr>
              <a:t>   else if (X&lt; T-&gt;data) </a:t>
            </a:r>
            <a:endParaRPr lang="en-US" altLang="zh-CN" sz="1500" dirty="0" smtClean="0">
              <a:ea typeface="华文楷体" panose="02010600040101010101" pitchFamily="2" charset="-122"/>
            </a:endParaRPr>
          </a:p>
          <a:p>
            <a:pPr marL="0" indent="0">
              <a:buNone/>
            </a:pPr>
            <a:r>
              <a:rPr lang="en-US" altLang="zh-CN" sz="1500" dirty="0" smtClean="0">
                <a:solidFill>
                  <a:schemeClr val="accent1"/>
                </a:solidFill>
                <a:ea typeface="华文楷体" panose="02010600040101010101" pitchFamily="2" charset="-122"/>
              </a:rPr>
              <a:t>L8</a:t>
            </a:r>
            <a:r>
              <a:rPr lang="en-US" altLang="zh-CN" sz="1500" dirty="0" smtClean="0">
                <a:solidFill>
                  <a:srgbClr val="C00000"/>
                </a:solidFill>
                <a:ea typeface="华文楷体" panose="02010600040101010101" pitchFamily="2" charset="-122"/>
              </a:rPr>
              <a:t>    T-&gt;left </a:t>
            </a:r>
            <a:r>
              <a:rPr lang="en-US" altLang="zh-CN" sz="1500" dirty="0" smtClean="0">
                <a:ea typeface="华文楷体" panose="02010600040101010101" pitchFamily="2" charset="-122"/>
              </a:rPr>
              <a:t>= Insert(X, T-&gt;left);</a:t>
            </a:r>
            <a:endParaRPr lang="en-US" altLang="zh-CN" sz="1500" dirty="0" smtClean="0">
              <a:ea typeface="华文楷体" panose="02010600040101010101" pitchFamily="2" charset="-122"/>
            </a:endParaRPr>
          </a:p>
          <a:p>
            <a:pPr marL="0" indent="0">
              <a:buNone/>
            </a:pPr>
            <a:r>
              <a:rPr lang="en-US" altLang="zh-CN" sz="1500" dirty="0" smtClean="0">
                <a:ea typeface="华文楷体" panose="02010600040101010101" pitchFamily="2" charset="-122"/>
              </a:rPr>
              <a:t>    else if (X&gt; T-&gt;data) </a:t>
            </a:r>
            <a:endParaRPr lang="en-US" altLang="zh-CN" sz="1500" dirty="0" smtClean="0">
              <a:ea typeface="华文楷体" panose="02010600040101010101" pitchFamily="2" charset="-122"/>
            </a:endParaRPr>
          </a:p>
          <a:p>
            <a:pPr marL="0" indent="0">
              <a:buNone/>
            </a:pPr>
            <a:r>
              <a:rPr lang="en-US" altLang="zh-CN" sz="1500" dirty="0" smtClean="0">
                <a:solidFill>
                  <a:schemeClr val="accent1"/>
                </a:solidFill>
                <a:ea typeface="华文楷体" panose="02010600040101010101" pitchFamily="2" charset="-122"/>
              </a:rPr>
              <a:t>L10</a:t>
            </a:r>
            <a:r>
              <a:rPr lang="en-US" altLang="zh-CN" sz="1500" dirty="0" smtClean="0">
                <a:solidFill>
                  <a:srgbClr val="C00000"/>
                </a:solidFill>
                <a:ea typeface="华文楷体" panose="02010600040101010101" pitchFamily="2" charset="-122"/>
              </a:rPr>
              <a:t>  T-&gt;right </a:t>
            </a:r>
            <a:r>
              <a:rPr lang="en-US" altLang="zh-CN" sz="1500" dirty="0" smtClean="0">
                <a:ea typeface="华文楷体" panose="02010600040101010101" pitchFamily="2" charset="-122"/>
              </a:rPr>
              <a:t>= Insert(X, T-&gt; right);</a:t>
            </a:r>
            <a:endParaRPr lang="en-US" altLang="zh-CN" sz="1500" dirty="0" smtClean="0">
              <a:ea typeface="华文楷体" panose="02010600040101010101" pitchFamily="2" charset="-122"/>
            </a:endParaRPr>
          </a:p>
          <a:p>
            <a:pPr marL="0" indent="0">
              <a:buNone/>
            </a:pPr>
            <a:r>
              <a:rPr lang="en-US" altLang="zh-CN" sz="1500" dirty="0">
                <a:ea typeface="华文楷体" panose="02010600040101010101" pitchFamily="2" charset="-122"/>
              </a:rPr>
              <a:t> </a:t>
            </a:r>
            <a:r>
              <a:rPr lang="en-US" altLang="zh-CN" sz="1500" dirty="0" smtClean="0">
                <a:ea typeface="华文楷体" panose="02010600040101010101" pitchFamily="2" charset="-122"/>
              </a:rPr>
              <a:t>//else X</a:t>
            </a:r>
            <a:r>
              <a:rPr lang="zh-CN" altLang="en-US" sz="1500" dirty="0" smtClean="0">
                <a:ea typeface="华文楷体" panose="02010600040101010101" pitchFamily="2" charset="-122"/>
              </a:rPr>
              <a:t>已经在树</a:t>
            </a:r>
            <a:r>
              <a:rPr lang="en-US" altLang="zh-CN" sz="1500" dirty="0" smtClean="0">
                <a:ea typeface="华文楷体" panose="02010600040101010101" pitchFamily="2" charset="-122"/>
              </a:rPr>
              <a:t>T</a:t>
            </a:r>
            <a:r>
              <a:rPr lang="zh-CN" altLang="en-US" sz="1500" dirty="0" smtClean="0">
                <a:ea typeface="华文楷体" panose="02010600040101010101" pitchFamily="2" charset="-122"/>
              </a:rPr>
              <a:t>中，不做任何操作；</a:t>
            </a:r>
            <a:endParaRPr lang="en-US" altLang="zh-CN" sz="1500" dirty="0" smtClean="0">
              <a:ea typeface="华文楷体" panose="02010600040101010101" pitchFamily="2" charset="-122"/>
            </a:endParaRPr>
          </a:p>
          <a:p>
            <a:pPr marL="0" indent="0">
              <a:buNone/>
            </a:pPr>
            <a:r>
              <a:rPr lang="en-US" altLang="zh-CN" sz="1500" dirty="0" smtClean="0">
                <a:ea typeface="华文楷体" panose="02010600040101010101" pitchFamily="2" charset="-122"/>
              </a:rPr>
              <a:t>    return T</a:t>
            </a:r>
            <a:r>
              <a:rPr lang="en-US" altLang="zh-CN" sz="1500" dirty="0">
                <a:ea typeface="华文楷体" panose="02010600040101010101" pitchFamily="2" charset="-122"/>
              </a:rPr>
              <a:t>;</a:t>
            </a:r>
            <a:endParaRPr lang="en-US" altLang="zh-CN" sz="1500" dirty="0" smtClean="0">
              <a:ea typeface="华文楷体" panose="02010600040101010101" pitchFamily="2" charset="-122"/>
            </a:endParaRPr>
          </a:p>
          <a:p>
            <a:pPr marL="0" indent="0">
              <a:buNone/>
            </a:pPr>
            <a:r>
              <a:rPr lang="en-US" altLang="zh-CN" sz="1500" dirty="0" smtClean="0">
                <a:ea typeface="华文楷体" panose="02010600040101010101" pitchFamily="2" charset="-122"/>
              </a:rPr>
              <a:t>}</a:t>
            </a:r>
            <a:endParaRPr lang="zh-CN" altLang="en-US" sz="1500" dirty="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endParaRPr lang="zh-CN" altLang="en-US" dirty="0" smtClean="0">
              <a:ea typeface="华文楷体" panose="02010600040101010101" pitchFamily="2" charset="-122"/>
            </a:endParaRPr>
          </a:p>
        </p:txBody>
      </p:sp>
      <p:sp>
        <p:nvSpPr>
          <p:cNvPr id="28675" name="内容占位符 2"/>
          <p:cNvSpPr>
            <a:spLocks noGrp="1"/>
          </p:cNvSpPr>
          <p:nvPr>
            <p:ph idx="1"/>
          </p:nvPr>
        </p:nvSpPr>
        <p:spPr/>
        <p:txBody>
          <a:bodyPr/>
          <a:lstStyle/>
          <a:p>
            <a:pPr lvl="1" eaLnBrk="1" hangingPunct="1">
              <a:buFont typeface="Wingdings" panose="05000000000000000000" pitchFamily="2" charset="2"/>
              <a:buNone/>
            </a:pPr>
            <a:r>
              <a:rPr lang="en-US" altLang="zh-CN" sz="2400" b="1" dirty="0" smtClean="0">
                <a:solidFill>
                  <a:srgbClr val="A63204"/>
                </a:solidFill>
                <a:ea typeface="华文楷体" panose="02010600040101010101" pitchFamily="2" charset="-122"/>
              </a:rPr>
              <a:t>[</a:t>
            </a:r>
            <a:r>
              <a:rPr lang="zh-CN" altLang="en-US" sz="2400" b="1" dirty="0" smtClean="0">
                <a:solidFill>
                  <a:srgbClr val="A63204"/>
                </a:solidFill>
                <a:ea typeface="华文楷体" panose="02010600040101010101" pitchFamily="2" charset="-122"/>
              </a:rPr>
              <a:t>生成</a:t>
            </a:r>
            <a:r>
              <a:rPr lang="en-US" altLang="zh-CN" sz="2400" b="1" dirty="0" smtClean="0">
                <a:solidFill>
                  <a:srgbClr val="A63204"/>
                </a:solidFill>
                <a:ea typeface="华文楷体" panose="02010600040101010101" pitchFamily="2" charset="-122"/>
              </a:rPr>
              <a:t>]</a:t>
            </a:r>
            <a:endParaRPr lang="en-US" altLang="zh-CN" sz="2400" b="1" dirty="0" smtClean="0">
              <a:solidFill>
                <a:srgbClr val="A63204"/>
              </a:solidFill>
              <a:ea typeface="华文楷体" panose="02010600040101010101" pitchFamily="2" charset="-122"/>
            </a:endParaRPr>
          </a:p>
          <a:p>
            <a:pPr eaLnBrk="1" hangingPunct="1">
              <a:buFont typeface="Wingdings" panose="05000000000000000000" pitchFamily="2" charset="2"/>
              <a:buNone/>
            </a:pPr>
            <a:r>
              <a:rPr lang="zh-CN" altLang="zh-CN" sz="2400" dirty="0">
                <a:ea typeface="华文楷体" panose="02010600040101010101" pitchFamily="2" charset="-122"/>
              </a:rPr>
              <a:t>[算法步骤]  </a:t>
            </a:r>
            <a:r>
              <a:rPr lang="zh-CN" altLang="zh-CN" sz="2400" dirty="0" smtClean="0">
                <a:ea typeface="华文楷体" panose="02010600040101010101" pitchFamily="2" charset="-122"/>
              </a:rPr>
              <a:t>反复执行以下操作</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a. </a:t>
            </a:r>
            <a:r>
              <a:rPr lang="zh-CN" altLang="en-US" sz="2400" dirty="0" smtClean="0">
                <a:ea typeface="华文楷体" panose="02010600040101010101" pitchFamily="2" charset="-122"/>
              </a:rPr>
              <a:t>读入一个记录，设其关键字为</a:t>
            </a:r>
            <a:r>
              <a:rPr lang="en-US" altLang="zh-CN" sz="2400" dirty="0" smtClean="0">
                <a:ea typeface="华文楷体" panose="02010600040101010101" pitchFamily="2" charset="-122"/>
              </a:rPr>
              <a:t>K</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b. </a:t>
            </a:r>
            <a:r>
              <a:rPr lang="zh-CN" altLang="en-US" sz="2400" dirty="0" smtClean="0">
                <a:ea typeface="华文楷体" panose="02010600040101010101" pitchFamily="2" charset="-122"/>
              </a:rPr>
              <a:t>调用查找算法，确定插入位置；</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c. </a:t>
            </a:r>
            <a:r>
              <a:rPr lang="zh-CN" altLang="en-US" sz="2400" dirty="0" smtClean="0">
                <a:ea typeface="华文楷体" panose="02010600040101010101" pitchFamily="2" charset="-122"/>
              </a:rPr>
              <a:t>调用插入算法，实施插入结点的操作；</a:t>
            </a:r>
            <a:endParaRPr lang="zh-CN" altLang="en-US" sz="2400" dirty="0" smtClean="0">
              <a:ea typeface="华文楷体" panose="02010600040101010101" pitchFamily="2" charset="-122"/>
            </a:endParaRPr>
          </a:p>
          <a:p>
            <a:pPr>
              <a:buFont typeface="Wingdings" panose="05000000000000000000" pitchFamily="2" charset="2"/>
              <a:buNone/>
            </a:pPr>
            <a:endParaRPr lang="zh-CN" altLang="en-US" dirty="0" smtClean="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quarter"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页脚占位符 3"/>
          <p:cNvSpPr>
            <a:spLocks noGrp="1"/>
          </p:cNvSpPr>
          <p:nvPr>
            <p:ph type="ftr" sz="quarter" idx="10"/>
          </p:nvPr>
        </p:nvSpPr>
        <p:spPr/>
        <p:txBody>
          <a:bodyPr/>
          <a:lstStyle/>
          <a:p>
            <a:pPr>
              <a:defRPr/>
            </a:pPr>
            <a:r>
              <a:rPr lang="en-US" altLang="zh-CN"/>
              <a:t>BUPT SCST</a:t>
            </a:r>
            <a:endParaRPr lang="en-US" altLang="zh-CN"/>
          </a:p>
        </p:txBody>
      </p:sp>
      <p:sp>
        <p:nvSpPr>
          <p:cNvPr id="33" name="日期占位符 5"/>
          <p:cNvSpPr>
            <a:spLocks noGrp="1"/>
          </p:cNvSpPr>
          <p:nvPr>
            <p:ph type="dt" sz="quarter" idx="12"/>
          </p:nvPr>
        </p:nvSpPr>
        <p:spPr/>
        <p:txBody>
          <a:bodyPr/>
          <a:lstStyle/>
          <a:p>
            <a:pPr>
              <a:defRPr/>
            </a:pPr>
            <a:r>
              <a:rPr lang="en-US" altLang="zh-CN"/>
              <a:t>BUPT</a:t>
            </a:r>
            <a:endParaRPr lang="en-US" altLang="zh-CN"/>
          </a:p>
        </p:txBody>
      </p:sp>
      <p:sp>
        <p:nvSpPr>
          <p:cNvPr id="2970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29701" name="Rectangle 3"/>
          <p:cNvSpPr>
            <a:spLocks noGrp="1" noChangeArrowheads="1"/>
          </p:cNvSpPr>
          <p:nvPr>
            <p:ph type="body" idx="1"/>
          </p:nvPr>
        </p:nvSpPr>
        <p:spPr>
          <a:xfrm>
            <a:off x="231042" y="1209151"/>
            <a:ext cx="8229600" cy="5248275"/>
          </a:xfrm>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folHlink"/>
                </a:solidFill>
                <a:miter lim="800000"/>
                <a:headEnd type="none" w="sm" len="sm"/>
                <a:tailEnd type="none" w="sm" len="sm"/>
              </a14:hiddenLine>
            </a:ext>
          </a:extLst>
        </p:spPr>
        <p:txBody>
          <a:bodyPr/>
          <a:lstStyle/>
          <a:p>
            <a:pPr lvl="1">
              <a:spcBef>
                <a:spcPct val="50000"/>
              </a:spcBef>
              <a:buClrTx/>
              <a:buFontTx/>
              <a:buNone/>
            </a:pPr>
            <a:r>
              <a:rPr kumimoji="1" lang="zh-CN" altLang="en-US" sz="2400" dirty="0" smtClean="0">
                <a:solidFill>
                  <a:srgbClr val="C00000"/>
                </a:solidFill>
                <a:ea typeface="华文楷体" panose="02010600040101010101" pitchFamily="2" charset="-122"/>
              </a:rPr>
              <a:t>例</a:t>
            </a:r>
            <a:r>
              <a:rPr kumimoji="1" lang="zh-CN" altLang="en-US" sz="2400" dirty="0" smtClean="0">
                <a:ea typeface="华文楷体" panose="02010600040101010101" pitchFamily="2" charset="-122"/>
              </a:rPr>
              <a:t>：</a:t>
            </a:r>
            <a:r>
              <a:rPr kumimoji="1" lang="zh-CN" altLang="zh-CN" sz="2400" dirty="0" smtClean="0">
                <a:ea typeface="华文楷体" panose="02010600040101010101" pitchFamily="2" charset="-122"/>
              </a:rPr>
              <a:t>将序列122、99、250、110、300、280 作为二叉</a:t>
            </a:r>
            <a:r>
              <a:rPr kumimoji="1" lang="zh-CN" altLang="en-US" sz="2400" dirty="0" smtClean="0">
                <a:ea typeface="华文楷体" panose="02010600040101010101" pitchFamily="2" charset="-122"/>
              </a:rPr>
              <a:t>排序</a:t>
            </a:r>
            <a:r>
              <a:rPr kumimoji="1" lang="zh-CN" altLang="zh-CN" sz="2400" dirty="0" smtClean="0">
                <a:ea typeface="华文楷体" panose="02010600040101010101" pitchFamily="2" charset="-122"/>
              </a:rPr>
              <a:t>树的结点的关键字值，生成二叉</a:t>
            </a:r>
            <a:r>
              <a:rPr kumimoji="1" lang="zh-CN" altLang="en-US" sz="2400" dirty="0" smtClean="0">
                <a:ea typeface="华文楷体" panose="02010600040101010101" pitchFamily="2" charset="-122"/>
              </a:rPr>
              <a:t>排序</a:t>
            </a:r>
            <a:r>
              <a:rPr kumimoji="1" lang="zh-CN" altLang="zh-CN" sz="2400" dirty="0" smtClean="0">
                <a:ea typeface="华文楷体" panose="02010600040101010101" pitchFamily="2" charset="-122"/>
              </a:rPr>
              <a:t>树。</a:t>
            </a:r>
            <a:endParaRPr kumimoji="1" lang="zh-CN" altLang="en-US" sz="2400" dirty="0" smtClean="0">
              <a:ea typeface="华文楷体" panose="02010600040101010101" pitchFamily="2" charset="-122"/>
            </a:endParaRPr>
          </a:p>
        </p:txBody>
      </p:sp>
      <p:grpSp>
        <p:nvGrpSpPr>
          <p:cNvPr id="47108" name="Group 4"/>
          <p:cNvGrpSpPr/>
          <p:nvPr/>
        </p:nvGrpSpPr>
        <p:grpSpPr bwMode="auto">
          <a:xfrm>
            <a:off x="1045368" y="2184886"/>
            <a:ext cx="381000" cy="457200"/>
            <a:chOff x="768" y="2352"/>
            <a:chExt cx="240" cy="288"/>
          </a:xfrm>
        </p:grpSpPr>
        <p:sp>
          <p:nvSpPr>
            <p:cNvPr id="29728" name="Oval 5"/>
            <p:cNvSpPr>
              <a:spLocks noChangeArrowheads="1"/>
            </p:cNvSpPr>
            <p:nvPr/>
          </p:nvSpPr>
          <p:spPr bwMode="auto">
            <a:xfrm>
              <a:off x="768" y="2400"/>
              <a:ext cx="240" cy="192"/>
            </a:xfrm>
            <a:prstGeom prst="ellipse">
              <a:avLst/>
            </a:prstGeom>
            <a:solidFill>
              <a:srgbClr val="FFFFFF"/>
            </a:solidFill>
            <a:ln w="38100">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solidFill>
                  <a:schemeClr val="folHlink"/>
                </a:solidFill>
                <a:latin typeface="Times New Roman" panose="02020603050405020304" pitchFamily="18" charset="0"/>
                <a:ea typeface="华文楷体" panose="02010600040101010101" pitchFamily="2" charset="-122"/>
              </a:endParaRPr>
            </a:p>
          </p:txBody>
        </p:sp>
        <p:sp>
          <p:nvSpPr>
            <p:cNvPr id="29729" name="Line 6"/>
            <p:cNvSpPr>
              <a:spLocks noChangeShapeType="1"/>
            </p:cNvSpPr>
            <p:nvPr/>
          </p:nvSpPr>
          <p:spPr bwMode="auto">
            <a:xfrm flipH="1">
              <a:off x="816" y="2352"/>
              <a:ext cx="144" cy="288"/>
            </a:xfrm>
            <a:prstGeom prst="line">
              <a:avLst/>
            </a:prstGeom>
            <a:noFill/>
            <a:ln w="38100">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sp>
        <p:nvSpPr>
          <p:cNvPr id="47111" name="Oval 7"/>
          <p:cNvSpPr>
            <a:spLocks noChangeArrowheads="1"/>
          </p:cNvSpPr>
          <p:nvPr/>
        </p:nvSpPr>
        <p:spPr bwMode="auto">
          <a:xfrm>
            <a:off x="851892" y="3106021"/>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122</a:t>
            </a:r>
            <a:endParaRPr kumimoji="1" lang="en-US" altLang="zh-CN" sz="1600" b="1" u="sng" dirty="0">
              <a:latin typeface="Times New Roman" panose="02020603050405020304" pitchFamily="18" charset="0"/>
              <a:ea typeface="华文楷体" panose="02010600040101010101" pitchFamily="2" charset="-122"/>
            </a:endParaRPr>
          </a:p>
        </p:txBody>
      </p:sp>
      <p:sp>
        <p:nvSpPr>
          <p:cNvPr id="47112" name="Oval 8"/>
          <p:cNvSpPr>
            <a:spLocks noChangeArrowheads="1"/>
          </p:cNvSpPr>
          <p:nvPr/>
        </p:nvSpPr>
        <p:spPr bwMode="auto">
          <a:xfrm>
            <a:off x="1144494" y="459406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122</a:t>
            </a:r>
            <a:endParaRPr kumimoji="1" lang="en-US" altLang="zh-CN" sz="1600" b="1" u="sng" dirty="0">
              <a:latin typeface="Times New Roman" panose="02020603050405020304" pitchFamily="18" charset="0"/>
              <a:ea typeface="华文楷体" panose="02010600040101010101" pitchFamily="2" charset="-122"/>
            </a:endParaRPr>
          </a:p>
        </p:txBody>
      </p:sp>
      <p:sp>
        <p:nvSpPr>
          <p:cNvPr id="47113" name="Oval 9"/>
          <p:cNvSpPr>
            <a:spLocks noChangeArrowheads="1"/>
          </p:cNvSpPr>
          <p:nvPr/>
        </p:nvSpPr>
        <p:spPr bwMode="auto">
          <a:xfrm>
            <a:off x="382494" y="543226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99</a:t>
            </a:r>
            <a:endParaRPr kumimoji="1" lang="en-US" altLang="zh-CN" sz="1600" b="1" u="sng" dirty="0">
              <a:latin typeface="Times New Roman" panose="02020603050405020304" pitchFamily="18" charset="0"/>
              <a:ea typeface="华文楷体" panose="02010600040101010101" pitchFamily="2" charset="-122"/>
            </a:endParaRPr>
          </a:p>
        </p:txBody>
      </p:sp>
      <p:sp>
        <p:nvSpPr>
          <p:cNvPr id="47114" name="Line 10"/>
          <p:cNvSpPr>
            <a:spLocks noChangeShapeType="1"/>
          </p:cNvSpPr>
          <p:nvPr/>
        </p:nvSpPr>
        <p:spPr bwMode="auto">
          <a:xfrm flipH="1">
            <a:off x="687294" y="4898860"/>
            <a:ext cx="533400" cy="53340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15" name="Oval 11"/>
          <p:cNvSpPr>
            <a:spLocks noChangeArrowheads="1"/>
          </p:cNvSpPr>
          <p:nvPr/>
        </p:nvSpPr>
        <p:spPr bwMode="auto">
          <a:xfrm>
            <a:off x="2999184" y="2276872"/>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122</a:t>
            </a:r>
            <a:endParaRPr kumimoji="1" lang="en-US" altLang="zh-CN" sz="1600" b="1" u="sng" dirty="0">
              <a:latin typeface="Times New Roman" panose="02020603050405020304" pitchFamily="18" charset="0"/>
              <a:ea typeface="华文楷体" panose="02010600040101010101" pitchFamily="2" charset="-122"/>
            </a:endParaRPr>
          </a:p>
        </p:txBody>
      </p:sp>
      <p:sp>
        <p:nvSpPr>
          <p:cNvPr id="47116" name="Oval 12"/>
          <p:cNvSpPr>
            <a:spLocks noChangeArrowheads="1"/>
          </p:cNvSpPr>
          <p:nvPr/>
        </p:nvSpPr>
        <p:spPr bwMode="auto">
          <a:xfrm>
            <a:off x="3761184" y="2962672"/>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250</a:t>
            </a:r>
            <a:endParaRPr kumimoji="1" lang="en-US" altLang="zh-CN" sz="1600" b="1" u="sng" dirty="0">
              <a:latin typeface="Times New Roman" panose="02020603050405020304" pitchFamily="18" charset="0"/>
              <a:ea typeface="华文楷体" panose="02010600040101010101" pitchFamily="2" charset="-122"/>
            </a:endParaRPr>
          </a:p>
        </p:txBody>
      </p:sp>
      <p:sp>
        <p:nvSpPr>
          <p:cNvPr id="47117" name="Oval 13"/>
          <p:cNvSpPr>
            <a:spLocks noChangeArrowheads="1"/>
          </p:cNvSpPr>
          <p:nvPr/>
        </p:nvSpPr>
        <p:spPr bwMode="auto">
          <a:xfrm>
            <a:off x="2160984" y="3038872"/>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99</a:t>
            </a:r>
            <a:endParaRPr kumimoji="1" lang="en-US" altLang="zh-CN" sz="1600" b="1" u="sng" dirty="0">
              <a:latin typeface="Times New Roman" panose="02020603050405020304" pitchFamily="18" charset="0"/>
              <a:ea typeface="华文楷体" panose="02010600040101010101" pitchFamily="2" charset="-122"/>
            </a:endParaRPr>
          </a:p>
        </p:txBody>
      </p:sp>
      <p:sp>
        <p:nvSpPr>
          <p:cNvPr id="47118" name="Line 14"/>
          <p:cNvSpPr>
            <a:spLocks noChangeShapeType="1"/>
          </p:cNvSpPr>
          <p:nvPr/>
        </p:nvSpPr>
        <p:spPr bwMode="auto">
          <a:xfrm flipH="1">
            <a:off x="2541984" y="2581672"/>
            <a:ext cx="533400" cy="53340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19" name="Line 15"/>
          <p:cNvSpPr>
            <a:spLocks noChangeShapeType="1"/>
          </p:cNvSpPr>
          <p:nvPr/>
        </p:nvSpPr>
        <p:spPr bwMode="auto">
          <a:xfrm>
            <a:off x="3380184" y="2581672"/>
            <a:ext cx="457200" cy="45720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20" name="Oval 16"/>
          <p:cNvSpPr>
            <a:spLocks noChangeArrowheads="1"/>
          </p:cNvSpPr>
          <p:nvPr/>
        </p:nvSpPr>
        <p:spPr bwMode="auto">
          <a:xfrm>
            <a:off x="3380582" y="451786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122</a:t>
            </a:r>
            <a:endParaRPr kumimoji="1" lang="en-US" altLang="zh-CN" sz="1600" b="1" u="sng" dirty="0">
              <a:latin typeface="Times New Roman" panose="02020603050405020304" pitchFamily="18" charset="0"/>
              <a:ea typeface="华文楷体" panose="02010600040101010101" pitchFamily="2" charset="-122"/>
            </a:endParaRPr>
          </a:p>
        </p:txBody>
      </p:sp>
      <p:sp>
        <p:nvSpPr>
          <p:cNvPr id="47121" name="Oval 17"/>
          <p:cNvSpPr>
            <a:spLocks noChangeArrowheads="1"/>
          </p:cNvSpPr>
          <p:nvPr/>
        </p:nvSpPr>
        <p:spPr bwMode="auto">
          <a:xfrm>
            <a:off x="4142582" y="520366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250</a:t>
            </a:r>
            <a:endParaRPr kumimoji="1" lang="en-US" altLang="zh-CN" sz="1600" b="1" u="sng" dirty="0">
              <a:latin typeface="Times New Roman" panose="02020603050405020304" pitchFamily="18" charset="0"/>
              <a:ea typeface="华文楷体" panose="02010600040101010101" pitchFamily="2" charset="-122"/>
            </a:endParaRPr>
          </a:p>
        </p:txBody>
      </p:sp>
      <p:sp>
        <p:nvSpPr>
          <p:cNvPr id="47122" name="Oval 18"/>
          <p:cNvSpPr>
            <a:spLocks noChangeArrowheads="1"/>
          </p:cNvSpPr>
          <p:nvPr/>
        </p:nvSpPr>
        <p:spPr bwMode="auto">
          <a:xfrm>
            <a:off x="2999582" y="588946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110</a:t>
            </a:r>
            <a:endParaRPr kumimoji="1" lang="en-US" altLang="zh-CN" sz="1600" b="1" u="sng" dirty="0">
              <a:latin typeface="Times New Roman" panose="02020603050405020304" pitchFamily="18" charset="0"/>
              <a:ea typeface="华文楷体" panose="02010600040101010101" pitchFamily="2" charset="-122"/>
            </a:endParaRPr>
          </a:p>
        </p:txBody>
      </p:sp>
      <p:sp>
        <p:nvSpPr>
          <p:cNvPr id="47123" name="Oval 19"/>
          <p:cNvSpPr>
            <a:spLocks noChangeArrowheads="1"/>
          </p:cNvSpPr>
          <p:nvPr/>
        </p:nvSpPr>
        <p:spPr bwMode="auto">
          <a:xfrm>
            <a:off x="2542382" y="527986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99</a:t>
            </a:r>
            <a:endParaRPr kumimoji="1" lang="en-US" altLang="zh-CN" sz="1600" b="1" u="sng" dirty="0">
              <a:latin typeface="Times New Roman" panose="02020603050405020304" pitchFamily="18" charset="0"/>
              <a:ea typeface="华文楷体" panose="02010600040101010101" pitchFamily="2" charset="-122"/>
            </a:endParaRPr>
          </a:p>
        </p:txBody>
      </p:sp>
      <p:sp>
        <p:nvSpPr>
          <p:cNvPr id="47124" name="Line 20"/>
          <p:cNvSpPr>
            <a:spLocks noChangeShapeType="1"/>
          </p:cNvSpPr>
          <p:nvPr/>
        </p:nvSpPr>
        <p:spPr bwMode="auto">
          <a:xfrm flipH="1">
            <a:off x="2923382" y="4822660"/>
            <a:ext cx="533400" cy="53340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25" name="Line 21"/>
          <p:cNvSpPr>
            <a:spLocks noChangeShapeType="1"/>
          </p:cNvSpPr>
          <p:nvPr/>
        </p:nvSpPr>
        <p:spPr bwMode="auto">
          <a:xfrm>
            <a:off x="3761582" y="4822660"/>
            <a:ext cx="457200" cy="45720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26" name="Line 22"/>
          <p:cNvSpPr>
            <a:spLocks noChangeShapeType="1"/>
          </p:cNvSpPr>
          <p:nvPr/>
        </p:nvSpPr>
        <p:spPr bwMode="auto">
          <a:xfrm>
            <a:off x="2847182" y="5660860"/>
            <a:ext cx="228600" cy="30480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27" name="Oval 23"/>
          <p:cNvSpPr>
            <a:spLocks noChangeArrowheads="1"/>
          </p:cNvSpPr>
          <p:nvPr/>
        </p:nvSpPr>
        <p:spPr bwMode="auto">
          <a:xfrm>
            <a:off x="6656073" y="2277687"/>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122</a:t>
            </a:r>
            <a:endParaRPr kumimoji="1" lang="en-US" altLang="zh-CN" sz="1600" b="1" u="sng" dirty="0">
              <a:latin typeface="Times New Roman" panose="02020603050405020304" pitchFamily="18" charset="0"/>
              <a:ea typeface="华文楷体" panose="02010600040101010101" pitchFamily="2" charset="-122"/>
            </a:endParaRPr>
          </a:p>
        </p:txBody>
      </p:sp>
      <p:sp>
        <p:nvSpPr>
          <p:cNvPr id="47128" name="Oval 24"/>
          <p:cNvSpPr>
            <a:spLocks noChangeArrowheads="1"/>
          </p:cNvSpPr>
          <p:nvPr/>
        </p:nvSpPr>
        <p:spPr bwMode="auto">
          <a:xfrm>
            <a:off x="7418073" y="2963487"/>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250</a:t>
            </a:r>
            <a:endParaRPr kumimoji="1" lang="en-US" altLang="zh-CN" sz="1600" b="1" u="sng" dirty="0">
              <a:latin typeface="Times New Roman" panose="02020603050405020304" pitchFamily="18" charset="0"/>
              <a:ea typeface="华文楷体" panose="02010600040101010101" pitchFamily="2" charset="-122"/>
            </a:endParaRPr>
          </a:p>
        </p:txBody>
      </p:sp>
      <p:sp>
        <p:nvSpPr>
          <p:cNvPr id="47129" name="Oval 25"/>
          <p:cNvSpPr>
            <a:spLocks noChangeArrowheads="1"/>
          </p:cNvSpPr>
          <p:nvPr/>
        </p:nvSpPr>
        <p:spPr bwMode="auto">
          <a:xfrm>
            <a:off x="7799073" y="3649287"/>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300</a:t>
            </a:r>
            <a:endParaRPr kumimoji="1" lang="en-US" altLang="zh-CN" sz="1600" b="1" u="sng" dirty="0">
              <a:latin typeface="Times New Roman" panose="02020603050405020304" pitchFamily="18" charset="0"/>
              <a:ea typeface="华文楷体" panose="02010600040101010101" pitchFamily="2" charset="-122"/>
            </a:endParaRPr>
          </a:p>
        </p:txBody>
      </p:sp>
      <p:sp>
        <p:nvSpPr>
          <p:cNvPr id="47130" name="Oval 26"/>
          <p:cNvSpPr>
            <a:spLocks noChangeArrowheads="1"/>
          </p:cNvSpPr>
          <p:nvPr/>
        </p:nvSpPr>
        <p:spPr bwMode="auto">
          <a:xfrm>
            <a:off x="6198873" y="3725487"/>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110</a:t>
            </a:r>
            <a:endParaRPr kumimoji="1" lang="en-US" altLang="zh-CN" sz="1600" b="1" u="sng" dirty="0">
              <a:latin typeface="Times New Roman" panose="02020603050405020304" pitchFamily="18" charset="0"/>
              <a:ea typeface="华文楷体" panose="02010600040101010101" pitchFamily="2" charset="-122"/>
            </a:endParaRPr>
          </a:p>
        </p:txBody>
      </p:sp>
      <p:sp>
        <p:nvSpPr>
          <p:cNvPr id="47131" name="Oval 27"/>
          <p:cNvSpPr>
            <a:spLocks noChangeArrowheads="1"/>
          </p:cNvSpPr>
          <p:nvPr/>
        </p:nvSpPr>
        <p:spPr bwMode="auto">
          <a:xfrm>
            <a:off x="5817873" y="3039687"/>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99</a:t>
            </a:r>
            <a:endParaRPr kumimoji="1" lang="en-US" altLang="zh-CN" sz="1600" b="1" u="sng" dirty="0">
              <a:latin typeface="Times New Roman" panose="02020603050405020304" pitchFamily="18" charset="0"/>
              <a:ea typeface="华文楷体" panose="02010600040101010101" pitchFamily="2" charset="-122"/>
            </a:endParaRPr>
          </a:p>
        </p:txBody>
      </p:sp>
      <p:sp>
        <p:nvSpPr>
          <p:cNvPr id="47132" name="Line 28"/>
          <p:cNvSpPr>
            <a:spLocks noChangeShapeType="1"/>
          </p:cNvSpPr>
          <p:nvPr/>
        </p:nvSpPr>
        <p:spPr bwMode="auto">
          <a:xfrm flipH="1">
            <a:off x="6198873" y="2582487"/>
            <a:ext cx="533400" cy="53340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33" name="Line 29"/>
          <p:cNvSpPr>
            <a:spLocks noChangeShapeType="1"/>
          </p:cNvSpPr>
          <p:nvPr/>
        </p:nvSpPr>
        <p:spPr bwMode="auto">
          <a:xfrm>
            <a:off x="7037073" y="2582487"/>
            <a:ext cx="457200" cy="45720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34" name="Line 30"/>
          <p:cNvSpPr>
            <a:spLocks noChangeShapeType="1"/>
          </p:cNvSpPr>
          <p:nvPr/>
        </p:nvSpPr>
        <p:spPr bwMode="auto">
          <a:xfrm>
            <a:off x="7722873" y="3268287"/>
            <a:ext cx="304800" cy="38100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35" name="Line 31"/>
          <p:cNvSpPr>
            <a:spLocks noChangeShapeType="1"/>
          </p:cNvSpPr>
          <p:nvPr/>
        </p:nvSpPr>
        <p:spPr bwMode="auto">
          <a:xfrm>
            <a:off x="6122673" y="3420687"/>
            <a:ext cx="228600" cy="30480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 name="Oval 23"/>
          <p:cNvSpPr>
            <a:spLocks noChangeArrowheads="1"/>
          </p:cNvSpPr>
          <p:nvPr/>
        </p:nvSpPr>
        <p:spPr bwMode="auto">
          <a:xfrm>
            <a:off x="6428184" y="432736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122</a:t>
            </a:r>
            <a:endParaRPr kumimoji="1" lang="en-US" altLang="zh-CN" sz="1600" b="1" u="sng" dirty="0">
              <a:latin typeface="Times New Roman" panose="02020603050405020304" pitchFamily="18" charset="0"/>
              <a:ea typeface="华文楷体" panose="02010600040101010101" pitchFamily="2" charset="-122"/>
            </a:endParaRPr>
          </a:p>
        </p:txBody>
      </p:sp>
      <p:sp>
        <p:nvSpPr>
          <p:cNvPr id="35" name="Oval 24"/>
          <p:cNvSpPr>
            <a:spLocks noChangeArrowheads="1"/>
          </p:cNvSpPr>
          <p:nvPr/>
        </p:nvSpPr>
        <p:spPr bwMode="auto">
          <a:xfrm>
            <a:off x="7190184" y="501316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250</a:t>
            </a:r>
            <a:endParaRPr kumimoji="1" lang="en-US" altLang="zh-CN" sz="1600" b="1" u="sng" dirty="0">
              <a:latin typeface="Times New Roman" panose="02020603050405020304" pitchFamily="18" charset="0"/>
              <a:ea typeface="华文楷体" panose="02010600040101010101" pitchFamily="2" charset="-122"/>
            </a:endParaRPr>
          </a:p>
        </p:txBody>
      </p:sp>
      <p:sp>
        <p:nvSpPr>
          <p:cNvPr id="36" name="Oval 25"/>
          <p:cNvSpPr>
            <a:spLocks noChangeArrowheads="1"/>
          </p:cNvSpPr>
          <p:nvPr/>
        </p:nvSpPr>
        <p:spPr bwMode="auto">
          <a:xfrm>
            <a:off x="7571184" y="569896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300</a:t>
            </a:r>
            <a:endParaRPr kumimoji="1" lang="en-US" altLang="zh-CN" sz="1600" b="1" u="sng" dirty="0">
              <a:latin typeface="Times New Roman" panose="02020603050405020304" pitchFamily="18" charset="0"/>
              <a:ea typeface="华文楷体" panose="02010600040101010101" pitchFamily="2" charset="-122"/>
            </a:endParaRPr>
          </a:p>
        </p:txBody>
      </p:sp>
      <p:sp>
        <p:nvSpPr>
          <p:cNvPr id="37" name="Oval 26"/>
          <p:cNvSpPr>
            <a:spLocks noChangeArrowheads="1"/>
          </p:cNvSpPr>
          <p:nvPr/>
        </p:nvSpPr>
        <p:spPr bwMode="auto">
          <a:xfrm>
            <a:off x="5970984" y="577516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110</a:t>
            </a:r>
            <a:endParaRPr kumimoji="1" lang="en-US" altLang="zh-CN" sz="1600" b="1" u="sng" dirty="0">
              <a:latin typeface="Times New Roman" panose="02020603050405020304" pitchFamily="18" charset="0"/>
              <a:ea typeface="华文楷体" panose="02010600040101010101" pitchFamily="2" charset="-122"/>
            </a:endParaRPr>
          </a:p>
        </p:txBody>
      </p:sp>
      <p:sp>
        <p:nvSpPr>
          <p:cNvPr id="38" name="Oval 27"/>
          <p:cNvSpPr>
            <a:spLocks noChangeArrowheads="1"/>
          </p:cNvSpPr>
          <p:nvPr/>
        </p:nvSpPr>
        <p:spPr bwMode="auto">
          <a:xfrm>
            <a:off x="5589984" y="508936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99</a:t>
            </a:r>
            <a:endParaRPr kumimoji="1" lang="en-US" altLang="zh-CN" sz="1600" b="1" u="sng" dirty="0">
              <a:latin typeface="Times New Roman" panose="02020603050405020304" pitchFamily="18" charset="0"/>
              <a:ea typeface="华文楷体" panose="02010600040101010101" pitchFamily="2" charset="-122"/>
            </a:endParaRPr>
          </a:p>
        </p:txBody>
      </p:sp>
      <p:sp>
        <p:nvSpPr>
          <p:cNvPr id="39" name="Line 28"/>
          <p:cNvSpPr>
            <a:spLocks noChangeShapeType="1"/>
          </p:cNvSpPr>
          <p:nvPr/>
        </p:nvSpPr>
        <p:spPr bwMode="auto">
          <a:xfrm flipH="1">
            <a:off x="5970984" y="4632160"/>
            <a:ext cx="533400" cy="53340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0" name="Line 29"/>
          <p:cNvSpPr>
            <a:spLocks noChangeShapeType="1"/>
          </p:cNvSpPr>
          <p:nvPr/>
        </p:nvSpPr>
        <p:spPr bwMode="auto">
          <a:xfrm>
            <a:off x="6809184" y="4632160"/>
            <a:ext cx="457200" cy="45720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 name="Line 30"/>
          <p:cNvSpPr>
            <a:spLocks noChangeShapeType="1"/>
          </p:cNvSpPr>
          <p:nvPr/>
        </p:nvSpPr>
        <p:spPr bwMode="auto">
          <a:xfrm>
            <a:off x="7494984" y="5317960"/>
            <a:ext cx="304800" cy="38100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2" name="Line 31"/>
          <p:cNvSpPr>
            <a:spLocks noChangeShapeType="1"/>
          </p:cNvSpPr>
          <p:nvPr/>
        </p:nvSpPr>
        <p:spPr bwMode="auto">
          <a:xfrm>
            <a:off x="5894784" y="5470360"/>
            <a:ext cx="228600" cy="304800"/>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 name="Oval 25"/>
          <p:cNvSpPr>
            <a:spLocks noChangeArrowheads="1"/>
          </p:cNvSpPr>
          <p:nvPr/>
        </p:nvSpPr>
        <p:spPr bwMode="auto">
          <a:xfrm>
            <a:off x="6732984" y="6404499"/>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smtClean="0">
                <a:latin typeface="Times New Roman" panose="02020603050405020304" pitchFamily="18" charset="0"/>
                <a:ea typeface="华文楷体" panose="02010600040101010101" pitchFamily="2" charset="-122"/>
              </a:rPr>
              <a:t>280</a:t>
            </a:r>
            <a:endParaRPr kumimoji="1" lang="en-US" altLang="zh-CN" sz="1600" b="1" u="sng" dirty="0">
              <a:latin typeface="Times New Roman" panose="02020603050405020304" pitchFamily="18" charset="0"/>
              <a:ea typeface="华文楷体" panose="02010600040101010101" pitchFamily="2" charset="-122"/>
            </a:endParaRPr>
          </a:p>
        </p:txBody>
      </p:sp>
      <p:sp>
        <p:nvSpPr>
          <p:cNvPr id="44" name="Line 28"/>
          <p:cNvSpPr>
            <a:spLocks noChangeShapeType="1"/>
          </p:cNvSpPr>
          <p:nvPr/>
        </p:nvSpPr>
        <p:spPr bwMode="auto">
          <a:xfrm flipH="1">
            <a:off x="7143354" y="6057900"/>
            <a:ext cx="580230" cy="428625"/>
          </a:xfrm>
          <a:prstGeom prst="line">
            <a:avLst/>
          </a:prstGeom>
          <a:noFill/>
          <a:ln w="381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cxnSp>
        <p:nvCxnSpPr>
          <p:cNvPr id="3" name="直接连接符 2"/>
          <p:cNvCxnSpPr/>
          <p:nvPr/>
        </p:nvCxnSpPr>
        <p:spPr bwMode="auto">
          <a:xfrm flipH="1">
            <a:off x="1979712" y="1988840"/>
            <a:ext cx="72008" cy="486916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 name="直接连接符 4"/>
          <p:cNvCxnSpPr/>
          <p:nvPr/>
        </p:nvCxnSpPr>
        <p:spPr bwMode="auto">
          <a:xfrm flipH="1">
            <a:off x="5112940" y="1988840"/>
            <a:ext cx="43364" cy="486916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 name="直接连接符 6"/>
          <p:cNvCxnSpPr/>
          <p:nvPr/>
        </p:nvCxnSpPr>
        <p:spPr bwMode="auto">
          <a:xfrm flipV="1">
            <a:off x="14288" y="4170903"/>
            <a:ext cx="9129712" cy="128714"/>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108"/>
                                        </p:tgtEl>
                                        <p:attrNameLst>
                                          <p:attrName>style.visibility</p:attrName>
                                        </p:attrNameLst>
                                      </p:cBhvr>
                                      <p:to>
                                        <p:strVal val="visible"/>
                                      </p:to>
                                    </p:set>
                                    <p:anim calcmode="lin" valueType="num">
                                      <p:cBhvr additive="base">
                                        <p:cTn id="7" dur="500" fill="hold"/>
                                        <p:tgtEl>
                                          <p:spTgt spid="47108"/>
                                        </p:tgtEl>
                                        <p:attrNameLst>
                                          <p:attrName>ppt_x</p:attrName>
                                        </p:attrNameLst>
                                      </p:cBhvr>
                                      <p:tavLst>
                                        <p:tav tm="0">
                                          <p:val>
                                            <p:strVal val="#ppt_x"/>
                                          </p:val>
                                        </p:tav>
                                        <p:tav tm="100000">
                                          <p:val>
                                            <p:strVal val="#ppt_x"/>
                                          </p:val>
                                        </p:tav>
                                      </p:tavLst>
                                    </p:anim>
                                    <p:anim calcmode="lin" valueType="num">
                                      <p:cBhvr additive="base">
                                        <p:cTn id="8" dur="500" fill="hold"/>
                                        <p:tgtEl>
                                          <p:spTgt spid="4710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11"/>
                                        </p:tgtEl>
                                        <p:attrNameLst>
                                          <p:attrName>style.visibility</p:attrName>
                                        </p:attrNameLst>
                                      </p:cBhvr>
                                      <p:to>
                                        <p:strVal val="visible"/>
                                      </p:to>
                                    </p:set>
                                    <p:anim calcmode="lin" valueType="num">
                                      <p:cBhvr additive="base">
                                        <p:cTn id="13" dur="500" fill="hold"/>
                                        <p:tgtEl>
                                          <p:spTgt spid="47111"/>
                                        </p:tgtEl>
                                        <p:attrNameLst>
                                          <p:attrName>ppt_x</p:attrName>
                                        </p:attrNameLst>
                                      </p:cBhvr>
                                      <p:tavLst>
                                        <p:tav tm="0">
                                          <p:val>
                                            <p:strVal val="#ppt_x"/>
                                          </p:val>
                                        </p:tav>
                                        <p:tav tm="100000">
                                          <p:val>
                                            <p:strVal val="#ppt_x"/>
                                          </p:val>
                                        </p:tav>
                                      </p:tavLst>
                                    </p:anim>
                                    <p:anim calcmode="lin" valueType="num">
                                      <p:cBhvr additive="base">
                                        <p:cTn id="14" dur="500" fill="hold"/>
                                        <p:tgtEl>
                                          <p:spTgt spid="471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8" presetClass="entr" presetSubtype="16" fill="hold" grpId="0" nodeType="clickEffect">
                                  <p:stCondLst>
                                    <p:cond delay="0"/>
                                  </p:stCondLst>
                                  <p:childTnLst>
                                    <p:set>
                                      <p:cBhvr>
                                        <p:cTn id="18" dur="1" fill="hold">
                                          <p:stCondLst>
                                            <p:cond delay="0"/>
                                          </p:stCondLst>
                                        </p:cTn>
                                        <p:tgtEl>
                                          <p:spTgt spid="47112"/>
                                        </p:tgtEl>
                                        <p:attrNameLst>
                                          <p:attrName>style.visibility</p:attrName>
                                        </p:attrNameLst>
                                      </p:cBhvr>
                                      <p:to>
                                        <p:strVal val="visible"/>
                                      </p:to>
                                    </p:set>
                                    <p:animEffect transition="in" filter="diamond(in)">
                                      <p:cBhvr>
                                        <p:cTn id="19" dur="2000"/>
                                        <p:tgtEl>
                                          <p:spTgt spid="47112"/>
                                        </p:tgtEl>
                                      </p:cBhvr>
                                    </p:animEffect>
                                  </p:childTnLst>
                                </p:cTn>
                              </p:par>
                              <p:par>
                                <p:cTn id="20" presetID="8" presetClass="entr" presetSubtype="16" fill="hold" grpId="0" nodeType="withEffect">
                                  <p:stCondLst>
                                    <p:cond delay="0"/>
                                  </p:stCondLst>
                                  <p:childTnLst>
                                    <p:set>
                                      <p:cBhvr>
                                        <p:cTn id="21" dur="1" fill="hold">
                                          <p:stCondLst>
                                            <p:cond delay="0"/>
                                          </p:stCondLst>
                                        </p:cTn>
                                        <p:tgtEl>
                                          <p:spTgt spid="47113"/>
                                        </p:tgtEl>
                                        <p:attrNameLst>
                                          <p:attrName>style.visibility</p:attrName>
                                        </p:attrNameLst>
                                      </p:cBhvr>
                                      <p:to>
                                        <p:strVal val="visible"/>
                                      </p:to>
                                    </p:set>
                                    <p:animEffect transition="in" filter="diamond(in)">
                                      <p:cBhvr>
                                        <p:cTn id="22" dur="2000"/>
                                        <p:tgtEl>
                                          <p:spTgt spid="47113"/>
                                        </p:tgtEl>
                                      </p:cBhvr>
                                    </p:animEffect>
                                  </p:childTnLst>
                                </p:cTn>
                              </p:par>
                              <p:par>
                                <p:cTn id="23" presetID="8" presetClass="entr" presetSubtype="16" fill="hold" nodeType="withEffect">
                                  <p:stCondLst>
                                    <p:cond delay="0"/>
                                  </p:stCondLst>
                                  <p:childTnLst>
                                    <p:set>
                                      <p:cBhvr>
                                        <p:cTn id="24" dur="1" fill="hold">
                                          <p:stCondLst>
                                            <p:cond delay="0"/>
                                          </p:stCondLst>
                                        </p:cTn>
                                        <p:tgtEl>
                                          <p:spTgt spid="47114"/>
                                        </p:tgtEl>
                                        <p:attrNameLst>
                                          <p:attrName>style.visibility</p:attrName>
                                        </p:attrNameLst>
                                      </p:cBhvr>
                                      <p:to>
                                        <p:strVal val="visible"/>
                                      </p:to>
                                    </p:set>
                                    <p:animEffect transition="in" filter="diamond(in)">
                                      <p:cBhvr>
                                        <p:cTn id="25" dur="2000"/>
                                        <p:tgtEl>
                                          <p:spTgt spid="47114"/>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47115"/>
                                        </p:tgtEl>
                                        <p:attrNameLst>
                                          <p:attrName>style.visibility</p:attrName>
                                        </p:attrNameLst>
                                      </p:cBhvr>
                                      <p:to>
                                        <p:strVal val="visible"/>
                                      </p:to>
                                    </p:set>
                                    <p:animEffect transition="in" filter="blinds(horizontal)">
                                      <p:cBhvr>
                                        <p:cTn id="30" dur="500"/>
                                        <p:tgtEl>
                                          <p:spTgt spid="47115"/>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47116"/>
                                        </p:tgtEl>
                                        <p:attrNameLst>
                                          <p:attrName>style.visibility</p:attrName>
                                        </p:attrNameLst>
                                      </p:cBhvr>
                                      <p:to>
                                        <p:strVal val="visible"/>
                                      </p:to>
                                    </p:set>
                                    <p:animEffect transition="in" filter="blinds(horizontal)">
                                      <p:cBhvr>
                                        <p:cTn id="33" dur="500"/>
                                        <p:tgtEl>
                                          <p:spTgt spid="47116"/>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47117"/>
                                        </p:tgtEl>
                                        <p:attrNameLst>
                                          <p:attrName>style.visibility</p:attrName>
                                        </p:attrNameLst>
                                      </p:cBhvr>
                                      <p:to>
                                        <p:strVal val="visible"/>
                                      </p:to>
                                    </p:set>
                                    <p:animEffect transition="in" filter="blinds(horizontal)">
                                      <p:cBhvr>
                                        <p:cTn id="36" dur="500"/>
                                        <p:tgtEl>
                                          <p:spTgt spid="47117"/>
                                        </p:tgtEl>
                                      </p:cBhvr>
                                    </p:animEffect>
                                  </p:childTnLst>
                                </p:cTn>
                              </p:par>
                              <p:par>
                                <p:cTn id="37" presetID="3" presetClass="entr" presetSubtype="10" fill="hold" nodeType="withEffect">
                                  <p:stCondLst>
                                    <p:cond delay="0"/>
                                  </p:stCondLst>
                                  <p:childTnLst>
                                    <p:set>
                                      <p:cBhvr>
                                        <p:cTn id="38" dur="1" fill="hold">
                                          <p:stCondLst>
                                            <p:cond delay="0"/>
                                          </p:stCondLst>
                                        </p:cTn>
                                        <p:tgtEl>
                                          <p:spTgt spid="47118"/>
                                        </p:tgtEl>
                                        <p:attrNameLst>
                                          <p:attrName>style.visibility</p:attrName>
                                        </p:attrNameLst>
                                      </p:cBhvr>
                                      <p:to>
                                        <p:strVal val="visible"/>
                                      </p:to>
                                    </p:set>
                                    <p:animEffect transition="in" filter="blinds(horizontal)">
                                      <p:cBhvr>
                                        <p:cTn id="39" dur="500"/>
                                        <p:tgtEl>
                                          <p:spTgt spid="47118"/>
                                        </p:tgtEl>
                                      </p:cBhvr>
                                    </p:animEffect>
                                  </p:childTnLst>
                                </p:cTn>
                              </p:par>
                              <p:par>
                                <p:cTn id="40" presetID="3" presetClass="entr" presetSubtype="10" fill="hold" nodeType="withEffect">
                                  <p:stCondLst>
                                    <p:cond delay="0"/>
                                  </p:stCondLst>
                                  <p:childTnLst>
                                    <p:set>
                                      <p:cBhvr>
                                        <p:cTn id="41" dur="1" fill="hold">
                                          <p:stCondLst>
                                            <p:cond delay="0"/>
                                          </p:stCondLst>
                                        </p:cTn>
                                        <p:tgtEl>
                                          <p:spTgt spid="47119"/>
                                        </p:tgtEl>
                                        <p:attrNameLst>
                                          <p:attrName>style.visibility</p:attrName>
                                        </p:attrNameLst>
                                      </p:cBhvr>
                                      <p:to>
                                        <p:strVal val="visible"/>
                                      </p:to>
                                    </p:set>
                                    <p:animEffect transition="in" filter="blinds(horizontal)">
                                      <p:cBhvr>
                                        <p:cTn id="42" dur="500"/>
                                        <p:tgtEl>
                                          <p:spTgt spid="47119"/>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47120"/>
                                        </p:tgtEl>
                                        <p:attrNameLst>
                                          <p:attrName>style.visibility</p:attrName>
                                        </p:attrNameLst>
                                      </p:cBhvr>
                                      <p:to>
                                        <p:strVal val="visible"/>
                                      </p:to>
                                    </p:set>
                                    <p:animEffect transition="in" filter="checkerboard(across)">
                                      <p:cBhvr>
                                        <p:cTn id="47" dur="500"/>
                                        <p:tgtEl>
                                          <p:spTgt spid="47120"/>
                                        </p:tgtEl>
                                      </p:cBhvr>
                                    </p:animEffect>
                                  </p:childTnLst>
                                </p:cTn>
                              </p:par>
                              <p:par>
                                <p:cTn id="48" presetID="5" presetClass="entr" presetSubtype="10" fill="hold" grpId="0" nodeType="withEffect">
                                  <p:stCondLst>
                                    <p:cond delay="0"/>
                                  </p:stCondLst>
                                  <p:childTnLst>
                                    <p:set>
                                      <p:cBhvr>
                                        <p:cTn id="49" dur="1" fill="hold">
                                          <p:stCondLst>
                                            <p:cond delay="0"/>
                                          </p:stCondLst>
                                        </p:cTn>
                                        <p:tgtEl>
                                          <p:spTgt spid="47121"/>
                                        </p:tgtEl>
                                        <p:attrNameLst>
                                          <p:attrName>style.visibility</p:attrName>
                                        </p:attrNameLst>
                                      </p:cBhvr>
                                      <p:to>
                                        <p:strVal val="visible"/>
                                      </p:to>
                                    </p:set>
                                    <p:animEffect transition="in" filter="checkerboard(across)">
                                      <p:cBhvr>
                                        <p:cTn id="50" dur="500"/>
                                        <p:tgtEl>
                                          <p:spTgt spid="47121"/>
                                        </p:tgtEl>
                                      </p:cBhvr>
                                    </p:animEffect>
                                  </p:childTnLst>
                                </p:cTn>
                              </p:par>
                              <p:par>
                                <p:cTn id="51" presetID="5" presetClass="entr" presetSubtype="10" fill="hold" grpId="0" nodeType="withEffect">
                                  <p:stCondLst>
                                    <p:cond delay="0"/>
                                  </p:stCondLst>
                                  <p:childTnLst>
                                    <p:set>
                                      <p:cBhvr>
                                        <p:cTn id="52" dur="1" fill="hold">
                                          <p:stCondLst>
                                            <p:cond delay="0"/>
                                          </p:stCondLst>
                                        </p:cTn>
                                        <p:tgtEl>
                                          <p:spTgt spid="47122"/>
                                        </p:tgtEl>
                                        <p:attrNameLst>
                                          <p:attrName>style.visibility</p:attrName>
                                        </p:attrNameLst>
                                      </p:cBhvr>
                                      <p:to>
                                        <p:strVal val="visible"/>
                                      </p:to>
                                    </p:set>
                                    <p:animEffect transition="in" filter="checkerboard(across)">
                                      <p:cBhvr>
                                        <p:cTn id="53" dur="500"/>
                                        <p:tgtEl>
                                          <p:spTgt spid="47122"/>
                                        </p:tgtEl>
                                      </p:cBhvr>
                                    </p:animEffect>
                                  </p:childTnLst>
                                </p:cTn>
                              </p:par>
                              <p:par>
                                <p:cTn id="54" presetID="5" presetClass="entr" presetSubtype="10" fill="hold" grpId="0" nodeType="withEffect">
                                  <p:stCondLst>
                                    <p:cond delay="0"/>
                                  </p:stCondLst>
                                  <p:childTnLst>
                                    <p:set>
                                      <p:cBhvr>
                                        <p:cTn id="55" dur="1" fill="hold">
                                          <p:stCondLst>
                                            <p:cond delay="0"/>
                                          </p:stCondLst>
                                        </p:cTn>
                                        <p:tgtEl>
                                          <p:spTgt spid="47123"/>
                                        </p:tgtEl>
                                        <p:attrNameLst>
                                          <p:attrName>style.visibility</p:attrName>
                                        </p:attrNameLst>
                                      </p:cBhvr>
                                      <p:to>
                                        <p:strVal val="visible"/>
                                      </p:to>
                                    </p:set>
                                    <p:animEffect transition="in" filter="checkerboard(across)">
                                      <p:cBhvr>
                                        <p:cTn id="56" dur="500"/>
                                        <p:tgtEl>
                                          <p:spTgt spid="47123"/>
                                        </p:tgtEl>
                                      </p:cBhvr>
                                    </p:animEffect>
                                  </p:childTnLst>
                                </p:cTn>
                              </p:par>
                              <p:par>
                                <p:cTn id="57" presetID="5" presetClass="entr" presetSubtype="10" fill="hold" nodeType="withEffect">
                                  <p:stCondLst>
                                    <p:cond delay="0"/>
                                  </p:stCondLst>
                                  <p:childTnLst>
                                    <p:set>
                                      <p:cBhvr>
                                        <p:cTn id="58" dur="1" fill="hold">
                                          <p:stCondLst>
                                            <p:cond delay="0"/>
                                          </p:stCondLst>
                                        </p:cTn>
                                        <p:tgtEl>
                                          <p:spTgt spid="47124"/>
                                        </p:tgtEl>
                                        <p:attrNameLst>
                                          <p:attrName>style.visibility</p:attrName>
                                        </p:attrNameLst>
                                      </p:cBhvr>
                                      <p:to>
                                        <p:strVal val="visible"/>
                                      </p:to>
                                    </p:set>
                                    <p:animEffect transition="in" filter="checkerboard(across)">
                                      <p:cBhvr>
                                        <p:cTn id="59" dur="500"/>
                                        <p:tgtEl>
                                          <p:spTgt spid="47124"/>
                                        </p:tgtEl>
                                      </p:cBhvr>
                                    </p:animEffect>
                                  </p:childTnLst>
                                </p:cTn>
                              </p:par>
                              <p:par>
                                <p:cTn id="60" presetID="5" presetClass="entr" presetSubtype="10" fill="hold" nodeType="withEffect">
                                  <p:stCondLst>
                                    <p:cond delay="0"/>
                                  </p:stCondLst>
                                  <p:childTnLst>
                                    <p:set>
                                      <p:cBhvr>
                                        <p:cTn id="61" dur="1" fill="hold">
                                          <p:stCondLst>
                                            <p:cond delay="0"/>
                                          </p:stCondLst>
                                        </p:cTn>
                                        <p:tgtEl>
                                          <p:spTgt spid="47125"/>
                                        </p:tgtEl>
                                        <p:attrNameLst>
                                          <p:attrName>style.visibility</p:attrName>
                                        </p:attrNameLst>
                                      </p:cBhvr>
                                      <p:to>
                                        <p:strVal val="visible"/>
                                      </p:to>
                                    </p:set>
                                    <p:animEffect transition="in" filter="checkerboard(across)">
                                      <p:cBhvr>
                                        <p:cTn id="62" dur="500"/>
                                        <p:tgtEl>
                                          <p:spTgt spid="47125"/>
                                        </p:tgtEl>
                                      </p:cBhvr>
                                    </p:animEffect>
                                  </p:childTnLst>
                                </p:cTn>
                              </p:par>
                              <p:par>
                                <p:cTn id="63" presetID="5" presetClass="entr" presetSubtype="10" fill="hold" nodeType="withEffect">
                                  <p:stCondLst>
                                    <p:cond delay="0"/>
                                  </p:stCondLst>
                                  <p:childTnLst>
                                    <p:set>
                                      <p:cBhvr>
                                        <p:cTn id="64" dur="1" fill="hold">
                                          <p:stCondLst>
                                            <p:cond delay="0"/>
                                          </p:stCondLst>
                                        </p:cTn>
                                        <p:tgtEl>
                                          <p:spTgt spid="47126"/>
                                        </p:tgtEl>
                                        <p:attrNameLst>
                                          <p:attrName>style.visibility</p:attrName>
                                        </p:attrNameLst>
                                      </p:cBhvr>
                                      <p:to>
                                        <p:strVal val="visible"/>
                                      </p:to>
                                    </p:set>
                                    <p:animEffect transition="in" filter="checkerboard(across)">
                                      <p:cBhvr>
                                        <p:cTn id="65" dur="500"/>
                                        <p:tgtEl>
                                          <p:spTgt spid="47126"/>
                                        </p:tgtEl>
                                      </p:cBhvr>
                                    </p:animEffect>
                                  </p:childTnLst>
                                </p:cTn>
                              </p:par>
                            </p:childTnLst>
                          </p:cTn>
                        </p:par>
                      </p:childTnLst>
                    </p:cTn>
                  </p:par>
                  <p:par>
                    <p:cTn id="66" fill="hold">
                      <p:stCondLst>
                        <p:cond delay="indefinite"/>
                      </p:stCondLst>
                      <p:childTnLst>
                        <p:par>
                          <p:cTn id="67" fill="hold">
                            <p:stCondLst>
                              <p:cond delay="0"/>
                            </p:stCondLst>
                            <p:childTnLst>
                              <p:par>
                                <p:cTn id="68" presetID="5" presetClass="entr" presetSubtype="10" fill="hold" grpId="0" nodeType="clickEffect">
                                  <p:stCondLst>
                                    <p:cond delay="0"/>
                                  </p:stCondLst>
                                  <p:childTnLst>
                                    <p:set>
                                      <p:cBhvr>
                                        <p:cTn id="69" dur="1" fill="hold">
                                          <p:stCondLst>
                                            <p:cond delay="0"/>
                                          </p:stCondLst>
                                        </p:cTn>
                                        <p:tgtEl>
                                          <p:spTgt spid="47127"/>
                                        </p:tgtEl>
                                        <p:attrNameLst>
                                          <p:attrName>style.visibility</p:attrName>
                                        </p:attrNameLst>
                                      </p:cBhvr>
                                      <p:to>
                                        <p:strVal val="visible"/>
                                      </p:to>
                                    </p:set>
                                    <p:animEffect transition="in" filter="checkerboard(across)">
                                      <p:cBhvr>
                                        <p:cTn id="70" dur="500"/>
                                        <p:tgtEl>
                                          <p:spTgt spid="47127"/>
                                        </p:tgtEl>
                                      </p:cBhvr>
                                    </p:animEffect>
                                  </p:childTnLst>
                                </p:cTn>
                              </p:par>
                              <p:par>
                                <p:cTn id="71" presetID="5" presetClass="entr" presetSubtype="10" fill="hold" grpId="0" nodeType="withEffect">
                                  <p:stCondLst>
                                    <p:cond delay="0"/>
                                  </p:stCondLst>
                                  <p:childTnLst>
                                    <p:set>
                                      <p:cBhvr>
                                        <p:cTn id="72" dur="1" fill="hold">
                                          <p:stCondLst>
                                            <p:cond delay="0"/>
                                          </p:stCondLst>
                                        </p:cTn>
                                        <p:tgtEl>
                                          <p:spTgt spid="47128"/>
                                        </p:tgtEl>
                                        <p:attrNameLst>
                                          <p:attrName>style.visibility</p:attrName>
                                        </p:attrNameLst>
                                      </p:cBhvr>
                                      <p:to>
                                        <p:strVal val="visible"/>
                                      </p:to>
                                    </p:set>
                                    <p:animEffect transition="in" filter="checkerboard(across)">
                                      <p:cBhvr>
                                        <p:cTn id="73" dur="500"/>
                                        <p:tgtEl>
                                          <p:spTgt spid="47128"/>
                                        </p:tgtEl>
                                      </p:cBhvr>
                                    </p:animEffect>
                                  </p:childTnLst>
                                </p:cTn>
                              </p:par>
                              <p:par>
                                <p:cTn id="74" presetID="5" presetClass="entr" presetSubtype="10" fill="hold" grpId="0" nodeType="withEffect">
                                  <p:stCondLst>
                                    <p:cond delay="0"/>
                                  </p:stCondLst>
                                  <p:childTnLst>
                                    <p:set>
                                      <p:cBhvr>
                                        <p:cTn id="75" dur="1" fill="hold">
                                          <p:stCondLst>
                                            <p:cond delay="0"/>
                                          </p:stCondLst>
                                        </p:cTn>
                                        <p:tgtEl>
                                          <p:spTgt spid="47129"/>
                                        </p:tgtEl>
                                        <p:attrNameLst>
                                          <p:attrName>style.visibility</p:attrName>
                                        </p:attrNameLst>
                                      </p:cBhvr>
                                      <p:to>
                                        <p:strVal val="visible"/>
                                      </p:to>
                                    </p:set>
                                    <p:animEffect transition="in" filter="checkerboard(across)">
                                      <p:cBhvr>
                                        <p:cTn id="76" dur="500"/>
                                        <p:tgtEl>
                                          <p:spTgt spid="47129"/>
                                        </p:tgtEl>
                                      </p:cBhvr>
                                    </p:animEffect>
                                  </p:childTnLst>
                                </p:cTn>
                              </p:par>
                              <p:par>
                                <p:cTn id="77" presetID="5" presetClass="entr" presetSubtype="10" fill="hold" grpId="0" nodeType="withEffect">
                                  <p:stCondLst>
                                    <p:cond delay="0"/>
                                  </p:stCondLst>
                                  <p:childTnLst>
                                    <p:set>
                                      <p:cBhvr>
                                        <p:cTn id="78" dur="1" fill="hold">
                                          <p:stCondLst>
                                            <p:cond delay="0"/>
                                          </p:stCondLst>
                                        </p:cTn>
                                        <p:tgtEl>
                                          <p:spTgt spid="47130"/>
                                        </p:tgtEl>
                                        <p:attrNameLst>
                                          <p:attrName>style.visibility</p:attrName>
                                        </p:attrNameLst>
                                      </p:cBhvr>
                                      <p:to>
                                        <p:strVal val="visible"/>
                                      </p:to>
                                    </p:set>
                                    <p:animEffect transition="in" filter="checkerboard(across)">
                                      <p:cBhvr>
                                        <p:cTn id="79" dur="500"/>
                                        <p:tgtEl>
                                          <p:spTgt spid="47130"/>
                                        </p:tgtEl>
                                      </p:cBhvr>
                                    </p:animEffect>
                                  </p:childTnLst>
                                </p:cTn>
                              </p:par>
                              <p:par>
                                <p:cTn id="80" presetID="5" presetClass="entr" presetSubtype="10" fill="hold" grpId="0" nodeType="withEffect">
                                  <p:stCondLst>
                                    <p:cond delay="0"/>
                                  </p:stCondLst>
                                  <p:childTnLst>
                                    <p:set>
                                      <p:cBhvr>
                                        <p:cTn id="81" dur="1" fill="hold">
                                          <p:stCondLst>
                                            <p:cond delay="0"/>
                                          </p:stCondLst>
                                        </p:cTn>
                                        <p:tgtEl>
                                          <p:spTgt spid="47131"/>
                                        </p:tgtEl>
                                        <p:attrNameLst>
                                          <p:attrName>style.visibility</p:attrName>
                                        </p:attrNameLst>
                                      </p:cBhvr>
                                      <p:to>
                                        <p:strVal val="visible"/>
                                      </p:to>
                                    </p:set>
                                    <p:animEffect transition="in" filter="checkerboard(across)">
                                      <p:cBhvr>
                                        <p:cTn id="82" dur="500"/>
                                        <p:tgtEl>
                                          <p:spTgt spid="47131"/>
                                        </p:tgtEl>
                                      </p:cBhvr>
                                    </p:animEffect>
                                  </p:childTnLst>
                                </p:cTn>
                              </p:par>
                              <p:par>
                                <p:cTn id="83" presetID="5" presetClass="entr" presetSubtype="10" fill="hold" nodeType="withEffect">
                                  <p:stCondLst>
                                    <p:cond delay="0"/>
                                  </p:stCondLst>
                                  <p:childTnLst>
                                    <p:set>
                                      <p:cBhvr>
                                        <p:cTn id="84" dur="1" fill="hold">
                                          <p:stCondLst>
                                            <p:cond delay="0"/>
                                          </p:stCondLst>
                                        </p:cTn>
                                        <p:tgtEl>
                                          <p:spTgt spid="47132"/>
                                        </p:tgtEl>
                                        <p:attrNameLst>
                                          <p:attrName>style.visibility</p:attrName>
                                        </p:attrNameLst>
                                      </p:cBhvr>
                                      <p:to>
                                        <p:strVal val="visible"/>
                                      </p:to>
                                    </p:set>
                                    <p:animEffect transition="in" filter="checkerboard(across)">
                                      <p:cBhvr>
                                        <p:cTn id="85" dur="500"/>
                                        <p:tgtEl>
                                          <p:spTgt spid="47132"/>
                                        </p:tgtEl>
                                      </p:cBhvr>
                                    </p:animEffect>
                                  </p:childTnLst>
                                </p:cTn>
                              </p:par>
                              <p:par>
                                <p:cTn id="86" presetID="5" presetClass="entr" presetSubtype="10" fill="hold" nodeType="withEffect">
                                  <p:stCondLst>
                                    <p:cond delay="0"/>
                                  </p:stCondLst>
                                  <p:childTnLst>
                                    <p:set>
                                      <p:cBhvr>
                                        <p:cTn id="87" dur="1" fill="hold">
                                          <p:stCondLst>
                                            <p:cond delay="0"/>
                                          </p:stCondLst>
                                        </p:cTn>
                                        <p:tgtEl>
                                          <p:spTgt spid="47133"/>
                                        </p:tgtEl>
                                        <p:attrNameLst>
                                          <p:attrName>style.visibility</p:attrName>
                                        </p:attrNameLst>
                                      </p:cBhvr>
                                      <p:to>
                                        <p:strVal val="visible"/>
                                      </p:to>
                                    </p:set>
                                    <p:animEffect transition="in" filter="checkerboard(across)">
                                      <p:cBhvr>
                                        <p:cTn id="88" dur="500"/>
                                        <p:tgtEl>
                                          <p:spTgt spid="47133"/>
                                        </p:tgtEl>
                                      </p:cBhvr>
                                    </p:animEffect>
                                  </p:childTnLst>
                                </p:cTn>
                              </p:par>
                              <p:par>
                                <p:cTn id="89" presetID="5" presetClass="entr" presetSubtype="10" fill="hold" nodeType="withEffect">
                                  <p:stCondLst>
                                    <p:cond delay="0"/>
                                  </p:stCondLst>
                                  <p:childTnLst>
                                    <p:set>
                                      <p:cBhvr>
                                        <p:cTn id="90" dur="1" fill="hold">
                                          <p:stCondLst>
                                            <p:cond delay="0"/>
                                          </p:stCondLst>
                                        </p:cTn>
                                        <p:tgtEl>
                                          <p:spTgt spid="47134"/>
                                        </p:tgtEl>
                                        <p:attrNameLst>
                                          <p:attrName>style.visibility</p:attrName>
                                        </p:attrNameLst>
                                      </p:cBhvr>
                                      <p:to>
                                        <p:strVal val="visible"/>
                                      </p:to>
                                    </p:set>
                                    <p:animEffect transition="in" filter="checkerboard(across)">
                                      <p:cBhvr>
                                        <p:cTn id="91" dur="500"/>
                                        <p:tgtEl>
                                          <p:spTgt spid="47134"/>
                                        </p:tgtEl>
                                      </p:cBhvr>
                                    </p:animEffect>
                                  </p:childTnLst>
                                </p:cTn>
                              </p:par>
                              <p:par>
                                <p:cTn id="92" presetID="5" presetClass="entr" presetSubtype="10" fill="hold" nodeType="withEffect">
                                  <p:stCondLst>
                                    <p:cond delay="0"/>
                                  </p:stCondLst>
                                  <p:childTnLst>
                                    <p:set>
                                      <p:cBhvr>
                                        <p:cTn id="93" dur="1" fill="hold">
                                          <p:stCondLst>
                                            <p:cond delay="0"/>
                                          </p:stCondLst>
                                        </p:cTn>
                                        <p:tgtEl>
                                          <p:spTgt spid="47135"/>
                                        </p:tgtEl>
                                        <p:attrNameLst>
                                          <p:attrName>style.visibility</p:attrName>
                                        </p:attrNameLst>
                                      </p:cBhvr>
                                      <p:to>
                                        <p:strVal val="visible"/>
                                      </p:to>
                                    </p:set>
                                    <p:animEffect transition="in" filter="checkerboard(across)">
                                      <p:cBhvr>
                                        <p:cTn id="94" dur="500"/>
                                        <p:tgtEl>
                                          <p:spTgt spid="47135"/>
                                        </p:tgtEl>
                                      </p:cBhvr>
                                    </p:animEffect>
                                  </p:childTnLst>
                                </p:cTn>
                              </p:par>
                            </p:childTnLst>
                          </p:cTn>
                        </p:par>
                      </p:childTnLst>
                    </p:cTn>
                  </p:par>
                  <p:par>
                    <p:cTn id="95" fill="hold">
                      <p:stCondLst>
                        <p:cond delay="indefinite"/>
                      </p:stCondLst>
                      <p:childTnLst>
                        <p:par>
                          <p:cTn id="96" fill="hold">
                            <p:stCondLst>
                              <p:cond delay="0"/>
                            </p:stCondLst>
                            <p:childTnLst>
                              <p:par>
                                <p:cTn id="97" presetID="5" presetClass="entr" presetSubtype="10" fill="hold" grpId="0" nodeType="click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checkerboard(across)">
                                      <p:cBhvr>
                                        <p:cTn id="99" dur="500"/>
                                        <p:tgtEl>
                                          <p:spTgt spid="34"/>
                                        </p:tgtEl>
                                      </p:cBhvr>
                                    </p:animEffect>
                                  </p:childTnLst>
                                </p:cTn>
                              </p:par>
                              <p:par>
                                <p:cTn id="100" presetID="5" presetClass="entr" presetSubtype="1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checkerboard(across)">
                                      <p:cBhvr>
                                        <p:cTn id="102" dur="500"/>
                                        <p:tgtEl>
                                          <p:spTgt spid="35"/>
                                        </p:tgtEl>
                                      </p:cBhvr>
                                    </p:animEffect>
                                  </p:childTnLst>
                                </p:cTn>
                              </p:par>
                              <p:par>
                                <p:cTn id="103" presetID="5" presetClass="entr" presetSubtype="1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checkerboard(across)">
                                      <p:cBhvr>
                                        <p:cTn id="105" dur="500"/>
                                        <p:tgtEl>
                                          <p:spTgt spid="36"/>
                                        </p:tgtEl>
                                      </p:cBhvr>
                                    </p:animEffect>
                                  </p:childTnLst>
                                </p:cTn>
                              </p:par>
                              <p:par>
                                <p:cTn id="106" presetID="5" presetClass="entr" presetSubtype="10"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checkerboard(across)">
                                      <p:cBhvr>
                                        <p:cTn id="108" dur="500"/>
                                        <p:tgtEl>
                                          <p:spTgt spid="37"/>
                                        </p:tgtEl>
                                      </p:cBhvr>
                                    </p:animEffect>
                                  </p:childTnLst>
                                </p:cTn>
                              </p:par>
                              <p:par>
                                <p:cTn id="109" presetID="5" presetClass="entr" presetSubtype="10"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checkerboard(across)">
                                      <p:cBhvr>
                                        <p:cTn id="111" dur="500"/>
                                        <p:tgtEl>
                                          <p:spTgt spid="38"/>
                                        </p:tgtEl>
                                      </p:cBhvr>
                                    </p:animEffect>
                                  </p:childTnLst>
                                </p:cTn>
                              </p:par>
                              <p:par>
                                <p:cTn id="112" presetID="5" presetClass="entr" presetSubtype="10" fill="hold" nodeType="with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checkerboard(across)">
                                      <p:cBhvr>
                                        <p:cTn id="114" dur="500"/>
                                        <p:tgtEl>
                                          <p:spTgt spid="39"/>
                                        </p:tgtEl>
                                      </p:cBhvr>
                                    </p:animEffect>
                                  </p:childTnLst>
                                </p:cTn>
                              </p:par>
                              <p:par>
                                <p:cTn id="115" presetID="5" presetClass="entr" presetSubtype="10" fill="hold" nodeType="with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checkerboard(across)">
                                      <p:cBhvr>
                                        <p:cTn id="117" dur="500"/>
                                        <p:tgtEl>
                                          <p:spTgt spid="40"/>
                                        </p:tgtEl>
                                      </p:cBhvr>
                                    </p:animEffect>
                                  </p:childTnLst>
                                </p:cTn>
                              </p:par>
                              <p:par>
                                <p:cTn id="118" presetID="5" presetClass="entr" presetSubtype="10" fill="hold" nodeType="with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checkerboard(across)">
                                      <p:cBhvr>
                                        <p:cTn id="120" dur="500"/>
                                        <p:tgtEl>
                                          <p:spTgt spid="41"/>
                                        </p:tgtEl>
                                      </p:cBhvr>
                                    </p:animEffect>
                                  </p:childTnLst>
                                </p:cTn>
                              </p:par>
                              <p:par>
                                <p:cTn id="121" presetID="5" presetClass="entr" presetSubtype="10" fill="hold" nodeType="withEffect">
                                  <p:stCondLst>
                                    <p:cond delay="0"/>
                                  </p:stCondLst>
                                  <p:childTnLst>
                                    <p:set>
                                      <p:cBhvr>
                                        <p:cTn id="122" dur="1" fill="hold">
                                          <p:stCondLst>
                                            <p:cond delay="0"/>
                                          </p:stCondLst>
                                        </p:cTn>
                                        <p:tgtEl>
                                          <p:spTgt spid="42"/>
                                        </p:tgtEl>
                                        <p:attrNameLst>
                                          <p:attrName>style.visibility</p:attrName>
                                        </p:attrNameLst>
                                      </p:cBhvr>
                                      <p:to>
                                        <p:strVal val="visible"/>
                                      </p:to>
                                    </p:set>
                                    <p:animEffect transition="in" filter="checkerboard(across)">
                                      <p:cBhvr>
                                        <p:cTn id="123" dur="500"/>
                                        <p:tgtEl>
                                          <p:spTgt spid="42"/>
                                        </p:tgtEl>
                                      </p:cBhvr>
                                    </p:animEffect>
                                  </p:childTnLst>
                                </p:cTn>
                              </p:par>
                              <p:par>
                                <p:cTn id="124" presetID="5" presetClass="entr" presetSubtype="10" fill="hold" grpId="0" nodeType="withEffect">
                                  <p:stCondLst>
                                    <p:cond delay="0"/>
                                  </p:stCondLst>
                                  <p:childTnLst>
                                    <p:set>
                                      <p:cBhvr>
                                        <p:cTn id="125" dur="1" fill="hold">
                                          <p:stCondLst>
                                            <p:cond delay="0"/>
                                          </p:stCondLst>
                                        </p:cTn>
                                        <p:tgtEl>
                                          <p:spTgt spid="43"/>
                                        </p:tgtEl>
                                        <p:attrNameLst>
                                          <p:attrName>style.visibility</p:attrName>
                                        </p:attrNameLst>
                                      </p:cBhvr>
                                      <p:to>
                                        <p:strVal val="visible"/>
                                      </p:to>
                                    </p:set>
                                    <p:animEffect transition="in" filter="checkerboard(across)">
                                      <p:cBhvr>
                                        <p:cTn id="126" dur="500"/>
                                        <p:tgtEl>
                                          <p:spTgt spid="43"/>
                                        </p:tgtEl>
                                      </p:cBhvr>
                                    </p:animEffect>
                                  </p:childTnLst>
                                </p:cTn>
                              </p:par>
                              <p:par>
                                <p:cTn id="127" presetID="5" presetClass="entr" presetSubtype="10" fill="hold" nodeType="withEffect">
                                  <p:stCondLst>
                                    <p:cond delay="0"/>
                                  </p:stCondLst>
                                  <p:childTnLst>
                                    <p:set>
                                      <p:cBhvr>
                                        <p:cTn id="128" dur="1" fill="hold">
                                          <p:stCondLst>
                                            <p:cond delay="0"/>
                                          </p:stCondLst>
                                        </p:cTn>
                                        <p:tgtEl>
                                          <p:spTgt spid="44"/>
                                        </p:tgtEl>
                                        <p:attrNameLst>
                                          <p:attrName>style.visibility</p:attrName>
                                        </p:attrNameLst>
                                      </p:cBhvr>
                                      <p:to>
                                        <p:strVal val="visible"/>
                                      </p:to>
                                    </p:set>
                                    <p:animEffect transition="in" filter="checkerboard(across)">
                                      <p:cBhvr>
                                        <p:cTn id="129"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1" grpId="0" animBg="1"/>
      <p:bldP spid="47112" grpId="0" animBg="1"/>
      <p:bldP spid="47113" grpId="0" animBg="1"/>
      <p:bldP spid="47115" grpId="0" animBg="1"/>
      <p:bldP spid="47116" grpId="0" animBg="1"/>
      <p:bldP spid="47117" grpId="0" animBg="1"/>
      <p:bldP spid="47120" grpId="0" animBg="1"/>
      <p:bldP spid="47121" grpId="0" animBg="1"/>
      <p:bldP spid="47122" grpId="0" animBg="1"/>
      <p:bldP spid="47123" grpId="0" animBg="1"/>
      <p:bldP spid="47127" grpId="0" animBg="1"/>
      <p:bldP spid="47128" grpId="0" animBg="1"/>
      <p:bldP spid="47129" grpId="0" animBg="1"/>
      <p:bldP spid="47130" grpId="0" animBg="1"/>
      <p:bldP spid="47131" grpId="0" animBg="1"/>
      <p:bldP spid="34" grpId="0" animBg="1"/>
      <p:bldP spid="35" grpId="0" animBg="1"/>
      <p:bldP spid="36" grpId="0" animBg="1"/>
      <p:bldP spid="37" grpId="0" animBg="1"/>
      <p:bldP spid="38" grpId="0" animBg="1"/>
      <p:bldP spid="4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3072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30725"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A63204"/>
                </a:solidFill>
                <a:ea typeface="华文楷体" panose="02010600040101010101" pitchFamily="2" charset="-122"/>
              </a:rPr>
              <a:t>[</a:t>
            </a:r>
            <a:r>
              <a:rPr lang="zh-CN" altLang="en-US" sz="2400" b="1" dirty="0" smtClean="0">
                <a:solidFill>
                  <a:srgbClr val="A63204"/>
                </a:solidFill>
                <a:ea typeface="华文楷体" panose="02010600040101010101" pitchFamily="2" charset="-122"/>
              </a:rPr>
              <a:t>删除</a:t>
            </a:r>
            <a:r>
              <a:rPr lang="en-US" altLang="zh-CN" sz="2400" b="1" dirty="0" smtClean="0">
                <a:solidFill>
                  <a:srgbClr val="A63204"/>
                </a:solidFill>
                <a:ea typeface="华文楷体" panose="02010600040101010101" pitchFamily="2" charset="-122"/>
              </a:rPr>
              <a:t>]</a:t>
            </a:r>
            <a:endParaRPr lang="en-US" altLang="zh-CN" sz="2400" b="1" dirty="0" smtClean="0">
              <a:solidFill>
                <a:srgbClr val="A63204"/>
              </a:solidFill>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依据被删除值为</a:t>
            </a:r>
            <a:r>
              <a:rPr lang="en-US" altLang="zh-CN" sz="2400" dirty="0" smtClean="0">
                <a:ea typeface="华文楷体" panose="02010600040101010101" pitchFamily="2" charset="-122"/>
              </a:rPr>
              <a:t>X</a:t>
            </a:r>
            <a:r>
              <a:rPr lang="zh-CN" altLang="en-US" sz="2400" dirty="0" smtClean="0">
                <a:ea typeface="华文楷体" panose="02010600040101010101" pitchFamily="2" charset="-122"/>
              </a:rPr>
              <a:t>的结点</a:t>
            </a:r>
            <a:r>
              <a:rPr lang="en-US" altLang="zh-CN" sz="2400" dirty="0" smtClean="0">
                <a:ea typeface="华文楷体" panose="02010600040101010101" pitchFamily="2" charset="-122"/>
              </a:rPr>
              <a:t>p</a:t>
            </a:r>
            <a:r>
              <a:rPr lang="zh-CN" altLang="en-US" sz="2400" dirty="0" smtClean="0">
                <a:ea typeface="华文楷体" panose="02010600040101010101" pitchFamily="2" charset="-122"/>
              </a:rPr>
              <a:t>的不同情况分析：</a:t>
            </a:r>
            <a:endParaRPr lang="zh-CN" altLang="en-US" sz="2400" dirty="0" smtClean="0">
              <a:ea typeface="华文楷体" panose="02010600040101010101" pitchFamily="2" charset="-122"/>
            </a:endParaRPr>
          </a:p>
          <a:p>
            <a:pPr lvl="1" eaLnBrk="1" hangingPunct="1"/>
            <a:r>
              <a:rPr lang="en-US" altLang="zh-CN" sz="2400" dirty="0" smtClean="0">
                <a:ea typeface="华文楷体" panose="02010600040101010101" pitchFamily="2" charset="-122"/>
              </a:rPr>
              <a:t>1. p</a:t>
            </a:r>
            <a:r>
              <a:rPr lang="zh-CN" altLang="zh-CN" sz="2400" dirty="0" smtClean="0">
                <a:ea typeface="华文楷体" panose="02010600040101010101" pitchFamily="2" charset="-122"/>
              </a:rPr>
              <a:t>是叶子结点：修改其双亲指针即可</a:t>
            </a:r>
            <a:endParaRPr lang="zh-CN" altLang="zh-CN" sz="2400" dirty="0" smtClean="0">
              <a:ea typeface="华文楷体" panose="02010600040101010101" pitchFamily="2" charset="-122"/>
            </a:endParaRPr>
          </a:p>
          <a:p>
            <a:pPr lvl="1" eaLnBrk="1" hangingPunct="1"/>
            <a:r>
              <a:rPr lang="en-US" altLang="zh-CN" sz="2400" dirty="0" smtClean="0">
                <a:ea typeface="华文楷体" panose="02010600040101010101" pitchFamily="2" charset="-122"/>
              </a:rPr>
              <a:t>2. p</a:t>
            </a:r>
            <a:r>
              <a:rPr lang="zh-CN" altLang="zh-CN" sz="2400" dirty="0" smtClean="0">
                <a:ea typeface="华文楷体" panose="02010600040101010101" pitchFamily="2" charset="-122"/>
              </a:rPr>
              <a:t>只有左孩子：用</a:t>
            </a:r>
            <a:r>
              <a:rPr lang="en-US" altLang="zh-CN" sz="2400" dirty="0" smtClean="0">
                <a:ea typeface="华文楷体" panose="02010600040101010101" pitchFamily="2" charset="-122"/>
              </a:rPr>
              <a:t>p</a:t>
            </a:r>
            <a:r>
              <a:rPr lang="zh-CN" altLang="zh-CN" sz="2400" dirty="0" smtClean="0">
                <a:ea typeface="华文楷体" panose="02010600040101010101" pitchFamily="2" charset="-122"/>
              </a:rPr>
              <a:t>的左子树代替以</a:t>
            </a:r>
            <a:r>
              <a:rPr lang="en-US" altLang="zh-CN" sz="2400" dirty="0" smtClean="0">
                <a:ea typeface="华文楷体" panose="02010600040101010101" pitchFamily="2" charset="-122"/>
              </a:rPr>
              <a:t>p</a:t>
            </a:r>
            <a:r>
              <a:rPr lang="zh-CN" altLang="zh-CN" sz="2400" dirty="0" smtClean="0">
                <a:ea typeface="华文楷体" panose="02010600040101010101" pitchFamily="2" charset="-122"/>
              </a:rPr>
              <a:t>为根的子树</a:t>
            </a:r>
            <a:endParaRPr lang="zh-CN" altLang="zh-CN" sz="2400" dirty="0" smtClean="0">
              <a:ea typeface="华文楷体" panose="02010600040101010101" pitchFamily="2" charset="-122"/>
            </a:endParaRPr>
          </a:p>
          <a:p>
            <a:pPr lvl="1" eaLnBrk="1" hangingPunct="1"/>
            <a:r>
              <a:rPr lang="en-US" altLang="zh-CN" sz="2400" dirty="0" smtClean="0">
                <a:ea typeface="华文楷体" panose="02010600040101010101" pitchFamily="2" charset="-122"/>
              </a:rPr>
              <a:t>3. p</a:t>
            </a:r>
            <a:r>
              <a:rPr lang="zh-CN" altLang="zh-CN" sz="2400" dirty="0" smtClean="0">
                <a:ea typeface="华文楷体" panose="02010600040101010101" pitchFamily="2" charset="-122"/>
              </a:rPr>
              <a:t>有两个孩子：找到</a:t>
            </a:r>
            <a:r>
              <a:rPr lang="en-US" altLang="zh-CN" sz="2400" dirty="0" smtClean="0">
                <a:ea typeface="华文楷体" panose="02010600040101010101" pitchFamily="2" charset="-122"/>
              </a:rPr>
              <a:t>p</a:t>
            </a:r>
            <a:r>
              <a:rPr lang="zh-CN" altLang="zh-CN" sz="2400" dirty="0" smtClean="0">
                <a:ea typeface="华文楷体" panose="02010600040101010101" pitchFamily="2" charset="-122"/>
              </a:rPr>
              <a:t>的</a:t>
            </a:r>
            <a:r>
              <a:rPr lang="en-US" altLang="zh-CN" sz="2400" dirty="0" smtClean="0">
                <a:ea typeface="华文楷体" panose="02010600040101010101" pitchFamily="2" charset="-122"/>
              </a:rPr>
              <a:t>p</a:t>
            </a:r>
            <a:r>
              <a:rPr lang="zh-CN" altLang="zh-CN" sz="2400" dirty="0" smtClean="0">
                <a:ea typeface="华文楷体" panose="02010600040101010101" pitchFamily="2" charset="-122"/>
              </a:rPr>
              <a:t>只有右孩子：用</a:t>
            </a:r>
            <a:r>
              <a:rPr lang="en-US" altLang="zh-CN" sz="2400" dirty="0" smtClean="0">
                <a:ea typeface="华文楷体" panose="02010600040101010101" pitchFamily="2" charset="-122"/>
              </a:rPr>
              <a:t>p</a:t>
            </a:r>
            <a:r>
              <a:rPr lang="zh-CN" altLang="zh-CN" sz="2400" dirty="0" smtClean="0">
                <a:ea typeface="华文楷体" panose="02010600040101010101" pitchFamily="2" charset="-122"/>
              </a:rPr>
              <a:t>的右子树</a:t>
            </a:r>
            <a:r>
              <a:rPr lang="en-US" altLang="zh-CN" sz="2400" dirty="0" smtClean="0">
                <a:ea typeface="华文楷体" panose="02010600040101010101" pitchFamily="2" charset="-122"/>
              </a:rPr>
              <a:t>      </a:t>
            </a:r>
            <a:r>
              <a:rPr lang="zh-CN" altLang="zh-CN" sz="2400" dirty="0" smtClean="0">
                <a:ea typeface="华文楷体" panose="02010600040101010101" pitchFamily="2" charset="-122"/>
              </a:rPr>
              <a:t>代替以</a:t>
            </a:r>
            <a:r>
              <a:rPr lang="en-US" altLang="zh-CN" sz="2400" dirty="0" smtClean="0">
                <a:ea typeface="华文楷体" panose="02010600040101010101" pitchFamily="2" charset="-122"/>
              </a:rPr>
              <a:t>p</a:t>
            </a:r>
            <a:r>
              <a:rPr lang="zh-CN" altLang="zh-CN" sz="2400" dirty="0" smtClean="0">
                <a:ea typeface="华文楷体" panose="02010600040101010101" pitchFamily="2" charset="-122"/>
              </a:rPr>
              <a:t>为根的子树中序后继</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或前趋</a:t>
            </a:r>
            <a:r>
              <a:rPr lang="en-US" altLang="zh-CN" sz="2400" dirty="0" smtClean="0">
                <a:ea typeface="华文楷体" panose="02010600040101010101" pitchFamily="2" charset="-122"/>
              </a:rPr>
              <a:t>)</a:t>
            </a:r>
            <a:r>
              <a:rPr lang="zh-CN" altLang="zh-CN" sz="2400" dirty="0" smtClean="0">
                <a:ea typeface="华文楷体" panose="02010600040101010101" pitchFamily="2" charset="-122"/>
              </a:rPr>
              <a:t>结点</a:t>
            </a:r>
            <a:r>
              <a:rPr lang="en-US" altLang="zh-CN" sz="2400" dirty="0" err="1" smtClean="0">
                <a:ea typeface="华文楷体" panose="02010600040101010101" pitchFamily="2" charset="-122"/>
              </a:rPr>
              <a:t>tmp</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lvl="1"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err="1" smtClean="0">
                <a:ea typeface="华文楷体" panose="02010600040101010101" pitchFamily="2" charset="-122"/>
              </a:rPr>
              <a:t>tmp</a:t>
            </a:r>
            <a:r>
              <a:rPr lang="zh-CN" altLang="en-US" sz="2400" dirty="0" smtClean="0">
                <a:ea typeface="华文楷体" panose="02010600040101010101" pitchFamily="2" charset="-122"/>
              </a:rPr>
              <a:t>的数据复制给</a:t>
            </a:r>
            <a:r>
              <a:rPr lang="en-US" altLang="zh-CN" sz="2400" dirty="0" smtClean="0">
                <a:ea typeface="华文楷体" panose="02010600040101010101" pitchFamily="2" charset="-122"/>
              </a:rPr>
              <a:t>p</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lvl="1" eaLnBrk="1" hangingPunct="1">
              <a:buFont typeface="Wingdings" panose="05000000000000000000" pitchFamily="2" charset="2"/>
              <a:buNone/>
            </a:pPr>
            <a:r>
              <a:rPr lang="zh-CN" altLang="en-US" sz="2400" dirty="0" smtClean="0">
                <a:ea typeface="华文楷体" panose="02010600040101010101" pitchFamily="2" charset="-122"/>
              </a:rPr>
              <a:t>                                 删除只有右子</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或左子</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无孩子的</a:t>
            </a:r>
            <a:r>
              <a:rPr lang="en-US" altLang="zh-CN" sz="2400" dirty="0" err="1" smtClean="0">
                <a:ea typeface="华文楷体" panose="02010600040101010101" pitchFamily="2" charset="-122"/>
              </a:rPr>
              <a:t>tmp</a:t>
            </a:r>
            <a:endParaRPr lang="en-US" altLang="zh-CN" sz="2400" b="1" dirty="0" smtClean="0">
              <a:solidFill>
                <a:srgbClr val="A63204"/>
              </a:solidFill>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页脚占位符 3"/>
          <p:cNvSpPr>
            <a:spLocks noGrp="1"/>
          </p:cNvSpPr>
          <p:nvPr>
            <p:ph type="ftr" sz="quarter" idx="10"/>
          </p:nvPr>
        </p:nvSpPr>
        <p:spPr/>
        <p:txBody>
          <a:bodyPr/>
          <a:lstStyle/>
          <a:p>
            <a:pPr>
              <a:defRPr/>
            </a:pPr>
            <a:r>
              <a:rPr lang="en-US" altLang="zh-CN"/>
              <a:t>BUPT SCST</a:t>
            </a:r>
            <a:endParaRPr lang="en-US" altLang="zh-CN"/>
          </a:p>
        </p:txBody>
      </p:sp>
      <p:sp>
        <p:nvSpPr>
          <p:cNvPr id="51" name="日期占位符 5"/>
          <p:cNvSpPr>
            <a:spLocks noGrp="1"/>
          </p:cNvSpPr>
          <p:nvPr>
            <p:ph type="dt" sz="quarter" idx="12"/>
          </p:nvPr>
        </p:nvSpPr>
        <p:spPr/>
        <p:txBody>
          <a:bodyPr/>
          <a:lstStyle/>
          <a:p>
            <a:pPr>
              <a:defRPr/>
            </a:pPr>
            <a:r>
              <a:rPr lang="en-US" altLang="zh-CN"/>
              <a:t>BUPT</a:t>
            </a:r>
            <a:endParaRPr lang="en-US" altLang="zh-CN"/>
          </a:p>
        </p:txBody>
      </p:sp>
      <p:sp>
        <p:nvSpPr>
          <p:cNvPr id="3174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31749"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sz="2400" dirty="0" smtClean="0">
                <a:ea typeface="华文楷体" panose="02010600040101010101" pitchFamily="2" charset="-122"/>
              </a:rPr>
              <a:t>例：</a:t>
            </a:r>
            <a:endParaRPr lang="zh-CN" altLang="en-US" sz="2400" dirty="0" smtClean="0">
              <a:ea typeface="华文楷体" panose="02010600040101010101" pitchFamily="2" charset="-122"/>
            </a:endParaRPr>
          </a:p>
        </p:txBody>
      </p:sp>
      <p:sp>
        <p:nvSpPr>
          <p:cNvPr id="31750" name="Line 4"/>
          <p:cNvSpPr>
            <a:spLocks noChangeShapeType="1"/>
          </p:cNvSpPr>
          <p:nvPr/>
        </p:nvSpPr>
        <p:spPr bwMode="auto">
          <a:xfrm flipH="1">
            <a:off x="2209800" y="2514600"/>
            <a:ext cx="1371600" cy="457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751" name="Line 5"/>
          <p:cNvSpPr>
            <a:spLocks noChangeShapeType="1"/>
          </p:cNvSpPr>
          <p:nvPr/>
        </p:nvSpPr>
        <p:spPr bwMode="auto">
          <a:xfrm>
            <a:off x="4114800" y="2514600"/>
            <a:ext cx="137160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752" name="Line 6"/>
          <p:cNvSpPr>
            <a:spLocks noChangeShapeType="1"/>
          </p:cNvSpPr>
          <p:nvPr/>
        </p:nvSpPr>
        <p:spPr bwMode="auto">
          <a:xfrm flipH="1">
            <a:off x="1219200" y="3048000"/>
            <a:ext cx="6096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753" name="Line 7"/>
          <p:cNvSpPr>
            <a:spLocks noChangeShapeType="1"/>
          </p:cNvSpPr>
          <p:nvPr/>
        </p:nvSpPr>
        <p:spPr bwMode="auto">
          <a:xfrm>
            <a:off x="2209800" y="3124200"/>
            <a:ext cx="5334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754" name="Line 8"/>
          <p:cNvSpPr>
            <a:spLocks noChangeShapeType="1"/>
          </p:cNvSpPr>
          <p:nvPr/>
        </p:nvSpPr>
        <p:spPr bwMode="auto">
          <a:xfrm flipH="1">
            <a:off x="533400" y="3581400"/>
            <a:ext cx="3048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755" name="Line 9"/>
          <p:cNvSpPr>
            <a:spLocks noChangeShapeType="1"/>
          </p:cNvSpPr>
          <p:nvPr/>
        </p:nvSpPr>
        <p:spPr bwMode="auto">
          <a:xfrm>
            <a:off x="1219200" y="3581400"/>
            <a:ext cx="3810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756" name="Line 10"/>
          <p:cNvSpPr>
            <a:spLocks noChangeShapeType="1"/>
          </p:cNvSpPr>
          <p:nvPr/>
        </p:nvSpPr>
        <p:spPr bwMode="auto">
          <a:xfrm flipH="1">
            <a:off x="2438400" y="3581400"/>
            <a:ext cx="2286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757" name="Line 11"/>
          <p:cNvSpPr>
            <a:spLocks noChangeShapeType="1"/>
          </p:cNvSpPr>
          <p:nvPr/>
        </p:nvSpPr>
        <p:spPr bwMode="auto">
          <a:xfrm flipH="1">
            <a:off x="1905000" y="4038600"/>
            <a:ext cx="3048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758" name="Line 12"/>
          <p:cNvSpPr>
            <a:spLocks noChangeShapeType="1"/>
          </p:cNvSpPr>
          <p:nvPr/>
        </p:nvSpPr>
        <p:spPr bwMode="auto">
          <a:xfrm>
            <a:off x="2438400" y="4038600"/>
            <a:ext cx="2286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759" name="Line 13"/>
          <p:cNvSpPr>
            <a:spLocks noChangeShapeType="1"/>
          </p:cNvSpPr>
          <p:nvPr/>
        </p:nvSpPr>
        <p:spPr bwMode="auto">
          <a:xfrm>
            <a:off x="2057400" y="4495800"/>
            <a:ext cx="2286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760" name="Line 14"/>
          <p:cNvSpPr>
            <a:spLocks noChangeShapeType="1"/>
          </p:cNvSpPr>
          <p:nvPr/>
        </p:nvSpPr>
        <p:spPr bwMode="auto">
          <a:xfrm flipH="1">
            <a:off x="4572000" y="3048000"/>
            <a:ext cx="9144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761" name="Line 15"/>
          <p:cNvSpPr>
            <a:spLocks noChangeShapeType="1"/>
          </p:cNvSpPr>
          <p:nvPr/>
        </p:nvSpPr>
        <p:spPr bwMode="auto">
          <a:xfrm>
            <a:off x="2971800" y="3505200"/>
            <a:ext cx="304800" cy="304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762" name="Line 16"/>
          <p:cNvSpPr>
            <a:spLocks noChangeShapeType="1"/>
          </p:cNvSpPr>
          <p:nvPr/>
        </p:nvSpPr>
        <p:spPr bwMode="auto">
          <a:xfrm>
            <a:off x="4572000" y="3581400"/>
            <a:ext cx="3048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763" name="Line 17"/>
          <p:cNvSpPr>
            <a:spLocks noChangeShapeType="1"/>
          </p:cNvSpPr>
          <p:nvPr/>
        </p:nvSpPr>
        <p:spPr bwMode="auto">
          <a:xfrm>
            <a:off x="5105400" y="4038600"/>
            <a:ext cx="2286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764" name="Line 18"/>
          <p:cNvSpPr>
            <a:spLocks noChangeShapeType="1"/>
          </p:cNvSpPr>
          <p:nvPr/>
        </p:nvSpPr>
        <p:spPr bwMode="auto">
          <a:xfrm>
            <a:off x="6019800" y="3124200"/>
            <a:ext cx="6096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765" name="Line 19"/>
          <p:cNvSpPr>
            <a:spLocks noChangeShapeType="1"/>
          </p:cNvSpPr>
          <p:nvPr/>
        </p:nvSpPr>
        <p:spPr bwMode="auto">
          <a:xfrm flipH="1">
            <a:off x="6400800" y="3657600"/>
            <a:ext cx="3048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766" name="Line 20"/>
          <p:cNvSpPr>
            <a:spLocks noChangeShapeType="1"/>
          </p:cNvSpPr>
          <p:nvPr/>
        </p:nvSpPr>
        <p:spPr bwMode="auto">
          <a:xfrm>
            <a:off x="6172200" y="4038600"/>
            <a:ext cx="3810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767" name="Oval 21"/>
          <p:cNvSpPr>
            <a:spLocks noChangeArrowheads="1"/>
          </p:cNvSpPr>
          <p:nvPr/>
        </p:nvSpPr>
        <p:spPr bwMode="auto">
          <a:xfrm>
            <a:off x="6629400" y="3276600"/>
            <a:ext cx="457200" cy="381000"/>
          </a:xfrm>
          <a:prstGeom prst="ellipse">
            <a:avLst/>
          </a:prstGeom>
          <a:noFill/>
          <a:ln w="9525">
            <a:solidFill>
              <a:srgbClr val="FF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1768" name="Oval 22"/>
          <p:cNvSpPr>
            <a:spLocks noChangeArrowheads="1"/>
          </p:cNvSpPr>
          <p:nvPr/>
        </p:nvSpPr>
        <p:spPr bwMode="auto">
          <a:xfrm>
            <a:off x="4191000" y="3276600"/>
            <a:ext cx="457200" cy="381000"/>
          </a:xfrm>
          <a:prstGeom prst="ellipse">
            <a:avLst/>
          </a:prstGeom>
          <a:noFill/>
          <a:ln w="9525">
            <a:solidFill>
              <a:srgbClr val="FF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1769" name="Oval 23"/>
          <p:cNvSpPr>
            <a:spLocks noChangeArrowheads="1"/>
          </p:cNvSpPr>
          <p:nvPr/>
        </p:nvSpPr>
        <p:spPr bwMode="auto">
          <a:xfrm>
            <a:off x="1752600" y="2819400"/>
            <a:ext cx="533400" cy="381000"/>
          </a:xfrm>
          <a:prstGeom prst="ellipse">
            <a:avLst/>
          </a:prstGeom>
          <a:noFill/>
          <a:ln w="9525">
            <a:solidFill>
              <a:srgbClr val="FF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endParaRPr kumimoji="1" lang="zh-CN" altLang="zh-CN" sz="2400">
              <a:solidFill>
                <a:srgbClr val="FF3300"/>
              </a:solidFill>
              <a:latin typeface="Times New Roman" panose="02020603050405020304" pitchFamily="18" charset="0"/>
              <a:ea typeface="黑体" panose="02010609060101010101" pitchFamily="49" charset="-122"/>
            </a:endParaRPr>
          </a:p>
        </p:txBody>
      </p:sp>
      <p:sp>
        <p:nvSpPr>
          <p:cNvPr id="31770" name="Line 24"/>
          <p:cNvSpPr>
            <a:spLocks noChangeShapeType="1"/>
          </p:cNvSpPr>
          <p:nvPr/>
        </p:nvSpPr>
        <p:spPr bwMode="auto">
          <a:xfrm flipV="1">
            <a:off x="1828800" y="3276600"/>
            <a:ext cx="228600" cy="914400"/>
          </a:xfrm>
          <a:prstGeom prst="line">
            <a:avLst/>
          </a:prstGeom>
          <a:noFill/>
          <a:ln w="9525">
            <a:solidFill>
              <a:schemeClr val="accent2"/>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771" name="Text Box 25"/>
          <p:cNvSpPr txBox="1">
            <a:spLocks noChangeArrowheads="1"/>
          </p:cNvSpPr>
          <p:nvPr/>
        </p:nvSpPr>
        <p:spPr bwMode="auto">
          <a:xfrm>
            <a:off x="6248400" y="44958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rgbClr val="FF3300"/>
                </a:solidFill>
                <a:latin typeface="Times New Roman" panose="02020603050405020304" pitchFamily="18" charset="0"/>
                <a:ea typeface="华文楷体" panose="02010600040101010101" pitchFamily="2" charset="-122"/>
              </a:rPr>
              <a:t>(1)</a:t>
            </a:r>
            <a:endParaRPr kumimoji="1" lang="en-US" altLang="zh-CN" sz="2400" dirty="0">
              <a:latin typeface="Times New Roman" panose="02020603050405020304" pitchFamily="18" charset="0"/>
              <a:ea typeface="华文楷体" panose="02010600040101010101" pitchFamily="2" charset="-122"/>
            </a:endParaRPr>
          </a:p>
        </p:txBody>
      </p:sp>
      <p:sp>
        <p:nvSpPr>
          <p:cNvPr id="31772" name="Text Box 26"/>
          <p:cNvSpPr txBox="1">
            <a:spLocks noChangeArrowheads="1"/>
          </p:cNvSpPr>
          <p:nvPr/>
        </p:nvSpPr>
        <p:spPr bwMode="auto">
          <a:xfrm>
            <a:off x="4038600" y="2971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rgbClr val="FF3300"/>
                </a:solidFill>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31773" name="Text Box 27"/>
          <p:cNvSpPr txBox="1">
            <a:spLocks noChangeArrowheads="1"/>
          </p:cNvSpPr>
          <p:nvPr/>
        </p:nvSpPr>
        <p:spPr bwMode="auto">
          <a:xfrm>
            <a:off x="6781800" y="289560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rgbClr val="FF3300"/>
                </a:solidFill>
                <a:latin typeface="Times New Roman" panose="02020603050405020304" pitchFamily="18" charset="0"/>
                <a:ea typeface="华文楷体" panose="02010600040101010101" pitchFamily="2" charset="-122"/>
              </a:rPr>
              <a:t>(2)</a:t>
            </a:r>
            <a:endParaRPr kumimoji="1" lang="en-US" altLang="zh-CN" sz="2400" dirty="0">
              <a:latin typeface="Times New Roman" panose="02020603050405020304" pitchFamily="18" charset="0"/>
              <a:ea typeface="华文楷体" panose="02010600040101010101" pitchFamily="2" charset="-122"/>
            </a:endParaRPr>
          </a:p>
        </p:txBody>
      </p:sp>
      <p:sp>
        <p:nvSpPr>
          <p:cNvPr id="31774" name="Oval 28"/>
          <p:cNvSpPr>
            <a:spLocks noChangeArrowheads="1"/>
          </p:cNvSpPr>
          <p:nvPr/>
        </p:nvSpPr>
        <p:spPr bwMode="auto">
          <a:xfrm>
            <a:off x="6324600" y="4191000"/>
            <a:ext cx="457200" cy="381000"/>
          </a:xfrm>
          <a:prstGeom prst="ellipse">
            <a:avLst/>
          </a:prstGeom>
          <a:noFill/>
          <a:ln w="9525">
            <a:solidFill>
              <a:srgbClr val="FF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1775" name="Text Box 29"/>
          <p:cNvSpPr txBox="1">
            <a:spLocks noChangeArrowheads="1"/>
          </p:cNvSpPr>
          <p:nvPr/>
        </p:nvSpPr>
        <p:spPr bwMode="auto">
          <a:xfrm>
            <a:off x="1676400" y="24384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solidFill>
                  <a:srgbClr val="FF3300"/>
                </a:solidFill>
                <a:latin typeface="Times New Roman" panose="02020603050405020304" pitchFamily="18" charset="0"/>
                <a:ea typeface="华文楷体" panose="02010600040101010101" pitchFamily="2" charset="-122"/>
              </a:rPr>
              <a:t>(3)</a:t>
            </a:r>
            <a:endParaRPr kumimoji="1" lang="en-US" altLang="zh-CN" sz="2400" dirty="0">
              <a:latin typeface="Times New Roman" panose="02020603050405020304" pitchFamily="18" charset="0"/>
              <a:ea typeface="华文楷体" panose="02010600040101010101" pitchFamily="2" charset="-122"/>
            </a:endParaRPr>
          </a:p>
        </p:txBody>
      </p:sp>
      <p:sp>
        <p:nvSpPr>
          <p:cNvPr id="31776" name="Line 30"/>
          <p:cNvSpPr>
            <a:spLocks noChangeShapeType="1"/>
          </p:cNvSpPr>
          <p:nvPr/>
        </p:nvSpPr>
        <p:spPr bwMode="auto">
          <a:xfrm flipH="1">
            <a:off x="4419600" y="4038600"/>
            <a:ext cx="2286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1777" name="Text Box 31"/>
          <p:cNvSpPr txBox="1">
            <a:spLocks noChangeArrowheads="1"/>
          </p:cNvSpPr>
          <p:nvPr/>
        </p:nvSpPr>
        <p:spPr bwMode="auto">
          <a:xfrm>
            <a:off x="3641725" y="23225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53</a:t>
            </a:r>
            <a:endParaRPr lang="en-US" altLang="zh-CN" sz="1800" dirty="0">
              <a:latin typeface="Times New Roman" panose="02020603050405020304" pitchFamily="18" charset="0"/>
              <a:ea typeface="华文楷体" panose="02010600040101010101" pitchFamily="2" charset="-122"/>
            </a:endParaRPr>
          </a:p>
        </p:txBody>
      </p:sp>
      <p:sp>
        <p:nvSpPr>
          <p:cNvPr id="31778" name="Text Box 32"/>
          <p:cNvSpPr txBox="1">
            <a:spLocks noChangeArrowheads="1"/>
          </p:cNvSpPr>
          <p:nvPr/>
        </p:nvSpPr>
        <p:spPr bwMode="auto">
          <a:xfrm>
            <a:off x="1889125" y="27797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20</a:t>
            </a:r>
            <a:endParaRPr lang="en-US" altLang="zh-CN" sz="1800" dirty="0">
              <a:latin typeface="Times New Roman" panose="02020603050405020304" pitchFamily="18" charset="0"/>
              <a:ea typeface="华文楷体" panose="02010600040101010101" pitchFamily="2" charset="-122"/>
            </a:endParaRPr>
          </a:p>
        </p:txBody>
      </p:sp>
      <p:sp>
        <p:nvSpPr>
          <p:cNvPr id="31779" name="Text Box 33"/>
          <p:cNvSpPr txBox="1">
            <a:spLocks noChangeArrowheads="1"/>
          </p:cNvSpPr>
          <p:nvPr/>
        </p:nvSpPr>
        <p:spPr bwMode="auto">
          <a:xfrm>
            <a:off x="5546725" y="27797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90</a:t>
            </a:r>
            <a:endParaRPr lang="en-US" altLang="zh-CN" sz="1800" dirty="0">
              <a:latin typeface="Times New Roman" panose="02020603050405020304" pitchFamily="18" charset="0"/>
              <a:ea typeface="华文楷体" panose="02010600040101010101" pitchFamily="2" charset="-122"/>
            </a:endParaRPr>
          </a:p>
        </p:txBody>
      </p:sp>
      <p:sp>
        <p:nvSpPr>
          <p:cNvPr id="31780" name="Text Box 34"/>
          <p:cNvSpPr txBox="1">
            <a:spLocks noChangeArrowheads="1"/>
          </p:cNvSpPr>
          <p:nvPr/>
        </p:nvSpPr>
        <p:spPr bwMode="auto">
          <a:xfrm>
            <a:off x="898525" y="33131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10</a:t>
            </a:r>
            <a:endParaRPr lang="en-US" altLang="zh-CN" sz="1800" dirty="0">
              <a:latin typeface="Times New Roman" panose="02020603050405020304" pitchFamily="18" charset="0"/>
              <a:ea typeface="华文楷体" panose="02010600040101010101" pitchFamily="2" charset="-122"/>
            </a:endParaRPr>
          </a:p>
        </p:txBody>
      </p:sp>
      <p:sp>
        <p:nvSpPr>
          <p:cNvPr id="31781" name="Text Box 35"/>
          <p:cNvSpPr txBox="1">
            <a:spLocks noChangeArrowheads="1"/>
          </p:cNvSpPr>
          <p:nvPr/>
        </p:nvSpPr>
        <p:spPr bwMode="auto">
          <a:xfrm>
            <a:off x="2651125" y="3200400"/>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50</a:t>
            </a:r>
            <a:endParaRPr lang="en-US" altLang="zh-CN" sz="1800" dirty="0">
              <a:latin typeface="Times New Roman" panose="02020603050405020304" pitchFamily="18" charset="0"/>
              <a:ea typeface="华文楷体" panose="02010600040101010101" pitchFamily="2" charset="-122"/>
            </a:endParaRPr>
          </a:p>
        </p:txBody>
      </p:sp>
      <p:sp>
        <p:nvSpPr>
          <p:cNvPr id="31782" name="Text Box 36"/>
          <p:cNvSpPr txBox="1">
            <a:spLocks noChangeArrowheads="1"/>
          </p:cNvSpPr>
          <p:nvPr/>
        </p:nvSpPr>
        <p:spPr bwMode="auto">
          <a:xfrm>
            <a:off x="4191000" y="3290888"/>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86</a:t>
            </a:r>
            <a:endParaRPr lang="en-US" altLang="zh-CN" sz="1800" dirty="0">
              <a:latin typeface="Times New Roman" panose="02020603050405020304" pitchFamily="18" charset="0"/>
              <a:ea typeface="华文楷体" panose="02010600040101010101" pitchFamily="2" charset="-122"/>
            </a:endParaRPr>
          </a:p>
        </p:txBody>
      </p:sp>
      <p:sp>
        <p:nvSpPr>
          <p:cNvPr id="31783" name="Text Box 37"/>
          <p:cNvSpPr txBox="1">
            <a:spLocks noChangeArrowheads="1"/>
          </p:cNvSpPr>
          <p:nvPr/>
        </p:nvSpPr>
        <p:spPr bwMode="auto">
          <a:xfrm>
            <a:off x="6689725" y="32369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95</a:t>
            </a:r>
            <a:endParaRPr lang="en-US" altLang="zh-CN" sz="1800" dirty="0">
              <a:latin typeface="Times New Roman" panose="02020603050405020304" pitchFamily="18" charset="0"/>
              <a:ea typeface="华文楷体" panose="02010600040101010101" pitchFamily="2" charset="-122"/>
            </a:endParaRPr>
          </a:p>
        </p:txBody>
      </p:sp>
      <p:sp>
        <p:nvSpPr>
          <p:cNvPr id="31784" name="Text Box 38"/>
          <p:cNvSpPr txBox="1">
            <a:spLocks noChangeArrowheads="1"/>
          </p:cNvSpPr>
          <p:nvPr/>
        </p:nvSpPr>
        <p:spPr bwMode="auto">
          <a:xfrm>
            <a:off x="365125" y="3770313"/>
            <a:ext cx="3111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4</a:t>
            </a:r>
            <a:endParaRPr lang="en-US" altLang="zh-CN" sz="1800" dirty="0">
              <a:latin typeface="Times New Roman" panose="02020603050405020304" pitchFamily="18" charset="0"/>
              <a:ea typeface="华文楷体" panose="02010600040101010101" pitchFamily="2" charset="-122"/>
            </a:endParaRPr>
          </a:p>
        </p:txBody>
      </p:sp>
      <p:sp>
        <p:nvSpPr>
          <p:cNvPr id="31785" name="Text Box 39"/>
          <p:cNvSpPr txBox="1">
            <a:spLocks noChangeArrowheads="1"/>
          </p:cNvSpPr>
          <p:nvPr/>
        </p:nvSpPr>
        <p:spPr bwMode="auto">
          <a:xfrm>
            <a:off x="1508125" y="36941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12</a:t>
            </a:r>
            <a:endParaRPr lang="en-US" altLang="zh-CN" sz="1800" dirty="0">
              <a:latin typeface="Times New Roman" panose="02020603050405020304" pitchFamily="18" charset="0"/>
              <a:ea typeface="华文楷体" panose="02010600040101010101" pitchFamily="2" charset="-122"/>
            </a:endParaRPr>
          </a:p>
        </p:txBody>
      </p:sp>
      <p:sp>
        <p:nvSpPr>
          <p:cNvPr id="31786" name="Text Box 40"/>
          <p:cNvSpPr txBox="1">
            <a:spLocks noChangeArrowheads="1"/>
          </p:cNvSpPr>
          <p:nvPr/>
        </p:nvSpPr>
        <p:spPr bwMode="auto">
          <a:xfrm>
            <a:off x="2133600" y="36941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41</a:t>
            </a:r>
            <a:endParaRPr lang="en-US" altLang="zh-CN" sz="1800" dirty="0">
              <a:latin typeface="Times New Roman" panose="02020603050405020304" pitchFamily="18" charset="0"/>
              <a:ea typeface="华文楷体" panose="02010600040101010101" pitchFamily="2" charset="-122"/>
            </a:endParaRPr>
          </a:p>
        </p:txBody>
      </p:sp>
      <p:sp>
        <p:nvSpPr>
          <p:cNvPr id="31787" name="Text Box 41"/>
          <p:cNvSpPr txBox="1">
            <a:spLocks noChangeArrowheads="1"/>
          </p:cNvSpPr>
          <p:nvPr/>
        </p:nvSpPr>
        <p:spPr bwMode="auto">
          <a:xfrm>
            <a:off x="3108325" y="37703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52</a:t>
            </a:r>
            <a:endParaRPr lang="en-US" altLang="zh-CN" sz="1800" dirty="0">
              <a:latin typeface="Times New Roman" panose="02020603050405020304" pitchFamily="18" charset="0"/>
              <a:ea typeface="华文楷体" panose="02010600040101010101" pitchFamily="2" charset="-122"/>
            </a:endParaRPr>
          </a:p>
        </p:txBody>
      </p:sp>
      <p:sp>
        <p:nvSpPr>
          <p:cNvPr id="31788" name="Text Box 42"/>
          <p:cNvSpPr txBox="1">
            <a:spLocks noChangeArrowheads="1"/>
          </p:cNvSpPr>
          <p:nvPr/>
        </p:nvSpPr>
        <p:spPr bwMode="auto">
          <a:xfrm>
            <a:off x="4784725" y="36941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88</a:t>
            </a:r>
            <a:endParaRPr lang="en-US" altLang="zh-CN" sz="1800" dirty="0">
              <a:latin typeface="Times New Roman" panose="02020603050405020304" pitchFamily="18" charset="0"/>
              <a:ea typeface="华文楷体" panose="02010600040101010101" pitchFamily="2" charset="-122"/>
            </a:endParaRPr>
          </a:p>
        </p:txBody>
      </p:sp>
      <p:sp>
        <p:nvSpPr>
          <p:cNvPr id="31789" name="Text Box 43"/>
          <p:cNvSpPr txBox="1">
            <a:spLocks noChangeArrowheads="1"/>
          </p:cNvSpPr>
          <p:nvPr/>
        </p:nvSpPr>
        <p:spPr bwMode="auto">
          <a:xfrm>
            <a:off x="6003925" y="36941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91</a:t>
            </a:r>
            <a:endParaRPr lang="en-US" altLang="zh-CN" sz="1800" dirty="0">
              <a:latin typeface="Times New Roman" panose="02020603050405020304" pitchFamily="18" charset="0"/>
              <a:ea typeface="华文楷体" panose="02010600040101010101" pitchFamily="2" charset="-122"/>
            </a:endParaRPr>
          </a:p>
        </p:txBody>
      </p:sp>
      <p:sp>
        <p:nvSpPr>
          <p:cNvPr id="31790" name="Text Box 44"/>
          <p:cNvSpPr txBox="1">
            <a:spLocks noChangeArrowheads="1"/>
          </p:cNvSpPr>
          <p:nvPr/>
        </p:nvSpPr>
        <p:spPr bwMode="auto">
          <a:xfrm>
            <a:off x="1736725" y="41513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30</a:t>
            </a:r>
            <a:endParaRPr lang="en-US" altLang="zh-CN" sz="1800" dirty="0">
              <a:latin typeface="Times New Roman" panose="02020603050405020304" pitchFamily="18" charset="0"/>
              <a:ea typeface="华文楷体" panose="02010600040101010101" pitchFamily="2" charset="-122"/>
            </a:endParaRPr>
          </a:p>
        </p:txBody>
      </p:sp>
      <p:sp>
        <p:nvSpPr>
          <p:cNvPr id="31791" name="Text Box 45"/>
          <p:cNvSpPr txBox="1">
            <a:spLocks noChangeArrowheads="1"/>
          </p:cNvSpPr>
          <p:nvPr/>
        </p:nvSpPr>
        <p:spPr bwMode="auto">
          <a:xfrm>
            <a:off x="2574925" y="41513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45</a:t>
            </a:r>
            <a:endParaRPr lang="en-US" altLang="zh-CN" sz="1800" dirty="0">
              <a:latin typeface="Times New Roman" panose="02020603050405020304" pitchFamily="18" charset="0"/>
              <a:ea typeface="华文楷体" panose="02010600040101010101" pitchFamily="2" charset="-122"/>
            </a:endParaRPr>
          </a:p>
        </p:txBody>
      </p:sp>
      <p:sp>
        <p:nvSpPr>
          <p:cNvPr id="31792" name="Text Box 46"/>
          <p:cNvSpPr txBox="1">
            <a:spLocks noChangeArrowheads="1"/>
          </p:cNvSpPr>
          <p:nvPr/>
        </p:nvSpPr>
        <p:spPr bwMode="auto">
          <a:xfrm>
            <a:off x="2193925" y="46085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39</a:t>
            </a:r>
            <a:endParaRPr lang="en-US" altLang="zh-CN" sz="1800" dirty="0">
              <a:latin typeface="Times New Roman" panose="02020603050405020304" pitchFamily="18" charset="0"/>
              <a:ea typeface="华文楷体" panose="02010600040101010101" pitchFamily="2" charset="-122"/>
            </a:endParaRPr>
          </a:p>
        </p:txBody>
      </p:sp>
      <p:sp>
        <p:nvSpPr>
          <p:cNvPr id="31793" name="Text Box 47"/>
          <p:cNvSpPr txBox="1">
            <a:spLocks noChangeArrowheads="1"/>
          </p:cNvSpPr>
          <p:nvPr/>
        </p:nvSpPr>
        <p:spPr bwMode="auto">
          <a:xfrm>
            <a:off x="4251325" y="41513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87</a:t>
            </a:r>
            <a:endParaRPr lang="en-US" altLang="zh-CN" sz="1800" dirty="0">
              <a:latin typeface="Times New Roman" panose="02020603050405020304" pitchFamily="18" charset="0"/>
              <a:ea typeface="华文楷体" panose="02010600040101010101" pitchFamily="2" charset="-122"/>
            </a:endParaRPr>
          </a:p>
        </p:txBody>
      </p:sp>
      <p:sp>
        <p:nvSpPr>
          <p:cNvPr id="31794" name="Text Box 48"/>
          <p:cNvSpPr txBox="1">
            <a:spLocks noChangeArrowheads="1"/>
          </p:cNvSpPr>
          <p:nvPr/>
        </p:nvSpPr>
        <p:spPr bwMode="auto">
          <a:xfrm>
            <a:off x="5165725" y="42275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89</a:t>
            </a:r>
            <a:endParaRPr lang="en-US" altLang="zh-CN" sz="1800" dirty="0">
              <a:latin typeface="Times New Roman" panose="02020603050405020304" pitchFamily="18" charset="0"/>
              <a:ea typeface="华文楷体" panose="02010600040101010101" pitchFamily="2" charset="-122"/>
            </a:endParaRPr>
          </a:p>
        </p:txBody>
      </p:sp>
      <p:sp>
        <p:nvSpPr>
          <p:cNvPr id="31795" name="Text Box 49"/>
          <p:cNvSpPr txBox="1">
            <a:spLocks noChangeArrowheads="1"/>
          </p:cNvSpPr>
          <p:nvPr/>
        </p:nvSpPr>
        <p:spPr bwMode="auto">
          <a:xfrm>
            <a:off x="6343650" y="4205288"/>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92</a:t>
            </a:r>
            <a:endParaRPr lang="en-US" altLang="zh-CN" sz="18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04800" y="816198"/>
            <a:ext cx="8229600" cy="6041802"/>
          </a:xfrm>
          <a:ln>
            <a:solidFill>
              <a:schemeClr val="accent1"/>
            </a:solidFill>
          </a:ln>
        </p:spPr>
        <p:txBody>
          <a:bodyPr/>
          <a:lstStyle/>
          <a:p>
            <a:pPr marL="0" indent="0">
              <a:buNone/>
            </a:pPr>
            <a:r>
              <a:rPr lang="en-US" altLang="zh-CN" sz="1500" b="1" dirty="0" smtClean="0">
                <a:solidFill>
                  <a:srgbClr val="FFC000"/>
                </a:solidFill>
                <a:ea typeface="华文楷体" panose="02010600040101010101" pitchFamily="2" charset="-122"/>
              </a:rPr>
              <a:t>[</a:t>
            </a:r>
            <a:r>
              <a:rPr lang="zh-CN" altLang="en-US" sz="1500" b="1" dirty="0" smtClean="0">
                <a:solidFill>
                  <a:srgbClr val="FFC000"/>
                </a:solidFill>
                <a:ea typeface="华文楷体" panose="02010600040101010101" pitchFamily="2" charset="-122"/>
              </a:rPr>
              <a:t>删除算法</a:t>
            </a:r>
            <a:r>
              <a:rPr lang="en-US" altLang="zh-CN" sz="1500" b="1" dirty="0" smtClean="0">
                <a:solidFill>
                  <a:srgbClr val="FFC000"/>
                </a:solidFill>
                <a:ea typeface="华文楷体" panose="02010600040101010101" pitchFamily="2" charset="-122"/>
              </a:rPr>
              <a:t>]</a:t>
            </a:r>
            <a:endParaRPr lang="en-US" altLang="zh-CN" sz="1500" b="1" dirty="0" smtClean="0">
              <a:solidFill>
                <a:srgbClr val="FFC000"/>
              </a:solidFill>
              <a:ea typeface="华文楷体" panose="02010600040101010101" pitchFamily="2" charset="-122"/>
            </a:endParaRPr>
          </a:p>
          <a:p>
            <a:pPr marL="0" indent="0">
              <a:buNone/>
            </a:pPr>
            <a:r>
              <a:rPr lang="en-US" altLang="zh-CN" sz="1500" dirty="0" err="1">
                <a:ea typeface="华文楷体" panose="02010600040101010101" pitchFamily="2" charset="-122"/>
              </a:rPr>
              <a:t>SearchTree</a:t>
            </a:r>
            <a:r>
              <a:rPr lang="en-US" altLang="zh-CN" sz="1500" dirty="0">
                <a:ea typeface="华文楷体" panose="02010600040101010101" pitchFamily="2" charset="-122"/>
              </a:rPr>
              <a:t> Delete(</a:t>
            </a:r>
            <a:r>
              <a:rPr lang="en-US" altLang="zh-CN" sz="1500" dirty="0" err="1">
                <a:ea typeface="华文楷体" panose="02010600040101010101" pitchFamily="2" charset="-122"/>
              </a:rPr>
              <a:t>elemtype</a:t>
            </a:r>
            <a:r>
              <a:rPr lang="en-US" altLang="zh-CN" sz="1500" dirty="0">
                <a:ea typeface="华文楷体" panose="02010600040101010101" pitchFamily="2" charset="-122"/>
              </a:rPr>
              <a:t> X, </a:t>
            </a:r>
            <a:r>
              <a:rPr lang="en-US" altLang="zh-CN" sz="1500" dirty="0" err="1">
                <a:ea typeface="华文楷体" panose="02010600040101010101" pitchFamily="2" charset="-122"/>
              </a:rPr>
              <a:t>SearchTree</a:t>
            </a:r>
            <a:r>
              <a:rPr lang="en-US" altLang="zh-CN" sz="1500" dirty="0">
                <a:ea typeface="华文楷体" panose="02010600040101010101" pitchFamily="2" charset="-122"/>
              </a:rPr>
              <a:t> T)</a:t>
            </a:r>
            <a:endParaRPr lang="en-US" altLang="zh-CN" sz="1500" dirty="0" smtClean="0">
              <a:ea typeface="华文楷体" panose="02010600040101010101" pitchFamily="2" charset="-122"/>
            </a:endParaRPr>
          </a:p>
          <a:p>
            <a:pPr marL="0" indent="0">
              <a:buNone/>
            </a:pPr>
            <a:r>
              <a:rPr lang="en-US" altLang="zh-CN" sz="1500" dirty="0" smtClean="0">
                <a:ea typeface="华文楷体" panose="02010600040101010101" pitchFamily="2" charset="-122"/>
              </a:rPr>
              <a:t>{</a:t>
            </a:r>
            <a:endParaRPr lang="en-US" altLang="zh-CN" sz="1500" dirty="0" smtClean="0">
              <a:ea typeface="华文楷体" panose="02010600040101010101" pitchFamily="2" charset="-122"/>
            </a:endParaRPr>
          </a:p>
          <a:p>
            <a:pPr marL="0" indent="0">
              <a:buNone/>
            </a:pPr>
            <a:r>
              <a:rPr lang="en-US" altLang="zh-CN" sz="1500" dirty="0">
                <a:ea typeface="华文楷体" panose="02010600040101010101" pitchFamily="2" charset="-122"/>
              </a:rPr>
              <a:t> </a:t>
            </a:r>
            <a:r>
              <a:rPr lang="en-US" altLang="zh-CN" sz="1500" dirty="0" smtClean="0">
                <a:ea typeface="华文楷体" panose="02010600040101010101" pitchFamily="2" charset="-122"/>
              </a:rPr>
              <a:t>   Position </a:t>
            </a:r>
            <a:r>
              <a:rPr lang="en-US" altLang="zh-CN" sz="1500" dirty="0" err="1" smtClean="0">
                <a:ea typeface="华文楷体" panose="02010600040101010101" pitchFamily="2" charset="-122"/>
              </a:rPr>
              <a:t>tmp</a:t>
            </a:r>
            <a:r>
              <a:rPr lang="en-US" altLang="zh-CN" sz="1500" dirty="0" smtClean="0">
                <a:ea typeface="华文楷体" panose="02010600040101010101" pitchFamily="2" charset="-122"/>
              </a:rPr>
              <a:t>;</a:t>
            </a:r>
            <a:endParaRPr lang="en-US" altLang="zh-CN" sz="1500" dirty="0" smtClean="0">
              <a:ea typeface="华文楷体" panose="02010600040101010101" pitchFamily="2" charset="-122"/>
            </a:endParaRPr>
          </a:p>
          <a:p>
            <a:pPr marL="0" indent="0">
              <a:buNone/>
            </a:pPr>
            <a:r>
              <a:rPr lang="en-US" altLang="zh-CN" sz="1500" dirty="0">
                <a:ea typeface="华文楷体" panose="02010600040101010101" pitchFamily="2" charset="-122"/>
              </a:rPr>
              <a:t> </a:t>
            </a:r>
            <a:r>
              <a:rPr lang="en-US" altLang="zh-CN" sz="1500" dirty="0" smtClean="0">
                <a:ea typeface="华文楷体" panose="02010600040101010101" pitchFamily="2" charset="-122"/>
              </a:rPr>
              <a:t>   if (T == NULL) Error(“Element Not Found!”)</a:t>
            </a:r>
            <a:endParaRPr lang="en-US" altLang="zh-CN" sz="1500" dirty="0" smtClean="0">
              <a:ea typeface="华文楷体" panose="02010600040101010101" pitchFamily="2" charset="-122"/>
            </a:endParaRPr>
          </a:p>
          <a:p>
            <a:pPr marL="0" indent="0">
              <a:buNone/>
            </a:pPr>
            <a:r>
              <a:rPr lang="en-US" altLang="zh-CN" sz="1500" dirty="0">
                <a:ea typeface="华文楷体" panose="02010600040101010101" pitchFamily="2" charset="-122"/>
              </a:rPr>
              <a:t> </a:t>
            </a:r>
            <a:r>
              <a:rPr lang="en-US" altLang="zh-CN" sz="1500" dirty="0" smtClean="0">
                <a:ea typeface="华文楷体" panose="02010600040101010101" pitchFamily="2" charset="-122"/>
              </a:rPr>
              <a:t>   else if (X&lt; T-&gt;data)     T-&gt;left = Delete(X, T-&gt;left); //go left</a:t>
            </a:r>
            <a:endParaRPr lang="en-US" altLang="zh-CN" sz="1500" dirty="0" smtClean="0">
              <a:ea typeface="华文楷体" panose="02010600040101010101" pitchFamily="2" charset="-122"/>
            </a:endParaRPr>
          </a:p>
          <a:p>
            <a:pPr marL="0" indent="0">
              <a:buNone/>
            </a:pPr>
            <a:r>
              <a:rPr lang="en-US" altLang="zh-CN" sz="1500" dirty="0" smtClean="0">
                <a:ea typeface="华文楷体" panose="02010600040101010101" pitchFamily="2" charset="-122"/>
              </a:rPr>
              <a:t>    else if (X &gt; T-&gt;data)    T-&gt;right = Delete(X, T-&gt;right); //go right</a:t>
            </a:r>
            <a:endParaRPr lang="en-US" altLang="zh-CN" sz="1500" dirty="0" smtClean="0">
              <a:ea typeface="华文楷体" panose="02010600040101010101" pitchFamily="2" charset="-122"/>
            </a:endParaRPr>
          </a:p>
          <a:p>
            <a:pPr marL="0" indent="0">
              <a:buNone/>
            </a:pPr>
            <a:r>
              <a:rPr lang="en-US" altLang="zh-CN" sz="1500" dirty="0" smtClean="0">
                <a:ea typeface="华文楷体" panose="02010600040101010101" pitchFamily="2" charset="-122"/>
              </a:rPr>
              <a:t>    else if (T-&gt;left &amp;&amp; T-&gt;right) //two children;</a:t>
            </a:r>
            <a:endParaRPr lang="en-US" altLang="zh-CN" sz="1500" dirty="0" smtClean="0">
              <a:ea typeface="华文楷体" panose="02010600040101010101" pitchFamily="2" charset="-122"/>
            </a:endParaRPr>
          </a:p>
          <a:p>
            <a:pPr marL="0" indent="0">
              <a:buNone/>
            </a:pPr>
            <a:r>
              <a:rPr lang="en-US" altLang="zh-CN" sz="1500" dirty="0">
                <a:ea typeface="华文楷体" panose="02010600040101010101" pitchFamily="2" charset="-122"/>
              </a:rPr>
              <a:t> </a:t>
            </a:r>
            <a:r>
              <a:rPr lang="en-US" altLang="zh-CN" sz="1500" dirty="0" smtClean="0">
                <a:ea typeface="华文楷体" panose="02010600040101010101" pitchFamily="2" charset="-122"/>
              </a:rPr>
              <a:t>   {</a:t>
            </a:r>
            <a:endParaRPr lang="en-US" altLang="zh-CN" sz="1500" dirty="0" smtClean="0">
              <a:ea typeface="华文楷体" panose="02010600040101010101" pitchFamily="2" charset="-122"/>
            </a:endParaRPr>
          </a:p>
          <a:p>
            <a:pPr marL="0" indent="0">
              <a:buNone/>
            </a:pPr>
            <a:r>
              <a:rPr lang="en-US" altLang="zh-CN" sz="1500" dirty="0">
                <a:ea typeface="华文楷体" panose="02010600040101010101" pitchFamily="2" charset="-122"/>
              </a:rPr>
              <a:t> </a:t>
            </a:r>
            <a:r>
              <a:rPr lang="en-US" altLang="zh-CN" sz="1500" dirty="0" smtClean="0">
                <a:ea typeface="华文楷体" panose="02010600040101010101" pitchFamily="2" charset="-122"/>
              </a:rPr>
              <a:t>       </a:t>
            </a:r>
            <a:r>
              <a:rPr lang="en-US" altLang="zh-CN" sz="1500" dirty="0" err="1" smtClean="0">
                <a:ea typeface="华文楷体" panose="02010600040101010101" pitchFamily="2" charset="-122"/>
              </a:rPr>
              <a:t>tmp</a:t>
            </a:r>
            <a:r>
              <a:rPr lang="en-US" altLang="zh-CN" sz="1500" dirty="0" smtClean="0">
                <a:ea typeface="华文楷体" panose="02010600040101010101" pitchFamily="2" charset="-122"/>
              </a:rPr>
              <a:t> = </a:t>
            </a:r>
            <a:r>
              <a:rPr lang="en-US" altLang="zh-CN" sz="1500" dirty="0" err="1" smtClean="0">
                <a:ea typeface="华文楷体" panose="02010600040101010101" pitchFamily="2" charset="-122"/>
              </a:rPr>
              <a:t>FindMin</a:t>
            </a:r>
            <a:r>
              <a:rPr lang="en-US" altLang="zh-CN" sz="1500" dirty="0" smtClean="0">
                <a:ea typeface="华文楷体" panose="02010600040101010101" pitchFamily="2" charset="-122"/>
              </a:rPr>
              <a:t>(T-&gt;right); //</a:t>
            </a:r>
            <a:r>
              <a:rPr lang="zh-CN" altLang="en-US" sz="1500" dirty="0" smtClean="0">
                <a:ea typeface="华文楷体" panose="02010600040101010101" pitchFamily="2" charset="-122"/>
              </a:rPr>
              <a:t>找右子树最小值</a:t>
            </a:r>
            <a:endParaRPr lang="en-US" altLang="zh-CN" sz="1500" dirty="0" smtClean="0">
              <a:ea typeface="华文楷体" panose="02010600040101010101" pitchFamily="2" charset="-122"/>
            </a:endParaRPr>
          </a:p>
          <a:p>
            <a:pPr marL="0" indent="0">
              <a:buNone/>
            </a:pPr>
            <a:r>
              <a:rPr lang="en-US" altLang="zh-CN" sz="1500" dirty="0">
                <a:ea typeface="华文楷体" panose="02010600040101010101" pitchFamily="2" charset="-122"/>
              </a:rPr>
              <a:t> </a:t>
            </a:r>
            <a:r>
              <a:rPr lang="en-US" altLang="zh-CN" sz="1500" dirty="0" smtClean="0">
                <a:ea typeface="华文楷体" panose="02010600040101010101" pitchFamily="2" charset="-122"/>
              </a:rPr>
              <a:t>       T-&gt;data = </a:t>
            </a:r>
            <a:r>
              <a:rPr lang="en-US" altLang="zh-CN" sz="1500" dirty="0" err="1" smtClean="0">
                <a:ea typeface="华文楷体" panose="02010600040101010101" pitchFamily="2" charset="-122"/>
              </a:rPr>
              <a:t>tmp</a:t>
            </a:r>
            <a:r>
              <a:rPr lang="en-US" altLang="zh-CN" sz="1500" dirty="0" smtClean="0">
                <a:ea typeface="华文楷体" panose="02010600040101010101" pitchFamily="2" charset="-122"/>
              </a:rPr>
              <a:t>-&gt;data;</a:t>
            </a:r>
            <a:endParaRPr lang="en-US" altLang="zh-CN" sz="1500" dirty="0" smtClean="0">
              <a:ea typeface="华文楷体" panose="02010600040101010101" pitchFamily="2" charset="-122"/>
            </a:endParaRPr>
          </a:p>
          <a:p>
            <a:pPr marL="0" indent="0">
              <a:buNone/>
            </a:pPr>
            <a:r>
              <a:rPr lang="en-US" altLang="zh-CN" sz="1500" dirty="0">
                <a:ea typeface="华文楷体" panose="02010600040101010101" pitchFamily="2" charset="-122"/>
              </a:rPr>
              <a:t> </a:t>
            </a:r>
            <a:r>
              <a:rPr lang="en-US" altLang="zh-CN" sz="1500" dirty="0" smtClean="0">
                <a:ea typeface="华文楷体" panose="02010600040101010101" pitchFamily="2" charset="-122"/>
              </a:rPr>
              <a:t>        T-&gt;right = Delete(T-&gt;data, T-&gt;right);</a:t>
            </a:r>
            <a:endParaRPr lang="en-US" altLang="zh-CN" sz="1500" dirty="0" smtClean="0">
              <a:ea typeface="华文楷体" panose="02010600040101010101" pitchFamily="2" charset="-122"/>
            </a:endParaRPr>
          </a:p>
          <a:p>
            <a:pPr marL="0" indent="0">
              <a:buNone/>
            </a:pPr>
            <a:r>
              <a:rPr lang="en-US" altLang="zh-CN" sz="1500" dirty="0">
                <a:ea typeface="华文楷体" panose="02010600040101010101" pitchFamily="2" charset="-122"/>
              </a:rPr>
              <a:t> </a:t>
            </a:r>
            <a:r>
              <a:rPr lang="en-US" altLang="zh-CN" sz="1500" dirty="0" smtClean="0">
                <a:ea typeface="华文楷体" panose="02010600040101010101" pitchFamily="2" charset="-122"/>
              </a:rPr>
              <a:t>   }</a:t>
            </a:r>
            <a:endParaRPr lang="en-US" altLang="zh-CN" sz="1500" dirty="0" smtClean="0">
              <a:ea typeface="华文楷体" panose="02010600040101010101" pitchFamily="2" charset="-122"/>
            </a:endParaRPr>
          </a:p>
          <a:p>
            <a:pPr marL="0" indent="0">
              <a:buNone/>
            </a:pPr>
            <a:r>
              <a:rPr lang="en-US" altLang="zh-CN" sz="1500" dirty="0">
                <a:ea typeface="华文楷体" panose="02010600040101010101" pitchFamily="2" charset="-122"/>
              </a:rPr>
              <a:t> </a:t>
            </a:r>
            <a:r>
              <a:rPr lang="en-US" altLang="zh-CN" sz="1500" dirty="0" smtClean="0">
                <a:ea typeface="华文楷体" panose="02010600040101010101" pitchFamily="2" charset="-122"/>
              </a:rPr>
              <a:t>   else //one children;</a:t>
            </a:r>
            <a:endParaRPr lang="en-US" altLang="zh-CN" sz="1500" dirty="0" smtClean="0">
              <a:ea typeface="华文楷体" panose="02010600040101010101" pitchFamily="2" charset="-122"/>
            </a:endParaRPr>
          </a:p>
          <a:p>
            <a:pPr marL="0" indent="0">
              <a:buNone/>
            </a:pPr>
            <a:r>
              <a:rPr lang="en-US" altLang="zh-CN" sz="1500" dirty="0">
                <a:ea typeface="华文楷体" panose="02010600040101010101" pitchFamily="2" charset="-122"/>
              </a:rPr>
              <a:t> </a:t>
            </a:r>
            <a:r>
              <a:rPr lang="en-US" altLang="zh-CN" sz="1500" dirty="0" smtClean="0">
                <a:ea typeface="华文楷体" panose="02010600040101010101" pitchFamily="2" charset="-122"/>
              </a:rPr>
              <a:t>   {</a:t>
            </a:r>
            <a:endParaRPr lang="en-US" altLang="zh-CN" sz="1500" dirty="0" smtClean="0">
              <a:ea typeface="华文楷体" panose="02010600040101010101" pitchFamily="2" charset="-122"/>
            </a:endParaRPr>
          </a:p>
          <a:p>
            <a:pPr marL="0" indent="0">
              <a:buNone/>
            </a:pPr>
            <a:r>
              <a:rPr lang="en-US" altLang="zh-CN" sz="1500" dirty="0">
                <a:ea typeface="华文楷体" panose="02010600040101010101" pitchFamily="2" charset="-122"/>
              </a:rPr>
              <a:t> </a:t>
            </a:r>
            <a:r>
              <a:rPr lang="en-US" altLang="zh-CN" sz="1500" dirty="0" smtClean="0">
                <a:ea typeface="华文楷体" panose="02010600040101010101" pitchFamily="2" charset="-122"/>
              </a:rPr>
              <a:t>       </a:t>
            </a:r>
            <a:r>
              <a:rPr lang="en-US" altLang="zh-CN" sz="1500" dirty="0" err="1" smtClean="0">
                <a:ea typeface="华文楷体" panose="02010600040101010101" pitchFamily="2" charset="-122"/>
              </a:rPr>
              <a:t>tmp</a:t>
            </a:r>
            <a:r>
              <a:rPr lang="en-US" altLang="zh-CN" sz="1500" dirty="0" smtClean="0">
                <a:ea typeface="华文楷体" panose="02010600040101010101" pitchFamily="2" charset="-122"/>
              </a:rPr>
              <a:t> = T;</a:t>
            </a:r>
            <a:endParaRPr lang="en-US" altLang="zh-CN" sz="1500" dirty="0" smtClean="0">
              <a:ea typeface="华文楷体" panose="02010600040101010101" pitchFamily="2" charset="-122"/>
            </a:endParaRPr>
          </a:p>
          <a:p>
            <a:pPr marL="0" indent="0">
              <a:buNone/>
            </a:pPr>
            <a:r>
              <a:rPr lang="en-US" altLang="zh-CN" sz="1500" dirty="0">
                <a:ea typeface="华文楷体" panose="02010600040101010101" pitchFamily="2" charset="-122"/>
              </a:rPr>
              <a:t> </a:t>
            </a:r>
            <a:r>
              <a:rPr lang="en-US" altLang="zh-CN" sz="1500" dirty="0" smtClean="0">
                <a:ea typeface="华文楷体" panose="02010600040101010101" pitchFamily="2" charset="-122"/>
              </a:rPr>
              <a:t>       if (T-&gt;left == NULL) T = T-&gt;right;</a:t>
            </a:r>
            <a:endParaRPr lang="en-US" altLang="zh-CN" sz="1500" dirty="0" smtClean="0">
              <a:ea typeface="华文楷体" panose="02010600040101010101" pitchFamily="2" charset="-122"/>
            </a:endParaRPr>
          </a:p>
          <a:p>
            <a:pPr marL="0" indent="0">
              <a:buNone/>
            </a:pPr>
            <a:r>
              <a:rPr lang="en-US" altLang="zh-CN" sz="1500" dirty="0" smtClean="0">
                <a:ea typeface="华文楷体" panose="02010600040101010101" pitchFamily="2" charset="-122"/>
              </a:rPr>
              <a:t>        else if(T-&gt;right == NULL) T = T-&gt;left;</a:t>
            </a:r>
            <a:endParaRPr lang="en-US" altLang="zh-CN" sz="1500" dirty="0" smtClean="0">
              <a:ea typeface="华文楷体" panose="02010600040101010101" pitchFamily="2" charset="-122"/>
            </a:endParaRPr>
          </a:p>
          <a:p>
            <a:pPr marL="0" indent="0">
              <a:buNone/>
            </a:pPr>
            <a:r>
              <a:rPr lang="en-US" altLang="zh-CN" sz="1500" dirty="0">
                <a:ea typeface="华文楷体" panose="02010600040101010101" pitchFamily="2" charset="-122"/>
              </a:rPr>
              <a:t> </a:t>
            </a:r>
            <a:r>
              <a:rPr lang="en-US" altLang="zh-CN" sz="1500" dirty="0" smtClean="0">
                <a:ea typeface="华文楷体" panose="02010600040101010101" pitchFamily="2" charset="-122"/>
              </a:rPr>
              <a:t>       free(</a:t>
            </a:r>
            <a:r>
              <a:rPr lang="en-US" altLang="zh-CN" sz="1500" dirty="0" err="1" smtClean="0">
                <a:ea typeface="华文楷体" panose="02010600040101010101" pitchFamily="2" charset="-122"/>
              </a:rPr>
              <a:t>tmp</a:t>
            </a:r>
            <a:r>
              <a:rPr lang="en-US" altLang="zh-CN" sz="1500" dirty="0" smtClean="0">
                <a:ea typeface="华文楷体" panose="02010600040101010101" pitchFamily="2" charset="-122"/>
              </a:rPr>
              <a:t>);</a:t>
            </a:r>
            <a:endParaRPr lang="en-US" altLang="zh-CN" sz="1500" dirty="0" smtClean="0">
              <a:ea typeface="华文楷体" panose="02010600040101010101" pitchFamily="2" charset="-122"/>
            </a:endParaRPr>
          </a:p>
          <a:p>
            <a:pPr marL="0" indent="0">
              <a:buNone/>
            </a:pPr>
            <a:r>
              <a:rPr lang="en-US" altLang="zh-CN" sz="1500" dirty="0" smtClean="0">
                <a:ea typeface="华文楷体" panose="02010600040101010101" pitchFamily="2" charset="-122"/>
              </a:rPr>
              <a:t>    }</a:t>
            </a:r>
            <a:endParaRPr lang="en-US" altLang="zh-CN" sz="1500" dirty="0" smtClean="0">
              <a:ea typeface="华文楷体" panose="02010600040101010101" pitchFamily="2" charset="-122"/>
            </a:endParaRPr>
          </a:p>
          <a:p>
            <a:pPr marL="0" indent="0">
              <a:buNone/>
            </a:pPr>
            <a:r>
              <a:rPr lang="en-US" altLang="zh-CN" sz="1500" b="1" dirty="0" smtClean="0">
                <a:solidFill>
                  <a:srgbClr val="C00000"/>
                </a:solidFill>
                <a:ea typeface="华文楷体" panose="02010600040101010101" pitchFamily="2" charset="-122"/>
              </a:rPr>
              <a:t>    return T</a:t>
            </a:r>
            <a:r>
              <a:rPr lang="en-US" altLang="zh-CN" sz="1500" b="1" dirty="0">
                <a:solidFill>
                  <a:srgbClr val="C00000"/>
                </a:solidFill>
                <a:ea typeface="华文楷体" panose="02010600040101010101" pitchFamily="2" charset="-122"/>
              </a:rPr>
              <a:t>;</a:t>
            </a:r>
            <a:endParaRPr lang="en-US" altLang="zh-CN" sz="1500" b="1" dirty="0" smtClean="0">
              <a:solidFill>
                <a:srgbClr val="C00000"/>
              </a:solidFill>
              <a:ea typeface="华文楷体" panose="02010600040101010101" pitchFamily="2" charset="-122"/>
            </a:endParaRPr>
          </a:p>
          <a:p>
            <a:pPr marL="0" indent="0">
              <a:buNone/>
            </a:pPr>
            <a:r>
              <a:rPr lang="en-US" altLang="zh-CN" sz="1500" dirty="0" smtClean="0">
                <a:ea typeface="华文楷体" panose="02010600040101010101" pitchFamily="2" charset="-122"/>
              </a:rPr>
              <a:t>}</a:t>
            </a:r>
            <a:endParaRPr lang="zh-CN" altLang="en-US" sz="1500" dirty="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3379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33797"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800000"/>
                </a:solidFill>
                <a:ea typeface="华文楷体" panose="02010600040101010101" pitchFamily="2" charset="-122"/>
              </a:rPr>
              <a:t>[4. </a:t>
            </a:r>
            <a:r>
              <a:rPr lang="zh-CN" altLang="en-US" sz="2400" b="1" dirty="0" smtClean="0">
                <a:solidFill>
                  <a:srgbClr val="800000"/>
                </a:solidFill>
                <a:ea typeface="华文楷体" panose="02010600040101010101" pitchFamily="2" charset="-122"/>
              </a:rPr>
              <a:t>性能分析</a:t>
            </a:r>
            <a:r>
              <a:rPr lang="en-US" altLang="zh-CN" sz="2400" b="1" dirty="0" smtClean="0">
                <a:solidFill>
                  <a:srgbClr val="800000"/>
                </a:solidFill>
                <a:ea typeface="华文楷体" panose="02010600040101010101" pitchFamily="2" charset="-122"/>
              </a:rPr>
              <a:t>]</a:t>
            </a:r>
            <a:endParaRPr lang="en-US" altLang="zh-CN" sz="2400" b="1" dirty="0" smtClean="0">
              <a:solidFill>
                <a:srgbClr val="800000"/>
              </a:solidFill>
              <a:ea typeface="华文楷体" panose="02010600040101010101" pitchFamily="2" charset="-122"/>
            </a:endParaRPr>
          </a:p>
          <a:p>
            <a:pPr eaLnBrk="1" hangingPunct="1">
              <a:lnSpc>
                <a:spcPct val="80000"/>
              </a:lnSpc>
            </a:pPr>
            <a:r>
              <a:rPr lang="zh-CN" altLang="en-US" sz="2400" dirty="0" smtClean="0">
                <a:ea typeface="华文楷体" panose="02010600040101010101" pitchFamily="2" charset="-122"/>
              </a:rPr>
              <a:t>给定树的形态，等概率查找成功时的</a:t>
            </a:r>
            <a:r>
              <a:rPr lang="en-US" altLang="zh-CN" sz="2400" dirty="0" smtClean="0">
                <a:ea typeface="华文楷体" panose="02010600040101010101" pitchFamily="2" charset="-122"/>
              </a:rPr>
              <a:t>ASL=</a:t>
            </a:r>
            <a:r>
              <a:rPr lang="en-US" altLang="zh-CN" sz="2400" dirty="0" smtClean="0">
                <a:ea typeface="华文楷体" panose="02010600040101010101" pitchFamily="2" charset="-122"/>
                <a:sym typeface="Symbol" panose="05050102010706020507" pitchFamily="18" charset="2"/>
              </a:rPr>
              <a:t>c</a:t>
            </a:r>
            <a:r>
              <a:rPr lang="en-US" altLang="zh-CN" sz="2400" baseline="-25000" dirty="0" smtClean="0">
                <a:ea typeface="华文楷体" panose="02010600040101010101" pitchFamily="2" charset="-122"/>
                <a:sym typeface="Symbol" panose="05050102010706020507" pitchFamily="18" charset="2"/>
              </a:rPr>
              <a:t>i </a:t>
            </a:r>
            <a:r>
              <a:rPr lang="en-US" altLang="zh-CN" sz="2400" dirty="0" smtClean="0">
                <a:ea typeface="华文楷体" panose="02010600040101010101" pitchFamily="2" charset="-122"/>
                <a:sym typeface="Symbol" panose="05050102010706020507" pitchFamily="18" charset="2"/>
              </a:rPr>
              <a:t>/n</a:t>
            </a:r>
            <a:endParaRPr lang="en-US" altLang="zh-CN" sz="2400" baseline="-25000" dirty="0" smtClean="0">
              <a:ea typeface="华文楷体" panose="02010600040101010101" pitchFamily="2" charset="-122"/>
              <a:sym typeface="Symbol" panose="05050102010706020507" pitchFamily="18" charset="2"/>
            </a:endParaRPr>
          </a:p>
          <a:p>
            <a:pPr lvl="1" eaLnBrk="1" hangingPunct="1">
              <a:lnSpc>
                <a:spcPct val="80000"/>
              </a:lnSpc>
            </a:pPr>
            <a:r>
              <a:rPr lang="zh-CN" altLang="en-US" sz="2400" dirty="0" smtClean="0">
                <a:ea typeface="华文楷体" panose="02010600040101010101" pitchFamily="2" charset="-122"/>
                <a:sym typeface="Symbol" panose="05050102010706020507" pitchFamily="18" charset="2"/>
              </a:rPr>
              <a:t>最差</a:t>
            </a:r>
            <a:r>
              <a:rPr lang="en-US" altLang="zh-CN" sz="2400" dirty="0" smtClean="0">
                <a:ea typeface="华文楷体" panose="02010600040101010101" pitchFamily="2" charset="-122"/>
                <a:sym typeface="Symbol" panose="05050102010706020507" pitchFamily="18" charset="2"/>
              </a:rPr>
              <a:t>(</a:t>
            </a:r>
            <a:r>
              <a:rPr lang="zh-CN" altLang="en-US" sz="2400" dirty="0" smtClean="0">
                <a:ea typeface="华文楷体" panose="02010600040101010101" pitchFamily="2" charset="-122"/>
                <a:sym typeface="Symbol" panose="05050102010706020507" pitchFamily="18" charset="2"/>
              </a:rPr>
              <a:t>单支树</a:t>
            </a:r>
            <a:r>
              <a:rPr lang="en-US" altLang="zh-CN" sz="2400" dirty="0" smtClean="0">
                <a:ea typeface="华文楷体" panose="02010600040101010101" pitchFamily="2" charset="-122"/>
                <a:sym typeface="Symbol" panose="05050102010706020507" pitchFamily="18" charset="2"/>
              </a:rPr>
              <a:t>)</a:t>
            </a:r>
            <a:r>
              <a:rPr lang="zh-CN" altLang="en-US"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sym typeface="Symbol" panose="05050102010706020507" pitchFamily="18" charset="2"/>
              </a:rPr>
              <a:t>(n+1)/2</a:t>
            </a:r>
            <a:endParaRPr lang="en-US" altLang="zh-CN" sz="2400" dirty="0" smtClean="0">
              <a:ea typeface="华文楷体" panose="02010600040101010101" pitchFamily="2" charset="-122"/>
              <a:sym typeface="Symbol" panose="05050102010706020507" pitchFamily="18" charset="2"/>
            </a:endParaRPr>
          </a:p>
          <a:p>
            <a:pPr lvl="1" eaLnBrk="1" hangingPunct="1">
              <a:lnSpc>
                <a:spcPct val="80000"/>
              </a:lnSpc>
            </a:pPr>
            <a:r>
              <a:rPr lang="zh-CN" altLang="en-US" sz="2400" dirty="0" smtClean="0">
                <a:ea typeface="华文楷体" panose="02010600040101010101" pitchFamily="2" charset="-122"/>
                <a:sym typeface="Symbol" panose="05050102010706020507" pitchFamily="18" charset="2"/>
              </a:rPr>
              <a:t>最好</a:t>
            </a:r>
            <a:r>
              <a:rPr lang="en-US" altLang="zh-CN" sz="2400" dirty="0" smtClean="0">
                <a:ea typeface="华文楷体" panose="02010600040101010101" pitchFamily="2" charset="-122"/>
                <a:sym typeface="Symbol" panose="05050102010706020507" pitchFamily="18" charset="2"/>
              </a:rPr>
              <a:t>(</a:t>
            </a:r>
            <a:r>
              <a:rPr lang="zh-CN" altLang="en-US" sz="2400" dirty="0" smtClean="0">
                <a:ea typeface="华文楷体" panose="02010600040101010101" pitchFamily="2" charset="-122"/>
                <a:sym typeface="Symbol" panose="05050102010706020507" pitchFamily="18" charset="2"/>
              </a:rPr>
              <a:t>类似折半查找的判定树</a:t>
            </a:r>
            <a:r>
              <a:rPr lang="en-US" altLang="zh-CN" sz="2400" dirty="0" smtClean="0">
                <a:ea typeface="华文楷体" panose="02010600040101010101" pitchFamily="2" charset="-122"/>
                <a:sym typeface="Symbol" panose="05050102010706020507" pitchFamily="18" charset="2"/>
              </a:rPr>
              <a:t>)</a:t>
            </a:r>
            <a:r>
              <a:rPr lang="zh-CN" altLang="en-US"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sym typeface="Symbol" panose="05050102010706020507" pitchFamily="18" charset="2"/>
              </a:rPr>
              <a:t>log</a:t>
            </a:r>
            <a:r>
              <a:rPr lang="en-US" altLang="zh-CN" sz="2400" baseline="-25000" dirty="0" smtClean="0">
                <a:ea typeface="华文楷体" panose="02010600040101010101" pitchFamily="2" charset="-122"/>
                <a:sym typeface="Symbol" panose="05050102010706020507" pitchFamily="18" charset="2"/>
              </a:rPr>
              <a:t>2</a:t>
            </a:r>
            <a:r>
              <a:rPr lang="en-US" altLang="zh-CN" sz="2400" dirty="0" smtClean="0">
                <a:ea typeface="华文楷体" panose="02010600040101010101" pitchFamily="2" charset="-122"/>
                <a:sym typeface="Symbol" panose="05050102010706020507" pitchFamily="18" charset="2"/>
              </a:rPr>
              <a:t>(n+1)-1</a:t>
            </a:r>
            <a:endParaRPr lang="en-US" altLang="zh-CN" sz="2400" dirty="0" smtClean="0">
              <a:ea typeface="华文楷体" panose="02010600040101010101" pitchFamily="2" charset="-122"/>
              <a:sym typeface="Symbol" panose="05050102010706020507" pitchFamily="18" charset="2"/>
            </a:endParaRPr>
          </a:p>
          <a:p>
            <a:pPr lvl="1" eaLnBrk="1" hangingPunct="1">
              <a:lnSpc>
                <a:spcPct val="80000"/>
              </a:lnSpc>
            </a:pPr>
            <a:r>
              <a:rPr lang="zh-CN" altLang="zh-CN" sz="2400" dirty="0" smtClean="0">
                <a:ea typeface="华文楷体" panose="02010600040101010101" pitchFamily="2" charset="-122"/>
                <a:sym typeface="Symbol" panose="05050102010706020507" pitchFamily="18" charset="2"/>
              </a:rPr>
              <a:t>随机：1+4</a:t>
            </a:r>
            <a:r>
              <a:rPr lang="en-US" altLang="zh-CN" sz="2400" dirty="0" smtClean="0">
                <a:ea typeface="华文楷体" panose="02010600040101010101" pitchFamily="2" charset="-122"/>
                <a:sym typeface="Symbol" panose="05050102010706020507" pitchFamily="18" charset="2"/>
              </a:rPr>
              <a:t>log</a:t>
            </a:r>
            <a:r>
              <a:rPr lang="en-US" altLang="zh-CN" sz="2400" baseline="-25000" dirty="0" smtClean="0">
                <a:ea typeface="华文楷体" panose="02010600040101010101" pitchFamily="2" charset="-122"/>
                <a:sym typeface="Symbol" panose="05050102010706020507" pitchFamily="18" charset="2"/>
              </a:rPr>
              <a:t>2</a:t>
            </a:r>
            <a:r>
              <a:rPr lang="en-US" altLang="zh-CN" sz="2400" dirty="0" smtClean="0">
                <a:ea typeface="华文楷体" panose="02010600040101010101" pitchFamily="2" charset="-122"/>
                <a:sym typeface="Symbol" panose="05050102010706020507" pitchFamily="18" charset="2"/>
              </a:rPr>
              <a:t>n</a:t>
            </a:r>
            <a:endParaRPr lang="en-US" altLang="zh-CN" sz="2400" dirty="0" smtClean="0">
              <a:ea typeface="华文楷体" panose="02010600040101010101" pitchFamily="2" charset="-122"/>
              <a:sym typeface="Symbol" panose="05050102010706020507" pitchFamily="18" charset="2"/>
            </a:endParaRPr>
          </a:p>
          <a:p>
            <a:pPr eaLnBrk="1" hangingPunct="1"/>
            <a:r>
              <a:rPr lang="zh-CN" altLang="en-US" sz="2400" dirty="0" smtClean="0">
                <a:ea typeface="华文楷体" panose="02010600040101010101" pitchFamily="2" charset="-122"/>
              </a:rPr>
              <a:t>关键字有序出现时，构造出“退化”的二叉排序树，树深为</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，各种操作代价</a:t>
            </a:r>
            <a:r>
              <a:rPr lang="en-US" altLang="zh-CN" sz="2400" dirty="0" smtClean="0">
                <a:ea typeface="华文楷体" panose="02010600040101010101" pitchFamily="2" charset="-122"/>
              </a:rPr>
              <a:t>O(n)</a:t>
            </a:r>
            <a:r>
              <a:rPr lang="zh-CN" altLang="en-US" sz="2400" dirty="0" smtClean="0">
                <a:ea typeface="华文楷体" panose="02010600040101010101" pitchFamily="2" charset="-122"/>
              </a:rPr>
              <a:t>。避免方法：采用平衡二叉树</a:t>
            </a:r>
            <a:endParaRPr lang="zh-CN" altLang="en-US" sz="24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页脚占位符 3"/>
          <p:cNvSpPr>
            <a:spLocks noGrp="1"/>
          </p:cNvSpPr>
          <p:nvPr>
            <p:ph type="ftr" sz="quarter" idx="10"/>
          </p:nvPr>
        </p:nvSpPr>
        <p:spPr/>
        <p:txBody>
          <a:bodyPr/>
          <a:lstStyle/>
          <a:p>
            <a:pPr>
              <a:defRPr/>
            </a:pPr>
            <a:r>
              <a:rPr lang="en-US" altLang="zh-CN"/>
              <a:t>BUPT SCST</a:t>
            </a:r>
            <a:endParaRPr lang="en-US" altLang="zh-CN"/>
          </a:p>
        </p:txBody>
      </p:sp>
      <p:sp>
        <p:nvSpPr>
          <p:cNvPr id="54" name="日期占位符 5"/>
          <p:cNvSpPr>
            <a:spLocks noGrp="1"/>
          </p:cNvSpPr>
          <p:nvPr>
            <p:ph type="dt" sz="quarter" idx="12"/>
          </p:nvPr>
        </p:nvSpPr>
        <p:spPr/>
        <p:txBody>
          <a:bodyPr/>
          <a:lstStyle/>
          <a:p>
            <a:pPr>
              <a:defRPr/>
            </a:pPr>
            <a:r>
              <a:rPr lang="en-US" altLang="zh-CN"/>
              <a:t>BUPT</a:t>
            </a:r>
            <a:endParaRPr lang="en-US" altLang="zh-CN"/>
          </a:p>
        </p:txBody>
      </p:sp>
      <p:sp>
        <p:nvSpPr>
          <p:cNvPr id="34820" name="Rectangle 2"/>
          <p:cNvSpPr>
            <a:spLocks noGrp="1" noChangeArrowheads="1"/>
          </p:cNvSpPr>
          <p:nvPr>
            <p:ph type="title"/>
          </p:nvPr>
        </p:nvSpPr>
        <p:spPr/>
        <p:txBody>
          <a:bodyPr/>
          <a:lstStyle/>
          <a:p>
            <a:pPr algn="l" eaLnBrk="1" hangingPunct="1"/>
            <a:r>
              <a:rPr lang="en-US" altLang="zh-CN" sz="2800" dirty="0" smtClean="0">
                <a:ea typeface="华文楷体" panose="02010600040101010101" pitchFamily="2" charset="-122"/>
              </a:rPr>
              <a:t>8.7 </a:t>
            </a:r>
            <a:r>
              <a:rPr lang="zh-CN" altLang="en-US" sz="2800" dirty="0" smtClean="0">
                <a:ea typeface="华文楷体" panose="02010600040101010101" pitchFamily="2" charset="-122"/>
              </a:rPr>
              <a:t>平衡二叉树</a:t>
            </a:r>
            <a:r>
              <a:rPr lang="en-US" altLang="zh-CN" sz="2800" dirty="0" smtClean="0">
                <a:ea typeface="华文楷体" panose="02010600040101010101" pitchFamily="2" charset="-122"/>
              </a:rPr>
              <a:t>(AVL</a:t>
            </a:r>
            <a:r>
              <a:rPr lang="zh-CN" altLang="en-US" sz="2800" dirty="0" smtClean="0">
                <a:ea typeface="华文楷体" panose="02010600040101010101" pitchFamily="2" charset="-122"/>
              </a:rPr>
              <a:t>树</a:t>
            </a:r>
            <a:r>
              <a:rPr lang="en-US" altLang="zh-CN" sz="2800" dirty="0" smtClean="0">
                <a:ea typeface="华文楷体" panose="02010600040101010101" pitchFamily="2" charset="-122"/>
              </a:rPr>
              <a:t>)</a:t>
            </a:r>
            <a:endParaRPr lang="en-US" altLang="zh-CN" sz="2800" dirty="0" smtClean="0">
              <a:ea typeface="华文楷体" panose="02010600040101010101" pitchFamily="2" charset="-122"/>
            </a:endParaRPr>
          </a:p>
        </p:txBody>
      </p:sp>
      <p:sp>
        <p:nvSpPr>
          <p:cNvPr id="34821"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800000"/>
                </a:solidFill>
                <a:ea typeface="华文楷体" panose="02010600040101010101" pitchFamily="2" charset="-122"/>
              </a:rPr>
              <a:t>[1. </a:t>
            </a:r>
            <a:r>
              <a:rPr lang="zh-CN" altLang="en-US" sz="2400" b="1" dirty="0" smtClean="0">
                <a:solidFill>
                  <a:srgbClr val="800000"/>
                </a:solidFill>
                <a:ea typeface="华文楷体" panose="02010600040101010101" pitchFamily="2" charset="-122"/>
              </a:rPr>
              <a:t>定义</a:t>
            </a:r>
            <a:r>
              <a:rPr lang="en-US" altLang="zh-CN" sz="2400" b="1" dirty="0" smtClean="0">
                <a:solidFill>
                  <a:srgbClr val="800000"/>
                </a:solidFill>
                <a:ea typeface="华文楷体" panose="02010600040101010101" pitchFamily="2" charset="-122"/>
              </a:rPr>
              <a:t>]</a:t>
            </a:r>
            <a:endParaRPr lang="en-US" altLang="zh-CN" sz="2400" dirty="0" smtClean="0">
              <a:solidFill>
                <a:srgbClr val="800000"/>
              </a:solidFill>
              <a:ea typeface="华文楷体" panose="02010600040101010101" pitchFamily="2" charset="-122"/>
            </a:endParaRPr>
          </a:p>
          <a:p>
            <a:pPr eaLnBrk="1" hangingPunct="1">
              <a:buFont typeface="Wingdings" panose="05000000000000000000" pitchFamily="2" charset="2"/>
              <a:buNone/>
            </a:pPr>
            <a:r>
              <a:rPr lang="zh-CN" altLang="en-US" sz="2400" b="1" dirty="0" smtClean="0">
                <a:solidFill>
                  <a:srgbClr val="FF3300"/>
                </a:solidFill>
                <a:ea typeface="华文楷体" panose="02010600040101010101" pitchFamily="2" charset="-122"/>
              </a:rPr>
              <a:t>平衡二叉树</a:t>
            </a:r>
            <a:r>
              <a:rPr lang="zh-CN" altLang="en-US" sz="2400" dirty="0" smtClean="0">
                <a:ea typeface="华文楷体" panose="02010600040101010101" pitchFamily="2" charset="-122"/>
              </a:rPr>
              <a:t>或者是空树，或者是满足如下性质的</a:t>
            </a:r>
            <a:r>
              <a:rPr lang="zh-CN" altLang="en-US" sz="2400" dirty="0" smtClean="0">
                <a:solidFill>
                  <a:schemeClr val="accent2"/>
                </a:solidFill>
                <a:ea typeface="华文楷体" panose="02010600040101010101" pitchFamily="2" charset="-122"/>
              </a:rPr>
              <a:t>二叉排序树</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它的左、右子树的高度之差的绝对值不超过</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其左右子树本身又各是一棵平衡二叉树。</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二叉树上结点的</a:t>
            </a:r>
            <a:r>
              <a:rPr lang="zh-CN" altLang="en-US" sz="2400" b="1" dirty="0" smtClean="0">
                <a:solidFill>
                  <a:srgbClr val="FF3300"/>
                </a:solidFill>
                <a:ea typeface="华文楷体" panose="02010600040101010101" pitchFamily="2" charset="-122"/>
              </a:rPr>
              <a:t>平衡因子</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该结点的左子树高度减去右子树的高度</a:t>
            </a:r>
            <a:r>
              <a:rPr lang="zh-CN" altLang="en-US" dirty="0" smtClean="0">
                <a:ea typeface="华文楷体" panose="02010600040101010101" pitchFamily="2" charset="-122"/>
              </a:rPr>
              <a:t>。</a:t>
            </a:r>
            <a:endParaRPr lang="zh-CN" altLang="en-US" dirty="0" smtClean="0">
              <a:ea typeface="华文楷体" panose="02010600040101010101" pitchFamily="2" charset="-122"/>
            </a:endParaRPr>
          </a:p>
        </p:txBody>
      </p:sp>
      <p:sp>
        <p:nvSpPr>
          <p:cNvPr id="34822" name="Oval 4"/>
          <p:cNvSpPr>
            <a:spLocks noChangeArrowheads="1"/>
          </p:cNvSpPr>
          <p:nvPr/>
        </p:nvSpPr>
        <p:spPr bwMode="auto">
          <a:xfrm>
            <a:off x="2438400" y="41910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4823" name="Oval 5"/>
          <p:cNvSpPr>
            <a:spLocks noChangeArrowheads="1"/>
          </p:cNvSpPr>
          <p:nvPr/>
        </p:nvSpPr>
        <p:spPr bwMode="auto">
          <a:xfrm>
            <a:off x="1524000" y="45720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4824" name="Oval 6"/>
          <p:cNvSpPr>
            <a:spLocks noChangeArrowheads="1"/>
          </p:cNvSpPr>
          <p:nvPr/>
        </p:nvSpPr>
        <p:spPr bwMode="auto">
          <a:xfrm>
            <a:off x="3352800" y="45720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4825" name="Oval 7"/>
          <p:cNvSpPr>
            <a:spLocks noChangeArrowheads="1"/>
          </p:cNvSpPr>
          <p:nvPr/>
        </p:nvSpPr>
        <p:spPr bwMode="auto">
          <a:xfrm>
            <a:off x="1066800" y="50292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4826" name="Oval 8"/>
          <p:cNvSpPr>
            <a:spLocks noChangeArrowheads="1"/>
          </p:cNvSpPr>
          <p:nvPr/>
        </p:nvSpPr>
        <p:spPr bwMode="auto">
          <a:xfrm>
            <a:off x="2057400" y="50292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4827" name="Oval 9"/>
          <p:cNvSpPr>
            <a:spLocks noChangeArrowheads="1"/>
          </p:cNvSpPr>
          <p:nvPr/>
        </p:nvSpPr>
        <p:spPr bwMode="auto">
          <a:xfrm>
            <a:off x="3886200" y="50292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4828" name="Oval 10"/>
          <p:cNvSpPr>
            <a:spLocks noChangeArrowheads="1"/>
          </p:cNvSpPr>
          <p:nvPr/>
        </p:nvSpPr>
        <p:spPr bwMode="auto">
          <a:xfrm>
            <a:off x="1600200" y="54864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4829" name="Oval 11"/>
          <p:cNvSpPr>
            <a:spLocks noChangeArrowheads="1"/>
          </p:cNvSpPr>
          <p:nvPr/>
        </p:nvSpPr>
        <p:spPr bwMode="auto">
          <a:xfrm>
            <a:off x="5562600" y="41910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4830" name="Oval 12"/>
          <p:cNvSpPr>
            <a:spLocks noChangeArrowheads="1"/>
          </p:cNvSpPr>
          <p:nvPr/>
        </p:nvSpPr>
        <p:spPr bwMode="auto">
          <a:xfrm>
            <a:off x="4648200" y="45720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4831" name="Oval 13"/>
          <p:cNvSpPr>
            <a:spLocks noChangeArrowheads="1"/>
          </p:cNvSpPr>
          <p:nvPr/>
        </p:nvSpPr>
        <p:spPr bwMode="auto">
          <a:xfrm>
            <a:off x="6400800" y="45720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4832" name="Oval 14"/>
          <p:cNvSpPr>
            <a:spLocks noChangeArrowheads="1"/>
          </p:cNvSpPr>
          <p:nvPr/>
        </p:nvSpPr>
        <p:spPr bwMode="auto">
          <a:xfrm>
            <a:off x="6019800" y="50292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4833" name="Oval 15"/>
          <p:cNvSpPr>
            <a:spLocks noChangeArrowheads="1"/>
          </p:cNvSpPr>
          <p:nvPr/>
        </p:nvSpPr>
        <p:spPr bwMode="auto">
          <a:xfrm>
            <a:off x="6477000" y="54864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4834" name="Line 16"/>
          <p:cNvSpPr>
            <a:spLocks noChangeShapeType="1"/>
          </p:cNvSpPr>
          <p:nvPr/>
        </p:nvSpPr>
        <p:spPr bwMode="auto">
          <a:xfrm flipH="1">
            <a:off x="1828800" y="4419600"/>
            <a:ext cx="6096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35" name="Line 17"/>
          <p:cNvSpPr>
            <a:spLocks noChangeShapeType="1"/>
          </p:cNvSpPr>
          <p:nvPr/>
        </p:nvSpPr>
        <p:spPr bwMode="auto">
          <a:xfrm>
            <a:off x="2819400" y="4495800"/>
            <a:ext cx="5334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36" name="Line 18"/>
          <p:cNvSpPr>
            <a:spLocks noChangeShapeType="1"/>
          </p:cNvSpPr>
          <p:nvPr/>
        </p:nvSpPr>
        <p:spPr bwMode="auto">
          <a:xfrm>
            <a:off x="3657600" y="4876800"/>
            <a:ext cx="3048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37" name="Line 19"/>
          <p:cNvSpPr>
            <a:spLocks noChangeShapeType="1"/>
          </p:cNvSpPr>
          <p:nvPr/>
        </p:nvSpPr>
        <p:spPr bwMode="auto">
          <a:xfrm flipH="1">
            <a:off x="1219200" y="4800600"/>
            <a:ext cx="3048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38" name="Line 20"/>
          <p:cNvSpPr>
            <a:spLocks noChangeShapeType="1"/>
          </p:cNvSpPr>
          <p:nvPr/>
        </p:nvSpPr>
        <p:spPr bwMode="auto">
          <a:xfrm>
            <a:off x="1828800" y="4953000"/>
            <a:ext cx="2286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39" name="Line 21"/>
          <p:cNvSpPr>
            <a:spLocks noChangeShapeType="1"/>
          </p:cNvSpPr>
          <p:nvPr/>
        </p:nvSpPr>
        <p:spPr bwMode="auto">
          <a:xfrm flipH="1">
            <a:off x="1828800" y="5334000"/>
            <a:ext cx="3048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40" name="Line 22"/>
          <p:cNvSpPr>
            <a:spLocks noChangeShapeType="1"/>
          </p:cNvSpPr>
          <p:nvPr/>
        </p:nvSpPr>
        <p:spPr bwMode="auto">
          <a:xfrm flipH="1">
            <a:off x="4953000" y="4343400"/>
            <a:ext cx="6096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41" name="Line 23"/>
          <p:cNvSpPr>
            <a:spLocks noChangeShapeType="1"/>
          </p:cNvSpPr>
          <p:nvPr/>
        </p:nvSpPr>
        <p:spPr bwMode="auto">
          <a:xfrm>
            <a:off x="5943600" y="4419600"/>
            <a:ext cx="5334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42" name="Line 24"/>
          <p:cNvSpPr>
            <a:spLocks noChangeShapeType="1"/>
          </p:cNvSpPr>
          <p:nvPr/>
        </p:nvSpPr>
        <p:spPr bwMode="auto">
          <a:xfrm flipH="1">
            <a:off x="6248400" y="4876800"/>
            <a:ext cx="1524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43" name="Line 25"/>
          <p:cNvSpPr>
            <a:spLocks noChangeShapeType="1"/>
          </p:cNvSpPr>
          <p:nvPr/>
        </p:nvSpPr>
        <p:spPr bwMode="auto">
          <a:xfrm>
            <a:off x="6324600" y="5334000"/>
            <a:ext cx="3048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4844" name="Text Box 26"/>
          <p:cNvSpPr txBox="1">
            <a:spLocks noChangeArrowheads="1"/>
          </p:cNvSpPr>
          <p:nvPr/>
        </p:nvSpPr>
        <p:spPr bwMode="auto">
          <a:xfrm>
            <a:off x="2057400" y="57150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CN" altLang="en-US" sz="2400" dirty="0">
                <a:latin typeface="Times New Roman" panose="02020603050405020304" pitchFamily="18" charset="0"/>
                <a:ea typeface="黑体" panose="02010609060101010101" pitchFamily="49" charset="-122"/>
              </a:rPr>
              <a:t>平衡二叉树</a:t>
            </a:r>
            <a:endParaRPr kumimoji="1" lang="zh-CN" altLang="en-US" sz="2400" dirty="0">
              <a:latin typeface="Times New Roman" panose="02020603050405020304" pitchFamily="18" charset="0"/>
              <a:ea typeface="黑体" panose="02010609060101010101" pitchFamily="49" charset="-122"/>
            </a:endParaRPr>
          </a:p>
        </p:txBody>
      </p:sp>
      <p:sp>
        <p:nvSpPr>
          <p:cNvPr id="34845" name="Text Box 27"/>
          <p:cNvSpPr txBox="1">
            <a:spLocks noChangeArrowheads="1"/>
          </p:cNvSpPr>
          <p:nvPr/>
        </p:nvSpPr>
        <p:spPr bwMode="auto">
          <a:xfrm>
            <a:off x="4648200" y="5715000"/>
            <a:ext cx="236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CN" altLang="en-US" sz="2400" dirty="0">
                <a:latin typeface="Times New Roman" panose="02020603050405020304" pitchFamily="18" charset="0"/>
                <a:ea typeface="黑体" panose="02010609060101010101" pitchFamily="49" charset="-122"/>
              </a:rPr>
              <a:t>非平衡二叉树</a:t>
            </a:r>
            <a:endParaRPr kumimoji="1" lang="zh-CN" altLang="en-US" sz="2400" dirty="0">
              <a:latin typeface="Times New Roman" panose="02020603050405020304" pitchFamily="18" charset="0"/>
              <a:ea typeface="黑体" panose="02010609060101010101" pitchFamily="49" charset="-122"/>
            </a:endParaRPr>
          </a:p>
        </p:txBody>
      </p:sp>
      <p:sp>
        <p:nvSpPr>
          <p:cNvPr id="34846" name="Text Box 28"/>
          <p:cNvSpPr txBox="1">
            <a:spLocks noChangeArrowheads="1"/>
          </p:cNvSpPr>
          <p:nvPr/>
        </p:nvSpPr>
        <p:spPr bwMode="auto">
          <a:xfrm>
            <a:off x="2362200" y="41513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30</a:t>
            </a:r>
            <a:endParaRPr lang="en-US" altLang="zh-CN" sz="1800" dirty="0">
              <a:latin typeface="Times New Roman" panose="02020603050405020304" pitchFamily="18" charset="0"/>
              <a:ea typeface="华文楷体" panose="02010600040101010101" pitchFamily="2" charset="-122"/>
            </a:endParaRPr>
          </a:p>
        </p:txBody>
      </p:sp>
      <p:sp>
        <p:nvSpPr>
          <p:cNvPr id="34847" name="Text Box 29"/>
          <p:cNvSpPr txBox="1">
            <a:spLocks noChangeArrowheads="1"/>
          </p:cNvSpPr>
          <p:nvPr/>
        </p:nvSpPr>
        <p:spPr bwMode="auto">
          <a:xfrm>
            <a:off x="1447800" y="45323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20</a:t>
            </a:r>
            <a:endParaRPr lang="en-US" altLang="zh-CN" sz="1800" dirty="0">
              <a:latin typeface="Times New Roman" panose="02020603050405020304" pitchFamily="18" charset="0"/>
              <a:ea typeface="华文楷体" panose="02010600040101010101" pitchFamily="2" charset="-122"/>
            </a:endParaRPr>
          </a:p>
        </p:txBody>
      </p:sp>
      <p:sp>
        <p:nvSpPr>
          <p:cNvPr id="34848" name="Text Box 30"/>
          <p:cNvSpPr txBox="1">
            <a:spLocks noChangeArrowheads="1"/>
          </p:cNvSpPr>
          <p:nvPr/>
        </p:nvSpPr>
        <p:spPr bwMode="auto">
          <a:xfrm>
            <a:off x="1066800" y="49895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10</a:t>
            </a:r>
            <a:endParaRPr lang="en-US" altLang="zh-CN" sz="1800" dirty="0">
              <a:latin typeface="Times New Roman" panose="02020603050405020304" pitchFamily="18" charset="0"/>
              <a:ea typeface="华文楷体" panose="02010600040101010101" pitchFamily="2" charset="-122"/>
            </a:endParaRPr>
          </a:p>
        </p:txBody>
      </p:sp>
      <p:sp>
        <p:nvSpPr>
          <p:cNvPr id="34849" name="Text Box 31"/>
          <p:cNvSpPr txBox="1">
            <a:spLocks noChangeArrowheads="1"/>
          </p:cNvSpPr>
          <p:nvPr/>
        </p:nvSpPr>
        <p:spPr bwMode="auto">
          <a:xfrm>
            <a:off x="2076450" y="5043488"/>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25</a:t>
            </a:r>
            <a:endParaRPr lang="en-US" altLang="zh-CN" sz="1800" dirty="0">
              <a:latin typeface="Times New Roman" panose="02020603050405020304" pitchFamily="18" charset="0"/>
              <a:ea typeface="华文楷体" panose="02010600040101010101" pitchFamily="2" charset="-122"/>
            </a:endParaRPr>
          </a:p>
        </p:txBody>
      </p:sp>
      <p:sp>
        <p:nvSpPr>
          <p:cNvPr id="34850" name="Text Box 32"/>
          <p:cNvSpPr txBox="1">
            <a:spLocks noChangeArrowheads="1"/>
          </p:cNvSpPr>
          <p:nvPr/>
        </p:nvSpPr>
        <p:spPr bwMode="auto">
          <a:xfrm>
            <a:off x="1600200" y="5486400"/>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22</a:t>
            </a:r>
            <a:endParaRPr lang="en-US" altLang="zh-CN" sz="1800" dirty="0">
              <a:latin typeface="Times New Roman" panose="02020603050405020304" pitchFamily="18" charset="0"/>
              <a:ea typeface="华文楷体" panose="02010600040101010101" pitchFamily="2" charset="-122"/>
            </a:endParaRPr>
          </a:p>
        </p:txBody>
      </p:sp>
      <p:sp>
        <p:nvSpPr>
          <p:cNvPr id="34851" name="Text Box 33"/>
          <p:cNvSpPr txBox="1">
            <a:spLocks noChangeArrowheads="1"/>
          </p:cNvSpPr>
          <p:nvPr/>
        </p:nvSpPr>
        <p:spPr bwMode="auto">
          <a:xfrm>
            <a:off x="3352800" y="4572000"/>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35</a:t>
            </a:r>
            <a:endParaRPr lang="en-US" altLang="zh-CN" sz="1800" dirty="0">
              <a:latin typeface="Times New Roman" panose="02020603050405020304" pitchFamily="18" charset="0"/>
              <a:ea typeface="华文楷体" panose="02010600040101010101" pitchFamily="2" charset="-122"/>
            </a:endParaRPr>
          </a:p>
        </p:txBody>
      </p:sp>
      <p:sp>
        <p:nvSpPr>
          <p:cNvPr id="34852" name="Text Box 34"/>
          <p:cNvSpPr txBox="1">
            <a:spLocks noChangeArrowheads="1"/>
          </p:cNvSpPr>
          <p:nvPr/>
        </p:nvSpPr>
        <p:spPr bwMode="auto">
          <a:xfrm>
            <a:off x="3886200" y="49895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38</a:t>
            </a:r>
            <a:endParaRPr lang="en-US" altLang="zh-CN" sz="1800" dirty="0">
              <a:latin typeface="Times New Roman" panose="02020603050405020304" pitchFamily="18" charset="0"/>
              <a:ea typeface="华文楷体" panose="02010600040101010101" pitchFamily="2" charset="-122"/>
            </a:endParaRPr>
          </a:p>
        </p:txBody>
      </p:sp>
      <p:sp>
        <p:nvSpPr>
          <p:cNvPr id="34853" name="Text Box 35"/>
          <p:cNvSpPr txBox="1">
            <a:spLocks noChangeArrowheads="1"/>
          </p:cNvSpPr>
          <p:nvPr/>
        </p:nvSpPr>
        <p:spPr bwMode="auto">
          <a:xfrm>
            <a:off x="5562600" y="41513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30</a:t>
            </a:r>
            <a:endParaRPr lang="en-US" altLang="zh-CN" sz="1800" dirty="0">
              <a:latin typeface="Times New Roman" panose="02020603050405020304" pitchFamily="18" charset="0"/>
              <a:ea typeface="华文楷体" panose="02010600040101010101" pitchFamily="2" charset="-122"/>
            </a:endParaRPr>
          </a:p>
        </p:txBody>
      </p:sp>
      <p:sp>
        <p:nvSpPr>
          <p:cNvPr id="34854" name="Text Box 36"/>
          <p:cNvSpPr txBox="1">
            <a:spLocks noChangeArrowheads="1"/>
          </p:cNvSpPr>
          <p:nvPr/>
        </p:nvSpPr>
        <p:spPr bwMode="auto">
          <a:xfrm>
            <a:off x="4648200" y="46085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20</a:t>
            </a:r>
            <a:endParaRPr lang="en-US" altLang="zh-CN" sz="1800" dirty="0">
              <a:latin typeface="Times New Roman" panose="02020603050405020304" pitchFamily="18" charset="0"/>
              <a:ea typeface="华文楷体" panose="02010600040101010101" pitchFamily="2" charset="-122"/>
            </a:endParaRPr>
          </a:p>
        </p:txBody>
      </p:sp>
      <p:sp>
        <p:nvSpPr>
          <p:cNvPr id="34855" name="Text Box 37"/>
          <p:cNvSpPr txBox="1">
            <a:spLocks noChangeArrowheads="1"/>
          </p:cNvSpPr>
          <p:nvPr/>
        </p:nvSpPr>
        <p:spPr bwMode="auto">
          <a:xfrm>
            <a:off x="6400800" y="45323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35</a:t>
            </a:r>
            <a:endParaRPr lang="en-US" altLang="zh-CN" sz="1800" dirty="0">
              <a:latin typeface="Times New Roman" panose="02020603050405020304" pitchFamily="18" charset="0"/>
              <a:ea typeface="华文楷体" panose="02010600040101010101" pitchFamily="2" charset="-122"/>
            </a:endParaRPr>
          </a:p>
        </p:txBody>
      </p:sp>
      <p:sp>
        <p:nvSpPr>
          <p:cNvPr id="34856" name="Text Box 38"/>
          <p:cNvSpPr txBox="1">
            <a:spLocks noChangeArrowheads="1"/>
          </p:cNvSpPr>
          <p:nvPr/>
        </p:nvSpPr>
        <p:spPr bwMode="auto">
          <a:xfrm>
            <a:off x="5943600" y="49895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32</a:t>
            </a:r>
            <a:endParaRPr lang="en-US" altLang="zh-CN" sz="1800" dirty="0">
              <a:latin typeface="Times New Roman" panose="02020603050405020304" pitchFamily="18" charset="0"/>
              <a:ea typeface="华文楷体" panose="02010600040101010101" pitchFamily="2" charset="-122"/>
            </a:endParaRPr>
          </a:p>
        </p:txBody>
      </p:sp>
      <p:sp>
        <p:nvSpPr>
          <p:cNvPr id="34857" name="Text Box 39"/>
          <p:cNvSpPr txBox="1">
            <a:spLocks noChangeArrowheads="1"/>
          </p:cNvSpPr>
          <p:nvPr/>
        </p:nvSpPr>
        <p:spPr bwMode="auto">
          <a:xfrm>
            <a:off x="6477000" y="54467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33</a:t>
            </a:r>
            <a:endParaRPr lang="en-US" altLang="zh-CN" sz="1800" dirty="0">
              <a:latin typeface="Times New Roman" panose="02020603050405020304" pitchFamily="18" charset="0"/>
              <a:ea typeface="华文楷体" panose="02010600040101010101" pitchFamily="2" charset="-122"/>
            </a:endParaRPr>
          </a:p>
        </p:txBody>
      </p:sp>
      <p:sp>
        <p:nvSpPr>
          <p:cNvPr id="34858" name="Text Box 40"/>
          <p:cNvSpPr txBox="1">
            <a:spLocks noChangeArrowheads="1"/>
          </p:cNvSpPr>
          <p:nvPr/>
        </p:nvSpPr>
        <p:spPr bwMode="auto">
          <a:xfrm>
            <a:off x="974725" y="4760913"/>
            <a:ext cx="3111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rgbClr val="A63204"/>
                </a:solidFill>
                <a:latin typeface="Times New Roman" panose="02020603050405020304" pitchFamily="18" charset="0"/>
                <a:ea typeface="华文楷体" panose="02010600040101010101" pitchFamily="2" charset="-122"/>
              </a:rPr>
              <a:t>0</a:t>
            </a:r>
            <a:endParaRPr lang="en-US" altLang="zh-CN" sz="1800" b="1" dirty="0">
              <a:solidFill>
                <a:srgbClr val="A63204"/>
              </a:solidFill>
              <a:latin typeface="Times New Roman" panose="02020603050405020304" pitchFamily="18" charset="0"/>
              <a:ea typeface="华文楷体" panose="02010600040101010101" pitchFamily="2" charset="-122"/>
            </a:endParaRPr>
          </a:p>
        </p:txBody>
      </p:sp>
      <p:sp>
        <p:nvSpPr>
          <p:cNvPr id="34859" name="Text Box 41"/>
          <p:cNvSpPr txBox="1">
            <a:spLocks noChangeArrowheads="1"/>
          </p:cNvSpPr>
          <p:nvPr/>
        </p:nvSpPr>
        <p:spPr bwMode="auto">
          <a:xfrm>
            <a:off x="1371600" y="5424488"/>
            <a:ext cx="3111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rgbClr val="A63204"/>
                </a:solidFill>
                <a:latin typeface="Times New Roman" panose="02020603050405020304" pitchFamily="18" charset="0"/>
                <a:ea typeface="华文楷体" panose="02010600040101010101" pitchFamily="2" charset="-122"/>
              </a:rPr>
              <a:t>0</a:t>
            </a:r>
            <a:endParaRPr lang="en-US" altLang="zh-CN" sz="1800" b="1" dirty="0">
              <a:solidFill>
                <a:srgbClr val="A63204"/>
              </a:solidFill>
              <a:latin typeface="Times New Roman" panose="02020603050405020304" pitchFamily="18" charset="0"/>
              <a:ea typeface="华文楷体" panose="02010600040101010101" pitchFamily="2" charset="-122"/>
            </a:endParaRPr>
          </a:p>
        </p:txBody>
      </p:sp>
      <p:sp>
        <p:nvSpPr>
          <p:cNvPr id="34860" name="Text Box 42"/>
          <p:cNvSpPr txBox="1">
            <a:spLocks noChangeArrowheads="1"/>
          </p:cNvSpPr>
          <p:nvPr/>
        </p:nvSpPr>
        <p:spPr bwMode="auto">
          <a:xfrm>
            <a:off x="2051050" y="4724400"/>
            <a:ext cx="3111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rgbClr val="A63204"/>
                </a:solidFill>
                <a:latin typeface="Times New Roman" panose="02020603050405020304" pitchFamily="18" charset="0"/>
                <a:ea typeface="华文楷体" panose="02010600040101010101" pitchFamily="2" charset="-122"/>
              </a:rPr>
              <a:t>1</a:t>
            </a:r>
            <a:endParaRPr lang="en-US" altLang="zh-CN" sz="1800" b="1" dirty="0">
              <a:solidFill>
                <a:srgbClr val="A63204"/>
              </a:solidFill>
              <a:latin typeface="Times New Roman" panose="02020603050405020304" pitchFamily="18" charset="0"/>
              <a:ea typeface="华文楷体" panose="02010600040101010101" pitchFamily="2" charset="-122"/>
            </a:endParaRPr>
          </a:p>
        </p:txBody>
      </p:sp>
      <p:sp>
        <p:nvSpPr>
          <p:cNvPr id="34861" name="Text Box 43"/>
          <p:cNvSpPr txBox="1">
            <a:spLocks noChangeArrowheads="1"/>
          </p:cNvSpPr>
          <p:nvPr/>
        </p:nvSpPr>
        <p:spPr bwMode="auto">
          <a:xfrm>
            <a:off x="1371600" y="4357688"/>
            <a:ext cx="3873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rgbClr val="A63204"/>
                </a:solidFill>
                <a:latin typeface="Times New Roman" panose="02020603050405020304" pitchFamily="18" charset="0"/>
                <a:ea typeface="华文楷体" panose="02010600040101010101" pitchFamily="2" charset="-122"/>
              </a:rPr>
              <a:t>-1</a:t>
            </a:r>
            <a:endParaRPr lang="en-US" altLang="zh-CN" sz="1800" b="1" dirty="0">
              <a:solidFill>
                <a:srgbClr val="A63204"/>
              </a:solidFill>
              <a:latin typeface="Times New Roman" panose="02020603050405020304" pitchFamily="18" charset="0"/>
              <a:ea typeface="华文楷体" panose="02010600040101010101" pitchFamily="2" charset="-122"/>
            </a:endParaRPr>
          </a:p>
        </p:txBody>
      </p:sp>
      <p:sp>
        <p:nvSpPr>
          <p:cNvPr id="34862" name="Text Box 44"/>
          <p:cNvSpPr txBox="1">
            <a:spLocks noChangeArrowheads="1"/>
          </p:cNvSpPr>
          <p:nvPr/>
        </p:nvSpPr>
        <p:spPr bwMode="auto">
          <a:xfrm>
            <a:off x="3581400" y="5043488"/>
            <a:ext cx="3111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rgbClr val="A63204"/>
                </a:solidFill>
                <a:latin typeface="Times New Roman" panose="02020603050405020304" pitchFamily="18" charset="0"/>
                <a:ea typeface="华文楷体" panose="02010600040101010101" pitchFamily="2" charset="-122"/>
              </a:rPr>
              <a:t>0</a:t>
            </a:r>
            <a:endParaRPr lang="en-US" altLang="zh-CN" sz="1800" b="1" dirty="0">
              <a:solidFill>
                <a:srgbClr val="A63204"/>
              </a:solidFill>
              <a:latin typeface="Times New Roman" panose="02020603050405020304" pitchFamily="18" charset="0"/>
              <a:ea typeface="华文楷体" panose="02010600040101010101" pitchFamily="2" charset="-122"/>
            </a:endParaRPr>
          </a:p>
        </p:txBody>
      </p:sp>
      <p:sp>
        <p:nvSpPr>
          <p:cNvPr id="34863" name="Text Box 45"/>
          <p:cNvSpPr txBox="1">
            <a:spLocks noChangeArrowheads="1"/>
          </p:cNvSpPr>
          <p:nvPr/>
        </p:nvSpPr>
        <p:spPr bwMode="auto">
          <a:xfrm>
            <a:off x="3346450" y="4267200"/>
            <a:ext cx="3873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rgbClr val="A63204"/>
                </a:solidFill>
                <a:latin typeface="Times New Roman" panose="02020603050405020304" pitchFamily="18" charset="0"/>
                <a:ea typeface="华文楷体" panose="02010600040101010101" pitchFamily="2" charset="-122"/>
              </a:rPr>
              <a:t>-1</a:t>
            </a:r>
            <a:endParaRPr lang="en-US" altLang="zh-CN" sz="1800" b="1" dirty="0">
              <a:solidFill>
                <a:srgbClr val="A63204"/>
              </a:solidFill>
              <a:latin typeface="Times New Roman" panose="02020603050405020304" pitchFamily="18" charset="0"/>
              <a:ea typeface="华文楷体" panose="02010600040101010101" pitchFamily="2" charset="-122"/>
            </a:endParaRPr>
          </a:p>
        </p:txBody>
      </p:sp>
      <p:sp>
        <p:nvSpPr>
          <p:cNvPr id="34864" name="Text Box 46"/>
          <p:cNvSpPr txBox="1">
            <a:spLocks noChangeArrowheads="1"/>
          </p:cNvSpPr>
          <p:nvPr/>
        </p:nvSpPr>
        <p:spPr bwMode="auto">
          <a:xfrm>
            <a:off x="2508250" y="3886200"/>
            <a:ext cx="3111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rgbClr val="A63204"/>
                </a:solidFill>
                <a:latin typeface="Times New Roman" panose="02020603050405020304" pitchFamily="18" charset="0"/>
                <a:ea typeface="华文楷体" panose="02010600040101010101" pitchFamily="2" charset="-122"/>
              </a:rPr>
              <a:t>1</a:t>
            </a:r>
            <a:endParaRPr lang="en-US" altLang="zh-CN" sz="1800" b="1" dirty="0">
              <a:solidFill>
                <a:srgbClr val="A63204"/>
              </a:solidFill>
              <a:latin typeface="Times New Roman" panose="02020603050405020304" pitchFamily="18" charset="0"/>
              <a:ea typeface="华文楷体" panose="02010600040101010101" pitchFamily="2" charset="-122"/>
            </a:endParaRPr>
          </a:p>
        </p:txBody>
      </p:sp>
      <p:sp>
        <p:nvSpPr>
          <p:cNvPr id="34865" name="Text Box 47"/>
          <p:cNvSpPr txBox="1">
            <a:spLocks noChangeArrowheads="1"/>
          </p:cNvSpPr>
          <p:nvPr/>
        </p:nvSpPr>
        <p:spPr bwMode="auto">
          <a:xfrm>
            <a:off x="4641850" y="4267200"/>
            <a:ext cx="3111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rgbClr val="A63204"/>
                </a:solidFill>
                <a:latin typeface="Times New Roman" panose="02020603050405020304" pitchFamily="18" charset="0"/>
                <a:ea typeface="华文楷体" panose="02010600040101010101" pitchFamily="2" charset="-122"/>
              </a:rPr>
              <a:t>0</a:t>
            </a:r>
            <a:endParaRPr lang="en-US" altLang="zh-CN" sz="1800" b="1" dirty="0">
              <a:solidFill>
                <a:srgbClr val="A63204"/>
              </a:solidFill>
              <a:latin typeface="Times New Roman" panose="02020603050405020304" pitchFamily="18" charset="0"/>
              <a:ea typeface="华文楷体" panose="02010600040101010101" pitchFamily="2" charset="-122"/>
            </a:endParaRPr>
          </a:p>
        </p:txBody>
      </p:sp>
      <p:sp>
        <p:nvSpPr>
          <p:cNvPr id="34866" name="Text Box 48"/>
          <p:cNvSpPr txBox="1">
            <a:spLocks noChangeArrowheads="1"/>
          </p:cNvSpPr>
          <p:nvPr/>
        </p:nvSpPr>
        <p:spPr bwMode="auto">
          <a:xfrm>
            <a:off x="6775450" y="5348288"/>
            <a:ext cx="3111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rgbClr val="A63204"/>
                </a:solidFill>
                <a:latin typeface="Times New Roman" panose="02020603050405020304" pitchFamily="18" charset="0"/>
                <a:ea typeface="华文楷体" panose="02010600040101010101" pitchFamily="2" charset="-122"/>
              </a:rPr>
              <a:t>0</a:t>
            </a:r>
            <a:endParaRPr lang="en-US" altLang="zh-CN" sz="1800" b="1" dirty="0">
              <a:solidFill>
                <a:srgbClr val="A63204"/>
              </a:solidFill>
              <a:latin typeface="Times New Roman" panose="02020603050405020304" pitchFamily="18" charset="0"/>
              <a:ea typeface="华文楷体" panose="02010600040101010101" pitchFamily="2" charset="-122"/>
            </a:endParaRPr>
          </a:p>
        </p:txBody>
      </p:sp>
      <p:sp>
        <p:nvSpPr>
          <p:cNvPr id="34867" name="Text Box 49"/>
          <p:cNvSpPr txBox="1">
            <a:spLocks noChangeArrowheads="1"/>
          </p:cNvSpPr>
          <p:nvPr/>
        </p:nvSpPr>
        <p:spPr bwMode="auto">
          <a:xfrm>
            <a:off x="5943600" y="4724400"/>
            <a:ext cx="3873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rgbClr val="A63204"/>
                </a:solidFill>
                <a:latin typeface="Times New Roman" panose="02020603050405020304" pitchFamily="18" charset="0"/>
                <a:ea typeface="华文楷体" panose="02010600040101010101" pitchFamily="2" charset="-122"/>
              </a:rPr>
              <a:t>-1</a:t>
            </a:r>
            <a:endParaRPr lang="en-US" altLang="zh-CN" sz="1800" b="1" dirty="0">
              <a:solidFill>
                <a:srgbClr val="A63204"/>
              </a:solidFill>
              <a:latin typeface="Times New Roman" panose="02020603050405020304" pitchFamily="18" charset="0"/>
              <a:ea typeface="华文楷体" panose="02010600040101010101" pitchFamily="2" charset="-122"/>
            </a:endParaRPr>
          </a:p>
        </p:txBody>
      </p:sp>
      <p:sp>
        <p:nvSpPr>
          <p:cNvPr id="34868" name="Text Box 50"/>
          <p:cNvSpPr txBox="1">
            <a:spLocks noChangeArrowheads="1"/>
          </p:cNvSpPr>
          <p:nvPr/>
        </p:nvSpPr>
        <p:spPr bwMode="auto">
          <a:xfrm>
            <a:off x="6394450" y="4267200"/>
            <a:ext cx="3111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rgbClr val="A63204"/>
                </a:solidFill>
                <a:latin typeface="Times New Roman" panose="02020603050405020304" pitchFamily="18" charset="0"/>
                <a:ea typeface="华文楷体" panose="02010600040101010101" pitchFamily="2" charset="-122"/>
              </a:rPr>
              <a:t>2</a:t>
            </a:r>
            <a:endParaRPr lang="en-US" altLang="zh-CN" sz="1800" b="1" dirty="0">
              <a:solidFill>
                <a:srgbClr val="A63204"/>
              </a:solidFill>
              <a:latin typeface="Times New Roman" panose="02020603050405020304" pitchFamily="18" charset="0"/>
              <a:ea typeface="华文楷体" panose="02010600040101010101" pitchFamily="2" charset="-122"/>
            </a:endParaRPr>
          </a:p>
        </p:txBody>
      </p:sp>
      <p:sp>
        <p:nvSpPr>
          <p:cNvPr id="34869" name="Text Box 51"/>
          <p:cNvSpPr txBox="1">
            <a:spLocks noChangeArrowheads="1"/>
          </p:cNvSpPr>
          <p:nvPr/>
        </p:nvSpPr>
        <p:spPr bwMode="auto">
          <a:xfrm>
            <a:off x="5632450" y="3886200"/>
            <a:ext cx="3873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rgbClr val="A63204"/>
                </a:solidFill>
                <a:latin typeface="Times New Roman" panose="02020603050405020304" pitchFamily="18" charset="0"/>
                <a:ea typeface="华文楷体" panose="02010600040101010101" pitchFamily="2" charset="-122"/>
              </a:rPr>
              <a:t>-2</a:t>
            </a:r>
            <a:endParaRPr lang="en-US" altLang="zh-CN" sz="1800" b="1" dirty="0">
              <a:solidFill>
                <a:srgbClr val="A63204"/>
              </a:solidFill>
              <a:latin typeface="Times New Roman" panose="02020603050405020304" pitchFamily="18" charset="0"/>
              <a:ea typeface="华文楷体" panose="02010600040101010101" pitchFamily="2" charset="-122"/>
            </a:endParaRPr>
          </a:p>
        </p:txBody>
      </p:sp>
      <p:sp>
        <p:nvSpPr>
          <p:cNvPr id="34870" name="Text Box 52"/>
          <p:cNvSpPr txBox="1">
            <a:spLocks noChangeArrowheads="1"/>
          </p:cNvSpPr>
          <p:nvPr/>
        </p:nvSpPr>
        <p:spPr bwMode="auto">
          <a:xfrm>
            <a:off x="1143000" y="6248400"/>
            <a:ext cx="713740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zh-CN" altLang="en-US" sz="1800" b="1" dirty="0">
                <a:solidFill>
                  <a:srgbClr val="A63204"/>
                </a:solidFill>
                <a:latin typeface="Times New Roman" panose="02020603050405020304" pitchFamily="18" charset="0"/>
                <a:ea typeface="华文楷体" panose="02010600040101010101" pitchFamily="2" charset="-122"/>
              </a:rPr>
              <a:t>平衡二叉树：每个结点的平衡因子都为 ＋</a:t>
            </a:r>
            <a:r>
              <a:rPr kumimoji="1" lang="en-US" altLang="zh-CN" sz="1800" b="1" dirty="0">
                <a:solidFill>
                  <a:srgbClr val="A63204"/>
                </a:solidFill>
                <a:latin typeface="Times New Roman" panose="02020603050405020304" pitchFamily="18" charset="0"/>
                <a:ea typeface="华文楷体" panose="02010600040101010101" pitchFamily="2" charset="-122"/>
              </a:rPr>
              <a:t>1</a:t>
            </a:r>
            <a:r>
              <a:rPr kumimoji="1" lang="zh-CN" altLang="en-US" sz="1800" b="1" dirty="0">
                <a:solidFill>
                  <a:srgbClr val="A63204"/>
                </a:solidFill>
                <a:latin typeface="Times New Roman" panose="02020603050405020304" pitchFamily="18" charset="0"/>
                <a:ea typeface="华文楷体" panose="02010600040101010101" pitchFamily="2" charset="-122"/>
              </a:rPr>
              <a:t>、－</a:t>
            </a:r>
            <a:r>
              <a:rPr kumimoji="1" lang="en-US" altLang="zh-CN" sz="1800" b="1" dirty="0">
                <a:solidFill>
                  <a:srgbClr val="A63204"/>
                </a:solidFill>
                <a:latin typeface="Times New Roman" panose="02020603050405020304" pitchFamily="18" charset="0"/>
                <a:ea typeface="华文楷体" panose="02010600040101010101" pitchFamily="2" charset="-122"/>
              </a:rPr>
              <a:t>1</a:t>
            </a:r>
            <a:r>
              <a:rPr kumimoji="1" lang="zh-CN" altLang="en-US" sz="1800" b="1" dirty="0">
                <a:solidFill>
                  <a:srgbClr val="A63204"/>
                </a:solidFill>
                <a:latin typeface="Times New Roman" panose="02020603050405020304" pitchFamily="18" charset="0"/>
                <a:ea typeface="华文楷体" panose="02010600040101010101" pitchFamily="2" charset="-122"/>
              </a:rPr>
              <a:t>、</a:t>
            </a:r>
            <a:r>
              <a:rPr kumimoji="1" lang="en-US" altLang="zh-CN" sz="1800" b="1" dirty="0">
                <a:solidFill>
                  <a:srgbClr val="A63204"/>
                </a:solidFill>
                <a:latin typeface="Times New Roman" panose="02020603050405020304" pitchFamily="18" charset="0"/>
                <a:ea typeface="华文楷体" panose="02010600040101010101" pitchFamily="2" charset="-122"/>
              </a:rPr>
              <a:t>0 </a:t>
            </a:r>
            <a:r>
              <a:rPr kumimoji="1" lang="zh-CN" altLang="en-US" sz="1800" b="1" dirty="0">
                <a:solidFill>
                  <a:srgbClr val="A63204"/>
                </a:solidFill>
                <a:latin typeface="Times New Roman" panose="02020603050405020304" pitchFamily="18" charset="0"/>
                <a:ea typeface="华文楷体" panose="02010600040101010101" pitchFamily="2" charset="-122"/>
              </a:rPr>
              <a:t>的二叉排序树。</a:t>
            </a:r>
            <a:endParaRPr kumimoji="1" lang="zh-CN" altLang="en-US" sz="1800" b="1" dirty="0">
              <a:solidFill>
                <a:srgbClr val="A63204"/>
              </a:solidFill>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3"/>
          <p:cNvSpPr>
            <a:spLocks noGrp="1"/>
          </p:cNvSpPr>
          <p:nvPr>
            <p:ph type="ftr" sz="quarter" idx="10"/>
          </p:nvPr>
        </p:nvSpPr>
        <p:spPr/>
        <p:txBody>
          <a:bodyPr/>
          <a:lstStyle/>
          <a:p>
            <a:pPr>
              <a:defRPr/>
            </a:pPr>
            <a:r>
              <a:rPr lang="en-US" altLang="zh-CN"/>
              <a:t>BUPT SCST</a:t>
            </a:r>
            <a:endParaRPr lang="en-US" altLang="zh-CN"/>
          </a:p>
        </p:txBody>
      </p:sp>
      <p:sp>
        <p:nvSpPr>
          <p:cNvPr id="9" name="日期占位符 5"/>
          <p:cNvSpPr>
            <a:spLocks noGrp="1"/>
          </p:cNvSpPr>
          <p:nvPr>
            <p:ph type="dt" sz="quarter" idx="12"/>
          </p:nvPr>
        </p:nvSpPr>
        <p:spPr/>
        <p:txBody>
          <a:bodyPr/>
          <a:lstStyle/>
          <a:p>
            <a:pPr>
              <a:defRPr/>
            </a:pPr>
            <a:r>
              <a:rPr lang="en-US" altLang="zh-CN"/>
              <a:t>BUPT</a:t>
            </a:r>
            <a:endParaRPr lang="en-US" altLang="zh-CN"/>
          </a:p>
        </p:txBody>
      </p:sp>
      <p:sp>
        <p:nvSpPr>
          <p:cNvPr id="35848" name="Rectangle 6"/>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35849" name="Rectangle 7"/>
          <p:cNvSpPr>
            <a:spLocks noGrp="1" noChangeArrowheads="1"/>
          </p:cNvSpPr>
          <p:nvPr>
            <p:ph type="body" idx="1"/>
          </p:nvPr>
        </p:nvSpPr>
        <p:spPr>
          <a:xfrm>
            <a:off x="242888" y="1212850"/>
            <a:ext cx="8229600" cy="5248275"/>
          </a:xfrm>
        </p:spPr>
        <p:txBody>
          <a:bodyPr/>
          <a:lstStyle/>
          <a:p>
            <a:pPr eaLnBrk="1" hangingPunct="1">
              <a:buFont typeface="Wingdings" panose="05000000000000000000" pitchFamily="2" charset="2"/>
              <a:buNone/>
            </a:pPr>
            <a:r>
              <a:rPr lang="en-US" altLang="zh-CN" sz="2400" b="1" dirty="0" smtClean="0">
                <a:solidFill>
                  <a:schemeClr val="accent2"/>
                </a:solidFill>
                <a:ea typeface="华文楷体" panose="02010600040101010101" pitchFamily="2" charset="-122"/>
              </a:rPr>
              <a:t>[2.</a:t>
            </a:r>
            <a:r>
              <a:rPr lang="zh-CN" altLang="en-US" sz="2400" b="1" dirty="0" smtClean="0">
                <a:solidFill>
                  <a:schemeClr val="accent2"/>
                </a:solidFill>
                <a:ea typeface="华文楷体" panose="02010600040101010101" pitchFamily="2" charset="-122"/>
              </a:rPr>
              <a:t>结点的存储结构</a:t>
            </a:r>
            <a:r>
              <a:rPr lang="en-US" altLang="zh-CN" sz="2400" b="1" dirty="0" smtClean="0">
                <a:solidFill>
                  <a:schemeClr val="accent2"/>
                </a:solidFill>
                <a:ea typeface="华文楷体" panose="02010600040101010101" pitchFamily="2" charset="-122"/>
              </a:rPr>
              <a:t>]</a:t>
            </a:r>
            <a:endParaRPr lang="en-US" altLang="zh-CN" sz="2400" b="1" dirty="0" smtClean="0">
              <a:solidFill>
                <a:schemeClr val="accent2"/>
              </a:solidFill>
              <a:ea typeface="华文楷体" panose="02010600040101010101" pitchFamily="2" charset="-122"/>
            </a:endParaRPr>
          </a:p>
          <a:p>
            <a:pPr eaLnBrk="1" hangingPunct="1">
              <a:lnSpc>
                <a:spcPct val="120000"/>
              </a:lnSpc>
              <a:buFont typeface="Wingdings" panose="05000000000000000000" pitchFamily="2" charset="2"/>
              <a:buNone/>
            </a:pPr>
            <a:endParaRPr lang="en-US" altLang="zh-CN" sz="2400" dirty="0" smtClean="0">
              <a:ea typeface="华文楷体" panose="02010600040101010101" pitchFamily="2" charset="-122"/>
            </a:endParaRPr>
          </a:p>
          <a:p>
            <a:pPr eaLnBrk="1" hangingPunct="1">
              <a:lnSpc>
                <a:spcPct val="120000"/>
              </a:lnSpc>
              <a:buFont typeface="Wingdings" panose="05000000000000000000" pitchFamily="2" charset="2"/>
              <a:buNone/>
            </a:pPr>
            <a:endParaRPr lang="en-US" altLang="zh-CN" sz="2400" dirty="0">
              <a:ea typeface="华文楷体" panose="02010600040101010101" pitchFamily="2" charset="-122"/>
            </a:endParaRPr>
          </a:p>
          <a:p>
            <a:pPr eaLnBrk="1" hangingPunct="1">
              <a:lnSpc>
                <a:spcPct val="120000"/>
              </a:lnSpc>
              <a:buFont typeface="Wingdings" panose="05000000000000000000" pitchFamily="2" charset="2"/>
              <a:buNone/>
            </a:pPr>
            <a:endParaRPr lang="en-US" altLang="zh-CN" sz="2400" dirty="0" smtClean="0">
              <a:ea typeface="华文楷体" panose="02010600040101010101" pitchFamily="2" charset="-122"/>
            </a:endParaRPr>
          </a:p>
          <a:p>
            <a:pPr eaLnBrk="1" hangingPunct="1">
              <a:buFont typeface="Wingdings" panose="05000000000000000000" pitchFamily="2" charset="2"/>
              <a:buNone/>
            </a:pPr>
            <a:endParaRPr lang="en-US" altLang="zh-CN" sz="2400" b="1" dirty="0" smtClean="0">
              <a:solidFill>
                <a:schemeClr val="accent2"/>
              </a:solidFill>
              <a:ea typeface="华文楷体" panose="02010600040101010101" pitchFamily="2" charset="-122"/>
            </a:endParaRPr>
          </a:p>
        </p:txBody>
      </p:sp>
      <p:pic>
        <p:nvPicPr>
          <p:cNvPr id="2" name="图片 1"/>
          <p:cNvPicPr>
            <a:picLocks noChangeAspect="1"/>
          </p:cNvPicPr>
          <p:nvPr/>
        </p:nvPicPr>
        <p:blipFill>
          <a:blip r:embed="rId1"/>
          <a:stretch>
            <a:fillRect/>
          </a:stretch>
        </p:blipFill>
        <p:spPr>
          <a:xfrm>
            <a:off x="304801" y="1916833"/>
            <a:ext cx="3147128" cy="576064"/>
          </a:xfrm>
          <a:prstGeom prst="rect">
            <a:avLst/>
          </a:prstGeom>
        </p:spPr>
      </p:pic>
      <p:sp>
        <p:nvSpPr>
          <p:cNvPr id="3" name="文本框 2"/>
          <p:cNvSpPr txBox="1"/>
          <p:nvPr/>
        </p:nvSpPr>
        <p:spPr>
          <a:xfrm>
            <a:off x="221440" y="2663906"/>
            <a:ext cx="3853456" cy="3956468"/>
          </a:xfrm>
          <a:prstGeom prst="rect">
            <a:avLst/>
          </a:prstGeom>
          <a:noFill/>
          <a:ln>
            <a:solidFill>
              <a:schemeClr val="accent1"/>
            </a:solidFill>
          </a:ln>
        </p:spPr>
        <p:txBody>
          <a:bodyPr wrap="square" rtlCol="0">
            <a:spAutoFit/>
          </a:bodyPr>
          <a:lstStyle/>
          <a:p>
            <a:pPr eaLnBrk="1" hangingPunct="1">
              <a:lnSpc>
                <a:spcPct val="120000"/>
              </a:lnSpc>
              <a:buFont typeface="Wingdings" panose="05000000000000000000" pitchFamily="2" charset="2"/>
              <a:buNone/>
            </a:pPr>
            <a:r>
              <a:rPr lang="en-US" altLang="zh-CN" dirty="0" smtClean="0">
                <a:ea typeface="华文楷体" panose="02010600040101010101" pitchFamily="2" charset="-122"/>
              </a:rPr>
              <a:t>left</a:t>
            </a:r>
            <a:r>
              <a:rPr lang="zh-CN" altLang="en-US" dirty="0" smtClean="0">
                <a:ea typeface="华文楷体" panose="02010600040101010101" pitchFamily="2" charset="-122"/>
              </a:rPr>
              <a:t>：</a:t>
            </a:r>
            <a:r>
              <a:rPr lang="zh-CN" altLang="en-US" dirty="0">
                <a:ea typeface="华文楷体" panose="02010600040101010101" pitchFamily="2" charset="-122"/>
              </a:rPr>
              <a:t>左孩子指</a:t>
            </a:r>
            <a:r>
              <a:rPr lang="en-US" altLang="zh-CN" dirty="0">
                <a:ea typeface="华文楷体" panose="02010600040101010101" pitchFamily="2" charset="-122"/>
              </a:rPr>
              <a:t>key</a:t>
            </a:r>
            <a:endParaRPr lang="en-US" altLang="en-US" dirty="0"/>
          </a:p>
          <a:p>
            <a:pPr eaLnBrk="1" hangingPunct="1">
              <a:lnSpc>
                <a:spcPct val="85000"/>
              </a:lnSpc>
              <a:buFont typeface="Wingdings" panose="05000000000000000000" pitchFamily="2" charset="2"/>
              <a:buNone/>
            </a:pPr>
            <a:r>
              <a:rPr lang="en-US" altLang="zh-CN" dirty="0" smtClean="0">
                <a:ea typeface="华文楷体" panose="02010600040101010101" pitchFamily="2" charset="-122"/>
              </a:rPr>
              <a:t>right</a:t>
            </a:r>
            <a:r>
              <a:rPr lang="zh-CN" altLang="en-US" dirty="0" smtClean="0">
                <a:ea typeface="华文楷体" panose="02010600040101010101" pitchFamily="2" charset="-122"/>
              </a:rPr>
              <a:t>：</a:t>
            </a:r>
            <a:r>
              <a:rPr lang="zh-CN" altLang="en-US" dirty="0">
                <a:ea typeface="华文楷体" panose="02010600040101010101" pitchFamily="2" charset="-122"/>
              </a:rPr>
              <a:t>右孩子指针</a:t>
            </a:r>
            <a:endParaRPr lang="en-US" altLang="en-US" dirty="0"/>
          </a:p>
          <a:p>
            <a:pPr eaLnBrk="1" hangingPunct="1">
              <a:lnSpc>
                <a:spcPct val="85000"/>
              </a:lnSpc>
              <a:buFont typeface="Wingdings" panose="05000000000000000000" pitchFamily="2" charset="2"/>
              <a:buNone/>
            </a:pPr>
            <a:r>
              <a:rPr lang="en-US" altLang="zh-CN" dirty="0" smtClean="0">
                <a:ea typeface="华文楷体" panose="02010600040101010101" pitchFamily="2" charset="-122"/>
              </a:rPr>
              <a:t>bf</a:t>
            </a:r>
            <a:r>
              <a:rPr lang="zh-CN" altLang="en-US" dirty="0">
                <a:ea typeface="华文楷体" panose="02010600040101010101" pitchFamily="2" charset="-122"/>
              </a:rPr>
              <a:t>：平衡因子</a:t>
            </a:r>
            <a:endParaRPr lang="en-US" altLang="en-US" dirty="0"/>
          </a:p>
          <a:p>
            <a:pPr eaLnBrk="1" hangingPunct="1">
              <a:lnSpc>
                <a:spcPct val="85000"/>
              </a:lnSpc>
            </a:pPr>
            <a:r>
              <a:rPr lang="en-US" altLang="zh-CN" dirty="0" smtClean="0">
                <a:ea typeface="华文楷体" panose="02010600040101010101" pitchFamily="2" charset="-122"/>
              </a:rPr>
              <a:t>data</a:t>
            </a:r>
            <a:r>
              <a:rPr lang="zh-CN" altLang="en-US" dirty="0" smtClean="0">
                <a:ea typeface="华文楷体" panose="02010600040101010101" pitchFamily="2" charset="-122"/>
              </a:rPr>
              <a:t>：</a:t>
            </a:r>
            <a:r>
              <a:rPr lang="zh-CN" altLang="en-US" dirty="0">
                <a:ea typeface="华文楷体" panose="02010600040101010101" pitchFamily="2" charset="-122"/>
              </a:rPr>
              <a:t>数据</a:t>
            </a:r>
            <a:r>
              <a:rPr lang="zh-CN" altLang="en-US" dirty="0" smtClean="0">
                <a:ea typeface="华文楷体" panose="02010600040101010101" pitchFamily="2" charset="-122"/>
              </a:rPr>
              <a:t>元素</a:t>
            </a:r>
            <a:endParaRPr lang="en-US" altLang="zh-CN" dirty="0" smtClean="0">
              <a:ea typeface="华文楷体" panose="02010600040101010101" pitchFamily="2" charset="-122"/>
            </a:endParaRPr>
          </a:p>
          <a:p>
            <a:pPr eaLnBrk="1" hangingPunct="1">
              <a:lnSpc>
                <a:spcPct val="85000"/>
              </a:lnSpc>
            </a:pPr>
            <a:r>
              <a:rPr lang="en-US" altLang="zh-CN" dirty="0" err="1" smtClean="0">
                <a:ea typeface="华文楷体" panose="02010600040101010101" pitchFamily="2" charset="-122"/>
              </a:rPr>
              <a:t>Struct</a:t>
            </a:r>
            <a:r>
              <a:rPr lang="en-US" altLang="zh-CN" dirty="0" smtClean="0">
                <a:ea typeface="华文楷体" panose="02010600040101010101" pitchFamily="2" charset="-122"/>
              </a:rPr>
              <a:t> </a:t>
            </a:r>
            <a:r>
              <a:rPr lang="en-US" altLang="zh-CN" dirty="0" err="1" smtClean="0">
                <a:ea typeface="华文楷体" panose="02010600040101010101" pitchFamily="2" charset="-122"/>
              </a:rPr>
              <a:t>TreeNode</a:t>
            </a:r>
            <a:endParaRPr lang="en-US" altLang="zh-CN" dirty="0" smtClean="0">
              <a:ea typeface="华文楷体" panose="02010600040101010101" pitchFamily="2" charset="-122"/>
            </a:endParaRPr>
          </a:p>
          <a:p>
            <a:pPr eaLnBrk="1" hangingPunct="1">
              <a:lnSpc>
                <a:spcPct val="85000"/>
              </a:lnSpc>
            </a:pPr>
            <a:r>
              <a:rPr lang="en-US" altLang="zh-CN" dirty="0" smtClean="0">
                <a:ea typeface="华文楷体" panose="02010600040101010101" pitchFamily="2" charset="-122"/>
              </a:rPr>
              <a:t>{</a:t>
            </a:r>
            <a:endParaRPr lang="en-US" altLang="zh-CN" dirty="0" smtClean="0">
              <a:ea typeface="华文楷体" panose="02010600040101010101" pitchFamily="2" charset="-122"/>
            </a:endParaRPr>
          </a:p>
          <a:p>
            <a:pPr eaLnBrk="1" hangingPunct="1">
              <a:lnSpc>
                <a:spcPct val="85000"/>
              </a:lnSpc>
            </a:pPr>
            <a:r>
              <a:rPr lang="en-US" altLang="zh-CN" dirty="0">
                <a:ea typeface="华文楷体" panose="02010600040101010101" pitchFamily="2" charset="-122"/>
              </a:rPr>
              <a:t> </a:t>
            </a:r>
            <a:r>
              <a:rPr lang="en-US" altLang="zh-CN" dirty="0" smtClean="0">
                <a:ea typeface="华文楷体" panose="02010600040101010101" pitchFamily="2" charset="-122"/>
              </a:rPr>
              <a:t>    </a:t>
            </a:r>
            <a:r>
              <a:rPr lang="en-US" altLang="zh-CN" dirty="0" err="1" smtClean="0">
                <a:ea typeface="华文楷体" panose="02010600040101010101" pitchFamily="2" charset="-122"/>
              </a:rPr>
              <a:t>Struct</a:t>
            </a:r>
            <a:r>
              <a:rPr lang="en-US" altLang="zh-CN" dirty="0" smtClean="0">
                <a:ea typeface="华文楷体" panose="02010600040101010101" pitchFamily="2" charset="-122"/>
              </a:rPr>
              <a:t> </a:t>
            </a:r>
            <a:r>
              <a:rPr lang="en-US" altLang="zh-CN" dirty="0" err="1" smtClean="0">
                <a:ea typeface="华文楷体" panose="02010600040101010101" pitchFamily="2" charset="-122"/>
              </a:rPr>
              <a:t>TreeNode</a:t>
            </a:r>
            <a:r>
              <a:rPr lang="en-US" altLang="zh-CN" dirty="0" smtClean="0">
                <a:ea typeface="华文楷体" panose="02010600040101010101" pitchFamily="2" charset="-122"/>
              </a:rPr>
              <a:t> * left;</a:t>
            </a:r>
            <a:endParaRPr lang="en-US" altLang="zh-CN" dirty="0" smtClean="0">
              <a:ea typeface="华文楷体" panose="02010600040101010101" pitchFamily="2" charset="-122"/>
            </a:endParaRPr>
          </a:p>
          <a:p>
            <a:pPr eaLnBrk="1" hangingPunct="1">
              <a:lnSpc>
                <a:spcPct val="85000"/>
              </a:lnSpc>
            </a:pPr>
            <a:r>
              <a:rPr lang="en-US" altLang="zh-CN" dirty="0" smtClean="0">
                <a:ea typeface="华文楷体" panose="02010600040101010101" pitchFamily="2" charset="-122"/>
              </a:rPr>
              <a:t>     </a:t>
            </a:r>
            <a:r>
              <a:rPr lang="en-US" altLang="zh-CN" dirty="0" err="1">
                <a:ea typeface="华文楷体" panose="02010600040101010101" pitchFamily="2" charset="-122"/>
              </a:rPr>
              <a:t>Struct</a:t>
            </a:r>
            <a:r>
              <a:rPr lang="en-US" altLang="zh-CN" dirty="0">
                <a:ea typeface="华文楷体" panose="02010600040101010101" pitchFamily="2" charset="-122"/>
              </a:rPr>
              <a:t> </a:t>
            </a:r>
            <a:r>
              <a:rPr lang="en-US" altLang="zh-CN" dirty="0" err="1">
                <a:ea typeface="华文楷体" panose="02010600040101010101" pitchFamily="2" charset="-122"/>
              </a:rPr>
              <a:t>TreeNode</a:t>
            </a:r>
            <a:r>
              <a:rPr lang="en-US" altLang="zh-CN" dirty="0">
                <a:ea typeface="华文楷体" panose="02010600040101010101" pitchFamily="2" charset="-122"/>
              </a:rPr>
              <a:t> * </a:t>
            </a:r>
            <a:r>
              <a:rPr lang="en-US" altLang="zh-CN" dirty="0" smtClean="0">
                <a:ea typeface="华文楷体" panose="02010600040101010101" pitchFamily="2" charset="-122"/>
              </a:rPr>
              <a:t>right;</a:t>
            </a:r>
            <a:endParaRPr lang="en-US" altLang="zh-CN" dirty="0" smtClean="0">
              <a:ea typeface="华文楷体" panose="02010600040101010101" pitchFamily="2" charset="-122"/>
            </a:endParaRPr>
          </a:p>
          <a:p>
            <a:pPr eaLnBrk="1" hangingPunct="1">
              <a:lnSpc>
                <a:spcPct val="85000"/>
              </a:lnSpc>
            </a:pPr>
            <a:r>
              <a:rPr lang="en-US" altLang="zh-CN" dirty="0">
                <a:ea typeface="华文楷体" panose="02010600040101010101" pitchFamily="2" charset="-122"/>
              </a:rPr>
              <a:t> </a:t>
            </a:r>
            <a:r>
              <a:rPr lang="en-US" altLang="zh-CN" dirty="0" smtClean="0">
                <a:ea typeface="华文楷体" panose="02010600040101010101" pitchFamily="2" charset="-122"/>
              </a:rPr>
              <a:t>    </a:t>
            </a:r>
            <a:r>
              <a:rPr lang="en-US" altLang="zh-CN" dirty="0" err="1" smtClean="0">
                <a:ea typeface="华文楷体" panose="02010600040101010101" pitchFamily="2" charset="-122"/>
              </a:rPr>
              <a:t>int</a:t>
            </a:r>
            <a:r>
              <a:rPr lang="en-US" altLang="zh-CN" dirty="0" smtClean="0">
                <a:ea typeface="华文楷体" panose="02010600040101010101" pitchFamily="2" charset="-122"/>
              </a:rPr>
              <a:t> bf;</a:t>
            </a:r>
            <a:endParaRPr lang="en-US" altLang="zh-CN" dirty="0" smtClean="0">
              <a:ea typeface="华文楷体" panose="02010600040101010101" pitchFamily="2" charset="-122"/>
            </a:endParaRPr>
          </a:p>
          <a:p>
            <a:pPr eaLnBrk="1" hangingPunct="1">
              <a:lnSpc>
                <a:spcPct val="85000"/>
              </a:lnSpc>
            </a:pPr>
            <a:r>
              <a:rPr lang="en-US" altLang="zh-CN" dirty="0">
                <a:ea typeface="华文楷体" panose="02010600040101010101" pitchFamily="2" charset="-122"/>
              </a:rPr>
              <a:t> </a:t>
            </a:r>
            <a:r>
              <a:rPr lang="en-US" altLang="zh-CN" dirty="0" smtClean="0">
                <a:ea typeface="华文楷体" panose="02010600040101010101" pitchFamily="2" charset="-122"/>
              </a:rPr>
              <a:t>    </a:t>
            </a:r>
            <a:r>
              <a:rPr lang="en-US" altLang="zh-CN" dirty="0" err="1" smtClean="0">
                <a:ea typeface="华文楷体" panose="02010600040101010101" pitchFamily="2" charset="-122"/>
              </a:rPr>
              <a:t>elemtype</a:t>
            </a:r>
            <a:r>
              <a:rPr lang="en-US" altLang="zh-CN" dirty="0" smtClean="0">
                <a:ea typeface="华文楷体" panose="02010600040101010101" pitchFamily="2" charset="-122"/>
              </a:rPr>
              <a:t> data;</a:t>
            </a:r>
            <a:endParaRPr lang="en-US" altLang="zh-CN" dirty="0">
              <a:ea typeface="华文楷体" panose="02010600040101010101" pitchFamily="2" charset="-122"/>
            </a:endParaRPr>
          </a:p>
          <a:p>
            <a:pPr eaLnBrk="1" hangingPunct="1">
              <a:lnSpc>
                <a:spcPct val="85000"/>
              </a:lnSpc>
            </a:pPr>
            <a:endParaRPr lang="en-US" altLang="zh-CN" dirty="0" smtClean="0">
              <a:ea typeface="华文楷体" panose="02010600040101010101" pitchFamily="2" charset="-122"/>
            </a:endParaRPr>
          </a:p>
          <a:p>
            <a:pPr eaLnBrk="1" hangingPunct="1">
              <a:lnSpc>
                <a:spcPct val="85000"/>
              </a:lnSpc>
            </a:pPr>
            <a:r>
              <a:rPr lang="en-US" altLang="zh-CN" dirty="0" smtClean="0">
                <a:ea typeface="华文楷体" panose="02010600040101010101" pitchFamily="2" charset="-122"/>
              </a:rPr>
              <a:t>};</a:t>
            </a:r>
            <a:endParaRPr lang="en-US" altLang="zh-CN" dirty="0" smtClean="0">
              <a:ea typeface="华文楷体" panose="02010600040101010101" pitchFamily="2" charset="-122"/>
            </a:endParaRPr>
          </a:p>
          <a:p>
            <a:pPr eaLnBrk="1" hangingPunct="1">
              <a:lnSpc>
                <a:spcPct val="85000"/>
              </a:lnSpc>
            </a:pPr>
            <a:r>
              <a:rPr lang="en-US" altLang="zh-CN" dirty="0" err="1" smtClean="0">
                <a:ea typeface="华文楷体" panose="02010600040101010101" pitchFamily="2" charset="-122"/>
              </a:rPr>
              <a:t>typedef</a:t>
            </a:r>
            <a:r>
              <a:rPr lang="en-US" altLang="zh-CN" dirty="0" smtClean="0">
                <a:ea typeface="华文楷体" panose="02010600040101010101" pitchFamily="2" charset="-122"/>
              </a:rPr>
              <a:t> </a:t>
            </a:r>
            <a:r>
              <a:rPr lang="en-US" altLang="zh-CN" dirty="0" err="1" smtClean="0">
                <a:ea typeface="华文楷体" panose="02010600040101010101" pitchFamily="2" charset="-122"/>
              </a:rPr>
              <a:t>struct</a:t>
            </a:r>
            <a:r>
              <a:rPr lang="en-US" altLang="zh-CN" dirty="0" smtClean="0">
                <a:ea typeface="华文楷体" panose="02010600040101010101" pitchFamily="2" charset="-122"/>
              </a:rPr>
              <a:t> </a:t>
            </a:r>
            <a:r>
              <a:rPr lang="en-US" altLang="zh-CN" dirty="0" err="1" smtClean="0">
                <a:ea typeface="华文楷体" panose="02010600040101010101" pitchFamily="2" charset="-122"/>
              </a:rPr>
              <a:t>TreeNode</a:t>
            </a:r>
            <a:r>
              <a:rPr lang="en-US" altLang="zh-CN" dirty="0" smtClean="0">
                <a:ea typeface="华文楷体" panose="02010600040101010101" pitchFamily="2" charset="-122"/>
              </a:rPr>
              <a:t>* </a:t>
            </a:r>
            <a:r>
              <a:rPr lang="en-US" altLang="zh-CN" dirty="0" err="1" smtClean="0">
                <a:ea typeface="华文楷体" panose="02010600040101010101" pitchFamily="2" charset="-122"/>
              </a:rPr>
              <a:t>AVLTree</a:t>
            </a:r>
            <a:r>
              <a:rPr lang="en-US" altLang="zh-CN" dirty="0" err="1" smtClean="0">
                <a:solidFill>
                  <a:srgbClr val="FF0000"/>
                </a:solidFill>
                <a:ea typeface="华文楷体" panose="02010600040101010101" pitchFamily="2" charset="-122"/>
              </a:rPr>
              <a:t>B</a:t>
            </a:r>
            <a:r>
              <a:rPr lang="en-US" altLang="zh-CN" dirty="0" smtClean="0">
                <a:ea typeface="华文楷体" panose="02010600040101010101" pitchFamily="2" charset="-122"/>
              </a:rPr>
              <a:t>;</a:t>
            </a:r>
            <a:endParaRPr lang="en-US" altLang="zh-CN" dirty="0">
              <a:ea typeface="华文楷体" panose="02010600040101010101" pitchFamily="2" charset="-122"/>
            </a:endParaRPr>
          </a:p>
          <a:p>
            <a:pPr eaLnBrk="1" hangingPunct="1">
              <a:lnSpc>
                <a:spcPct val="85000"/>
              </a:lnSpc>
            </a:pPr>
            <a:r>
              <a:rPr lang="en-US" altLang="zh-CN" dirty="0" err="1">
                <a:ea typeface="华文楷体" panose="02010600040101010101" pitchFamily="2" charset="-122"/>
              </a:rPr>
              <a:t>typedef</a:t>
            </a:r>
            <a:r>
              <a:rPr lang="en-US" altLang="zh-CN" dirty="0">
                <a:ea typeface="华文楷体" panose="02010600040101010101" pitchFamily="2" charset="-122"/>
              </a:rPr>
              <a:t> </a:t>
            </a:r>
            <a:r>
              <a:rPr lang="en-US" altLang="zh-CN" dirty="0" err="1">
                <a:ea typeface="华文楷体" panose="02010600040101010101" pitchFamily="2" charset="-122"/>
              </a:rPr>
              <a:t>struct</a:t>
            </a:r>
            <a:r>
              <a:rPr lang="en-US" altLang="zh-CN" dirty="0">
                <a:ea typeface="华文楷体" panose="02010600040101010101" pitchFamily="2" charset="-122"/>
              </a:rPr>
              <a:t> </a:t>
            </a:r>
            <a:r>
              <a:rPr lang="en-US" altLang="zh-CN" dirty="0" err="1">
                <a:ea typeface="华文楷体" panose="02010600040101010101" pitchFamily="2" charset="-122"/>
              </a:rPr>
              <a:t>TreeNode</a:t>
            </a:r>
            <a:r>
              <a:rPr lang="en-US" altLang="zh-CN" dirty="0" smtClean="0">
                <a:ea typeface="华文楷体" panose="02010600040101010101" pitchFamily="2" charset="-122"/>
              </a:rPr>
              <a:t>* </a:t>
            </a:r>
            <a:r>
              <a:rPr lang="en-US" altLang="zh-CN" dirty="0" err="1" smtClean="0">
                <a:ea typeface="华文楷体" panose="02010600040101010101" pitchFamily="2" charset="-122"/>
              </a:rPr>
              <a:t>Position</a:t>
            </a:r>
            <a:r>
              <a:rPr lang="en-US" altLang="zh-CN" dirty="0" err="1" smtClean="0">
                <a:solidFill>
                  <a:srgbClr val="FF0000"/>
                </a:solidFill>
                <a:ea typeface="华文楷体" panose="02010600040101010101" pitchFamily="2" charset="-122"/>
              </a:rPr>
              <a:t>B</a:t>
            </a:r>
            <a:r>
              <a:rPr lang="en-US" altLang="zh-CN" dirty="0" smtClean="0">
                <a:ea typeface="华文楷体" panose="02010600040101010101" pitchFamily="2" charset="-122"/>
              </a:rPr>
              <a:t>;</a:t>
            </a:r>
            <a:endParaRPr lang="en-US" altLang="zh-CN" dirty="0" smtClean="0">
              <a:ea typeface="华文楷体" panose="02010600040101010101" pitchFamily="2" charset="-122"/>
            </a:endParaRPr>
          </a:p>
          <a:p>
            <a:pPr eaLnBrk="1" hangingPunct="1">
              <a:lnSpc>
                <a:spcPct val="85000"/>
              </a:lnSpc>
            </a:pPr>
            <a:endParaRPr lang="en-US" altLang="zh-CN" dirty="0" smtClean="0">
              <a:ea typeface="华文楷体" panose="02010600040101010101" pitchFamily="2" charset="-122"/>
            </a:endParaRPr>
          </a:p>
          <a:p>
            <a:pPr eaLnBrk="1" hangingPunct="1">
              <a:lnSpc>
                <a:spcPct val="85000"/>
              </a:lnSpc>
            </a:pPr>
            <a:r>
              <a:rPr lang="zh-CN" altLang="en-US" dirty="0" smtClean="0">
                <a:ea typeface="华文楷体" panose="02010600040101010101" pitchFamily="2" charset="-122"/>
              </a:rPr>
              <a:t>依照定义的格式，常用形式</a:t>
            </a:r>
            <a:endParaRPr lang="zh-CN" altLang="en-US" dirty="0">
              <a:ea typeface="华文楷体" panose="02010600040101010101" pitchFamily="2" charset="-122"/>
            </a:endParaRPr>
          </a:p>
        </p:txBody>
      </p:sp>
      <p:pic>
        <p:nvPicPr>
          <p:cNvPr id="4" name="图片 3"/>
          <p:cNvPicPr>
            <a:picLocks noChangeAspect="1"/>
          </p:cNvPicPr>
          <p:nvPr/>
        </p:nvPicPr>
        <p:blipFill>
          <a:blip r:embed="rId2"/>
          <a:stretch>
            <a:fillRect/>
          </a:stretch>
        </p:blipFill>
        <p:spPr>
          <a:xfrm>
            <a:off x="4992903" y="1844825"/>
            <a:ext cx="3540520" cy="648072"/>
          </a:xfrm>
          <a:prstGeom prst="rect">
            <a:avLst/>
          </a:prstGeom>
        </p:spPr>
      </p:pic>
      <p:sp>
        <p:nvSpPr>
          <p:cNvPr id="13" name="文本框 12"/>
          <p:cNvSpPr txBox="1"/>
          <p:nvPr/>
        </p:nvSpPr>
        <p:spPr>
          <a:xfrm>
            <a:off x="4813559" y="2664994"/>
            <a:ext cx="3886577" cy="3956468"/>
          </a:xfrm>
          <a:prstGeom prst="rect">
            <a:avLst/>
          </a:prstGeom>
          <a:noFill/>
          <a:ln>
            <a:solidFill>
              <a:schemeClr val="accent1"/>
            </a:solidFill>
          </a:ln>
        </p:spPr>
        <p:txBody>
          <a:bodyPr wrap="none" rtlCol="0">
            <a:spAutoFit/>
          </a:bodyPr>
          <a:lstStyle/>
          <a:p>
            <a:pPr eaLnBrk="1" hangingPunct="1">
              <a:lnSpc>
                <a:spcPct val="120000"/>
              </a:lnSpc>
              <a:buFont typeface="Wingdings" panose="05000000000000000000" pitchFamily="2" charset="2"/>
              <a:buNone/>
            </a:pPr>
            <a:r>
              <a:rPr lang="en-US" altLang="zh-CN" dirty="0" smtClean="0">
                <a:ea typeface="华文楷体" panose="02010600040101010101" pitchFamily="2" charset="-122"/>
              </a:rPr>
              <a:t>left</a:t>
            </a:r>
            <a:r>
              <a:rPr lang="zh-CN" altLang="en-US" dirty="0" smtClean="0">
                <a:ea typeface="华文楷体" panose="02010600040101010101" pitchFamily="2" charset="-122"/>
              </a:rPr>
              <a:t>：</a:t>
            </a:r>
            <a:r>
              <a:rPr lang="zh-CN" altLang="en-US" dirty="0">
                <a:ea typeface="华文楷体" panose="02010600040101010101" pitchFamily="2" charset="-122"/>
              </a:rPr>
              <a:t>左孩子指</a:t>
            </a:r>
            <a:r>
              <a:rPr lang="en-US" altLang="zh-CN" dirty="0">
                <a:ea typeface="华文楷体" panose="02010600040101010101" pitchFamily="2" charset="-122"/>
              </a:rPr>
              <a:t>key</a:t>
            </a:r>
            <a:endParaRPr lang="en-US" altLang="en-US" dirty="0"/>
          </a:p>
          <a:p>
            <a:pPr eaLnBrk="1" hangingPunct="1">
              <a:lnSpc>
                <a:spcPct val="85000"/>
              </a:lnSpc>
              <a:buFont typeface="Wingdings" panose="05000000000000000000" pitchFamily="2" charset="2"/>
              <a:buNone/>
            </a:pPr>
            <a:r>
              <a:rPr lang="en-US" altLang="zh-CN" dirty="0" smtClean="0">
                <a:ea typeface="华文楷体" panose="02010600040101010101" pitchFamily="2" charset="-122"/>
              </a:rPr>
              <a:t>right</a:t>
            </a:r>
            <a:r>
              <a:rPr lang="zh-CN" altLang="en-US" dirty="0" smtClean="0">
                <a:ea typeface="华文楷体" panose="02010600040101010101" pitchFamily="2" charset="-122"/>
              </a:rPr>
              <a:t>：</a:t>
            </a:r>
            <a:r>
              <a:rPr lang="zh-CN" altLang="en-US" dirty="0">
                <a:ea typeface="华文楷体" panose="02010600040101010101" pitchFamily="2" charset="-122"/>
              </a:rPr>
              <a:t>右孩子指针</a:t>
            </a:r>
            <a:endParaRPr lang="en-US" altLang="en-US" dirty="0"/>
          </a:p>
          <a:p>
            <a:pPr eaLnBrk="1" hangingPunct="1">
              <a:lnSpc>
                <a:spcPct val="85000"/>
              </a:lnSpc>
              <a:buFont typeface="Wingdings" panose="05000000000000000000" pitchFamily="2" charset="2"/>
              <a:buNone/>
            </a:pPr>
            <a:r>
              <a:rPr lang="en-US" altLang="zh-CN" dirty="0" smtClean="0">
                <a:ea typeface="华文楷体" panose="02010600040101010101" pitchFamily="2" charset="-122"/>
              </a:rPr>
              <a:t>height</a:t>
            </a:r>
            <a:r>
              <a:rPr lang="zh-CN" altLang="en-US" dirty="0" smtClean="0">
                <a:ea typeface="华文楷体" panose="02010600040101010101" pitchFamily="2" charset="-122"/>
              </a:rPr>
              <a:t>：以该结点为根的子树高度</a:t>
            </a:r>
            <a:endParaRPr lang="en-US" altLang="zh-CN" dirty="0" smtClean="0">
              <a:ea typeface="华文楷体" panose="02010600040101010101" pitchFamily="2" charset="-122"/>
            </a:endParaRPr>
          </a:p>
          <a:p>
            <a:pPr eaLnBrk="1" hangingPunct="1">
              <a:lnSpc>
                <a:spcPct val="85000"/>
              </a:lnSpc>
              <a:buFont typeface="Wingdings" panose="05000000000000000000" pitchFamily="2" charset="2"/>
              <a:buNone/>
            </a:pPr>
            <a:r>
              <a:rPr lang="en-US" altLang="zh-CN" dirty="0" smtClean="0">
                <a:ea typeface="华文楷体" panose="02010600040101010101" pitchFamily="2" charset="-122"/>
              </a:rPr>
              <a:t>data</a:t>
            </a:r>
            <a:r>
              <a:rPr lang="zh-CN" altLang="en-US" dirty="0" smtClean="0">
                <a:ea typeface="华文楷体" panose="02010600040101010101" pitchFamily="2" charset="-122"/>
              </a:rPr>
              <a:t>：</a:t>
            </a:r>
            <a:r>
              <a:rPr lang="zh-CN" altLang="en-US" dirty="0">
                <a:ea typeface="华文楷体" panose="02010600040101010101" pitchFamily="2" charset="-122"/>
              </a:rPr>
              <a:t>数据</a:t>
            </a:r>
            <a:r>
              <a:rPr lang="zh-CN" altLang="en-US" dirty="0" smtClean="0">
                <a:ea typeface="华文楷体" panose="02010600040101010101" pitchFamily="2" charset="-122"/>
              </a:rPr>
              <a:t>元素</a:t>
            </a:r>
            <a:endParaRPr lang="en-US" altLang="zh-CN" dirty="0" smtClean="0">
              <a:ea typeface="华文楷体" panose="02010600040101010101" pitchFamily="2" charset="-122"/>
            </a:endParaRPr>
          </a:p>
          <a:p>
            <a:pPr eaLnBrk="1" hangingPunct="1">
              <a:lnSpc>
                <a:spcPct val="85000"/>
              </a:lnSpc>
            </a:pPr>
            <a:r>
              <a:rPr lang="en-US" altLang="zh-CN" dirty="0" err="1">
                <a:ea typeface="华文楷体" panose="02010600040101010101" pitchFamily="2" charset="-122"/>
              </a:rPr>
              <a:t>Struct</a:t>
            </a:r>
            <a:r>
              <a:rPr lang="en-US" altLang="zh-CN" dirty="0">
                <a:ea typeface="华文楷体" panose="02010600040101010101" pitchFamily="2" charset="-122"/>
              </a:rPr>
              <a:t> </a:t>
            </a:r>
            <a:r>
              <a:rPr lang="en-US" altLang="zh-CN" dirty="0" err="1">
                <a:ea typeface="华文楷体" panose="02010600040101010101" pitchFamily="2" charset="-122"/>
              </a:rPr>
              <a:t>TreeNode</a:t>
            </a:r>
            <a:endParaRPr lang="en-US" altLang="zh-CN" dirty="0">
              <a:ea typeface="华文楷体" panose="02010600040101010101" pitchFamily="2" charset="-122"/>
            </a:endParaRPr>
          </a:p>
          <a:p>
            <a:pPr eaLnBrk="1" hangingPunct="1">
              <a:lnSpc>
                <a:spcPct val="85000"/>
              </a:lnSpc>
            </a:pPr>
            <a:r>
              <a:rPr lang="en-US" altLang="zh-CN" dirty="0">
                <a:ea typeface="华文楷体" panose="02010600040101010101" pitchFamily="2" charset="-122"/>
              </a:rPr>
              <a:t>{</a:t>
            </a:r>
            <a:endParaRPr lang="en-US" altLang="zh-CN" dirty="0">
              <a:ea typeface="华文楷体" panose="02010600040101010101" pitchFamily="2" charset="-122"/>
            </a:endParaRPr>
          </a:p>
          <a:p>
            <a:pPr eaLnBrk="1" hangingPunct="1">
              <a:lnSpc>
                <a:spcPct val="85000"/>
              </a:lnSpc>
            </a:pPr>
            <a:r>
              <a:rPr lang="en-US" altLang="zh-CN" dirty="0">
                <a:ea typeface="华文楷体" panose="02010600040101010101" pitchFamily="2" charset="-122"/>
              </a:rPr>
              <a:t>     </a:t>
            </a:r>
            <a:r>
              <a:rPr lang="en-US" altLang="zh-CN" dirty="0" err="1">
                <a:ea typeface="华文楷体" panose="02010600040101010101" pitchFamily="2" charset="-122"/>
              </a:rPr>
              <a:t>Struct</a:t>
            </a:r>
            <a:r>
              <a:rPr lang="en-US" altLang="zh-CN" dirty="0">
                <a:ea typeface="华文楷体" panose="02010600040101010101" pitchFamily="2" charset="-122"/>
              </a:rPr>
              <a:t> </a:t>
            </a:r>
            <a:r>
              <a:rPr lang="en-US" altLang="zh-CN" dirty="0" err="1">
                <a:ea typeface="华文楷体" panose="02010600040101010101" pitchFamily="2" charset="-122"/>
              </a:rPr>
              <a:t>TreeNode</a:t>
            </a:r>
            <a:r>
              <a:rPr lang="en-US" altLang="zh-CN" dirty="0">
                <a:ea typeface="华文楷体" panose="02010600040101010101" pitchFamily="2" charset="-122"/>
              </a:rPr>
              <a:t> * left;</a:t>
            </a:r>
            <a:endParaRPr lang="en-US" altLang="zh-CN" dirty="0">
              <a:ea typeface="华文楷体" panose="02010600040101010101" pitchFamily="2" charset="-122"/>
            </a:endParaRPr>
          </a:p>
          <a:p>
            <a:pPr eaLnBrk="1" hangingPunct="1">
              <a:lnSpc>
                <a:spcPct val="85000"/>
              </a:lnSpc>
            </a:pPr>
            <a:r>
              <a:rPr lang="en-US" altLang="zh-CN" dirty="0">
                <a:ea typeface="华文楷体" panose="02010600040101010101" pitchFamily="2" charset="-122"/>
              </a:rPr>
              <a:t>     </a:t>
            </a:r>
            <a:r>
              <a:rPr lang="en-US" altLang="zh-CN" dirty="0" err="1">
                <a:ea typeface="华文楷体" panose="02010600040101010101" pitchFamily="2" charset="-122"/>
              </a:rPr>
              <a:t>Struct</a:t>
            </a:r>
            <a:r>
              <a:rPr lang="en-US" altLang="zh-CN" dirty="0">
                <a:ea typeface="华文楷体" panose="02010600040101010101" pitchFamily="2" charset="-122"/>
              </a:rPr>
              <a:t> </a:t>
            </a:r>
            <a:r>
              <a:rPr lang="en-US" altLang="zh-CN" dirty="0" err="1">
                <a:ea typeface="华文楷体" panose="02010600040101010101" pitchFamily="2" charset="-122"/>
              </a:rPr>
              <a:t>TreeNode</a:t>
            </a:r>
            <a:r>
              <a:rPr lang="en-US" altLang="zh-CN" dirty="0">
                <a:ea typeface="华文楷体" panose="02010600040101010101" pitchFamily="2" charset="-122"/>
              </a:rPr>
              <a:t> * right;</a:t>
            </a:r>
            <a:endParaRPr lang="en-US" altLang="zh-CN" dirty="0">
              <a:ea typeface="华文楷体" panose="02010600040101010101" pitchFamily="2" charset="-122"/>
            </a:endParaRPr>
          </a:p>
          <a:p>
            <a:pPr eaLnBrk="1" hangingPunct="1">
              <a:lnSpc>
                <a:spcPct val="85000"/>
              </a:lnSpc>
            </a:pPr>
            <a:r>
              <a:rPr lang="en-US" altLang="zh-CN" dirty="0">
                <a:ea typeface="华文楷体" panose="02010600040101010101" pitchFamily="2" charset="-122"/>
              </a:rPr>
              <a:t>     </a:t>
            </a:r>
            <a:r>
              <a:rPr lang="en-US" altLang="zh-CN" dirty="0" err="1">
                <a:ea typeface="华文楷体" panose="02010600040101010101" pitchFamily="2" charset="-122"/>
              </a:rPr>
              <a:t>int</a:t>
            </a:r>
            <a:r>
              <a:rPr lang="en-US" altLang="zh-CN" dirty="0">
                <a:ea typeface="华文楷体" panose="02010600040101010101" pitchFamily="2" charset="-122"/>
              </a:rPr>
              <a:t> </a:t>
            </a:r>
            <a:r>
              <a:rPr lang="en-US" altLang="zh-CN" dirty="0" smtClean="0">
                <a:ea typeface="华文楷体" panose="02010600040101010101" pitchFamily="2" charset="-122"/>
              </a:rPr>
              <a:t>height;</a:t>
            </a:r>
            <a:endParaRPr lang="en-US" altLang="zh-CN" dirty="0">
              <a:ea typeface="华文楷体" panose="02010600040101010101" pitchFamily="2" charset="-122"/>
            </a:endParaRPr>
          </a:p>
          <a:p>
            <a:pPr eaLnBrk="1" hangingPunct="1">
              <a:lnSpc>
                <a:spcPct val="85000"/>
              </a:lnSpc>
            </a:pPr>
            <a:r>
              <a:rPr lang="en-US" altLang="zh-CN" dirty="0">
                <a:ea typeface="华文楷体" panose="02010600040101010101" pitchFamily="2" charset="-122"/>
              </a:rPr>
              <a:t>     </a:t>
            </a:r>
            <a:r>
              <a:rPr lang="en-US" altLang="zh-CN" dirty="0" err="1">
                <a:ea typeface="华文楷体" panose="02010600040101010101" pitchFamily="2" charset="-122"/>
              </a:rPr>
              <a:t>elemtype</a:t>
            </a:r>
            <a:r>
              <a:rPr lang="en-US" altLang="zh-CN" dirty="0">
                <a:ea typeface="华文楷体" panose="02010600040101010101" pitchFamily="2" charset="-122"/>
              </a:rPr>
              <a:t> data;</a:t>
            </a:r>
            <a:endParaRPr lang="en-US" altLang="zh-CN" dirty="0">
              <a:ea typeface="华文楷体" panose="02010600040101010101" pitchFamily="2" charset="-122"/>
            </a:endParaRPr>
          </a:p>
          <a:p>
            <a:pPr eaLnBrk="1" hangingPunct="1">
              <a:lnSpc>
                <a:spcPct val="85000"/>
              </a:lnSpc>
            </a:pPr>
            <a:endParaRPr lang="en-US" altLang="zh-CN" dirty="0">
              <a:ea typeface="华文楷体" panose="02010600040101010101" pitchFamily="2" charset="-122"/>
            </a:endParaRPr>
          </a:p>
          <a:p>
            <a:pPr eaLnBrk="1" hangingPunct="1">
              <a:lnSpc>
                <a:spcPct val="85000"/>
              </a:lnSpc>
            </a:pPr>
            <a:r>
              <a:rPr lang="en-US" altLang="zh-CN" dirty="0">
                <a:ea typeface="华文楷体" panose="02010600040101010101" pitchFamily="2" charset="-122"/>
              </a:rPr>
              <a:t>};</a:t>
            </a:r>
            <a:endParaRPr lang="en-US" altLang="zh-CN" dirty="0">
              <a:ea typeface="华文楷体" panose="02010600040101010101" pitchFamily="2" charset="-122"/>
            </a:endParaRPr>
          </a:p>
          <a:p>
            <a:pPr eaLnBrk="1" hangingPunct="1">
              <a:lnSpc>
                <a:spcPct val="85000"/>
              </a:lnSpc>
            </a:pPr>
            <a:r>
              <a:rPr lang="en-US" altLang="zh-CN" dirty="0" err="1">
                <a:ea typeface="华文楷体" panose="02010600040101010101" pitchFamily="2" charset="-122"/>
              </a:rPr>
              <a:t>typedef</a:t>
            </a:r>
            <a:r>
              <a:rPr lang="en-US" altLang="zh-CN" dirty="0">
                <a:ea typeface="华文楷体" panose="02010600040101010101" pitchFamily="2" charset="-122"/>
              </a:rPr>
              <a:t> </a:t>
            </a:r>
            <a:r>
              <a:rPr lang="en-US" altLang="zh-CN" dirty="0" err="1">
                <a:ea typeface="华文楷体" panose="02010600040101010101" pitchFamily="2" charset="-122"/>
              </a:rPr>
              <a:t>struct</a:t>
            </a:r>
            <a:r>
              <a:rPr lang="en-US" altLang="zh-CN" dirty="0">
                <a:ea typeface="华文楷体" panose="02010600040101010101" pitchFamily="2" charset="-122"/>
              </a:rPr>
              <a:t> </a:t>
            </a:r>
            <a:r>
              <a:rPr lang="en-US" altLang="zh-CN" dirty="0" err="1">
                <a:ea typeface="华文楷体" panose="02010600040101010101" pitchFamily="2" charset="-122"/>
              </a:rPr>
              <a:t>TreeNode</a:t>
            </a:r>
            <a:r>
              <a:rPr lang="en-US" altLang="zh-CN" dirty="0">
                <a:ea typeface="华文楷体" panose="02010600040101010101" pitchFamily="2" charset="-122"/>
              </a:rPr>
              <a:t>* </a:t>
            </a:r>
            <a:r>
              <a:rPr lang="en-US" altLang="zh-CN" dirty="0" err="1" smtClean="0">
                <a:ea typeface="华文楷体" panose="02010600040101010101" pitchFamily="2" charset="-122"/>
              </a:rPr>
              <a:t>AVLTree</a:t>
            </a:r>
            <a:r>
              <a:rPr lang="en-US" altLang="zh-CN" dirty="0" err="1" smtClean="0">
                <a:solidFill>
                  <a:srgbClr val="FF0000"/>
                </a:solidFill>
                <a:ea typeface="华文楷体" panose="02010600040101010101" pitchFamily="2" charset="-122"/>
              </a:rPr>
              <a:t>H</a:t>
            </a:r>
            <a:r>
              <a:rPr lang="en-US" altLang="zh-CN" dirty="0" smtClean="0">
                <a:ea typeface="华文楷体" panose="02010600040101010101" pitchFamily="2" charset="-122"/>
              </a:rPr>
              <a:t>;</a:t>
            </a:r>
            <a:endParaRPr lang="en-US" altLang="zh-CN" dirty="0">
              <a:ea typeface="华文楷体" panose="02010600040101010101" pitchFamily="2" charset="-122"/>
            </a:endParaRPr>
          </a:p>
          <a:p>
            <a:pPr eaLnBrk="1" hangingPunct="1">
              <a:lnSpc>
                <a:spcPct val="85000"/>
              </a:lnSpc>
            </a:pPr>
            <a:r>
              <a:rPr lang="en-US" altLang="zh-CN" dirty="0" err="1">
                <a:ea typeface="华文楷体" panose="02010600040101010101" pitchFamily="2" charset="-122"/>
              </a:rPr>
              <a:t>typedef</a:t>
            </a:r>
            <a:r>
              <a:rPr lang="en-US" altLang="zh-CN" dirty="0">
                <a:ea typeface="华文楷体" panose="02010600040101010101" pitchFamily="2" charset="-122"/>
              </a:rPr>
              <a:t> </a:t>
            </a:r>
            <a:r>
              <a:rPr lang="en-US" altLang="zh-CN" dirty="0" err="1">
                <a:ea typeface="华文楷体" panose="02010600040101010101" pitchFamily="2" charset="-122"/>
              </a:rPr>
              <a:t>struct</a:t>
            </a:r>
            <a:r>
              <a:rPr lang="en-US" altLang="zh-CN" dirty="0">
                <a:ea typeface="华文楷体" panose="02010600040101010101" pitchFamily="2" charset="-122"/>
              </a:rPr>
              <a:t> </a:t>
            </a:r>
            <a:r>
              <a:rPr lang="en-US" altLang="zh-CN" dirty="0" err="1">
                <a:ea typeface="华文楷体" panose="02010600040101010101" pitchFamily="2" charset="-122"/>
              </a:rPr>
              <a:t>TreeNode</a:t>
            </a:r>
            <a:r>
              <a:rPr lang="en-US" altLang="zh-CN" dirty="0">
                <a:ea typeface="华文楷体" panose="02010600040101010101" pitchFamily="2" charset="-122"/>
              </a:rPr>
              <a:t>* </a:t>
            </a:r>
            <a:r>
              <a:rPr lang="en-US" altLang="zh-CN" dirty="0" err="1" smtClean="0">
                <a:ea typeface="华文楷体" panose="02010600040101010101" pitchFamily="2" charset="-122"/>
              </a:rPr>
              <a:t>Position</a:t>
            </a:r>
            <a:r>
              <a:rPr lang="en-US" altLang="zh-CN" dirty="0" err="1" smtClean="0">
                <a:solidFill>
                  <a:srgbClr val="FF0000"/>
                </a:solidFill>
                <a:ea typeface="华文楷体" panose="02010600040101010101" pitchFamily="2" charset="-122"/>
              </a:rPr>
              <a:t>H</a:t>
            </a:r>
            <a:r>
              <a:rPr lang="en-US" altLang="zh-CN" dirty="0" smtClean="0">
                <a:ea typeface="华文楷体" panose="02010600040101010101" pitchFamily="2" charset="-122"/>
              </a:rPr>
              <a:t>;</a:t>
            </a:r>
            <a:endParaRPr lang="en-US" altLang="zh-CN" dirty="0">
              <a:ea typeface="华文楷体" panose="02010600040101010101" pitchFamily="2" charset="-122"/>
            </a:endParaRPr>
          </a:p>
          <a:p>
            <a:pPr eaLnBrk="1" hangingPunct="1">
              <a:lnSpc>
                <a:spcPct val="85000"/>
              </a:lnSpc>
              <a:buFont typeface="Wingdings" panose="05000000000000000000" pitchFamily="2" charset="2"/>
              <a:buNone/>
            </a:pPr>
            <a:endParaRPr lang="en-US" altLang="zh-CN" dirty="0" smtClean="0">
              <a:ea typeface="华文楷体" panose="02010600040101010101" pitchFamily="2" charset="-122"/>
            </a:endParaRPr>
          </a:p>
          <a:p>
            <a:pPr eaLnBrk="1" hangingPunct="1">
              <a:lnSpc>
                <a:spcPct val="85000"/>
              </a:lnSpc>
            </a:pPr>
            <a:r>
              <a:rPr lang="zh-CN" altLang="en-US" dirty="0" smtClean="0">
                <a:ea typeface="华文楷体" panose="02010600040101010101" pitchFamily="2" charset="-122"/>
              </a:rPr>
              <a:t>非常用形式，但实现</a:t>
            </a:r>
            <a:r>
              <a:rPr lang="zh-CN" altLang="en-US" dirty="0">
                <a:ea typeface="华文楷体" panose="02010600040101010101" pitchFamily="2" charset="-122"/>
              </a:rPr>
              <a:t>操作</a:t>
            </a:r>
            <a:r>
              <a:rPr lang="zh-CN" altLang="en-US" dirty="0" smtClean="0">
                <a:ea typeface="华文楷体" panose="02010600040101010101" pitchFamily="2" charset="-122"/>
              </a:rPr>
              <a:t>更简便</a:t>
            </a:r>
            <a:endParaRPr lang="zh-CN" altLang="en-US" dirty="0">
              <a:ea typeface="华文楷体" panose="02010600040101010101" pitchFamily="2" charset="-122"/>
            </a:endParaRPr>
          </a:p>
        </p:txBody>
      </p:sp>
      <p:cxnSp>
        <p:nvCxnSpPr>
          <p:cNvPr id="6" name="直接连接符 5"/>
          <p:cNvCxnSpPr/>
          <p:nvPr/>
        </p:nvCxnSpPr>
        <p:spPr bwMode="auto">
          <a:xfrm>
            <a:off x="4499992" y="1066800"/>
            <a:ext cx="0" cy="579120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152525"/>
            <a:ext cx="3754760" cy="4508723"/>
          </a:xfrm>
          <a:ln>
            <a:solidFill>
              <a:schemeClr val="accent1"/>
            </a:solidFill>
          </a:ln>
        </p:spPr>
        <p:txBody>
          <a:bodyPr/>
          <a:lstStyle/>
          <a:p>
            <a:pPr marL="0" indent="0">
              <a:buNone/>
            </a:pPr>
            <a:r>
              <a:rPr lang="zh-CN" altLang="en-US" sz="2000" dirty="0">
                <a:ea typeface="华文楷体" panose="02010600040101010101" pitchFamily="2" charset="-122"/>
              </a:rPr>
              <a:t>利用</a:t>
            </a:r>
            <a:r>
              <a:rPr lang="zh-CN" altLang="en-US" sz="2000" dirty="0" smtClean="0">
                <a:ea typeface="华文楷体" panose="02010600040101010101" pitchFamily="2" charset="-122"/>
              </a:rPr>
              <a:t>平衡因子求高度</a:t>
            </a:r>
            <a:endParaRPr lang="en-US" altLang="zh-CN" sz="2000" dirty="0" smtClean="0">
              <a:ea typeface="华文楷体" panose="02010600040101010101" pitchFamily="2" charset="-122"/>
            </a:endParaRPr>
          </a:p>
          <a:p>
            <a:pPr marL="0" indent="0">
              <a:buNone/>
            </a:pPr>
            <a:r>
              <a:rPr lang="en-US" altLang="zh-CN" sz="2000" dirty="0" err="1" smtClean="0">
                <a:ea typeface="华文楷体" panose="02010600040101010101" pitchFamily="2" charset="-122"/>
              </a:rPr>
              <a:t>int</a:t>
            </a:r>
            <a:r>
              <a:rPr lang="en-US" altLang="zh-CN" sz="2000" dirty="0" smtClean="0">
                <a:ea typeface="华文楷体" panose="02010600040101010101" pitchFamily="2" charset="-122"/>
              </a:rPr>
              <a:t> Height(</a:t>
            </a:r>
            <a:r>
              <a:rPr lang="en-US" altLang="zh-CN" sz="2000" dirty="0" err="1" smtClean="0">
                <a:ea typeface="华文楷体" panose="02010600040101010101" pitchFamily="2" charset="-122"/>
              </a:rPr>
              <a:t>PositionB</a:t>
            </a:r>
            <a:r>
              <a:rPr lang="en-US" altLang="zh-CN" sz="2000" dirty="0" smtClean="0">
                <a:ea typeface="华文楷体" panose="02010600040101010101" pitchFamily="2" charset="-122"/>
              </a:rPr>
              <a:t> p)</a:t>
            </a:r>
            <a:endParaRPr lang="en-US" altLang="zh-CN" sz="2000" dirty="0" smtClean="0">
              <a:ea typeface="华文楷体" panose="02010600040101010101" pitchFamily="2" charset="-122"/>
            </a:endParaRPr>
          </a:p>
          <a:p>
            <a:pPr marL="0" indent="0">
              <a:buNone/>
            </a:pP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marL="0" indent="0">
              <a:buNone/>
            </a:pPr>
            <a:r>
              <a:rPr lang="en-US" altLang="zh-CN" sz="2000" dirty="0">
                <a:ea typeface="华文楷体" panose="02010600040101010101" pitchFamily="2" charset="-122"/>
              </a:rPr>
              <a:t> </a:t>
            </a:r>
            <a:r>
              <a:rPr lang="en-US" altLang="zh-CN" sz="2000" dirty="0" smtClean="0">
                <a:ea typeface="华文楷体" panose="02010600040101010101" pitchFamily="2" charset="-122"/>
              </a:rPr>
              <a:t>  </a:t>
            </a:r>
            <a:r>
              <a:rPr lang="en-US" altLang="zh-CN" sz="2000" dirty="0" err="1" smtClean="0">
                <a:ea typeface="华文楷体" panose="02010600040101010101" pitchFamily="2" charset="-122"/>
              </a:rPr>
              <a:t>int</a:t>
            </a:r>
            <a:r>
              <a:rPr lang="en-US" altLang="zh-CN" sz="2000" dirty="0" smtClean="0">
                <a:ea typeface="华文楷体" panose="02010600040101010101" pitchFamily="2" charset="-122"/>
              </a:rPr>
              <a:t> h=0;</a:t>
            </a:r>
            <a:endParaRPr lang="en-US" altLang="zh-CN" sz="2000" dirty="0" smtClean="0">
              <a:ea typeface="华文楷体" panose="02010600040101010101" pitchFamily="2" charset="-122"/>
            </a:endParaRPr>
          </a:p>
          <a:p>
            <a:pPr marL="0" indent="0">
              <a:buNone/>
            </a:pPr>
            <a:r>
              <a:rPr lang="en-US" altLang="zh-CN" sz="2000" dirty="0" smtClean="0">
                <a:ea typeface="华文楷体" panose="02010600040101010101" pitchFamily="2" charset="-122"/>
              </a:rPr>
              <a:t>   while (p!=NULL)</a:t>
            </a:r>
            <a:endParaRPr lang="en-US" altLang="zh-CN" sz="2000" dirty="0" smtClean="0">
              <a:ea typeface="华文楷体" panose="02010600040101010101" pitchFamily="2" charset="-122"/>
            </a:endParaRPr>
          </a:p>
          <a:p>
            <a:pPr marL="0" indent="0">
              <a:buNone/>
            </a:pPr>
            <a:r>
              <a:rPr lang="en-US" altLang="zh-CN" sz="2000" dirty="0" smtClean="0">
                <a:ea typeface="华文楷体" panose="02010600040101010101" pitchFamily="2" charset="-122"/>
              </a:rPr>
              <a:t>   {</a:t>
            </a:r>
            <a:endParaRPr lang="en-US" altLang="zh-CN" sz="2000" dirty="0" smtClean="0">
              <a:ea typeface="华文楷体" panose="02010600040101010101" pitchFamily="2" charset="-122"/>
            </a:endParaRPr>
          </a:p>
          <a:p>
            <a:pPr marL="0" indent="0">
              <a:buNone/>
            </a:pPr>
            <a:r>
              <a:rPr lang="en-US" altLang="zh-CN" sz="2000" dirty="0">
                <a:ea typeface="华文楷体" panose="02010600040101010101" pitchFamily="2" charset="-122"/>
              </a:rPr>
              <a:t> </a:t>
            </a:r>
            <a:r>
              <a:rPr lang="en-US" altLang="zh-CN" sz="2000" dirty="0" smtClean="0">
                <a:ea typeface="华文楷体" panose="02010600040101010101" pitchFamily="2" charset="-122"/>
              </a:rPr>
              <a:t>       h++;</a:t>
            </a:r>
            <a:endParaRPr lang="en-US" altLang="zh-CN" sz="2000" dirty="0" smtClean="0">
              <a:ea typeface="华文楷体" panose="02010600040101010101" pitchFamily="2" charset="-122"/>
            </a:endParaRPr>
          </a:p>
          <a:p>
            <a:pPr marL="0" indent="0">
              <a:buNone/>
            </a:pPr>
            <a:r>
              <a:rPr lang="en-US" altLang="zh-CN" sz="2000" dirty="0">
                <a:ea typeface="华文楷体" panose="02010600040101010101" pitchFamily="2" charset="-122"/>
              </a:rPr>
              <a:t> </a:t>
            </a:r>
            <a:r>
              <a:rPr lang="en-US" altLang="zh-CN" sz="2000" dirty="0" smtClean="0">
                <a:ea typeface="华文楷体" panose="02010600040101010101" pitchFamily="2" charset="-122"/>
              </a:rPr>
              <a:t>       if(p-&gt;bf &gt;= 0)  p = p-&gt;left;</a:t>
            </a:r>
            <a:endParaRPr lang="en-US" altLang="zh-CN" sz="2000" dirty="0" smtClean="0">
              <a:ea typeface="华文楷体" panose="02010600040101010101" pitchFamily="2" charset="-122"/>
            </a:endParaRPr>
          </a:p>
          <a:p>
            <a:pPr marL="0" indent="0">
              <a:buNone/>
            </a:pPr>
            <a:r>
              <a:rPr lang="en-US" altLang="zh-CN" sz="2000" dirty="0">
                <a:ea typeface="华文楷体" panose="02010600040101010101" pitchFamily="2" charset="-122"/>
              </a:rPr>
              <a:t> </a:t>
            </a:r>
            <a:r>
              <a:rPr lang="en-US" altLang="zh-CN" sz="2000" dirty="0" smtClean="0">
                <a:ea typeface="华文楷体" panose="02010600040101010101" pitchFamily="2" charset="-122"/>
              </a:rPr>
              <a:t>       else  p = p-&gt;right;</a:t>
            </a:r>
            <a:endParaRPr lang="en-US" altLang="zh-CN" sz="2000" dirty="0" smtClean="0">
              <a:ea typeface="华文楷体" panose="02010600040101010101" pitchFamily="2" charset="-122"/>
            </a:endParaRPr>
          </a:p>
          <a:p>
            <a:pPr marL="0" indent="0">
              <a:buNone/>
            </a:pPr>
            <a:r>
              <a:rPr lang="en-US" altLang="zh-CN" sz="2000" dirty="0">
                <a:ea typeface="华文楷体" panose="02010600040101010101" pitchFamily="2" charset="-122"/>
              </a:rPr>
              <a:t> </a:t>
            </a:r>
            <a:r>
              <a:rPr lang="en-US" altLang="zh-CN" sz="2000" dirty="0" smtClean="0">
                <a:ea typeface="华文楷体" panose="02010600040101010101" pitchFamily="2" charset="-122"/>
              </a:rPr>
              <a:t>   }</a:t>
            </a:r>
            <a:endParaRPr lang="en-US" altLang="zh-CN" sz="2000" dirty="0" smtClean="0">
              <a:ea typeface="华文楷体" panose="02010600040101010101" pitchFamily="2" charset="-122"/>
            </a:endParaRPr>
          </a:p>
          <a:p>
            <a:pPr marL="0" indent="0">
              <a:buNone/>
            </a:pPr>
            <a:r>
              <a:rPr lang="en-US" altLang="zh-CN" sz="2000" dirty="0" smtClean="0">
                <a:ea typeface="华文楷体" panose="02010600040101010101" pitchFamily="2" charset="-122"/>
              </a:rPr>
              <a:t>    return h;        </a:t>
            </a:r>
            <a:endParaRPr lang="en-US" altLang="zh-CN" sz="2000" dirty="0" smtClean="0">
              <a:ea typeface="华文楷体" panose="02010600040101010101" pitchFamily="2" charset="-122"/>
            </a:endParaRPr>
          </a:p>
          <a:p>
            <a:pPr marL="0" indent="0">
              <a:buNone/>
            </a:pPr>
            <a:r>
              <a:rPr lang="en-US" altLang="zh-CN" sz="2000" dirty="0">
                <a:ea typeface="华文楷体" panose="02010600040101010101" pitchFamily="2" charset="-122"/>
              </a:rPr>
              <a:t>}</a:t>
            </a:r>
            <a:endParaRPr lang="zh-CN" altLang="en-US" sz="2000" dirty="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
        <p:nvSpPr>
          <p:cNvPr id="6" name="内容占位符 2"/>
          <p:cNvSpPr txBox="1"/>
          <p:nvPr/>
        </p:nvSpPr>
        <p:spPr bwMode="auto">
          <a:xfrm>
            <a:off x="4533900" y="1152525"/>
            <a:ext cx="3754760" cy="4508723"/>
          </a:xfrm>
          <a:prstGeom prst="rect">
            <a:avLst/>
          </a:prstGeom>
          <a:noFill/>
          <a:ln>
            <a:solidFill>
              <a:schemeClr val="accent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0" indent="0">
              <a:spcBef>
                <a:spcPct val="20000"/>
              </a:spcBef>
              <a:buClr>
                <a:schemeClr val="hlink"/>
              </a:buClr>
              <a:buFont typeface="Wingdings" panose="05000000000000000000" pitchFamily="2" charset="2"/>
              <a:buNone/>
              <a:defRPr sz="2000">
                <a:latin typeface="Times New Roman" panose="02020603050405020304" pitchFamily="18" charset="0"/>
                <a:ea typeface="华文楷体" panose="02010600040101010101" pitchFamily="2" charset="-122"/>
              </a:defRPr>
            </a:lvl1pPr>
            <a:lvl2pPr marL="742950" indent="-285750">
              <a:spcBef>
                <a:spcPct val="20000"/>
              </a:spcBef>
              <a:buClr>
                <a:schemeClr val="accent1"/>
              </a:buClr>
              <a:buFont typeface="Wingdings" panose="05000000000000000000" pitchFamily="2" charset="2"/>
              <a:buChar char="§"/>
              <a:defRPr sz="2800">
                <a:latin typeface="Times New Roman" panose="02020603050405020304" pitchFamily="18" charset="0"/>
                <a:ea typeface="+mn-ea"/>
              </a:defRPr>
            </a:lvl2pPr>
            <a:lvl3pPr marL="1143000" indent="-228600">
              <a:spcBef>
                <a:spcPct val="20000"/>
              </a:spcBef>
              <a:buClr>
                <a:schemeClr val="tx1"/>
              </a:buClr>
              <a:buChar char="•"/>
              <a:defRPr sz="2400">
                <a:latin typeface="Times New Roman" panose="02020603050405020304" pitchFamily="18" charset="0"/>
                <a:ea typeface="+mn-ea"/>
              </a:defRPr>
            </a:lvl3pPr>
            <a:lvl4pPr marL="1600200" indent="-228600">
              <a:spcBef>
                <a:spcPct val="20000"/>
              </a:spcBef>
              <a:buChar char="–"/>
              <a:defRPr sz="2000">
                <a:latin typeface="Times New Roman" panose="02020603050405020304" pitchFamily="18" charset="0"/>
                <a:ea typeface="+mn-ea"/>
              </a:defRPr>
            </a:lvl4pPr>
            <a:lvl5pPr marL="2057400" indent="-228600">
              <a:spcBef>
                <a:spcPct val="20000"/>
              </a:spcBef>
              <a:buChar char="»"/>
              <a:defRPr sz="2000">
                <a:latin typeface="Times New Roman" panose="02020603050405020304" pitchFamily="18" charset="0"/>
                <a:ea typeface="+mn-ea"/>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r>
              <a:rPr lang="zh-CN" altLang="en-US" dirty="0"/>
              <a:t>高度</a:t>
            </a:r>
            <a:endParaRPr lang="en-US" altLang="zh-CN" dirty="0"/>
          </a:p>
          <a:p>
            <a:r>
              <a:rPr lang="en-US" altLang="zh-CN" dirty="0" err="1"/>
              <a:t>int</a:t>
            </a:r>
            <a:r>
              <a:rPr lang="en-US" altLang="zh-CN" dirty="0"/>
              <a:t> Height(</a:t>
            </a:r>
            <a:r>
              <a:rPr lang="en-US" altLang="zh-CN" dirty="0" err="1"/>
              <a:t>PositionH</a:t>
            </a:r>
            <a:r>
              <a:rPr lang="en-US" altLang="zh-CN" dirty="0"/>
              <a:t> </a:t>
            </a:r>
            <a:r>
              <a:rPr lang="en-US" altLang="zh-CN" dirty="0" smtClean="0"/>
              <a:t>p)</a:t>
            </a:r>
            <a:endParaRPr lang="en-US" altLang="zh-CN" dirty="0"/>
          </a:p>
          <a:p>
            <a:r>
              <a:rPr lang="en-US" altLang="zh-CN" dirty="0"/>
              <a:t>{</a:t>
            </a:r>
            <a:endParaRPr lang="en-US" altLang="zh-CN" dirty="0"/>
          </a:p>
          <a:p>
            <a:r>
              <a:rPr lang="en-US" altLang="zh-CN" dirty="0"/>
              <a:t>    </a:t>
            </a:r>
            <a:r>
              <a:rPr lang="en-US" altLang="zh-CN" dirty="0" smtClean="0"/>
              <a:t>if(p </a:t>
            </a:r>
            <a:r>
              <a:rPr lang="en-US" altLang="zh-CN" dirty="0"/>
              <a:t>== NULL)      </a:t>
            </a:r>
            <a:endParaRPr lang="en-US" altLang="zh-CN" dirty="0"/>
          </a:p>
          <a:p>
            <a:r>
              <a:rPr lang="en-US" altLang="zh-CN" dirty="0"/>
              <a:t>        return 0</a:t>
            </a:r>
            <a:r>
              <a:rPr lang="zh-CN" altLang="en-US" dirty="0"/>
              <a:t>；</a:t>
            </a:r>
            <a:endParaRPr lang="en-US" altLang="zh-CN" dirty="0"/>
          </a:p>
          <a:p>
            <a:r>
              <a:rPr lang="en-US" altLang="zh-CN" dirty="0"/>
              <a:t>    else </a:t>
            </a:r>
            <a:endParaRPr lang="en-US" altLang="zh-CN" dirty="0"/>
          </a:p>
          <a:p>
            <a:r>
              <a:rPr lang="en-US" altLang="zh-CN" dirty="0"/>
              <a:t>        return </a:t>
            </a:r>
            <a:r>
              <a:rPr lang="en-US" altLang="zh-CN" dirty="0" smtClean="0"/>
              <a:t>p-</a:t>
            </a:r>
            <a:r>
              <a:rPr lang="en-US" altLang="zh-CN" dirty="0"/>
              <a:t>&gt;height;</a:t>
            </a:r>
            <a:endParaRPr lang="en-US" altLang="zh-CN" dirty="0"/>
          </a:p>
          <a:p>
            <a:r>
              <a:rPr lang="en-US" altLang="zh-CN" dirty="0"/>
              <a:t>}</a:t>
            </a:r>
            <a:endParaRPr lang="zh-CN" alt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页脚占位符 3"/>
          <p:cNvSpPr>
            <a:spLocks noGrp="1"/>
          </p:cNvSpPr>
          <p:nvPr>
            <p:ph type="ftr" sz="quarter" idx="10"/>
          </p:nvPr>
        </p:nvSpPr>
        <p:spPr/>
        <p:txBody>
          <a:bodyPr/>
          <a:lstStyle/>
          <a:p>
            <a:pPr>
              <a:defRPr/>
            </a:pPr>
            <a:r>
              <a:rPr lang="en-US" altLang="zh-CN"/>
              <a:t>BUPT SCST</a:t>
            </a:r>
            <a:endParaRPr lang="en-US" altLang="zh-CN"/>
          </a:p>
        </p:txBody>
      </p:sp>
      <p:sp>
        <p:nvSpPr>
          <p:cNvPr id="94" name="日期占位符 5"/>
          <p:cNvSpPr>
            <a:spLocks noGrp="1"/>
          </p:cNvSpPr>
          <p:nvPr>
            <p:ph type="dt" sz="quarter" idx="12"/>
          </p:nvPr>
        </p:nvSpPr>
        <p:spPr/>
        <p:txBody>
          <a:bodyPr/>
          <a:lstStyle/>
          <a:p>
            <a:pPr>
              <a:defRPr/>
            </a:pPr>
            <a:r>
              <a:rPr lang="en-US" altLang="zh-CN"/>
              <a:t>BUPT</a:t>
            </a:r>
            <a:endParaRPr lang="en-US" altLang="zh-CN"/>
          </a:p>
        </p:txBody>
      </p:sp>
      <p:sp>
        <p:nvSpPr>
          <p:cNvPr id="3686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36869"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chemeClr val="accent2"/>
                </a:solidFill>
                <a:ea typeface="华文楷体" panose="02010600040101010101" pitchFamily="2" charset="-122"/>
              </a:rPr>
              <a:t>[4.  </a:t>
            </a:r>
            <a:r>
              <a:rPr lang="zh-CN" altLang="zh-CN" sz="2400" b="1" dirty="0" smtClean="0">
                <a:solidFill>
                  <a:schemeClr val="accent2"/>
                </a:solidFill>
                <a:ea typeface="华文楷体" panose="02010600040101010101" pitchFamily="2" charset="-122"/>
              </a:rPr>
              <a:t>在平衡二叉树上的操作</a:t>
            </a:r>
            <a:r>
              <a:rPr lang="en-US" altLang="zh-CN" sz="2400" b="1" dirty="0" smtClean="0">
                <a:solidFill>
                  <a:schemeClr val="accent2"/>
                </a:solidFill>
                <a:ea typeface="华文楷体" panose="02010600040101010101" pitchFamily="2" charset="-122"/>
              </a:rPr>
              <a:t>]</a:t>
            </a:r>
            <a:endParaRPr lang="en-US" altLang="zh-CN" sz="2400" b="1" dirty="0" smtClean="0">
              <a:solidFill>
                <a:schemeClr val="accent2"/>
              </a:solidFill>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zh-CN" sz="2400" b="1" dirty="0" smtClean="0">
                <a:solidFill>
                  <a:srgbClr val="CC6600"/>
                </a:solidFill>
                <a:ea typeface="华文楷体" panose="02010600040101010101" pitchFamily="2" charset="-122"/>
              </a:rPr>
              <a:t>查找</a:t>
            </a:r>
            <a:r>
              <a:rPr lang="en-US" altLang="zh-CN" sz="2400" b="1" dirty="0" smtClean="0">
                <a:solidFill>
                  <a:srgbClr val="CC66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a:p>
            <a:pPr eaLnBrk="1" hangingPunct="1">
              <a:buFont typeface="Wingdings" panose="05000000000000000000" pitchFamily="2" charset="2"/>
              <a:buNone/>
            </a:pPr>
            <a:r>
              <a:rPr lang="zh-CN" altLang="zh-CN" sz="2400" dirty="0" smtClean="0">
                <a:ea typeface="华文楷体" panose="02010600040101010101" pitchFamily="2" charset="-122"/>
              </a:rPr>
              <a:t>查找方法同二叉排序树。</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插入</a:t>
            </a:r>
            <a:r>
              <a:rPr lang="en-US" altLang="zh-CN" sz="2400" b="1" dirty="0" smtClean="0">
                <a:solidFill>
                  <a:srgbClr val="CC6600"/>
                </a:solidFill>
                <a:ea typeface="华文楷体" panose="02010600040101010101" pitchFamily="2" charset="-122"/>
              </a:rPr>
              <a:t>] </a:t>
            </a:r>
            <a:r>
              <a:rPr lang="zh-CN" altLang="en-US" sz="2400" dirty="0" smtClean="0">
                <a:ea typeface="华文楷体" panose="02010600040101010101" pitchFamily="2" charset="-122"/>
              </a:rPr>
              <a:t>插入新结点之后仍应保持平衡二叉树的性质不变。</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zh-CN" altLang="zh-CN" sz="2400" dirty="0" smtClean="0">
                <a:ea typeface="华文楷体" panose="02010600040101010101" pitchFamily="2" charset="-122"/>
              </a:rPr>
              <a:t>[例] 平衡二叉树的生成过程</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p:txBody>
      </p:sp>
      <p:sp>
        <p:nvSpPr>
          <p:cNvPr id="36870" name="Oval 4"/>
          <p:cNvSpPr>
            <a:spLocks noChangeArrowheads="1"/>
          </p:cNvSpPr>
          <p:nvPr/>
        </p:nvSpPr>
        <p:spPr bwMode="auto">
          <a:xfrm>
            <a:off x="1066800" y="3733800"/>
            <a:ext cx="4572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871" name="Oval 5"/>
          <p:cNvSpPr>
            <a:spLocks noChangeArrowheads="1"/>
          </p:cNvSpPr>
          <p:nvPr/>
        </p:nvSpPr>
        <p:spPr bwMode="auto">
          <a:xfrm>
            <a:off x="2133600" y="3276600"/>
            <a:ext cx="4572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872" name="Oval 6"/>
          <p:cNvSpPr>
            <a:spLocks noChangeArrowheads="1"/>
          </p:cNvSpPr>
          <p:nvPr/>
        </p:nvSpPr>
        <p:spPr bwMode="auto">
          <a:xfrm>
            <a:off x="2743200" y="3733800"/>
            <a:ext cx="4572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873" name="Oval 7"/>
          <p:cNvSpPr>
            <a:spLocks noChangeArrowheads="1"/>
          </p:cNvSpPr>
          <p:nvPr/>
        </p:nvSpPr>
        <p:spPr bwMode="auto">
          <a:xfrm>
            <a:off x="3657600" y="3276600"/>
            <a:ext cx="4572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874" name="Line 8"/>
          <p:cNvSpPr>
            <a:spLocks noChangeShapeType="1"/>
          </p:cNvSpPr>
          <p:nvPr/>
        </p:nvSpPr>
        <p:spPr bwMode="auto">
          <a:xfrm>
            <a:off x="2514600" y="3581400"/>
            <a:ext cx="2286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6875" name="Oval 9"/>
          <p:cNvSpPr>
            <a:spLocks noChangeArrowheads="1"/>
          </p:cNvSpPr>
          <p:nvPr/>
        </p:nvSpPr>
        <p:spPr bwMode="auto">
          <a:xfrm>
            <a:off x="4343400" y="3733800"/>
            <a:ext cx="4572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876" name="Oval 10"/>
          <p:cNvSpPr>
            <a:spLocks noChangeArrowheads="1"/>
          </p:cNvSpPr>
          <p:nvPr/>
        </p:nvSpPr>
        <p:spPr bwMode="auto">
          <a:xfrm>
            <a:off x="4800600" y="4191000"/>
            <a:ext cx="4572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877" name="Line 11"/>
          <p:cNvSpPr>
            <a:spLocks noChangeShapeType="1"/>
          </p:cNvSpPr>
          <p:nvPr/>
        </p:nvSpPr>
        <p:spPr bwMode="auto">
          <a:xfrm>
            <a:off x="4038600" y="3581400"/>
            <a:ext cx="3810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6878" name="Line 12"/>
          <p:cNvSpPr>
            <a:spLocks noChangeShapeType="1"/>
          </p:cNvSpPr>
          <p:nvPr/>
        </p:nvSpPr>
        <p:spPr bwMode="auto">
          <a:xfrm>
            <a:off x="4724400" y="4038600"/>
            <a:ext cx="2286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6879" name="Oval 13"/>
          <p:cNvSpPr>
            <a:spLocks noChangeArrowheads="1"/>
          </p:cNvSpPr>
          <p:nvPr/>
        </p:nvSpPr>
        <p:spPr bwMode="auto">
          <a:xfrm>
            <a:off x="6934200" y="3276600"/>
            <a:ext cx="4572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880" name="Oval 14"/>
          <p:cNvSpPr>
            <a:spLocks noChangeArrowheads="1"/>
          </p:cNvSpPr>
          <p:nvPr/>
        </p:nvSpPr>
        <p:spPr bwMode="auto">
          <a:xfrm>
            <a:off x="6248400" y="3733800"/>
            <a:ext cx="4572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881" name="Oval 15"/>
          <p:cNvSpPr>
            <a:spLocks noChangeArrowheads="1"/>
          </p:cNvSpPr>
          <p:nvPr/>
        </p:nvSpPr>
        <p:spPr bwMode="auto">
          <a:xfrm>
            <a:off x="7391400" y="37338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882" name="Line 16"/>
          <p:cNvSpPr>
            <a:spLocks noChangeShapeType="1"/>
          </p:cNvSpPr>
          <p:nvPr/>
        </p:nvSpPr>
        <p:spPr bwMode="auto">
          <a:xfrm flipH="1">
            <a:off x="6629400" y="3581400"/>
            <a:ext cx="3048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6883" name="Line 17"/>
          <p:cNvSpPr>
            <a:spLocks noChangeShapeType="1"/>
          </p:cNvSpPr>
          <p:nvPr/>
        </p:nvSpPr>
        <p:spPr bwMode="auto">
          <a:xfrm>
            <a:off x="7315200" y="3657600"/>
            <a:ext cx="304800" cy="76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6884" name="Rectangle 18"/>
          <p:cNvSpPr>
            <a:spLocks noChangeArrowheads="1"/>
          </p:cNvSpPr>
          <p:nvPr/>
        </p:nvSpPr>
        <p:spPr bwMode="auto">
          <a:xfrm>
            <a:off x="3505200" y="3276600"/>
            <a:ext cx="2133600" cy="1447800"/>
          </a:xfrm>
          <a:prstGeom prst="rect">
            <a:avLst/>
          </a:prstGeom>
          <a:noFill/>
          <a:ln w="952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885" name="Oval 19"/>
          <p:cNvSpPr>
            <a:spLocks noChangeArrowheads="1"/>
          </p:cNvSpPr>
          <p:nvPr/>
        </p:nvSpPr>
        <p:spPr bwMode="auto">
          <a:xfrm>
            <a:off x="1371600" y="5029200"/>
            <a:ext cx="4572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886" name="Oval 20"/>
          <p:cNvSpPr>
            <a:spLocks noChangeArrowheads="1"/>
          </p:cNvSpPr>
          <p:nvPr/>
        </p:nvSpPr>
        <p:spPr bwMode="auto">
          <a:xfrm>
            <a:off x="838200" y="5486400"/>
            <a:ext cx="4572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887" name="Oval 21"/>
          <p:cNvSpPr>
            <a:spLocks noChangeArrowheads="1"/>
          </p:cNvSpPr>
          <p:nvPr/>
        </p:nvSpPr>
        <p:spPr bwMode="auto">
          <a:xfrm>
            <a:off x="1752600" y="5486400"/>
            <a:ext cx="4572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888" name="Oval 22"/>
          <p:cNvSpPr>
            <a:spLocks noChangeArrowheads="1"/>
          </p:cNvSpPr>
          <p:nvPr/>
        </p:nvSpPr>
        <p:spPr bwMode="auto">
          <a:xfrm>
            <a:off x="2209800" y="5943600"/>
            <a:ext cx="4572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889" name="Line 23"/>
          <p:cNvSpPr>
            <a:spLocks noChangeShapeType="1"/>
          </p:cNvSpPr>
          <p:nvPr/>
        </p:nvSpPr>
        <p:spPr bwMode="auto">
          <a:xfrm flipH="1">
            <a:off x="990600" y="5257800"/>
            <a:ext cx="3810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6890" name="Line 24"/>
          <p:cNvSpPr>
            <a:spLocks noChangeShapeType="1"/>
          </p:cNvSpPr>
          <p:nvPr/>
        </p:nvSpPr>
        <p:spPr bwMode="auto">
          <a:xfrm>
            <a:off x="1828800" y="5257800"/>
            <a:ext cx="2286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6891" name="Line 25"/>
          <p:cNvSpPr>
            <a:spLocks noChangeShapeType="1"/>
          </p:cNvSpPr>
          <p:nvPr/>
        </p:nvSpPr>
        <p:spPr bwMode="auto">
          <a:xfrm>
            <a:off x="2209800" y="5791200"/>
            <a:ext cx="2286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6892" name="Oval 26"/>
          <p:cNvSpPr>
            <a:spLocks noChangeArrowheads="1"/>
          </p:cNvSpPr>
          <p:nvPr/>
        </p:nvSpPr>
        <p:spPr bwMode="auto">
          <a:xfrm>
            <a:off x="3886200" y="5029200"/>
            <a:ext cx="4572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893" name="Oval 27"/>
          <p:cNvSpPr>
            <a:spLocks noChangeArrowheads="1"/>
          </p:cNvSpPr>
          <p:nvPr/>
        </p:nvSpPr>
        <p:spPr bwMode="auto">
          <a:xfrm>
            <a:off x="3429000" y="54864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894" name="Oval 28"/>
          <p:cNvSpPr>
            <a:spLocks noChangeArrowheads="1"/>
          </p:cNvSpPr>
          <p:nvPr/>
        </p:nvSpPr>
        <p:spPr bwMode="auto">
          <a:xfrm>
            <a:off x="4495800" y="5486400"/>
            <a:ext cx="4572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895" name="Oval 29"/>
          <p:cNvSpPr>
            <a:spLocks noChangeArrowheads="1"/>
          </p:cNvSpPr>
          <p:nvPr/>
        </p:nvSpPr>
        <p:spPr bwMode="auto">
          <a:xfrm>
            <a:off x="4876800" y="5943600"/>
            <a:ext cx="457200" cy="3048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896" name="Oval 30"/>
          <p:cNvSpPr>
            <a:spLocks noChangeArrowheads="1"/>
          </p:cNvSpPr>
          <p:nvPr/>
        </p:nvSpPr>
        <p:spPr bwMode="auto">
          <a:xfrm>
            <a:off x="4419600" y="6400800"/>
            <a:ext cx="457200" cy="3048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897" name="Line 31"/>
          <p:cNvSpPr>
            <a:spLocks noChangeShapeType="1"/>
          </p:cNvSpPr>
          <p:nvPr/>
        </p:nvSpPr>
        <p:spPr bwMode="auto">
          <a:xfrm flipH="1">
            <a:off x="3657600" y="5334000"/>
            <a:ext cx="3048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6898" name="Line 32"/>
          <p:cNvSpPr>
            <a:spLocks noChangeShapeType="1"/>
          </p:cNvSpPr>
          <p:nvPr/>
        </p:nvSpPr>
        <p:spPr bwMode="auto">
          <a:xfrm>
            <a:off x="4343400" y="5334000"/>
            <a:ext cx="3048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6899" name="Line 33"/>
          <p:cNvSpPr>
            <a:spLocks noChangeShapeType="1"/>
          </p:cNvSpPr>
          <p:nvPr/>
        </p:nvSpPr>
        <p:spPr bwMode="auto">
          <a:xfrm>
            <a:off x="4953000" y="5791200"/>
            <a:ext cx="2286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6900" name="Line 34"/>
          <p:cNvSpPr>
            <a:spLocks noChangeShapeType="1"/>
          </p:cNvSpPr>
          <p:nvPr/>
        </p:nvSpPr>
        <p:spPr bwMode="auto">
          <a:xfrm flipH="1">
            <a:off x="4572000" y="6172200"/>
            <a:ext cx="3048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6901" name="Oval 35"/>
          <p:cNvSpPr>
            <a:spLocks noChangeArrowheads="1"/>
          </p:cNvSpPr>
          <p:nvPr/>
        </p:nvSpPr>
        <p:spPr bwMode="auto">
          <a:xfrm>
            <a:off x="6781800" y="5029200"/>
            <a:ext cx="4572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902" name="Oval 36"/>
          <p:cNvSpPr>
            <a:spLocks noChangeArrowheads="1"/>
          </p:cNvSpPr>
          <p:nvPr/>
        </p:nvSpPr>
        <p:spPr bwMode="auto">
          <a:xfrm>
            <a:off x="6172200" y="5486400"/>
            <a:ext cx="4572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903" name="Oval 37"/>
          <p:cNvSpPr>
            <a:spLocks noChangeArrowheads="1"/>
          </p:cNvSpPr>
          <p:nvPr/>
        </p:nvSpPr>
        <p:spPr bwMode="auto">
          <a:xfrm>
            <a:off x="7315200" y="5486400"/>
            <a:ext cx="3810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904" name="Oval 38"/>
          <p:cNvSpPr>
            <a:spLocks noChangeArrowheads="1"/>
          </p:cNvSpPr>
          <p:nvPr/>
        </p:nvSpPr>
        <p:spPr bwMode="auto">
          <a:xfrm>
            <a:off x="6781800" y="5943600"/>
            <a:ext cx="4572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905" name="Oval 39"/>
          <p:cNvSpPr>
            <a:spLocks noChangeArrowheads="1"/>
          </p:cNvSpPr>
          <p:nvPr/>
        </p:nvSpPr>
        <p:spPr bwMode="auto">
          <a:xfrm>
            <a:off x="7696200" y="5943600"/>
            <a:ext cx="457200" cy="38100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906" name="Line 40"/>
          <p:cNvSpPr>
            <a:spLocks noChangeShapeType="1"/>
          </p:cNvSpPr>
          <p:nvPr/>
        </p:nvSpPr>
        <p:spPr bwMode="auto">
          <a:xfrm flipH="1">
            <a:off x="6477000" y="5257800"/>
            <a:ext cx="304800" cy="228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6907" name="Line 41"/>
          <p:cNvSpPr>
            <a:spLocks noChangeShapeType="1"/>
          </p:cNvSpPr>
          <p:nvPr/>
        </p:nvSpPr>
        <p:spPr bwMode="auto">
          <a:xfrm>
            <a:off x="7239000" y="5334000"/>
            <a:ext cx="2286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6908" name="Line 42"/>
          <p:cNvSpPr>
            <a:spLocks noChangeShapeType="1"/>
          </p:cNvSpPr>
          <p:nvPr/>
        </p:nvSpPr>
        <p:spPr bwMode="auto">
          <a:xfrm flipH="1">
            <a:off x="7010400" y="5791200"/>
            <a:ext cx="3048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6909" name="Line 43"/>
          <p:cNvSpPr>
            <a:spLocks noChangeShapeType="1"/>
          </p:cNvSpPr>
          <p:nvPr/>
        </p:nvSpPr>
        <p:spPr bwMode="auto">
          <a:xfrm>
            <a:off x="7696200" y="5791200"/>
            <a:ext cx="304800" cy="152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6910" name="Rectangle 44"/>
          <p:cNvSpPr>
            <a:spLocks noChangeArrowheads="1"/>
          </p:cNvSpPr>
          <p:nvPr/>
        </p:nvSpPr>
        <p:spPr bwMode="auto">
          <a:xfrm>
            <a:off x="3276600" y="4876800"/>
            <a:ext cx="2514600" cy="1905000"/>
          </a:xfrm>
          <a:prstGeom prst="rect">
            <a:avLst/>
          </a:prstGeom>
          <a:noFill/>
          <a:ln w="9525">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6911" name="Arc 45"/>
          <p:cNvSpPr/>
          <p:nvPr/>
        </p:nvSpPr>
        <p:spPr bwMode="auto">
          <a:xfrm rot="10800000" flipV="1">
            <a:off x="3962400" y="5181600"/>
            <a:ext cx="1524000" cy="14478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9525">
            <a:solidFill>
              <a:srgbClr val="FF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6912" name="Arc 46"/>
          <p:cNvSpPr/>
          <p:nvPr/>
        </p:nvSpPr>
        <p:spPr bwMode="auto">
          <a:xfrm rot="10800000" flipV="1">
            <a:off x="6629400" y="5181600"/>
            <a:ext cx="1295400" cy="15240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9525">
            <a:solidFill>
              <a:srgbClr val="FF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6913" name="Text Box 47"/>
          <p:cNvSpPr txBox="1">
            <a:spLocks noChangeArrowheads="1"/>
          </p:cNvSpPr>
          <p:nvPr/>
        </p:nvSpPr>
        <p:spPr bwMode="auto">
          <a:xfrm>
            <a:off x="1066800" y="37703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15</a:t>
            </a:r>
            <a:endParaRPr lang="en-US" altLang="zh-CN" sz="1800" dirty="0">
              <a:latin typeface="Times New Roman" panose="02020603050405020304" pitchFamily="18" charset="0"/>
              <a:ea typeface="华文楷体" panose="02010600040101010101" pitchFamily="2" charset="-122"/>
            </a:endParaRPr>
          </a:p>
        </p:txBody>
      </p:sp>
      <p:sp>
        <p:nvSpPr>
          <p:cNvPr id="36914" name="Text Box 48"/>
          <p:cNvSpPr txBox="1">
            <a:spLocks noChangeArrowheads="1"/>
          </p:cNvSpPr>
          <p:nvPr/>
        </p:nvSpPr>
        <p:spPr bwMode="auto">
          <a:xfrm>
            <a:off x="1050925" y="3389313"/>
            <a:ext cx="3111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chemeClr val="accent2"/>
                </a:solidFill>
                <a:latin typeface="Times New Roman" panose="02020603050405020304" pitchFamily="18" charset="0"/>
                <a:ea typeface="华文楷体" panose="02010600040101010101" pitchFamily="2" charset="-122"/>
              </a:rPr>
              <a:t>0</a:t>
            </a:r>
            <a:endParaRPr lang="en-US" altLang="zh-CN" sz="1800" b="1" dirty="0">
              <a:solidFill>
                <a:schemeClr val="accent2"/>
              </a:solidFill>
              <a:latin typeface="Times New Roman" panose="02020603050405020304" pitchFamily="18" charset="0"/>
              <a:ea typeface="华文楷体" panose="02010600040101010101" pitchFamily="2" charset="-122"/>
            </a:endParaRPr>
          </a:p>
        </p:txBody>
      </p:sp>
      <p:sp>
        <p:nvSpPr>
          <p:cNvPr id="36915" name="Rectangle 49"/>
          <p:cNvSpPr>
            <a:spLocks noChangeArrowheads="1"/>
          </p:cNvSpPr>
          <p:nvPr/>
        </p:nvSpPr>
        <p:spPr bwMode="auto">
          <a:xfrm>
            <a:off x="2813050" y="3443288"/>
            <a:ext cx="3111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chemeClr val="accent2"/>
                </a:solidFill>
                <a:latin typeface="Times New Roman" panose="02020603050405020304" pitchFamily="18" charset="0"/>
                <a:ea typeface="华文楷体" panose="02010600040101010101" pitchFamily="2" charset="-122"/>
              </a:rPr>
              <a:t>0</a:t>
            </a:r>
            <a:endParaRPr lang="en-US" altLang="zh-CN" sz="1800" b="1" dirty="0">
              <a:solidFill>
                <a:schemeClr val="accent2"/>
              </a:solidFill>
              <a:latin typeface="Times New Roman" panose="02020603050405020304" pitchFamily="18" charset="0"/>
              <a:ea typeface="华文楷体" panose="02010600040101010101" pitchFamily="2" charset="-122"/>
            </a:endParaRPr>
          </a:p>
        </p:txBody>
      </p:sp>
      <p:sp>
        <p:nvSpPr>
          <p:cNvPr id="36916" name="Text Box 50"/>
          <p:cNvSpPr txBox="1">
            <a:spLocks noChangeArrowheads="1"/>
          </p:cNvSpPr>
          <p:nvPr/>
        </p:nvSpPr>
        <p:spPr bwMode="auto">
          <a:xfrm>
            <a:off x="2152650" y="3290888"/>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15</a:t>
            </a:r>
            <a:endParaRPr lang="en-US" altLang="zh-CN" sz="1800" dirty="0">
              <a:latin typeface="Times New Roman" panose="02020603050405020304" pitchFamily="18" charset="0"/>
              <a:ea typeface="华文楷体" panose="02010600040101010101" pitchFamily="2" charset="-122"/>
            </a:endParaRPr>
          </a:p>
        </p:txBody>
      </p:sp>
      <p:sp>
        <p:nvSpPr>
          <p:cNvPr id="36917" name="Text Box 51"/>
          <p:cNvSpPr txBox="1">
            <a:spLocks noChangeArrowheads="1"/>
          </p:cNvSpPr>
          <p:nvPr/>
        </p:nvSpPr>
        <p:spPr bwMode="auto">
          <a:xfrm>
            <a:off x="2803525" y="3694113"/>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25</a:t>
            </a:r>
            <a:endParaRPr lang="en-US" altLang="zh-CN" sz="1800" dirty="0">
              <a:latin typeface="Times New Roman" panose="02020603050405020304" pitchFamily="18" charset="0"/>
              <a:ea typeface="华文楷体" panose="02010600040101010101" pitchFamily="2" charset="-122"/>
            </a:endParaRPr>
          </a:p>
        </p:txBody>
      </p:sp>
      <p:sp>
        <p:nvSpPr>
          <p:cNvPr id="36918" name="Rectangle 52"/>
          <p:cNvSpPr>
            <a:spLocks noChangeArrowheads="1"/>
          </p:cNvSpPr>
          <p:nvPr/>
        </p:nvSpPr>
        <p:spPr bwMode="auto">
          <a:xfrm>
            <a:off x="2133600" y="3595688"/>
            <a:ext cx="3873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chemeClr val="accent2"/>
                </a:solidFill>
                <a:latin typeface="Times New Roman" panose="02020603050405020304" pitchFamily="18" charset="0"/>
                <a:ea typeface="华文楷体" panose="02010600040101010101" pitchFamily="2" charset="-122"/>
              </a:rPr>
              <a:t>-1</a:t>
            </a:r>
            <a:endParaRPr lang="en-US" altLang="zh-CN" sz="1800" b="1" dirty="0">
              <a:solidFill>
                <a:schemeClr val="accent2"/>
              </a:solidFill>
              <a:latin typeface="Times New Roman" panose="02020603050405020304" pitchFamily="18" charset="0"/>
              <a:ea typeface="华文楷体" panose="02010600040101010101" pitchFamily="2" charset="-122"/>
            </a:endParaRPr>
          </a:p>
        </p:txBody>
      </p:sp>
      <p:sp>
        <p:nvSpPr>
          <p:cNvPr id="36919" name="Rectangle 53"/>
          <p:cNvSpPr>
            <a:spLocks noChangeArrowheads="1"/>
          </p:cNvSpPr>
          <p:nvPr/>
        </p:nvSpPr>
        <p:spPr bwMode="auto">
          <a:xfrm>
            <a:off x="4038600" y="3200400"/>
            <a:ext cx="3873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chemeClr val="accent2"/>
                </a:solidFill>
                <a:latin typeface="Times New Roman" panose="02020603050405020304" pitchFamily="18" charset="0"/>
                <a:ea typeface="华文楷体" panose="02010600040101010101" pitchFamily="2" charset="-122"/>
              </a:rPr>
              <a:t>-2</a:t>
            </a:r>
            <a:endParaRPr lang="en-US" altLang="zh-CN" sz="1800" b="1" dirty="0">
              <a:solidFill>
                <a:schemeClr val="accent2"/>
              </a:solidFill>
              <a:latin typeface="Times New Roman" panose="02020603050405020304" pitchFamily="18" charset="0"/>
              <a:ea typeface="华文楷体" panose="02010600040101010101" pitchFamily="2" charset="-122"/>
            </a:endParaRPr>
          </a:p>
        </p:txBody>
      </p:sp>
      <p:sp>
        <p:nvSpPr>
          <p:cNvPr id="36920" name="Rectangle 54"/>
          <p:cNvSpPr>
            <a:spLocks noChangeArrowheads="1"/>
          </p:cNvSpPr>
          <p:nvPr/>
        </p:nvSpPr>
        <p:spPr bwMode="auto">
          <a:xfrm>
            <a:off x="4648200" y="3519488"/>
            <a:ext cx="3873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chemeClr val="accent2"/>
                </a:solidFill>
                <a:latin typeface="Times New Roman" panose="02020603050405020304" pitchFamily="18" charset="0"/>
                <a:ea typeface="华文楷体" panose="02010600040101010101" pitchFamily="2" charset="-122"/>
              </a:rPr>
              <a:t>-1</a:t>
            </a:r>
            <a:endParaRPr lang="en-US" altLang="zh-CN" sz="1800" b="1" dirty="0">
              <a:solidFill>
                <a:schemeClr val="accent2"/>
              </a:solidFill>
              <a:latin typeface="Times New Roman" panose="02020603050405020304" pitchFamily="18" charset="0"/>
              <a:ea typeface="华文楷体" panose="02010600040101010101" pitchFamily="2" charset="-122"/>
            </a:endParaRPr>
          </a:p>
        </p:txBody>
      </p:sp>
      <p:sp>
        <p:nvSpPr>
          <p:cNvPr id="36921" name="Rectangle 55"/>
          <p:cNvSpPr>
            <a:spLocks noChangeArrowheads="1"/>
          </p:cNvSpPr>
          <p:nvPr/>
        </p:nvSpPr>
        <p:spPr bwMode="auto">
          <a:xfrm>
            <a:off x="5175250" y="4052888"/>
            <a:ext cx="3111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chemeClr val="accent2"/>
                </a:solidFill>
                <a:latin typeface="Times New Roman" panose="02020603050405020304" pitchFamily="18" charset="0"/>
                <a:ea typeface="华文楷体" panose="02010600040101010101" pitchFamily="2" charset="-122"/>
              </a:rPr>
              <a:t>0</a:t>
            </a:r>
            <a:endParaRPr lang="en-US" altLang="zh-CN" sz="1800" b="1" dirty="0">
              <a:solidFill>
                <a:schemeClr val="accent2"/>
              </a:solidFill>
              <a:latin typeface="Times New Roman" panose="02020603050405020304" pitchFamily="18" charset="0"/>
              <a:ea typeface="华文楷体" panose="02010600040101010101" pitchFamily="2" charset="-122"/>
            </a:endParaRPr>
          </a:p>
        </p:txBody>
      </p:sp>
      <p:sp>
        <p:nvSpPr>
          <p:cNvPr id="36922" name="Rectangle 56"/>
          <p:cNvSpPr>
            <a:spLocks noChangeArrowheads="1"/>
          </p:cNvSpPr>
          <p:nvPr/>
        </p:nvSpPr>
        <p:spPr bwMode="auto">
          <a:xfrm>
            <a:off x="7004050" y="2909888"/>
            <a:ext cx="3111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chemeClr val="accent2"/>
                </a:solidFill>
                <a:latin typeface="Times New Roman" panose="02020603050405020304" pitchFamily="18" charset="0"/>
                <a:ea typeface="华文楷体" panose="02010600040101010101" pitchFamily="2" charset="-122"/>
              </a:rPr>
              <a:t>0</a:t>
            </a:r>
            <a:endParaRPr lang="en-US" altLang="zh-CN" sz="1800" b="1" dirty="0">
              <a:solidFill>
                <a:schemeClr val="accent2"/>
              </a:solidFill>
              <a:latin typeface="Times New Roman" panose="02020603050405020304" pitchFamily="18" charset="0"/>
              <a:ea typeface="华文楷体" panose="02010600040101010101" pitchFamily="2" charset="-122"/>
            </a:endParaRPr>
          </a:p>
        </p:txBody>
      </p:sp>
      <p:sp>
        <p:nvSpPr>
          <p:cNvPr id="36923" name="Rectangle 57"/>
          <p:cNvSpPr>
            <a:spLocks noChangeArrowheads="1"/>
          </p:cNvSpPr>
          <p:nvPr/>
        </p:nvSpPr>
        <p:spPr bwMode="auto">
          <a:xfrm>
            <a:off x="6324600" y="3429000"/>
            <a:ext cx="3111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chemeClr val="accent2"/>
                </a:solidFill>
                <a:latin typeface="Times New Roman" panose="02020603050405020304" pitchFamily="18" charset="0"/>
                <a:ea typeface="华文楷体" panose="02010600040101010101" pitchFamily="2" charset="-122"/>
              </a:rPr>
              <a:t>0</a:t>
            </a:r>
            <a:endParaRPr lang="en-US" altLang="zh-CN" sz="1800" b="1" dirty="0">
              <a:solidFill>
                <a:schemeClr val="accent2"/>
              </a:solidFill>
              <a:latin typeface="Times New Roman" panose="02020603050405020304" pitchFamily="18" charset="0"/>
              <a:ea typeface="华文楷体" panose="02010600040101010101" pitchFamily="2" charset="-122"/>
            </a:endParaRPr>
          </a:p>
        </p:txBody>
      </p:sp>
      <p:sp>
        <p:nvSpPr>
          <p:cNvPr id="36924" name="Rectangle 58"/>
          <p:cNvSpPr>
            <a:spLocks noChangeArrowheads="1"/>
          </p:cNvSpPr>
          <p:nvPr/>
        </p:nvSpPr>
        <p:spPr bwMode="auto">
          <a:xfrm>
            <a:off x="7461250" y="3429000"/>
            <a:ext cx="3111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chemeClr val="accent2"/>
                </a:solidFill>
                <a:latin typeface="Times New Roman" panose="02020603050405020304" pitchFamily="18" charset="0"/>
                <a:ea typeface="华文楷体" panose="02010600040101010101" pitchFamily="2" charset="-122"/>
              </a:rPr>
              <a:t>0</a:t>
            </a:r>
            <a:endParaRPr lang="en-US" altLang="zh-CN" sz="1800" b="1" dirty="0">
              <a:solidFill>
                <a:schemeClr val="accent2"/>
              </a:solidFill>
              <a:latin typeface="Times New Roman" panose="02020603050405020304" pitchFamily="18" charset="0"/>
              <a:ea typeface="华文楷体" panose="02010600040101010101" pitchFamily="2" charset="-122"/>
            </a:endParaRPr>
          </a:p>
        </p:txBody>
      </p:sp>
      <p:sp>
        <p:nvSpPr>
          <p:cNvPr id="36925" name="Rectangle 59"/>
          <p:cNvSpPr>
            <a:spLocks noChangeArrowheads="1"/>
          </p:cNvSpPr>
          <p:nvPr/>
        </p:nvSpPr>
        <p:spPr bwMode="auto">
          <a:xfrm>
            <a:off x="2432050" y="5653088"/>
            <a:ext cx="3111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chemeClr val="accent2"/>
                </a:solidFill>
                <a:latin typeface="Times New Roman" panose="02020603050405020304" pitchFamily="18" charset="0"/>
                <a:ea typeface="华文楷体" panose="02010600040101010101" pitchFamily="2" charset="-122"/>
              </a:rPr>
              <a:t>0</a:t>
            </a:r>
            <a:endParaRPr lang="en-US" altLang="zh-CN" sz="1800" b="1" dirty="0">
              <a:solidFill>
                <a:schemeClr val="accent2"/>
              </a:solidFill>
              <a:latin typeface="Times New Roman" panose="02020603050405020304" pitchFamily="18" charset="0"/>
              <a:ea typeface="华文楷体" panose="02010600040101010101" pitchFamily="2" charset="-122"/>
            </a:endParaRPr>
          </a:p>
        </p:txBody>
      </p:sp>
      <p:sp>
        <p:nvSpPr>
          <p:cNvPr id="36926" name="Rectangle 60"/>
          <p:cNvSpPr>
            <a:spLocks noChangeArrowheads="1"/>
          </p:cNvSpPr>
          <p:nvPr/>
        </p:nvSpPr>
        <p:spPr bwMode="auto">
          <a:xfrm>
            <a:off x="838200" y="5195888"/>
            <a:ext cx="3111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chemeClr val="accent2"/>
                </a:solidFill>
                <a:latin typeface="Times New Roman" panose="02020603050405020304" pitchFamily="18" charset="0"/>
                <a:ea typeface="华文楷体" panose="02010600040101010101" pitchFamily="2" charset="-122"/>
              </a:rPr>
              <a:t>0</a:t>
            </a:r>
            <a:endParaRPr lang="en-US" altLang="zh-CN" sz="1800" b="1" dirty="0">
              <a:solidFill>
                <a:schemeClr val="accent2"/>
              </a:solidFill>
              <a:latin typeface="Times New Roman" panose="02020603050405020304" pitchFamily="18" charset="0"/>
              <a:ea typeface="华文楷体" panose="02010600040101010101" pitchFamily="2" charset="-122"/>
            </a:endParaRPr>
          </a:p>
        </p:txBody>
      </p:sp>
      <p:sp>
        <p:nvSpPr>
          <p:cNvPr id="36927" name="Rectangle 61"/>
          <p:cNvSpPr>
            <a:spLocks noChangeArrowheads="1"/>
          </p:cNvSpPr>
          <p:nvPr/>
        </p:nvSpPr>
        <p:spPr bwMode="auto">
          <a:xfrm>
            <a:off x="2057400" y="5195888"/>
            <a:ext cx="3873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chemeClr val="accent2"/>
                </a:solidFill>
                <a:latin typeface="Times New Roman" panose="02020603050405020304" pitchFamily="18" charset="0"/>
                <a:ea typeface="华文楷体" panose="02010600040101010101" pitchFamily="2" charset="-122"/>
              </a:rPr>
              <a:t>-1</a:t>
            </a:r>
            <a:endParaRPr lang="en-US" altLang="zh-CN" sz="1800" b="1" dirty="0">
              <a:solidFill>
                <a:schemeClr val="accent2"/>
              </a:solidFill>
              <a:latin typeface="Times New Roman" panose="02020603050405020304" pitchFamily="18" charset="0"/>
              <a:ea typeface="华文楷体" panose="02010600040101010101" pitchFamily="2" charset="-122"/>
            </a:endParaRPr>
          </a:p>
        </p:txBody>
      </p:sp>
      <p:sp>
        <p:nvSpPr>
          <p:cNvPr id="36928" name="Rectangle 62"/>
          <p:cNvSpPr>
            <a:spLocks noChangeArrowheads="1"/>
          </p:cNvSpPr>
          <p:nvPr/>
        </p:nvSpPr>
        <p:spPr bwMode="auto">
          <a:xfrm>
            <a:off x="1524000" y="4724400"/>
            <a:ext cx="3873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chemeClr val="accent2"/>
                </a:solidFill>
                <a:latin typeface="Times New Roman" panose="02020603050405020304" pitchFamily="18" charset="0"/>
                <a:ea typeface="华文楷体" panose="02010600040101010101" pitchFamily="2" charset="-122"/>
              </a:rPr>
              <a:t>-1</a:t>
            </a:r>
            <a:endParaRPr lang="en-US" altLang="zh-CN" sz="1800" b="1" dirty="0">
              <a:solidFill>
                <a:schemeClr val="accent2"/>
              </a:solidFill>
              <a:latin typeface="Times New Roman" panose="02020603050405020304" pitchFamily="18" charset="0"/>
              <a:ea typeface="华文楷体" panose="02010600040101010101" pitchFamily="2" charset="-122"/>
            </a:endParaRPr>
          </a:p>
        </p:txBody>
      </p:sp>
      <p:sp>
        <p:nvSpPr>
          <p:cNvPr id="36929" name="Rectangle 63"/>
          <p:cNvSpPr>
            <a:spLocks noChangeArrowheads="1"/>
          </p:cNvSpPr>
          <p:nvPr/>
        </p:nvSpPr>
        <p:spPr bwMode="auto">
          <a:xfrm>
            <a:off x="3429000" y="5195888"/>
            <a:ext cx="3111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chemeClr val="accent2"/>
                </a:solidFill>
                <a:latin typeface="Times New Roman" panose="02020603050405020304" pitchFamily="18" charset="0"/>
                <a:ea typeface="华文楷体" panose="02010600040101010101" pitchFamily="2" charset="-122"/>
              </a:rPr>
              <a:t>0</a:t>
            </a:r>
            <a:endParaRPr lang="en-US" altLang="zh-CN" sz="1800" b="1" dirty="0">
              <a:solidFill>
                <a:schemeClr val="accent2"/>
              </a:solidFill>
              <a:latin typeface="Times New Roman" panose="02020603050405020304" pitchFamily="18" charset="0"/>
              <a:ea typeface="华文楷体" panose="02010600040101010101" pitchFamily="2" charset="-122"/>
            </a:endParaRPr>
          </a:p>
        </p:txBody>
      </p:sp>
      <p:sp>
        <p:nvSpPr>
          <p:cNvPr id="36930" name="Rectangle 64"/>
          <p:cNvSpPr>
            <a:spLocks noChangeArrowheads="1"/>
          </p:cNvSpPr>
          <p:nvPr/>
        </p:nvSpPr>
        <p:spPr bwMode="auto">
          <a:xfrm>
            <a:off x="4870450" y="6338888"/>
            <a:ext cx="3111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chemeClr val="accent2"/>
                </a:solidFill>
                <a:latin typeface="Times New Roman" panose="02020603050405020304" pitchFamily="18" charset="0"/>
                <a:ea typeface="华文楷体" panose="02010600040101010101" pitchFamily="2" charset="-122"/>
              </a:rPr>
              <a:t>0</a:t>
            </a:r>
            <a:endParaRPr lang="en-US" altLang="zh-CN" sz="1800" b="1" dirty="0">
              <a:solidFill>
                <a:schemeClr val="accent2"/>
              </a:solidFill>
              <a:latin typeface="Times New Roman" panose="02020603050405020304" pitchFamily="18" charset="0"/>
              <a:ea typeface="华文楷体" panose="02010600040101010101" pitchFamily="2" charset="-122"/>
            </a:endParaRPr>
          </a:p>
        </p:txBody>
      </p:sp>
      <p:sp>
        <p:nvSpPr>
          <p:cNvPr id="36931" name="Rectangle 65"/>
          <p:cNvSpPr>
            <a:spLocks noChangeArrowheads="1"/>
          </p:cNvSpPr>
          <p:nvPr/>
        </p:nvSpPr>
        <p:spPr bwMode="auto">
          <a:xfrm>
            <a:off x="5327650" y="5867400"/>
            <a:ext cx="3111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chemeClr val="accent2"/>
                </a:solidFill>
                <a:latin typeface="Times New Roman" panose="02020603050405020304" pitchFamily="18" charset="0"/>
                <a:ea typeface="华文楷体" panose="02010600040101010101" pitchFamily="2" charset="-122"/>
              </a:rPr>
              <a:t>1</a:t>
            </a:r>
            <a:endParaRPr lang="en-US" altLang="zh-CN" sz="1800" b="1" dirty="0">
              <a:solidFill>
                <a:schemeClr val="accent2"/>
              </a:solidFill>
              <a:latin typeface="Times New Roman" panose="02020603050405020304" pitchFamily="18" charset="0"/>
              <a:ea typeface="华文楷体" panose="02010600040101010101" pitchFamily="2" charset="-122"/>
            </a:endParaRPr>
          </a:p>
        </p:txBody>
      </p:sp>
      <p:sp>
        <p:nvSpPr>
          <p:cNvPr id="36932" name="Rectangle 66"/>
          <p:cNvSpPr>
            <a:spLocks noChangeArrowheads="1"/>
          </p:cNvSpPr>
          <p:nvPr/>
        </p:nvSpPr>
        <p:spPr bwMode="auto">
          <a:xfrm>
            <a:off x="4946650" y="5348288"/>
            <a:ext cx="3873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chemeClr val="accent2"/>
                </a:solidFill>
                <a:latin typeface="Times New Roman" panose="02020603050405020304" pitchFamily="18" charset="0"/>
                <a:ea typeface="华文楷体" panose="02010600040101010101" pitchFamily="2" charset="-122"/>
              </a:rPr>
              <a:t>-2</a:t>
            </a:r>
            <a:endParaRPr lang="en-US" altLang="zh-CN" sz="1800" b="1" dirty="0">
              <a:solidFill>
                <a:schemeClr val="accent2"/>
              </a:solidFill>
              <a:latin typeface="Times New Roman" panose="02020603050405020304" pitchFamily="18" charset="0"/>
              <a:ea typeface="华文楷体" panose="02010600040101010101" pitchFamily="2" charset="-122"/>
            </a:endParaRPr>
          </a:p>
        </p:txBody>
      </p:sp>
      <p:sp>
        <p:nvSpPr>
          <p:cNvPr id="36933" name="Rectangle 67"/>
          <p:cNvSpPr>
            <a:spLocks noChangeArrowheads="1"/>
          </p:cNvSpPr>
          <p:nvPr/>
        </p:nvSpPr>
        <p:spPr bwMode="auto">
          <a:xfrm>
            <a:off x="4267200" y="4876800"/>
            <a:ext cx="3873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chemeClr val="accent2"/>
                </a:solidFill>
                <a:latin typeface="Times New Roman" panose="02020603050405020304" pitchFamily="18" charset="0"/>
                <a:ea typeface="华文楷体" panose="02010600040101010101" pitchFamily="2" charset="-122"/>
              </a:rPr>
              <a:t>-2</a:t>
            </a:r>
            <a:endParaRPr lang="en-US" altLang="zh-CN" sz="1800" b="1" dirty="0">
              <a:solidFill>
                <a:schemeClr val="accent2"/>
              </a:solidFill>
              <a:latin typeface="Times New Roman" panose="02020603050405020304" pitchFamily="18" charset="0"/>
              <a:ea typeface="华文楷体" panose="02010600040101010101" pitchFamily="2" charset="-122"/>
            </a:endParaRPr>
          </a:p>
        </p:txBody>
      </p:sp>
      <p:sp>
        <p:nvSpPr>
          <p:cNvPr id="36934" name="Rectangle 68"/>
          <p:cNvSpPr>
            <a:spLocks noChangeArrowheads="1"/>
          </p:cNvSpPr>
          <p:nvPr/>
        </p:nvSpPr>
        <p:spPr bwMode="auto">
          <a:xfrm>
            <a:off x="6165850" y="5181600"/>
            <a:ext cx="3111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chemeClr val="accent2"/>
                </a:solidFill>
                <a:latin typeface="Times New Roman" panose="02020603050405020304" pitchFamily="18" charset="0"/>
                <a:ea typeface="华文楷体" panose="02010600040101010101" pitchFamily="2" charset="-122"/>
              </a:rPr>
              <a:t>0</a:t>
            </a:r>
            <a:endParaRPr lang="en-US" altLang="zh-CN" sz="1800" b="1" dirty="0">
              <a:solidFill>
                <a:schemeClr val="accent2"/>
              </a:solidFill>
              <a:latin typeface="Times New Roman" panose="02020603050405020304" pitchFamily="18" charset="0"/>
              <a:ea typeface="华文楷体" panose="02010600040101010101" pitchFamily="2" charset="-122"/>
            </a:endParaRPr>
          </a:p>
        </p:txBody>
      </p:sp>
      <p:sp>
        <p:nvSpPr>
          <p:cNvPr id="36935" name="Rectangle 69"/>
          <p:cNvSpPr>
            <a:spLocks noChangeArrowheads="1"/>
          </p:cNvSpPr>
          <p:nvPr/>
        </p:nvSpPr>
        <p:spPr bwMode="auto">
          <a:xfrm>
            <a:off x="6851650" y="5638800"/>
            <a:ext cx="3111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chemeClr val="accent2"/>
                </a:solidFill>
                <a:latin typeface="Times New Roman" panose="02020603050405020304" pitchFamily="18" charset="0"/>
                <a:ea typeface="华文楷体" panose="02010600040101010101" pitchFamily="2" charset="-122"/>
              </a:rPr>
              <a:t>0</a:t>
            </a:r>
            <a:endParaRPr lang="en-US" altLang="zh-CN" sz="1800" b="1" dirty="0">
              <a:solidFill>
                <a:schemeClr val="accent2"/>
              </a:solidFill>
              <a:latin typeface="Times New Roman" panose="02020603050405020304" pitchFamily="18" charset="0"/>
              <a:ea typeface="华文楷体" panose="02010600040101010101" pitchFamily="2" charset="-122"/>
            </a:endParaRPr>
          </a:p>
        </p:txBody>
      </p:sp>
      <p:sp>
        <p:nvSpPr>
          <p:cNvPr id="36936" name="Rectangle 70"/>
          <p:cNvSpPr>
            <a:spLocks noChangeArrowheads="1"/>
          </p:cNvSpPr>
          <p:nvPr/>
        </p:nvSpPr>
        <p:spPr bwMode="auto">
          <a:xfrm>
            <a:off x="7848600" y="5638800"/>
            <a:ext cx="3111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chemeClr val="accent2"/>
                </a:solidFill>
                <a:latin typeface="Times New Roman" panose="02020603050405020304" pitchFamily="18" charset="0"/>
                <a:ea typeface="华文楷体" panose="02010600040101010101" pitchFamily="2" charset="-122"/>
              </a:rPr>
              <a:t>0</a:t>
            </a:r>
            <a:endParaRPr lang="en-US" altLang="zh-CN" sz="1800" b="1" dirty="0">
              <a:solidFill>
                <a:schemeClr val="accent2"/>
              </a:solidFill>
              <a:latin typeface="Times New Roman" panose="02020603050405020304" pitchFamily="18" charset="0"/>
              <a:ea typeface="华文楷体" panose="02010600040101010101" pitchFamily="2" charset="-122"/>
            </a:endParaRPr>
          </a:p>
        </p:txBody>
      </p:sp>
      <p:sp>
        <p:nvSpPr>
          <p:cNvPr id="36937" name="Rectangle 71"/>
          <p:cNvSpPr>
            <a:spLocks noChangeArrowheads="1"/>
          </p:cNvSpPr>
          <p:nvPr/>
        </p:nvSpPr>
        <p:spPr bwMode="auto">
          <a:xfrm>
            <a:off x="7385050" y="5181600"/>
            <a:ext cx="3111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chemeClr val="accent2"/>
                </a:solidFill>
                <a:latin typeface="Times New Roman" panose="02020603050405020304" pitchFamily="18" charset="0"/>
                <a:ea typeface="华文楷体" panose="02010600040101010101" pitchFamily="2" charset="-122"/>
              </a:rPr>
              <a:t>0</a:t>
            </a:r>
            <a:endParaRPr lang="en-US" altLang="zh-CN" sz="1800" b="1" dirty="0">
              <a:solidFill>
                <a:schemeClr val="accent2"/>
              </a:solidFill>
              <a:latin typeface="Times New Roman" panose="02020603050405020304" pitchFamily="18" charset="0"/>
              <a:ea typeface="华文楷体" panose="02010600040101010101" pitchFamily="2" charset="-122"/>
            </a:endParaRPr>
          </a:p>
        </p:txBody>
      </p:sp>
      <p:sp>
        <p:nvSpPr>
          <p:cNvPr id="36938" name="Rectangle 72"/>
          <p:cNvSpPr>
            <a:spLocks noChangeArrowheads="1"/>
          </p:cNvSpPr>
          <p:nvPr/>
        </p:nvSpPr>
        <p:spPr bwMode="auto">
          <a:xfrm>
            <a:off x="6851650" y="4724400"/>
            <a:ext cx="3873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solidFill>
                  <a:schemeClr val="accent2"/>
                </a:solidFill>
                <a:latin typeface="Times New Roman" panose="02020603050405020304" pitchFamily="18" charset="0"/>
                <a:ea typeface="华文楷体" panose="02010600040101010101" pitchFamily="2" charset="-122"/>
              </a:rPr>
              <a:t>-1</a:t>
            </a:r>
            <a:endParaRPr lang="en-US" altLang="zh-CN" sz="1800" b="1" dirty="0">
              <a:solidFill>
                <a:schemeClr val="accent2"/>
              </a:solidFill>
              <a:latin typeface="Times New Roman" panose="02020603050405020304" pitchFamily="18" charset="0"/>
              <a:ea typeface="华文楷体" panose="02010600040101010101" pitchFamily="2" charset="-122"/>
            </a:endParaRPr>
          </a:p>
        </p:txBody>
      </p:sp>
      <p:sp>
        <p:nvSpPr>
          <p:cNvPr id="36939" name="Text Box 73"/>
          <p:cNvSpPr txBox="1">
            <a:spLocks noChangeArrowheads="1"/>
          </p:cNvSpPr>
          <p:nvPr/>
        </p:nvSpPr>
        <p:spPr bwMode="auto">
          <a:xfrm>
            <a:off x="3657600" y="3290888"/>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15</a:t>
            </a:r>
            <a:endParaRPr lang="en-US" altLang="zh-CN" sz="1800" dirty="0">
              <a:latin typeface="Times New Roman" panose="02020603050405020304" pitchFamily="18" charset="0"/>
              <a:ea typeface="华文楷体" panose="02010600040101010101" pitchFamily="2" charset="-122"/>
            </a:endParaRPr>
          </a:p>
        </p:txBody>
      </p:sp>
      <p:sp>
        <p:nvSpPr>
          <p:cNvPr id="36940" name="Text Box 74"/>
          <p:cNvSpPr txBox="1">
            <a:spLocks noChangeArrowheads="1"/>
          </p:cNvSpPr>
          <p:nvPr/>
        </p:nvSpPr>
        <p:spPr bwMode="auto">
          <a:xfrm>
            <a:off x="4362450" y="3748088"/>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25</a:t>
            </a:r>
            <a:endParaRPr lang="en-US" altLang="zh-CN" sz="1800" dirty="0">
              <a:latin typeface="Times New Roman" panose="02020603050405020304" pitchFamily="18" charset="0"/>
              <a:ea typeface="华文楷体" panose="02010600040101010101" pitchFamily="2" charset="-122"/>
            </a:endParaRPr>
          </a:p>
        </p:txBody>
      </p:sp>
      <p:sp>
        <p:nvSpPr>
          <p:cNvPr id="36941" name="Text Box 75"/>
          <p:cNvSpPr txBox="1">
            <a:spLocks noChangeArrowheads="1"/>
          </p:cNvSpPr>
          <p:nvPr/>
        </p:nvSpPr>
        <p:spPr bwMode="auto">
          <a:xfrm>
            <a:off x="4819650" y="4205288"/>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35</a:t>
            </a:r>
            <a:endParaRPr lang="en-US" altLang="zh-CN" sz="1800" dirty="0">
              <a:latin typeface="Times New Roman" panose="02020603050405020304" pitchFamily="18" charset="0"/>
              <a:ea typeface="华文楷体" panose="02010600040101010101" pitchFamily="2" charset="-122"/>
            </a:endParaRPr>
          </a:p>
        </p:txBody>
      </p:sp>
      <p:sp>
        <p:nvSpPr>
          <p:cNvPr id="36942" name="Text Box 76"/>
          <p:cNvSpPr txBox="1">
            <a:spLocks noChangeArrowheads="1"/>
          </p:cNvSpPr>
          <p:nvPr/>
        </p:nvSpPr>
        <p:spPr bwMode="auto">
          <a:xfrm>
            <a:off x="7391400" y="3733800"/>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35</a:t>
            </a:r>
            <a:endParaRPr lang="en-US" altLang="zh-CN" sz="1800" dirty="0">
              <a:latin typeface="Times New Roman" panose="02020603050405020304" pitchFamily="18" charset="0"/>
              <a:ea typeface="华文楷体" panose="02010600040101010101" pitchFamily="2" charset="-122"/>
            </a:endParaRPr>
          </a:p>
        </p:txBody>
      </p:sp>
      <p:sp>
        <p:nvSpPr>
          <p:cNvPr id="36943" name="Text Box 77"/>
          <p:cNvSpPr txBox="1">
            <a:spLocks noChangeArrowheads="1"/>
          </p:cNvSpPr>
          <p:nvPr/>
        </p:nvSpPr>
        <p:spPr bwMode="auto">
          <a:xfrm>
            <a:off x="6953250" y="3276600"/>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25</a:t>
            </a:r>
            <a:endParaRPr lang="en-US" altLang="zh-CN" sz="1800" dirty="0">
              <a:latin typeface="Times New Roman" panose="02020603050405020304" pitchFamily="18" charset="0"/>
              <a:ea typeface="华文楷体" panose="02010600040101010101" pitchFamily="2" charset="-122"/>
            </a:endParaRPr>
          </a:p>
        </p:txBody>
      </p:sp>
      <p:sp>
        <p:nvSpPr>
          <p:cNvPr id="36944" name="Text Box 78"/>
          <p:cNvSpPr txBox="1">
            <a:spLocks noChangeArrowheads="1"/>
          </p:cNvSpPr>
          <p:nvPr/>
        </p:nvSpPr>
        <p:spPr bwMode="auto">
          <a:xfrm>
            <a:off x="6248400" y="3748088"/>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15</a:t>
            </a:r>
            <a:endParaRPr lang="en-US" altLang="zh-CN" sz="1800" dirty="0">
              <a:latin typeface="Times New Roman" panose="02020603050405020304" pitchFamily="18" charset="0"/>
              <a:ea typeface="华文楷体" panose="02010600040101010101" pitchFamily="2" charset="-122"/>
            </a:endParaRPr>
          </a:p>
        </p:txBody>
      </p:sp>
      <p:sp>
        <p:nvSpPr>
          <p:cNvPr id="36945" name="Text Box 79"/>
          <p:cNvSpPr txBox="1">
            <a:spLocks noChangeArrowheads="1"/>
          </p:cNvSpPr>
          <p:nvPr/>
        </p:nvSpPr>
        <p:spPr bwMode="auto">
          <a:xfrm>
            <a:off x="1371600" y="5043488"/>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25</a:t>
            </a:r>
            <a:endParaRPr lang="en-US" altLang="zh-CN" sz="1800" dirty="0">
              <a:latin typeface="Times New Roman" panose="02020603050405020304" pitchFamily="18" charset="0"/>
              <a:ea typeface="华文楷体" panose="02010600040101010101" pitchFamily="2" charset="-122"/>
            </a:endParaRPr>
          </a:p>
        </p:txBody>
      </p:sp>
      <p:sp>
        <p:nvSpPr>
          <p:cNvPr id="36946" name="Text Box 80"/>
          <p:cNvSpPr txBox="1">
            <a:spLocks noChangeArrowheads="1"/>
          </p:cNvSpPr>
          <p:nvPr/>
        </p:nvSpPr>
        <p:spPr bwMode="auto">
          <a:xfrm>
            <a:off x="838200" y="5500688"/>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15</a:t>
            </a:r>
            <a:endParaRPr lang="en-US" altLang="zh-CN" sz="1800" dirty="0">
              <a:latin typeface="Times New Roman" panose="02020603050405020304" pitchFamily="18" charset="0"/>
              <a:ea typeface="华文楷体" panose="02010600040101010101" pitchFamily="2" charset="-122"/>
            </a:endParaRPr>
          </a:p>
        </p:txBody>
      </p:sp>
      <p:sp>
        <p:nvSpPr>
          <p:cNvPr id="36947" name="Text Box 81"/>
          <p:cNvSpPr txBox="1">
            <a:spLocks noChangeArrowheads="1"/>
          </p:cNvSpPr>
          <p:nvPr/>
        </p:nvSpPr>
        <p:spPr bwMode="auto">
          <a:xfrm>
            <a:off x="1771650" y="5500688"/>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35</a:t>
            </a:r>
            <a:endParaRPr lang="en-US" altLang="zh-CN" sz="1800" dirty="0">
              <a:latin typeface="Times New Roman" panose="02020603050405020304" pitchFamily="18" charset="0"/>
              <a:ea typeface="华文楷体" panose="02010600040101010101" pitchFamily="2" charset="-122"/>
            </a:endParaRPr>
          </a:p>
        </p:txBody>
      </p:sp>
      <p:sp>
        <p:nvSpPr>
          <p:cNvPr id="36948" name="Text Box 82"/>
          <p:cNvSpPr txBox="1">
            <a:spLocks noChangeArrowheads="1"/>
          </p:cNvSpPr>
          <p:nvPr/>
        </p:nvSpPr>
        <p:spPr bwMode="auto">
          <a:xfrm>
            <a:off x="2228850" y="5957888"/>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90</a:t>
            </a:r>
            <a:endParaRPr lang="en-US" altLang="zh-CN" sz="1800" dirty="0">
              <a:latin typeface="Times New Roman" panose="02020603050405020304" pitchFamily="18" charset="0"/>
              <a:ea typeface="华文楷体" panose="02010600040101010101" pitchFamily="2" charset="-122"/>
            </a:endParaRPr>
          </a:p>
        </p:txBody>
      </p:sp>
      <p:sp>
        <p:nvSpPr>
          <p:cNvPr id="36949" name="Text Box 83"/>
          <p:cNvSpPr txBox="1">
            <a:spLocks noChangeArrowheads="1"/>
          </p:cNvSpPr>
          <p:nvPr/>
        </p:nvSpPr>
        <p:spPr bwMode="auto">
          <a:xfrm>
            <a:off x="3371850" y="5486400"/>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15</a:t>
            </a:r>
            <a:endParaRPr lang="en-US" altLang="zh-CN" sz="1800" dirty="0">
              <a:latin typeface="Times New Roman" panose="02020603050405020304" pitchFamily="18" charset="0"/>
              <a:ea typeface="华文楷体" panose="02010600040101010101" pitchFamily="2" charset="-122"/>
            </a:endParaRPr>
          </a:p>
        </p:txBody>
      </p:sp>
      <p:sp>
        <p:nvSpPr>
          <p:cNvPr id="36950" name="Text Box 84"/>
          <p:cNvSpPr txBox="1">
            <a:spLocks noChangeArrowheads="1"/>
          </p:cNvSpPr>
          <p:nvPr/>
        </p:nvSpPr>
        <p:spPr bwMode="auto">
          <a:xfrm>
            <a:off x="3886200" y="5029200"/>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25</a:t>
            </a:r>
            <a:endParaRPr lang="en-US" altLang="zh-CN" sz="1800" dirty="0">
              <a:latin typeface="Times New Roman" panose="02020603050405020304" pitchFamily="18" charset="0"/>
              <a:ea typeface="华文楷体" panose="02010600040101010101" pitchFamily="2" charset="-122"/>
            </a:endParaRPr>
          </a:p>
        </p:txBody>
      </p:sp>
      <p:sp>
        <p:nvSpPr>
          <p:cNvPr id="36951" name="Text Box 85"/>
          <p:cNvSpPr txBox="1">
            <a:spLocks noChangeArrowheads="1"/>
          </p:cNvSpPr>
          <p:nvPr/>
        </p:nvSpPr>
        <p:spPr bwMode="auto">
          <a:xfrm>
            <a:off x="4514850" y="5486400"/>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35</a:t>
            </a:r>
            <a:endParaRPr lang="en-US" altLang="zh-CN" sz="1800" dirty="0">
              <a:latin typeface="Times New Roman" panose="02020603050405020304" pitchFamily="18" charset="0"/>
              <a:ea typeface="华文楷体" panose="02010600040101010101" pitchFamily="2" charset="-122"/>
            </a:endParaRPr>
          </a:p>
        </p:txBody>
      </p:sp>
      <p:sp>
        <p:nvSpPr>
          <p:cNvPr id="36952" name="Text Box 86"/>
          <p:cNvSpPr txBox="1">
            <a:spLocks noChangeArrowheads="1"/>
          </p:cNvSpPr>
          <p:nvPr/>
        </p:nvSpPr>
        <p:spPr bwMode="auto">
          <a:xfrm>
            <a:off x="4895850" y="5881688"/>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90</a:t>
            </a:r>
            <a:endParaRPr lang="en-US" altLang="zh-CN" sz="1800" dirty="0">
              <a:latin typeface="Times New Roman" panose="02020603050405020304" pitchFamily="18" charset="0"/>
              <a:ea typeface="华文楷体" panose="02010600040101010101" pitchFamily="2" charset="-122"/>
            </a:endParaRPr>
          </a:p>
        </p:txBody>
      </p:sp>
      <p:sp>
        <p:nvSpPr>
          <p:cNvPr id="36953" name="Text Box 87"/>
          <p:cNvSpPr txBox="1">
            <a:spLocks noChangeArrowheads="1"/>
          </p:cNvSpPr>
          <p:nvPr/>
        </p:nvSpPr>
        <p:spPr bwMode="auto">
          <a:xfrm>
            <a:off x="4438650" y="6338888"/>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65</a:t>
            </a:r>
            <a:endParaRPr lang="en-US" altLang="zh-CN" sz="1800" dirty="0">
              <a:latin typeface="Times New Roman" panose="02020603050405020304" pitchFamily="18" charset="0"/>
              <a:ea typeface="华文楷体" panose="02010600040101010101" pitchFamily="2" charset="-122"/>
            </a:endParaRPr>
          </a:p>
        </p:txBody>
      </p:sp>
      <p:sp>
        <p:nvSpPr>
          <p:cNvPr id="36954" name="Text Box 88"/>
          <p:cNvSpPr txBox="1">
            <a:spLocks noChangeArrowheads="1"/>
          </p:cNvSpPr>
          <p:nvPr/>
        </p:nvSpPr>
        <p:spPr bwMode="auto">
          <a:xfrm>
            <a:off x="6191250" y="5486400"/>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15</a:t>
            </a:r>
            <a:endParaRPr lang="en-US" altLang="zh-CN" sz="1800" dirty="0">
              <a:latin typeface="Times New Roman" panose="02020603050405020304" pitchFamily="18" charset="0"/>
              <a:ea typeface="华文楷体" panose="02010600040101010101" pitchFamily="2" charset="-122"/>
            </a:endParaRPr>
          </a:p>
        </p:txBody>
      </p:sp>
      <p:sp>
        <p:nvSpPr>
          <p:cNvPr id="36955" name="Text Box 89"/>
          <p:cNvSpPr txBox="1">
            <a:spLocks noChangeArrowheads="1"/>
          </p:cNvSpPr>
          <p:nvPr/>
        </p:nvSpPr>
        <p:spPr bwMode="auto">
          <a:xfrm>
            <a:off x="6800850" y="5029200"/>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25</a:t>
            </a:r>
            <a:endParaRPr lang="en-US" altLang="zh-CN" sz="1800" dirty="0">
              <a:latin typeface="Times New Roman" panose="02020603050405020304" pitchFamily="18" charset="0"/>
              <a:ea typeface="华文楷体" panose="02010600040101010101" pitchFamily="2" charset="-122"/>
            </a:endParaRPr>
          </a:p>
        </p:txBody>
      </p:sp>
      <p:sp>
        <p:nvSpPr>
          <p:cNvPr id="36956" name="Text Box 90"/>
          <p:cNvSpPr txBox="1">
            <a:spLocks noChangeArrowheads="1"/>
          </p:cNvSpPr>
          <p:nvPr/>
        </p:nvSpPr>
        <p:spPr bwMode="auto">
          <a:xfrm>
            <a:off x="7258050" y="5486400"/>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65</a:t>
            </a:r>
            <a:endParaRPr lang="en-US" altLang="zh-CN" sz="1800" dirty="0">
              <a:latin typeface="Times New Roman" panose="02020603050405020304" pitchFamily="18" charset="0"/>
              <a:ea typeface="华文楷体" panose="02010600040101010101" pitchFamily="2" charset="-122"/>
            </a:endParaRPr>
          </a:p>
        </p:txBody>
      </p:sp>
      <p:sp>
        <p:nvSpPr>
          <p:cNvPr id="36957" name="Text Box 91"/>
          <p:cNvSpPr txBox="1">
            <a:spLocks noChangeArrowheads="1"/>
          </p:cNvSpPr>
          <p:nvPr/>
        </p:nvSpPr>
        <p:spPr bwMode="auto">
          <a:xfrm>
            <a:off x="6800850" y="5957888"/>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35</a:t>
            </a:r>
            <a:endParaRPr lang="en-US" altLang="zh-CN" sz="1800" dirty="0">
              <a:latin typeface="Times New Roman" panose="02020603050405020304" pitchFamily="18" charset="0"/>
              <a:ea typeface="华文楷体" panose="02010600040101010101" pitchFamily="2" charset="-122"/>
            </a:endParaRPr>
          </a:p>
        </p:txBody>
      </p:sp>
      <p:sp>
        <p:nvSpPr>
          <p:cNvPr id="36958" name="Text Box 92"/>
          <p:cNvSpPr txBox="1">
            <a:spLocks noChangeArrowheads="1"/>
          </p:cNvSpPr>
          <p:nvPr/>
        </p:nvSpPr>
        <p:spPr bwMode="auto">
          <a:xfrm>
            <a:off x="7715250" y="5957888"/>
            <a:ext cx="415498" cy="36933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90</a:t>
            </a:r>
            <a:endParaRPr lang="en-US" altLang="zh-CN" sz="18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3789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37893"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FF0066"/>
                </a:solidFill>
                <a:ea typeface="华文楷体" panose="02010600040101010101" pitchFamily="2" charset="-122"/>
              </a:rPr>
              <a:t>[</a:t>
            </a:r>
            <a:r>
              <a:rPr lang="zh-CN" altLang="en-US" sz="2400" b="1" dirty="0" smtClean="0">
                <a:solidFill>
                  <a:srgbClr val="FF0066"/>
                </a:solidFill>
                <a:ea typeface="华文楷体" panose="02010600040101010101" pitchFamily="2" charset="-122"/>
              </a:rPr>
              <a:t>调整范围的确定</a:t>
            </a:r>
            <a:r>
              <a:rPr lang="en-US" altLang="zh-CN" sz="2400" b="1" dirty="0" smtClean="0">
                <a:solidFill>
                  <a:srgbClr val="FF0066"/>
                </a:solidFill>
                <a:ea typeface="华文楷体" panose="02010600040101010101" pitchFamily="2" charset="-122"/>
              </a:rPr>
              <a:t>]</a:t>
            </a:r>
            <a:r>
              <a:rPr lang="en-US" altLang="zh-CN" sz="2400" dirty="0" smtClean="0">
                <a:solidFill>
                  <a:srgbClr val="FF0066"/>
                </a:solidFill>
                <a:ea typeface="华文楷体" panose="02010600040101010101" pitchFamily="2" charset="-122"/>
              </a:rPr>
              <a:t>       </a:t>
            </a:r>
            <a:endParaRPr lang="en-US" altLang="zh-CN" sz="2400" dirty="0" smtClean="0">
              <a:solidFill>
                <a:srgbClr val="FF0066"/>
              </a:solidFill>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插入结点后，找到离插入结点最近且平衡因子绝对值超过</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的祖先结点（</a:t>
            </a:r>
            <a:r>
              <a:rPr lang="zh-CN" altLang="en-US" sz="2400" dirty="0" smtClean="0">
                <a:solidFill>
                  <a:schemeClr val="accent2"/>
                </a:solidFill>
                <a:ea typeface="华文楷体" panose="02010600040101010101" pitchFamily="2" charset="-122"/>
              </a:rPr>
              <a:t>危机节点</a:t>
            </a:r>
            <a:r>
              <a:rPr lang="zh-CN" altLang="en-US" sz="2400" dirty="0" smtClean="0">
                <a:ea typeface="华文楷体" panose="02010600040101010101" pitchFamily="2" charset="-122"/>
              </a:rPr>
              <a:t>），则以该</a:t>
            </a:r>
            <a:r>
              <a:rPr lang="zh-CN" altLang="en-US" sz="2400" dirty="0" smtClean="0">
                <a:solidFill>
                  <a:schemeClr val="accent2"/>
                </a:solidFill>
                <a:ea typeface="华文楷体" panose="02010600040101010101" pitchFamily="2" charset="-122"/>
              </a:rPr>
              <a:t>危机节点</a:t>
            </a:r>
            <a:r>
              <a:rPr lang="zh-CN" altLang="en-US" sz="2400" dirty="0" smtClean="0">
                <a:ea typeface="华文楷体" panose="02010600040101010101" pitchFamily="2" charset="-122"/>
              </a:rPr>
              <a:t>为根的子树将是可能不平衡的</a:t>
            </a:r>
            <a:r>
              <a:rPr lang="zh-CN" altLang="en-US" sz="2400" dirty="0" smtClean="0">
                <a:solidFill>
                  <a:schemeClr val="accent2"/>
                </a:solidFill>
                <a:ea typeface="华文楷体" panose="02010600040101010101" pitchFamily="2" charset="-122"/>
              </a:rPr>
              <a:t>最小子树</a:t>
            </a:r>
            <a:r>
              <a:rPr lang="zh-CN" altLang="en-US" sz="2400" dirty="0" smtClean="0">
                <a:ea typeface="华文楷体" panose="02010600040101010101" pitchFamily="2" charset="-122"/>
              </a:rPr>
              <a:t>，可将重新平衡的范围局限于这棵子树。</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zh-CN" altLang="en-US" sz="2400" b="1" dirty="0" smtClean="0">
              <a:solidFill>
                <a:srgbClr val="FF0066"/>
              </a:solidFill>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rgbClr val="FF0066"/>
                </a:solidFill>
                <a:ea typeface="华文楷体" panose="02010600040101010101" pitchFamily="2" charset="-122"/>
              </a:rPr>
              <a:t>[</a:t>
            </a:r>
            <a:r>
              <a:rPr lang="zh-CN" altLang="en-US" sz="2400" b="1" dirty="0" smtClean="0">
                <a:solidFill>
                  <a:srgbClr val="FF0066"/>
                </a:solidFill>
                <a:ea typeface="华文楷体" panose="02010600040101010101" pitchFamily="2" charset="-122"/>
              </a:rPr>
              <a:t>调整的类型</a:t>
            </a:r>
            <a:r>
              <a:rPr lang="en-US" altLang="zh-CN" sz="2400" b="1" dirty="0" smtClean="0">
                <a:solidFill>
                  <a:srgbClr val="FF0066"/>
                </a:solidFill>
                <a:ea typeface="华文楷体" panose="02010600040101010101" pitchFamily="2" charset="-122"/>
              </a:rPr>
              <a:t>] </a:t>
            </a:r>
            <a:endParaRPr lang="en-US" altLang="zh-CN" sz="2400" b="1" dirty="0" smtClean="0">
              <a:solidFill>
                <a:srgbClr val="FF0066"/>
              </a:solidFill>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chemeClr val="accent2"/>
                </a:solidFill>
                <a:ea typeface="华文楷体" panose="02010600040101010101" pitchFamily="2" charset="-122"/>
              </a:rPr>
              <a:t>LL</a:t>
            </a:r>
            <a:r>
              <a:rPr lang="zh-CN" altLang="en-US" sz="2400" b="1" dirty="0" smtClean="0">
                <a:solidFill>
                  <a:schemeClr val="accent2"/>
                </a:solidFill>
                <a:ea typeface="华文楷体" panose="02010600040101010101" pitchFamily="2" charset="-122"/>
              </a:rPr>
              <a:t>型</a:t>
            </a:r>
            <a:r>
              <a:rPr lang="en-US" altLang="zh-CN" sz="2400" dirty="0" smtClean="0">
                <a:ea typeface="华文楷体" panose="02010600040101010101" pitchFamily="2" charset="-122"/>
              </a:rPr>
              <a:t>-</a:t>
            </a:r>
            <a:r>
              <a:rPr lang="zh-CN" altLang="zh-CN" sz="2400" dirty="0" smtClean="0">
                <a:ea typeface="华文楷体" panose="02010600040101010101" pitchFamily="2" charset="-122"/>
              </a:rPr>
              <a:t>表示新插入结点在危机结点的</a:t>
            </a:r>
            <a:r>
              <a:rPr lang="zh-CN" altLang="zh-CN" sz="2400" b="1" dirty="0" smtClean="0">
                <a:solidFill>
                  <a:schemeClr val="accent2"/>
                </a:solidFill>
                <a:ea typeface="华文楷体" panose="02010600040101010101" pitchFamily="2" charset="-122"/>
              </a:rPr>
              <a:t>左子</a:t>
            </a:r>
            <a:r>
              <a:rPr lang="zh-CN" altLang="zh-CN" sz="2400" dirty="0" smtClean="0">
                <a:ea typeface="华文楷体" panose="02010600040101010101" pitchFamily="2" charset="-122"/>
              </a:rPr>
              <a:t>的</a:t>
            </a:r>
            <a:r>
              <a:rPr lang="zh-CN" altLang="zh-CN" sz="2400" b="1" dirty="0" smtClean="0">
                <a:solidFill>
                  <a:schemeClr val="accent2"/>
                </a:solidFill>
                <a:ea typeface="华文楷体" panose="02010600040101010101" pitchFamily="2" charset="-122"/>
              </a:rPr>
              <a:t>左子树</a:t>
            </a:r>
            <a:r>
              <a:rPr lang="zh-CN" altLang="zh-CN" sz="2400" dirty="0" smtClean="0">
                <a:ea typeface="华文楷体" panose="02010600040101010101" pitchFamily="2" charset="-122"/>
              </a:rPr>
              <a:t>上</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chemeClr val="accent2"/>
                </a:solidFill>
                <a:ea typeface="华文楷体" panose="02010600040101010101" pitchFamily="2" charset="-122"/>
              </a:rPr>
              <a:t>LR</a:t>
            </a:r>
            <a:r>
              <a:rPr lang="zh-CN" altLang="en-US" sz="2400" b="1" dirty="0" smtClean="0">
                <a:solidFill>
                  <a:schemeClr val="accent2"/>
                </a:solidFill>
                <a:ea typeface="华文楷体" panose="02010600040101010101" pitchFamily="2" charset="-122"/>
              </a:rPr>
              <a:t>型</a:t>
            </a:r>
            <a:r>
              <a:rPr lang="en-US" altLang="zh-CN" sz="2400" dirty="0" smtClean="0">
                <a:ea typeface="华文楷体" panose="02010600040101010101" pitchFamily="2" charset="-122"/>
              </a:rPr>
              <a:t>-</a:t>
            </a:r>
            <a:r>
              <a:rPr lang="zh-CN" altLang="zh-CN" sz="2400" dirty="0" smtClean="0">
                <a:ea typeface="华文楷体" panose="02010600040101010101" pitchFamily="2" charset="-122"/>
              </a:rPr>
              <a:t>表示新插入结点在危机结点的</a:t>
            </a:r>
            <a:r>
              <a:rPr lang="zh-CN" altLang="zh-CN" sz="2400" b="1" dirty="0" smtClean="0">
                <a:solidFill>
                  <a:schemeClr val="accent2"/>
                </a:solidFill>
                <a:ea typeface="华文楷体" panose="02010600040101010101" pitchFamily="2" charset="-122"/>
              </a:rPr>
              <a:t>左子</a:t>
            </a:r>
            <a:r>
              <a:rPr lang="zh-CN" altLang="zh-CN" sz="2400" dirty="0" smtClean="0">
                <a:ea typeface="华文楷体" panose="02010600040101010101" pitchFamily="2" charset="-122"/>
              </a:rPr>
              <a:t>的</a:t>
            </a:r>
            <a:r>
              <a:rPr lang="zh-CN" altLang="zh-CN" sz="2400" b="1" dirty="0" smtClean="0">
                <a:solidFill>
                  <a:schemeClr val="accent2"/>
                </a:solidFill>
                <a:ea typeface="华文楷体" panose="02010600040101010101" pitchFamily="2" charset="-122"/>
              </a:rPr>
              <a:t>右子</a:t>
            </a:r>
            <a:r>
              <a:rPr lang="zh-CN" altLang="zh-CN" sz="2400" dirty="0" smtClean="0">
                <a:ea typeface="华文楷体" panose="02010600040101010101" pitchFamily="2" charset="-122"/>
              </a:rPr>
              <a:t>树上</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chemeClr val="accent2"/>
                </a:solidFill>
                <a:ea typeface="华文楷体" panose="02010600040101010101" pitchFamily="2" charset="-122"/>
              </a:rPr>
              <a:t>RL</a:t>
            </a:r>
            <a:r>
              <a:rPr lang="zh-CN" altLang="en-US" sz="2400" b="1" dirty="0" smtClean="0">
                <a:solidFill>
                  <a:schemeClr val="accent2"/>
                </a:solidFill>
                <a:ea typeface="华文楷体" panose="02010600040101010101" pitchFamily="2" charset="-122"/>
              </a:rPr>
              <a:t>型</a:t>
            </a:r>
            <a:r>
              <a:rPr lang="en-US" altLang="zh-CN" sz="2400" dirty="0" smtClean="0">
                <a:ea typeface="华文楷体" panose="02010600040101010101" pitchFamily="2" charset="-122"/>
              </a:rPr>
              <a:t>-</a:t>
            </a:r>
            <a:r>
              <a:rPr lang="zh-CN" altLang="zh-CN" sz="2400" dirty="0" smtClean="0">
                <a:ea typeface="华文楷体" panose="02010600040101010101" pitchFamily="2" charset="-122"/>
              </a:rPr>
              <a:t>表示新插入结点在危机结点的</a:t>
            </a:r>
            <a:r>
              <a:rPr lang="zh-CN" altLang="en-US" sz="2400" b="1" dirty="0" smtClean="0">
                <a:solidFill>
                  <a:schemeClr val="accent2"/>
                </a:solidFill>
                <a:ea typeface="华文楷体" panose="02010600040101010101" pitchFamily="2" charset="-122"/>
              </a:rPr>
              <a:t>右</a:t>
            </a:r>
            <a:r>
              <a:rPr lang="zh-CN" altLang="zh-CN" sz="2400" b="1" dirty="0" smtClean="0">
                <a:solidFill>
                  <a:schemeClr val="accent2"/>
                </a:solidFill>
                <a:ea typeface="华文楷体" panose="02010600040101010101" pitchFamily="2" charset="-122"/>
              </a:rPr>
              <a:t>子</a:t>
            </a:r>
            <a:r>
              <a:rPr lang="zh-CN" altLang="zh-CN" sz="2400" dirty="0" smtClean="0">
                <a:ea typeface="华文楷体" panose="02010600040101010101" pitchFamily="2" charset="-122"/>
              </a:rPr>
              <a:t>的</a:t>
            </a:r>
            <a:r>
              <a:rPr lang="zh-CN" altLang="zh-CN" sz="2400" b="1" dirty="0" smtClean="0">
                <a:solidFill>
                  <a:schemeClr val="accent2"/>
                </a:solidFill>
                <a:ea typeface="华文楷体" panose="02010600040101010101" pitchFamily="2" charset="-122"/>
              </a:rPr>
              <a:t>左子树</a:t>
            </a:r>
            <a:r>
              <a:rPr lang="zh-CN" altLang="zh-CN" sz="2400" dirty="0" smtClean="0">
                <a:ea typeface="华文楷体" panose="02010600040101010101" pitchFamily="2" charset="-122"/>
              </a:rPr>
              <a:t>上</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chemeClr val="accent2"/>
                </a:solidFill>
                <a:ea typeface="华文楷体" panose="02010600040101010101" pitchFamily="2" charset="-122"/>
              </a:rPr>
              <a:t>RR</a:t>
            </a:r>
            <a:r>
              <a:rPr lang="zh-CN" altLang="en-US" sz="2400" b="1" dirty="0" smtClean="0">
                <a:solidFill>
                  <a:schemeClr val="accent2"/>
                </a:solidFill>
                <a:ea typeface="华文楷体" panose="02010600040101010101" pitchFamily="2" charset="-122"/>
              </a:rPr>
              <a:t>型</a:t>
            </a:r>
            <a:r>
              <a:rPr lang="en-US" altLang="zh-CN" sz="2400" dirty="0" smtClean="0">
                <a:ea typeface="华文楷体" panose="02010600040101010101" pitchFamily="2" charset="-122"/>
              </a:rPr>
              <a:t>-</a:t>
            </a:r>
            <a:r>
              <a:rPr lang="zh-CN" altLang="zh-CN" sz="2400" dirty="0" smtClean="0">
                <a:ea typeface="华文楷体" panose="02010600040101010101" pitchFamily="2" charset="-122"/>
              </a:rPr>
              <a:t>表示新插入结点在危机结点的</a:t>
            </a:r>
            <a:r>
              <a:rPr lang="zh-CN" altLang="en-US" sz="2400" b="1" dirty="0" smtClean="0">
                <a:solidFill>
                  <a:schemeClr val="accent2"/>
                </a:solidFill>
                <a:ea typeface="华文楷体" panose="02010600040101010101" pitchFamily="2" charset="-122"/>
              </a:rPr>
              <a:t>右</a:t>
            </a:r>
            <a:r>
              <a:rPr lang="zh-CN" altLang="zh-CN" sz="2400" b="1" dirty="0" smtClean="0">
                <a:solidFill>
                  <a:schemeClr val="accent2"/>
                </a:solidFill>
                <a:ea typeface="华文楷体" panose="02010600040101010101" pitchFamily="2" charset="-122"/>
              </a:rPr>
              <a:t>子</a:t>
            </a:r>
            <a:r>
              <a:rPr lang="zh-CN" altLang="zh-CN" sz="2400" dirty="0" smtClean="0">
                <a:ea typeface="华文楷体" panose="02010600040101010101" pitchFamily="2" charset="-122"/>
              </a:rPr>
              <a:t>的</a:t>
            </a:r>
            <a:r>
              <a:rPr lang="zh-CN" altLang="en-US" sz="2400" b="1" dirty="0" smtClean="0">
                <a:solidFill>
                  <a:schemeClr val="accent2"/>
                </a:solidFill>
                <a:ea typeface="华文楷体" panose="02010600040101010101" pitchFamily="2" charset="-122"/>
              </a:rPr>
              <a:t>右</a:t>
            </a:r>
            <a:r>
              <a:rPr lang="zh-CN" altLang="zh-CN" sz="2400" b="1" dirty="0" smtClean="0">
                <a:solidFill>
                  <a:schemeClr val="accent2"/>
                </a:solidFill>
                <a:ea typeface="华文楷体" panose="02010600040101010101" pitchFamily="2" charset="-122"/>
              </a:rPr>
              <a:t>子树</a:t>
            </a:r>
            <a:r>
              <a:rPr lang="zh-CN" altLang="zh-CN" sz="2400" dirty="0" smtClean="0">
                <a:ea typeface="华文楷体" panose="02010600040101010101" pitchFamily="2" charset="-122"/>
              </a:rPr>
              <a:t>上</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页脚占位符 3"/>
          <p:cNvSpPr>
            <a:spLocks noGrp="1"/>
          </p:cNvSpPr>
          <p:nvPr>
            <p:ph type="ftr" sz="quarter" idx="10"/>
          </p:nvPr>
        </p:nvSpPr>
        <p:spPr/>
        <p:txBody>
          <a:bodyPr/>
          <a:lstStyle/>
          <a:p>
            <a:pPr>
              <a:defRPr/>
            </a:pPr>
            <a:r>
              <a:rPr lang="en-US" altLang="zh-CN"/>
              <a:t>BUPT SCST</a:t>
            </a:r>
            <a:endParaRPr lang="en-US" altLang="zh-CN"/>
          </a:p>
        </p:txBody>
      </p:sp>
      <p:sp>
        <p:nvSpPr>
          <p:cNvPr id="93" name="日期占位符 5"/>
          <p:cNvSpPr>
            <a:spLocks noGrp="1"/>
          </p:cNvSpPr>
          <p:nvPr>
            <p:ph type="dt" sz="quarter" idx="12"/>
          </p:nvPr>
        </p:nvSpPr>
        <p:spPr/>
        <p:txBody>
          <a:bodyPr/>
          <a:lstStyle/>
          <a:p>
            <a:pPr>
              <a:defRPr/>
            </a:pPr>
            <a:r>
              <a:rPr lang="en-US" altLang="zh-CN"/>
              <a:t>BUPT</a:t>
            </a:r>
            <a:endParaRPr lang="en-US" altLang="zh-CN"/>
          </a:p>
        </p:txBody>
      </p:sp>
      <p:sp>
        <p:nvSpPr>
          <p:cNvPr id="3891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38917"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FF0066"/>
                </a:solidFill>
                <a:ea typeface="华文楷体" panose="02010600040101010101" pitchFamily="2" charset="-122"/>
              </a:rPr>
              <a:t>[</a:t>
            </a:r>
            <a:r>
              <a:rPr lang="zh-CN" altLang="en-US" sz="2400" b="1" dirty="0" smtClean="0">
                <a:solidFill>
                  <a:srgbClr val="FF0066"/>
                </a:solidFill>
                <a:ea typeface="华文楷体" panose="02010600040101010101" pitchFamily="2" charset="-122"/>
              </a:rPr>
              <a:t>调整的方法</a:t>
            </a:r>
            <a:r>
              <a:rPr lang="en-US" altLang="zh-CN" sz="2400" b="1" dirty="0" smtClean="0">
                <a:solidFill>
                  <a:srgbClr val="FF0066"/>
                </a:solidFill>
                <a:ea typeface="华文楷体" panose="02010600040101010101" pitchFamily="2" charset="-122"/>
              </a:rPr>
              <a:t>]</a:t>
            </a:r>
            <a:endParaRPr lang="en-US" altLang="zh-CN" sz="2400" b="1" dirty="0" smtClean="0">
              <a:solidFill>
                <a:srgbClr val="FF0066"/>
              </a:solidFill>
              <a:ea typeface="华文楷体" panose="02010600040101010101" pitchFamily="2" charset="-122"/>
            </a:endParaRPr>
          </a:p>
          <a:p>
            <a:pPr eaLnBrk="1" hangingPunct="1">
              <a:buFont typeface="Wingdings" panose="05000000000000000000" pitchFamily="2" charset="2"/>
              <a:buNone/>
            </a:pPr>
            <a:r>
              <a:rPr lang="en-US" altLang="zh-CN" sz="2400" b="1" dirty="0" smtClean="0">
                <a:ea typeface="华文楷体" panose="02010600040101010101" pitchFamily="2" charset="-122"/>
              </a:rPr>
              <a:t>LL</a:t>
            </a:r>
            <a:r>
              <a:rPr lang="zh-CN" altLang="en-US" sz="2400" b="1" dirty="0" smtClean="0">
                <a:ea typeface="华文楷体" panose="02010600040101010101" pitchFamily="2" charset="-122"/>
              </a:rPr>
              <a:t>型平衡旋转</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一次顺时针旋转</a:t>
            </a:r>
            <a:endParaRPr lang="zh-CN" altLang="en-US" sz="2400" dirty="0" smtClean="0">
              <a:ea typeface="华文楷体" panose="02010600040101010101" pitchFamily="2" charset="-122"/>
            </a:endParaRPr>
          </a:p>
        </p:txBody>
      </p:sp>
      <p:sp>
        <p:nvSpPr>
          <p:cNvPr id="38918" name="Line 4"/>
          <p:cNvSpPr>
            <a:spLocks noChangeShapeType="1"/>
          </p:cNvSpPr>
          <p:nvPr/>
        </p:nvSpPr>
        <p:spPr bwMode="auto">
          <a:xfrm flipH="1">
            <a:off x="7391400" y="327660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8919" name="Line 5"/>
          <p:cNvSpPr>
            <a:spLocks noChangeShapeType="1"/>
          </p:cNvSpPr>
          <p:nvPr/>
        </p:nvSpPr>
        <p:spPr bwMode="auto">
          <a:xfrm>
            <a:off x="7620000" y="3352800"/>
            <a:ext cx="228600" cy="4572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8920" name="Line 6"/>
          <p:cNvSpPr>
            <a:spLocks noChangeShapeType="1"/>
          </p:cNvSpPr>
          <p:nvPr/>
        </p:nvSpPr>
        <p:spPr bwMode="auto">
          <a:xfrm>
            <a:off x="2438400" y="2819400"/>
            <a:ext cx="304800" cy="4572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8921" name="Line 7"/>
          <p:cNvSpPr>
            <a:spLocks noChangeShapeType="1"/>
          </p:cNvSpPr>
          <p:nvPr/>
        </p:nvSpPr>
        <p:spPr bwMode="auto">
          <a:xfrm flipH="1">
            <a:off x="1600200" y="2971800"/>
            <a:ext cx="533400" cy="11430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8922" name="Oval 8"/>
          <p:cNvSpPr>
            <a:spLocks noChangeArrowheads="1"/>
          </p:cNvSpPr>
          <p:nvPr/>
        </p:nvSpPr>
        <p:spPr bwMode="auto">
          <a:xfrm>
            <a:off x="2057400" y="2667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38923" name="Oval 9"/>
          <p:cNvSpPr>
            <a:spLocks noChangeArrowheads="1"/>
          </p:cNvSpPr>
          <p:nvPr/>
        </p:nvSpPr>
        <p:spPr bwMode="auto">
          <a:xfrm>
            <a:off x="1752600" y="3124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38924" name="Text Box 10"/>
          <p:cNvSpPr txBox="1">
            <a:spLocks noChangeArrowheads="1"/>
          </p:cNvSpPr>
          <p:nvPr/>
        </p:nvSpPr>
        <p:spPr bwMode="auto">
          <a:xfrm>
            <a:off x="2133600" y="2438400"/>
            <a:ext cx="3810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+1</a:t>
            </a:r>
            <a:endParaRPr kumimoji="1" lang="en-US" altLang="zh-CN" sz="2000" b="1" dirty="0">
              <a:latin typeface="Times New Roman" panose="02020603050405020304" pitchFamily="18" charset="0"/>
              <a:ea typeface="华文楷体" panose="02010600040101010101" pitchFamily="2" charset="-122"/>
            </a:endParaRPr>
          </a:p>
        </p:txBody>
      </p:sp>
      <p:sp>
        <p:nvSpPr>
          <p:cNvPr id="38925" name="Text Box 11"/>
          <p:cNvSpPr txBox="1">
            <a:spLocks noChangeArrowheads="1"/>
          </p:cNvSpPr>
          <p:nvPr/>
        </p:nvSpPr>
        <p:spPr bwMode="auto">
          <a:xfrm>
            <a:off x="914400" y="4114800"/>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h-1</a:t>
            </a:r>
            <a:endParaRPr kumimoji="1" lang="en-US" altLang="zh-CN" sz="2000" b="1" dirty="0">
              <a:latin typeface="Times New Roman" panose="02020603050405020304" pitchFamily="18" charset="0"/>
              <a:ea typeface="华文楷体" panose="02010600040101010101" pitchFamily="2" charset="-122"/>
            </a:endParaRPr>
          </a:p>
        </p:txBody>
      </p:sp>
      <p:sp>
        <p:nvSpPr>
          <p:cNvPr id="38926" name="Text Box 12"/>
          <p:cNvSpPr txBox="1">
            <a:spLocks noChangeArrowheads="1"/>
          </p:cNvSpPr>
          <p:nvPr/>
        </p:nvSpPr>
        <p:spPr bwMode="auto">
          <a:xfrm>
            <a:off x="1828800" y="2895600"/>
            <a:ext cx="3810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0</a:t>
            </a:r>
            <a:endParaRPr kumimoji="1" lang="en-US" altLang="zh-CN" sz="1200" b="1" dirty="0">
              <a:latin typeface="Times New Roman" panose="02020603050405020304" pitchFamily="18" charset="0"/>
              <a:ea typeface="华文楷体" panose="02010600040101010101" pitchFamily="2" charset="-122"/>
            </a:endParaRPr>
          </a:p>
        </p:txBody>
      </p:sp>
      <p:grpSp>
        <p:nvGrpSpPr>
          <p:cNvPr id="38927" name="Group 13"/>
          <p:cNvGrpSpPr/>
          <p:nvPr/>
        </p:nvGrpSpPr>
        <p:grpSpPr bwMode="auto">
          <a:xfrm>
            <a:off x="1447800" y="3886200"/>
            <a:ext cx="381000" cy="838200"/>
            <a:chOff x="2448" y="3072"/>
            <a:chExt cx="240" cy="528"/>
          </a:xfrm>
        </p:grpSpPr>
        <p:sp>
          <p:nvSpPr>
            <p:cNvPr id="39002" name="Rectangle 14"/>
            <p:cNvSpPr>
              <a:spLocks noChangeArrowheads="1"/>
            </p:cNvSpPr>
            <p:nvPr/>
          </p:nvSpPr>
          <p:spPr bwMode="auto">
            <a:xfrm>
              <a:off x="2448" y="3072"/>
              <a:ext cx="240" cy="528"/>
            </a:xfrm>
            <a:prstGeom prst="rect">
              <a:avLst/>
            </a:prstGeom>
            <a:solidFill>
              <a:schemeClr val="accent1"/>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9003" name="Line 15"/>
            <p:cNvSpPr>
              <a:spLocks noChangeShapeType="1"/>
            </p:cNvSpPr>
            <p:nvPr/>
          </p:nvSpPr>
          <p:spPr bwMode="auto">
            <a:xfrm>
              <a:off x="2448" y="3456"/>
              <a:ext cx="2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9004" name="Line 16"/>
            <p:cNvSpPr>
              <a:spLocks noChangeShapeType="1"/>
            </p:cNvSpPr>
            <p:nvPr/>
          </p:nvSpPr>
          <p:spPr bwMode="auto">
            <a:xfrm flipH="1">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9005" name="Line 17"/>
            <p:cNvSpPr>
              <a:spLocks noChangeShapeType="1"/>
            </p:cNvSpPr>
            <p:nvPr/>
          </p:nvSpPr>
          <p:spPr bwMode="auto">
            <a:xfrm>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sp>
        <p:nvSpPr>
          <p:cNvPr id="38928" name="Line 18"/>
          <p:cNvSpPr>
            <a:spLocks noChangeShapeType="1"/>
          </p:cNvSpPr>
          <p:nvPr/>
        </p:nvSpPr>
        <p:spPr bwMode="auto">
          <a:xfrm>
            <a:off x="1981200" y="3505200"/>
            <a:ext cx="228600" cy="5334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8929" name="Rectangle 19"/>
          <p:cNvSpPr>
            <a:spLocks noChangeArrowheads="1"/>
          </p:cNvSpPr>
          <p:nvPr/>
        </p:nvSpPr>
        <p:spPr bwMode="auto">
          <a:xfrm>
            <a:off x="1981200" y="38862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8930" name="Text Box 20"/>
          <p:cNvSpPr txBox="1">
            <a:spLocks noChangeArrowheads="1"/>
          </p:cNvSpPr>
          <p:nvPr/>
        </p:nvSpPr>
        <p:spPr bwMode="auto">
          <a:xfrm>
            <a:off x="1219200" y="2468563"/>
            <a:ext cx="3810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+2</a:t>
            </a:r>
            <a:endParaRPr kumimoji="1" lang="en-US" altLang="zh-CN" sz="2000" b="1" dirty="0">
              <a:solidFill>
                <a:srgbClr val="C00000"/>
              </a:solidFill>
              <a:latin typeface="Times New Roman" panose="02020603050405020304" pitchFamily="18" charset="0"/>
              <a:ea typeface="华文楷体" panose="02010600040101010101" pitchFamily="2" charset="-122"/>
            </a:endParaRPr>
          </a:p>
        </p:txBody>
      </p:sp>
      <p:sp>
        <p:nvSpPr>
          <p:cNvPr id="38931" name="Text Box 21"/>
          <p:cNvSpPr txBox="1">
            <a:spLocks noChangeArrowheads="1"/>
          </p:cNvSpPr>
          <p:nvPr/>
        </p:nvSpPr>
        <p:spPr bwMode="auto">
          <a:xfrm>
            <a:off x="1066800" y="2925763"/>
            <a:ext cx="3810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+1</a:t>
            </a:r>
            <a:endParaRPr kumimoji="1" lang="en-US" altLang="zh-CN" sz="2000" b="1" dirty="0">
              <a:solidFill>
                <a:srgbClr val="C00000"/>
              </a:solidFill>
              <a:latin typeface="Times New Roman" panose="02020603050405020304" pitchFamily="18" charset="0"/>
              <a:ea typeface="华文楷体" panose="02010600040101010101" pitchFamily="2" charset="-122"/>
            </a:endParaRPr>
          </a:p>
        </p:txBody>
      </p:sp>
      <p:sp>
        <p:nvSpPr>
          <p:cNvPr id="38932" name="AutoShape 22"/>
          <p:cNvSpPr/>
          <p:nvPr/>
        </p:nvSpPr>
        <p:spPr bwMode="auto">
          <a:xfrm>
            <a:off x="1295400" y="3886200"/>
            <a:ext cx="76200" cy="609600"/>
          </a:xfrm>
          <a:prstGeom prst="leftBrace">
            <a:avLst>
              <a:gd name="adj1" fmla="val 66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8933" name="AutoShape 23"/>
          <p:cNvSpPr/>
          <p:nvPr/>
        </p:nvSpPr>
        <p:spPr bwMode="auto">
          <a:xfrm>
            <a:off x="609600" y="3886200"/>
            <a:ext cx="152400" cy="838200"/>
          </a:xfrm>
          <a:prstGeom prst="leftBrace">
            <a:avLst>
              <a:gd name="adj1" fmla="val 45833"/>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zh-CN" dirty="0">
              <a:latin typeface="Times New Roman" panose="02020603050405020304" pitchFamily="18" charset="0"/>
              <a:ea typeface="华文楷体" panose="02010600040101010101" pitchFamily="2" charset="-122"/>
            </a:endParaRPr>
          </a:p>
        </p:txBody>
      </p:sp>
      <p:sp>
        <p:nvSpPr>
          <p:cNvPr id="38934" name="Text Box 24"/>
          <p:cNvSpPr txBox="1">
            <a:spLocks noChangeArrowheads="1"/>
          </p:cNvSpPr>
          <p:nvPr/>
        </p:nvSpPr>
        <p:spPr bwMode="auto">
          <a:xfrm>
            <a:off x="381000" y="4150651"/>
            <a:ext cx="4572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h</a:t>
            </a:r>
            <a:endParaRPr kumimoji="1" lang="en-US" altLang="zh-CN" sz="2000" b="1" dirty="0">
              <a:solidFill>
                <a:srgbClr val="C00000"/>
              </a:solidFill>
              <a:latin typeface="Times New Roman" panose="02020603050405020304" pitchFamily="18" charset="0"/>
              <a:ea typeface="华文楷体" panose="02010600040101010101" pitchFamily="2" charset="-122"/>
            </a:endParaRPr>
          </a:p>
        </p:txBody>
      </p:sp>
      <p:sp>
        <p:nvSpPr>
          <p:cNvPr id="38935" name="Rectangle 25"/>
          <p:cNvSpPr>
            <a:spLocks noChangeArrowheads="1"/>
          </p:cNvSpPr>
          <p:nvPr/>
        </p:nvSpPr>
        <p:spPr bwMode="auto">
          <a:xfrm>
            <a:off x="2590800" y="32004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8936" name="AutoShape 26"/>
          <p:cNvSpPr/>
          <p:nvPr/>
        </p:nvSpPr>
        <p:spPr bwMode="auto">
          <a:xfrm>
            <a:off x="2438400" y="3886200"/>
            <a:ext cx="76200" cy="609600"/>
          </a:xfrm>
          <a:prstGeom prst="rightBrace">
            <a:avLst>
              <a:gd name="adj1" fmla="val 66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8937" name="Text Box 27"/>
          <p:cNvSpPr txBox="1">
            <a:spLocks noChangeArrowheads="1"/>
          </p:cNvSpPr>
          <p:nvPr/>
        </p:nvSpPr>
        <p:spPr bwMode="auto">
          <a:xfrm>
            <a:off x="2438400" y="4038600"/>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h-1</a:t>
            </a:r>
            <a:endParaRPr kumimoji="1" lang="en-US" altLang="zh-CN" sz="2000" b="1" dirty="0">
              <a:latin typeface="Times New Roman" panose="02020603050405020304" pitchFamily="18" charset="0"/>
              <a:ea typeface="华文楷体" panose="02010600040101010101" pitchFamily="2" charset="-122"/>
            </a:endParaRPr>
          </a:p>
        </p:txBody>
      </p:sp>
      <p:sp>
        <p:nvSpPr>
          <p:cNvPr id="38938" name="AutoShape 28"/>
          <p:cNvSpPr/>
          <p:nvPr/>
        </p:nvSpPr>
        <p:spPr bwMode="auto">
          <a:xfrm>
            <a:off x="3048000" y="3200400"/>
            <a:ext cx="76200" cy="609600"/>
          </a:xfrm>
          <a:prstGeom prst="rightBrace">
            <a:avLst>
              <a:gd name="adj1" fmla="val 66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8939" name="Text Box 29"/>
          <p:cNvSpPr txBox="1">
            <a:spLocks noChangeArrowheads="1"/>
          </p:cNvSpPr>
          <p:nvPr/>
        </p:nvSpPr>
        <p:spPr bwMode="auto">
          <a:xfrm>
            <a:off x="3124200" y="3352800"/>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h-1</a:t>
            </a:r>
            <a:endParaRPr kumimoji="1" lang="en-US" altLang="zh-CN" sz="2000" b="1" dirty="0">
              <a:latin typeface="Times New Roman" panose="02020603050405020304" pitchFamily="18" charset="0"/>
              <a:ea typeface="华文楷体" panose="02010600040101010101" pitchFamily="2" charset="-122"/>
            </a:endParaRPr>
          </a:p>
        </p:txBody>
      </p:sp>
      <p:sp>
        <p:nvSpPr>
          <p:cNvPr id="38940" name="AutoShape 30"/>
          <p:cNvSpPr>
            <a:spLocks noChangeArrowheads="1"/>
          </p:cNvSpPr>
          <p:nvPr/>
        </p:nvSpPr>
        <p:spPr bwMode="auto">
          <a:xfrm flipV="1">
            <a:off x="685800" y="4191000"/>
            <a:ext cx="304800" cy="76200"/>
          </a:xfrm>
          <a:prstGeom prst="leftArrow">
            <a:avLst>
              <a:gd name="adj1" fmla="val 50000"/>
              <a:gd name="adj2" fmla="val 1000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solidFill>
                <a:schemeClr val="folHlink"/>
              </a:solidFill>
              <a:latin typeface="Times New Roman" panose="02020603050405020304" pitchFamily="18" charset="0"/>
              <a:ea typeface="华文楷体" panose="02010600040101010101" pitchFamily="2" charset="-122"/>
            </a:endParaRPr>
          </a:p>
        </p:txBody>
      </p:sp>
      <p:sp>
        <p:nvSpPr>
          <p:cNvPr id="38941" name="AutoShape 31"/>
          <p:cNvSpPr>
            <a:spLocks noChangeArrowheads="1"/>
          </p:cNvSpPr>
          <p:nvPr/>
        </p:nvSpPr>
        <p:spPr bwMode="auto">
          <a:xfrm>
            <a:off x="1371600" y="3048000"/>
            <a:ext cx="533400" cy="76200"/>
          </a:xfrm>
          <a:prstGeom prst="leftArrow">
            <a:avLst>
              <a:gd name="adj1" fmla="val 50000"/>
              <a:gd name="adj2" fmla="val 1750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solidFill>
                <a:schemeClr val="folHlink"/>
              </a:solidFill>
              <a:latin typeface="Times New Roman" panose="02020603050405020304" pitchFamily="18" charset="0"/>
              <a:ea typeface="华文楷体" panose="02010600040101010101" pitchFamily="2" charset="-122"/>
            </a:endParaRPr>
          </a:p>
        </p:txBody>
      </p:sp>
      <p:sp>
        <p:nvSpPr>
          <p:cNvPr id="38942" name="AutoShape 32"/>
          <p:cNvSpPr>
            <a:spLocks noChangeArrowheads="1"/>
          </p:cNvSpPr>
          <p:nvPr/>
        </p:nvSpPr>
        <p:spPr bwMode="auto">
          <a:xfrm>
            <a:off x="1600200" y="2590800"/>
            <a:ext cx="533400" cy="76200"/>
          </a:xfrm>
          <a:prstGeom prst="leftArrow">
            <a:avLst>
              <a:gd name="adj1" fmla="val 50000"/>
              <a:gd name="adj2" fmla="val 1750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solidFill>
                <a:schemeClr val="folHlink"/>
              </a:solidFill>
              <a:latin typeface="Times New Roman" panose="02020603050405020304" pitchFamily="18" charset="0"/>
              <a:ea typeface="华文楷体" panose="02010600040101010101" pitchFamily="2" charset="-122"/>
            </a:endParaRPr>
          </a:p>
        </p:txBody>
      </p:sp>
      <p:sp>
        <p:nvSpPr>
          <p:cNvPr id="38943" name="AutoShape 33"/>
          <p:cNvSpPr>
            <a:spLocks noChangeArrowheads="1"/>
          </p:cNvSpPr>
          <p:nvPr/>
        </p:nvSpPr>
        <p:spPr bwMode="auto">
          <a:xfrm>
            <a:off x="3962400" y="3505200"/>
            <a:ext cx="1676400" cy="381000"/>
          </a:xfrm>
          <a:prstGeom prst="rightArrow">
            <a:avLst>
              <a:gd name="adj1" fmla="val 50000"/>
              <a:gd name="adj2" fmla="val 110000"/>
            </a:avLst>
          </a:prstGeom>
          <a:solidFill>
            <a:schemeClr val="accent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8944" name="Text Box 34"/>
          <p:cNvSpPr txBox="1">
            <a:spLocks noChangeArrowheads="1"/>
          </p:cNvSpPr>
          <p:nvPr/>
        </p:nvSpPr>
        <p:spPr bwMode="auto">
          <a:xfrm>
            <a:off x="3962400" y="3200400"/>
            <a:ext cx="14478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2000" b="1" dirty="0">
                <a:latin typeface="Times New Roman" panose="02020603050405020304" pitchFamily="18" charset="0"/>
                <a:ea typeface="华文楷体" panose="02010600040101010101" pitchFamily="2" charset="-122"/>
              </a:rPr>
              <a:t>LL </a:t>
            </a:r>
            <a:r>
              <a:rPr kumimoji="1" lang="zh-CN" altLang="en-US" sz="2000" b="1" dirty="0">
                <a:latin typeface="Times New Roman" panose="02020603050405020304" pitchFamily="18" charset="0"/>
                <a:ea typeface="华文楷体" panose="02010600040101010101" pitchFamily="2" charset="-122"/>
              </a:rPr>
              <a:t>型调整</a:t>
            </a:r>
            <a:endParaRPr kumimoji="1" lang="zh-CN" altLang="en-US" sz="2000" b="1" dirty="0">
              <a:latin typeface="Times New Roman" panose="02020603050405020304" pitchFamily="18" charset="0"/>
              <a:ea typeface="华文楷体" panose="02010600040101010101" pitchFamily="2" charset="-122"/>
            </a:endParaRPr>
          </a:p>
        </p:txBody>
      </p:sp>
      <p:sp>
        <p:nvSpPr>
          <p:cNvPr id="38945" name="Text Box 35"/>
          <p:cNvSpPr txBox="1">
            <a:spLocks noChangeArrowheads="1"/>
          </p:cNvSpPr>
          <p:nvPr/>
        </p:nvSpPr>
        <p:spPr bwMode="auto">
          <a:xfrm>
            <a:off x="1447800" y="40386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B</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38946" name="Text Box 36"/>
          <p:cNvSpPr txBox="1">
            <a:spLocks noChangeArrowheads="1"/>
          </p:cNvSpPr>
          <p:nvPr/>
        </p:nvSpPr>
        <p:spPr bwMode="auto">
          <a:xfrm>
            <a:off x="1981200" y="40386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B</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38947" name="Text Box 37"/>
          <p:cNvSpPr txBox="1">
            <a:spLocks noChangeArrowheads="1"/>
          </p:cNvSpPr>
          <p:nvPr/>
        </p:nvSpPr>
        <p:spPr bwMode="auto">
          <a:xfrm>
            <a:off x="2590800" y="33528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A</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38948" name="Line 38"/>
          <p:cNvSpPr>
            <a:spLocks noChangeShapeType="1"/>
          </p:cNvSpPr>
          <p:nvPr/>
        </p:nvSpPr>
        <p:spPr bwMode="auto">
          <a:xfrm>
            <a:off x="7239000" y="2819400"/>
            <a:ext cx="304800" cy="4572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8949" name="Line 39"/>
          <p:cNvSpPr>
            <a:spLocks noChangeShapeType="1"/>
          </p:cNvSpPr>
          <p:nvPr/>
        </p:nvSpPr>
        <p:spPr bwMode="auto">
          <a:xfrm flipH="1">
            <a:off x="6781800" y="2971800"/>
            <a:ext cx="152400" cy="3810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8950" name="Oval 40"/>
          <p:cNvSpPr>
            <a:spLocks noChangeArrowheads="1"/>
          </p:cNvSpPr>
          <p:nvPr/>
        </p:nvSpPr>
        <p:spPr bwMode="auto">
          <a:xfrm>
            <a:off x="6858000" y="2667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38951" name="Oval 41"/>
          <p:cNvSpPr>
            <a:spLocks noChangeArrowheads="1"/>
          </p:cNvSpPr>
          <p:nvPr/>
        </p:nvSpPr>
        <p:spPr bwMode="auto">
          <a:xfrm>
            <a:off x="7315200" y="3124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38952" name="Text Box 42"/>
          <p:cNvSpPr txBox="1">
            <a:spLocks noChangeArrowheads="1"/>
          </p:cNvSpPr>
          <p:nvPr/>
        </p:nvSpPr>
        <p:spPr bwMode="auto">
          <a:xfrm>
            <a:off x="6934200" y="2438400"/>
            <a:ext cx="3810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0</a:t>
            </a:r>
            <a:endParaRPr kumimoji="1" lang="en-US" altLang="zh-CN" sz="2000" b="1" dirty="0">
              <a:latin typeface="Times New Roman" panose="02020603050405020304" pitchFamily="18" charset="0"/>
              <a:ea typeface="华文楷体" panose="02010600040101010101" pitchFamily="2" charset="-122"/>
            </a:endParaRPr>
          </a:p>
        </p:txBody>
      </p:sp>
      <p:sp>
        <p:nvSpPr>
          <p:cNvPr id="38953" name="Text Box 43"/>
          <p:cNvSpPr txBox="1">
            <a:spLocks noChangeArrowheads="1"/>
          </p:cNvSpPr>
          <p:nvPr/>
        </p:nvSpPr>
        <p:spPr bwMode="auto">
          <a:xfrm>
            <a:off x="6172200" y="3535363"/>
            <a:ext cx="4572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a:t>
            </a:r>
            <a:endParaRPr kumimoji="1" lang="en-US" altLang="zh-CN" sz="2000" b="1" dirty="0">
              <a:latin typeface="Times New Roman" panose="02020603050405020304" pitchFamily="18" charset="0"/>
              <a:ea typeface="华文楷体" panose="02010600040101010101" pitchFamily="2" charset="-122"/>
            </a:endParaRPr>
          </a:p>
        </p:txBody>
      </p:sp>
      <p:sp>
        <p:nvSpPr>
          <p:cNvPr id="38954" name="Text Box 44"/>
          <p:cNvSpPr txBox="1">
            <a:spLocks noChangeArrowheads="1"/>
          </p:cNvSpPr>
          <p:nvPr/>
        </p:nvSpPr>
        <p:spPr bwMode="auto">
          <a:xfrm>
            <a:off x="7467600" y="2895600"/>
            <a:ext cx="3810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0</a:t>
            </a:r>
            <a:endParaRPr kumimoji="1" lang="en-US" altLang="zh-CN" sz="1200" b="1" dirty="0">
              <a:latin typeface="Times New Roman" panose="02020603050405020304" pitchFamily="18" charset="0"/>
              <a:ea typeface="华文楷体" panose="02010600040101010101" pitchFamily="2" charset="-122"/>
            </a:endParaRPr>
          </a:p>
        </p:txBody>
      </p:sp>
      <p:grpSp>
        <p:nvGrpSpPr>
          <p:cNvPr id="38955" name="Group 45"/>
          <p:cNvGrpSpPr/>
          <p:nvPr/>
        </p:nvGrpSpPr>
        <p:grpSpPr bwMode="auto">
          <a:xfrm>
            <a:off x="6553200" y="3276600"/>
            <a:ext cx="381000" cy="838200"/>
            <a:chOff x="2448" y="3072"/>
            <a:chExt cx="240" cy="528"/>
          </a:xfrm>
        </p:grpSpPr>
        <p:sp>
          <p:nvSpPr>
            <p:cNvPr id="38998" name="Rectangle 46"/>
            <p:cNvSpPr>
              <a:spLocks noChangeArrowheads="1"/>
            </p:cNvSpPr>
            <p:nvPr/>
          </p:nvSpPr>
          <p:spPr bwMode="auto">
            <a:xfrm>
              <a:off x="2448" y="3072"/>
              <a:ext cx="240" cy="528"/>
            </a:xfrm>
            <a:prstGeom prst="rect">
              <a:avLst/>
            </a:prstGeom>
            <a:solidFill>
              <a:schemeClr val="accent1"/>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8999" name="Line 47"/>
            <p:cNvSpPr>
              <a:spLocks noChangeShapeType="1"/>
            </p:cNvSpPr>
            <p:nvPr/>
          </p:nvSpPr>
          <p:spPr bwMode="auto">
            <a:xfrm>
              <a:off x="2448" y="3456"/>
              <a:ext cx="2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9000" name="Line 48"/>
            <p:cNvSpPr>
              <a:spLocks noChangeShapeType="1"/>
            </p:cNvSpPr>
            <p:nvPr/>
          </p:nvSpPr>
          <p:spPr bwMode="auto">
            <a:xfrm flipH="1">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9001" name="Line 49"/>
            <p:cNvSpPr>
              <a:spLocks noChangeShapeType="1"/>
            </p:cNvSpPr>
            <p:nvPr/>
          </p:nvSpPr>
          <p:spPr bwMode="auto">
            <a:xfrm>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sp>
        <p:nvSpPr>
          <p:cNvPr id="38956" name="Rectangle 50"/>
          <p:cNvSpPr>
            <a:spLocks noChangeArrowheads="1"/>
          </p:cNvSpPr>
          <p:nvPr/>
        </p:nvSpPr>
        <p:spPr bwMode="auto">
          <a:xfrm>
            <a:off x="7239000" y="37338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8957" name="AutoShape 51"/>
          <p:cNvSpPr/>
          <p:nvPr/>
        </p:nvSpPr>
        <p:spPr bwMode="auto">
          <a:xfrm>
            <a:off x="6400800" y="3276600"/>
            <a:ext cx="76200" cy="838200"/>
          </a:xfrm>
          <a:prstGeom prst="leftBrace">
            <a:avLst>
              <a:gd name="adj1" fmla="val 91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8958" name="Rectangle 52"/>
          <p:cNvSpPr>
            <a:spLocks noChangeArrowheads="1"/>
          </p:cNvSpPr>
          <p:nvPr/>
        </p:nvSpPr>
        <p:spPr bwMode="auto">
          <a:xfrm>
            <a:off x="7696200" y="37338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8959" name="Text Box 53"/>
          <p:cNvSpPr txBox="1">
            <a:spLocks noChangeArrowheads="1"/>
          </p:cNvSpPr>
          <p:nvPr/>
        </p:nvSpPr>
        <p:spPr bwMode="auto">
          <a:xfrm>
            <a:off x="6781800" y="4114800"/>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h-1</a:t>
            </a:r>
            <a:endParaRPr kumimoji="1" lang="en-US" altLang="zh-CN" sz="2000" b="1" dirty="0">
              <a:latin typeface="Times New Roman" panose="02020603050405020304" pitchFamily="18" charset="0"/>
              <a:ea typeface="华文楷体" panose="02010600040101010101" pitchFamily="2" charset="-122"/>
            </a:endParaRPr>
          </a:p>
        </p:txBody>
      </p:sp>
      <p:sp>
        <p:nvSpPr>
          <p:cNvPr id="38960" name="AutoShape 54"/>
          <p:cNvSpPr/>
          <p:nvPr/>
        </p:nvSpPr>
        <p:spPr bwMode="auto">
          <a:xfrm>
            <a:off x="8153400" y="3733800"/>
            <a:ext cx="76200" cy="609600"/>
          </a:xfrm>
          <a:prstGeom prst="rightBrace">
            <a:avLst>
              <a:gd name="adj1" fmla="val 66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8961" name="Text Box 55"/>
          <p:cNvSpPr txBox="1">
            <a:spLocks noChangeArrowheads="1"/>
          </p:cNvSpPr>
          <p:nvPr/>
        </p:nvSpPr>
        <p:spPr bwMode="auto">
          <a:xfrm>
            <a:off x="8153400" y="3886200"/>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h-1</a:t>
            </a:r>
            <a:endParaRPr kumimoji="1" lang="en-US" altLang="zh-CN" sz="2000" b="1" dirty="0">
              <a:latin typeface="Times New Roman" panose="02020603050405020304" pitchFamily="18" charset="0"/>
              <a:ea typeface="华文楷体" panose="02010600040101010101" pitchFamily="2" charset="-122"/>
            </a:endParaRPr>
          </a:p>
        </p:txBody>
      </p:sp>
      <p:sp>
        <p:nvSpPr>
          <p:cNvPr id="38962" name="Text Box 56"/>
          <p:cNvSpPr txBox="1">
            <a:spLocks noChangeArrowheads="1"/>
          </p:cNvSpPr>
          <p:nvPr/>
        </p:nvSpPr>
        <p:spPr bwMode="auto">
          <a:xfrm>
            <a:off x="6553200" y="34290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B</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38963" name="Text Box 57"/>
          <p:cNvSpPr txBox="1">
            <a:spLocks noChangeArrowheads="1"/>
          </p:cNvSpPr>
          <p:nvPr/>
        </p:nvSpPr>
        <p:spPr bwMode="auto">
          <a:xfrm>
            <a:off x="7239000" y="38862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B</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38964" name="Text Box 58"/>
          <p:cNvSpPr txBox="1">
            <a:spLocks noChangeArrowheads="1"/>
          </p:cNvSpPr>
          <p:nvPr/>
        </p:nvSpPr>
        <p:spPr bwMode="auto">
          <a:xfrm>
            <a:off x="7696200" y="38862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A</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38965" name="AutoShape 59"/>
          <p:cNvSpPr/>
          <p:nvPr/>
        </p:nvSpPr>
        <p:spPr bwMode="auto">
          <a:xfrm>
            <a:off x="7086600" y="3733800"/>
            <a:ext cx="76200" cy="609600"/>
          </a:xfrm>
          <a:prstGeom prst="leftBrace">
            <a:avLst>
              <a:gd name="adj1" fmla="val 66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8966" name="AutoShape 60"/>
          <p:cNvSpPr>
            <a:spLocks noChangeArrowheads="1"/>
          </p:cNvSpPr>
          <p:nvPr/>
        </p:nvSpPr>
        <p:spPr bwMode="auto">
          <a:xfrm rot="-1818482">
            <a:off x="2438400" y="2590800"/>
            <a:ext cx="533400" cy="76200"/>
          </a:xfrm>
          <a:prstGeom prst="leftArrow">
            <a:avLst>
              <a:gd name="adj1" fmla="val 50000"/>
              <a:gd name="adj2" fmla="val 1750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solidFill>
                <a:schemeClr val="folHlink"/>
              </a:solidFill>
              <a:latin typeface="Times New Roman" panose="02020603050405020304" pitchFamily="18" charset="0"/>
              <a:ea typeface="华文楷体" panose="02010600040101010101" pitchFamily="2" charset="-122"/>
            </a:endParaRPr>
          </a:p>
        </p:txBody>
      </p:sp>
      <p:sp>
        <p:nvSpPr>
          <p:cNvPr id="38967" name="Text Box 61"/>
          <p:cNvSpPr txBox="1">
            <a:spLocks noChangeArrowheads="1"/>
          </p:cNvSpPr>
          <p:nvPr/>
        </p:nvSpPr>
        <p:spPr bwMode="auto">
          <a:xfrm>
            <a:off x="2895600" y="2362200"/>
            <a:ext cx="1219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危机结点</a:t>
            </a:r>
            <a:endParaRPr kumimoji="1" lang="zh-CN" altLang="en-US" sz="1400" b="1" dirty="0">
              <a:latin typeface="Times New Roman" panose="02020603050405020304" pitchFamily="18" charset="0"/>
              <a:ea typeface="华文楷体" panose="02010600040101010101" pitchFamily="2" charset="-122"/>
            </a:endParaRPr>
          </a:p>
        </p:txBody>
      </p:sp>
      <p:sp>
        <p:nvSpPr>
          <p:cNvPr id="38968" name="Text Box 62"/>
          <p:cNvSpPr txBox="1">
            <a:spLocks noChangeArrowheads="1"/>
          </p:cNvSpPr>
          <p:nvPr/>
        </p:nvSpPr>
        <p:spPr bwMode="auto">
          <a:xfrm>
            <a:off x="152400" y="5105400"/>
            <a:ext cx="2895600" cy="630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调整前：高度为 </a:t>
            </a:r>
            <a:r>
              <a:rPr kumimoji="1" lang="en-US" altLang="zh-CN" sz="1400" b="1" dirty="0">
                <a:latin typeface="Times New Roman" panose="02020603050405020304" pitchFamily="18" charset="0"/>
                <a:ea typeface="华文楷体" panose="02010600040101010101" pitchFamily="2" charset="-122"/>
              </a:rPr>
              <a:t>h + 1</a:t>
            </a:r>
            <a:endParaRPr kumimoji="1" lang="en-US" altLang="zh-CN" sz="14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a:t>
            </a:r>
            <a:r>
              <a:rPr kumimoji="1" lang="zh-CN" altLang="zh-CN" sz="1400" b="1" dirty="0">
                <a:latin typeface="Times New Roman" panose="02020603050405020304" pitchFamily="18" charset="0"/>
                <a:ea typeface="华文楷体" panose="02010600040101010101" pitchFamily="2" charset="-122"/>
              </a:rPr>
              <a:t>中序序列：</a:t>
            </a:r>
            <a:endParaRPr kumimoji="1" lang="zh-CN" altLang="en-US" sz="1400" b="1" dirty="0">
              <a:latin typeface="Times New Roman" panose="02020603050405020304" pitchFamily="18" charset="0"/>
              <a:ea typeface="华文楷体" panose="02010600040101010101" pitchFamily="2" charset="-122"/>
            </a:endParaRPr>
          </a:p>
        </p:txBody>
      </p:sp>
      <p:sp>
        <p:nvSpPr>
          <p:cNvPr id="38969" name="Oval 63"/>
          <p:cNvSpPr>
            <a:spLocks noChangeArrowheads="1"/>
          </p:cNvSpPr>
          <p:nvPr/>
        </p:nvSpPr>
        <p:spPr bwMode="auto">
          <a:xfrm>
            <a:off x="3505200" y="5410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38970" name="Oval 64"/>
          <p:cNvSpPr>
            <a:spLocks noChangeArrowheads="1"/>
          </p:cNvSpPr>
          <p:nvPr/>
        </p:nvSpPr>
        <p:spPr bwMode="auto">
          <a:xfrm>
            <a:off x="2438400" y="5410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grpSp>
        <p:nvGrpSpPr>
          <p:cNvPr id="38971" name="Group 65"/>
          <p:cNvGrpSpPr/>
          <p:nvPr/>
        </p:nvGrpSpPr>
        <p:grpSpPr bwMode="auto">
          <a:xfrm>
            <a:off x="1905000" y="5410200"/>
            <a:ext cx="381000" cy="838200"/>
            <a:chOff x="2448" y="3072"/>
            <a:chExt cx="240" cy="528"/>
          </a:xfrm>
        </p:grpSpPr>
        <p:sp>
          <p:nvSpPr>
            <p:cNvPr id="38994" name="Rectangle 66"/>
            <p:cNvSpPr>
              <a:spLocks noChangeArrowheads="1"/>
            </p:cNvSpPr>
            <p:nvPr/>
          </p:nvSpPr>
          <p:spPr bwMode="auto">
            <a:xfrm>
              <a:off x="2448" y="3072"/>
              <a:ext cx="240" cy="528"/>
            </a:xfrm>
            <a:prstGeom prst="rect">
              <a:avLst/>
            </a:prstGeom>
            <a:solidFill>
              <a:schemeClr val="accent1"/>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8995" name="Line 67"/>
            <p:cNvSpPr>
              <a:spLocks noChangeShapeType="1"/>
            </p:cNvSpPr>
            <p:nvPr/>
          </p:nvSpPr>
          <p:spPr bwMode="auto">
            <a:xfrm>
              <a:off x="2448" y="3456"/>
              <a:ext cx="2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8996" name="Line 68"/>
            <p:cNvSpPr>
              <a:spLocks noChangeShapeType="1"/>
            </p:cNvSpPr>
            <p:nvPr/>
          </p:nvSpPr>
          <p:spPr bwMode="auto">
            <a:xfrm flipH="1">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8997" name="Line 69"/>
            <p:cNvSpPr>
              <a:spLocks noChangeShapeType="1"/>
            </p:cNvSpPr>
            <p:nvPr/>
          </p:nvSpPr>
          <p:spPr bwMode="auto">
            <a:xfrm>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sp>
        <p:nvSpPr>
          <p:cNvPr id="38972" name="Rectangle 70"/>
          <p:cNvSpPr>
            <a:spLocks noChangeArrowheads="1"/>
          </p:cNvSpPr>
          <p:nvPr/>
        </p:nvSpPr>
        <p:spPr bwMode="auto">
          <a:xfrm>
            <a:off x="2971800" y="54102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8973" name="Rectangle 71"/>
          <p:cNvSpPr>
            <a:spLocks noChangeArrowheads="1"/>
          </p:cNvSpPr>
          <p:nvPr/>
        </p:nvSpPr>
        <p:spPr bwMode="auto">
          <a:xfrm>
            <a:off x="4038600" y="54102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8974" name="Text Box 72"/>
          <p:cNvSpPr txBox="1">
            <a:spLocks noChangeArrowheads="1"/>
          </p:cNvSpPr>
          <p:nvPr/>
        </p:nvSpPr>
        <p:spPr bwMode="auto">
          <a:xfrm>
            <a:off x="1905000" y="55626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B</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38975" name="Text Box 73"/>
          <p:cNvSpPr txBox="1">
            <a:spLocks noChangeArrowheads="1"/>
          </p:cNvSpPr>
          <p:nvPr/>
        </p:nvSpPr>
        <p:spPr bwMode="auto">
          <a:xfrm>
            <a:off x="2971800" y="55626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B</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38976" name="Text Box 74"/>
          <p:cNvSpPr txBox="1">
            <a:spLocks noChangeArrowheads="1"/>
          </p:cNvSpPr>
          <p:nvPr/>
        </p:nvSpPr>
        <p:spPr bwMode="auto">
          <a:xfrm>
            <a:off x="4038600" y="55626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A</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38977" name="Text Box 75"/>
          <p:cNvSpPr txBox="1">
            <a:spLocks noChangeArrowheads="1"/>
          </p:cNvSpPr>
          <p:nvPr/>
        </p:nvSpPr>
        <p:spPr bwMode="auto">
          <a:xfrm>
            <a:off x="4648200" y="5105400"/>
            <a:ext cx="2895600" cy="630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调整后：高度为 </a:t>
            </a:r>
            <a:r>
              <a:rPr kumimoji="1" lang="en-US" altLang="zh-CN" sz="1400" b="1" dirty="0">
                <a:latin typeface="Times New Roman" panose="02020603050405020304" pitchFamily="18" charset="0"/>
                <a:ea typeface="华文楷体" panose="02010600040101010101" pitchFamily="2" charset="-122"/>
              </a:rPr>
              <a:t>h + 1</a:t>
            </a:r>
            <a:endParaRPr kumimoji="1" lang="en-US" altLang="zh-CN" sz="14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a:t>
            </a:r>
            <a:r>
              <a:rPr kumimoji="1" lang="zh-CN" altLang="zh-CN" sz="1400" b="1" dirty="0">
                <a:latin typeface="Times New Roman" panose="02020603050405020304" pitchFamily="18" charset="0"/>
                <a:ea typeface="华文楷体" panose="02010600040101010101" pitchFamily="2" charset="-122"/>
              </a:rPr>
              <a:t>中序序列：</a:t>
            </a:r>
            <a:endParaRPr kumimoji="1" lang="zh-CN" altLang="en-US" sz="1400" b="1" dirty="0">
              <a:latin typeface="Times New Roman" panose="02020603050405020304" pitchFamily="18" charset="0"/>
              <a:ea typeface="华文楷体" panose="02010600040101010101" pitchFamily="2" charset="-122"/>
            </a:endParaRPr>
          </a:p>
        </p:txBody>
      </p:sp>
      <p:sp>
        <p:nvSpPr>
          <p:cNvPr id="38978" name="Oval 76"/>
          <p:cNvSpPr>
            <a:spLocks noChangeArrowheads="1"/>
          </p:cNvSpPr>
          <p:nvPr/>
        </p:nvSpPr>
        <p:spPr bwMode="auto">
          <a:xfrm>
            <a:off x="8001000" y="5410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38979" name="Oval 77"/>
          <p:cNvSpPr>
            <a:spLocks noChangeArrowheads="1"/>
          </p:cNvSpPr>
          <p:nvPr/>
        </p:nvSpPr>
        <p:spPr bwMode="auto">
          <a:xfrm>
            <a:off x="6934200" y="5410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grpSp>
        <p:nvGrpSpPr>
          <p:cNvPr id="38980" name="Group 78"/>
          <p:cNvGrpSpPr/>
          <p:nvPr/>
        </p:nvGrpSpPr>
        <p:grpSpPr bwMode="auto">
          <a:xfrm>
            <a:off x="6400800" y="5410200"/>
            <a:ext cx="381000" cy="838200"/>
            <a:chOff x="2448" y="3072"/>
            <a:chExt cx="240" cy="528"/>
          </a:xfrm>
        </p:grpSpPr>
        <p:sp>
          <p:nvSpPr>
            <p:cNvPr id="38990" name="Rectangle 79"/>
            <p:cNvSpPr>
              <a:spLocks noChangeArrowheads="1"/>
            </p:cNvSpPr>
            <p:nvPr/>
          </p:nvSpPr>
          <p:spPr bwMode="auto">
            <a:xfrm>
              <a:off x="2448" y="3072"/>
              <a:ext cx="240" cy="528"/>
            </a:xfrm>
            <a:prstGeom prst="rect">
              <a:avLst/>
            </a:prstGeom>
            <a:solidFill>
              <a:schemeClr val="accent1"/>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8991" name="Line 80"/>
            <p:cNvSpPr>
              <a:spLocks noChangeShapeType="1"/>
            </p:cNvSpPr>
            <p:nvPr/>
          </p:nvSpPr>
          <p:spPr bwMode="auto">
            <a:xfrm>
              <a:off x="2448" y="3456"/>
              <a:ext cx="2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8992" name="Line 81"/>
            <p:cNvSpPr>
              <a:spLocks noChangeShapeType="1"/>
            </p:cNvSpPr>
            <p:nvPr/>
          </p:nvSpPr>
          <p:spPr bwMode="auto">
            <a:xfrm flipH="1">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8993" name="Line 82"/>
            <p:cNvSpPr>
              <a:spLocks noChangeShapeType="1"/>
            </p:cNvSpPr>
            <p:nvPr/>
          </p:nvSpPr>
          <p:spPr bwMode="auto">
            <a:xfrm>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sp>
        <p:nvSpPr>
          <p:cNvPr id="38981" name="Rectangle 83"/>
          <p:cNvSpPr>
            <a:spLocks noChangeArrowheads="1"/>
          </p:cNvSpPr>
          <p:nvPr/>
        </p:nvSpPr>
        <p:spPr bwMode="auto">
          <a:xfrm>
            <a:off x="7467600" y="54102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8982" name="Rectangle 84"/>
          <p:cNvSpPr>
            <a:spLocks noChangeArrowheads="1"/>
          </p:cNvSpPr>
          <p:nvPr/>
        </p:nvSpPr>
        <p:spPr bwMode="auto">
          <a:xfrm>
            <a:off x="8610600" y="54102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8983" name="Text Box 85"/>
          <p:cNvSpPr txBox="1">
            <a:spLocks noChangeArrowheads="1"/>
          </p:cNvSpPr>
          <p:nvPr/>
        </p:nvSpPr>
        <p:spPr bwMode="auto">
          <a:xfrm>
            <a:off x="6400800" y="55626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B</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38984" name="Text Box 86"/>
          <p:cNvSpPr txBox="1">
            <a:spLocks noChangeArrowheads="1"/>
          </p:cNvSpPr>
          <p:nvPr/>
        </p:nvSpPr>
        <p:spPr bwMode="auto">
          <a:xfrm>
            <a:off x="7467600" y="55626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B</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38985" name="Text Box 87"/>
          <p:cNvSpPr txBox="1">
            <a:spLocks noChangeArrowheads="1"/>
          </p:cNvSpPr>
          <p:nvPr/>
        </p:nvSpPr>
        <p:spPr bwMode="auto">
          <a:xfrm>
            <a:off x="4648200" y="6386513"/>
            <a:ext cx="36576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zh-CN" sz="1400" b="1" dirty="0">
                <a:latin typeface="Times New Roman" panose="02020603050405020304" pitchFamily="18" charset="0"/>
                <a:ea typeface="华文楷体" panose="02010600040101010101" pitchFamily="2" charset="-122"/>
              </a:rPr>
              <a:t>注意：</a:t>
            </a:r>
            <a:r>
              <a:rPr kumimoji="1" lang="zh-CN" altLang="en-US" sz="1400" b="1" dirty="0">
                <a:latin typeface="Times New Roman" panose="02020603050405020304" pitchFamily="18" charset="0"/>
                <a:ea typeface="华文楷体" panose="02010600040101010101" pitchFamily="2" charset="-122"/>
              </a:rPr>
              <a:t>调整</a:t>
            </a:r>
            <a:r>
              <a:rPr kumimoji="1" lang="zh-CN" altLang="zh-CN" sz="1400" b="1" dirty="0">
                <a:latin typeface="Times New Roman" panose="02020603050405020304" pitchFamily="18" charset="0"/>
                <a:ea typeface="华文楷体" panose="02010600040101010101" pitchFamily="2" charset="-122"/>
              </a:rPr>
              <a:t>后                        平衡</a:t>
            </a:r>
            <a:r>
              <a:rPr kumimoji="1" lang="zh-CN" altLang="en-US" sz="1400" b="1" dirty="0">
                <a:latin typeface="Times New Roman" panose="02020603050405020304" pitchFamily="18" charset="0"/>
                <a:ea typeface="华文楷体" panose="02010600040101010101" pitchFamily="2" charset="-122"/>
              </a:rPr>
              <a:t>因子</a:t>
            </a:r>
            <a:r>
              <a:rPr kumimoji="1" lang="zh-CN" altLang="zh-CN" sz="1400" b="1" dirty="0">
                <a:latin typeface="Times New Roman" panose="02020603050405020304" pitchFamily="18" charset="0"/>
                <a:ea typeface="华文楷体" panose="02010600040101010101" pitchFamily="2" charset="-122"/>
              </a:rPr>
              <a:t>为 0</a:t>
            </a:r>
            <a:endParaRPr kumimoji="1" lang="en-US" altLang="zh-CN" sz="1400" b="1" dirty="0">
              <a:latin typeface="Times New Roman" panose="02020603050405020304" pitchFamily="18" charset="0"/>
              <a:ea typeface="华文楷体" panose="02010600040101010101" pitchFamily="2" charset="-122"/>
            </a:endParaRPr>
          </a:p>
        </p:txBody>
      </p:sp>
      <p:sp>
        <p:nvSpPr>
          <p:cNvPr id="38986" name="Oval 88"/>
          <p:cNvSpPr>
            <a:spLocks noChangeArrowheads="1"/>
          </p:cNvSpPr>
          <p:nvPr/>
        </p:nvSpPr>
        <p:spPr bwMode="auto">
          <a:xfrm>
            <a:off x="6477000" y="6324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38987" name="Oval 89"/>
          <p:cNvSpPr>
            <a:spLocks noChangeArrowheads="1"/>
          </p:cNvSpPr>
          <p:nvPr/>
        </p:nvSpPr>
        <p:spPr bwMode="auto">
          <a:xfrm>
            <a:off x="5943600" y="6324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38988" name="Text Box 90"/>
          <p:cNvSpPr txBox="1">
            <a:spLocks noChangeArrowheads="1"/>
          </p:cNvSpPr>
          <p:nvPr/>
        </p:nvSpPr>
        <p:spPr bwMode="auto">
          <a:xfrm>
            <a:off x="8610600" y="55626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A</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38989" name="Arc 91"/>
          <p:cNvSpPr/>
          <p:nvPr/>
        </p:nvSpPr>
        <p:spPr bwMode="auto">
          <a:xfrm>
            <a:off x="1828800" y="2971800"/>
            <a:ext cx="457200" cy="306388"/>
          </a:xfrm>
          <a:custGeom>
            <a:avLst/>
            <a:gdLst>
              <a:gd name="T0" fmla="*/ 0 w 21600"/>
              <a:gd name="T1" fmla="*/ 0 h 21600"/>
              <a:gd name="T2" fmla="*/ 204838300 w 21600"/>
              <a:gd name="T3" fmla="*/ 61646400 h 21600"/>
              <a:gd name="T4" fmla="*/ 0 w 21600"/>
              <a:gd name="T5" fmla="*/ 6164640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12700">
            <a:solidFill>
              <a:srgbClr val="00FF00"/>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页脚占位符 3"/>
          <p:cNvSpPr>
            <a:spLocks noGrp="1"/>
          </p:cNvSpPr>
          <p:nvPr>
            <p:ph type="ftr" sz="quarter" idx="10"/>
          </p:nvPr>
        </p:nvSpPr>
        <p:spPr/>
        <p:txBody>
          <a:bodyPr/>
          <a:lstStyle/>
          <a:p>
            <a:pPr>
              <a:defRPr/>
            </a:pPr>
            <a:r>
              <a:rPr lang="en-US" altLang="zh-CN"/>
              <a:t>BUPT SCST</a:t>
            </a:r>
            <a:endParaRPr lang="en-US" altLang="zh-CN"/>
          </a:p>
        </p:txBody>
      </p:sp>
      <p:sp>
        <p:nvSpPr>
          <p:cNvPr id="120" name="日期占位符 5"/>
          <p:cNvSpPr>
            <a:spLocks noGrp="1"/>
          </p:cNvSpPr>
          <p:nvPr>
            <p:ph type="dt" sz="quarter" idx="12"/>
          </p:nvPr>
        </p:nvSpPr>
        <p:spPr/>
        <p:txBody>
          <a:bodyPr/>
          <a:lstStyle/>
          <a:p>
            <a:pPr>
              <a:defRPr/>
            </a:pPr>
            <a:r>
              <a:rPr lang="en-US" altLang="zh-CN"/>
              <a:t>BUPT</a:t>
            </a:r>
            <a:endParaRPr lang="en-US" altLang="zh-CN"/>
          </a:p>
        </p:txBody>
      </p:sp>
      <p:sp>
        <p:nvSpPr>
          <p:cNvPr id="3994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39941"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ea typeface="华文楷体" panose="02010600040101010101" pitchFamily="2" charset="-122"/>
              </a:rPr>
              <a:t>LR</a:t>
            </a:r>
            <a:r>
              <a:rPr lang="zh-CN" altLang="en-US" sz="2400" b="1" dirty="0" smtClean="0">
                <a:ea typeface="华文楷体" panose="02010600040101010101" pitchFamily="2" charset="-122"/>
              </a:rPr>
              <a:t>型平衡旋转</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一次逆时针旋转</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一次顺时针旋转</a:t>
            </a:r>
            <a:endParaRPr lang="zh-CN" altLang="en-US" sz="2400" dirty="0" smtClean="0">
              <a:ea typeface="华文楷体" panose="02010600040101010101" pitchFamily="2" charset="-122"/>
            </a:endParaRPr>
          </a:p>
        </p:txBody>
      </p:sp>
      <p:sp>
        <p:nvSpPr>
          <p:cNvPr id="39942" name="Line 4"/>
          <p:cNvSpPr>
            <a:spLocks noChangeShapeType="1"/>
          </p:cNvSpPr>
          <p:nvPr/>
        </p:nvSpPr>
        <p:spPr bwMode="auto">
          <a:xfrm>
            <a:off x="7696200" y="2971800"/>
            <a:ext cx="457200" cy="3048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9943" name="Line 5"/>
          <p:cNvSpPr>
            <a:spLocks noChangeShapeType="1"/>
          </p:cNvSpPr>
          <p:nvPr/>
        </p:nvSpPr>
        <p:spPr bwMode="auto">
          <a:xfrm>
            <a:off x="6019800" y="2971800"/>
            <a:ext cx="457200" cy="3048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9944" name="Line 6"/>
          <p:cNvSpPr>
            <a:spLocks noChangeShapeType="1"/>
          </p:cNvSpPr>
          <p:nvPr/>
        </p:nvSpPr>
        <p:spPr bwMode="auto">
          <a:xfrm flipH="1">
            <a:off x="7086600" y="2971800"/>
            <a:ext cx="457200" cy="3048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9945" name="Line 7"/>
          <p:cNvSpPr>
            <a:spLocks noChangeShapeType="1"/>
          </p:cNvSpPr>
          <p:nvPr/>
        </p:nvSpPr>
        <p:spPr bwMode="auto">
          <a:xfrm flipH="1">
            <a:off x="5410200" y="2971800"/>
            <a:ext cx="457200" cy="3048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9946" name="Line 8"/>
          <p:cNvSpPr>
            <a:spLocks noChangeShapeType="1"/>
          </p:cNvSpPr>
          <p:nvPr/>
        </p:nvSpPr>
        <p:spPr bwMode="auto">
          <a:xfrm flipH="1">
            <a:off x="5943600" y="2362200"/>
            <a:ext cx="762000" cy="5334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9947" name="Line 9"/>
          <p:cNvSpPr>
            <a:spLocks noChangeShapeType="1"/>
          </p:cNvSpPr>
          <p:nvPr/>
        </p:nvSpPr>
        <p:spPr bwMode="auto">
          <a:xfrm>
            <a:off x="2057400" y="3352800"/>
            <a:ext cx="3810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9948" name="Line 10"/>
          <p:cNvSpPr>
            <a:spLocks noChangeShapeType="1"/>
          </p:cNvSpPr>
          <p:nvPr/>
        </p:nvSpPr>
        <p:spPr bwMode="auto">
          <a:xfrm flipH="1">
            <a:off x="1828800" y="3352800"/>
            <a:ext cx="152400" cy="5334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9949" name="Line 11"/>
          <p:cNvSpPr>
            <a:spLocks noChangeShapeType="1"/>
          </p:cNvSpPr>
          <p:nvPr/>
        </p:nvSpPr>
        <p:spPr bwMode="auto">
          <a:xfrm flipH="1">
            <a:off x="990600" y="2438400"/>
            <a:ext cx="914400" cy="990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9950" name="Rectangle 12"/>
          <p:cNvSpPr>
            <a:spLocks noChangeArrowheads="1"/>
          </p:cNvSpPr>
          <p:nvPr/>
        </p:nvSpPr>
        <p:spPr bwMode="auto">
          <a:xfrm>
            <a:off x="990600" y="31242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9951" name="Line 13"/>
          <p:cNvSpPr>
            <a:spLocks noChangeShapeType="1"/>
          </p:cNvSpPr>
          <p:nvPr/>
        </p:nvSpPr>
        <p:spPr bwMode="auto">
          <a:xfrm>
            <a:off x="2133600" y="2286000"/>
            <a:ext cx="304800" cy="4572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9952" name="Oval 14"/>
          <p:cNvSpPr>
            <a:spLocks noChangeArrowheads="1"/>
          </p:cNvSpPr>
          <p:nvPr/>
        </p:nvSpPr>
        <p:spPr bwMode="auto">
          <a:xfrm>
            <a:off x="1752600" y="2133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39953" name="Oval 15"/>
          <p:cNvSpPr>
            <a:spLocks noChangeArrowheads="1"/>
          </p:cNvSpPr>
          <p:nvPr/>
        </p:nvSpPr>
        <p:spPr bwMode="auto">
          <a:xfrm>
            <a:off x="1447800" y="2590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39954" name="Text Box 16"/>
          <p:cNvSpPr txBox="1">
            <a:spLocks noChangeArrowheads="1"/>
          </p:cNvSpPr>
          <p:nvPr/>
        </p:nvSpPr>
        <p:spPr bwMode="auto">
          <a:xfrm>
            <a:off x="1828800" y="1905000"/>
            <a:ext cx="3810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+1</a:t>
            </a:r>
            <a:endParaRPr kumimoji="1" lang="en-US" altLang="zh-CN" sz="2000" b="1" dirty="0">
              <a:latin typeface="Times New Roman" panose="02020603050405020304" pitchFamily="18" charset="0"/>
              <a:ea typeface="华文楷体" panose="02010600040101010101" pitchFamily="2" charset="-122"/>
            </a:endParaRPr>
          </a:p>
        </p:txBody>
      </p:sp>
      <p:sp>
        <p:nvSpPr>
          <p:cNvPr id="39955" name="Text Box 17"/>
          <p:cNvSpPr txBox="1">
            <a:spLocks noChangeArrowheads="1"/>
          </p:cNvSpPr>
          <p:nvPr/>
        </p:nvSpPr>
        <p:spPr bwMode="auto">
          <a:xfrm>
            <a:off x="381000" y="3276600"/>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h-1</a:t>
            </a:r>
            <a:endParaRPr kumimoji="1" lang="en-US" altLang="zh-CN" sz="2000" b="1" dirty="0">
              <a:latin typeface="Times New Roman" panose="02020603050405020304" pitchFamily="18" charset="0"/>
              <a:ea typeface="华文楷体" panose="02010600040101010101" pitchFamily="2" charset="-122"/>
            </a:endParaRPr>
          </a:p>
        </p:txBody>
      </p:sp>
      <p:sp>
        <p:nvSpPr>
          <p:cNvPr id="39956" name="Text Box 18"/>
          <p:cNvSpPr txBox="1">
            <a:spLocks noChangeArrowheads="1"/>
          </p:cNvSpPr>
          <p:nvPr/>
        </p:nvSpPr>
        <p:spPr bwMode="auto">
          <a:xfrm>
            <a:off x="1524000" y="2362200"/>
            <a:ext cx="3810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0</a:t>
            </a:r>
            <a:endParaRPr kumimoji="1" lang="en-US" altLang="zh-CN" sz="1200" b="1" dirty="0">
              <a:latin typeface="Times New Roman" panose="02020603050405020304" pitchFamily="18" charset="0"/>
              <a:ea typeface="华文楷体" panose="02010600040101010101" pitchFamily="2" charset="-122"/>
            </a:endParaRPr>
          </a:p>
        </p:txBody>
      </p:sp>
      <p:sp>
        <p:nvSpPr>
          <p:cNvPr id="39957" name="Line 19"/>
          <p:cNvSpPr>
            <a:spLocks noChangeShapeType="1"/>
          </p:cNvSpPr>
          <p:nvPr/>
        </p:nvSpPr>
        <p:spPr bwMode="auto">
          <a:xfrm>
            <a:off x="1828800" y="2895600"/>
            <a:ext cx="228600" cy="5334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9958" name="Text Box 20"/>
          <p:cNvSpPr txBox="1">
            <a:spLocks noChangeArrowheads="1"/>
          </p:cNvSpPr>
          <p:nvPr/>
        </p:nvSpPr>
        <p:spPr bwMode="auto">
          <a:xfrm>
            <a:off x="914400" y="1935163"/>
            <a:ext cx="3810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+2</a:t>
            </a:r>
            <a:endParaRPr kumimoji="1" lang="en-US" altLang="zh-CN" sz="2000" b="1" dirty="0">
              <a:solidFill>
                <a:srgbClr val="C00000"/>
              </a:solidFill>
              <a:latin typeface="Times New Roman" panose="02020603050405020304" pitchFamily="18" charset="0"/>
              <a:ea typeface="华文楷体" panose="02010600040101010101" pitchFamily="2" charset="-122"/>
            </a:endParaRPr>
          </a:p>
        </p:txBody>
      </p:sp>
      <p:sp>
        <p:nvSpPr>
          <p:cNvPr id="39959" name="Text Box 21"/>
          <p:cNvSpPr txBox="1">
            <a:spLocks noChangeArrowheads="1"/>
          </p:cNvSpPr>
          <p:nvPr/>
        </p:nvSpPr>
        <p:spPr bwMode="auto">
          <a:xfrm>
            <a:off x="762000" y="2392363"/>
            <a:ext cx="3810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-1</a:t>
            </a:r>
            <a:endParaRPr kumimoji="1" lang="en-US" altLang="zh-CN" sz="2000" b="1" dirty="0">
              <a:solidFill>
                <a:srgbClr val="C00000"/>
              </a:solidFill>
              <a:latin typeface="Times New Roman" panose="02020603050405020304" pitchFamily="18" charset="0"/>
              <a:ea typeface="华文楷体" panose="02010600040101010101" pitchFamily="2" charset="-122"/>
            </a:endParaRPr>
          </a:p>
        </p:txBody>
      </p:sp>
      <p:sp>
        <p:nvSpPr>
          <p:cNvPr id="39960" name="AutoShape 22"/>
          <p:cNvSpPr/>
          <p:nvPr/>
        </p:nvSpPr>
        <p:spPr bwMode="auto">
          <a:xfrm>
            <a:off x="762000" y="3124200"/>
            <a:ext cx="76200" cy="609600"/>
          </a:xfrm>
          <a:prstGeom prst="leftBrace">
            <a:avLst>
              <a:gd name="adj1" fmla="val 66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9961" name="Rectangle 23"/>
          <p:cNvSpPr>
            <a:spLocks noChangeArrowheads="1"/>
          </p:cNvSpPr>
          <p:nvPr/>
        </p:nvSpPr>
        <p:spPr bwMode="auto">
          <a:xfrm>
            <a:off x="2286000" y="26670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9962" name="AutoShape 24"/>
          <p:cNvSpPr/>
          <p:nvPr/>
        </p:nvSpPr>
        <p:spPr bwMode="auto">
          <a:xfrm>
            <a:off x="2743200" y="2667000"/>
            <a:ext cx="76200" cy="609600"/>
          </a:xfrm>
          <a:prstGeom prst="rightBrace">
            <a:avLst>
              <a:gd name="adj1" fmla="val 66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9963" name="Text Box 25"/>
          <p:cNvSpPr txBox="1">
            <a:spLocks noChangeArrowheads="1"/>
          </p:cNvSpPr>
          <p:nvPr/>
        </p:nvSpPr>
        <p:spPr bwMode="auto">
          <a:xfrm>
            <a:off x="2819400" y="2819400"/>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h-1</a:t>
            </a:r>
            <a:endParaRPr kumimoji="1" lang="en-US" altLang="zh-CN" sz="2000" b="1" dirty="0">
              <a:latin typeface="Times New Roman" panose="02020603050405020304" pitchFamily="18" charset="0"/>
              <a:ea typeface="华文楷体" panose="02010600040101010101" pitchFamily="2" charset="-122"/>
            </a:endParaRPr>
          </a:p>
        </p:txBody>
      </p:sp>
      <p:sp>
        <p:nvSpPr>
          <p:cNvPr id="39964" name="AutoShape 26"/>
          <p:cNvSpPr>
            <a:spLocks noChangeArrowheads="1"/>
          </p:cNvSpPr>
          <p:nvPr/>
        </p:nvSpPr>
        <p:spPr bwMode="auto">
          <a:xfrm>
            <a:off x="1066800" y="2514600"/>
            <a:ext cx="533400" cy="76200"/>
          </a:xfrm>
          <a:prstGeom prst="leftArrow">
            <a:avLst>
              <a:gd name="adj1" fmla="val 50000"/>
              <a:gd name="adj2" fmla="val 1750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solidFill>
                <a:schemeClr val="folHlink"/>
              </a:solidFill>
              <a:latin typeface="Times New Roman" panose="02020603050405020304" pitchFamily="18" charset="0"/>
              <a:ea typeface="华文楷体" panose="02010600040101010101" pitchFamily="2" charset="-122"/>
            </a:endParaRPr>
          </a:p>
        </p:txBody>
      </p:sp>
      <p:sp>
        <p:nvSpPr>
          <p:cNvPr id="39965" name="AutoShape 27"/>
          <p:cNvSpPr>
            <a:spLocks noChangeArrowheads="1"/>
          </p:cNvSpPr>
          <p:nvPr/>
        </p:nvSpPr>
        <p:spPr bwMode="auto">
          <a:xfrm>
            <a:off x="1295400" y="2057400"/>
            <a:ext cx="533400" cy="76200"/>
          </a:xfrm>
          <a:prstGeom prst="leftArrow">
            <a:avLst>
              <a:gd name="adj1" fmla="val 50000"/>
              <a:gd name="adj2" fmla="val 1750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solidFill>
                <a:schemeClr val="folHlink"/>
              </a:solidFill>
              <a:latin typeface="Times New Roman" panose="02020603050405020304" pitchFamily="18" charset="0"/>
              <a:ea typeface="华文楷体" panose="02010600040101010101" pitchFamily="2" charset="-122"/>
            </a:endParaRPr>
          </a:p>
        </p:txBody>
      </p:sp>
      <p:sp>
        <p:nvSpPr>
          <p:cNvPr id="39966" name="AutoShape 28"/>
          <p:cNvSpPr>
            <a:spLocks noChangeArrowheads="1"/>
          </p:cNvSpPr>
          <p:nvPr/>
        </p:nvSpPr>
        <p:spPr bwMode="auto">
          <a:xfrm>
            <a:off x="3276600" y="2971800"/>
            <a:ext cx="1676400" cy="381000"/>
          </a:xfrm>
          <a:prstGeom prst="rightArrow">
            <a:avLst>
              <a:gd name="adj1" fmla="val 50000"/>
              <a:gd name="adj2" fmla="val 110000"/>
            </a:avLst>
          </a:prstGeom>
          <a:solidFill>
            <a:schemeClr val="accent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9967" name="Text Box 29"/>
          <p:cNvSpPr txBox="1">
            <a:spLocks noChangeArrowheads="1"/>
          </p:cNvSpPr>
          <p:nvPr/>
        </p:nvSpPr>
        <p:spPr bwMode="auto">
          <a:xfrm>
            <a:off x="3276600" y="2667000"/>
            <a:ext cx="14478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2000" b="1" dirty="0">
                <a:latin typeface="Times New Roman" panose="02020603050405020304" pitchFamily="18" charset="0"/>
                <a:ea typeface="华文楷体" panose="02010600040101010101" pitchFamily="2" charset="-122"/>
              </a:rPr>
              <a:t>LR </a:t>
            </a:r>
            <a:r>
              <a:rPr kumimoji="1" lang="zh-CN" altLang="en-US" sz="2000" b="1" dirty="0">
                <a:latin typeface="Times New Roman" panose="02020603050405020304" pitchFamily="18" charset="0"/>
                <a:ea typeface="华文楷体" panose="02010600040101010101" pitchFamily="2" charset="-122"/>
              </a:rPr>
              <a:t>型调整</a:t>
            </a:r>
            <a:endParaRPr kumimoji="1" lang="zh-CN" altLang="en-US" sz="2000" b="1" dirty="0">
              <a:latin typeface="Times New Roman" panose="02020603050405020304" pitchFamily="18" charset="0"/>
              <a:ea typeface="华文楷体" panose="02010600040101010101" pitchFamily="2" charset="-122"/>
            </a:endParaRPr>
          </a:p>
        </p:txBody>
      </p:sp>
      <p:sp>
        <p:nvSpPr>
          <p:cNvPr id="39968" name="Text Box 30"/>
          <p:cNvSpPr txBox="1">
            <a:spLocks noChangeArrowheads="1"/>
          </p:cNvSpPr>
          <p:nvPr/>
        </p:nvSpPr>
        <p:spPr bwMode="auto">
          <a:xfrm>
            <a:off x="990600" y="32766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B</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39969" name="Text Box 31"/>
          <p:cNvSpPr txBox="1">
            <a:spLocks noChangeArrowheads="1"/>
          </p:cNvSpPr>
          <p:nvPr/>
        </p:nvSpPr>
        <p:spPr bwMode="auto">
          <a:xfrm>
            <a:off x="2286000" y="28194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A</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39970" name="AutoShape 32"/>
          <p:cNvSpPr>
            <a:spLocks noChangeArrowheads="1"/>
          </p:cNvSpPr>
          <p:nvPr/>
        </p:nvSpPr>
        <p:spPr bwMode="auto">
          <a:xfrm rot="-1818482">
            <a:off x="2133600" y="2057400"/>
            <a:ext cx="533400" cy="76200"/>
          </a:xfrm>
          <a:prstGeom prst="leftArrow">
            <a:avLst>
              <a:gd name="adj1" fmla="val 50000"/>
              <a:gd name="adj2" fmla="val 1750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solidFill>
                <a:schemeClr val="folHlink"/>
              </a:solidFill>
              <a:latin typeface="Times New Roman" panose="02020603050405020304" pitchFamily="18" charset="0"/>
              <a:ea typeface="华文楷体" panose="02010600040101010101" pitchFamily="2" charset="-122"/>
            </a:endParaRPr>
          </a:p>
        </p:txBody>
      </p:sp>
      <p:sp>
        <p:nvSpPr>
          <p:cNvPr id="39971" name="Text Box 33"/>
          <p:cNvSpPr txBox="1">
            <a:spLocks noChangeArrowheads="1"/>
          </p:cNvSpPr>
          <p:nvPr/>
        </p:nvSpPr>
        <p:spPr bwMode="auto">
          <a:xfrm>
            <a:off x="2590800" y="1828800"/>
            <a:ext cx="1219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危机结点</a:t>
            </a:r>
            <a:endParaRPr kumimoji="1" lang="zh-CN" altLang="en-US" sz="1400" b="1" dirty="0">
              <a:latin typeface="Times New Roman" panose="02020603050405020304" pitchFamily="18" charset="0"/>
              <a:ea typeface="华文楷体" panose="02010600040101010101" pitchFamily="2" charset="-122"/>
            </a:endParaRPr>
          </a:p>
        </p:txBody>
      </p:sp>
      <p:sp>
        <p:nvSpPr>
          <p:cNvPr id="39972" name="Oval 34"/>
          <p:cNvSpPr>
            <a:spLocks noChangeArrowheads="1"/>
          </p:cNvSpPr>
          <p:nvPr/>
        </p:nvSpPr>
        <p:spPr bwMode="auto">
          <a:xfrm>
            <a:off x="6172200" y="5867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39973" name="Oval 35"/>
          <p:cNvSpPr>
            <a:spLocks noChangeArrowheads="1"/>
          </p:cNvSpPr>
          <p:nvPr/>
        </p:nvSpPr>
        <p:spPr bwMode="auto">
          <a:xfrm>
            <a:off x="5638800" y="5867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39974" name="Oval 36"/>
          <p:cNvSpPr>
            <a:spLocks noChangeArrowheads="1"/>
          </p:cNvSpPr>
          <p:nvPr/>
        </p:nvSpPr>
        <p:spPr bwMode="auto">
          <a:xfrm>
            <a:off x="1752600" y="3124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grpSp>
        <p:nvGrpSpPr>
          <p:cNvPr id="39975" name="Group 37"/>
          <p:cNvGrpSpPr/>
          <p:nvPr/>
        </p:nvGrpSpPr>
        <p:grpSpPr bwMode="auto">
          <a:xfrm>
            <a:off x="1676400" y="3810000"/>
            <a:ext cx="381000" cy="609600"/>
            <a:chOff x="2448" y="3072"/>
            <a:chExt cx="240" cy="528"/>
          </a:xfrm>
        </p:grpSpPr>
        <p:sp>
          <p:nvSpPr>
            <p:cNvPr id="40053" name="Rectangle 38"/>
            <p:cNvSpPr>
              <a:spLocks noChangeArrowheads="1"/>
            </p:cNvSpPr>
            <p:nvPr/>
          </p:nvSpPr>
          <p:spPr bwMode="auto">
            <a:xfrm>
              <a:off x="2448" y="3072"/>
              <a:ext cx="240" cy="528"/>
            </a:xfrm>
            <a:prstGeom prst="rect">
              <a:avLst/>
            </a:prstGeom>
            <a:solidFill>
              <a:schemeClr val="accent1"/>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0054" name="Line 39"/>
            <p:cNvSpPr>
              <a:spLocks noChangeShapeType="1"/>
            </p:cNvSpPr>
            <p:nvPr/>
          </p:nvSpPr>
          <p:spPr bwMode="auto">
            <a:xfrm>
              <a:off x="2448" y="3456"/>
              <a:ext cx="2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0055" name="Line 40"/>
            <p:cNvSpPr>
              <a:spLocks noChangeShapeType="1"/>
            </p:cNvSpPr>
            <p:nvPr/>
          </p:nvSpPr>
          <p:spPr bwMode="auto">
            <a:xfrm flipH="1">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0056" name="Line 41"/>
            <p:cNvSpPr>
              <a:spLocks noChangeShapeType="1"/>
            </p:cNvSpPr>
            <p:nvPr/>
          </p:nvSpPr>
          <p:spPr bwMode="auto">
            <a:xfrm>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sp>
        <p:nvSpPr>
          <p:cNvPr id="39976" name="Rectangle 42"/>
          <p:cNvSpPr>
            <a:spLocks noChangeArrowheads="1"/>
          </p:cNvSpPr>
          <p:nvPr/>
        </p:nvSpPr>
        <p:spPr bwMode="auto">
          <a:xfrm>
            <a:off x="2209800" y="3810000"/>
            <a:ext cx="381000" cy="4572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9977" name="Text Box 43"/>
          <p:cNvSpPr txBox="1">
            <a:spLocks noChangeArrowheads="1"/>
          </p:cNvSpPr>
          <p:nvPr/>
        </p:nvSpPr>
        <p:spPr bwMode="auto">
          <a:xfrm>
            <a:off x="1676400" y="39624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C</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39978" name="Text Box 44"/>
          <p:cNvSpPr txBox="1">
            <a:spLocks noChangeArrowheads="1"/>
          </p:cNvSpPr>
          <p:nvPr/>
        </p:nvSpPr>
        <p:spPr bwMode="auto">
          <a:xfrm>
            <a:off x="2209800" y="39624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C</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39979" name="AutoShape 45"/>
          <p:cNvSpPr/>
          <p:nvPr/>
        </p:nvSpPr>
        <p:spPr bwMode="auto">
          <a:xfrm>
            <a:off x="2667000" y="3810000"/>
            <a:ext cx="76200" cy="457200"/>
          </a:xfrm>
          <a:prstGeom prst="rightBrace">
            <a:avLst>
              <a:gd name="adj1" fmla="val 50000"/>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9980" name="Text Box 46"/>
          <p:cNvSpPr txBox="1">
            <a:spLocks noChangeArrowheads="1"/>
          </p:cNvSpPr>
          <p:nvPr/>
        </p:nvSpPr>
        <p:spPr bwMode="auto">
          <a:xfrm>
            <a:off x="2743200" y="3886200"/>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h-2</a:t>
            </a:r>
            <a:endParaRPr kumimoji="1" lang="en-US" altLang="zh-CN" sz="2000" b="1" dirty="0">
              <a:latin typeface="Times New Roman" panose="02020603050405020304" pitchFamily="18" charset="0"/>
              <a:ea typeface="华文楷体" panose="02010600040101010101" pitchFamily="2" charset="-122"/>
            </a:endParaRPr>
          </a:p>
        </p:txBody>
      </p:sp>
      <p:sp>
        <p:nvSpPr>
          <p:cNvPr id="39981" name="Text Box 47"/>
          <p:cNvSpPr txBox="1">
            <a:spLocks noChangeArrowheads="1"/>
          </p:cNvSpPr>
          <p:nvPr/>
        </p:nvSpPr>
        <p:spPr bwMode="auto">
          <a:xfrm>
            <a:off x="1143000" y="3886200"/>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h-2</a:t>
            </a:r>
            <a:endParaRPr kumimoji="1" lang="en-US" altLang="zh-CN" sz="2000" b="1" dirty="0">
              <a:latin typeface="Times New Roman" panose="02020603050405020304" pitchFamily="18" charset="0"/>
              <a:ea typeface="华文楷体" panose="02010600040101010101" pitchFamily="2" charset="-122"/>
            </a:endParaRPr>
          </a:p>
        </p:txBody>
      </p:sp>
      <p:sp>
        <p:nvSpPr>
          <p:cNvPr id="39982" name="AutoShape 48"/>
          <p:cNvSpPr/>
          <p:nvPr/>
        </p:nvSpPr>
        <p:spPr bwMode="auto">
          <a:xfrm>
            <a:off x="1524000" y="3810000"/>
            <a:ext cx="76200" cy="457200"/>
          </a:xfrm>
          <a:prstGeom prst="leftBrace">
            <a:avLst>
              <a:gd name="adj1" fmla="val 50000"/>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9983" name="AutoShape 49"/>
          <p:cNvSpPr/>
          <p:nvPr/>
        </p:nvSpPr>
        <p:spPr bwMode="auto">
          <a:xfrm>
            <a:off x="1066800" y="3810000"/>
            <a:ext cx="76200" cy="609600"/>
          </a:xfrm>
          <a:prstGeom prst="leftBrace">
            <a:avLst>
              <a:gd name="adj1" fmla="val 66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9984" name="Text Box 50"/>
          <p:cNvSpPr txBox="1">
            <a:spLocks noChangeArrowheads="1"/>
          </p:cNvSpPr>
          <p:nvPr/>
        </p:nvSpPr>
        <p:spPr bwMode="auto">
          <a:xfrm>
            <a:off x="685800" y="3962400"/>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h-1</a:t>
            </a:r>
            <a:endParaRPr kumimoji="1" lang="en-US" altLang="zh-CN" sz="2000" b="1" dirty="0">
              <a:solidFill>
                <a:srgbClr val="C00000"/>
              </a:solidFill>
              <a:latin typeface="Times New Roman" panose="02020603050405020304" pitchFamily="18" charset="0"/>
              <a:ea typeface="华文楷体" panose="02010600040101010101" pitchFamily="2" charset="-122"/>
            </a:endParaRPr>
          </a:p>
        </p:txBody>
      </p:sp>
      <p:sp>
        <p:nvSpPr>
          <p:cNvPr id="39985" name="AutoShape 51"/>
          <p:cNvSpPr>
            <a:spLocks noChangeArrowheads="1"/>
          </p:cNvSpPr>
          <p:nvPr/>
        </p:nvSpPr>
        <p:spPr bwMode="auto">
          <a:xfrm>
            <a:off x="1143000" y="4114800"/>
            <a:ext cx="228600" cy="76200"/>
          </a:xfrm>
          <a:prstGeom prst="leftArrow">
            <a:avLst>
              <a:gd name="adj1" fmla="val 50000"/>
              <a:gd name="adj2" fmla="val 750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solidFill>
                <a:schemeClr val="folHlink"/>
              </a:solidFill>
              <a:latin typeface="Times New Roman" panose="02020603050405020304" pitchFamily="18" charset="0"/>
              <a:ea typeface="华文楷体" panose="02010600040101010101" pitchFamily="2" charset="-122"/>
            </a:endParaRPr>
          </a:p>
        </p:txBody>
      </p:sp>
      <p:sp>
        <p:nvSpPr>
          <p:cNvPr id="39986" name="Text Box 52"/>
          <p:cNvSpPr txBox="1">
            <a:spLocks noChangeArrowheads="1"/>
          </p:cNvSpPr>
          <p:nvPr/>
        </p:nvSpPr>
        <p:spPr bwMode="auto">
          <a:xfrm>
            <a:off x="1905000" y="2895600"/>
            <a:ext cx="3810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0</a:t>
            </a:r>
            <a:endParaRPr kumimoji="1" lang="en-US" altLang="zh-CN" sz="1200" b="1" dirty="0">
              <a:latin typeface="Times New Roman" panose="02020603050405020304" pitchFamily="18" charset="0"/>
              <a:ea typeface="华文楷体" panose="02010600040101010101" pitchFamily="2" charset="-122"/>
            </a:endParaRPr>
          </a:p>
        </p:txBody>
      </p:sp>
      <p:sp>
        <p:nvSpPr>
          <p:cNvPr id="39987" name="AutoShape 53"/>
          <p:cNvSpPr>
            <a:spLocks noChangeArrowheads="1"/>
          </p:cNvSpPr>
          <p:nvPr/>
        </p:nvSpPr>
        <p:spPr bwMode="auto">
          <a:xfrm>
            <a:off x="1676400" y="3048000"/>
            <a:ext cx="304800" cy="76200"/>
          </a:xfrm>
          <a:prstGeom prst="leftArrow">
            <a:avLst>
              <a:gd name="adj1" fmla="val 50000"/>
              <a:gd name="adj2" fmla="val 1000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solidFill>
                <a:schemeClr val="folHlink"/>
              </a:solidFill>
              <a:latin typeface="Times New Roman" panose="02020603050405020304" pitchFamily="18" charset="0"/>
              <a:ea typeface="华文楷体" panose="02010600040101010101" pitchFamily="2" charset="-122"/>
            </a:endParaRPr>
          </a:p>
        </p:txBody>
      </p:sp>
      <p:sp>
        <p:nvSpPr>
          <p:cNvPr id="39988" name="Text Box 54"/>
          <p:cNvSpPr txBox="1">
            <a:spLocks noChangeArrowheads="1"/>
          </p:cNvSpPr>
          <p:nvPr/>
        </p:nvSpPr>
        <p:spPr bwMode="auto">
          <a:xfrm>
            <a:off x="1371600" y="2925763"/>
            <a:ext cx="3810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+1</a:t>
            </a:r>
            <a:endParaRPr kumimoji="1" lang="en-US" altLang="zh-CN" sz="2000" b="1" dirty="0">
              <a:solidFill>
                <a:srgbClr val="C00000"/>
              </a:solidFill>
              <a:latin typeface="Times New Roman" panose="02020603050405020304" pitchFamily="18" charset="0"/>
              <a:ea typeface="华文楷体" panose="02010600040101010101" pitchFamily="2" charset="-122"/>
            </a:endParaRPr>
          </a:p>
        </p:txBody>
      </p:sp>
      <p:sp>
        <p:nvSpPr>
          <p:cNvPr id="39989" name="Rectangle 55"/>
          <p:cNvSpPr>
            <a:spLocks noChangeArrowheads="1"/>
          </p:cNvSpPr>
          <p:nvPr/>
        </p:nvSpPr>
        <p:spPr bwMode="auto">
          <a:xfrm>
            <a:off x="5257800" y="32004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9990" name="Line 56"/>
          <p:cNvSpPr>
            <a:spLocks noChangeShapeType="1"/>
          </p:cNvSpPr>
          <p:nvPr/>
        </p:nvSpPr>
        <p:spPr bwMode="auto">
          <a:xfrm>
            <a:off x="6781800" y="2438400"/>
            <a:ext cx="838200" cy="3810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39991" name="Oval 57"/>
          <p:cNvSpPr>
            <a:spLocks noChangeArrowheads="1"/>
          </p:cNvSpPr>
          <p:nvPr/>
        </p:nvSpPr>
        <p:spPr bwMode="auto">
          <a:xfrm>
            <a:off x="6477000" y="2209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39992" name="Oval 58"/>
          <p:cNvSpPr>
            <a:spLocks noChangeArrowheads="1"/>
          </p:cNvSpPr>
          <p:nvPr/>
        </p:nvSpPr>
        <p:spPr bwMode="auto">
          <a:xfrm>
            <a:off x="5715000" y="2743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39993" name="Text Box 59"/>
          <p:cNvSpPr txBox="1">
            <a:spLocks noChangeArrowheads="1"/>
          </p:cNvSpPr>
          <p:nvPr/>
        </p:nvSpPr>
        <p:spPr bwMode="auto">
          <a:xfrm>
            <a:off x="6553200" y="1981200"/>
            <a:ext cx="3810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0</a:t>
            </a:r>
            <a:endParaRPr kumimoji="1" lang="en-US" altLang="zh-CN" sz="2000" b="1" dirty="0">
              <a:latin typeface="Times New Roman" panose="02020603050405020304" pitchFamily="18" charset="0"/>
              <a:ea typeface="华文楷体" panose="02010600040101010101" pitchFamily="2" charset="-122"/>
            </a:endParaRPr>
          </a:p>
        </p:txBody>
      </p:sp>
      <p:sp>
        <p:nvSpPr>
          <p:cNvPr id="39994" name="Text Box 60"/>
          <p:cNvSpPr txBox="1">
            <a:spLocks noChangeArrowheads="1"/>
          </p:cNvSpPr>
          <p:nvPr/>
        </p:nvSpPr>
        <p:spPr bwMode="auto">
          <a:xfrm>
            <a:off x="4724400" y="3352800"/>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h-1</a:t>
            </a:r>
            <a:endParaRPr kumimoji="1" lang="en-US" altLang="zh-CN" sz="2000" b="1" dirty="0">
              <a:latin typeface="Times New Roman" panose="02020603050405020304" pitchFamily="18" charset="0"/>
              <a:ea typeface="华文楷体" panose="02010600040101010101" pitchFamily="2" charset="-122"/>
            </a:endParaRPr>
          </a:p>
        </p:txBody>
      </p:sp>
      <p:sp>
        <p:nvSpPr>
          <p:cNvPr id="39995" name="AutoShape 61"/>
          <p:cNvSpPr/>
          <p:nvPr/>
        </p:nvSpPr>
        <p:spPr bwMode="auto">
          <a:xfrm>
            <a:off x="5105400" y="3200400"/>
            <a:ext cx="76200" cy="609600"/>
          </a:xfrm>
          <a:prstGeom prst="leftBrace">
            <a:avLst>
              <a:gd name="adj1" fmla="val 66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9996" name="Rectangle 62"/>
          <p:cNvSpPr>
            <a:spLocks noChangeArrowheads="1"/>
          </p:cNvSpPr>
          <p:nvPr/>
        </p:nvSpPr>
        <p:spPr bwMode="auto">
          <a:xfrm>
            <a:off x="7924800" y="32004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9997" name="AutoShape 63"/>
          <p:cNvSpPr/>
          <p:nvPr/>
        </p:nvSpPr>
        <p:spPr bwMode="auto">
          <a:xfrm>
            <a:off x="8382000" y="3200400"/>
            <a:ext cx="76200" cy="609600"/>
          </a:xfrm>
          <a:prstGeom prst="rightBrace">
            <a:avLst>
              <a:gd name="adj1" fmla="val 66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39998" name="Text Box 64"/>
          <p:cNvSpPr txBox="1">
            <a:spLocks noChangeArrowheads="1"/>
          </p:cNvSpPr>
          <p:nvPr/>
        </p:nvSpPr>
        <p:spPr bwMode="auto">
          <a:xfrm>
            <a:off x="5257800" y="33528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B</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39999" name="Text Box 65"/>
          <p:cNvSpPr txBox="1">
            <a:spLocks noChangeArrowheads="1"/>
          </p:cNvSpPr>
          <p:nvPr/>
        </p:nvSpPr>
        <p:spPr bwMode="auto">
          <a:xfrm>
            <a:off x="7924800" y="33528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A</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40000" name="Oval 66"/>
          <p:cNvSpPr>
            <a:spLocks noChangeArrowheads="1"/>
          </p:cNvSpPr>
          <p:nvPr/>
        </p:nvSpPr>
        <p:spPr bwMode="auto">
          <a:xfrm>
            <a:off x="7391400" y="2667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0001" name="Rectangle 67"/>
          <p:cNvSpPr>
            <a:spLocks noChangeArrowheads="1"/>
          </p:cNvSpPr>
          <p:nvPr/>
        </p:nvSpPr>
        <p:spPr bwMode="auto">
          <a:xfrm>
            <a:off x="6934200" y="3200400"/>
            <a:ext cx="381000" cy="4572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0002" name="Text Box 68"/>
          <p:cNvSpPr txBox="1">
            <a:spLocks noChangeArrowheads="1"/>
          </p:cNvSpPr>
          <p:nvPr/>
        </p:nvSpPr>
        <p:spPr bwMode="auto">
          <a:xfrm>
            <a:off x="6934200" y="33528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C</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40003" name="AutoShape 69"/>
          <p:cNvSpPr/>
          <p:nvPr/>
        </p:nvSpPr>
        <p:spPr bwMode="auto">
          <a:xfrm>
            <a:off x="7391400" y="3200400"/>
            <a:ext cx="76200" cy="457200"/>
          </a:xfrm>
          <a:prstGeom prst="rightBrace">
            <a:avLst>
              <a:gd name="adj1" fmla="val 50000"/>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0004" name="Text Box 70"/>
          <p:cNvSpPr txBox="1">
            <a:spLocks noChangeArrowheads="1"/>
          </p:cNvSpPr>
          <p:nvPr/>
        </p:nvSpPr>
        <p:spPr bwMode="auto">
          <a:xfrm>
            <a:off x="7467600" y="3276600"/>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h-2</a:t>
            </a:r>
            <a:endParaRPr kumimoji="1" lang="en-US" altLang="zh-CN" sz="2000" b="1" dirty="0">
              <a:latin typeface="Times New Roman" panose="02020603050405020304" pitchFamily="18" charset="0"/>
              <a:ea typeface="华文楷体" panose="02010600040101010101" pitchFamily="2" charset="-122"/>
            </a:endParaRPr>
          </a:p>
        </p:txBody>
      </p:sp>
      <p:grpSp>
        <p:nvGrpSpPr>
          <p:cNvPr id="40005" name="Group 71"/>
          <p:cNvGrpSpPr/>
          <p:nvPr/>
        </p:nvGrpSpPr>
        <p:grpSpPr bwMode="auto">
          <a:xfrm>
            <a:off x="6248400" y="3200400"/>
            <a:ext cx="381000" cy="609600"/>
            <a:chOff x="2448" y="3072"/>
            <a:chExt cx="240" cy="528"/>
          </a:xfrm>
        </p:grpSpPr>
        <p:sp>
          <p:nvSpPr>
            <p:cNvPr id="40049" name="Rectangle 72"/>
            <p:cNvSpPr>
              <a:spLocks noChangeArrowheads="1"/>
            </p:cNvSpPr>
            <p:nvPr/>
          </p:nvSpPr>
          <p:spPr bwMode="auto">
            <a:xfrm>
              <a:off x="2448" y="3072"/>
              <a:ext cx="240" cy="528"/>
            </a:xfrm>
            <a:prstGeom prst="rect">
              <a:avLst/>
            </a:prstGeom>
            <a:solidFill>
              <a:schemeClr val="accent1"/>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0050" name="Line 73"/>
            <p:cNvSpPr>
              <a:spLocks noChangeShapeType="1"/>
            </p:cNvSpPr>
            <p:nvPr/>
          </p:nvSpPr>
          <p:spPr bwMode="auto">
            <a:xfrm>
              <a:off x="2448" y="3456"/>
              <a:ext cx="2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0051" name="Line 74"/>
            <p:cNvSpPr>
              <a:spLocks noChangeShapeType="1"/>
            </p:cNvSpPr>
            <p:nvPr/>
          </p:nvSpPr>
          <p:spPr bwMode="auto">
            <a:xfrm flipH="1">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0052" name="Line 75"/>
            <p:cNvSpPr>
              <a:spLocks noChangeShapeType="1"/>
            </p:cNvSpPr>
            <p:nvPr/>
          </p:nvSpPr>
          <p:spPr bwMode="auto">
            <a:xfrm>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sp>
        <p:nvSpPr>
          <p:cNvPr id="40006" name="Text Box 76"/>
          <p:cNvSpPr txBox="1">
            <a:spLocks noChangeArrowheads="1"/>
          </p:cNvSpPr>
          <p:nvPr/>
        </p:nvSpPr>
        <p:spPr bwMode="auto">
          <a:xfrm>
            <a:off x="6248400" y="33528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C</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40007" name="AutoShape 77"/>
          <p:cNvSpPr/>
          <p:nvPr/>
        </p:nvSpPr>
        <p:spPr bwMode="auto">
          <a:xfrm>
            <a:off x="6019800" y="3200400"/>
            <a:ext cx="76200" cy="609600"/>
          </a:xfrm>
          <a:prstGeom prst="leftBrace">
            <a:avLst>
              <a:gd name="adj1" fmla="val 66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0008" name="Text Box 78"/>
          <p:cNvSpPr txBox="1">
            <a:spLocks noChangeArrowheads="1"/>
          </p:cNvSpPr>
          <p:nvPr/>
        </p:nvSpPr>
        <p:spPr bwMode="auto">
          <a:xfrm>
            <a:off x="5638800" y="3352800"/>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h-1</a:t>
            </a:r>
            <a:endParaRPr kumimoji="1" lang="en-US" altLang="zh-CN" sz="2000" b="1" dirty="0">
              <a:latin typeface="Times New Roman" panose="02020603050405020304" pitchFamily="18" charset="0"/>
              <a:ea typeface="华文楷体" panose="02010600040101010101" pitchFamily="2" charset="-122"/>
            </a:endParaRPr>
          </a:p>
        </p:txBody>
      </p:sp>
      <p:sp>
        <p:nvSpPr>
          <p:cNvPr id="40009" name="Text Box 79"/>
          <p:cNvSpPr txBox="1">
            <a:spLocks noChangeArrowheads="1"/>
          </p:cNvSpPr>
          <p:nvPr/>
        </p:nvSpPr>
        <p:spPr bwMode="auto">
          <a:xfrm>
            <a:off x="7467600" y="2438400"/>
            <a:ext cx="3810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-1</a:t>
            </a:r>
            <a:endParaRPr kumimoji="1" lang="en-US" altLang="zh-CN" sz="2000" b="1" dirty="0">
              <a:latin typeface="Times New Roman" panose="02020603050405020304" pitchFamily="18" charset="0"/>
              <a:ea typeface="华文楷体" panose="02010600040101010101" pitchFamily="2" charset="-122"/>
            </a:endParaRPr>
          </a:p>
        </p:txBody>
      </p:sp>
      <p:sp>
        <p:nvSpPr>
          <p:cNvPr id="40010" name="Text Box 80"/>
          <p:cNvSpPr txBox="1">
            <a:spLocks noChangeArrowheads="1"/>
          </p:cNvSpPr>
          <p:nvPr/>
        </p:nvSpPr>
        <p:spPr bwMode="auto">
          <a:xfrm>
            <a:off x="5715000" y="2438400"/>
            <a:ext cx="3810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0</a:t>
            </a:r>
            <a:endParaRPr kumimoji="1" lang="en-US" altLang="zh-CN" sz="2000" b="1" dirty="0">
              <a:latin typeface="Times New Roman" panose="02020603050405020304" pitchFamily="18" charset="0"/>
              <a:ea typeface="华文楷体" panose="02010600040101010101" pitchFamily="2" charset="-122"/>
            </a:endParaRPr>
          </a:p>
        </p:txBody>
      </p:sp>
      <p:sp>
        <p:nvSpPr>
          <p:cNvPr id="40011" name="Rectangle 81"/>
          <p:cNvSpPr>
            <a:spLocks noChangeArrowheads="1"/>
          </p:cNvSpPr>
          <p:nvPr/>
        </p:nvSpPr>
        <p:spPr bwMode="auto">
          <a:xfrm>
            <a:off x="609600" y="5514975"/>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0012" name="Oval 82"/>
          <p:cNvSpPr>
            <a:spLocks noChangeArrowheads="1"/>
          </p:cNvSpPr>
          <p:nvPr/>
        </p:nvSpPr>
        <p:spPr bwMode="auto">
          <a:xfrm>
            <a:off x="3048000" y="5591175"/>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0013" name="Oval 83"/>
          <p:cNvSpPr>
            <a:spLocks noChangeArrowheads="1"/>
          </p:cNvSpPr>
          <p:nvPr/>
        </p:nvSpPr>
        <p:spPr bwMode="auto">
          <a:xfrm>
            <a:off x="1066800" y="5591175"/>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0014" name="Rectangle 84"/>
          <p:cNvSpPr>
            <a:spLocks noChangeArrowheads="1"/>
          </p:cNvSpPr>
          <p:nvPr/>
        </p:nvSpPr>
        <p:spPr bwMode="auto">
          <a:xfrm>
            <a:off x="3581400" y="5514975"/>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0015" name="Text Box 85"/>
          <p:cNvSpPr txBox="1">
            <a:spLocks noChangeArrowheads="1"/>
          </p:cNvSpPr>
          <p:nvPr/>
        </p:nvSpPr>
        <p:spPr bwMode="auto">
          <a:xfrm>
            <a:off x="609600" y="5667375"/>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B</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40016" name="Text Box 86"/>
          <p:cNvSpPr txBox="1">
            <a:spLocks noChangeArrowheads="1"/>
          </p:cNvSpPr>
          <p:nvPr/>
        </p:nvSpPr>
        <p:spPr bwMode="auto">
          <a:xfrm>
            <a:off x="3581400" y="5667375"/>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A</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40017" name="Oval 87"/>
          <p:cNvSpPr>
            <a:spLocks noChangeArrowheads="1"/>
          </p:cNvSpPr>
          <p:nvPr/>
        </p:nvSpPr>
        <p:spPr bwMode="auto">
          <a:xfrm>
            <a:off x="2057400" y="5591175"/>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grpSp>
        <p:nvGrpSpPr>
          <p:cNvPr id="40018" name="Group 88"/>
          <p:cNvGrpSpPr/>
          <p:nvPr/>
        </p:nvGrpSpPr>
        <p:grpSpPr bwMode="auto">
          <a:xfrm>
            <a:off x="1600200" y="5514975"/>
            <a:ext cx="381000" cy="609600"/>
            <a:chOff x="2448" y="3072"/>
            <a:chExt cx="240" cy="528"/>
          </a:xfrm>
        </p:grpSpPr>
        <p:sp>
          <p:nvSpPr>
            <p:cNvPr id="40045" name="Rectangle 89"/>
            <p:cNvSpPr>
              <a:spLocks noChangeArrowheads="1"/>
            </p:cNvSpPr>
            <p:nvPr/>
          </p:nvSpPr>
          <p:spPr bwMode="auto">
            <a:xfrm>
              <a:off x="2448" y="3072"/>
              <a:ext cx="240" cy="528"/>
            </a:xfrm>
            <a:prstGeom prst="rect">
              <a:avLst/>
            </a:prstGeom>
            <a:solidFill>
              <a:schemeClr val="accent1"/>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0046" name="Line 90"/>
            <p:cNvSpPr>
              <a:spLocks noChangeShapeType="1"/>
            </p:cNvSpPr>
            <p:nvPr/>
          </p:nvSpPr>
          <p:spPr bwMode="auto">
            <a:xfrm>
              <a:off x="2448" y="3456"/>
              <a:ext cx="2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0047" name="Line 91"/>
            <p:cNvSpPr>
              <a:spLocks noChangeShapeType="1"/>
            </p:cNvSpPr>
            <p:nvPr/>
          </p:nvSpPr>
          <p:spPr bwMode="auto">
            <a:xfrm flipH="1">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0048" name="Line 92"/>
            <p:cNvSpPr>
              <a:spLocks noChangeShapeType="1"/>
            </p:cNvSpPr>
            <p:nvPr/>
          </p:nvSpPr>
          <p:spPr bwMode="auto">
            <a:xfrm>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sp>
        <p:nvSpPr>
          <p:cNvPr id="40019" name="Rectangle 93"/>
          <p:cNvSpPr>
            <a:spLocks noChangeArrowheads="1"/>
          </p:cNvSpPr>
          <p:nvPr/>
        </p:nvSpPr>
        <p:spPr bwMode="auto">
          <a:xfrm>
            <a:off x="2590800" y="5514975"/>
            <a:ext cx="381000" cy="4572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0020" name="Text Box 94"/>
          <p:cNvSpPr txBox="1">
            <a:spLocks noChangeArrowheads="1"/>
          </p:cNvSpPr>
          <p:nvPr/>
        </p:nvSpPr>
        <p:spPr bwMode="auto">
          <a:xfrm>
            <a:off x="1600200" y="5667375"/>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C</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40021" name="Text Box 95"/>
          <p:cNvSpPr txBox="1">
            <a:spLocks noChangeArrowheads="1"/>
          </p:cNvSpPr>
          <p:nvPr/>
        </p:nvSpPr>
        <p:spPr bwMode="auto">
          <a:xfrm>
            <a:off x="2590800" y="5591175"/>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C</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40022" name="Text Box 96"/>
          <p:cNvSpPr txBox="1">
            <a:spLocks noChangeArrowheads="1"/>
          </p:cNvSpPr>
          <p:nvPr/>
        </p:nvSpPr>
        <p:spPr bwMode="auto">
          <a:xfrm>
            <a:off x="3810000" y="4631290"/>
            <a:ext cx="2895600" cy="630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调整后</a:t>
            </a:r>
            <a:r>
              <a:rPr kumimoji="1" lang="zh-CN" altLang="en-US" sz="1400" b="1" dirty="0" smtClean="0">
                <a:latin typeface="Times New Roman" panose="02020603050405020304" pitchFamily="18" charset="0"/>
                <a:ea typeface="华文楷体" panose="02010600040101010101" pitchFamily="2" charset="-122"/>
              </a:rPr>
              <a:t>：高度</a:t>
            </a:r>
            <a:r>
              <a:rPr kumimoji="1" lang="zh-CN" altLang="en-US" sz="1400" b="1" dirty="0">
                <a:latin typeface="Times New Roman" panose="02020603050405020304" pitchFamily="18" charset="0"/>
                <a:ea typeface="华文楷体" panose="02010600040101010101" pitchFamily="2" charset="-122"/>
              </a:rPr>
              <a:t>为 </a:t>
            </a:r>
            <a:r>
              <a:rPr kumimoji="1" lang="en-US" altLang="zh-CN" sz="1400" b="1" dirty="0">
                <a:latin typeface="Times New Roman" panose="02020603050405020304" pitchFamily="18" charset="0"/>
                <a:ea typeface="华文楷体" panose="02010600040101010101" pitchFamily="2" charset="-122"/>
              </a:rPr>
              <a:t>h + 1</a:t>
            </a:r>
            <a:endParaRPr kumimoji="1" lang="en-US" altLang="zh-CN" sz="14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zh-CN" sz="1400" b="1" dirty="0" smtClean="0">
                <a:latin typeface="Times New Roman" panose="02020603050405020304" pitchFamily="18" charset="0"/>
                <a:ea typeface="华文楷体" panose="02010600040101010101" pitchFamily="2" charset="-122"/>
              </a:rPr>
              <a:t>中</a:t>
            </a:r>
            <a:r>
              <a:rPr kumimoji="1" lang="zh-CN" altLang="zh-CN" sz="1400" b="1" dirty="0">
                <a:latin typeface="Times New Roman" panose="02020603050405020304" pitchFamily="18" charset="0"/>
                <a:ea typeface="华文楷体" panose="02010600040101010101" pitchFamily="2" charset="-122"/>
              </a:rPr>
              <a:t>序序列：</a:t>
            </a:r>
            <a:endParaRPr kumimoji="1" lang="zh-CN" altLang="en-US" sz="1400" b="1" dirty="0">
              <a:latin typeface="Times New Roman" panose="02020603050405020304" pitchFamily="18" charset="0"/>
              <a:ea typeface="华文楷体" panose="02010600040101010101" pitchFamily="2" charset="-122"/>
            </a:endParaRPr>
          </a:p>
        </p:txBody>
      </p:sp>
      <p:sp>
        <p:nvSpPr>
          <p:cNvPr id="40023" name="Rectangle 97"/>
          <p:cNvSpPr>
            <a:spLocks noChangeArrowheads="1"/>
          </p:cNvSpPr>
          <p:nvPr/>
        </p:nvSpPr>
        <p:spPr bwMode="auto">
          <a:xfrm>
            <a:off x="4800600" y="50292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0024" name="Oval 98"/>
          <p:cNvSpPr>
            <a:spLocks noChangeArrowheads="1"/>
          </p:cNvSpPr>
          <p:nvPr/>
        </p:nvSpPr>
        <p:spPr bwMode="auto">
          <a:xfrm>
            <a:off x="7239000" y="5105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0025" name="Oval 99"/>
          <p:cNvSpPr>
            <a:spLocks noChangeArrowheads="1"/>
          </p:cNvSpPr>
          <p:nvPr/>
        </p:nvSpPr>
        <p:spPr bwMode="auto">
          <a:xfrm>
            <a:off x="5257800" y="5105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0026" name="Rectangle 100"/>
          <p:cNvSpPr>
            <a:spLocks noChangeArrowheads="1"/>
          </p:cNvSpPr>
          <p:nvPr/>
        </p:nvSpPr>
        <p:spPr bwMode="auto">
          <a:xfrm>
            <a:off x="7772400" y="50292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0027" name="Text Box 101"/>
          <p:cNvSpPr txBox="1">
            <a:spLocks noChangeArrowheads="1"/>
          </p:cNvSpPr>
          <p:nvPr/>
        </p:nvSpPr>
        <p:spPr bwMode="auto">
          <a:xfrm>
            <a:off x="4800600" y="51816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B</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40028" name="Text Box 102"/>
          <p:cNvSpPr txBox="1">
            <a:spLocks noChangeArrowheads="1"/>
          </p:cNvSpPr>
          <p:nvPr/>
        </p:nvSpPr>
        <p:spPr bwMode="auto">
          <a:xfrm>
            <a:off x="7772400" y="51816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A</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40029" name="Oval 103"/>
          <p:cNvSpPr>
            <a:spLocks noChangeArrowheads="1"/>
          </p:cNvSpPr>
          <p:nvPr/>
        </p:nvSpPr>
        <p:spPr bwMode="auto">
          <a:xfrm>
            <a:off x="6248400" y="5105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grpSp>
        <p:nvGrpSpPr>
          <p:cNvPr id="40030" name="Group 104"/>
          <p:cNvGrpSpPr/>
          <p:nvPr/>
        </p:nvGrpSpPr>
        <p:grpSpPr bwMode="auto">
          <a:xfrm>
            <a:off x="5791200" y="5029200"/>
            <a:ext cx="381000" cy="609600"/>
            <a:chOff x="2448" y="3072"/>
            <a:chExt cx="240" cy="528"/>
          </a:xfrm>
        </p:grpSpPr>
        <p:sp>
          <p:nvSpPr>
            <p:cNvPr id="40041" name="Rectangle 105"/>
            <p:cNvSpPr>
              <a:spLocks noChangeArrowheads="1"/>
            </p:cNvSpPr>
            <p:nvPr/>
          </p:nvSpPr>
          <p:spPr bwMode="auto">
            <a:xfrm>
              <a:off x="2448" y="3072"/>
              <a:ext cx="240" cy="528"/>
            </a:xfrm>
            <a:prstGeom prst="rect">
              <a:avLst/>
            </a:prstGeom>
            <a:solidFill>
              <a:schemeClr val="accent1"/>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0042" name="Line 106"/>
            <p:cNvSpPr>
              <a:spLocks noChangeShapeType="1"/>
            </p:cNvSpPr>
            <p:nvPr/>
          </p:nvSpPr>
          <p:spPr bwMode="auto">
            <a:xfrm>
              <a:off x="2448" y="3456"/>
              <a:ext cx="2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0043" name="Line 107"/>
            <p:cNvSpPr>
              <a:spLocks noChangeShapeType="1"/>
            </p:cNvSpPr>
            <p:nvPr/>
          </p:nvSpPr>
          <p:spPr bwMode="auto">
            <a:xfrm flipH="1">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0044" name="Line 108"/>
            <p:cNvSpPr>
              <a:spLocks noChangeShapeType="1"/>
            </p:cNvSpPr>
            <p:nvPr/>
          </p:nvSpPr>
          <p:spPr bwMode="auto">
            <a:xfrm>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sp>
        <p:nvSpPr>
          <p:cNvPr id="40031" name="Rectangle 109"/>
          <p:cNvSpPr>
            <a:spLocks noChangeArrowheads="1"/>
          </p:cNvSpPr>
          <p:nvPr/>
        </p:nvSpPr>
        <p:spPr bwMode="auto">
          <a:xfrm>
            <a:off x="6781800" y="5029200"/>
            <a:ext cx="381000" cy="4572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0032" name="Text Box 110"/>
          <p:cNvSpPr txBox="1">
            <a:spLocks noChangeArrowheads="1"/>
          </p:cNvSpPr>
          <p:nvPr/>
        </p:nvSpPr>
        <p:spPr bwMode="auto">
          <a:xfrm>
            <a:off x="5791200" y="51816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C</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40033" name="Text Box 111"/>
          <p:cNvSpPr txBox="1">
            <a:spLocks noChangeArrowheads="1"/>
          </p:cNvSpPr>
          <p:nvPr/>
        </p:nvSpPr>
        <p:spPr bwMode="auto">
          <a:xfrm>
            <a:off x="6781800" y="51054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C</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40034" name="Oval 112"/>
          <p:cNvSpPr>
            <a:spLocks noChangeArrowheads="1"/>
          </p:cNvSpPr>
          <p:nvPr/>
        </p:nvSpPr>
        <p:spPr bwMode="auto">
          <a:xfrm>
            <a:off x="6705600" y="5867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0035" name="Text Box 113"/>
          <p:cNvSpPr txBox="1">
            <a:spLocks noChangeArrowheads="1"/>
          </p:cNvSpPr>
          <p:nvPr/>
        </p:nvSpPr>
        <p:spPr bwMode="auto">
          <a:xfrm>
            <a:off x="56965" y="4762941"/>
            <a:ext cx="2895600" cy="630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调整前</a:t>
            </a:r>
            <a:r>
              <a:rPr kumimoji="1" lang="zh-CN" altLang="en-US" sz="1400" b="1" dirty="0" smtClean="0">
                <a:latin typeface="Times New Roman" panose="02020603050405020304" pitchFamily="18" charset="0"/>
                <a:ea typeface="华文楷体" panose="02010600040101010101" pitchFamily="2" charset="-122"/>
              </a:rPr>
              <a:t>：高度</a:t>
            </a:r>
            <a:r>
              <a:rPr kumimoji="1" lang="zh-CN" altLang="en-US" sz="1400" b="1" dirty="0">
                <a:latin typeface="Times New Roman" panose="02020603050405020304" pitchFamily="18" charset="0"/>
                <a:ea typeface="华文楷体" panose="02010600040101010101" pitchFamily="2" charset="-122"/>
              </a:rPr>
              <a:t>为 </a:t>
            </a:r>
            <a:r>
              <a:rPr kumimoji="1" lang="en-US" altLang="zh-CN" sz="1400" b="1" dirty="0">
                <a:latin typeface="Times New Roman" panose="02020603050405020304" pitchFamily="18" charset="0"/>
                <a:ea typeface="华文楷体" panose="02010600040101010101" pitchFamily="2" charset="-122"/>
              </a:rPr>
              <a:t>h + </a:t>
            </a:r>
            <a:r>
              <a:rPr kumimoji="1" lang="en-US" altLang="zh-CN" sz="1400" b="1" dirty="0" smtClean="0">
                <a:latin typeface="Times New Roman" panose="02020603050405020304" pitchFamily="18" charset="0"/>
                <a:ea typeface="华文楷体" panose="02010600040101010101" pitchFamily="2" charset="-122"/>
              </a:rPr>
              <a:t>1</a:t>
            </a:r>
            <a:endParaRPr kumimoji="1" lang="en-US" altLang="zh-CN" sz="1400" b="1" dirty="0" smtClean="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zh-CN" sz="1400" b="1" dirty="0" smtClean="0">
                <a:latin typeface="Times New Roman" panose="02020603050405020304" pitchFamily="18" charset="0"/>
                <a:ea typeface="华文楷体" panose="02010600040101010101" pitchFamily="2" charset="-122"/>
              </a:rPr>
              <a:t>中</a:t>
            </a:r>
            <a:r>
              <a:rPr kumimoji="1" lang="zh-CN" altLang="zh-CN" sz="1400" b="1" dirty="0">
                <a:latin typeface="Times New Roman" panose="02020603050405020304" pitchFamily="18" charset="0"/>
                <a:ea typeface="华文楷体" panose="02010600040101010101" pitchFamily="2" charset="-122"/>
              </a:rPr>
              <a:t>序序列：</a:t>
            </a:r>
            <a:endParaRPr kumimoji="1" lang="zh-CN" altLang="en-US" sz="1400" b="1" dirty="0">
              <a:latin typeface="Times New Roman" panose="02020603050405020304" pitchFamily="18" charset="0"/>
              <a:ea typeface="华文楷体" panose="02010600040101010101" pitchFamily="2" charset="-122"/>
            </a:endParaRPr>
          </a:p>
        </p:txBody>
      </p:sp>
      <p:sp>
        <p:nvSpPr>
          <p:cNvPr id="40036" name="Text Box 114"/>
          <p:cNvSpPr txBox="1">
            <a:spLocks noChangeArrowheads="1"/>
          </p:cNvSpPr>
          <p:nvPr/>
        </p:nvSpPr>
        <p:spPr bwMode="auto">
          <a:xfrm>
            <a:off x="8458200" y="3382963"/>
            <a:ext cx="4572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h-1</a:t>
            </a:r>
            <a:endParaRPr kumimoji="1" lang="en-US" altLang="zh-CN" sz="2000" b="1" dirty="0">
              <a:latin typeface="Times New Roman" panose="02020603050405020304" pitchFamily="18" charset="0"/>
              <a:ea typeface="华文楷体" panose="02010600040101010101" pitchFamily="2" charset="-122"/>
            </a:endParaRPr>
          </a:p>
        </p:txBody>
      </p:sp>
      <p:sp>
        <p:nvSpPr>
          <p:cNvPr id="40037" name="Text Box 115"/>
          <p:cNvSpPr txBox="1">
            <a:spLocks noChangeArrowheads="1"/>
          </p:cNvSpPr>
          <p:nvPr/>
        </p:nvSpPr>
        <p:spPr bwMode="auto">
          <a:xfrm>
            <a:off x="730250" y="1535113"/>
            <a:ext cx="879475" cy="39687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2000" b="1" dirty="0">
                <a:solidFill>
                  <a:schemeClr val="accent2"/>
                </a:solidFill>
                <a:latin typeface="Times New Roman" panose="02020603050405020304" pitchFamily="18" charset="0"/>
                <a:ea typeface="华文楷体" panose="02010600040101010101" pitchFamily="2" charset="-122"/>
              </a:rPr>
              <a:t>情形</a:t>
            </a:r>
            <a:r>
              <a:rPr lang="en-US" altLang="zh-CN" sz="2000" b="1" dirty="0">
                <a:solidFill>
                  <a:schemeClr val="accent2"/>
                </a:solidFill>
                <a:latin typeface="Times New Roman" panose="02020603050405020304" pitchFamily="18" charset="0"/>
                <a:ea typeface="华文楷体" panose="02010600040101010101" pitchFamily="2" charset="-122"/>
              </a:rPr>
              <a:t>A</a:t>
            </a:r>
            <a:endParaRPr lang="en-US" altLang="zh-CN" sz="2000" b="1" dirty="0">
              <a:solidFill>
                <a:schemeClr val="accent2"/>
              </a:solidFill>
              <a:latin typeface="Times New Roman" panose="02020603050405020304" pitchFamily="18" charset="0"/>
              <a:ea typeface="华文楷体" panose="02010600040101010101" pitchFamily="2" charset="-122"/>
            </a:endParaRPr>
          </a:p>
        </p:txBody>
      </p:sp>
      <p:sp>
        <p:nvSpPr>
          <p:cNvPr id="40038" name="Arc 116"/>
          <p:cNvSpPr/>
          <p:nvPr/>
        </p:nvSpPr>
        <p:spPr bwMode="auto">
          <a:xfrm>
            <a:off x="1520825" y="2439988"/>
            <a:ext cx="457200" cy="306387"/>
          </a:xfrm>
          <a:custGeom>
            <a:avLst/>
            <a:gdLst>
              <a:gd name="T0" fmla="*/ 0 w 21600"/>
              <a:gd name="T1" fmla="*/ 0 h 21600"/>
              <a:gd name="T2" fmla="*/ 204838300 w 21600"/>
              <a:gd name="T3" fmla="*/ 61645802 h 21600"/>
              <a:gd name="T4" fmla="*/ 0 w 21600"/>
              <a:gd name="T5" fmla="*/ 6164580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12700">
            <a:solidFill>
              <a:srgbClr val="00FF00"/>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0039" name="Arc 117"/>
          <p:cNvSpPr/>
          <p:nvPr/>
        </p:nvSpPr>
        <p:spPr bwMode="auto">
          <a:xfrm flipH="1">
            <a:off x="1752600" y="2895600"/>
            <a:ext cx="381000" cy="304800"/>
          </a:xfrm>
          <a:custGeom>
            <a:avLst/>
            <a:gdLst>
              <a:gd name="T0" fmla="*/ 0 w 21600"/>
              <a:gd name="T1" fmla="*/ 0 h 21600"/>
              <a:gd name="T2" fmla="*/ 118540689 w 21600"/>
              <a:gd name="T3" fmla="*/ 60692834 h 21600"/>
              <a:gd name="T4" fmla="*/ 0 w 21600"/>
              <a:gd name="T5" fmla="*/ 60692834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12700">
            <a:solidFill>
              <a:srgbClr val="00FF00"/>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0040" name="Text Box 118"/>
          <p:cNvSpPr txBox="1">
            <a:spLocks noChangeArrowheads="1"/>
          </p:cNvSpPr>
          <p:nvPr/>
        </p:nvSpPr>
        <p:spPr bwMode="auto">
          <a:xfrm>
            <a:off x="4343400" y="5943600"/>
            <a:ext cx="44196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zh-CN" sz="1400" b="1" dirty="0">
                <a:latin typeface="Times New Roman" panose="02020603050405020304" pitchFamily="18" charset="0"/>
                <a:ea typeface="华文楷体" panose="02010600040101010101" pitchFamily="2" charset="-122"/>
              </a:rPr>
              <a:t>注意：</a:t>
            </a:r>
            <a:r>
              <a:rPr kumimoji="1" lang="zh-CN" altLang="en-US" sz="1400" b="1" dirty="0">
                <a:latin typeface="Times New Roman" panose="02020603050405020304" pitchFamily="18" charset="0"/>
                <a:ea typeface="华文楷体" panose="02010600040101010101" pitchFamily="2" charset="-122"/>
              </a:rPr>
              <a:t>调整</a:t>
            </a:r>
            <a:r>
              <a:rPr kumimoji="1" lang="zh-CN" altLang="zh-CN" sz="1400" b="1" dirty="0">
                <a:latin typeface="Times New Roman" panose="02020603050405020304" pitchFamily="18" charset="0"/>
                <a:ea typeface="华文楷体" panose="02010600040101010101" pitchFamily="2" charset="-122"/>
              </a:rPr>
              <a:t>后                                   平衡</a:t>
            </a:r>
            <a:r>
              <a:rPr kumimoji="1" lang="zh-CN" altLang="en-US" sz="1400" b="1" dirty="0">
                <a:latin typeface="Times New Roman" panose="02020603050405020304" pitchFamily="18" charset="0"/>
                <a:ea typeface="华文楷体" panose="02010600040101010101" pitchFamily="2" charset="-122"/>
              </a:rPr>
              <a:t>因子</a:t>
            </a:r>
            <a:r>
              <a:rPr kumimoji="1" lang="zh-CN" altLang="zh-CN" sz="1400" b="1" dirty="0">
                <a:latin typeface="Times New Roman" panose="02020603050405020304" pitchFamily="18" charset="0"/>
                <a:ea typeface="华文楷体" panose="02010600040101010101" pitchFamily="2" charset="-122"/>
              </a:rPr>
              <a:t>为 +1,0,0</a:t>
            </a:r>
            <a:endParaRPr kumimoji="1" lang="en-US" altLang="zh-CN" sz="1400" b="1"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页脚占位符 3"/>
          <p:cNvSpPr>
            <a:spLocks noGrp="1"/>
          </p:cNvSpPr>
          <p:nvPr>
            <p:ph type="ftr" sz="quarter" idx="10"/>
          </p:nvPr>
        </p:nvSpPr>
        <p:spPr/>
        <p:txBody>
          <a:bodyPr/>
          <a:lstStyle/>
          <a:p>
            <a:pPr>
              <a:defRPr/>
            </a:pPr>
            <a:r>
              <a:rPr lang="en-US" altLang="zh-CN"/>
              <a:t>BUPT SCST</a:t>
            </a:r>
            <a:endParaRPr lang="en-US" altLang="zh-CN"/>
          </a:p>
        </p:txBody>
      </p:sp>
      <p:sp>
        <p:nvSpPr>
          <p:cNvPr id="119" name="日期占位符 5"/>
          <p:cNvSpPr>
            <a:spLocks noGrp="1"/>
          </p:cNvSpPr>
          <p:nvPr>
            <p:ph type="dt" sz="quarter" idx="12"/>
          </p:nvPr>
        </p:nvSpPr>
        <p:spPr/>
        <p:txBody>
          <a:bodyPr/>
          <a:lstStyle/>
          <a:p>
            <a:pPr>
              <a:defRPr/>
            </a:pPr>
            <a:r>
              <a:rPr lang="en-US" altLang="zh-CN"/>
              <a:t>BUPT</a:t>
            </a:r>
            <a:endParaRPr lang="en-US" altLang="zh-CN"/>
          </a:p>
        </p:txBody>
      </p:sp>
      <p:sp>
        <p:nvSpPr>
          <p:cNvPr id="4096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40965"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ea typeface="华文楷体" panose="02010600040101010101" pitchFamily="2" charset="-122"/>
              </a:rPr>
              <a:t>LR</a:t>
            </a:r>
            <a:r>
              <a:rPr lang="zh-CN" altLang="en-US" sz="2400" b="1" dirty="0" smtClean="0">
                <a:ea typeface="华文楷体" panose="02010600040101010101" pitchFamily="2" charset="-122"/>
              </a:rPr>
              <a:t>型平衡旋转</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一次逆时针旋转</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一次顺时针旋转</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en-US" altLang="zh-CN" dirty="0" smtClean="0">
              <a:ea typeface="华文楷体" panose="02010600040101010101" pitchFamily="2" charset="-122"/>
            </a:endParaRPr>
          </a:p>
        </p:txBody>
      </p:sp>
      <p:sp>
        <p:nvSpPr>
          <p:cNvPr id="40966" name="Line 4"/>
          <p:cNvSpPr>
            <a:spLocks noChangeShapeType="1"/>
          </p:cNvSpPr>
          <p:nvPr/>
        </p:nvSpPr>
        <p:spPr bwMode="auto">
          <a:xfrm>
            <a:off x="7772400" y="3048000"/>
            <a:ext cx="457200" cy="3048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0967" name="Line 5"/>
          <p:cNvSpPr>
            <a:spLocks noChangeShapeType="1"/>
          </p:cNvSpPr>
          <p:nvPr/>
        </p:nvSpPr>
        <p:spPr bwMode="auto">
          <a:xfrm>
            <a:off x="6096000" y="3048000"/>
            <a:ext cx="457200" cy="3048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0968" name="Line 6"/>
          <p:cNvSpPr>
            <a:spLocks noChangeShapeType="1"/>
          </p:cNvSpPr>
          <p:nvPr/>
        </p:nvSpPr>
        <p:spPr bwMode="auto">
          <a:xfrm flipH="1">
            <a:off x="7162800" y="3048000"/>
            <a:ext cx="457200" cy="3048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0969" name="Line 7"/>
          <p:cNvSpPr>
            <a:spLocks noChangeShapeType="1"/>
          </p:cNvSpPr>
          <p:nvPr/>
        </p:nvSpPr>
        <p:spPr bwMode="auto">
          <a:xfrm flipH="1">
            <a:off x="5486400" y="3048000"/>
            <a:ext cx="457200" cy="3048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0970" name="Line 8"/>
          <p:cNvSpPr>
            <a:spLocks noChangeShapeType="1"/>
          </p:cNvSpPr>
          <p:nvPr/>
        </p:nvSpPr>
        <p:spPr bwMode="auto">
          <a:xfrm flipH="1">
            <a:off x="6019800" y="2438400"/>
            <a:ext cx="762000" cy="5334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0971" name="Line 9"/>
          <p:cNvSpPr>
            <a:spLocks noChangeShapeType="1"/>
          </p:cNvSpPr>
          <p:nvPr/>
        </p:nvSpPr>
        <p:spPr bwMode="auto">
          <a:xfrm>
            <a:off x="2133600" y="3429000"/>
            <a:ext cx="3810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0972" name="Line 10"/>
          <p:cNvSpPr>
            <a:spLocks noChangeShapeType="1"/>
          </p:cNvSpPr>
          <p:nvPr/>
        </p:nvSpPr>
        <p:spPr bwMode="auto">
          <a:xfrm flipH="1">
            <a:off x="1905000" y="3429000"/>
            <a:ext cx="152400" cy="5334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0973" name="Line 11"/>
          <p:cNvSpPr>
            <a:spLocks noChangeShapeType="1"/>
          </p:cNvSpPr>
          <p:nvPr/>
        </p:nvSpPr>
        <p:spPr bwMode="auto">
          <a:xfrm flipH="1">
            <a:off x="1066800" y="2514600"/>
            <a:ext cx="914400" cy="990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0974" name="Rectangle 12"/>
          <p:cNvSpPr>
            <a:spLocks noChangeArrowheads="1"/>
          </p:cNvSpPr>
          <p:nvPr/>
        </p:nvSpPr>
        <p:spPr bwMode="auto">
          <a:xfrm>
            <a:off x="1066800" y="32004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0975" name="Line 13"/>
          <p:cNvSpPr>
            <a:spLocks noChangeShapeType="1"/>
          </p:cNvSpPr>
          <p:nvPr/>
        </p:nvSpPr>
        <p:spPr bwMode="auto">
          <a:xfrm>
            <a:off x="2209800" y="2362200"/>
            <a:ext cx="304800" cy="4572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0976" name="Oval 14"/>
          <p:cNvSpPr>
            <a:spLocks noChangeArrowheads="1"/>
          </p:cNvSpPr>
          <p:nvPr/>
        </p:nvSpPr>
        <p:spPr bwMode="auto">
          <a:xfrm>
            <a:off x="1828800" y="2209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0977" name="Oval 15"/>
          <p:cNvSpPr>
            <a:spLocks noChangeArrowheads="1"/>
          </p:cNvSpPr>
          <p:nvPr/>
        </p:nvSpPr>
        <p:spPr bwMode="auto">
          <a:xfrm>
            <a:off x="1524000" y="2667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0978" name="Text Box 16"/>
          <p:cNvSpPr txBox="1">
            <a:spLocks noChangeArrowheads="1"/>
          </p:cNvSpPr>
          <p:nvPr/>
        </p:nvSpPr>
        <p:spPr bwMode="auto">
          <a:xfrm>
            <a:off x="1905000" y="1981200"/>
            <a:ext cx="3810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+1</a:t>
            </a:r>
            <a:endParaRPr kumimoji="1" lang="en-US" altLang="zh-CN" sz="2000" b="1" dirty="0">
              <a:latin typeface="Times New Roman" panose="02020603050405020304" pitchFamily="18" charset="0"/>
              <a:ea typeface="华文楷体" panose="02010600040101010101" pitchFamily="2" charset="-122"/>
            </a:endParaRPr>
          </a:p>
        </p:txBody>
      </p:sp>
      <p:sp>
        <p:nvSpPr>
          <p:cNvPr id="40979" name="Text Box 17"/>
          <p:cNvSpPr txBox="1">
            <a:spLocks noChangeArrowheads="1"/>
          </p:cNvSpPr>
          <p:nvPr/>
        </p:nvSpPr>
        <p:spPr bwMode="auto">
          <a:xfrm>
            <a:off x="457200" y="3352800"/>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h-1</a:t>
            </a:r>
            <a:endParaRPr kumimoji="1" lang="en-US" altLang="zh-CN" sz="2000" b="1" dirty="0">
              <a:latin typeface="Times New Roman" panose="02020603050405020304" pitchFamily="18" charset="0"/>
              <a:ea typeface="华文楷体" panose="02010600040101010101" pitchFamily="2" charset="-122"/>
            </a:endParaRPr>
          </a:p>
        </p:txBody>
      </p:sp>
      <p:sp>
        <p:nvSpPr>
          <p:cNvPr id="40980" name="Text Box 18"/>
          <p:cNvSpPr txBox="1">
            <a:spLocks noChangeArrowheads="1"/>
          </p:cNvSpPr>
          <p:nvPr/>
        </p:nvSpPr>
        <p:spPr bwMode="auto">
          <a:xfrm>
            <a:off x="1600200" y="2438400"/>
            <a:ext cx="3810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0</a:t>
            </a:r>
            <a:endParaRPr kumimoji="1" lang="en-US" altLang="zh-CN" sz="1200" b="1" dirty="0">
              <a:latin typeface="Times New Roman" panose="02020603050405020304" pitchFamily="18" charset="0"/>
              <a:ea typeface="华文楷体" panose="02010600040101010101" pitchFamily="2" charset="-122"/>
            </a:endParaRPr>
          </a:p>
        </p:txBody>
      </p:sp>
      <p:sp>
        <p:nvSpPr>
          <p:cNvPr id="40981" name="Line 19"/>
          <p:cNvSpPr>
            <a:spLocks noChangeShapeType="1"/>
          </p:cNvSpPr>
          <p:nvPr/>
        </p:nvSpPr>
        <p:spPr bwMode="auto">
          <a:xfrm>
            <a:off x="1905000" y="2971800"/>
            <a:ext cx="228600" cy="5334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0982" name="Text Box 20"/>
          <p:cNvSpPr txBox="1">
            <a:spLocks noChangeArrowheads="1"/>
          </p:cNvSpPr>
          <p:nvPr/>
        </p:nvSpPr>
        <p:spPr bwMode="auto">
          <a:xfrm>
            <a:off x="990600" y="2011363"/>
            <a:ext cx="3810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+2</a:t>
            </a:r>
            <a:endParaRPr kumimoji="1" lang="en-US" altLang="zh-CN" sz="2000" b="1" dirty="0">
              <a:solidFill>
                <a:srgbClr val="C00000"/>
              </a:solidFill>
              <a:latin typeface="Times New Roman" panose="02020603050405020304" pitchFamily="18" charset="0"/>
              <a:ea typeface="华文楷体" panose="02010600040101010101" pitchFamily="2" charset="-122"/>
            </a:endParaRPr>
          </a:p>
        </p:txBody>
      </p:sp>
      <p:sp>
        <p:nvSpPr>
          <p:cNvPr id="40983" name="Text Box 21"/>
          <p:cNvSpPr txBox="1">
            <a:spLocks noChangeArrowheads="1"/>
          </p:cNvSpPr>
          <p:nvPr/>
        </p:nvSpPr>
        <p:spPr bwMode="auto">
          <a:xfrm>
            <a:off x="838200" y="2468563"/>
            <a:ext cx="3810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-1</a:t>
            </a:r>
            <a:endParaRPr kumimoji="1" lang="en-US" altLang="zh-CN" sz="2000" b="1" dirty="0">
              <a:solidFill>
                <a:srgbClr val="C00000"/>
              </a:solidFill>
              <a:latin typeface="Times New Roman" panose="02020603050405020304" pitchFamily="18" charset="0"/>
              <a:ea typeface="华文楷体" panose="02010600040101010101" pitchFamily="2" charset="-122"/>
            </a:endParaRPr>
          </a:p>
        </p:txBody>
      </p:sp>
      <p:sp>
        <p:nvSpPr>
          <p:cNvPr id="40984" name="AutoShape 22"/>
          <p:cNvSpPr/>
          <p:nvPr/>
        </p:nvSpPr>
        <p:spPr bwMode="auto">
          <a:xfrm>
            <a:off x="838200" y="3200400"/>
            <a:ext cx="76200" cy="609600"/>
          </a:xfrm>
          <a:prstGeom prst="leftBrace">
            <a:avLst>
              <a:gd name="adj1" fmla="val 66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0985" name="Rectangle 23"/>
          <p:cNvSpPr>
            <a:spLocks noChangeArrowheads="1"/>
          </p:cNvSpPr>
          <p:nvPr/>
        </p:nvSpPr>
        <p:spPr bwMode="auto">
          <a:xfrm>
            <a:off x="2362200" y="27432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0986" name="AutoShape 24"/>
          <p:cNvSpPr/>
          <p:nvPr/>
        </p:nvSpPr>
        <p:spPr bwMode="auto">
          <a:xfrm>
            <a:off x="2819400" y="2743200"/>
            <a:ext cx="76200" cy="609600"/>
          </a:xfrm>
          <a:prstGeom prst="rightBrace">
            <a:avLst>
              <a:gd name="adj1" fmla="val 66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0987" name="Text Box 25"/>
          <p:cNvSpPr txBox="1">
            <a:spLocks noChangeArrowheads="1"/>
          </p:cNvSpPr>
          <p:nvPr/>
        </p:nvSpPr>
        <p:spPr bwMode="auto">
          <a:xfrm>
            <a:off x="2895600" y="2895600"/>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h-1</a:t>
            </a:r>
            <a:endParaRPr kumimoji="1" lang="en-US" altLang="zh-CN" sz="2000" b="1" dirty="0">
              <a:latin typeface="Times New Roman" panose="02020603050405020304" pitchFamily="18" charset="0"/>
              <a:ea typeface="华文楷体" panose="02010600040101010101" pitchFamily="2" charset="-122"/>
            </a:endParaRPr>
          </a:p>
        </p:txBody>
      </p:sp>
      <p:sp>
        <p:nvSpPr>
          <p:cNvPr id="40988" name="AutoShape 26"/>
          <p:cNvSpPr>
            <a:spLocks noChangeArrowheads="1"/>
          </p:cNvSpPr>
          <p:nvPr/>
        </p:nvSpPr>
        <p:spPr bwMode="auto">
          <a:xfrm>
            <a:off x="1143000" y="2590800"/>
            <a:ext cx="533400" cy="76200"/>
          </a:xfrm>
          <a:prstGeom prst="leftArrow">
            <a:avLst>
              <a:gd name="adj1" fmla="val 50000"/>
              <a:gd name="adj2" fmla="val 1750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solidFill>
                <a:schemeClr val="folHlink"/>
              </a:solidFill>
              <a:latin typeface="Times New Roman" panose="02020603050405020304" pitchFamily="18" charset="0"/>
              <a:ea typeface="华文楷体" panose="02010600040101010101" pitchFamily="2" charset="-122"/>
            </a:endParaRPr>
          </a:p>
        </p:txBody>
      </p:sp>
      <p:sp>
        <p:nvSpPr>
          <p:cNvPr id="40989" name="AutoShape 27"/>
          <p:cNvSpPr>
            <a:spLocks noChangeArrowheads="1"/>
          </p:cNvSpPr>
          <p:nvPr/>
        </p:nvSpPr>
        <p:spPr bwMode="auto">
          <a:xfrm>
            <a:off x="1371600" y="2133600"/>
            <a:ext cx="533400" cy="76200"/>
          </a:xfrm>
          <a:prstGeom prst="leftArrow">
            <a:avLst>
              <a:gd name="adj1" fmla="val 50000"/>
              <a:gd name="adj2" fmla="val 1750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solidFill>
                <a:schemeClr val="folHlink"/>
              </a:solidFill>
              <a:latin typeface="Times New Roman" panose="02020603050405020304" pitchFamily="18" charset="0"/>
              <a:ea typeface="华文楷体" panose="02010600040101010101" pitchFamily="2" charset="-122"/>
            </a:endParaRPr>
          </a:p>
        </p:txBody>
      </p:sp>
      <p:sp>
        <p:nvSpPr>
          <p:cNvPr id="40990" name="AutoShape 28"/>
          <p:cNvSpPr>
            <a:spLocks noChangeArrowheads="1"/>
          </p:cNvSpPr>
          <p:nvPr/>
        </p:nvSpPr>
        <p:spPr bwMode="auto">
          <a:xfrm>
            <a:off x="3352800" y="3048000"/>
            <a:ext cx="1676400" cy="381000"/>
          </a:xfrm>
          <a:prstGeom prst="rightArrow">
            <a:avLst>
              <a:gd name="adj1" fmla="val 50000"/>
              <a:gd name="adj2" fmla="val 110000"/>
            </a:avLst>
          </a:prstGeom>
          <a:solidFill>
            <a:schemeClr val="accent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0991" name="Text Box 29"/>
          <p:cNvSpPr txBox="1">
            <a:spLocks noChangeArrowheads="1"/>
          </p:cNvSpPr>
          <p:nvPr/>
        </p:nvSpPr>
        <p:spPr bwMode="auto">
          <a:xfrm>
            <a:off x="3352800" y="2743200"/>
            <a:ext cx="15240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2000" b="1" dirty="0">
                <a:latin typeface="Times New Roman" panose="02020603050405020304" pitchFamily="18" charset="0"/>
                <a:ea typeface="华文楷体" panose="02010600040101010101" pitchFamily="2" charset="-122"/>
              </a:rPr>
              <a:t>LR </a:t>
            </a:r>
            <a:r>
              <a:rPr kumimoji="1" lang="zh-CN" altLang="en-US" sz="2000" b="1" dirty="0">
                <a:latin typeface="Times New Roman" panose="02020603050405020304" pitchFamily="18" charset="0"/>
                <a:ea typeface="华文楷体" panose="02010600040101010101" pitchFamily="2" charset="-122"/>
              </a:rPr>
              <a:t>型调整</a:t>
            </a:r>
            <a:endParaRPr kumimoji="1" lang="zh-CN" altLang="en-US" sz="2000" b="1" dirty="0">
              <a:latin typeface="Times New Roman" panose="02020603050405020304" pitchFamily="18" charset="0"/>
              <a:ea typeface="华文楷体" panose="02010600040101010101" pitchFamily="2" charset="-122"/>
            </a:endParaRPr>
          </a:p>
        </p:txBody>
      </p:sp>
      <p:sp>
        <p:nvSpPr>
          <p:cNvPr id="40992" name="Text Box 30"/>
          <p:cNvSpPr txBox="1">
            <a:spLocks noChangeArrowheads="1"/>
          </p:cNvSpPr>
          <p:nvPr/>
        </p:nvSpPr>
        <p:spPr bwMode="auto">
          <a:xfrm>
            <a:off x="1066800" y="33528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B</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40993" name="Text Box 31"/>
          <p:cNvSpPr txBox="1">
            <a:spLocks noChangeArrowheads="1"/>
          </p:cNvSpPr>
          <p:nvPr/>
        </p:nvSpPr>
        <p:spPr bwMode="auto">
          <a:xfrm>
            <a:off x="2362200" y="28956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A</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40994" name="AutoShape 32"/>
          <p:cNvSpPr>
            <a:spLocks noChangeArrowheads="1"/>
          </p:cNvSpPr>
          <p:nvPr/>
        </p:nvSpPr>
        <p:spPr bwMode="auto">
          <a:xfrm rot="-1818482">
            <a:off x="2209800" y="2133600"/>
            <a:ext cx="533400" cy="76200"/>
          </a:xfrm>
          <a:prstGeom prst="leftArrow">
            <a:avLst>
              <a:gd name="adj1" fmla="val 50000"/>
              <a:gd name="adj2" fmla="val 1750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solidFill>
                <a:schemeClr val="folHlink"/>
              </a:solidFill>
              <a:latin typeface="Times New Roman" panose="02020603050405020304" pitchFamily="18" charset="0"/>
              <a:ea typeface="华文楷体" panose="02010600040101010101" pitchFamily="2" charset="-122"/>
            </a:endParaRPr>
          </a:p>
        </p:txBody>
      </p:sp>
      <p:sp>
        <p:nvSpPr>
          <p:cNvPr id="40995" name="Text Box 33"/>
          <p:cNvSpPr txBox="1">
            <a:spLocks noChangeArrowheads="1"/>
          </p:cNvSpPr>
          <p:nvPr/>
        </p:nvSpPr>
        <p:spPr bwMode="auto">
          <a:xfrm>
            <a:off x="2667000" y="1905000"/>
            <a:ext cx="1219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危机结点</a:t>
            </a:r>
            <a:endParaRPr kumimoji="1" lang="zh-CN" altLang="en-US" sz="1400" b="1" dirty="0">
              <a:latin typeface="Times New Roman" panose="02020603050405020304" pitchFamily="18" charset="0"/>
              <a:ea typeface="华文楷体" panose="02010600040101010101" pitchFamily="2" charset="-122"/>
            </a:endParaRPr>
          </a:p>
        </p:txBody>
      </p:sp>
      <p:sp>
        <p:nvSpPr>
          <p:cNvPr id="40996" name="Text Box 34"/>
          <p:cNvSpPr txBox="1">
            <a:spLocks noChangeArrowheads="1"/>
          </p:cNvSpPr>
          <p:nvPr/>
        </p:nvSpPr>
        <p:spPr bwMode="auto">
          <a:xfrm>
            <a:off x="-76200" y="4986066"/>
            <a:ext cx="2895600" cy="630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调整前</a:t>
            </a:r>
            <a:r>
              <a:rPr kumimoji="1" lang="zh-CN" altLang="en-US" sz="1400" b="1" dirty="0" smtClean="0">
                <a:latin typeface="Times New Roman" panose="02020603050405020304" pitchFamily="18" charset="0"/>
                <a:ea typeface="华文楷体" panose="02010600040101010101" pitchFamily="2" charset="-122"/>
              </a:rPr>
              <a:t>：高度</a:t>
            </a:r>
            <a:r>
              <a:rPr kumimoji="1" lang="zh-CN" altLang="en-US" sz="1400" b="1" dirty="0">
                <a:latin typeface="Times New Roman" panose="02020603050405020304" pitchFamily="18" charset="0"/>
                <a:ea typeface="华文楷体" panose="02010600040101010101" pitchFamily="2" charset="-122"/>
              </a:rPr>
              <a:t>为 </a:t>
            </a:r>
            <a:r>
              <a:rPr kumimoji="1" lang="en-US" altLang="zh-CN" sz="1400" b="1" dirty="0">
                <a:latin typeface="Times New Roman" panose="02020603050405020304" pitchFamily="18" charset="0"/>
                <a:ea typeface="华文楷体" panose="02010600040101010101" pitchFamily="2" charset="-122"/>
              </a:rPr>
              <a:t>h + </a:t>
            </a:r>
            <a:r>
              <a:rPr kumimoji="1" lang="en-US" altLang="zh-CN" sz="1400" b="1" dirty="0" smtClean="0">
                <a:latin typeface="Times New Roman" panose="02020603050405020304" pitchFamily="18" charset="0"/>
                <a:ea typeface="华文楷体" panose="02010600040101010101" pitchFamily="2" charset="-122"/>
              </a:rPr>
              <a:t>1</a:t>
            </a:r>
            <a:endParaRPr kumimoji="1" lang="en-US" altLang="zh-CN" sz="1400" b="1" dirty="0" smtClean="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zh-CN" sz="1400" b="1" dirty="0" smtClean="0">
                <a:latin typeface="Times New Roman" panose="02020603050405020304" pitchFamily="18" charset="0"/>
                <a:ea typeface="华文楷体" panose="02010600040101010101" pitchFamily="2" charset="-122"/>
              </a:rPr>
              <a:t>中</a:t>
            </a:r>
            <a:r>
              <a:rPr kumimoji="1" lang="zh-CN" altLang="zh-CN" sz="1400" b="1" dirty="0">
                <a:latin typeface="Times New Roman" panose="02020603050405020304" pitchFamily="18" charset="0"/>
                <a:ea typeface="华文楷体" panose="02010600040101010101" pitchFamily="2" charset="-122"/>
              </a:rPr>
              <a:t>序序列：</a:t>
            </a:r>
            <a:endParaRPr kumimoji="1" lang="zh-CN" altLang="en-US" sz="1400" b="1" dirty="0">
              <a:latin typeface="Times New Roman" panose="02020603050405020304" pitchFamily="18" charset="0"/>
              <a:ea typeface="华文楷体" panose="02010600040101010101" pitchFamily="2" charset="-122"/>
            </a:endParaRPr>
          </a:p>
        </p:txBody>
      </p:sp>
      <p:sp>
        <p:nvSpPr>
          <p:cNvPr id="40997" name="Text Box 35"/>
          <p:cNvSpPr txBox="1">
            <a:spLocks noChangeArrowheads="1"/>
          </p:cNvSpPr>
          <p:nvPr/>
        </p:nvSpPr>
        <p:spPr bwMode="auto">
          <a:xfrm>
            <a:off x="4419600" y="5943600"/>
            <a:ext cx="44196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zh-CN" sz="1400" b="1" dirty="0">
                <a:latin typeface="Times New Roman" panose="02020603050405020304" pitchFamily="18" charset="0"/>
                <a:ea typeface="华文楷体" panose="02010600040101010101" pitchFamily="2" charset="-122"/>
              </a:rPr>
              <a:t>注意：改组后                                   平衡度为 +1,0,0</a:t>
            </a:r>
            <a:endParaRPr kumimoji="1" lang="en-US" altLang="zh-CN" sz="1400" b="1" dirty="0">
              <a:latin typeface="Times New Roman" panose="02020603050405020304" pitchFamily="18" charset="0"/>
              <a:ea typeface="华文楷体" panose="02010600040101010101" pitchFamily="2" charset="-122"/>
            </a:endParaRPr>
          </a:p>
        </p:txBody>
      </p:sp>
      <p:sp>
        <p:nvSpPr>
          <p:cNvPr id="40998" name="Oval 36"/>
          <p:cNvSpPr>
            <a:spLocks noChangeArrowheads="1"/>
          </p:cNvSpPr>
          <p:nvPr/>
        </p:nvSpPr>
        <p:spPr bwMode="auto">
          <a:xfrm>
            <a:off x="6248400" y="5943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40999" name="Oval 37"/>
          <p:cNvSpPr>
            <a:spLocks noChangeArrowheads="1"/>
          </p:cNvSpPr>
          <p:nvPr/>
        </p:nvSpPr>
        <p:spPr bwMode="auto">
          <a:xfrm>
            <a:off x="5715000" y="5943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1000" name="Oval 38"/>
          <p:cNvSpPr>
            <a:spLocks noChangeArrowheads="1"/>
          </p:cNvSpPr>
          <p:nvPr/>
        </p:nvSpPr>
        <p:spPr bwMode="auto">
          <a:xfrm>
            <a:off x="1828800" y="3200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grpSp>
        <p:nvGrpSpPr>
          <p:cNvPr id="41001" name="Group 39"/>
          <p:cNvGrpSpPr/>
          <p:nvPr/>
        </p:nvGrpSpPr>
        <p:grpSpPr bwMode="auto">
          <a:xfrm>
            <a:off x="2286000" y="3886200"/>
            <a:ext cx="381000" cy="609600"/>
            <a:chOff x="2448" y="3072"/>
            <a:chExt cx="240" cy="528"/>
          </a:xfrm>
        </p:grpSpPr>
        <p:sp>
          <p:nvSpPr>
            <p:cNvPr id="41076" name="Rectangle 40"/>
            <p:cNvSpPr>
              <a:spLocks noChangeArrowheads="1"/>
            </p:cNvSpPr>
            <p:nvPr/>
          </p:nvSpPr>
          <p:spPr bwMode="auto">
            <a:xfrm>
              <a:off x="2448" y="3072"/>
              <a:ext cx="240" cy="528"/>
            </a:xfrm>
            <a:prstGeom prst="rect">
              <a:avLst/>
            </a:prstGeom>
            <a:solidFill>
              <a:schemeClr val="accent1"/>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77" name="Line 41"/>
            <p:cNvSpPr>
              <a:spLocks noChangeShapeType="1"/>
            </p:cNvSpPr>
            <p:nvPr/>
          </p:nvSpPr>
          <p:spPr bwMode="auto">
            <a:xfrm>
              <a:off x="2448" y="3456"/>
              <a:ext cx="2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078" name="Line 42"/>
            <p:cNvSpPr>
              <a:spLocks noChangeShapeType="1"/>
            </p:cNvSpPr>
            <p:nvPr/>
          </p:nvSpPr>
          <p:spPr bwMode="auto">
            <a:xfrm flipH="1">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079" name="Line 43"/>
            <p:cNvSpPr>
              <a:spLocks noChangeShapeType="1"/>
            </p:cNvSpPr>
            <p:nvPr/>
          </p:nvSpPr>
          <p:spPr bwMode="auto">
            <a:xfrm>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sp>
        <p:nvSpPr>
          <p:cNvPr id="41002" name="Rectangle 44"/>
          <p:cNvSpPr>
            <a:spLocks noChangeArrowheads="1"/>
          </p:cNvSpPr>
          <p:nvPr/>
        </p:nvSpPr>
        <p:spPr bwMode="auto">
          <a:xfrm>
            <a:off x="1676400" y="3886200"/>
            <a:ext cx="381000" cy="4572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03" name="Text Box 45"/>
          <p:cNvSpPr txBox="1">
            <a:spLocks noChangeArrowheads="1"/>
          </p:cNvSpPr>
          <p:nvPr/>
        </p:nvSpPr>
        <p:spPr bwMode="auto">
          <a:xfrm>
            <a:off x="2286000" y="40386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C</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41004" name="Text Box 46"/>
          <p:cNvSpPr txBox="1">
            <a:spLocks noChangeArrowheads="1"/>
          </p:cNvSpPr>
          <p:nvPr/>
        </p:nvSpPr>
        <p:spPr bwMode="auto">
          <a:xfrm>
            <a:off x="1676400" y="40386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C</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41005" name="AutoShape 47"/>
          <p:cNvSpPr/>
          <p:nvPr/>
        </p:nvSpPr>
        <p:spPr bwMode="auto">
          <a:xfrm>
            <a:off x="2743200" y="3886200"/>
            <a:ext cx="76200" cy="457200"/>
          </a:xfrm>
          <a:prstGeom prst="rightBrace">
            <a:avLst>
              <a:gd name="adj1" fmla="val 50000"/>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06" name="Text Box 48"/>
          <p:cNvSpPr txBox="1">
            <a:spLocks noChangeArrowheads="1"/>
          </p:cNvSpPr>
          <p:nvPr/>
        </p:nvSpPr>
        <p:spPr bwMode="auto">
          <a:xfrm>
            <a:off x="3200400" y="4038600"/>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h-1</a:t>
            </a:r>
            <a:endParaRPr kumimoji="1" lang="en-US" altLang="zh-CN" sz="2000" b="1" dirty="0">
              <a:solidFill>
                <a:srgbClr val="C00000"/>
              </a:solidFill>
              <a:latin typeface="Times New Roman" panose="02020603050405020304" pitchFamily="18" charset="0"/>
              <a:ea typeface="华文楷体" panose="02010600040101010101" pitchFamily="2" charset="-122"/>
            </a:endParaRPr>
          </a:p>
        </p:txBody>
      </p:sp>
      <p:sp>
        <p:nvSpPr>
          <p:cNvPr id="41007" name="Text Box 49"/>
          <p:cNvSpPr txBox="1">
            <a:spLocks noChangeArrowheads="1"/>
          </p:cNvSpPr>
          <p:nvPr/>
        </p:nvSpPr>
        <p:spPr bwMode="auto">
          <a:xfrm>
            <a:off x="2743200" y="3962400"/>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h-2</a:t>
            </a:r>
            <a:endParaRPr kumimoji="1" lang="en-US" altLang="zh-CN" sz="2000" b="1" dirty="0">
              <a:latin typeface="Times New Roman" panose="02020603050405020304" pitchFamily="18" charset="0"/>
              <a:ea typeface="华文楷体" panose="02010600040101010101" pitchFamily="2" charset="-122"/>
            </a:endParaRPr>
          </a:p>
        </p:txBody>
      </p:sp>
      <p:sp>
        <p:nvSpPr>
          <p:cNvPr id="41008" name="AutoShape 50"/>
          <p:cNvSpPr/>
          <p:nvPr/>
        </p:nvSpPr>
        <p:spPr bwMode="auto">
          <a:xfrm>
            <a:off x="1524000" y="3886200"/>
            <a:ext cx="76200" cy="457200"/>
          </a:xfrm>
          <a:prstGeom prst="leftBrace">
            <a:avLst>
              <a:gd name="adj1" fmla="val 50000"/>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09" name="AutoShape 51"/>
          <p:cNvSpPr/>
          <p:nvPr/>
        </p:nvSpPr>
        <p:spPr bwMode="auto">
          <a:xfrm flipH="1">
            <a:off x="3048000" y="3886200"/>
            <a:ext cx="152400" cy="609600"/>
          </a:xfrm>
          <a:prstGeom prst="leftBrace">
            <a:avLst>
              <a:gd name="adj1" fmla="val 33333"/>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10" name="Text Box 52"/>
          <p:cNvSpPr txBox="1">
            <a:spLocks noChangeArrowheads="1"/>
          </p:cNvSpPr>
          <p:nvPr/>
        </p:nvSpPr>
        <p:spPr bwMode="auto">
          <a:xfrm>
            <a:off x="1143000" y="3962400"/>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h-2</a:t>
            </a:r>
            <a:endParaRPr kumimoji="1" lang="en-US" altLang="zh-CN" sz="2000" b="1" dirty="0">
              <a:latin typeface="Times New Roman" panose="02020603050405020304" pitchFamily="18" charset="0"/>
              <a:ea typeface="华文楷体" panose="02010600040101010101" pitchFamily="2" charset="-122"/>
            </a:endParaRPr>
          </a:p>
        </p:txBody>
      </p:sp>
      <p:sp>
        <p:nvSpPr>
          <p:cNvPr id="41011" name="AutoShape 53"/>
          <p:cNvSpPr>
            <a:spLocks noChangeArrowheads="1"/>
          </p:cNvSpPr>
          <p:nvPr/>
        </p:nvSpPr>
        <p:spPr bwMode="auto">
          <a:xfrm flipH="1">
            <a:off x="2803494" y="4198938"/>
            <a:ext cx="304800" cy="76200"/>
          </a:xfrm>
          <a:prstGeom prst="leftArrow">
            <a:avLst>
              <a:gd name="adj1" fmla="val 50000"/>
              <a:gd name="adj2" fmla="val 1000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solidFill>
                <a:schemeClr val="folHlink"/>
              </a:solidFill>
              <a:latin typeface="Times New Roman" panose="02020603050405020304" pitchFamily="18" charset="0"/>
              <a:ea typeface="华文楷体" panose="02010600040101010101" pitchFamily="2" charset="-122"/>
            </a:endParaRPr>
          </a:p>
        </p:txBody>
      </p:sp>
      <p:sp>
        <p:nvSpPr>
          <p:cNvPr id="41012" name="Text Box 54"/>
          <p:cNvSpPr txBox="1">
            <a:spLocks noChangeArrowheads="1"/>
          </p:cNvSpPr>
          <p:nvPr/>
        </p:nvSpPr>
        <p:spPr bwMode="auto">
          <a:xfrm>
            <a:off x="1981200" y="2971800"/>
            <a:ext cx="3810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0</a:t>
            </a:r>
            <a:endParaRPr kumimoji="1" lang="en-US" altLang="zh-CN" sz="1200" b="1" dirty="0">
              <a:latin typeface="Times New Roman" panose="02020603050405020304" pitchFamily="18" charset="0"/>
              <a:ea typeface="华文楷体" panose="02010600040101010101" pitchFamily="2" charset="-122"/>
            </a:endParaRPr>
          </a:p>
        </p:txBody>
      </p:sp>
      <p:sp>
        <p:nvSpPr>
          <p:cNvPr id="41013" name="AutoShape 55"/>
          <p:cNvSpPr>
            <a:spLocks noChangeArrowheads="1"/>
          </p:cNvSpPr>
          <p:nvPr/>
        </p:nvSpPr>
        <p:spPr bwMode="auto">
          <a:xfrm>
            <a:off x="1752600" y="3124200"/>
            <a:ext cx="304800" cy="76200"/>
          </a:xfrm>
          <a:prstGeom prst="leftArrow">
            <a:avLst>
              <a:gd name="adj1" fmla="val 50000"/>
              <a:gd name="adj2" fmla="val 1000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solidFill>
                <a:schemeClr val="folHlink"/>
              </a:solidFill>
              <a:latin typeface="Times New Roman" panose="02020603050405020304" pitchFamily="18" charset="0"/>
              <a:ea typeface="华文楷体" panose="02010600040101010101" pitchFamily="2" charset="-122"/>
            </a:endParaRPr>
          </a:p>
        </p:txBody>
      </p:sp>
      <p:sp>
        <p:nvSpPr>
          <p:cNvPr id="41014" name="Text Box 56"/>
          <p:cNvSpPr txBox="1">
            <a:spLocks noChangeArrowheads="1"/>
          </p:cNvSpPr>
          <p:nvPr/>
        </p:nvSpPr>
        <p:spPr bwMode="auto">
          <a:xfrm>
            <a:off x="1447800" y="3001963"/>
            <a:ext cx="3810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-1</a:t>
            </a:r>
            <a:endParaRPr kumimoji="1" lang="en-US" altLang="zh-CN" sz="2000" b="1" dirty="0">
              <a:solidFill>
                <a:srgbClr val="C00000"/>
              </a:solidFill>
              <a:latin typeface="Times New Roman" panose="02020603050405020304" pitchFamily="18" charset="0"/>
              <a:ea typeface="华文楷体" panose="02010600040101010101" pitchFamily="2" charset="-122"/>
            </a:endParaRPr>
          </a:p>
        </p:txBody>
      </p:sp>
      <p:sp>
        <p:nvSpPr>
          <p:cNvPr id="41015" name="Rectangle 57"/>
          <p:cNvSpPr>
            <a:spLocks noChangeArrowheads="1"/>
          </p:cNvSpPr>
          <p:nvPr/>
        </p:nvSpPr>
        <p:spPr bwMode="auto">
          <a:xfrm>
            <a:off x="5334000" y="32766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16" name="Line 58"/>
          <p:cNvSpPr>
            <a:spLocks noChangeShapeType="1"/>
          </p:cNvSpPr>
          <p:nvPr/>
        </p:nvSpPr>
        <p:spPr bwMode="auto">
          <a:xfrm>
            <a:off x="6858000" y="2514600"/>
            <a:ext cx="838200" cy="3810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017" name="Oval 59"/>
          <p:cNvSpPr>
            <a:spLocks noChangeArrowheads="1"/>
          </p:cNvSpPr>
          <p:nvPr/>
        </p:nvSpPr>
        <p:spPr bwMode="auto">
          <a:xfrm>
            <a:off x="6553200" y="2286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41018" name="Oval 60"/>
          <p:cNvSpPr>
            <a:spLocks noChangeArrowheads="1"/>
          </p:cNvSpPr>
          <p:nvPr/>
        </p:nvSpPr>
        <p:spPr bwMode="auto">
          <a:xfrm>
            <a:off x="5791200" y="28194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1019" name="Text Box 61"/>
          <p:cNvSpPr txBox="1">
            <a:spLocks noChangeArrowheads="1"/>
          </p:cNvSpPr>
          <p:nvPr/>
        </p:nvSpPr>
        <p:spPr bwMode="auto">
          <a:xfrm>
            <a:off x="6629400" y="2057400"/>
            <a:ext cx="3810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0</a:t>
            </a:r>
            <a:endParaRPr kumimoji="1" lang="en-US" altLang="zh-CN" sz="2000" b="1" dirty="0">
              <a:latin typeface="Times New Roman" panose="02020603050405020304" pitchFamily="18" charset="0"/>
              <a:ea typeface="华文楷体" panose="02010600040101010101" pitchFamily="2" charset="-122"/>
            </a:endParaRPr>
          </a:p>
        </p:txBody>
      </p:sp>
      <p:sp>
        <p:nvSpPr>
          <p:cNvPr id="41020" name="Text Box 62"/>
          <p:cNvSpPr txBox="1">
            <a:spLocks noChangeArrowheads="1"/>
          </p:cNvSpPr>
          <p:nvPr/>
        </p:nvSpPr>
        <p:spPr bwMode="auto">
          <a:xfrm>
            <a:off x="4800600" y="3429000"/>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h-1</a:t>
            </a:r>
            <a:endParaRPr kumimoji="1" lang="en-US" altLang="zh-CN" sz="2000" b="1" dirty="0">
              <a:latin typeface="Times New Roman" panose="02020603050405020304" pitchFamily="18" charset="0"/>
              <a:ea typeface="华文楷体" panose="02010600040101010101" pitchFamily="2" charset="-122"/>
            </a:endParaRPr>
          </a:p>
        </p:txBody>
      </p:sp>
      <p:sp>
        <p:nvSpPr>
          <p:cNvPr id="41021" name="AutoShape 63"/>
          <p:cNvSpPr/>
          <p:nvPr/>
        </p:nvSpPr>
        <p:spPr bwMode="auto">
          <a:xfrm>
            <a:off x="5181600" y="3276600"/>
            <a:ext cx="76200" cy="609600"/>
          </a:xfrm>
          <a:prstGeom prst="leftBrace">
            <a:avLst>
              <a:gd name="adj1" fmla="val 66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22" name="Rectangle 64"/>
          <p:cNvSpPr>
            <a:spLocks noChangeArrowheads="1"/>
          </p:cNvSpPr>
          <p:nvPr/>
        </p:nvSpPr>
        <p:spPr bwMode="auto">
          <a:xfrm>
            <a:off x="8001000" y="32766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23" name="AutoShape 65"/>
          <p:cNvSpPr/>
          <p:nvPr/>
        </p:nvSpPr>
        <p:spPr bwMode="auto">
          <a:xfrm>
            <a:off x="8458200" y="3276600"/>
            <a:ext cx="76200" cy="609600"/>
          </a:xfrm>
          <a:prstGeom prst="rightBrace">
            <a:avLst>
              <a:gd name="adj1" fmla="val 66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24" name="Text Box 66"/>
          <p:cNvSpPr txBox="1">
            <a:spLocks noChangeArrowheads="1"/>
          </p:cNvSpPr>
          <p:nvPr/>
        </p:nvSpPr>
        <p:spPr bwMode="auto">
          <a:xfrm>
            <a:off x="5334000" y="34290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B</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41025" name="Text Box 67"/>
          <p:cNvSpPr txBox="1">
            <a:spLocks noChangeArrowheads="1"/>
          </p:cNvSpPr>
          <p:nvPr/>
        </p:nvSpPr>
        <p:spPr bwMode="auto">
          <a:xfrm>
            <a:off x="8001000" y="34290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A</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41026" name="Oval 68"/>
          <p:cNvSpPr>
            <a:spLocks noChangeArrowheads="1"/>
          </p:cNvSpPr>
          <p:nvPr/>
        </p:nvSpPr>
        <p:spPr bwMode="auto">
          <a:xfrm>
            <a:off x="7467600" y="2743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1027" name="Rectangle 69"/>
          <p:cNvSpPr>
            <a:spLocks noChangeArrowheads="1"/>
          </p:cNvSpPr>
          <p:nvPr/>
        </p:nvSpPr>
        <p:spPr bwMode="auto">
          <a:xfrm>
            <a:off x="6324600" y="3276600"/>
            <a:ext cx="381000" cy="4572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28" name="Text Box 70"/>
          <p:cNvSpPr txBox="1">
            <a:spLocks noChangeArrowheads="1"/>
          </p:cNvSpPr>
          <p:nvPr/>
        </p:nvSpPr>
        <p:spPr bwMode="auto">
          <a:xfrm>
            <a:off x="6324600" y="34290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smtClean="0">
                <a:latin typeface="Times New Roman" panose="02020603050405020304" pitchFamily="18" charset="0"/>
                <a:ea typeface="华文楷体" panose="02010600040101010101" pitchFamily="2" charset="-122"/>
              </a:rPr>
              <a:t>C</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41029" name="AutoShape 71"/>
          <p:cNvSpPr/>
          <p:nvPr/>
        </p:nvSpPr>
        <p:spPr bwMode="auto">
          <a:xfrm>
            <a:off x="7543800" y="3276600"/>
            <a:ext cx="76200" cy="609600"/>
          </a:xfrm>
          <a:prstGeom prst="rightBrace">
            <a:avLst>
              <a:gd name="adj1" fmla="val 66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30" name="Text Box 72"/>
          <p:cNvSpPr txBox="1">
            <a:spLocks noChangeArrowheads="1"/>
          </p:cNvSpPr>
          <p:nvPr/>
        </p:nvSpPr>
        <p:spPr bwMode="auto">
          <a:xfrm>
            <a:off x="7543800" y="3352800"/>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h-1</a:t>
            </a:r>
            <a:endParaRPr kumimoji="1" lang="en-US" altLang="zh-CN" sz="2000" b="1" dirty="0">
              <a:latin typeface="Times New Roman" panose="02020603050405020304" pitchFamily="18" charset="0"/>
              <a:ea typeface="华文楷体" panose="02010600040101010101" pitchFamily="2" charset="-122"/>
            </a:endParaRPr>
          </a:p>
        </p:txBody>
      </p:sp>
      <p:grpSp>
        <p:nvGrpSpPr>
          <p:cNvPr id="41031" name="Group 73"/>
          <p:cNvGrpSpPr/>
          <p:nvPr/>
        </p:nvGrpSpPr>
        <p:grpSpPr bwMode="auto">
          <a:xfrm>
            <a:off x="7086600" y="3276600"/>
            <a:ext cx="381000" cy="609600"/>
            <a:chOff x="2448" y="3072"/>
            <a:chExt cx="240" cy="528"/>
          </a:xfrm>
        </p:grpSpPr>
        <p:sp>
          <p:nvSpPr>
            <p:cNvPr id="41072" name="Rectangle 74"/>
            <p:cNvSpPr>
              <a:spLocks noChangeArrowheads="1"/>
            </p:cNvSpPr>
            <p:nvPr/>
          </p:nvSpPr>
          <p:spPr bwMode="auto">
            <a:xfrm>
              <a:off x="2448" y="3072"/>
              <a:ext cx="240" cy="528"/>
            </a:xfrm>
            <a:prstGeom prst="rect">
              <a:avLst/>
            </a:prstGeom>
            <a:solidFill>
              <a:schemeClr val="accent1"/>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73" name="Line 75"/>
            <p:cNvSpPr>
              <a:spLocks noChangeShapeType="1"/>
            </p:cNvSpPr>
            <p:nvPr/>
          </p:nvSpPr>
          <p:spPr bwMode="auto">
            <a:xfrm>
              <a:off x="2448" y="3456"/>
              <a:ext cx="2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074" name="Line 76"/>
            <p:cNvSpPr>
              <a:spLocks noChangeShapeType="1"/>
            </p:cNvSpPr>
            <p:nvPr/>
          </p:nvSpPr>
          <p:spPr bwMode="auto">
            <a:xfrm flipH="1">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075" name="Line 77"/>
            <p:cNvSpPr>
              <a:spLocks noChangeShapeType="1"/>
            </p:cNvSpPr>
            <p:nvPr/>
          </p:nvSpPr>
          <p:spPr bwMode="auto">
            <a:xfrm>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sp>
        <p:nvSpPr>
          <p:cNvPr id="41032" name="Text Box 78"/>
          <p:cNvSpPr txBox="1">
            <a:spLocks noChangeArrowheads="1"/>
          </p:cNvSpPr>
          <p:nvPr/>
        </p:nvSpPr>
        <p:spPr bwMode="auto">
          <a:xfrm>
            <a:off x="7086600" y="34290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smtClean="0">
                <a:latin typeface="Times New Roman" panose="02020603050405020304" pitchFamily="18" charset="0"/>
                <a:ea typeface="华文楷体" panose="02010600040101010101" pitchFamily="2" charset="-122"/>
              </a:rPr>
              <a:t>C</a:t>
            </a:r>
            <a:r>
              <a:rPr kumimoji="1" lang="en-US" altLang="zh-CN" sz="1400" b="1" baseline="-25000" dirty="0" smtClean="0">
                <a:latin typeface="Times New Roman" panose="02020603050405020304" pitchFamily="18" charset="0"/>
                <a:ea typeface="华文楷体" panose="02010600040101010101" pitchFamily="2" charset="-122"/>
              </a:rPr>
              <a:t>R</a:t>
            </a:r>
            <a:endParaRPr kumimoji="1" lang="en-US" altLang="zh-CN" sz="2000" b="1" baseline="-25000" dirty="0">
              <a:latin typeface="Times New Roman" panose="02020603050405020304" pitchFamily="18" charset="0"/>
              <a:ea typeface="华文楷体" panose="02010600040101010101" pitchFamily="2" charset="-122"/>
            </a:endParaRPr>
          </a:p>
        </p:txBody>
      </p:sp>
      <p:sp>
        <p:nvSpPr>
          <p:cNvPr id="41033" name="AutoShape 79"/>
          <p:cNvSpPr/>
          <p:nvPr/>
        </p:nvSpPr>
        <p:spPr bwMode="auto">
          <a:xfrm>
            <a:off x="6172200" y="3276600"/>
            <a:ext cx="76200" cy="457200"/>
          </a:xfrm>
          <a:prstGeom prst="leftBrace">
            <a:avLst>
              <a:gd name="adj1" fmla="val 50000"/>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34" name="Text Box 80"/>
          <p:cNvSpPr txBox="1">
            <a:spLocks noChangeArrowheads="1"/>
          </p:cNvSpPr>
          <p:nvPr/>
        </p:nvSpPr>
        <p:spPr bwMode="auto">
          <a:xfrm>
            <a:off x="5791200" y="3382963"/>
            <a:ext cx="4572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h-2</a:t>
            </a:r>
            <a:endParaRPr kumimoji="1" lang="en-US" altLang="zh-CN" sz="2000" b="1" dirty="0">
              <a:latin typeface="Times New Roman" panose="02020603050405020304" pitchFamily="18" charset="0"/>
              <a:ea typeface="华文楷体" panose="02010600040101010101" pitchFamily="2" charset="-122"/>
            </a:endParaRPr>
          </a:p>
        </p:txBody>
      </p:sp>
      <p:sp>
        <p:nvSpPr>
          <p:cNvPr id="41035" name="Text Box 81"/>
          <p:cNvSpPr txBox="1">
            <a:spLocks noChangeArrowheads="1"/>
          </p:cNvSpPr>
          <p:nvPr/>
        </p:nvSpPr>
        <p:spPr bwMode="auto">
          <a:xfrm>
            <a:off x="5715000" y="2514600"/>
            <a:ext cx="3810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+1</a:t>
            </a:r>
            <a:endParaRPr kumimoji="1" lang="en-US" altLang="zh-CN" sz="2000" b="1" dirty="0">
              <a:latin typeface="Times New Roman" panose="02020603050405020304" pitchFamily="18" charset="0"/>
              <a:ea typeface="华文楷体" panose="02010600040101010101" pitchFamily="2" charset="-122"/>
            </a:endParaRPr>
          </a:p>
        </p:txBody>
      </p:sp>
      <p:sp>
        <p:nvSpPr>
          <p:cNvPr id="41036" name="Text Box 82"/>
          <p:cNvSpPr txBox="1">
            <a:spLocks noChangeArrowheads="1"/>
          </p:cNvSpPr>
          <p:nvPr/>
        </p:nvSpPr>
        <p:spPr bwMode="auto">
          <a:xfrm>
            <a:off x="7620000" y="2468563"/>
            <a:ext cx="3810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0</a:t>
            </a:r>
            <a:endParaRPr kumimoji="1" lang="en-US" altLang="zh-CN" sz="2000" b="1" dirty="0">
              <a:latin typeface="Times New Roman" panose="02020603050405020304" pitchFamily="18" charset="0"/>
              <a:ea typeface="华文楷体" panose="02010600040101010101" pitchFamily="2" charset="-122"/>
            </a:endParaRPr>
          </a:p>
        </p:txBody>
      </p:sp>
      <p:sp>
        <p:nvSpPr>
          <p:cNvPr id="41037" name="Rectangle 83"/>
          <p:cNvSpPr>
            <a:spLocks noChangeArrowheads="1"/>
          </p:cNvSpPr>
          <p:nvPr/>
        </p:nvSpPr>
        <p:spPr bwMode="auto">
          <a:xfrm>
            <a:off x="685800" y="5591175"/>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38" name="Oval 84"/>
          <p:cNvSpPr>
            <a:spLocks noChangeArrowheads="1"/>
          </p:cNvSpPr>
          <p:nvPr/>
        </p:nvSpPr>
        <p:spPr bwMode="auto">
          <a:xfrm>
            <a:off x="3124200" y="5667375"/>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1039" name="Oval 85"/>
          <p:cNvSpPr>
            <a:spLocks noChangeArrowheads="1"/>
          </p:cNvSpPr>
          <p:nvPr/>
        </p:nvSpPr>
        <p:spPr bwMode="auto">
          <a:xfrm>
            <a:off x="1143000" y="5667375"/>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1040" name="Rectangle 86"/>
          <p:cNvSpPr>
            <a:spLocks noChangeArrowheads="1"/>
          </p:cNvSpPr>
          <p:nvPr/>
        </p:nvSpPr>
        <p:spPr bwMode="auto">
          <a:xfrm>
            <a:off x="3657600" y="5591175"/>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41" name="Text Box 87"/>
          <p:cNvSpPr txBox="1">
            <a:spLocks noChangeArrowheads="1"/>
          </p:cNvSpPr>
          <p:nvPr/>
        </p:nvSpPr>
        <p:spPr bwMode="auto">
          <a:xfrm>
            <a:off x="685800" y="5743575"/>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B</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41042" name="Text Box 88"/>
          <p:cNvSpPr txBox="1">
            <a:spLocks noChangeArrowheads="1"/>
          </p:cNvSpPr>
          <p:nvPr/>
        </p:nvSpPr>
        <p:spPr bwMode="auto">
          <a:xfrm>
            <a:off x="3657600" y="5743575"/>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A</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41043" name="Oval 89"/>
          <p:cNvSpPr>
            <a:spLocks noChangeArrowheads="1"/>
          </p:cNvSpPr>
          <p:nvPr/>
        </p:nvSpPr>
        <p:spPr bwMode="auto">
          <a:xfrm>
            <a:off x="2133600" y="5667375"/>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grpSp>
        <p:nvGrpSpPr>
          <p:cNvPr id="41044" name="Group 90"/>
          <p:cNvGrpSpPr/>
          <p:nvPr/>
        </p:nvGrpSpPr>
        <p:grpSpPr bwMode="auto">
          <a:xfrm>
            <a:off x="2667000" y="5562600"/>
            <a:ext cx="381000" cy="609600"/>
            <a:chOff x="2448" y="3072"/>
            <a:chExt cx="240" cy="528"/>
          </a:xfrm>
        </p:grpSpPr>
        <p:sp>
          <p:nvSpPr>
            <p:cNvPr id="41068" name="Rectangle 91"/>
            <p:cNvSpPr>
              <a:spLocks noChangeArrowheads="1"/>
            </p:cNvSpPr>
            <p:nvPr/>
          </p:nvSpPr>
          <p:spPr bwMode="auto">
            <a:xfrm>
              <a:off x="2448" y="3072"/>
              <a:ext cx="240" cy="528"/>
            </a:xfrm>
            <a:prstGeom prst="rect">
              <a:avLst/>
            </a:prstGeom>
            <a:solidFill>
              <a:schemeClr val="accent1"/>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69" name="Line 92"/>
            <p:cNvSpPr>
              <a:spLocks noChangeShapeType="1"/>
            </p:cNvSpPr>
            <p:nvPr/>
          </p:nvSpPr>
          <p:spPr bwMode="auto">
            <a:xfrm>
              <a:off x="2448" y="3456"/>
              <a:ext cx="2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070" name="Line 93"/>
            <p:cNvSpPr>
              <a:spLocks noChangeShapeType="1"/>
            </p:cNvSpPr>
            <p:nvPr/>
          </p:nvSpPr>
          <p:spPr bwMode="auto">
            <a:xfrm flipH="1">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071" name="Line 94"/>
            <p:cNvSpPr>
              <a:spLocks noChangeShapeType="1"/>
            </p:cNvSpPr>
            <p:nvPr/>
          </p:nvSpPr>
          <p:spPr bwMode="auto">
            <a:xfrm>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sp>
        <p:nvSpPr>
          <p:cNvPr id="41045" name="Rectangle 95"/>
          <p:cNvSpPr>
            <a:spLocks noChangeArrowheads="1"/>
          </p:cNvSpPr>
          <p:nvPr/>
        </p:nvSpPr>
        <p:spPr bwMode="auto">
          <a:xfrm>
            <a:off x="1676400" y="5562600"/>
            <a:ext cx="381000" cy="4572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46" name="Text Box 96"/>
          <p:cNvSpPr txBox="1">
            <a:spLocks noChangeArrowheads="1"/>
          </p:cNvSpPr>
          <p:nvPr/>
        </p:nvSpPr>
        <p:spPr bwMode="auto">
          <a:xfrm>
            <a:off x="2667000" y="57150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C</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41047" name="Text Box 97"/>
          <p:cNvSpPr txBox="1">
            <a:spLocks noChangeArrowheads="1"/>
          </p:cNvSpPr>
          <p:nvPr/>
        </p:nvSpPr>
        <p:spPr bwMode="auto">
          <a:xfrm>
            <a:off x="1676400" y="56388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C</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41048" name="Text Box 98"/>
          <p:cNvSpPr txBox="1">
            <a:spLocks noChangeArrowheads="1"/>
          </p:cNvSpPr>
          <p:nvPr/>
        </p:nvSpPr>
        <p:spPr bwMode="auto">
          <a:xfrm>
            <a:off x="3848100" y="4731847"/>
            <a:ext cx="2895600" cy="630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调整后</a:t>
            </a:r>
            <a:r>
              <a:rPr kumimoji="1" lang="zh-CN" altLang="en-US" sz="1400" b="1" dirty="0" smtClean="0">
                <a:latin typeface="Times New Roman" panose="02020603050405020304" pitchFamily="18" charset="0"/>
                <a:ea typeface="华文楷体" panose="02010600040101010101" pitchFamily="2" charset="-122"/>
              </a:rPr>
              <a:t>：高度</a:t>
            </a:r>
            <a:r>
              <a:rPr kumimoji="1" lang="zh-CN" altLang="en-US" sz="1400" b="1" dirty="0">
                <a:latin typeface="Times New Roman" panose="02020603050405020304" pitchFamily="18" charset="0"/>
                <a:ea typeface="华文楷体" panose="02010600040101010101" pitchFamily="2" charset="-122"/>
              </a:rPr>
              <a:t>为 </a:t>
            </a:r>
            <a:r>
              <a:rPr kumimoji="1" lang="en-US" altLang="zh-CN" sz="1400" b="1" dirty="0">
                <a:latin typeface="Times New Roman" panose="02020603050405020304" pitchFamily="18" charset="0"/>
                <a:ea typeface="华文楷体" panose="02010600040101010101" pitchFamily="2" charset="-122"/>
              </a:rPr>
              <a:t>h + </a:t>
            </a:r>
            <a:r>
              <a:rPr kumimoji="1" lang="en-US" altLang="zh-CN" sz="1400" b="1" dirty="0" smtClean="0">
                <a:latin typeface="Times New Roman" panose="02020603050405020304" pitchFamily="18" charset="0"/>
                <a:ea typeface="华文楷体" panose="02010600040101010101" pitchFamily="2" charset="-122"/>
              </a:rPr>
              <a:t>1</a:t>
            </a:r>
            <a:endParaRPr kumimoji="1" lang="en-US" altLang="zh-CN" sz="1400" b="1" dirty="0" smtClean="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zh-CN" sz="1400" b="1" dirty="0" smtClean="0">
                <a:latin typeface="Times New Roman" panose="02020603050405020304" pitchFamily="18" charset="0"/>
                <a:ea typeface="华文楷体" panose="02010600040101010101" pitchFamily="2" charset="-122"/>
              </a:rPr>
              <a:t>中</a:t>
            </a:r>
            <a:r>
              <a:rPr kumimoji="1" lang="zh-CN" altLang="zh-CN" sz="1400" b="1" dirty="0">
                <a:latin typeface="Times New Roman" panose="02020603050405020304" pitchFamily="18" charset="0"/>
                <a:ea typeface="华文楷体" panose="02010600040101010101" pitchFamily="2" charset="-122"/>
              </a:rPr>
              <a:t>序序列：</a:t>
            </a:r>
            <a:endParaRPr kumimoji="1" lang="zh-CN" altLang="en-US" sz="1400" b="1" dirty="0">
              <a:latin typeface="Times New Roman" panose="02020603050405020304" pitchFamily="18" charset="0"/>
              <a:ea typeface="华文楷体" panose="02010600040101010101" pitchFamily="2" charset="-122"/>
            </a:endParaRPr>
          </a:p>
        </p:txBody>
      </p:sp>
      <p:sp>
        <p:nvSpPr>
          <p:cNvPr id="41049" name="Oval 99"/>
          <p:cNvSpPr>
            <a:spLocks noChangeArrowheads="1"/>
          </p:cNvSpPr>
          <p:nvPr/>
        </p:nvSpPr>
        <p:spPr bwMode="auto">
          <a:xfrm>
            <a:off x="6781800" y="5943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1050" name="Rectangle 100"/>
          <p:cNvSpPr>
            <a:spLocks noChangeArrowheads="1"/>
          </p:cNvSpPr>
          <p:nvPr/>
        </p:nvSpPr>
        <p:spPr bwMode="auto">
          <a:xfrm>
            <a:off x="4876800" y="51054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51" name="Oval 101"/>
          <p:cNvSpPr>
            <a:spLocks noChangeArrowheads="1"/>
          </p:cNvSpPr>
          <p:nvPr/>
        </p:nvSpPr>
        <p:spPr bwMode="auto">
          <a:xfrm>
            <a:off x="7315200" y="5181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1052" name="Oval 102"/>
          <p:cNvSpPr>
            <a:spLocks noChangeArrowheads="1"/>
          </p:cNvSpPr>
          <p:nvPr/>
        </p:nvSpPr>
        <p:spPr bwMode="auto">
          <a:xfrm>
            <a:off x="5334000" y="5181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1053" name="Rectangle 103"/>
          <p:cNvSpPr>
            <a:spLocks noChangeArrowheads="1"/>
          </p:cNvSpPr>
          <p:nvPr/>
        </p:nvSpPr>
        <p:spPr bwMode="auto">
          <a:xfrm>
            <a:off x="7848600" y="51054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54" name="Text Box 104"/>
          <p:cNvSpPr txBox="1">
            <a:spLocks noChangeArrowheads="1"/>
          </p:cNvSpPr>
          <p:nvPr/>
        </p:nvSpPr>
        <p:spPr bwMode="auto">
          <a:xfrm>
            <a:off x="4876800" y="52578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B</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41055" name="Text Box 105"/>
          <p:cNvSpPr txBox="1">
            <a:spLocks noChangeArrowheads="1"/>
          </p:cNvSpPr>
          <p:nvPr/>
        </p:nvSpPr>
        <p:spPr bwMode="auto">
          <a:xfrm>
            <a:off x="7848600" y="52578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A</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41056" name="Oval 106"/>
          <p:cNvSpPr>
            <a:spLocks noChangeArrowheads="1"/>
          </p:cNvSpPr>
          <p:nvPr/>
        </p:nvSpPr>
        <p:spPr bwMode="auto">
          <a:xfrm>
            <a:off x="6324600" y="5181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grpSp>
        <p:nvGrpSpPr>
          <p:cNvPr id="41057" name="Group 107"/>
          <p:cNvGrpSpPr/>
          <p:nvPr/>
        </p:nvGrpSpPr>
        <p:grpSpPr bwMode="auto">
          <a:xfrm>
            <a:off x="6858000" y="5076825"/>
            <a:ext cx="381000" cy="609600"/>
            <a:chOff x="2448" y="3072"/>
            <a:chExt cx="240" cy="528"/>
          </a:xfrm>
        </p:grpSpPr>
        <p:sp>
          <p:nvSpPr>
            <p:cNvPr id="41064" name="Rectangle 108"/>
            <p:cNvSpPr>
              <a:spLocks noChangeArrowheads="1"/>
            </p:cNvSpPr>
            <p:nvPr/>
          </p:nvSpPr>
          <p:spPr bwMode="auto">
            <a:xfrm>
              <a:off x="2448" y="3072"/>
              <a:ext cx="240" cy="528"/>
            </a:xfrm>
            <a:prstGeom prst="rect">
              <a:avLst/>
            </a:prstGeom>
            <a:solidFill>
              <a:schemeClr val="accent1"/>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65" name="Line 109"/>
            <p:cNvSpPr>
              <a:spLocks noChangeShapeType="1"/>
            </p:cNvSpPr>
            <p:nvPr/>
          </p:nvSpPr>
          <p:spPr bwMode="auto">
            <a:xfrm>
              <a:off x="2448" y="3456"/>
              <a:ext cx="2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066" name="Line 110"/>
            <p:cNvSpPr>
              <a:spLocks noChangeShapeType="1"/>
            </p:cNvSpPr>
            <p:nvPr/>
          </p:nvSpPr>
          <p:spPr bwMode="auto">
            <a:xfrm flipH="1">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067" name="Line 111"/>
            <p:cNvSpPr>
              <a:spLocks noChangeShapeType="1"/>
            </p:cNvSpPr>
            <p:nvPr/>
          </p:nvSpPr>
          <p:spPr bwMode="auto">
            <a:xfrm>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sp>
        <p:nvSpPr>
          <p:cNvPr id="41058" name="Rectangle 112"/>
          <p:cNvSpPr>
            <a:spLocks noChangeArrowheads="1"/>
          </p:cNvSpPr>
          <p:nvPr/>
        </p:nvSpPr>
        <p:spPr bwMode="auto">
          <a:xfrm>
            <a:off x="5867400" y="5076825"/>
            <a:ext cx="381000" cy="4572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1059" name="Text Box 113"/>
          <p:cNvSpPr txBox="1">
            <a:spLocks noChangeArrowheads="1"/>
          </p:cNvSpPr>
          <p:nvPr/>
        </p:nvSpPr>
        <p:spPr bwMode="auto">
          <a:xfrm>
            <a:off x="6858000" y="5229225"/>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C</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41060" name="Text Box 114"/>
          <p:cNvSpPr txBox="1">
            <a:spLocks noChangeArrowheads="1"/>
          </p:cNvSpPr>
          <p:nvPr/>
        </p:nvSpPr>
        <p:spPr bwMode="auto">
          <a:xfrm>
            <a:off x="5867400" y="5153025"/>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C</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41061" name="Arc 115"/>
          <p:cNvSpPr/>
          <p:nvPr/>
        </p:nvSpPr>
        <p:spPr bwMode="auto">
          <a:xfrm flipH="1">
            <a:off x="1828800" y="2971800"/>
            <a:ext cx="381000" cy="304800"/>
          </a:xfrm>
          <a:custGeom>
            <a:avLst/>
            <a:gdLst>
              <a:gd name="T0" fmla="*/ 0 w 21600"/>
              <a:gd name="T1" fmla="*/ 0 h 21600"/>
              <a:gd name="T2" fmla="*/ 118540689 w 21600"/>
              <a:gd name="T3" fmla="*/ 60692834 h 21600"/>
              <a:gd name="T4" fmla="*/ 0 w 21600"/>
              <a:gd name="T5" fmla="*/ 60692834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12700">
            <a:solidFill>
              <a:srgbClr val="00FF00"/>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062" name="Arc 116"/>
          <p:cNvSpPr/>
          <p:nvPr/>
        </p:nvSpPr>
        <p:spPr bwMode="auto">
          <a:xfrm>
            <a:off x="1600200" y="2514600"/>
            <a:ext cx="457200" cy="306388"/>
          </a:xfrm>
          <a:custGeom>
            <a:avLst/>
            <a:gdLst>
              <a:gd name="T0" fmla="*/ 0 w 21600"/>
              <a:gd name="T1" fmla="*/ 0 h 21600"/>
              <a:gd name="T2" fmla="*/ 204838300 w 21600"/>
              <a:gd name="T3" fmla="*/ 61646400 h 21600"/>
              <a:gd name="T4" fmla="*/ 0 w 21600"/>
              <a:gd name="T5" fmla="*/ 6164640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12700">
            <a:solidFill>
              <a:srgbClr val="00FF00"/>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1063" name="Text Box 117"/>
          <p:cNvSpPr txBox="1">
            <a:spLocks noChangeArrowheads="1"/>
          </p:cNvSpPr>
          <p:nvPr/>
        </p:nvSpPr>
        <p:spPr bwMode="auto">
          <a:xfrm>
            <a:off x="730250" y="1535113"/>
            <a:ext cx="879475" cy="39687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2000" b="1" dirty="0">
                <a:solidFill>
                  <a:schemeClr val="accent2"/>
                </a:solidFill>
                <a:latin typeface="Times New Roman" panose="02020603050405020304" pitchFamily="18" charset="0"/>
                <a:ea typeface="华文楷体" panose="02010600040101010101" pitchFamily="2" charset="-122"/>
              </a:rPr>
              <a:t>情形</a:t>
            </a:r>
            <a:r>
              <a:rPr lang="en-US" altLang="zh-CN" sz="2000" b="1" dirty="0">
                <a:solidFill>
                  <a:schemeClr val="accent2"/>
                </a:solidFill>
                <a:latin typeface="Times New Roman" panose="02020603050405020304" pitchFamily="18" charset="0"/>
                <a:ea typeface="华文楷体" panose="02010600040101010101" pitchFamily="2" charset="-122"/>
              </a:rPr>
              <a:t>B</a:t>
            </a:r>
            <a:endParaRPr lang="en-US" altLang="zh-CN" sz="2000" b="1" dirty="0">
              <a:solidFill>
                <a:schemeClr val="accent2"/>
              </a:solidFill>
              <a:latin typeface="Times New Roman" panose="02020603050405020304" pitchFamily="18" charset="0"/>
              <a:ea typeface="华文楷体" panose="02010600040101010101" pitchFamily="2" charset="-122"/>
            </a:endParaRPr>
          </a:p>
        </p:txBody>
      </p:sp>
      <p:sp>
        <p:nvSpPr>
          <p:cNvPr id="120" name="Text Box 25"/>
          <p:cNvSpPr txBox="1">
            <a:spLocks noChangeArrowheads="1"/>
          </p:cNvSpPr>
          <p:nvPr/>
        </p:nvSpPr>
        <p:spPr bwMode="auto">
          <a:xfrm>
            <a:off x="8496300" y="3464796"/>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h-1</a:t>
            </a:r>
            <a:endParaRPr kumimoji="1" lang="en-US" altLang="zh-CN" sz="2000" b="1"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页脚占位符 3"/>
          <p:cNvSpPr>
            <a:spLocks noGrp="1"/>
          </p:cNvSpPr>
          <p:nvPr>
            <p:ph type="ftr" sz="quarter" idx="10"/>
          </p:nvPr>
        </p:nvSpPr>
        <p:spPr/>
        <p:txBody>
          <a:bodyPr/>
          <a:lstStyle/>
          <a:p>
            <a:pPr>
              <a:defRPr/>
            </a:pPr>
            <a:r>
              <a:rPr lang="en-US" altLang="zh-CN"/>
              <a:t>BUPT SCST</a:t>
            </a:r>
            <a:endParaRPr lang="en-US" altLang="zh-CN"/>
          </a:p>
        </p:txBody>
      </p:sp>
      <p:sp>
        <p:nvSpPr>
          <p:cNvPr id="93" name="日期占位符 5"/>
          <p:cNvSpPr>
            <a:spLocks noGrp="1"/>
          </p:cNvSpPr>
          <p:nvPr>
            <p:ph type="dt" sz="quarter" idx="12"/>
          </p:nvPr>
        </p:nvSpPr>
        <p:spPr/>
        <p:txBody>
          <a:bodyPr/>
          <a:lstStyle/>
          <a:p>
            <a:pPr>
              <a:defRPr/>
            </a:pPr>
            <a:r>
              <a:rPr lang="en-US" altLang="zh-CN"/>
              <a:t>BUPT</a:t>
            </a:r>
            <a:endParaRPr lang="en-US" altLang="zh-CN"/>
          </a:p>
        </p:txBody>
      </p:sp>
      <p:sp>
        <p:nvSpPr>
          <p:cNvPr id="41988" name="Text Box 2"/>
          <p:cNvSpPr txBox="1">
            <a:spLocks noChangeArrowheads="1"/>
          </p:cNvSpPr>
          <p:nvPr/>
        </p:nvSpPr>
        <p:spPr bwMode="auto">
          <a:xfrm>
            <a:off x="7010400" y="3952071"/>
            <a:ext cx="1981200" cy="954107"/>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zh-CN" sz="1400" b="1" dirty="0">
                <a:latin typeface="Times New Roman" panose="02020603050405020304" pitchFamily="18" charset="0"/>
                <a:ea typeface="华文楷体" panose="02010600040101010101" pitchFamily="2" charset="-122"/>
              </a:rPr>
              <a:t>注意：</a:t>
            </a:r>
            <a:r>
              <a:rPr kumimoji="1" lang="zh-CN" altLang="en-US" sz="1400" b="1" dirty="0">
                <a:latin typeface="Times New Roman" panose="02020603050405020304" pitchFamily="18" charset="0"/>
                <a:ea typeface="华文楷体" panose="02010600040101010101" pitchFamily="2" charset="-122"/>
              </a:rPr>
              <a:t>调整</a:t>
            </a:r>
            <a:r>
              <a:rPr kumimoji="1" lang="zh-CN" altLang="zh-CN" sz="1400" b="1" dirty="0">
                <a:latin typeface="Times New Roman" panose="02020603050405020304" pitchFamily="18" charset="0"/>
                <a:ea typeface="华文楷体" panose="02010600040101010101" pitchFamily="2" charset="-122"/>
              </a:rPr>
              <a:t>后 </a:t>
            </a:r>
            <a:endParaRPr kumimoji="1" lang="zh-CN" altLang="zh-CN" sz="1400" b="1" dirty="0">
              <a:latin typeface="Times New Roman" panose="02020603050405020304" pitchFamily="18" charset="0"/>
              <a:ea typeface="华文楷体" panose="02010600040101010101" pitchFamily="2" charset="-122"/>
            </a:endParaRPr>
          </a:p>
          <a:p>
            <a:pPr>
              <a:spcBef>
                <a:spcPct val="50000"/>
              </a:spcBef>
              <a:buClrTx/>
              <a:buFontTx/>
              <a:buNone/>
            </a:pPr>
            <a:endParaRPr kumimoji="1" lang="zh-CN" altLang="zh-CN" sz="14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zh-CN" sz="1400" b="1" dirty="0">
                <a:latin typeface="Times New Roman" panose="02020603050405020304" pitchFamily="18" charset="0"/>
                <a:ea typeface="华文楷体" panose="02010600040101010101" pitchFamily="2" charset="-122"/>
              </a:rPr>
              <a:t>       平衡</a:t>
            </a:r>
            <a:r>
              <a:rPr kumimoji="1" lang="zh-CN" altLang="en-US" sz="1400" b="1" dirty="0">
                <a:latin typeface="Times New Roman" panose="02020603050405020304" pitchFamily="18" charset="0"/>
                <a:ea typeface="华文楷体" panose="02010600040101010101" pitchFamily="2" charset="-122"/>
              </a:rPr>
              <a:t>因子</a:t>
            </a:r>
            <a:r>
              <a:rPr kumimoji="1" lang="zh-CN" altLang="zh-CN" sz="1400" b="1" dirty="0">
                <a:latin typeface="Times New Roman" panose="02020603050405020304" pitchFamily="18" charset="0"/>
                <a:ea typeface="华文楷体" panose="02010600040101010101" pitchFamily="2" charset="-122"/>
              </a:rPr>
              <a:t>为 0,0,0</a:t>
            </a:r>
            <a:endParaRPr kumimoji="1" lang="en-US" altLang="zh-CN" sz="1400" b="1" dirty="0">
              <a:latin typeface="Times New Roman" panose="02020603050405020304" pitchFamily="18" charset="0"/>
              <a:ea typeface="华文楷体" panose="02010600040101010101" pitchFamily="2" charset="-122"/>
            </a:endParaRPr>
          </a:p>
        </p:txBody>
      </p:sp>
      <p:sp>
        <p:nvSpPr>
          <p:cNvPr id="41989" name="Rectangle 3"/>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41990" name="Rectangle 4"/>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ea typeface="华文楷体" panose="02010600040101010101" pitchFamily="2" charset="-122"/>
              </a:rPr>
              <a:t>LR</a:t>
            </a:r>
            <a:r>
              <a:rPr lang="zh-CN" altLang="en-US" sz="2400" b="1" dirty="0" smtClean="0">
                <a:ea typeface="华文楷体" panose="02010600040101010101" pitchFamily="2" charset="-122"/>
              </a:rPr>
              <a:t>型平衡旋转</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一次逆时针旋转</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一次顺时针旋转</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en-US" altLang="zh-CN" dirty="0" smtClean="0">
              <a:ea typeface="华文楷体" panose="02010600040101010101" pitchFamily="2" charset="-122"/>
            </a:endParaRPr>
          </a:p>
        </p:txBody>
      </p:sp>
      <p:sp>
        <p:nvSpPr>
          <p:cNvPr id="41991" name="Line 5"/>
          <p:cNvSpPr>
            <a:spLocks noChangeShapeType="1"/>
          </p:cNvSpPr>
          <p:nvPr/>
        </p:nvSpPr>
        <p:spPr bwMode="auto">
          <a:xfrm flipH="1">
            <a:off x="6705600" y="2486025"/>
            <a:ext cx="228600" cy="3810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2003" name="Line 33"/>
          <p:cNvSpPr>
            <a:spLocks noChangeShapeType="1"/>
          </p:cNvSpPr>
          <p:nvPr/>
        </p:nvSpPr>
        <p:spPr bwMode="auto">
          <a:xfrm flipH="1">
            <a:off x="2209800" y="2638425"/>
            <a:ext cx="152400" cy="161925"/>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2004" name="Oval 34"/>
          <p:cNvSpPr>
            <a:spLocks noChangeArrowheads="1"/>
          </p:cNvSpPr>
          <p:nvPr/>
        </p:nvSpPr>
        <p:spPr bwMode="auto">
          <a:xfrm>
            <a:off x="2209800" y="2333625"/>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2005" name="Oval 35"/>
          <p:cNvSpPr>
            <a:spLocks noChangeArrowheads="1"/>
          </p:cNvSpPr>
          <p:nvPr/>
        </p:nvSpPr>
        <p:spPr bwMode="auto">
          <a:xfrm>
            <a:off x="1905000" y="2790825"/>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2006" name="Text Box 36"/>
          <p:cNvSpPr txBox="1">
            <a:spLocks noChangeArrowheads="1"/>
          </p:cNvSpPr>
          <p:nvPr/>
        </p:nvSpPr>
        <p:spPr bwMode="auto">
          <a:xfrm>
            <a:off x="2286000" y="2105025"/>
            <a:ext cx="3810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+1</a:t>
            </a:r>
            <a:endParaRPr kumimoji="1" lang="en-US" altLang="zh-CN" sz="2000" b="1" dirty="0">
              <a:latin typeface="Times New Roman" panose="02020603050405020304" pitchFamily="18" charset="0"/>
              <a:ea typeface="华文楷体" panose="02010600040101010101" pitchFamily="2" charset="-122"/>
            </a:endParaRPr>
          </a:p>
        </p:txBody>
      </p:sp>
      <p:sp>
        <p:nvSpPr>
          <p:cNvPr id="42007" name="Text Box 37"/>
          <p:cNvSpPr txBox="1">
            <a:spLocks noChangeArrowheads="1"/>
          </p:cNvSpPr>
          <p:nvPr/>
        </p:nvSpPr>
        <p:spPr bwMode="auto">
          <a:xfrm>
            <a:off x="1981200" y="2562225"/>
            <a:ext cx="3810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0</a:t>
            </a:r>
            <a:endParaRPr kumimoji="1" lang="en-US" altLang="zh-CN" sz="1200" b="1" dirty="0">
              <a:latin typeface="Times New Roman" panose="02020603050405020304" pitchFamily="18" charset="0"/>
              <a:ea typeface="华文楷体" panose="02010600040101010101" pitchFamily="2" charset="-122"/>
            </a:endParaRPr>
          </a:p>
        </p:txBody>
      </p:sp>
      <p:sp>
        <p:nvSpPr>
          <p:cNvPr id="42008" name="Line 38"/>
          <p:cNvSpPr>
            <a:spLocks noChangeShapeType="1"/>
          </p:cNvSpPr>
          <p:nvPr/>
        </p:nvSpPr>
        <p:spPr bwMode="auto">
          <a:xfrm>
            <a:off x="2286000" y="3095625"/>
            <a:ext cx="228600" cy="5334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2009" name="Text Box 39"/>
          <p:cNvSpPr txBox="1">
            <a:spLocks noChangeArrowheads="1"/>
          </p:cNvSpPr>
          <p:nvPr/>
        </p:nvSpPr>
        <p:spPr bwMode="auto">
          <a:xfrm>
            <a:off x="1371600" y="2135188"/>
            <a:ext cx="3810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+2</a:t>
            </a:r>
            <a:endParaRPr kumimoji="1" lang="en-US" altLang="zh-CN" sz="2000" b="1" dirty="0">
              <a:solidFill>
                <a:srgbClr val="C00000"/>
              </a:solidFill>
              <a:latin typeface="Times New Roman" panose="02020603050405020304" pitchFamily="18" charset="0"/>
              <a:ea typeface="华文楷体" panose="02010600040101010101" pitchFamily="2" charset="-122"/>
            </a:endParaRPr>
          </a:p>
        </p:txBody>
      </p:sp>
      <p:sp>
        <p:nvSpPr>
          <p:cNvPr id="42010" name="Text Box 40"/>
          <p:cNvSpPr txBox="1">
            <a:spLocks noChangeArrowheads="1"/>
          </p:cNvSpPr>
          <p:nvPr/>
        </p:nvSpPr>
        <p:spPr bwMode="auto">
          <a:xfrm>
            <a:off x="1219200" y="2592388"/>
            <a:ext cx="3810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-1</a:t>
            </a:r>
            <a:endParaRPr kumimoji="1" lang="en-US" altLang="zh-CN" sz="2000" b="1" dirty="0">
              <a:solidFill>
                <a:srgbClr val="C00000"/>
              </a:solidFill>
              <a:latin typeface="Times New Roman" panose="02020603050405020304" pitchFamily="18" charset="0"/>
              <a:ea typeface="华文楷体" panose="02010600040101010101" pitchFamily="2" charset="-122"/>
            </a:endParaRPr>
          </a:p>
        </p:txBody>
      </p:sp>
      <p:sp>
        <p:nvSpPr>
          <p:cNvPr id="42011" name="AutoShape 41"/>
          <p:cNvSpPr>
            <a:spLocks noChangeArrowheads="1"/>
          </p:cNvSpPr>
          <p:nvPr/>
        </p:nvSpPr>
        <p:spPr bwMode="auto">
          <a:xfrm>
            <a:off x="1524000" y="2714625"/>
            <a:ext cx="533400" cy="76200"/>
          </a:xfrm>
          <a:prstGeom prst="leftArrow">
            <a:avLst>
              <a:gd name="adj1" fmla="val 50000"/>
              <a:gd name="adj2" fmla="val 1750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solidFill>
                <a:schemeClr val="folHlink"/>
              </a:solidFill>
              <a:latin typeface="Times New Roman" panose="02020603050405020304" pitchFamily="18" charset="0"/>
              <a:ea typeface="华文楷体" panose="02010600040101010101" pitchFamily="2" charset="-122"/>
            </a:endParaRPr>
          </a:p>
        </p:txBody>
      </p:sp>
      <p:sp>
        <p:nvSpPr>
          <p:cNvPr id="42012" name="AutoShape 42"/>
          <p:cNvSpPr>
            <a:spLocks noChangeArrowheads="1"/>
          </p:cNvSpPr>
          <p:nvPr/>
        </p:nvSpPr>
        <p:spPr bwMode="auto">
          <a:xfrm>
            <a:off x="1752600" y="2257425"/>
            <a:ext cx="533400" cy="76200"/>
          </a:xfrm>
          <a:prstGeom prst="leftArrow">
            <a:avLst>
              <a:gd name="adj1" fmla="val 50000"/>
              <a:gd name="adj2" fmla="val 1750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solidFill>
                <a:schemeClr val="folHlink"/>
              </a:solidFill>
              <a:latin typeface="Times New Roman" panose="02020603050405020304" pitchFamily="18" charset="0"/>
              <a:ea typeface="华文楷体" panose="02010600040101010101" pitchFamily="2" charset="-122"/>
            </a:endParaRPr>
          </a:p>
        </p:txBody>
      </p:sp>
      <p:sp>
        <p:nvSpPr>
          <p:cNvPr id="42013" name="AutoShape 43"/>
          <p:cNvSpPr>
            <a:spLocks noChangeArrowheads="1"/>
          </p:cNvSpPr>
          <p:nvPr/>
        </p:nvSpPr>
        <p:spPr bwMode="auto">
          <a:xfrm>
            <a:off x="3733800" y="2797696"/>
            <a:ext cx="1676400" cy="381000"/>
          </a:xfrm>
          <a:prstGeom prst="rightArrow">
            <a:avLst>
              <a:gd name="adj1" fmla="val 50000"/>
              <a:gd name="adj2" fmla="val 110000"/>
            </a:avLst>
          </a:prstGeom>
          <a:solidFill>
            <a:schemeClr val="accent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2014" name="Text Box 44"/>
          <p:cNvSpPr txBox="1">
            <a:spLocks noChangeArrowheads="1"/>
          </p:cNvSpPr>
          <p:nvPr/>
        </p:nvSpPr>
        <p:spPr bwMode="auto">
          <a:xfrm>
            <a:off x="3733800" y="2492896"/>
            <a:ext cx="14478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2000" b="1" dirty="0">
                <a:latin typeface="Times New Roman" panose="02020603050405020304" pitchFamily="18" charset="0"/>
                <a:ea typeface="华文楷体" panose="02010600040101010101" pitchFamily="2" charset="-122"/>
              </a:rPr>
              <a:t>LR </a:t>
            </a:r>
            <a:r>
              <a:rPr kumimoji="1" lang="zh-CN" altLang="en-US" sz="2000" b="1" dirty="0">
                <a:latin typeface="Times New Roman" panose="02020603050405020304" pitchFamily="18" charset="0"/>
                <a:ea typeface="华文楷体" panose="02010600040101010101" pitchFamily="2" charset="-122"/>
              </a:rPr>
              <a:t>型调整</a:t>
            </a:r>
            <a:endParaRPr kumimoji="1" lang="zh-CN" altLang="en-US" sz="2000" b="1" dirty="0">
              <a:latin typeface="Times New Roman" panose="02020603050405020304" pitchFamily="18" charset="0"/>
              <a:ea typeface="华文楷体" panose="02010600040101010101" pitchFamily="2" charset="-122"/>
            </a:endParaRPr>
          </a:p>
        </p:txBody>
      </p:sp>
      <p:sp>
        <p:nvSpPr>
          <p:cNvPr id="42015" name="AutoShape 45"/>
          <p:cNvSpPr>
            <a:spLocks noChangeArrowheads="1"/>
          </p:cNvSpPr>
          <p:nvPr/>
        </p:nvSpPr>
        <p:spPr bwMode="auto">
          <a:xfrm rot="-1818482">
            <a:off x="2590800" y="2257425"/>
            <a:ext cx="533400" cy="76200"/>
          </a:xfrm>
          <a:prstGeom prst="leftArrow">
            <a:avLst>
              <a:gd name="adj1" fmla="val 50000"/>
              <a:gd name="adj2" fmla="val 1750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solidFill>
                <a:schemeClr val="folHlink"/>
              </a:solidFill>
              <a:latin typeface="Times New Roman" panose="02020603050405020304" pitchFamily="18" charset="0"/>
              <a:ea typeface="华文楷体" panose="02010600040101010101" pitchFamily="2" charset="-122"/>
            </a:endParaRPr>
          </a:p>
        </p:txBody>
      </p:sp>
      <p:sp>
        <p:nvSpPr>
          <p:cNvPr id="42016" name="Text Box 46"/>
          <p:cNvSpPr txBox="1">
            <a:spLocks noChangeArrowheads="1"/>
          </p:cNvSpPr>
          <p:nvPr/>
        </p:nvSpPr>
        <p:spPr bwMode="auto">
          <a:xfrm>
            <a:off x="3048000" y="2028825"/>
            <a:ext cx="1219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危机结点</a:t>
            </a:r>
            <a:endParaRPr kumimoji="1" lang="zh-CN" altLang="en-US" sz="1400" b="1" dirty="0">
              <a:latin typeface="Times New Roman" panose="02020603050405020304" pitchFamily="18" charset="0"/>
              <a:ea typeface="华文楷体" panose="02010600040101010101" pitchFamily="2" charset="-122"/>
            </a:endParaRPr>
          </a:p>
        </p:txBody>
      </p:sp>
      <p:sp>
        <p:nvSpPr>
          <p:cNvPr id="42017" name="Text Box 47"/>
          <p:cNvSpPr txBox="1">
            <a:spLocks noChangeArrowheads="1"/>
          </p:cNvSpPr>
          <p:nvPr/>
        </p:nvSpPr>
        <p:spPr bwMode="auto">
          <a:xfrm>
            <a:off x="530256" y="5038725"/>
            <a:ext cx="2895600" cy="630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调整前</a:t>
            </a:r>
            <a:r>
              <a:rPr kumimoji="1" lang="zh-CN" altLang="en-US" sz="1400" b="1" dirty="0" smtClean="0">
                <a:latin typeface="Times New Roman" panose="02020603050405020304" pitchFamily="18" charset="0"/>
                <a:ea typeface="华文楷体" panose="02010600040101010101" pitchFamily="2" charset="-122"/>
              </a:rPr>
              <a:t>：高度</a:t>
            </a:r>
            <a:r>
              <a:rPr kumimoji="1" lang="zh-CN" altLang="en-US" sz="1400" b="1" dirty="0">
                <a:latin typeface="Times New Roman" panose="02020603050405020304" pitchFamily="18" charset="0"/>
                <a:ea typeface="华文楷体" panose="02010600040101010101" pitchFamily="2" charset="-122"/>
              </a:rPr>
              <a:t>为 </a:t>
            </a:r>
            <a:r>
              <a:rPr kumimoji="1" lang="en-US" altLang="zh-CN" sz="1400" b="1" dirty="0">
                <a:latin typeface="Times New Roman" panose="02020603050405020304" pitchFamily="18" charset="0"/>
                <a:ea typeface="华文楷体" panose="02010600040101010101" pitchFamily="2" charset="-122"/>
              </a:rPr>
              <a:t>2</a:t>
            </a:r>
            <a:endParaRPr kumimoji="1" lang="zh-CN" altLang="zh-CN" sz="14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zh-CN" sz="1400" b="1" dirty="0" smtClean="0">
                <a:latin typeface="Times New Roman" panose="02020603050405020304" pitchFamily="18" charset="0"/>
                <a:ea typeface="华文楷体" panose="02010600040101010101" pitchFamily="2" charset="-122"/>
              </a:rPr>
              <a:t>中</a:t>
            </a:r>
            <a:r>
              <a:rPr kumimoji="1" lang="zh-CN" altLang="zh-CN" sz="1400" b="1" dirty="0">
                <a:latin typeface="Times New Roman" panose="02020603050405020304" pitchFamily="18" charset="0"/>
                <a:ea typeface="华文楷体" panose="02010600040101010101" pitchFamily="2" charset="-122"/>
              </a:rPr>
              <a:t>序序列：</a:t>
            </a:r>
            <a:endParaRPr kumimoji="1" lang="zh-CN" altLang="en-US" sz="1400" b="1" dirty="0">
              <a:latin typeface="Times New Roman" panose="02020603050405020304" pitchFamily="18" charset="0"/>
              <a:ea typeface="华文楷体" panose="02010600040101010101" pitchFamily="2" charset="-122"/>
            </a:endParaRPr>
          </a:p>
        </p:txBody>
      </p:sp>
      <p:sp>
        <p:nvSpPr>
          <p:cNvPr id="42018" name="Oval 48"/>
          <p:cNvSpPr>
            <a:spLocks noChangeArrowheads="1"/>
          </p:cNvSpPr>
          <p:nvPr/>
        </p:nvSpPr>
        <p:spPr bwMode="auto">
          <a:xfrm>
            <a:off x="7848600" y="4238625"/>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42019" name="Oval 49"/>
          <p:cNvSpPr>
            <a:spLocks noChangeArrowheads="1"/>
          </p:cNvSpPr>
          <p:nvPr/>
        </p:nvSpPr>
        <p:spPr bwMode="auto">
          <a:xfrm>
            <a:off x="7315200" y="4238625"/>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2020" name="Oval 50"/>
          <p:cNvSpPr>
            <a:spLocks noChangeArrowheads="1"/>
          </p:cNvSpPr>
          <p:nvPr/>
        </p:nvSpPr>
        <p:spPr bwMode="auto">
          <a:xfrm>
            <a:off x="2209800" y="3324225"/>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42021" name="Text Box 51"/>
          <p:cNvSpPr txBox="1">
            <a:spLocks noChangeArrowheads="1"/>
          </p:cNvSpPr>
          <p:nvPr/>
        </p:nvSpPr>
        <p:spPr bwMode="auto">
          <a:xfrm>
            <a:off x="2362200" y="3095625"/>
            <a:ext cx="3810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0</a:t>
            </a:r>
            <a:endParaRPr kumimoji="1" lang="en-US" altLang="zh-CN" sz="1200" b="1" dirty="0">
              <a:latin typeface="Times New Roman" panose="02020603050405020304" pitchFamily="18" charset="0"/>
              <a:ea typeface="华文楷体" panose="02010600040101010101" pitchFamily="2" charset="-122"/>
            </a:endParaRPr>
          </a:p>
        </p:txBody>
      </p:sp>
      <p:sp>
        <p:nvSpPr>
          <p:cNvPr id="42022" name="AutoShape 52"/>
          <p:cNvSpPr>
            <a:spLocks noChangeArrowheads="1"/>
          </p:cNvSpPr>
          <p:nvPr/>
        </p:nvSpPr>
        <p:spPr bwMode="auto">
          <a:xfrm rot="9676284">
            <a:off x="1117600" y="3709988"/>
            <a:ext cx="1143000" cy="76200"/>
          </a:xfrm>
          <a:prstGeom prst="leftArrow">
            <a:avLst>
              <a:gd name="adj1" fmla="val 50000"/>
              <a:gd name="adj2" fmla="val 3750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solidFill>
                <a:schemeClr val="folHlink"/>
              </a:solidFill>
              <a:latin typeface="Times New Roman" panose="02020603050405020304" pitchFamily="18" charset="0"/>
              <a:ea typeface="华文楷体" panose="02010600040101010101" pitchFamily="2" charset="-122"/>
            </a:endParaRPr>
          </a:p>
        </p:txBody>
      </p:sp>
      <p:sp>
        <p:nvSpPr>
          <p:cNvPr id="42023" name="Oval 53"/>
          <p:cNvSpPr>
            <a:spLocks noChangeArrowheads="1"/>
          </p:cNvSpPr>
          <p:nvPr/>
        </p:nvSpPr>
        <p:spPr bwMode="auto">
          <a:xfrm>
            <a:off x="2590800" y="5305425"/>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2024" name="Oval 54"/>
          <p:cNvSpPr>
            <a:spLocks noChangeArrowheads="1"/>
          </p:cNvSpPr>
          <p:nvPr/>
        </p:nvSpPr>
        <p:spPr bwMode="auto">
          <a:xfrm>
            <a:off x="1524000" y="5334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2025" name="Oval 55"/>
          <p:cNvSpPr>
            <a:spLocks noChangeArrowheads="1"/>
          </p:cNvSpPr>
          <p:nvPr/>
        </p:nvSpPr>
        <p:spPr bwMode="auto">
          <a:xfrm>
            <a:off x="2057400" y="5305425"/>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42026" name="Oval 56"/>
          <p:cNvSpPr>
            <a:spLocks noChangeArrowheads="1"/>
          </p:cNvSpPr>
          <p:nvPr/>
        </p:nvSpPr>
        <p:spPr bwMode="auto">
          <a:xfrm>
            <a:off x="8382000" y="4238625"/>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2031" name="Text Box 77"/>
          <p:cNvSpPr txBox="1">
            <a:spLocks noChangeArrowheads="1"/>
          </p:cNvSpPr>
          <p:nvPr/>
        </p:nvSpPr>
        <p:spPr bwMode="auto">
          <a:xfrm>
            <a:off x="152400" y="3781425"/>
            <a:ext cx="1219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新插入结点</a:t>
            </a:r>
            <a:endParaRPr kumimoji="1" lang="zh-CN" altLang="en-US" sz="1400" b="1" dirty="0">
              <a:latin typeface="Times New Roman" panose="02020603050405020304" pitchFamily="18" charset="0"/>
              <a:ea typeface="华文楷体" panose="02010600040101010101" pitchFamily="2" charset="-122"/>
            </a:endParaRPr>
          </a:p>
        </p:txBody>
      </p:sp>
      <p:sp>
        <p:nvSpPr>
          <p:cNvPr id="42032" name="Oval 78"/>
          <p:cNvSpPr>
            <a:spLocks noChangeArrowheads="1"/>
          </p:cNvSpPr>
          <p:nvPr/>
        </p:nvSpPr>
        <p:spPr bwMode="auto">
          <a:xfrm>
            <a:off x="6629400" y="5305425"/>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2033" name="Oval 79"/>
          <p:cNvSpPr>
            <a:spLocks noChangeArrowheads="1"/>
          </p:cNvSpPr>
          <p:nvPr/>
        </p:nvSpPr>
        <p:spPr bwMode="auto">
          <a:xfrm>
            <a:off x="5562600" y="5334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2034" name="Oval 80"/>
          <p:cNvSpPr>
            <a:spLocks noChangeArrowheads="1"/>
          </p:cNvSpPr>
          <p:nvPr/>
        </p:nvSpPr>
        <p:spPr bwMode="auto">
          <a:xfrm>
            <a:off x="6096000" y="5305425"/>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42035" name="Text Box 81"/>
          <p:cNvSpPr txBox="1">
            <a:spLocks noChangeArrowheads="1"/>
          </p:cNvSpPr>
          <p:nvPr/>
        </p:nvSpPr>
        <p:spPr bwMode="auto">
          <a:xfrm>
            <a:off x="4532328" y="5049101"/>
            <a:ext cx="2895600" cy="630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调整后</a:t>
            </a:r>
            <a:r>
              <a:rPr kumimoji="1" lang="zh-CN" altLang="en-US" sz="1400" b="1" dirty="0" smtClean="0">
                <a:latin typeface="Times New Roman" panose="02020603050405020304" pitchFamily="18" charset="0"/>
                <a:ea typeface="华文楷体" panose="02010600040101010101" pitchFamily="2" charset="-122"/>
              </a:rPr>
              <a:t>：  </a:t>
            </a:r>
            <a:r>
              <a:rPr kumimoji="1" lang="zh-CN" altLang="en-US" sz="1400" b="1" dirty="0">
                <a:latin typeface="Times New Roman" panose="02020603050405020304" pitchFamily="18" charset="0"/>
                <a:ea typeface="华文楷体" panose="02010600040101010101" pitchFamily="2" charset="-122"/>
              </a:rPr>
              <a:t>高度为 </a:t>
            </a:r>
            <a:r>
              <a:rPr kumimoji="1" lang="en-US" altLang="zh-CN" sz="1400" b="1" dirty="0">
                <a:latin typeface="Times New Roman" panose="02020603050405020304" pitchFamily="18" charset="0"/>
                <a:ea typeface="华文楷体" panose="02010600040101010101" pitchFamily="2" charset="-122"/>
              </a:rPr>
              <a:t>2</a:t>
            </a:r>
            <a:endParaRPr kumimoji="1" lang="zh-CN" altLang="zh-CN" sz="14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zh-CN" sz="1400" b="1" dirty="0" smtClean="0">
                <a:latin typeface="Times New Roman" panose="02020603050405020304" pitchFamily="18" charset="0"/>
                <a:ea typeface="华文楷体" panose="02010600040101010101" pitchFamily="2" charset="-122"/>
              </a:rPr>
              <a:t>中</a:t>
            </a:r>
            <a:r>
              <a:rPr kumimoji="1" lang="zh-CN" altLang="zh-CN" sz="1400" b="1" dirty="0">
                <a:latin typeface="Times New Roman" panose="02020603050405020304" pitchFamily="18" charset="0"/>
                <a:ea typeface="华文楷体" panose="02010600040101010101" pitchFamily="2" charset="-122"/>
              </a:rPr>
              <a:t>序序列：</a:t>
            </a:r>
            <a:endParaRPr kumimoji="1" lang="zh-CN" altLang="en-US" sz="1400" b="1" dirty="0">
              <a:latin typeface="Times New Roman" panose="02020603050405020304" pitchFamily="18" charset="0"/>
              <a:ea typeface="华文楷体" panose="02010600040101010101" pitchFamily="2" charset="-122"/>
            </a:endParaRPr>
          </a:p>
        </p:txBody>
      </p:sp>
      <p:sp>
        <p:nvSpPr>
          <p:cNvPr id="42036" name="Line 82"/>
          <p:cNvSpPr>
            <a:spLocks noChangeShapeType="1"/>
          </p:cNvSpPr>
          <p:nvPr/>
        </p:nvSpPr>
        <p:spPr bwMode="auto">
          <a:xfrm>
            <a:off x="7086600" y="2638425"/>
            <a:ext cx="228600" cy="3048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2037" name="Oval 83"/>
          <p:cNvSpPr>
            <a:spLocks noChangeArrowheads="1"/>
          </p:cNvSpPr>
          <p:nvPr/>
        </p:nvSpPr>
        <p:spPr bwMode="auto">
          <a:xfrm>
            <a:off x="6781800" y="2333625"/>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smtClean="0">
                <a:latin typeface="Times New Roman" panose="02020603050405020304" pitchFamily="18" charset="0"/>
                <a:ea typeface="华文楷体" panose="02010600040101010101" pitchFamily="2" charset="-122"/>
              </a:rPr>
              <a:t>C</a:t>
            </a:r>
            <a:endParaRPr kumimoji="1" lang="en-US" altLang="zh-CN" sz="1600" b="1" u="sng" dirty="0">
              <a:latin typeface="Times New Roman" panose="02020603050405020304" pitchFamily="18" charset="0"/>
              <a:ea typeface="华文楷体" panose="02010600040101010101" pitchFamily="2" charset="-122"/>
            </a:endParaRPr>
          </a:p>
        </p:txBody>
      </p:sp>
      <p:sp>
        <p:nvSpPr>
          <p:cNvPr id="42038" name="Oval 84"/>
          <p:cNvSpPr>
            <a:spLocks noChangeArrowheads="1"/>
          </p:cNvSpPr>
          <p:nvPr/>
        </p:nvSpPr>
        <p:spPr bwMode="auto">
          <a:xfrm>
            <a:off x="6477000" y="2790825"/>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smtClean="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2039" name="Text Box 85"/>
          <p:cNvSpPr txBox="1">
            <a:spLocks noChangeArrowheads="1"/>
          </p:cNvSpPr>
          <p:nvPr/>
        </p:nvSpPr>
        <p:spPr bwMode="auto">
          <a:xfrm>
            <a:off x="6858000" y="2105025"/>
            <a:ext cx="3810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0</a:t>
            </a:r>
            <a:endParaRPr kumimoji="1" lang="en-US" altLang="zh-CN" sz="2000" b="1" dirty="0">
              <a:latin typeface="Times New Roman" panose="02020603050405020304" pitchFamily="18" charset="0"/>
              <a:ea typeface="华文楷体" panose="02010600040101010101" pitchFamily="2" charset="-122"/>
            </a:endParaRPr>
          </a:p>
        </p:txBody>
      </p:sp>
      <p:sp>
        <p:nvSpPr>
          <p:cNvPr id="42040" name="Oval 86"/>
          <p:cNvSpPr>
            <a:spLocks noChangeArrowheads="1"/>
          </p:cNvSpPr>
          <p:nvPr/>
        </p:nvSpPr>
        <p:spPr bwMode="auto">
          <a:xfrm>
            <a:off x="7086600" y="2790825"/>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smtClean="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2041" name="Text Box 87"/>
          <p:cNvSpPr txBox="1">
            <a:spLocks noChangeArrowheads="1"/>
          </p:cNvSpPr>
          <p:nvPr/>
        </p:nvSpPr>
        <p:spPr bwMode="auto">
          <a:xfrm>
            <a:off x="6553200" y="2562225"/>
            <a:ext cx="3810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0</a:t>
            </a:r>
            <a:endParaRPr kumimoji="1" lang="en-US" altLang="zh-CN" sz="2000" b="1" dirty="0">
              <a:latin typeface="Times New Roman" panose="02020603050405020304" pitchFamily="18" charset="0"/>
              <a:ea typeface="华文楷体" panose="02010600040101010101" pitchFamily="2" charset="-122"/>
            </a:endParaRPr>
          </a:p>
        </p:txBody>
      </p:sp>
      <p:sp>
        <p:nvSpPr>
          <p:cNvPr id="42042" name="Text Box 88"/>
          <p:cNvSpPr txBox="1">
            <a:spLocks noChangeArrowheads="1"/>
          </p:cNvSpPr>
          <p:nvPr/>
        </p:nvSpPr>
        <p:spPr bwMode="auto">
          <a:xfrm>
            <a:off x="7239000" y="2562225"/>
            <a:ext cx="3810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0</a:t>
            </a:r>
            <a:endParaRPr kumimoji="1" lang="en-US" altLang="zh-CN" sz="2000" b="1" dirty="0">
              <a:latin typeface="Times New Roman" panose="02020603050405020304" pitchFamily="18" charset="0"/>
              <a:ea typeface="华文楷体" panose="02010600040101010101" pitchFamily="2" charset="-122"/>
            </a:endParaRPr>
          </a:p>
        </p:txBody>
      </p:sp>
      <p:sp>
        <p:nvSpPr>
          <p:cNvPr id="42043" name="Text Box 89"/>
          <p:cNvSpPr txBox="1">
            <a:spLocks noChangeArrowheads="1"/>
          </p:cNvSpPr>
          <p:nvPr/>
        </p:nvSpPr>
        <p:spPr bwMode="auto">
          <a:xfrm>
            <a:off x="730250" y="1535113"/>
            <a:ext cx="879475" cy="39687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222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2000" b="1" dirty="0">
                <a:solidFill>
                  <a:schemeClr val="accent2"/>
                </a:solidFill>
                <a:latin typeface="Times New Roman" panose="02020603050405020304" pitchFamily="18" charset="0"/>
                <a:ea typeface="华文楷体" panose="02010600040101010101" pitchFamily="2" charset="-122"/>
              </a:rPr>
              <a:t>情形</a:t>
            </a:r>
            <a:r>
              <a:rPr lang="en-US" altLang="zh-CN" sz="2000" b="1" dirty="0">
                <a:solidFill>
                  <a:schemeClr val="accent2"/>
                </a:solidFill>
                <a:latin typeface="Times New Roman" panose="02020603050405020304" pitchFamily="18" charset="0"/>
                <a:ea typeface="华文楷体" panose="02010600040101010101" pitchFamily="2" charset="-122"/>
              </a:rPr>
              <a:t>C</a:t>
            </a:r>
            <a:endParaRPr lang="en-US" altLang="zh-CN" sz="2000" b="1" dirty="0">
              <a:solidFill>
                <a:schemeClr val="accent2"/>
              </a:solidFill>
              <a:latin typeface="Times New Roman" panose="02020603050405020304" pitchFamily="18" charset="0"/>
              <a:ea typeface="华文楷体" panose="02010600040101010101" pitchFamily="2" charset="-122"/>
            </a:endParaRPr>
          </a:p>
        </p:txBody>
      </p:sp>
      <p:sp>
        <p:nvSpPr>
          <p:cNvPr id="42044" name="Arc 90"/>
          <p:cNvSpPr/>
          <p:nvPr/>
        </p:nvSpPr>
        <p:spPr bwMode="auto">
          <a:xfrm flipH="1">
            <a:off x="2133600" y="3124200"/>
            <a:ext cx="381000" cy="304800"/>
          </a:xfrm>
          <a:custGeom>
            <a:avLst/>
            <a:gdLst>
              <a:gd name="T0" fmla="*/ 0 w 21600"/>
              <a:gd name="T1" fmla="*/ 0 h 21600"/>
              <a:gd name="T2" fmla="*/ 118540689 w 21600"/>
              <a:gd name="T3" fmla="*/ 60692834 h 21600"/>
              <a:gd name="T4" fmla="*/ 0 w 21600"/>
              <a:gd name="T5" fmla="*/ 60692834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12700">
            <a:solidFill>
              <a:srgbClr val="00FF00"/>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2045" name="Arc 91"/>
          <p:cNvSpPr/>
          <p:nvPr/>
        </p:nvSpPr>
        <p:spPr bwMode="auto">
          <a:xfrm>
            <a:off x="1981200" y="2665413"/>
            <a:ext cx="457200" cy="306387"/>
          </a:xfrm>
          <a:custGeom>
            <a:avLst/>
            <a:gdLst>
              <a:gd name="T0" fmla="*/ 0 w 21600"/>
              <a:gd name="T1" fmla="*/ 0 h 21600"/>
              <a:gd name="T2" fmla="*/ 204838300 w 21600"/>
              <a:gd name="T3" fmla="*/ 61645802 h 21600"/>
              <a:gd name="T4" fmla="*/ 0 w 21600"/>
              <a:gd name="T5" fmla="*/ 6164580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12700">
            <a:solidFill>
              <a:srgbClr val="00FF00"/>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页脚占位符 3"/>
          <p:cNvSpPr>
            <a:spLocks noGrp="1"/>
          </p:cNvSpPr>
          <p:nvPr>
            <p:ph type="ftr" sz="quarter" idx="10"/>
          </p:nvPr>
        </p:nvSpPr>
        <p:spPr/>
        <p:txBody>
          <a:bodyPr/>
          <a:lstStyle/>
          <a:p>
            <a:pPr>
              <a:defRPr/>
            </a:pPr>
            <a:r>
              <a:rPr lang="en-US" altLang="zh-CN" dirty="0"/>
              <a:t>BUPT SCST</a:t>
            </a:r>
            <a:endParaRPr lang="en-US" altLang="zh-CN" dirty="0"/>
          </a:p>
        </p:txBody>
      </p:sp>
      <p:sp>
        <p:nvSpPr>
          <p:cNvPr id="94" name="日期占位符 5"/>
          <p:cNvSpPr>
            <a:spLocks noGrp="1"/>
          </p:cNvSpPr>
          <p:nvPr>
            <p:ph type="dt" sz="quarter" idx="12"/>
          </p:nvPr>
        </p:nvSpPr>
        <p:spPr/>
        <p:txBody>
          <a:bodyPr/>
          <a:lstStyle/>
          <a:p>
            <a:pPr>
              <a:defRPr/>
            </a:pPr>
            <a:r>
              <a:rPr lang="en-US" altLang="zh-CN"/>
              <a:t>BUPT</a:t>
            </a:r>
            <a:endParaRPr lang="en-US" altLang="zh-CN"/>
          </a:p>
        </p:txBody>
      </p:sp>
      <p:sp>
        <p:nvSpPr>
          <p:cNvPr id="4301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43013"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ea typeface="华文楷体" panose="02010600040101010101" pitchFamily="2" charset="-122"/>
              </a:rPr>
              <a:t>RR</a:t>
            </a:r>
            <a:r>
              <a:rPr lang="zh-CN" altLang="en-US" sz="2400" b="1" dirty="0" smtClean="0">
                <a:ea typeface="华文楷体" panose="02010600040101010101" pitchFamily="2" charset="-122"/>
              </a:rPr>
              <a:t>型平衡旋转</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一次逆时针旋转</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p:txBody>
      </p:sp>
      <p:sp>
        <p:nvSpPr>
          <p:cNvPr id="43014" name="Line 4"/>
          <p:cNvSpPr>
            <a:spLocks noChangeShapeType="1"/>
          </p:cNvSpPr>
          <p:nvPr/>
        </p:nvSpPr>
        <p:spPr bwMode="auto">
          <a:xfrm flipH="1">
            <a:off x="6553200" y="289560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15" name="Line 5"/>
          <p:cNvSpPr>
            <a:spLocks noChangeShapeType="1"/>
          </p:cNvSpPr>
          <p:nvPr/>
        </p:nvSpPr>
        <p:spPr bwMode="auto">
          <a:xfrm>
            <a:off x="6781800" y="2819400"/>
            <a:ext cx="228600" cy="4572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16" name="Line 6"/>
          <p:cNvSpPr>
            <a:spLocks noChangeShapeType="1"/>
          </p:cNvSpPr>
          <p:nvPr/>
        </p:nvSpPr>
        <p:spPr bwMode="auto">
          <a:xfrm>
            <a:off x="2362200" y="2286000"/>
            <a:ext cx="304800" cy="4572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17" name="Line 7"/>
          <p:cNvSpPr>
            <a:spLocks noChangeShapeType="1"/>
          </p:cNvSpPr>
          <p:nvPr/>
        </p:nvSpPr>
        <p:spPr bwMode="auto">
          <a:xfrm flipH="1">
            <a:off x="1828800" y="2438400"/>
            <a:ext cx="228600" cy="5334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18" name="Oval 8"/>
          <p:cNvSpPr>
            <a:spLocks noChangeArrowheads="1"/>
          </p:cNvSpPr>
          <p:nvPr/>
        </p:nvSpPr>
        <p:spPr bwMode="auto">
          <a:xfrm>
            <a:off x="1981200" y="2133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3019" name="Oval 9"/>
          <p:cNvSpPr>
            <a:spLocks noChangeArrowheads="1"/>
          </p:cNvSpPr>
          <p:nvPr/>
        </p:nvSpPr>
        <p:spPr bwMode="auto">
          <a:xfrm>
            <a:off x="2514600" y="2743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3020" name="Text Box 10"/>
          <p:cNvSpPr txBox="1">
            <a:spLocks noChangeArrowheads="1"/>
          </p:cNvSpPr>
          <p:nvPr/>
        </p:nvSpPr>
        <p:spPr bwMode="auto">
          <a:xfrm>
            <a:off x="2057400" y="1905000"/>
            <a:ext cx="3810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-1</a:t>
            </a:r>
            <a:endParaRPr kumimoji="1" lang="en-US" altLang="zh-CN" sz="2000" b="1" dirty="0">
              <a:latin typeface="Times New Roman" panose="02020603050405020304" pitchFamily="18" charset="0"/>
              <a:ea typeface="华文楷体" panose="02010600040101010101" pitchFamily="2" charset="-122"/>
            </a:endParaRPr>
          </a:p>
        </p:txBody>
      </p:sp>
      <p:sp>
        <p:nvSpPr>
          <p:cNvPr id="43021" name="Text Box 11"/>
          <p:cNvSpPr txBox="1">
            <a:spLocks noChangeArrowheads="1"/>
          </p:cNvSpPr>
          <p:nvPr/>
        </p:nvSpPr>
        <p:spPr bwMode="auto">
          <a:xfrm>
            <a:off x="3276600" y="3657600"/>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h-1</a:t>
            </a:r>
            <a:endParaRPr kumimoji="1" lang="en-US" altLang="zh-CN" sz="2000" b="1" dirty="0">
              <a:latin typeface="Times New Roman" panose="02020603050405020304" pitchFamily="18" charset="0"/>
              <a:ea typeface="华文楷体" panose="02010600040101010101" pitchFamily="2" charset="-122"/>
            </a:endParaRPr>
          </a:p>
        </p:txBody>
      </p:sp>
      <p:sp>
        <p:nvSpPr>
          <p:cNvPr id="43022" name="Text Box 12"/>
          <p:cNvSpPr txBox="1">
            <a:spLocks noChangeArrowheads="1"/>
          </p:cNvSpPr>
          <p:nvPr/>
        </p:nvSpPr>
        <p:spPr bwMode="auto">
          <a:xfrm>
            <a:off x="2590800" y="2468563"/>
            <a:ext cx="3810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0</a:t>
            </a:r>
            <a:endParaRPr kumimoji="1" lang="en-US" altLang="zh-CN" sz="1200" b="1" dirty="0">
              <a:latin typeface="Times New Roman" panose="02020603050405020304" pitchFamily="18" charset="0"/>
              <a:ea typeface="华文楷体" panose="02010600040101010101" pitchFamily="2" charset="-122"/>
            </a:endParaRPr>
          </a:p>
        </p:txBody>
      </p:sp>
      <p:grpSp>
        <p:nvGrpSpPr>
          <p:cNvPr id="43023" name="Group 13"/>
          <p:cNvGrpSpPr/>
          <p:nvPr/>
        </p:nvGrpSpPr>
        <p:grpSpPr bwMode="auto">
          <a:xfrm>
            <a:off x="2819400" y="3505200"/>
            <a:ext cx="381000" cy="838200"/>
            <a:chOff x="2448" y="3072"/>
            <a:chExt cx="240" cy="528"/>
          </a:xfrm>
        </p:grpSpPr>
        <p:sp>
          <p:nvSpPr>
            <p:cNvPr id="43099" name="Rectangle 14"/>
            <p:cNvSpPr>
              <a:spLocks noChangeArrowheads="1"/>
            </p:cNvSpPr>
            <p:nvPr/>
          </p:nvSpPr>
          <p:spPr bwMode="auto">
            <a:xfrm>
              <a:off x="2448" y="3072"/>
              <a:ext cx="240" cy="528"/>
            </a:xfrm>
            <a:prstGeom prst="rect">
              <a:avLst/>
            </a:prstGeom>
            <a:solidFill>
              <a:schemeClr val="accent1"/>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100" name="Line 15"/>
            <p:cNvSpPr>
              <a:spLocks noChangeShapeType="1"/>
            </p:cNvSpPr>
            <p:nvPr/>
          </p:nvSpPr>
          <p:spPr bwMode="auto">
            <a:xfrm>
              <a:off x="2448" y="3456"/>
              <a:ext cx="2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101" name="Line 16"/>
            <p:cNvSpPr>
              <a:spLocks noChangeShapeType="1"/>
            </p:cNvSpPr>
            <p:nvPr/>
          </p:nvSpPr>
          <p:spPr bwMode="auto">
            <a:xfrm flipH="1">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102" name="Line 17"/>
            <p:cNvSpPr>
              <a:spLocks noChangeShapeType="1"/>
            </p:cNvSpPr>
            <p:nvPr/>
          </p:nvSpPr>
          <p:spPr bwMode="auto">
            <a:xfrm>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sp>
        <p:nvSpPr>
          <p:cNvPr id="43024" name="Line 18"/>
          <p:cNvSpPr>
            <a:spLocks noChangeShapeType="1"/>
          </p:cNvSpPr>
          <p:nvPr/>
        </p:nvSpPr>
        <p:spPr bwMode="auto">
          <a:xfrm>
            <a:off x="2819400" y="3124200"/>
            <a:ext cx="152400" cy="3810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25" name="Rectangle 19"/>
          <p:cNvSpPr>
            <a:spLocks noChangeArrowheads="1"/>
          </p:cNvSpPr>
          <p:nvPr/>
        </p:nvSpPr>
        <p:spPr bwMode="auto">
          <a:xfrm>
            <a:off x="2362200" y="35052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26" name="Text Box 20"/>
          <p:cNvSpPr txBox="1">
            <a:spLocks noChangeArrowheads="1"/>
          </p:cNvSpPr>
          <p:nvPr/>
        </p:nvSpPr>
        <p:spPr bwMode="auto">
          <a:xfrm>
            <a:off x="3081451" y="2114680"/>
            <a:ext cx="3810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-2</a:t>
            </a:r>
            <a:endParaRPr kumimoji="1" lang="en-US" altLang="zh-CN" sz="2000" b="1" dirty="0">
              <a:solidFill>
                <a:srgbClr val="C00000"/>
              </a:solidFill>
              <a:latin typeface="Times New Roman" panose="02020603050405020304" pitchFamily="18" charset="0"/>
              <a:ea typeface="华文楷体" panose="02010600040101010101" pitchFamily="2" charset="-122"/>
            </a:endParaRPr>
          </a:p>
        </p:txBody>
      </p:sp>
      <p:sp>
        <p:nvSpPr>
          <p:cNvPr id="43027" name="Text Box 21"/>
          <p:cNvSpPr txBox="1">
            <a:spLocks noChangeArrowheads="1"/>
          </p:cNvSpPr>
          <p:nvPr/>
        </p:nvSpPr>
        <p:spPr bwMode="auto">
          <a:xfrm>
            <a:off x="3493203" y="2631687"/>
            <a:ext cx="3810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-1</a:t>
            </a:r>
            <a:endParaRPr kumimoji="1" lang="en-US" altLang="zh-CN" sz="2000" b="1" dirty="0">
              <a:solidFill>
                <a:srgbClr val="C00000"/>
              </a:solidFill>
              <a:latin typeface="Times New Roman" panose="02020603050405020304" pitchFamily="18" charset="0"/>
              <a:ea typeface="华文楷体" panose="02010600040101010101" pitchFamily="2" charset="-122"/>
            </a:endParaRPr>
          </a:p>
        </p:txBody>
      </p:sp>
      <p:sp>
        <p:nvSpPr>
          <p:cNvPr id="43028" name="AutoShape 22"/>
          <p:cNvSpPr/>
          <p:nvPr/>
        </p:nvSpPr>
        <p:spPr bwMode="auto">
          <a:xfrm>
            <a:off x="1447800" y="2819400"/>
            <a:ext cx="76200" cy="609600"/>
          </a:xfrm>
          <a:prstGeom prst="leftBrace">
            <a:avLst>
              <a:gd name="adj1" fmla="val 66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29" name="Text Box 23"/>
          <p:cNvSpPr txBox="1">
            <a:spLocks noChangeArrowheads="1"/>
          </p:cNvSpPr>
          <p:nvPr/>
        </p:nvSpPr>
        <p:spPr bwMode="auto">
          <a:xfrm>
            <a:off x="3771900" y="3748881"/>
            <a:ext cx="4572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solidFill>
                  <a:srgbClr val="C00000"/>
                </a:solidFill>
                <a:latin typeface="Times New Roman" panose="02020603050405020304" pitchFamily="18" charset="0"/>
                <a:ea typeface="华文楷体" panose="02010600040101010101" pitchFamily="2" charset="-122"/>
              </a:rPr>
              <a:t>h</a:t>
            </a:r>
            <a:endParaRPr kumimoji="1" lang="en-US" altLang="zh-CN" sz="2000" b="1" dirty="0">
              <a:solidFill>
                <a:srgbClr val="C00000"/>
              </a:solidFill>
              <a:latin typeface="Times New Roman" panose="02020603050405020304" pitchFamily="18" charset="0"/>
              <a:ea typeface="华文楷体" panose="02010600040101010101" pitchFamily="2" charset="-122"/>
            </a:endParaRPr>
          </a:p>
        </p:txBody>
      </p:sp>
      <p:sp>
        <p:nvSpPr>
          <p:cNvPr id="43030" name="Rectangle 24"/>
          <p:cNvSpPr>
            <a:spLocks noChangeArrowheads="1"/>
          </p:cNvSpPr>
          <p:nvPr/>
        </p:nvSpPr>
        <p:spPr bwMode="auto">
          <a:xfrm>
            <a:off x="1676400" y="28194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31" name="AutoShape 25"/>
          <p:cNvSpPr/>
          <p:nvPr/>
        </p:nvSpPr>
        <p:spPr bwMode="auto">
          <a:xfrm>
            <a:off x="3276600" y="3505200"/>
            <a:ext cx="76200" cy="609600"/>
          </a:xfrm>
          <a:prstGeom prst="rightBrace">
            <a:avLst>
              <a:gd name="adj1" fmla="val 66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32" name="Text Box 26"/>
          <p:cNvSpPr txBox="1">
            <a:spLocks noChangeArrowheads="1"/>
          </p:cNvSpPr>
          <p:nvPr/>
        </p:nvSpPr>
        <p:spPr bwMode="auto">
          <a:xfrm>
            <a:off x="1828800" y="3687763"/>
            <a:ext cx="4572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h-1</a:t>
            </a:r>
            <a:endParaRPr kumimoji="1" lang="en-US" altLang="zh-CN" sz="2000" b="1" dirty="0">
              <a:latin typeface="Times New Roman" panose="02020603050405020304" pitchFamily="18" charset="0"/>
              <a:ea typeface="华文楷体" panose="02010600040101010101" pitchFamily="2" charset="-122"/>
            </a:endParaRPr>
          </a:p>
        </p:txBody>
      </p:sp>
      <p:sp>
        <p:nvSpPr>
          <p:cNvPr id="43033" name="Text Box 27"/>
          <p:cNvSpPr txBox="1">
            <a:spLocks noChangeArrowheads="1"/>
          </p:cNvSpPr>
          <p:nvPr/>
        </p:nvSpPr>
        <p:spPr bwMode="auto">
          <a:xfrm>
            <a:off x="1066800" y="2971800"/>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h-1</a:t>
            </a:r>
            <a:endParaRPr kumimoji="1" lang="en-US" altLang="zh-CN" sz="2000" b="1" dirty="0">
              <a:latin typeface="Times New Roman" panose="02020603050405020304" pitchFamily="18" charset="0"/>
              <a:ea typeface="华文楷体" panose="02010600040101010101" pitchFamily="2" charset="-122"/>
            </a:endParaRPr>
          </a:p>
        </p:txBody>
      </p:sp>
      <p:sp>
        <p:nvSpPr>
          <p:cNvPr id="43037" name="AutoShape 31"/>
          <p:cNvSpPr>
            <a:spLocks noChangeArrowheads="1"/>
          </p:cNvSpPr>
          <p:nvPr/>
        </p:nvSpPr>
        <p:spPr bwMode="auto">
          <a:xfrm>
            <a:off x="3886200" y="2971800"/>
            <a:ext cx="1676400" cy="381000"/>
          </a:xfrm>
          <a:prstGeom prst="rightArrow">
            <a:avLst>
              <a:gd name="adj1" fmla="val 50000"/>
              <a:gd name="adj2" fmla="val 110000"/>
            </a:avLst>
          </a:prstGeom>
          <a:solidFill>
            <a:schemeClr val="accent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38" name="Text Box 32"/>
          <p:cNvSpPr txBox="1">
            <a:spLocks noChangeArrowheads="1"/>
          </p:cNvSpPr>
          <p:nvPr/>
        </p:nvSpPr>
        <p:spPr bwMode="auto">
          <a:xfrm>
            <a:off x="3886200" y="2667000"/>
            <a:ext cx="14478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lang="en-US" altLang="zh-CN" sz="2000" b="1" dirty="0">
                <a:latin typeface="Times New Roman" panose="02020603050405020304" pitchFamily="18" charset="0"/>
                <a:ea typeface="华文楷体" panose="02010600040101010101" pitchFamily="2" charset="-122"/>
              </a:rPr>
              <a:t>RR </a:t>
            </a:r>
            <a:r>
              <a:rPr kumimoji="1" lang="zh-CN" altLang="en-US" sz="2000" b="1" dirty="0">
                <a:latin typeface="Times New Roman" panose="02020603050405020304" pitchFamily="18" charset="0"/>
                <a:ea typeface="华文楷体" panose="02010600040101010101" pitchFamily="2" charset="-122"/>
              </a:rPr>
              <a:t>型调整</a:t>
            </a:r>
            <a:endParaRPr kumimoji="1" lang="zh-CN" altLang="en-US" sz="2000" b="1" dirty="0">
              <a:latin typeface="Times New Roman" panose="02020603050405020304" pitchFamily="18" charset="0"/>
              <a:ea typeface="华文楷体" panose="02010600040101010101" pitchFamily="2" charset="-122"/>
            </a:endParaRPr>
          </a:p>
        </p:txBody>
      </p:sp>
      <p:sp>
        <p:nvSpPr>
          <p:cNvPr id="43039" name="Text Box 33"/>
          <p:cNvSpPr txBox="1">
            <a:spLocks noChangeArrowheads="1"/>
          </p:cNvSpPr>
          <p:nvPr/>
        </p:nvSpPr>
        <p:spPr bwMode="auto">
          <a:xfrm>
            <a:off x="2362200" y="36576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B</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43040" name="Text Box 34"/>
          <p:cNvSpPr txBox="1">
            <a:spLocks noChangeArrowheads="1"/>
          </p:cNvSpPr>
          <p:nvPr/>
        </p:nvSpPr>
        <p:spPr bwMode="auto">
          <a:xfrm>
            <a:off x="2819400" y="36576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B</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43041" name="Text Box 35"/>
          <p:cNvSpPr txBox="1">
            <a:spLocks noChangeArrowheads="1"/>
          </p:cNvSpPr>
          <p:nvPr/>
        </p:nvSpPr>
        <p:spPr bwMode="auto">
          <a:xfrm>
            <a:off x="1600200" y="28956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A</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43042" name="Line 36"/>
          <p:cNvSpPr>
            <a:spLocks noChangeShapeType="1"/>
          </p:cNvSpPr>
          <p:nvPr/>
        </p:nvSpPr>
        <p:spPr bwMode="auto">
          <a:xfrm>
            <a:off x="7162800" y="2286000"/>
            <a:ext cx="304800" cy="4572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43" name="Line 37"/>
          <p:cNvSpPr>
            <a:spLocks noChangeShapeType="1"/>
          </p:cNvSpPr>
          <p:nvPr/>
        </p:nvSpPr>
        <p:spPr bwMode="auto">
          <a:xfrm flipH="1">
            <a:off x="6705600" y="2438400"/>
            <a:ext cx="152400" cy="3810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44" name="Oval 38"/>
          <p:cNvSpPr>
            <a:spLocks noChangeArrowheads="1"/>
          </p:cNvSpPr>
          <p:nvPr/>
        </p:nvSpPr>
        <p:spPr bwMode="auto">
          <a:xfrm>
            <a:off x="6781800" y="2133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3045" name="Oval 39"/>
          <p:cNvSpPr>
            <a:spLocks noChangeArrowheads="1"/>
          </p:cNvSpPr>
          <p:nvPr/>
        </p:nvSpPr>
        <p:spPr bwMode="auto">
          <a:xfrm>
            <a:off x="6553200" y="2667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3046" name="Text Box 40"/>
          <p:cNvSpPr txBox="1">
            <a:spLocks noChangeArrowheads="1"/>
          </p:cNvSpPr>
          <p:nvPr/>
        </p:nvSpPr>
        <p:spPr bwMode="auto">
          <a:xfrm>
            <a:off x="6858000" y="1905000"/>
            <a:ext cx="3810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0</a:t>
            </a:r>
            <a:endParaRPr kumimoji="1" lang="en-US" altLang="zh-CN" sz="2000" b="1" dirty="0">
              <a:latin typeface="Times New Roman" panose="02020603050405020304" pitchFamily="18" charset="0"/>
              <a:ea typeface="华文楷体" panose="02010600040101010101" pitchFamily="2" charset="-122"/>
            </a:endParaRPr>
          </a:p>
        </p:txBody>
      </p:sp>
      <p:sp>
        <p:nvSpPr>
          <p:cNvPr id="43047" name="Text Box 41"/>
          <p:cNvSpPr txBox="1">
            <a:spLocks noChangeArrowheads="1"/>
          </p:cNvSpPr>
          <p:nvPr/>
        </p:nvSpPr>
        <p:spPr bwMode="auto">
          <a:xfrm>
            <a:off x="8001000" y="2971800"/>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a:t>
            </a:r>
            <a:endParaRPr kumimoji="1" lang="en-US" altLang="zh-CN" sz="2000" b="1" dirty="0">
              <a:latin typeface="Times New Roman" panose="02020603050405020304" pitchFamily="18" charset="0"/>
              <a:ea typeface="华文楷体" panose="02010600040101010101" pitchFamily="2" charset="-122"/>
            </a:endParaRPr>
          </a:p>
        </p:txBody>
      </p:sp>
      <p:sp>
        <p:nvSpPr>
          <p:cNvPr id="43048" name="Text Box 42"/>
          <p:cNvSpPr txBox="1">
            <a:spLocks noChangeArrowheads="1"/>
          </p:cNvSpPr>
          <p:nvPr/>
        </p:nvSpPr>
        <p:spPr bwMode="auto">
          <a:xfrm>
            <a:off x="6477000" y="2468563"/>
            <a:ext cx="3810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0</a:t>
            </a:r>
            <a:endParaRPr kumimoji="1" lang="en-US" altLang="zh-CN" sz="1200" b="1" dirty="0">
              <a:latin typeface="Times New Roman" panose="02020603050405020304" pitchFamily="18" charset="0"/>
              <a:ea typeface="华文楷体" panose="02010600040101010101" pitchFamily="2" charset="-122"/>
            </a:endParaRPr>
          </a:p>
        </p:txBody>
      </p:sp>
      <p:grpSp>
        <p:nvGrpSpPr>
          <p:cNvPr id="43049" name="Group 43"/>
          <p:cNvGrpSpPr/>
          <p:nvPr/>
        </p:nvGrpSpPr>
        <p:grpSpPr bwMode="auto">
          <a:xfrm>
            <a:off x="7467600" y="2743200"/>
            <a:ext cx="381000" cy="838200"/>
            <a:chOff x="2448" y="3072"/>
            <a:chExt cx="240" cy="528"/>
          </a:xfrm>
        </p:grpSpPr>
        <p:sp>
          <p:nvSpPr>
            <p:cNvPr id="43095" name="Rectangle 44"/>
            <p:cNvSpPr>
              <a:spLocks noChangeArrowheads="1"/>
            </p:cNvSpPr>
            <p:nvPr/>
          </p:nvSpPr>
          <p:spPr bwMode="auto">
            <a:xfrm>
              <a:off x="2448" y="3072"/>
              <a:ext cx="240" cy="528"/>
            </a:xfrm>
            <a:prstGeom prst="rect">
              <a:avLst/>
            </a:prstGeom>
            <a:solidFill>
              <a:schemeClr val="accent1"/>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96" name="Line 45"/>
            <p:cNvSpPr>
              <a:spLocks noChangeShapeType="1"/>
            </p:cNvSpPr>
            <p:nvPr/>
          </p:nvSpPr>
          <p:spPr bwMode="auto">
            <a:xfrm>
              <a:off x="2448" y="3456"/>
              <a:ext cx="2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97" name="Line 46"/>
            <p:cNvSpPr>
              <a:spLocks noChangeShapeType="1"/>
            </p:cNvSpPr>
            <p:nvPr/>
          </p:nvSpPr>
          <p:spPr bwMode="auto">
            <a:xfrm flipH="1">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98" name="Line 47"/>
            <p:cNvSpPr>
              <a:spLocks noChangeShapeType="1"/>
            </p:cNvSpPr>
            <p:nvPr/>
          </p:nvSpPr>
          <p:spPr bwMode="auto">
            <a:xfrm>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sp>
        <p:nvSpPr>
          <p:cNvPr id="43050" name="Rectangle 48"/>
          <p:cNvSpPr>
            <a:spLocks noChangeArrowheads="1"/>
          </p:cNvSpPr>
          <p:nvPr/>
        </p:nvSpPr>
        <p:spPr bwMode="auto">
          <a:xfrm>
            <a:off x="6858000" y="32766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51" name="Rectangle 49"/>
          <p:cNvSpPr>
            <a:spLocks noChangeArrowheads="1"/>
          </p:cNvSpPr>
          <p:nvPr/>
        </p:nvSpPr>
        <p:spPr bwMode="auto">
          <a:xfrm>
            <a:off x="6324600" y="32766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52" name="Text Box 50"/>
          <p:cNvSpPr txBox="1">
            <a:spLocks noChangeArrowheads="1"/>
          </p:cNvSpPr>
          <p:nvPr/>
        </p:nvSpPr>
        <p:spPr bwMode="auto">
          <a:xfrm>
            <a:off x="5715000" y="3429000"/>
            <a:ext cx="457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h-1</a:t>
            </a:r>
            <a:endParaRPr kumimoji="1" lang="en-US" altLang="zh-CN" sz="2000" b="1" dirty="0">
              <a:latin typeface="Times New Roman" panose="02020603050405020304" pitchFamily="18" charset="0"/>
              <a:ea typeface="华文楷体" panose="02010600040101010101" pitchFamily="2" charset="-122"/>
            </a:endParaRPr>
          </a:p>
        </p:txBody>
      </p:sp>
      <p:sp>
        <p:nvSpPr>
          <p:cNvPr id="43053" name="AutoShape 51"/>
          <p:cNvSpPr/>
          <p:nvPr/>
        </p:nvSpPr>
        <p:spPr bwMode="auto">
          <a:xfrm>
            <a:off x="7924800" y="2743200"/>
            <a:ext cx="76200" cy="838200"/>
          </a:xfrm>
          <a:prstGeom prst="rightBrace">
            <a:avLst>
              <a:gd name="adj1" fmla="val 91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54" name="Text Box 52"/>
          <p:cNvSpPr txBox="1">
            <a:spLocks noChangeArrowheads="1"/>
          </p:cNvSpPr>
          <p:nvPr/>
        </p:nvSpPr>
        <p:spPr bwMode="auto">
          <a:xfrm>
            <a:off x="7315200" y="3535363"/>
            <a:ext cx="4572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h-1</a:t>
            </a:r>
            <a:endParaRPr kumimoji="1" lang="en-US" altLang="zh-CN" sz="2000" b="1" dirty="0">
              <a:latin typeface="Times New Roman" panose="02020603050405020304" pitchFamily="18" charset="0"/>
              <a:ea typeface="华文楷体" panose="02010600040101010101" pitchFamily="2" charset="-122"/>
            </a:endParaRPr>
          </a:p>
        </p:txBody>
      </p:sp>
      <p:sp>
        <p:nvSpPr>
          <p:cNvPr id="43055" name="Text Box 53"/>
          <p:cNvSpPr txBox="1">
            <a:spLocks noChangeArrowheads="1"/>
          </p:cNvSpPr>
          <p:nvPr/>
        </p:nvSpPr>
        <p:spPr bwMode="auto">
          <a:xfrm>
            <a:off x="6858000" y="33528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B</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43056" name="Text Box 54"/>
          <p:cNvSpPr txBox="1">
            <a:spLocks noChangeArrowheads="1"/>
          </p:cNvSpPr>
          <p:nvPr/>
        </p:nvSpPr>
        <p:spPr bwMode="auto">
          <a:xfrm>
            <a:off x="6324600" y="33528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A</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43057" name="AutoShape 55"/>
          <p:cNvSpPr/>
          <p:nvPr/>
        </p:nvSpPr>
        <p:spPr bwMode="auto">
          <a:xfrm>
            <a:off x="6172200" y="3276600"/>
            <a:ext cx="76200" cy="609600"/>
          </a:xfrm>
          <a:prstGeom prst="leftBrace">
            <a:avLst>
              <a:gd name="adj1" fmla="val 66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58" name="AutoShape 56"/>
          <p:cNvSpPr>
            <a:spLocks noChangeArrowheads="1"/>
          </p:cNvSpPr>
          <p:nvPr/>
        </p:nvSpPr>
        <p:spPr bwMode="auto">
          <a:xfrm rot="-1818482">
            <a:off x="2362200" y="2057400"/>
            <a:ext cx="533400" cy="76200"/>
          </a:xfrm>
          <a:prstGeom prst="leftArrow">
            <a:avLst>
              <a:gd name="adj1" fmla="val 50000"/>
              <a:gd name="adj2" fmla="val 1750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solidFill>
                <a:schemeClr val="folHlink"/>
              </a:solidFill>
              <a:latin typeface="Times New Roman" panose="02020603050405020304" pitchFamily="18" charset="0"/>
              <a:ea typeface="华文楷体" panose="02010600040101010101" pitchFamily="2" charset="-122"/>
            </a:endParaRPr>
          </a:p>
        </p:txBody>
      </p:sp>
      <p:sp>
        <p:nvSpPr>
          <p:cNvPr id="43059" name="Text Box 57"/>
          <p:cNvSpPr txBox="1">
            <a:spLocks noChangeArrowheads="1"/>
          </p:cNvSpPr>
          <p:nvPr/>
        </p:nvSpPr>
        <p:spPr bwMode="auto">
          <a:xfrm>
            <a:off x="2819400" y="1828800"/>
            <a:ext cx="1219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危机结点</a:t>
            </a:r>
            <a:endParaRPr kumimoji="1" lang="zh-CN" altLang="en-US" sz="1400" b="1" dirty="0">
              <a:latin typeface="Times New Roman" panose="02020603050405020304" pitchFamily="18" charset="0"/>
              <a:ea typeface="华文楷体" panose="02010600040101010101" pitchFamily="2" charset="-122"/>
            </a:endParaRPr>
          </a:p>
        </p:txBody>
      </p:sp>
      <p:sp>
        <p:nvSpPr>
          <p:cNvPr id="43060" name="Text Box 58"/>
          <p:cNvSpPr txBox="1">
            <a:spLocks noChangeArrowheads="1"/>
          </p:cNvSpPr>
          <p:nvPr/>
        </p:nvSpPr>
        <p:spPr bwMode="auto">
          <a:xfrm>
            <a:off x="762000" y="4553978"/>
            <a:ext cx="2895600" cy="630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调整前：高度为 </a:t>
            </a:r>
            <a:r>
              <a:rPr kumimoji="1" lang="en-US" altLang="zh-CN" sz="1400" b="1" dirty="0">
                <a:latin typeface="Times New Roman" panose="02020603050405020304" pitchFamily="18" charset="0"/>
                <a:ea typeface="华文楷体" panose="02010600040101010101" pitchFamily="2" charset="-122"/>
              </a:rPr>
              <a:t>h + 1</a:t>
            </a:r>
            <a:endParaRPr kumimoji="1" lang="en-US" altLang="zh-CN" sz="14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zh-CN" sz="1400" b="1" dirty="0" smtClean="0">
                <a:latin typeface="Times New Roman" panose="02020603050405020304" pitchFamily="18" charset="0"/>
                <a:ea typeface="华文楷体" panose="02010600040101010101" pitchFamily="2" charset="-122"/>
              </a:rPr>
              <a:t>中</a:t>
            </a:r>
            <a:r>
              <a:rPr kumimoji="1" lang="zh-CN" altLang="zh-CN" sz="1400" b="1" dirty="0">
                <a:latin typeface="Times New Roman" panose="02020603050405020304" pitchFamily="18" charset="0"/>
                <a:ea typeface="华文楷体" panose="02010600040101010101" pitchFamily="2" charset="-122"/>
              </a:rPr>
              <a:t>序序列：</a:t>
            </a:r>
            <a:endParaRPr kumimoji="1" lang="zh-CN" altLang="en-US" sz="1400" b="1" dirty="0">
              <a:latin typeface="Times New Roman" panose="02020603050405020304" pitchFamily="18" charset="0"/>
              <a:ea typeface="华文楷体" panose="02010600040101010101" pitchFamily="2" charset="-122"/>
            </a:endParaRPr>
          </a:p>
        </p:txBody>
      </p:sp>
      <p:sp>
        <p:nvSpPr>
          <p:cNvPr id="43061" name="Oval 59"/>
          <p:cNvSpPr>
            <a:spLocks noChangeArrowheads="1"/>
          </p:cNvSpPr>
          <p:nvPr/>
        </p:nvSpPr>
        <p:spPr bwMode="auto">
          <a:xfrm>
            <a:off x="3429000" y="4876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3062" name="Oval 60"/>
          <p:cNvSpPr>
            <a:spLocks noChangeArrowheads="1"/>
          </p:cNvSpPr>
          <p:nvPr/>
        </p:nvSpPr>
        <p:spPr bwMode="auto">
          <a:xfrm>
            <a:off x="2362200" y="4876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grpSp>
        <p:nvGrpSpPr>
          <p:cNvPr id="43063" name="Group 61"/>
          <p:cNvGrpSpPr/>
          <p:nvPr/>
        </p:nvGrpSpPr>
        <p:grpSpPr bwMode="auto">
          <a:xfrm>
            <a:off x="3962400" y="4800600"/>
            <a:ext cx="381000" cy="838200"/>
            <a:chOff x="2448" y="3072"/>
            <a:chExt cx="240" cy="528"/>
          </a:xfrm>
        </p:grpSpPr>
        <p:sp>
          <p:nvSpPr>
            <p:cNvPr id="43091" name="Rectangle 62"/>
            <p:cNvSpPr>
              <a:spLocks noChangeArrowheads="1"/>
            </p:cNvSpPr>
            <p:nvPr/>
          </p:nvSpPr>
          <p:spPr bwMode="auto">
            <a:xfrm>
              <a:off x="2448" y="3072"/>
              <a:ext cx="240" cy="528"/>
            </a:xfrm>
            <a:prstGeom prst="rect">
              <a:avLst/>
            </a:prstGeom>
            <a:solidFill>
              <a:schemeClr val="accent1"/>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92" name="Line 63"/>
            <p:cNvSpPr>
              <a:spLocks noChangeShapeType="1"/>
            </p:cNvSpPr>
            <p:nvPr/>
          </p:nvSpPr>
          <p:spPr bwMode="auto">
            <a:xfrm>
              <a:off x="2448" y="3456"/>
              <a:ext cx="2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93" name="Line 64"/>
            <p:cNvSpPr>
              <a:spLocks noChangeShapeType="1"/>
            </p:cNvSpPr>
            <p:nvPr/>
          </p:nvSpPr>
          <p:spPr bwMode="auto">
            <a:xfrm flipH="1">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94" name="Line 65"/>
            <p:cNvSpPr>
              <a:spLocks noChangeShapeType="1"/>
            </p:cNvSpPr>
            <p:nvPr/>
          </p:nvSpPr>
          <p:spPr bwMode="auto">
            <a:xfrm>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sp>
        <p:nvSpPr>
          <p:cNvPr id="43064" name="Rectangle 66"/>
          <p:cNvSpPr>
            <a:spLocks noChangeArrowheads="1"/>
          </p:cNvSpPr>
          <p:nvPr/>
        </p:nvSpPr>
        <p:spPr bwMode="auto">
          <a:xfrm>
            <a:off x="1828800" y="48768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65" name="Rectangle 67"/>
          <p:cNvSpPr>
            <a:spLocks noChangeArrowheads="1"/>
          </p:cNvSpPr>
          <p:nvPr/>
        </p:nvSpPr>
        <p:spPr bwMode="auto">
          <a:xfrm>
            <a:off x="2895600" y="48768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66" name="Text Box 68"/>
          <p:cNvSpPr txBox="1">
            <a:spLocks noChangeArrowheads="1"/>
          </p:cNvSpPr>
          <p:nvPr/>
        </p:nvSpPr>
        <p:spPr bwMode="auto">
          <a:xfrm>
            <a:off x="1828800" y="50292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A</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43067" name="Text Box 69"/>
          <p:cNvSpPr txBox="1">
            <a:spLocks noChangeArrowheads="1"/>
          </p:cNvSpPr>
          <p:nvPr/>
        </p:nvSpPr>
        <p:spPr bwMode="auto">
          <a:xfrm>
            <a:off x="2895600" y="50292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B</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43068" name="Text Box 70"/>
          <p:cNvSpPr txBox="1">
            <a:spLocks noChangeArrowheads="1"/>
          </p:cNvSpPr>
          <p:nvPr/>
        </p:nvSpPr>
        <p:spPr bwMode="auto">
          <a:xfrm>
            <a:off x="3962400" y="50292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B</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43069" name="Text Box 71"/>
          <p:cNvSpPr txBox="1">
            <a:spLocks noChangeArrowheads="1"/>
          </p:cNvSpPr>
          <p:nvPr/>
        </p:nvSpPr>
        <p:spPr bwMode="auto">
          <a:xfrm>
            <a:off x="5334000" y="4578350"/>
            <a:ext cx="2895600" cy="630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调整后：高度为 </a:t>
            </a:r>
            <a:r>
              <a:rPr kumimoji="1" lang="en-US" altLang="zh-CN" sz="1400" b="1" dirty="0">
                <a:latin typeface="Times New Roman" panose="02020603050405020304" pitchFamily="18" charset="0"/>
                <a:ea typeface="华文楷体" panose="02010600040101010101" pitchFamily="2" charset="-122"/>
              </a:rPr>
              <a:t>h + 1</a:t>
            </a:r>
            <a:endParaRPr kumimoji="1" lang="en-US" altLang="zh-CN" sz="14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zh-CN" altLang="zh-CN" sz="1400" b="1" dirty="0" smtClean="0">
                <a:latin typeface="Times New Roman" panose="02020603050405020304" pitchFamily="18" charset="0"/>
                <a:ea typeface="华文楷体" panose="02010600040101010101" pitchFamily="2" charset="-122"/>
              </a:rPr>
              <a:t>中</a:t>
            </a:r>
            <a:r>
              <a:rPr kumimoji="1" lang="zh-CN" altLang="zh-CN" sz="1400" b="1" dirty="0">
                <a:latin typeface="Times New Roman" panose="02020603050405020304" pitchFamily="18" charset="0"/>
                <a:ea typeface="华文楷体" panose="02010600040101010101" pitchFamily="2" charset="-122"/>
              </a:rPr>
              <a:t>序序列：</a:t>
            </a:r>
            <a:endParaRPr kumimoji="1" lang="zh-CN" altLang="en-US" sz="1400" b="1" dirty="0">
              <a:latin typeface="Times New Roman" panose="02020603050405020304" pitchFamily="18" charset="0"/>
              <a:ea typeface="华文楷体" panose="02010600040101010101" pitchFamily="2" charset="-122"/>
            </a:endParaRPr>
          </a:p>
        </p:txBody>
      </p:sp>
      <p:sp>
        <p:nvSpPr>
          <p:cNvPr id="43070" name="Text Box 72"/>
          <p:cNvSpPr txBox="1">
            <a:spLocks noChangeArrowheads="1"/>
          </p:cNvSpPr>
          <p:nvPr/>
        </p:nvSpPr>
        <p:spPr bwMode="auto">
          <a:xfrm>
            <a:off x="4572000" y="5853113"/>
            <a:ext cx="36576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zh-CN" sz="1400" b="1" dirty="0">
                <a:latin typeface="Times New Roman" panose="02020603050405020304" pitchFamily="18" charset="0"/>
                <a:ea typeface="华文楷体" panose="02010600040101010101" pitchFamily="2" charset="-122"/>
              </a:rPr>
              <a:t>注意：</a:t>
            </a:r>
            <a:r>
              <a:rPr kumimoji="1" lang="zh-CN" altLang="en-US" sz="1400" b="1" dirty="0">
                <a:latin typeface="Times New Roman" panose="02020603050405020304" pitchFamily="18" charset="0"/>
                <a:ea typeface="华文楷体" panose="02010600040101010101" pitchFamily="2" charset="-122"/>
              </a:rPr>
              <a:t>调整</a:t>
            </a:r>
            <a:r>
              <a:rPr kumimoji="1" lang="zh-CN" altLang="zh-CN" sz="1400" b="1" dirty="0">
                <a:latin typeface="Times New Roman" panose="02020603050405020304" pitchFamily="18" charset="0"/>
                <a:ea typeface="华文楷体" panose="02010600040101010101" pitchFamily="2" charset="-122"/>
              </a:rPr>
              <a:t>后                        </a:t>
            </a:r>
            <a:r>
              <a:rPr kumimoji="1" lang="en-US" altLang="zh-CN" sz="1400" b="1" dirty="0" smtClean="0">
                <a:latin typeface="Times New Roman" panose="02020603050405020304" pitchFamily="18" charset="0"/>
                <a:ea typeface="华文楷体" panose="02010600040101010101" pitchFamily="2" charset="-122"/>
              </a:rPr>
              <a:t>   </a:t>
            </a:r>
            <a:r>
              <a:rPr kumimoji="1" lang="zh-CN" altLang="zh-CN" sz="1400" b="1" dirty="0" smtClean="0">
                <a:latin typeface="Times New Roman" panose="02020603050405020304" pitchFamily="18" charset="0"/>
                <a:ea typeface="华文楷体" panose="02010600040101010101" pitchFamily="2" charset="-122"/>
              </a:rPr>
              <a:t>平衡</a:t>
            </a:r>
            <a:r>
              <a:rPr kumimoji="1" lang="zh-CN" altLang="en-US" sz="1400" b="1" dirty="0">
                <a:latin typeface="Times New Roman" panose="02020603050405020304" pitchFamily="18" charset="0"/>
                <a:ea typeface="华文楷体" panose="02010600040101010101" pitchFamily="2" charset="-122"/>
              </a:rPr>
              <a:t>因子</a:t>
            </a:r>
            <a:r>
              <a:rPr kumimoji="1" lang="zh-CN" altLang="zh-CN" sz="1400" b="1" dirty="0">
                <a:latin typeface="Times New Roman" panose="02020603050405020304" pitchFamily="18" charset="0"/>
                <a:ea typeface="华文楷体" panose="02010600040101010101" pitchFamily="2" charset="-122"/>
              </a:rPr>
              <a:t>为 0</a:t>
            </a:r>
            <a:endParaRPr kumimoji="1" lang="en-US" altLang="zh-CN" sz="1400" b="1" dirty="0">
              <a:latin typeface="Times New Roman" panose="02020603050405020304" pitchFamily="18" charset="0"/>
              <a:ea typeface="华文楷体" panose="02010600040101010101" pitchFamily="2" charset="-122"/>
            </a:endParaRPr>
          </a:p>
        </p:txBody>
      </p:sp>
      <p:sp>
        <p:nvSpPr>
          <p:cNvPr id="43071" name="Oval 73"/>
          <p:cNvSpPr>
            <a:spLocks noChangeArrowheads="1"/>
          </p:cNvSpPr>
          <p:nvPr/>
        </p:nvSpPr>
        <p:spPr bwMode="auto">
          <a:xfrm>
            <a:off x="6400800" y="5791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sp>
        <p:nvSpPr>
          <p:cNvPr id="43072" name="Oval 74"/>
          <p:cNvSpPr>
            <a:spLocks noChangeArrowheads="1"/>
          </p:cNvSpPr>
          <p:nvPr/>
        </p:nvSpPr>
        <p:spPr bwMode="auto">
          <a:xfrm>
            <a:off x="5867400" y="57912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3073" name="Line 75"/>
          <p:cNvSpPr>
            <a:spLocks noChangeShapeType="1"/>
          </p:cNvSpPr>
          <p:nvPr/>
        </p:nvSpPr>
        <p:spPr bwMode="auto">
          <a:xfrm flipH="1">
            <a:off x="2514600" y="3124200"/>
            <a:ext cx="152400" cy="3810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74" name="AutoShape 76"/>
          <p:cNvSpPr/>
          <p:nvPr/>
        </p:nvSpPr>
        <p:spPr bwMode="auto">
          <a:xfrm>
            <a:off x="3657600" y="3472235"/>
            <a:ext cx="76200" cy="838200"/>
          </a:xfrm>
          <a:prstGeom prst="rightBrace">
            <a:avLst>
              <a:gd name="adj1" fmla="val 91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dirty="0">
              <a:latin typeface="Times New Roman" panose="02020603050405020304" pitchFamily="18" charset="0"/>
              <a:ea typeface="华文楷体" panose="02010600040101010101" pitchFamily="2" charset="-122"/>
            </a:endParaRPr>
          </a:p>
        </p:txBody>
      </p:sp>
      <p:sp>
        <p:nvSpPr>
          <p:cNvPr id="43075" name="AutoShape 77"/>
          <p:cNvSpPr/>
          <p:nvPr/>
        </p:nvSpPr>
        <p:spPr bwMode="auto">
          <a:xfrm>
            <a:off x="2209800" y="3505200"/>
            <a:ext cx="76200" cy="609600"/>
          </a:xfrm>
          <a:prstGeom prst="leftBrace">
            <a:avLst>
              <a:gd name="adj1" fmla="val 66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76" name="Arc 78"/>
          <p:cNvSpPr/>
          <p:nvPr/>
        </p:nvSpPr>
        <p:spPr bwMode="auto">
          <a:xfrm flipH="1">
            <a:off x="2362200" y="2438400"/>
            <a:ext cx="381000" cy="304800"/>
          </a:xfrm>
          <a:custGeom>
            <a:avLst/>
            <a:gdLst>
              <a:gd name="T0" fmla="*/ 0 w 21600"/>
              <a:gd name="T1" fmla="*/ 0 h 21600"/>
              <a:gd name="T2" fmla="*/ 118540689 w 21600"/>
              <a:gd name="T3" fmla="*/ 60692834 h 21600"/>
              <a:gd name="T4" fmla="*/ 0 w 21600"/>
              <a:gd name="T5" fmla="*/ 60692834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12700">
            <a:solidFill>
              <a:srgbClr val="00FF00"/>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77" name="AutoShape 79"/>
          <p:cNvSpPr/>
          <p:nvPr/>
        </p:nvSpPr>
        <p:spPr bwMode="auto">
          <a:xfrm>
            <a:off x="7315200" y="3276600"/>
            <a:ext cx="76200" cy="609600"/>
          </a:xfrm>
          <a:prstGeom prst="rightBrace">
            <a:avLst>
              <a:gd name="adj1" fmla="val 66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78" name="Text Box 80"/>
          <p:cNvSpPr txBox="1">
            <a:spLocks noChangeArrowheads="1"/>
          </p:cNvSpPr>
          <p:nvPr/>
        </p:nvSpPr>
        <p:spPr bwMode="auto">
          <a:xfrm>
            <a:off x="7467600" y="28956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B</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43079" name="Oval 81"/>
          <p:cNvSpPr>
            <a:spLocks noChangeArrowheads="1"/>
          </p:cNvSpPr>
          <p:nvPr/>
        </p:nvSpPr>
        <p:spPr bwMode="auto">
          <a:xfrm>
            <a:off x="8001000" y="4953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B</a:t>
            </a:r>
            <a:endParaRPr kumimoji="1" lang="en-US" altLang="zh-CN" sz="1600" b="1" u="sng" dirty="0">
              <a:latin typeface="Times New Roman" panose="02020603050405020304" pitchFamily="18" charset="0"/>
              <a:ea typeface="华文楷体" panose="02010600040101010101" pitchFamily="2" charset="-122"/>
            </a:endParaRPr>
          </a:p>
        </p:txBody>
      </p:sp>
      <p:sp>
        <p:nvSpPr>
          <p:cNvPr id="43080" name="Oval 82"/>
          <p:cNvSpPr>
            <a:spLocks noChangeArrowheads="1"/>
          </p:cNvSpPr>
          <p:nvPr/>
        </p:nvSpPr>
        <p:spPr bwMode="auto">
          <a:xfrm>
            <a:off x="6934200" y="4953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A</a:t>
            </a:r>
            <a:endParaRPr kumimoji="1" lang="en-US" altLang="zh-CN" sz="1600" b="1" u="sng" dirty="0">
              <a:latin typeface="Times New Roman" panose="02020603050405020304" pitchFamily="18" charset="0"/>
              <a:ea typeface="华文楷体" panose="02010600040101010101" pitchFamily="2" charset="-122"/>
            </a:endParaRPr>
          </a:p>
        </p:txBody>
      </p:sp>
      <p:grpSp>
        <p:nvGrpSpPr>
          <p:cNvPr id="43081" name="Group 83"/>
          <p:cNvGrpSpPr/>
          <p:nvPr/>
        </p:nvGrpSpPr>
        <p:grpSpPr bwMode="auto">
          <a:xfrm>
            <a:off x="8534400" y="4876800"/>
            <a:ext cx="381000" cy="838200"/>
            <a:chOff x="2448" y="3072"/>
            <a:chExt cx="240" cy="528"/>
          </a:xfrm>
        </p:grpSpPr>
        <p:sp>
          <p:nvSpPr>
            <p:cNvPr id="43087" name="Rectangle 84"/>
            <p:cNvSpPr>
              <a:spLocks noChangeArrowheads="1"/>
            </p:cNvSpPr>
            <p:nvPr/>
          </p:nvSpPr>
          <p:spPr bwMode="auto">
            <a:xfrm>
              <a:off x="2448" y="3072"/>
              <a:ext cx="240" cy="528"/>
            </a:xfrm>
            <a:prstGeom prst="rect">
              <a:avLst/>
            </a:prstGeom>
            <a:solidFill>
              <a:schemeClr val="accent1"/>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88" name="Line 85"/>
            <p:cNvSpPr>
              <a:spLocks noChangeShapeType="1"/>
            </p:cNvSpPr>
            <p:nvPr/>
          </p:nvSpPr>
          <p:spPr bwMode="auto">
            <a:xfrm>
              <a:off x="2448" y="3456"/>
              <a:ext cx="2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89" name="Line 86"/>
            <p:cNvSpPr>
              <a:spLocks noChangeShapeType="1"/>
            </p:cNvSpPr>
            <p:nvPr/>
          </p:nvSpPr>
          <p:spPr bwMode="auto">
            <a:xfrm flipH="1">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3090" name="Line 87"/>
            <p:cNvSpPr>
              <a:spLocks noChangeShapeType="1"/>
            </p:cNvSpPr>
            <p:nvPr/>
          </p:nvSpPr>
          <p:spPr bwMode="auto">
            <a:xfrm>
              <a:off x="2448" y="3456"/>
              <a:ext cx="240" cy="14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sp>
        <p:nvSpPr>
          <p:cNvPr id="43082" name="Rectangle 88"/>
          <p:cNvSpPr>
            <a:spLocks noChangeArrowheads="1"/>
          </p:cNvSpPr>
          <p:nvPr/>
        </p:nvSpPr>
        <p:spPr bwMode="auto">
          <a:xfrm>
            <a:off x="6400800" y="49530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83" name="Rectangle 89"/>
          <p:cNvSpPr>
            <a:spLocks noChangeArrowheads="1"/>
          </p:cNvSpPr>
          <p:nvPr/>
        </p:nvSpPr>
        <p:spPr bwMode="auto">
          <a:xfrm>
            <a:off x="7467600" y="4953000"/>
            <a:ext cx="3810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3084" name="Text Box 90"/>
          <p:cNvSpPr txBox="1">
            <a:spLocks noChangeArrowheads="1"/>
          </p:cNvSpPr>
          <p:nvPr/>
        </p:nvSpPr>
        <p:spPr bwMode="auto">
          <a:xfrm>
            <a:off x="6400800" y="51054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A</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43085" name="Text Box 91"/>
          <p:cNvSpPr txBox="1">
            <a:spLocks noChangeArrowheads="1"/>
          </p:cNvSpPr>
          <p:nvPr/>
        </p:nvSpPr>
        <p:spPr bwMode="auto">
          <a:xfrm>
            <a:off x="7467600" y="51054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B</a:t>
            </a:r>
            <a:r>
              <a:rPr kumimoji="1" lang="en-US" altLang="zh-CN" sz="1400" b="1" baseline="-10000" dirty="0">
                <a:latin typeface="Times New Roman" panose="02020603050405020304" pitchFamily="18" charset="0"/>
                <a:ea typeface="华文楷体" panose="02010600040101010101" pitchFamily="2" charset="-122"/>
              </a:rPr>
              <a:t>L</a:t>
            </a:r>
            <a:endParaRPr kumimoji="1" lang="en-US" altLang="zh-CN" sz="2000" b="1" dirty="0">
              <a:latin typeface="Times New Roman" panose="02020603050405020304" pitchFamily="18" charset="0"/>
              <a:ea typeface="华文楷体" panose="02010600040101010101" pitchFamily="2" charset="-122"/>
            </a:endParaRPr>
          </a:p>
        </p:txBody>
      </p:sp>
      <p:sp>
        <p:nvSpPr>
          <p:cNvPr id="43086" name="Text Box 92"/>
          <p:cNvSpPr txBox="1">
            <a:spLocks noChangeArrowheads="1"/>
          </p:cNvSpPr>
          <p:nvPr/>
        </p:nvSpPr>
        <p:spPr bwMode="auto">
          <a:xfrm>
            <a:off x="8534400" y="51054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B</a:t>
            </a:r>
            <a:r>
              <a:rPr kumimoji="1" lang="en-US" altLang="zh-CN" sz="1400" b="1" baseline="-10000" dirty="0">
                <a:latin typeface="Times New Roman" panose="02020603050405020304" pitchFamily="18" charset="0"/>
                <a:ea typeface="华文楷体" panose="02010600040101010101" pitchFamily="2" charset="-122"/>
              </a:rPr>
              <a:t>R</a:t>
            </a:r>
            <a:endParaRPr kumimoji="1" lang="en-US" altLang="zh-CN" sz="2000" b="1" dirty="0">
              <a:latin typeface="Times New Roman" panose="02020603050405020304" pitchFamily="18" charset="0"/>
              <a:ea typeface="华文楷体" panose="02010600040101010101" pitchFamily="2" charset="-122"/>
            </a:endParaRPr>
          </a:p>
        </p:txBody>
      </p:sp>
      <p:sp>
        <p:nvSpPr>
          <p:cNvPr id="97" name="AutoShape 53"/>
          <p:cNvSpPr>
            <a:spLocks noChangeArrowheads="1"/>
          </p:cNvSpPr>
          <p:nvPr/>
        </p:nvSpPr>
        <p:spPr bwMode="auto">
          <a:xfrm flipH="1">
            <a:off x="3352800" y="3894138"/>
            <a:ext cx="304800" cy="76200"/>
          </a:xfrm>
          <a:prstGeom prst="leftArrow">
            <a:avLst>
              <a:gd name="adj1" fmla="val 50000"/>
              <a:gd name="adj2" fmla="val 1000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solidFill>
                <a:schemeClr val="folHlink"/>
              </a:solidFill>
              <a:latin typeface="Times New Roman" panose="02020603050405020304" pitchFamily="18" charset="0"/>
              <a:ea typeface="华文楷体" panose="02010600040101010101" pitchFamily="2" charset="-122"/>
            </a:endParaRPr>
          </a:p>
        </p:txBody>
      </p:sp>
      <p:sp>
        <p:nvSpPr>
          <p:cNvPr id="98" name="AutoShape 53"/>
          <p:cNvSpPr>
            <a:spLocks noChangeArrowheads="1"/>
          </p:cNvSpPr>
          <p:nvPr/>
        </p:nvSpPr>
        <p:spPr bwMode="auto">
          <a:xfrm flipH="1">
            <a:off x="2489076" y="2225675"/>
            <a:ext cx="541699" cy="75408"/>
          </a:xfrm>
          <a:prstGeom prst="leftArrow">
            <a:avLst>
              <a:gd name="adj1" fmla="val 50000"/>
              <a:gd name="adj2" fmla="val 1000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solidFill>
                <a:schemeClr val="folHlink"/>
              </a:solidFill>
              <a:latin typeface="Times New Roman" panose="02020603050405020304" pitchFamily="18" charset="0"/>
              <a:ea typeface="华文楷体" panose="02010600040101010101" pitchFamily="2" charset="-122"/>
            </a:endParaRPr>
          </a:p>
        </p:txBody>
      </p:sp>
      <p:sp>
        <p:nvSpPr>
          <p:cNvPr id="99" name="AutoShape 53"/>
          <p:cNvSpPr>
            <a:spLocks noChangeArrowheads="1"/>
          </p:cNvSpPr>
          <p:nvPr/>
        </p:nvSpPr>
        <p:spPr bwMode="auto">
          <a:xfrm flipH="1">
            <a:off x="2959352" y="2769006"/>
            <a:ext cx="541699" cy="75408"/>
          </a:xfrm>
          <a:prstGeom prst="leftArrow">
            <a:avLst>
              <a:gd name="adj1" fmla="val 50000"/>
              <a:gd name="adj2" fmla="val 1000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solidFill>
                <a:schemeClr val="folHlink"/>
              </a:solidFill>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页脚占位符 3"/>
          <p:cNvSpPr>
            <a:spLocks noGrp="1"/>
          </p:cNvSpPr>
          <p:nvPr>
            <p:ph type="ftr" sz="quarter" idx="10"/>
          </p:nvPr>
        </p:nvSpPr>
        <p:spPr/>
        <p:txBody>
          <a:bodyPr/>
          <a:lstStyle/>
          <a:p>
            <a:pPr>
              <a:defRPr/>
            </a:pPr>
            <a:r>
              <a:rPr lang="en-US" altLang="zh-CN"/>
              <a:t>BUPT SCST</a:t>
            </a:r>
            <a:endParaRPr lang="en-US" altLang="zh-CN"/>
          </a:p>
        </p:txBody>
      </p:sp>
      <p:sp>
        <p:nvSpPr>
          <p:cNvPr id="91" name="日期占位符 5"/>
          <p:cNvSpPr>
            <a:spLocks noGrp="1"/>
          </p:cNvSpPr>
          <p:nvPr>
            <p:ph type="dt" sz="quarter" idx="12"/>
          </p:nvPr>
        </p:nvSpPr>
        <p:spPr/>
        <p:txBody>
          <a:bodyPr/>
          <a:lstStyle/>
          <a:p>
            <a:pPr>
              <a:defRPr/>
            </a:pPr>
            <a:r>
              <a:rPr lang="en-US" altLang="zh-CN"/>
              <a:t>BUPT</a:t>
            </a:r>
            <a:endParaRPr lang="en-US" altLang="zh-CN"/>
          </a:p>
        </p:txBody>
      </p:sp>
      <p:sp>
        <p:nvSpPr>
          <p:cNvPr id="44036" name="Rectangle 2"/>
          <p:cNvSpPr>
            <a:spLocks noGrp="1" noChangeArrowheads="1"/>
          </p:cNvSpPr>
          <p:nvPr>
            <p:ph type="title"/>
          </p:nvPr>
        </p:nvSpPr>
        <p:spPr/>
        <p:txBody>
          <a:bodyPr/>
          <a:lstStyle/>
          <a:p>
            <a:pPr eaLnBrk="1" hangingPunct="1"/>
            <a:r>
              <a:rPr lang="en-US" altLang="zh-CN" dirty="0" smtClean="0">
                <a:ea typeface="华文楷体" panose="02010600040101010101" pitchFamily="2" charset="-122"/>
              </a:rPr>
              <a:t>`</a:t>
            </a:r>
            <a:endParaRPr lang="zh-CN" altLang="zh-CN" dirty="0" smtClean="0">
              <a:ea typeface="华文楷体" panose="02010600040101010101" pitchFamily="2" charset="-122"/>
            </a:endParaRPr>
          </a:p>
        </p:txBody>
      </p:sp>
      <p:sp>
        <p:nvSpPr>
          <p:cNvPr id="44037"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ea typeface="华文楷体" panose="02010600040101010101" pitchFamily="2" charset="-122"/>
              </a:rPr>
              <a:t>RL</a:t>
            </a:r>
            <a:r>
              <a:rPr lang="zh-CN" altLang="en-US" sz="2400" b="1" dirty="0" smtClean="0">
                <a:ea typeface="华文楷体" panose="02010600040101010101" pitchFamily="2" charset="-122"/>
              </a:rPr>
              <a:t>型平衡旋转</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一次顺时针旋转</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一次逆时针旋转</a:t>
            </a:r>
            <a:endParaRPr lang="zh-CN" altLang="en-US" sz="2400" dirty="0" smtClean="0">
              <a:ea typeface="华文楷体" panose="02010600040101010101" pitchFamily="2" charset="-122"/>
            </a:endParaRPr>
          </a:p>
          <a:p>
            <a:pPr eaLnBrk="1" hangingPunct="1"/>
            <a:endParaRPr lang="en-US" altLang="zh-CN" sz="2400" dirty="0" smtClean="0">
              <a:ea typeface="华文楷体" panose="02010600040101010101" pitchFamily="2" charset="-122"/>
            </a:endParaRPr>
          </a:p>
        </p:txBody>
      </p:sp>
      <p:sp>
        <p:nvSpPr>
          <p:cNvPr id="44038" name="Oval 4"/>
          <p:cNvSpPr>
            <a:spLocks noChangeArrowheads="1"/>
          </p:cNvSpPr>
          <p:nvPr/>
        </p:nvSpPr>
        <p:spPr bwMode="auto">
          <a:xfrm>
            <a:off x="1600200" y="2362200"/>
            <a:ext cx="304800" cy="381000"/>
          </a:xfrm>
          <a:prstGeom prst="ellipse">
            <a:avLst/>
          </a:prstGeom>
          <a:solidFill>
            <a:srgbClr val="FF0000"/>
          </a:solidFill>
          <a:ln w="1905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ClrTx/>
              <a:buFontTx/>
              <a:buNone/>
            </a:pPr>
            <a:r>
              <a:rPr kumimoji="1" lang="en-US" altLang="zh-CN" sz="1800" b="1" dirty="0">
                <a:latin typeface="Times New Roman" panose="02020603050405020304" pitchFamily="18" charset="0"/>
                <a:ea typeface="华文楷体" panose="02010600040101010101" pitchFamily="2" charset="-122"/>
              </a:rPr>
              <a:t>A</a:t>
            </a:r>
            <a:endParaRPr kumimoji="1" lang="en-US" altLang="zh-CN" sz="1800" b="1" dirty="0">
              <a:latin typeface="Times New Roman" panose="02020603050405020304" pitchFamily="18" charset="0"/>
              <a:ea typeface="华文楷体" panose="02010600040101010101" pitchFamily="2" charset="-122"/>
            </a:endParaRPr>
          </a:p>
        </p:txBody>
      </p:sp>
      <p:sp>
        <p:nvSpPr>
          <p:cNvPr id="44039" name="Oval 5"/>
          <p:cNvSpPr>
            <a:spLocks noChangeArrowheads="1"/>
          </p:cNvSpPr>
          <p:nvPr/>
        </p:nvSpPr>
        <p:spPr bwMode="auto">
          <a:xfrm>
            <a:off x="2057400" y="2819400"/>
            <a:ext cx="381000" cy="381000"/>
          </a:xfrm>
          <a:prstGeom prst="ellipse">
            <a:avLst/>
          </a:prstGeom>
          <a:solidFill>
            <a:srgbClr val="FF0000"/>
          </a:solidFill>
          <a:ln w="1905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40" name="Oval 6"/>
          <p:cNvSpPr>
            <a:spLocks noChangeArrowheads="1"/>
          </p:cNvSpPr>
          <p:nvPr/>
        </p:nvSpPr>
        <p:spPr bwMode="auto">
          <a:xfrm>
            <a:off x="1600200" y="3200400"/>
            <a:ext cx="304800" cy="381000"/>
          </a:xfrm>
          <a:prstGeom prst="ellipse">
            <a:avLst/>
          </a:prstGeom>
          <a:solidFill>
            <a:srgbClr val="FF0000"/>
          </a:solidFill>
          <a:ln w="1905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41" name="Rectangle 7"/>
          <p:cNvSpPr>
            <a:spLocks noChangeArrowheads="1"/>
          </p:cNvSpPr>
          <p:nvPr/>
        </p:nvSpPr>
        <p:spPr bwMode="auto">
          <a:xfrm>
            <a:off x="685800" y="3124200"/>
            <a:ext cx="381000" cy="1066800"/>
          </a:xfrm>
          <a:prstGeom prst="rect">
            <a:avLst/>
          </a:prstGeom>
          <a:solidFill>
            <a:srgbClr val="FFFFFF"/>
          </a:solidFill>
          <a:ln w="38100"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42" name="Line 8"/>
          <p:cNvSpPr>
            <a:spLocks noChangeShapeType="1"/>
          </p:cNvSpPr>
          <p:nvPr/>
        </p:nvSpPr>
        <p:spPr bwMode="auto">
          <a:xfrm>
            <a:off x="1905000" y="2667000"/>
            <a:ext cx="228600" cy="228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43" name="Line 9"/>
          <p:cNvSpPr>
            <a:spLocks noChangeShapeType="1"/>
          </p:cNvSpPr>
          <p:nvPr/>
        </p:nvSpPr>
        <p:spPr bwMode="auto">
          <a:xfrm flipH="1">
            <a:off x="1828800" y="3048000"/>
            <a:ext cx="228600" cy="1524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44" name="Rectangle 10"/>
          <p:cNvSpPr>
            <a:spLocks noChangeArrowheads="1"/>
          </p:cNvSpPr>
          <p:nvPr/>
        </p:nvSpPr>
        <p:spPr bwMode="auto">
          <a:xfrm>
            <a:off x="1295400" y="3733800"/>
            <a:ext cx="381000" cy="762000"/>
          </a:xfrm>
          <a:prstGeom prst="rect">
            <a:avLst/>
          </a:prstGeom>
          <a:noFill/>
          <a:ln w="38100" algn="ctr">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45" name="Rectangle 11"/>
          <p:cNvSpPr>
            <a:spLocks noChangeArrowheads="1"/>
          </p:cNvSpPr>
          <p:nvPr/>
        </p:nvSpPr>
        <p:spPr bwMode="auto">
          <a:xfrm>
            <a:off x="1828800" y="3733800"/>
            <a:ext cx="381000" cy="762000"/>
          </a:xfrm>
          <a:prstGeom prst="rect">
            <a:avLst/>
          </a:prstGeom>
          <a:noFill/>
          <a:ln w="38100" algn="ctr">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46" name="Rectangle 12"/>
          <p:cNvSpPr>
            <a:spLocks noChangeArrowheads="1"/>
          </p:cNvSpPr>
          <p:nvPr/>
        </p:nvSpPr>
        <p:spPr bwMode="auto">
          <a:xfrm>
            <a:off x="2438400" y="3429000"/>
            <a:ext cx="381000" cy="1066800"/>
          </a:xfrm>
          <a:prstGeom prst="rect">
            <a:avLst/>
          </a:prstGeom>
          <a:noFill/>
          <a:ln w="38100" algn="ctr">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47" name="Line 13"/>
          <p:cNvSpPr>
            <a:spLocks noChangeShapeType="1"/>
          </p:cNvSpPr>
          <p:nvPr/>
        </p:nvSpPr>
        <p:spPr bwMode="auto">
          <a:xfrm flipH="1">
            <a:off x="990600" y="2590800"/>
            <a:ext cx="609600" cy="5334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48" name="Line 14"/>
          <p:cNvSpPr>
            <a:spLocks noChangeShapeType="1"/>
          </p:cNvSpPr>
          <p:nvPr/>
        </p:nvSpPr>
        <p:spPr bwMode="auto">
          <a:xfrm>
            <a:off x="2438400" y="3124200"/>
            <a:ext cx="228600" cy="3048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49" name="Line 15"/>
          <p:cNvSpPr>
            <a:spLocks noChangeShapeType="1"/>
          </p:cNvSpPr>
          <p:nvPr/>
        </p:nvSpPr>
        <p:spPr bwMode="auto">
          <a:xfrm flipH="1">
            <a:off x="1447800" y="3505200"/>
            <a:ext cx="228600" cy="228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50" name="Line 16"/>
          <p:cNvSpPr>
            <a:spLocks noChangeShapeType="1"/>
          </p:cNvSpPr>
          <p:nvPr/>
        </p:nvSpPr>
        <p:spPr bwMode="auto">
          <a:xfrm>
            <a:off x="1828800" y="3505200"/>
            <a:ext cx="228600" cy="228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51" name="Text Box 17"/>
          <p:cNvSpPr txBox="1">
            <a:spLocks noChangeArrowheads="1"/>
          </p:cNvSpPr>
          <p:nvPr/>
        </p:nvSpPr>
        <p:spPr bwMode="auto">
          <a:xfrm>
            <a:off x="642891" y="350520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黑体" panose="02010609060101010101" pitchFamily="49" charset="-122"/>
              </a:rPr>
              <a:t>A</a:t>
            </a:r>
            <a:r>
              <a:rPr kumimoji="1" lang="en-US" altLang="zh-CN" sz="2400" baseline="-25000" dirty="0">
                <a:latin typeface="Times New Roman" panose="02020603050405020304" pitchFamily="18" charset="0"/>
                <a:ea typeface="黑体" panose="02010609060101010101" pitchFamily="49" charset="-122"/>
              </a:rPr>
              <a:t>L</a:t>
            </a:r>
            <a:endParaRPr kumimoji="1" lang="en-US" altLang="zh-CN" sz="2400" baseline="-25000" dirty="0">
              <a:latin typeface="Times New Roman" panose="02020603050405020304" pitchFamily="18" charset="0"/>
              <a:ea typeface="黑体" panose="02010609060101010101" pitchFamily="49" charset="-122"/>
            </a:endParaRPr>
          </a:p>
        </p:txBody>
      </p:sp>
      <p:sp>
        <p:nvSpPr>
          <p:cNvPr id="44052" name="Text Box 18"/>
          <p:cNvSpPr txBox="1">
            <a:spLocks noChangeArrowheads="1"/>
          </p:cNvSpPr>
          <p:nvPr/>
        </p:nvSpPr>
        <p:spPr bwMode="auto">
          <a:xfrm>
            <a:off x="1752600" y="396240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a:latin typeface="Times New Roman" panose="02020603050405020304" pitchFamily="18" charset="0"/>
                <a:ea typeface="黑体" panose="02010609060101010101" pitchFamily="49" charset="-122"/>
              </a:rPr>
              <a:t>C</a:t>
            </a:r>
            <a:r>
              <a:rPr kumimoji="1" lang="en-US" altLang="zh-CN" sz="2400" baseline="-25000">
                <a:latin typeface="Times New Roman" panose="02020603050405020304" pitchFamily="18" charset="0"/>
                <a:ea typeface="黑体" panose="02010609060101010101" pitchFamily="49" charset="-122"/>
              </a:rPr>
              <a:t>R</a:t>
            </a:r>
            <a:endParaRPr kumimoji="1" lang="en-US" altLang="zh-CN" sz="2400" baseline="-25000">
              <a:latin typeface="Times New Roman" panose="02020603050405020304" pitchFamily="18" charset="0"/>
              <a:ea typeface="黑体" panose="02010609060101010101" pitchFamily="49" charset="-122"/>
            </a:endParaRPr>
          </a:p>
        </p:txBody>
      </p:sp>
      <p:sp>
        <p:nvSpPr>
          <p:cNvPr id="44053" name="Text Box 19"/>
          <p:cNvSpPr txBox="1">
            <a:spLocks noChangeArrowheads="1"/>
          </p:cNvSpPr>
          <p:nvPr/>
        </p:nvSpPr>
        <p:spPr bwMode="auto">
          <a:xfrm>
            <a:off x="1219200" y="396240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a:latin typeface="Times New Roman" panose="02020603050405020304" pitchFamily="18" charset="0"/>
                <a:ea typeface="黑体" panose="02010609060101010101" pitchFamily="49" charset="-122"/>
              </a:rPr>
              <a:t>C</a:t>
            </a:r>
            <a:r>
              <a:rPr kumimoji="1" lang="en-US" altLang="zh-CN" sz="2400" baseline="-25000">
                <a:latin typeface="Times New Roman" panose="02020603050405020304" pitchFamily="18" charset="0"/>
                <a:ea typeface="黑体" panose="02010609060101010101" pitchFamily="49" charset="-122"/>
              </a:rPr>
              <a:t>L</a:t>
            </a:r>
            <a:endParaRPr kumimoji="1" lang="en-US" altLang="zh-CN" sz="2400" baseline="-25000">
              <a:latin typeface="Times New Roman" panose="02020603050405020304" pitchFamily="18" charset="0"/>
              <a:ea typeface="黑体" panose="02010609060101010101" pitchFamily="49" charset="-122"/>
            </a:endParaRPr>
          </a:p>
        </p:txBody>
      </p:sp>
      <p:sp>
        <p:nvSpPr>
          <p:cNvPr id="44054" name="Text Box 20"/>
          <p:cNvSpPr txBox="1">
            <a:spLocks noChangeArrowheads="1"/>
          </p:cNvSpPr>
          <p:nvPr/>
        </p:nvSpPr>
        <p:spPr bwMode="auto">
          <a:xfrm>
            <a:off x="2362200" y="373380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a:latin typeface="Times New Roman" panose="02020603050405020304" pitchFamily="18" charset="0"/>
                <a:ea typeface="黑体" panose="02010609060101010101" pitchFamily="49" charset="-122"/>
              </a:rPr>
              <a:t>B</a:t>
            </a:r>
            <a:r>
              <a:rPr kumimoji="1" lang="en-US" altLang="zh-CN" sz="2400" baseline="-25000">
                <a:latin typeface="Times New Roman" panose="02020603050405020304" pitchFamily="18" charset="0"/>
                <a:ea typeface="黑体" panose="02010609060101010101" pitchFamily="49" charset="-122"/>
              </a:rPr>
              <a:t>R</a:t>
            </a:r>
            <a:endParaRPr kumimoji="1" lang="en-US" altLang="zh-CN" sz="2400" baseline="-25000">
              <a:latin typeface="Times New Roman" panose="02020603050405020304" pitchFamily="18" charset="0"/>
              <a:ea typeface="黑体" panose="02010609060101010101" pitchFamily="49" charset="-122"/>
            </a:endParaRPr>
          </a:p>
        </p:txBody>
      </p:sp>
      <p:sp>
        <p:nvSpPr>
          <p:cNvPr id="44055" name="Oval 21"/>
          <p:cNvSpPr>
            <a:spLocks noChangeArrowheads="1"/>
          </p:cNvSpPr>
          <p:nvPr/>
        </p:nvSpPr>
        <p:spPr bwMode="auto">
          <a:xfrm>
            <a:off x="4208512" y="2362200"/>
            <a:ext cx="304800" cy="381000"/>
          </a:xfrm>
          <a:prstGeom prst="ellipse">
            <a:avLst/>
          </a:prstGeom>
          <a:solidFill>
            <a:srgbClr val="FF0000"/>
          </a:solidFill>
          <a:ln w="1905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56" name="Oval 22"/>
          <p:cNvSpPr>
            <a:spLocks noChangeArrowheads="1"/>
          </p:cNvSpPr>
          <p:nvPr/>
        </p:nvSpPr>
        <p:spPr bwMode="auto">
          <a:xfrm>
            <a:off x="4665712" y="2819400"/>
            <a:ext cx="381000" cy="381000"/>
          </a:xfrm>
          <a:prstGeom prst="ellipse">
            <a:avLst/>
          </a:prstGeom>
          <a:solidFill>
            <a:srgbClr val="FF0000"/>
          </a:solidFill>
          <a:ln w="1905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57" name="Oval 23"/>
          <p:cNvSpPr>
            <a:spLocks noChangeArrowheads="1"/>
          </p:cNvSpPr>
          <p:nvPr/>
        </p:nvSpPr>
        <p:spPr bwMode="auto">
          <a:xfrm>
            <a:off x="4208512" y="3200400"/>
            <a:ext cx="304800" cy="381000"/>
          </a:xfrm>
          <a:prstGeom prst="ellipse">
            <a:avLst/>
          </a:prstGeom>
          <a:solidFill>
            <a:srgbClr val="FF0000"/>
          </a:solidFill>
          <a:ln w="1905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58" name="Rectangle 24"/>
          <p:cNvSpPr>
            <a:spLocks noChangeArrowheads="1"/>
          </p:cNvSpPr>
          <p:nvPr/>
        </p:nvSpPr>
        <p:spPr bwMode="auto">
          <a:xfrm>
            <a:off x="3294112" y="3124200"/>
            <a:ext cx="381000" cy="1066800"/>
          </a:xfrm>
          <a:prstGeom prst="rect">
            <a:avLst/>
          </a:prstGeom>
          <a:noFill/>
          <a:ln w="38100" algn="ctr">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59" name="Line 25"/>
          <p:cNvSpPr>
            <a:spLocks noChangeShapeType="1"/>
          </p:cNvSpPr>
          <p:nvPr/>
        </p:nvSpPr>
        <p:spPr bwMode="auto">
          <a:xfrm>
            <a:off x="4513312" y="2667000"/>
            <a:ext cx="228600" cy="228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60" name="Line 26"/>
          <p:cNvSpPr>
            <a:spLocks noChangeShapeType="1"/>
          </p:cNvSpPr>
          <p:nvPr/>
        </p:nvSpPr>
        <p:spPr bwMode="auto">
          <a:xfrm flipH="1">
            <a:off x="4437112" y="3048000"/>
            <a:ext cx="228600" cy="1524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61" name="Rectangle 27"/>
          <p:cNvSpPr>
            <a:spLocks noChangeArrowheads="1"/>
          </p:cNvSpPr>
          <p:nvPr/>
        </p:nvSpPr>
        <p:spPr bwMode="auto">
          <a:xfrm>
            <a:off x="3903712" y="3733800"/>
            <a:ext cx="381000" cy="762000"/>
          </a:xfrm>
          <a:prstGeom prst="rect">
            <a:avLst/>
          </a:prstGeom>
          <a:noFill/>
          <a:ln w="38100" algn="ctr">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62" name="Rectangle 28"/>
          <p:cNvSpPr>
            <a:spLocks noChangeArrowheads="1"/>
          </p:cNvSpPr>
          <p:nvPr/>
        </p:nvSpPr>
        <p:spPr bwMode="auto">
          <a:xfrm>
            <a:off x="4437112" y="3733800"/>
            <a:ext cx="381000" cy="762000"/>
          </a:xfrm>
          <a:prstGeom prst="rect">
            <a:avLst/>
          </a:prstGeom>
          <a:noFill/>
          <a:ln w="38100" algn="ctr">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63" name="Rectangle 29"/>
          <p:cNvSpPr>
            <a:spLocks noChangeArrowheads="1"/>
          </p:cNvSpPr>
          <p:nvPr/>
        </p:nvSpPr>
        <p:spPr bwMode="auto">
          <a:xfrm>
            <a:off x="5199112" y="3429000"/>
            <a:ext cx="381000" cy="1066800"/>
          </a:xfrm>
          <a:prstGeom prst="rect">
            <a:avLst/>
          </a:prstGeom>
          <a:noFill/>
          <a:ln w="38100" algn="ctr">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64" name="Line 30"/>
          <p:cNvSpPr>
            <a:spLocks noChangeShapeType="1"/>
          </p:cNvSpPr>
          <p:nvPr/>
        </p:nvSpPr>
        <p:spPr bwMode="auto">
          <a:xfrm flipH="1">
            <a:off x="3598912" y="2590800"/>
            <a:ext cx="609600" cy="5334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65" name="Line 31"/>
          <p:cNvSpPr>
            <a:spLocks noChangeShapeType="1"/>
          </p:cNvSpPr>
          <p:nvPr/>
        </p:nvSpPr>
        <p:spPr bwMode="auto">
          <a:xfrm>
            <a:off x="4970512" y="3124200"/>
            <a:ext cx="228600" cy="3048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66" name="Line 32"/>
          <p:cNvSpPr>
            <a:spLocks noChangeShapeType="1"/>
          </p:cNvSpPr>
          <p:nvPr/>
        </p:nvSpPr>
        <p:spPr bwMode="auto">
          <a:xfrm flipH="1">
            <a:off x="4056112" y="3505200"/>
            <a:ext cx="228600" cy="228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67" name="Line 33"/>
          <p:cNvSpPr>
            <a:spLocks noChangeShapeType="1"/>
          </p:cNvSpPr>
          <p:nvPr/>
        </p:nvSpPr>
        <p:spPr bwMode="auto">
          <a:xfrm>
            <a:off x="4437112" y="3505200"/>
            <a:ext cx="228600" cy="228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68" name="Text Box 34"/>
          <p:cNvSpPr txBox="1">
            <a:spLocks noChangeArrowheads="1"/>
          </p:cNvSpPr>
          <p:nvPr/>
        </p:nvSpPr>
        <p:spPr bwMode="auto">
          <a:xfrm>
            <a:off x="3217912" y="350520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a:latin typeface="Times New Roman" panose="02020603050405020304" pitchFamily="18" charset="0"/>
                <a:ea typeface="黑体" panose="02010609060101010101" pitchFamily="49" charset="-122"/>
              </a:rPr>
              <a:t>A</a:t>
            </a:r>
            <a:r>
              <a:rPr kumimoji="1" lang="en-US" altLang="zh-CN" sz="2400" baseline="-25000">
                <a:latin typeface="Times New Roman" panose="02020603050405020304" pitchFamily="18" charset="0"/>
                <a:ea typeface="黑体" panose="02010609060101010101" pitchFamily="49" charset="-122"/>
              </a:rPr>
              <a:t>L</a:t>
            </a:r>
            <a:endParaRPr kumimoji="1" lang="en-US" altLang="zh-CN" sz="2400" baseline="-25000">
              <a:latin typeface="Times New Roman" panose="02020603050405020304" pitchFamily="18" charset="0"/>
              <a:ea typeface="黑体" panose="02010609060101010101" pitchFamily="49" charset="-122"/>
            </a:endParaRPr>
          </a:p>
        </p:txBody>
      </p:sp>
      <p:sp>
        <p:nvSpPr>
          <p:cNvPr id="44069" name="Text Box 35"/>
          <p:cNvSpPr txBox="1">
            <a:spLocks noChangeArrowheads="1"/>
          </p:cNvSpPr>
          <p:nvPr/>
        </p:nvSpPr>
        <p:spPr bwMode="auto">
          <a:xfrm>
            <a:off x="4360912" y="396240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a:latin typeface="Times New Roman" panose="02020603050405020304" pitchFamily="18" charset="0"/>
                <a:ea typeface="黑体" panose="02010609060101010101" pitchFamily="49" charset="-122"/>
              </a:rPr>
              <a:t>C</a:t>
            </a:r>
            <a:r>
              <a:rPr kumimoji="1" lang="en-US" altLang="zh-CN" sz="2400" baseline="-25000">
                <a:latin typeface="Times New Roman" panose="02020603050405020304" pitchFamily="18" charset="0"/>
                <a:ea typeface="黑体" panose="02010609060101010101" pitchFamily="49" charset="-122"/>
              </a:rPr>
              <a:t>R</a:t>
            </a:r>
            <a:endParaRPr kumimoji="1" lang="en-US" altLang="zh-CN" sz="2400" baseline="-25000">
              <a:latin typeface="Times New Roman" panose="02020603050405020304" pitchFamily="18" charset="0"/>
              <a:ea typeface="黑体" panose="02010609060101010101" pitchFamily="49" charset="-122"/>
            </a:endParaRPr>
          </a:p>
        </p:txBody>
      </p:sp>
      <p:sp>
        <p:nvSpPr>
          <p:cNvPr id="44070" name="Text Box 36"/>
          <p:cNvSpPr txBox="1">
            <a:spLocks noChangeArrowheads="1"/>
          </p:cNvSpPr>
          <p:nvPr/>
        </p:nvSpPr>
        <p:spPr bwMode="auto">
          <a:xfrm>
            <a:off x="3827512" y="396240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a:latin typeface="Times New Roman" panose="02020603050405020304" pitchFamily="18" charset="0"/>
                <a:ea typeface="黑体" panose="02010609060101010101" pitchFamily="49" charset="-122"/>
              </a:rPr>
              <a:t>C</a:t>
            </a:r>
            <a:r>
              <a:rPr kumimoji="1" lang="en-US" altLang="zh-CN" sz="2400" baseline="-25000">
                <a:latin typeface="Times New Roman" panose="02020603050405020304" pitchFamily="18" charset="0"/>
                <a:ea typeface="黑体" panose="02010609060101010101" pitchFamily="49" charset="-122"/>
              </a:rPr>
              <a:t>L</a:t>
            </a:r>
            <a:endParaRPr kumimoji="1" lang="en-US" altLang="zh-CN" sz="2400" baseline="-25000">
              <a:latin typeface="Times New Roman" panose="02020603050405020304" pitchFamily="18" charset="0"/>
              <a:ea typeface="黑体" panose="02010609060101010101" pitchFamily="49" charset="-122"/>
            </a:endParaRPr>
          </a:p>
        </p:txBody>
      </p:sp>
      <p:sp>
        <p:nvSpPr>
          <p:cNvPr id="44071" name="Text Box 37"/>
          <p:cNvSpPr txBox="1">
            <a:spLocks noChangeArrowheads="1"/>
          </p:cNvSpPr>
          <p:nvPr/>
        </p:nvSpPr>
        <p:spPr bwMode="auto">
          <a:xfrm>
            <a:off x="5143500" y="3730101"/>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dirty="0">
                <a:latin typeface="Times New Roman" panose="02020603050405020304" pitchFamily="18" charset="0"/>
                <a:ea typeface="黑体" panose="02010609060101010101" pitchFamily="49" charset="-122"/>
              </a:rPr>
              <a:t>B</a:t>
            </a:r>
            <a:r>
              <a:rPr kumimoji="1" lang="en-US" altLang="zh-CN" sz="2400" baseline="-25000" dirty="0">
                <a:latin typeface="Times New Roman" panose="02020603050405020304" pitchFamily="18" charset="0"/>
                <a:ea typeface="黑体" panose="02010609060101010101" pitchFamily="49" charset="-122"/>
              </a:rPr>
              <a:t>R</a:t>
            </a:r>
            <a:endParaRPr kumimoji="1" lang="en-US" altLang="zh-CN" sz="2400" baseline="-25000" dirty="0">
              <a:latin typeface="Times New Roman" panose="02020603050405020304" pitchFamily="18" charset="0"/>
              <a:ea typeface="黑体" panose="02010609060101010101" pitchFamily="49" charset="-122"/>
            </a:endParaRPr>
          </a:p>
        </p:txBody>
      </p:sp>
      <p:sp>
        <p:nvSpPr>
          <p:cNvPr id="44072" name="Rectangle 38"/>
          <p:cNvSpPr>
            <a:spLocks noChangeArrowheads="1"/>
          </p:cNvSpPr>
          <p:nvPr/>
        </p:nvSpPr>
        <p:spPr bwMode="auto">
          <a:xfrm>
            <a:off x="3909261" y="4533900"/>
            <a:ext cx="381000" cy="22860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73" name="Rectangle 39"/>
          <p:cNvSpPr>
            <a:spLocks noChangeArrowheads="1"/>
          </p:cNvSpPr>
          <p:nvPr/>
        </p:nvSpPr>
        <p:spPr bwMode="auto">
          <a:xfrm>
            <a:off x="4437112" y="4533900"/>
            <a:ext cx="381000" cy="228600"/>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74" name="AutoShape 40"/>
          <p:cNvSpPr>
            <a:spLocks noChangeArrowheads="1"/>
          </p:cNvSpPr>
          <p:nvPr/>
        </p:nvSpPr>
        <p:spPr bwMode="auto">
          <a:xfrm>
            <a:off x="2996916" y="2743200"/>
            <a:ext cx="533400" cy="152400"/>
          </a:xfrm>
          <a:prstGeom prst="rightArrow">
            <a:avLst>
              <a:gd name="adj1" fmla="val 50000"/>
              <a:gd name="adj2" fmla="val 87500"/>
            </a:avLst>
          </a:prstGeom>
          <a:solidFill>
            <a:schemeClr val="accent1"/>
          </a:solidFill>
          <a:ln w="9525">
            <a:solidFill>
              <a:schemeClr val="tx1"/>
            </a:solidFill>
            <a:miter lim="800000"/>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75" name="Oval 41"/>
          <p:cNvSpPr>
            <a:spLocks noChangeArrowheads="1"/>
          </p:cNvSpPr>
          <p:nvPr/>
        </p:nvSpPr>
        <p:spPr bwMode="auto">
          <a:xfrm>
            <a:off x="7010400" y="2362200"/>
            <a:ext cx="381000" cy="381000"/>
          </a:xfrm>
          <a:prstGeom prst="ellipse">
            <a:avLst/>
          </a:prstGeom>
          <a:solidFill>
            <a:srgbClr val="FF0000"/>
          </a:solidFill>
          <a:ln w="1905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76" name="Oval 42"/>
          <p:cNvSpPr>
            <a:spLocks noChangeArrowheads="1"/>
          </p:cNvSpPr>
          <p:nvPr/>
        </p:nvSpPr>
        <p:spPr bwMode="auto">
          <a:xfrm>
            <a:off x="6400800" y="2819400"/>
            <a:ext cx="381000" cy="381000"/>
          </a:xfrm>
          <a:prstGeom prst="ellipse">
            <a:avLst/>
          </a:prstGeom>
          <a:solidFill>
            <a:srgbClr val="FF0000"/>
          </a:solidFill>
          <a:ln w="1905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77" name="Oval 43"/>
          <p:cNvSpPr>
            <a:spLocks noChangeArrowheads="1"/>
          </p:cNvSpPr>
          <p:nvPr/>
        </p:nvSpPr>
        <p:spPr bwMode="auto">
          <a:xfrm>
            <a:off x="7620000" y="2819400"/>
            <a:ext cx="381000" cy="381000"/>
          </a:xfrm>
          <a:prstGeom prst="ellipse">
            <a:avLst/>
          </a:prstGeom>
          <a:solidFill>
            <a:srgbClr val="FF0000"/>
          </a:solidFill>
          <a:ln w="19050"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78" name="Rectangle 44"/>
          <p:cNvSpPr>
            <a:spLocks noChangeArrowheads="1"/>
          </p:cNvSpPr>
          <p:nvPr/>
        </p:nvSpPr>
        <p:spPr bwMode="auto">
          <a:xfrm>
            <a:off x="5867400" y="3429000"/>
            <a:ext cx="381000" cy="1066800"/>
          </a:xfrm>
          <a:prstGeom prst="rect">
            <a:avLst/>
          </a:prstGeom>
          <a:noFill/>
          <a:ln w="38100" algn="ctr">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79" name="Rectangle 45"/>
          <p:cNvSpPr>
            <a:spLocks noChangeArrowheads="1"/>
          </p:cNvSpPr>
          <p:nvPr/>
        </p:nvSpPr>
        <p:spPr bwMode="auto">
          <a:xfrm>
            <a:off x="6629400" y="3429000"/>
            <a:ext cx="381000" cy="838200"/>
          </a:xfrm>
          <a:prstGeom prst="rect">
            <a:avLst/>
          </a:prstGeom>
          <a:noFill/>
          <a:ln w="38100" algn="ctr">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80" name="Rectangle 46"/>
          <p:cNvSpPr>
            <a:spLocks noChangeArrowheads="1"/>
          </p:cNvSpPr>
          <p:nvPr/>
        </p:nvSpPr>
        <p:spPr bwMode="auto">
          <a:xfrm>
            <a:off x="6629400" y="4307434"/>
            <a:ext cx="381000" cy="22860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81" name="Text Box 47"/>
          <p:cNvSpPr txBox="1">
            <a:spLocks noChangeArrowheads="1"/>
          </p:cNvSpPr>
          <p:nvPr/>
        </p:nvSpPr>
        <p:spPr bwMode="auto">
          <a:xfrm>
            <a:off x="5791200" y="38100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a:latin typeface="Times New Roman" panose="02020603050405020304" pitchFamily="18" charset="0"/>
                <a:ea typeface="黑体" panose="02010609060101010101" pitchFamily="49" charset="-122"/>
              </a:rPr>
              <a:t>A</a:t>
            </a:r>
            <a:r>
              <a:rPr kumimoji="1" lang="en-US" altLang="zh-CN" sz="2400" baseline="-25000">
                <a:latin typeface="Times New Roman" panose="02020603050405020304" pitchFamily="18" charset="0"/>
                <a:ea typeface="黑体" panose="02010609060101010101" pitchFamily="49" charset="-122"/>
              </a:rPr>
              <a:t>L</a:t>
            </a:r>
            <a:endParaRPr kumimoji="1" lang="en-US" altLang="zh-CN" sz="2400" baseline="-25000">
              <a:latin typeface="Times New Roman" panose="02020603050405020304" pitchFamily="18" charset="0"/>
              <a:ea typeface="黑体" panose="02010609060101010101" pitchFamily="49" charset="-122"/>
            </a:endParaRPr>
          </a:p>
        </p:txBody>
      </p:sp>
      <p:sp>
        <p:nvSpPr>
          <p:cNvPr id="44082" name="Text Box 48"/>
          <p:cNvSpPr txBox="1">
            <a:spLocks noChangeArrowheads="1"/>
          </p:cNvSpPr>
          <p:nvPr/>
        </p:nvSpPr>
        <p:spPr bwMode="auto">
          <a:xfrm>
            <a:off x="6553200" y="3657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a:latin typeface="Times New Roman" panose="02020603050405020304" pitchFamily="18" charset="0"/>
                <a:ea typeface="黑体" panose="02010609060101010101" pitchFamily="49" charset="-122"/>
              </a:rPr>
              <a:t>C</a:t>
            </a:r>
            <a:r>
              <a:rPr kumimoji="1" lang="en-US" altLang="zh-CN" sz="2400" baseline="-25000">
                <a:latin typeface="Times New Roman" panose="02020603050405020304" pitchFamily="18" charset="0"/>
                <a:ea typeface="黑体" panose="02010609060101010101" pitchFamily="49" charset="-122"/>
              </a:rPr>
              <a:t>L</a:t>
            </a:r>
            <a:endParaRPr kumimoji="1" lang="en-US" altLang="zh-CN" sz="2400" baseline="-25000">
              <a:latin typeface="Times New Roman" panose="02020603050405020304" pitchFamily="18" charset="0"/>
              <a:ea typeface="黑体" panose="02010609060101010101" pitchFamily="49" charset="-122"/>
            </a:endParaRPr>
          </a:p>
        </p:txBody>
      </p:sp>
      <p:sp>
        <p:nvSpPr>
          <p:cNvPr id="44083" name="Line 49"/>
          <p:cNvSpPr>
            <a:spLocks noChangeShapeType="1"/>
          </p:cNvSpPr>
          <p:nvPr/>
        </p:nvSpPr>
        <p:spPr bwMode="auto">
          <a:xfrm flipH="1">
            <a:off x="6096000" y="3048000"/>
            <a:ext cx="304800" cy="3810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84" name="Line 50"/>
          <p:cNvSpPr>
            <a:spLocks noChangeShapeType="1"/>
          </p:cNvSpPr>
          <p:nvPr/>
        </p:nvSpPr>
        <p:spPr bwMode="auto">
          <a:xfrm>
            <a:off x="6705600" y="3124200"/>
            <a:ext cx="152400" cy="3048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85" name="Line 51"/>
          <p:cNvSpPr>
            <a:spLocks noChangeShapeType="1"/>
          </p:cNvSpPr>
          <p:nvPr/>
        </p:nvSpPr>
        <p:spPr bwMode="auto">
          <a:xfrm flipH="1">
            <a:off x="6705600" y="2514600"/>
            <a:ext cx="304800" cy="3810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86" name="Line 52"/>
          <p:cNvSpPr>
            <a:spLocks noChangeShapeType="1"/>
          </p:cNvSpPr>
          <p:nvPr/>
        </p:nvSpPr>
        <p:spPr bwMode="auto">
          <a:xfrm>
            <a:off x="7391400" y="2667000"/>
            <a:ext cx="381000" cy="1524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87" name="Rectangle 53"/>
          <p:cNvSpPr>
            <a:spLocks noChangeArrowheads="1"/>
          </p:cNvSpPr>
          <p:nvPr/>
        </p:nvSpPr>
        <p:spPr bwMode="auto">
          <a:xfrm>
            <a:off x="8001000" y="3429000"/>
            <a:ext cx="381000" cy="1066800"/>
          </a:xfrm>
          <a:prstGeom prst="rect">
            <a:avLst/>
          </a:prstGeom>
          <a:noFill/>
          <a:ln w="38100" algn="ctr">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88" name="Text Box 54"/>
          <p:cNvSpPr txBox="1">
            <a:spLocks noChangeArrowheads="1"/>
          </p:cNvSpPr>
          <p:nvPr/>
        </p:nvSpPr>
        <p:spPr bwMode="auto">
          <a:xfrm>
            <a:off x="7924800" y="373380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a:latin typeface="Times New Roman" panose="02020603050405020304" pitchFamily="18" charset="0"/>
                <a:ea typeface="黑体" panose="02010609060101010101" pitchFamily="49" charset="-122"/>
              </a:rPr>
              <a:t>B</a:t>
            </a:r>
            <a:r>
              <a:rPr kumimoji="1" lang="en-US" altLang="zh-CN" sz="2400" baseline="-25000">
                <a:latin typeface="Times New Roman" panose="02020603050405020304" pitchFamily="18" charset="0"/>
                <a:ea typeface="黑体" panose="02010609060101010101" pitchFamily="49" charset="-122"/>
              </a:rPr>
              <a:t>R</a:t>
            </a:r>
            <a:endParaRPr kumimoji="1" lang="en-US" altLang="zh-CN" sz="2400" baseline="-25000">
              <a:latin typeface="Times New Roman" panose="02020603050405020304" pitchFamily="18" charset="0"/>
              <a:ea typeface="黑体" panose="02010609060101010101" pitchFamily="49" charset="-122"/>
            </a:endParaRPr>
          </a:p>
        </p:txBody>
      </p:sp>
      <p:sp>
        <p:nvSpPr>
          <p:cNvPr id="44089" name="Rectangle 55"/>
          <p:cNvSpPr>
            <a:spLocks noChangeArrowheads="1"/>
          </p:cNvSpPr>
          <p:nvPr/>
        </p:nvSpPr>
        <p:spPr bwMode="auto">
          <a:xfrm>
            <a:off x="7315200" y="3429000"/>
            <a:ext cx="381000" cy="814388"/>
          </a:xfrm>
          <a:prstGeom prst="rect">
            <a:avLst/>
          </a:prstGeom>
          <a:noFill/>
          <a:ln w="38100" algn="ctr">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90" name="Text Box 56"/>
          <p:cNvSpPr txBox="1">
            <a:spLocks noChangeArrowheads="1"/>
          </p:cNvSpPr>
          <p:nvPr/>
        </p:nvSpPr>
        <p:spPr bwMode="auto">
          <a:xfrm>
            <a:off x="7239000" y="36576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a:latin typeface="Times New Roman" panose="02020603050405020304" pitchFamily="18" charset="0"/>
                <a:ea typeface="黑体" panose="02010609060101010101" pitchFamily="49" charset="-122"/>
              </a:rPr>
              <a:t>C</a:t>
            </a:r>
            <a:r>
              <a:rPr kumimoji="1" lang="en-US" altLang="zh-CN" sz="2400" baseline="-25000">
                <a:latin typeface="Times New Roman" panose="02020603050405020304" pitchFamily="18" charset="0"/>
                <a:ea typeface="黑体" panose="02010609060101010101" pitchFamily="49" charset="-122"/>
              </a:rPr>
              <a:t>R</a:t>
            </a:r>
            <a:endParaRPr kumimoji="1" lang="en-US" altLang="zh-CN" sz="2400" baseline="-25000">
              <a:latin typeface="Times New Roman" panose="02020603050405020304" pitchFamily="18" charset="0"/>
              <a:ea typeface="黑体" panose="02010609060101010101" pitchFamily="49" charset="-122"/>
            </a:endParaRPr>
          </a:p>
        </p:txBody>
      </p:sp>
      <p:sp>
        <p:nvSpPr>
          <p:cNvPr id="44091" name="Line 57"/>
          <p:cNvSpPr>
            <a:spLocks noChangeShapeType="1"/>
          </p:cNvSpPr>
          <p:nvPr/>
        </p:nvSpPr>
        <p:spPr bwMode="auto">
          <a:xfrm flipH="1">
            <a:off x="7467600" y="3124200"/>
            <a:ext cx="228600" cy="3048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92" name="Line 58"/>
          <p:cNvSpPr>
            <a:spLocks noChangeShapeType="1"/>
          </p:cNvSpPr>
          <p:nvPr/>
        </p:nvSpPr>
        <p:spPr bwMode="auto">
          <a:xfrm>
            <a:off x="8001000" y="3048000"/>
            <a:ext cx="228600" cy="3810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93" name="AutoShape 59"/>
          <p:cNvSpPr>
            <a:spLocks noChangeArrowheads="1"/>
          </p:cNvSpPr>
          <p:nvPr/>
        </p:nvSpPr>
        <p:spPr bwMode="auto">
          <a:xfrm>
            <a:off x="5543550" y="2743200"/>
            <a:ext cx="533400" cy="152400"/>
          </a:xfrm>
          <a:prstGeom prst="rightArrow">
            <a:avLst>
              <a:gd name="adj1" fmla="val 50000"/>
              <a:gd name="adj2" fmla="val 87500"/>
            </a:avLst>
          </a:prstGeom>
          <a:solidFill>
            <a:schemeClr val="accent1"/>
          </a:solidFill>
          <a:ln w="9525">
            <a:solidFill>
              <a:schemeClr val="tx1"/>
            </a:solidFill>
            <a:miter lim="800000"/>
          </a:ln>
          <a:effec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94" name="Rectangle 60"/>
          <p:cNvSpPr>
            <a:spLocks noChangeArrowheads="1"/>
          </p:cNvSpPr>
          <p:nvPr/>
        </p:nvSpPr>
        <p:spPr bwMode="auto">
          <a:xfrm>
            <a:off x="7308850" y="4282281"/>
            <a:ext cx="381000" cy="228600"/>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095" name="Arc 61"/>
          <p:cNvSpPr/>
          <p:nvPr/>
        </p:nvSpPr>
        <p:spPr bwMode="auto">
          <a:xfrm>
            <a:off x="4284712" y="3048000"/>
            <a:ext cx="381000" cy="304800"/>
          </a:xfrm>
          <a:custGeom>
            <a:avLst/>
            <a:gdLst>
              <a:gd name="T0" fmla="*/ 0 w 21600"/>
              <a:gd name="T1" fmla="*/ 0 h 21600"/>
              <a:gd name="T2" fmla="*/ 118540689 w 21600"/>
              <a:gd name="T3" fmla="*/ 60692834 h 21600"/>
              <a:gd name="T4" fmla="*/ 0 w 21600"/>
              <a:gd name="T5" fmla="*/ 60692834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12700">
            <a:solidFill>
              <a:srgbClr val="00FF00"/>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96" name="Arc 62"/>
          <p:cNvSpPr/>
          <p:nvPr/>
        </p:nvSpPr>
        <p:spPr bwMode="auto">
          <a:xfrm flipH="1">
            <a:off x="4437112" y="2667000"/>
            <a:ext cx="381000" cy="228600"/>
          </a:xfrm>
          <a:custGeom>
            <a:avLst/>
            <a:gdLst>
              <a:gd name="T0" fmla="*/ 0 w 21600"/>
              <a:gd name="T1" fmla="*/ 0 h 21600"/>
              <a:gd name="T2" fmla="*/ 118540689 w 21600"/>
              <a:gd name="T3" fmla="*/ 25604788 h 21600"/>
              <a:gd name="T4" fmla="*/ 0 w 21600"/>
              <a:gd name="T5" fmla="*/ 25604788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12700">
            <a:solidFill>
              <a:srgbClr val="00FF00"/>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4097" name="Rectangle 63"/>
          <p:cNvSpPr>
            <a:spLocks noChangeArrowheads="1"/>
          </p:cNvSpPr>
          <p:nvPr/>
        </p:nvSpPr>
        <p:spPr bwMode="auto">
          <a:xfrm>
            <a:off x="2089150" y="2833688"/>
            <a:ext cx="3492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CN" sz="1800" b="1" dirty="0">
                <a:latin typeface="Times New Roman" panose="02020603050405020304" pitchFamily="18" charset="0"/>
                <a:ea typeface="华文楷体" panose="02010600040101010101" pitchFamily="2" charset="-122"/>
              </a:rPr>
              <a:t>B</a:t>
            </a:r>
            <a:endParaRPr kumimoji="1" lang="en-US" altLang="zh-CN" sz="1800" b="1" dirty="0">
              <a:latin typeface="Times New Roman" panose="02020603050405020304" pitchFamily="18" charset="0"/>
              <a:ea typeface="华文楷体" panose="02010600040101010101" pitchFamily="2" charset="-122"/>
            </a:endParaRPr>
          </a:p>
        </p:txBody>
      </p:sp>
      <p:sp>
        <p:nvSpPr>
          <p:cNvPr id="44098" name="Rectangle 64"/>
          <p:cNvSpPr>
            <a:spLocks noChangeArrowheads="1"/>
          </p:cNvSpPr>
          <p:nvPr/>
        </p:nvSpPr>
        <p:spPr bwMode="auto">
          <a:xfrm>
            <a:off x="1600200" y="3200400"/>
            <a:ext cx="3492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CN" sz="1800" b="1" dirty="0">
                <a:latin typeface="Times New Roman" panose="02020603050405020304" pitchFamily="18" charset="0"/>
                <a:ea typeface="华文楷体" panose="02010600040101010101" pitchFamily="2" charset="-122"/>
              </a:rPr>
              <a:t>C</a:t>
            </a:r>
            <a:endParaRPr kumimoji="1" lang="en-US" altLang="zh-CN" sz="1800" b="1" dirty="0">
              <a:latin typeface="Times New Roman" panose="02020603050405020304" pitchFamily="18" charset="0"/>
              <a:ea typeface="华文楷体" panose="02010600040101010101" pitchFamily="2" charset="-122"/>
            </a:endParaRPr>
          </a:p>
        </p:txBody>
      </p:sp>
      <p:sp>
        <p:nvSpPr>
          <p:cNvPr id="44099" name="Rectangle 65"/>
          <p:cNvSpPr>
            <a:spLocks noChangeArrowheads="1"/>
          </p:cNvSpPr>
          <p:nvPr/>
        </p:nvSpPr>
        <p:spPr bwMode="auto">
          <a:xfrm>
            <a:off x="4208512" y="2362200"/>
            <a:ext cx="3492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CN" sz="1800" b="1" dirty="0">
                <a:latin typeface="Times New Roman" panose="02020603050405020304" pitchFamily="18" charset="0"/>
                <a:ea typeface="华文楷体" panose="02010600040101010101" pitchFamily="2" charset="-122"/>
              </a:rPr>
              <a:t>A</a:t>
            </a:r>
            <a:endParaRPr kumimoji="1" lang="en-US" altLang="zh-CN" sz="1800" b="1" dirty="0">
              <a:latin typeface="Times New Roman" panose="02020603050405020304" pitchFamily="18" charset="0"/>
              <a:ea typeface="华文楷体" panose="02010600040101010101" pitchFamily="2" charset="-122"/>
            </a:endParaRPr>
          </a:p>
        </p:txBody>
      </p:sp>
      <p:sp>
        <p:nvSpPr>
          <p:cNvPr id="44100" name="Rectangle 66"/>
          <p:cNvSpPr>
            <a:spLocks noChangeArrowheads="1"/>
          </p:cNvSpPr>
          <p:nvPr/>
        </p:nvSpPr>
        <p:spPr bwMode="auto">
          <a:xfrm>
            <a:off x="4697462" y="2833688"/>
            <a:ext cx="3492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CN" sz="1800" b="1" dirty="0">
                <a:latin typeface="Times New Roman" panose="02020603050405020304" pitchFamily="18" charset="0"/>
                <a:ea typeface="华文楷体" panose="02010600040101010101" pitchFamily="2" charset="-122"/>
              </a:rPr>
              <a:t>B</a:t>
            </a:r>
            <a:endParaRPr kumimoji="1" lang="en-US" altLang="zh-CN" sz="1800" b="1" dirty="0">
              <a:latin typeface="Times New Roman" panose="02020603050405020304" pitchFamily="18" charset="0"/>
              <a:ea typeface="华文楷体" panose="02010600040101010101" pitchFamily="2" charset="-122"/>
            </a:endParaRPr>
          </a:p>
        </p:txBody>
      </p:sp>
      <p:sp>
        <p:nvSpPr>
          <p:cNvPr id="44101" name="Rectangle 67"/>
          <p:cNvSpPr>
            <a:spLocks noChangeArrowheads="1"/>
          </p:cNvSpPr>
          <p:nvPr/>
        </p:nvSpPr>
        <p:spPr bwMode="auto">
          <a:xfrm>
            <a:off x="4208512" y="3200400"/>
            <a:ext cx="3492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CN" sz="1800" b="1" dirty="0">
                <a:latin typeface="Times New Roman" panose="02020603050405020304" pitchFamily="18" charset="0"/>
                <a:ea typeface="华文楷体" panose="02010600040101010101" pitchFamily="2" charset="-122"/>
              </a:rPr>
              <a:t>C</a:t>
            </a:r>
            <a:endParaRPr kumimoji="1" lang="en-US" altLang="zh-CN" sz="1800" b="1" dirty="0">
              <a:latin typeface="Times New Roman" panose="02020603050405020304" pitchFamily="18" charset="0"/>
              <a:ea typeface="华文楷体" panose="02010600040101010101" pitchFamily="2" charset="-122"/>
            </a:endParaRPr>
          </a:p>
        </p:txBody>
      </p:sp>
      <p:sp>
        <p:nvSpPr>
          <p:cNvPr id="44102" name="Rectangle 68"/>
          <p:cNvSpPr>
            <a:spLocks noChangeArrowheads="1"/>
          </p:cNvSpPr>
          <p:nvPr/>
        </p:nvSpPr>
        <p:spPr bwMode="auto">
          <a:xfrm>
            <a:off x="6400800" y="2833688"/>
            <a:ext cx="3492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CN" sz="1800" b="1" dirty="0">
                <a:latin typeface="Times New Roman" panose="02020603050405020304" pitchFamily="18" charset="0"/>
                <a:ea typeface="华文楷体" panose="02010600040101010101" pitchFamily="2" charset="-122"/>
              </a:rPr>
              <a:t>A</a:t>
            </a:r>
            <a:endParaRPr kumimoji="1" lang="en-US" altLang="zh-CN" sz="1800" b="1" dirty="0">
              <a:latin typeface="Times New Roman" panose="02020603050405020304" pitchFamily="18" charset="0"/>
              <a:ea typeface="华文楷体" panose="02010600040101010101" pitchFamily="2" charset="-122"/>
            </a:endParaRPr>
          </a:p>
        </p:txBody>
      </p:sp>
      <p:sp>
        <p:nvSpPr>
          <p:cNvPr id="44103" name="Rectangle 69"/>
          <p:cNvSpPr>
            <a:spLocks noChangeArrowheads="1"/>
          </p:cNvSpPr>
          <p:nvPr/>
        </p:nvSpPr>
        <p:spPr bwMode="auto">
          <a:xfrm>
            <a:off x="7010400" y="2362200"/>
            <a:ext cx="3492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CN" sz="1800" b="1" dirty="0">
                <a:latin typeface="Times New Roman" panose="02020603050405020304" pitchFamily="18" charset="0"/>
                <a:ea typeface="华文楷体" panose="02010600040101010101" pitchFamily="2" charset="-122"/>
              </a:rPr>
              <a:t>C</a:t>
            </a:r>
            <a:endParaRPr kumimoji="1" lang="en-US" altLang="zh-CN" sz="1800" b="1" dirty="0">
              <a:latin typeface="Times New Roman" panose="02020603050405020304" pitchFamily="18" charset="0"/>
              <a:ea typeface="华文楷体" panose="02010600040101010101" pitchFamily="2" charset="-122"/>
            </a:endParaRPr>
          </a:p>
        </p:txBody>
      </p:sp>
      <p:sp>
        <p:nvSpPr>
          <p:cNvPr id="44104" name="Rectangle 70"/>
          <p:cNvSpPr>
            <a:spLocks noChangeArrowheads="1"/>
          </p:cNvSpPr>
          <p:nvPr/>
        </p:nvSpPr>
        <p:spPr bwMode="auto">
          <a:xfrm>
            <a:off x="7651750" y="2833688"/>
            <a:ext cx="3492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en-US" altLang="zh-CN" sz="1800" b="1" dirty="0">
                <a:latin typeface="Times New Roman" panose="02020603050405020304" pitchFamily="18" charset="0"/>
                <a:ea typeface="华文楷体" panose="02010600040101010101" pitchFamily="2" charset="-122"/>
              </a:rPr>
              <a:t>B</a:t>
            </a:r>
            <a:endParaRPr kumimoji="1" lang="en-US" altLang="zh-CN" sz="1800" b="1" dirty="0">
              <a:latin typeface="Times New Roman" panose="02020603050405020304" pitchFamily="18" charset="0"/>
              <a:ea typeface="华文楷体" panose="02010600040101010101" pitchFamily="2" charset="-122"/>
            </a:endParaRPr>
          </a:p>
        </p:txBody>
      </p:sp>
      <p:sp>
        <p:nvSpPr>
          <p:cNvPr id="44105" name="Text Box 71"/>
          <p:cNvSpPr txBox="1">
            <a:spLocks noChangeArrowheads="1"/>
          </p:cNvSpPr>
          <p:nvPr/>
        </p:nvSpPr>
        <p:spPr bwMode="auto">
          <a:xfrm>
            <a:off x="1889125" y="2246313"/>
            <a:ext cx="3873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-1</a:t>
            </a:r>
            <a:endParaRPr lang="en-US" altLang="zh-CN" sz="1800" dirty="0">
              <a:latin typeface="Times New Roman" panose="02020603050405020304" pitchFamily="18" charset="0"/>
              <a:ea typeface="华文楷体" panose="02010600040101010101" pitchFamily="2" charset="-122"/>
            </a:endParaRPr>
          </a:p>
        </p:txBody>
      </p:sp>
      <p:sp>
        <p:nvSpPr>
          <p:cNvPr id="44106" name="Text Box 72"/>
          <p:cNvSpPr txBox="1">
            <a:spLocks noChangeArrowheads="1"/>
          </p:cNvSpPr>
          <p:nvPr/>
        </p:nvSpPr>
        <p:spPr bwMode="auto">
          <a:xfrm>
            <a:off x="1828800" y="3138488"/>
            <a:ext cx="3111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0</a:t>
            </a:r>
            <a:endParaRPr lang="en-US" altLang="zh-CN" sz="1800" dirty="0">
              <a:latin typeface="Times New Roman" panose="02020603050405020304" pitchFamily="18" charset="0"/>
              <a:ea typeface="华文楷体" panose="02010600040101010101" pitchFamily="2" charset="-122"/>
            </a:endParaRPr>
          </a:p>
        </p:txBody>
      </p:sp>
      <p:sp>
        <p:nvSpPr>
          <p:cNvPr id="44107" name="Text Box 73"/>
          <p:cNvSpPr txBox="1">
            <a:spLocks noChangeArrowheads="1"/>
          </p:cNvSpPr>
          <p:nvPr/>
        </p:nvSpPr>
        <p:spPr bwMode="auto">
          <a:xfrm>
            <a:off x="2355850" y="2681288"/>
            <a:ext cx="3111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0</a:t>
            </a:r>
            <a:endParaRPr lang="en-US" altLang="zh-CN" sz="1800" dirty="0">
              <a:latin typeface="Times New Roman" panose="02020603050405020304" pitchFamily="18" charset="0"/>
              <a:ea typeface="华文楷体" panose="02010600040101010101" pitchFamily="2" charset="-122"/>
            </a:endParaRPr>
          </a:p>
        </p:txBody>
      </p:sp>
      <p:sp>
        <p:nvSpPr>
          <p:cNvPr id="44108" name="AutoShape 74"/>
          <p:cNvSpPr/>
          <p:nvPr/>
        </p:nvSpPr>
        <p:spPr bwMode="auto">
          <a:xfrm>
            <a:off x="533400" y="3124200"/>
            <a:ext cx="76200" cy="990600"/>
          </a:xfrm>
          <a:prstGeom prst="leftBrace">
            <a:avLst>
              <a:gd name="adj1" fmla="val 108333"/>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109" name="Text Box 75"/>
          <p:cNvSpPr txBox="1">
            <a:spLocks noChangeArrowheads="1"/>
          </p:cNvSpPr>
          <p:nvPr/>
        </p:nvSpPr>
        <p:spPr bwMode="auto">
          <a:xfrm>
            <a:off x="152400" y="3459163"/>
            <a:ext cx="4572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h-1</a:t>
            </a:r>
            <a:endParaRPr kumimoji="1" lang="en-US" altLang="zh-CN" sz="2000" b="1" dirty="0">
              <a:latin typeface="Times New Roman" panose="02020603050405020304" pitchFamily="18" charset="0"/>
              <a:ea typeface="华文楷体" panose="02010600040101010101" pitchFamily="2" charset="-122"/>
            </a:endParaRPr>
          </a:p>
        </p:txBody>
      </p:sp>
      <p:sp>
        <p:nvSpPr>
          <p:cNvPr id="44110" name="AutoShape 76"/>
          <p:cNvSpPr/>
          <p:nvPr/>
        </p:nvSpPr>
        <p:spPr bwMode="auto">
          <a:xfrm>
            <a:off x="1143000" y="3810000"/>
            <a:ext cx="76200" cy="609600"/>
          </a:xfrm>
          <a:prstGeom prst="leftBrace">
            <a:avLst>
              <a:gd name="adj1" fmla="val 66667"/>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111" name="Text Box 77"/>
          <p:cNvSpPr txBox="1">
            <a:spLocks noChangeArrowheads="1"/>
          </p:cNvSpPr>
          <p:nvPr/>
        </p:nvSpPr>
        <p:spPr bwMode="auto">
          <a:xfrm>
            <a:off x="838200" y="4144963"/>
            <a:ext cx="4572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h-2</a:t>
            </a:r>
            <a:endParaRPr kumimoji="1" lang="en-US" altLang="zh-CN" sz="2000" b="1" dirty="0">
              <a:latin typeface="Times New Roman" panose="02020603050405020304" pitchFamily="18" charset="0"/>
              <a:ea typeface="华文楷体" panose="02010600040101010101" pitchFamily="2" charset="-122"/>
            </a:endParaRPr>
          </a:p>
        </p:txBody>
      </p:sp>
      <p:sp>
        <p:nvSpPr>
          <p:cNvPr id="44112" name="AutoShape 78"/>
          <p:cNvSpPr/>
          <p:nvPr/>
        </p:nvSpPr>
        <p:spPr bwMode="auto">
          <a:xfrm>
            <a:off x="2895600" y="3505200"/>
            <a:ext cx="76200" cy="990600"/>
          </a:xfrm>
          <a:prstGeom prst="rightBrace">
            <a:avLst>
              <a:gd name="adj1" fmla="val 108333"/>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113" name="Text Box 79"/>
          <p:cNvSpPr txBox="1">
            <a:spLocks noChangeArrowheads="1"/>
          </p:cNvSpPr>
          <p:nvPr/>
        </p:nvSpPr>
        <p:spPr bwMode="auto">
          <a:xfrm>
            <a:off x="2895600" y="3840163"/>
            <a:ext cx="45720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h-1</a:t>
            </a:r>
            <a:endParaRPr kumimoji="1" lang="en-US" altLang="zh-CN" sz="2000" b="1" dirty="0">
              <a:latin typeface="Times New Roman" panose="02020603050405020304" pitchFamily="18" charset="0"/>
              <a:ea typeface="华文楷体" panose="02010600040101010101" pitchFamily="2" charset="-122"/>
            </a:endParaRPr>
          </a:p>
        </p:txBody>
      </p:sp>
      <p:sp>
        <p:nvSpPr>
          <p:cNvPr id="44114" name="AutoShape 80"/>
          <p:cNvSpPr/>
          <p:nvPr/>
        </p:nvSpPr>
        <p:spPr bwMode="auto">
          <a:xfrm>
            <a:off x="3751312" y="3733800"/>
            <a:ext cx="76200" cy="990600"/>
          </a:xfrm>
          <a:prstGeom prst="leftBrace">
            <a:avLst>
              <a:gd name="adj1" fmla="val 108333"/>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4115" name="Text Box 81"/>
          <p:cNvSpPr txBox="1">
            <a:spLocks noChangeArrowheads="1"/>
          </p:cNvSpPr>
          <p:nvPr/>
        </p:nvSpPr>
        <p:spPr bwMode="auto">
          <a:xfrm>
            <a:off x="3395212" y="4144963"/>
            <a:ext cx="508500"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  </a:t>
            </a:r>
            <a:r>
              <a:rPr kumimoji="1" lang="en-US" altLang="zh-CN" sz="1200" b="1" dirty="0" smtClean="0">
                <a:solidFill>
                  <a:srgbClr val="FF0000"/>
                </a:solidFill>
                <a:latin typeface="Times New Roman" panose="02020603050405020304" pitchFamily="18" charset="0"/>
                <a:ea typeface="华文楷体" panose="02010600040101010101" pitchFamily="2" charset="-122"/>
              </a:rPr>
              <a:t>h-1</a:t>
            </a:r>
            <a:endParaRPr kumimoji="1" lang="en-US" altLang="zh-CN" sz="2000" b="1" dirty="0">
              <a:solidFill>
                <a:srgbClr val="FF0000"/>
              </a:solidFill>
              <a:latin typeface="Times New Roman" panose="02020603050405020304" pitchFamily="18" charset="0"/>
              <a:ea typeface="华文楷体" panose="02010600040101010101" pitchFamily="2" charset="-122"/>
            </a:endParaRPr>
          </a:p>
        </p:txBody>
      </p:sp>
      <p:sp>
        <p:nvSpPr>
          <p:cNvPr id="44116" name="Text Box 82"/>
          <p:cNvSpPr txBox="1">
            <a:spLocks noChangeArrowheads="1"/>
          </p:cNvSpPr>
          <p:nvPr/>
        </p:nvSpPr>
        <p:spPr bwMode="auto">
          <a:xfrm>
            <a:off x="4430762" y="2147888"/>
            <a:ext cx="3873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solidFill>
                  <a:srgbClr val="FF0000"/>
                </a:solidFill>
                <a:latin typeface="Times New Roman" panose="02020603050405020304" pitchFamily="18" charset="0"/>
                <a:ea typeface="华文楷体" panose="02010600040101010101" pitchFamily="2" charset="-122"/>
              </a:rPr>
              <a:t>-2</a:t>
            </a:r>
            <a:endParaRPr lang="en-US" altLang="zh-CN" sz="1800" dirty="0">
              <a:solidFill>
                <a:srgbClr val="FF0000"/>
              </a:solidFill>
              <a:latin typeface="Times New Roman" panose="02020603050405020304" pitchFamily="18" charset="0"/>
              <a:ea typeface="华文楷体" panose="02010600040101010101" pitchFamily="2" charset="-122"/>
            </a:endParaRPr>
          </a:p>
        </p:txBody>
      </p:sp>
      <p:sp>
        <p:nvSpPr>
          <p:cNvPr id="44117" name="Text Box 83"/>
          <p:cNvSpPr txBox="1">
            <a:spLocks noChangeArrowheads="1"/>
          </p:cNvSpPr>
          <p:nvPr/>
        </p:nvSpPr>
        <p:spPr bwMode="auto">
          <a:xfrm>
            <a:off x="5040362" y="2743200"/>
            <a:ext cx="3111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solidFill>
                  <a:srgbClr val="FF0000"/>
                </a:solidFill>
                <a:latin typeface="Times New Roman" panose="02020603050405020304" pitchFamily="18" charset="0"/>
                <a:ea typeface="华文楷体" panose="02010600040101010101" pitchFamily="2" charset="-122"/>
              </a:rPr>
              <a:t>1</a:t>
            </a:r>
            <a:endParaRPr lang="en-US" altLang="zh-CN" sz="1800" dirty="0">
              <a:solidFill>
                <a:srgbClr val="FF0000"/>
              </a:solidFill>
              <a:latin typeface="Times New Roman" panose="02020603050405020304" pitchFamily="18" charset="0"/>
              <a:ea typeface="华文楷体" panose="02010600040101010101" pitchFamily="2" charset="-122"/>
            </a:endParaRPr>
          </a:p>
        </p:txBody>
      </p:sp>
      <p:sp>
        <p:nvSpPr>
          <p:cNvPr id="44118" name="Text Box 84"/>
          <p:cNvSpPr txBox="1">
            <a:spLocks noChangeArrowheads="1"/>
          </p:cNvSpPr>
          <p:nvPr/>
        </p:nvSpPr>
        <p:spPr bwMode="auto">
          <a:xfrm>
            <a:off x="4049762" y="2909888"/>
            <a:ext cx="6667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solidFill>
                  <a:srgbClr val="FF0000"/>
                </a:solidFill>
                <a:latin typeface="Times New Roman" panose="02020603050405020304" pitchFamily="18" charset="0"/>
                <a:ea typeface="华文楷体" panose="02010600040101010101" pitchFamily="2" charset="-122"/>
              </a:rPr>
              <a:t>1</a:t>
            </a:r>
            <a:r>
              <a:rPr lang="en-US" altLang="zh-CN" sz="1800" dirty="0">
                <a:solidFill>
                  <a:schemeClr val="folHlink"/>
                </a:solidFill>
                <a:latin typeface="Times New Roman" panose="02020603050405020304" pitchFamily="18" charset="0"/>
                <a:ea typeface="华文楷体" panose="02010600040101010101" pitchFamily="2" charset="-122"/>
              </a:rPr>
              <a:t>(</a:t>
            </a:r>
            <a:r>
              <a:rPr lang="en-US" altLang="zh-CN" sz="1800" dirty="0">
                <a:solidFill>
                  <a:srgbClr val="FF0000"/>
                </a:solidFill>
                <a:latin typeface="Times New Roman" panose="02020603050405020304" pitchFamily="18" charset="0"/>
                <a:ea typeface="华文楷体" panose="02010600040101010101" pitchFamily="2" charset="-122"/>
              </a:rPr>
              <a:t>-1</a:t>
            </a:r>
            <a:r>
              <a:rPr lang="en-US" altLang="zh-CN" sz="1800" dirty="0">
                <a:solidFill>
                  <a:schemeClr val="folHlink"/>
                </a:solidFill>
                <a:latin typeface="Times New Roman" panose="02020603050405020304" pitchFamily="18" charset="0"/>
                <a:ea typeface="华文楷体" panose="02010600040101010101" pitchFamily="2" charset="-122"/>
              </a:rPr>
              <a:t>)</a:t>
            </a:r>
            <a:endParaRPr lang="en-US" altLang="zh-CN" sz="1800" dirty="0">
              <a:solidFill>
                <a:schemeClr val="folHlink"/>
              </a:solidFill>
              <a:latin typeface="Times New Roman" panose="02020603050405020304" pitchFamily="18" charset="0"/>
              <a:ea typeface="华文楷体" panose="02010600040101010101" pitchFamily="2" charset="-122"/>
            </a:endParaRPr>
          </a:p>
        </p:txBody>
      </p:sp>
      <p:sp>
        <p:nvSpPr>
          <p:cNvPr id="44119" name="Text Box 85"/>
          <p:cNvSpPr txBox="1">
            <a:spLocks noChangeArrowheads="1"/>
          </p:cNvSpPr>
          <p:nvPr/>
        </p:nvSpPr>
        <p:spPr bwMode="auto">
          <a:xfrm>
            <a:off x="7308850" y="2224088"/>
            <a:ext cx="311150" cy="3667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0</a:t>
            </a:r>
            <a:endParaRPr lang="en-US" altLang="zh-CN" sz="1800" dirty="0">
              <a:latin typeface="Times New Roman" panose="02020603050405020304" pitchFamily="18" charset="0"/>
              <a:ea typeface="华文楷体" panose="02010600040101010101" pitchFamily="2" charset="-122"/>
            </a:endParaRPr>
          </a:p>
        </p:txBody>
      </p:sp>
      <p:sp>
        <p:nvSpPr>
          <p:cNvPr id="44120" name="Text Box 86"/>
          <p:cNvSpPr txBox="1">
            <a:spLocks noChangeArrowheads="1"/>
          </p:cNvSpPr>
          <p:nvPr/>
        </p:nvSpPr>
        <p:spPr bwMode="auto">
          <a:xfrm>
            <a:off x="6267450" y="2514600"/>
            <a:ext cx="5905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0</a:t>
            </a:r>
            <a:r>
              <a:rPr lang="en-US" altLang="zh-CN" sz="1800" dirty="0">
                <a:solidFill>
                  <a:schemeClr val="folHlink"/>
                </a:solidFill>
                <a:latin typeface="Times New Roman" panose="02020603050405020304" pitchFamily="18" charset="0"/>
                <a:ea typeface="华文楷体" panose="02010600040101010101" pitchFamily="2" charset="-122"/>
              </a:rPr>
              <a:t>(</a:t>
            </a:r>
            <a:r>
              <a:rPr lang="en-US" altLang="zh-CN" sz="1800" dirty="0">
                <a:latin typeface="Times New Roman" panose="02020603050405020304" pitchFamily="18" charset="0"/>
                <a:ea typeface="华文楷体" panose="02010600040101010101" pitchFamily="2" charset="-122"/>
              </a:rPr>
              <a:t>1</a:t>
            </a:r>
            <a:r>
              <a:rPr lang="en-US" altLang="zh-CN" sz="1800" dirty="0">
                <a:solidFill>
                  <a:schemeClr val="folHlink"/>
                </a:solidFill>
                <a:latin typeface="Times New Roman" panose="02020603050405020304" pitchFamily="18" charset="0"/>
                <a:ea typeface="华文楷体" panose="02010600040101010101" pitchFamily="2" charset="-122"/>
              </a:rPr>
              <a:t>)</a:t>
            </a:r>
            <a:endParaRPr lang="en-US" altLang="zh-CN" sz="1800" dirty="0">
              <a:solidFill>
                <a:schemeClr val="folHlink"/>
              </a:solidFill>
              <a:latin typeface="Times New Roman" panose="02020603050405020304" pitchFamily="18" charset="0"/>
              <a:ea typeface="华文楷体" panose="02010600040101010101" pitchFamily="2" charset="-122"/>
            </a:endParaRPr>
          </a:p>
        </p:txBody>
      </p:sp>
      <p:sp>
        <p:nvSpPr>
          <p:cNvPr id="44121" name="Text Box 87"/>
          <p:cNvSpPr txBox="1">
            <a:spLocks noChangeArrowheads="1"/>
          </p:cNvSpPr>
          <p:nvPr/>
        </p:nvSpPr>
        <p:spPr bwMode="auto">
          <a:xfrm>
            <a:off x="7620000" y="2514600"/>
            <a:ext cx="666750" cy="3667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dirty="0">
                <a:latin typeface="Times New Roman" panose="02020603050405020304" pitchFamily="18" charset="0"/>
                <a:ea typeface="华文楷体" panose="02010600040101010101" pitchFamily="2" charset="-122"/>
              </a:rPr>
              <a:t>-1</a:t>
            </a:r>
            <a:r>
              <a:rPr lang="en-US" altLang="zh-CN" sz="1800" dirty="0">
                <a:solidFill>
                  <a:schemeClr val="folHlink"/>
                </a:solidFill>
                <a:latin typeface="Times New Roman" panose="02020603050405020304" pitchFamily="18" charset="0"/>
                <a:ea typeface="华文楷体" panose="02010600040101010101" pitchFamily="2" charset="-122"/>
              </a:rPr>
              <a:t>(</a:t>
            </a:r>
            <a:r>
              <a:rPr lang="en-US" altLang="zh-CN" sz="1800" dirty="0">
                <a:latin typeface="Times New Roman" panose="02020603050405020304" pitchFamily="18" charset="0"/>
                <a:ea typeface="华文楷体" panose="02010600040101010101" pitchFamily="2" charset="-122"/>
              </a:rPr>
              <a:t>0</a:t>
            </a:r>
            <a:r>
              <a:rPr lang="en-US" altLang="zh-CN" sz="1800" dirty="0">
                <a:solidFill>
                  <a:schemeClr val="folHlink"/>
                </a:solidFill>
                <a:latin typeface="Times New Roman" panose="02020603050405020304" pitchFamily="18" charset="0"/>
                <a:ea typeface="华文楷体" panose="02010600040101010101" pitchFamily="2" charset="-122"/>
              </a:rPr>
              <a:t>)</a:t>
            </a:r>
            <a:endParaRPr lang="en-US" altLang="zh-CN" sz="1800" dirty="0">
              <a:solidFill>
                <a:schemeClr val="folHlink"/>
              </a:solidFill>
              <a:latin typeface="Times New Roman" panose="02020603050405020304" pitchFamily="18" charset="0"/>
              <a:ea typeface="华文楷体" panose="02010600040101010101" pitchFamily="2" charset="-122"/>
            </a:endParaRPr>
          </a:p>
        </p:txBody>
      </p:sp>
      <p:sp>
        <p:nvSpPr>
          <p:cNvPr id="44122" name="AutoShape 88"/>
          <p:cNvSpPr>
            <a:spLocks noChangeArrowheads="1"/>
          </p:cNvSpPr>
          <p:nvPr/>
        </p:nvSpPr>
        <p:spPr bwMode="auto">
          <a:xfrm rot="-1818482">
            <a:off x="4360912" y="2209800"/>
            <a:ext cx="533400" cy="76200"/>
          </a:xfrm>
          <a:prstGeom prst="leftArrow">
            <a:avLst>
              <a:gd name="adj1" fmla="val 50000"/>
              <a:gd name="adj2" fmla="val 1750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solidFill>
                <a:schemeClr val="folHlink"/>
              </a:solidFill>
              <a:latin typeface="Times New Roman" panose="02020603050405020304" pitchFamily="18" charset="0"/>
              <a:ea typeface="华文楷体" panose="02010600040101010101" pitchFamily="2" charset="-122"/>
            </a:endParaRPr>
          </a:p>
        </p:txBody>
      </p:sp>
      <p:sp>
        <p:nvSpPr>
          <p:cNvPr id="44123" name="Text Box 89"/>
          <p:cNvSpPr txBox="1">
            <a:spLocks noChangeArrowheads="1"/>
          </p:cNvSpPr>
          <p:nvPr/>
        </p:nvSpPr>
        <p:spPr bwMode="auto">
          <a:xfrm>
            <a:off x="4724400" y="1905000"/>
            <a:ext cx="1219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危机结点</a:t>
            </a:r>
            <a:endParaRPr kumimoji="1" lang="zh-CN" altLang="en-US" sz="1400" b="1" dirty="0">
              <a:latin typeface="Times New Roman" panose="02020603050405020304" pitchFamily="18" charset="0"/>
              <a:ea typeface="华文楷体" panose="02010600040101010101" pitchFamily="2" charset="-122"/>
            </a:endParaRPr>
          </a:p>
        </p:txBody>
      </p:sp>
      <p:cxnSp>
        <p:nvCxnSpPr>
          <p:cNvPr id="3" name="直接连接符 2"/>
          <p:cNvCxnSpPr/>
          <p:nvPr/>
        </p:nvCxnSpPr>
        <p:spPr bwMode="auto">
          <a:xfrm flipH="1">
            <a:off x="3131840" y="1544063"/>
            <a:ext cx="103332" cy="5341321"/>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5" name="直接连接符 94"/>
          <p:cNvCxnSpPr/>
          <p:nvPr/>
        </p:nvCxnSpPr>
        <p:spPr bwMode="auto">
          <a:xfrm flipH="1">
            <a:off x="5661796" y="1544063"/>
            <a:ext cx="103332" cy="5341321"/>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19100" y="1128227"/>
            <a:ext cx="8229600" cy="5653573"/>
          </a:xfrm>
          <a:ln>
            <a:solidFill>
              <a:schemeClr val="accent1"/>
            </a:solidFill>
          </a:ln>
        </p:spPr>
        <p:txBody>
          <a:bodyPr/>
          <a:lstStyle/>
          <a:p>
            <a:pPr marL="0" indent="0">
              <a:buNone/>
            </a:pPr>
            <a:r>
              <a:rPr lang="en-US" altLang="zh-CN" sz="1200" dirty="0">
                <a:solidFill>
                  <a:srgbClr val="C00000"/>
                </a:solidFill>
                <a:ea typeface="华文楷体" panose="02010600040101010101" pitchFamily="2" charset="-122"/>
              </a:rPr>
              <a:t>[</a:t>
            </a:r>
            <a:r>
              <a:rPr lang="en-US" altLang="zh-CN" sz="1200" dirty="0" smtClean="0">
                <a:solidFill>
                  <a:srgbClr val="C00000"/>
                </a:solidFill>
                <a:ea typeface="华文楷体" panose="02010600040101010101" pitchFamily="2" charset="-122"/>
              </a:rPr>
              <a:t>AVL</a:t>
            </a:r>
            <a:r>
              <a:rPr lang="zh-CN" altLang="en-US" sz="1200" dirty="0" smtClean="0">
                <a:solidFill>
                  <a:srgbClr val="C00000"/>
                </a:solidFill>
                <a:ea typeface="华文楷体" panose="02010600040101010101" pitchFamily="2" charset="-122"/>
              </a:rPr>
              <a:t>树插入结点</a:t>
            </a:r>
            <a:r>
              <a:rPr lang="en-US" altLang="zh-CN" sz="1200" dirty="0" smtClean="0">
                <a:solidFill>
                  <a:srgbClr val="C00000"/>
                </a:solidFill>
                <a:ea typeface="华文楷体" panose="02010600040101010101" pitchFamily="2" charset="-122"/>
              </a:rPr>
              <a:t>]</a:t>
            </a:r>
            <a:endParaRPr lang="en-US" altLang="zh-CN" sz="1200" dirty="0" smtClean="0">
              <a:solidFill>
                <a:srgbClr val="C00000"/>
              </a:solidFill>
              <a:ea typeface="华文楷体" panose="02010600040101010101" pitchFamily="2" charset="-122"/>
            </a:endParaRPr>
          </a:p>
          <a:p>
            <a:pPr marL="0" indent="0">
              <a:buNone/>
            </a:pPr>
            <a:r>
              <a:rPr lang="en-US" altLang="zh-CN" sz="1200" dirty="0" err="1" smtClean="0">
                <a:ea typeface="华文楷体" panose="02010600040101010101" pitchFamily="2" charset="-122"/>
              </a:rPr>
              <a:t>AvlTreeH</a:t>
            </a:r>
            <a:r>
              <a:rPr lang="en-US" altLang="zh-CN" sz="1200" dirty="0" smtClean="0">
                <a:ea typeface="华文楷体" panose="02010600040101010101" pitchFamily="2" charset="-122"/>
              </a:rPr>
              <a:t> Insert(</a:t>
            </a:r>
            <a:r>
              <a:rPr lang="en-US" altLang="zh-CN" sz="1200" dirty="0" err="1" smtClean="0">
                <a:ea typeface="华文楷体" panose="02010600040101010101" pitchFamily="2" charset="-122"/>
              </a:rPr>
              <a:t>elemtype</a:t>
            </a:r>
            <a:r>
              <a:rPr lang="en-US" altLang="zh-CN" sz="1200" dirty="0" smtClean="0">
                <a:ea typeface="华文楷体" panose="02010600040101010101" pitchFamily="2" charset="-122"/>
              </a:rPr>
              <a:t> X, </a:t>
            </a:r>
            <a:r>
              <a:rPr lang="en-US" altLang="zh-CN" sz="1200" dirty="0" err="1" smtClean="0">
                <a:ea typeface="华文楷体" panose="02010600040101010101" pitchFamily="2" charset="-122"/>
              </a:rPr>
              <a:t>AVLTreeH</a:t>
            </a:r>
            <a:r>
              <a:rPr lang="en-US" altLang="zh-CN" sz="1200" dirty="0" smtClean="0">
                <a:ea typeface="华文楷体" panose="02010600040101010101" pitchFamily="2" charset="-122"/>
              </a:rPr>
              <a:t> T) //</a:t>
            </a:r>
            <a:r>
              <a:rPr lang="zh-CN" altLang="en-US" sz="1200" dirty="0" smtClean="0">
                <a:ea typeface="华文楷体" panose="02010600040101010101" pitchFamily="2" charset="-122"/>
              </a:rPr>
              <a:t>插入值为</a:t>
            </a:r>
            <a:r>
              <a:rPr lang="en-US" altLang="zh-CN" sz="1200" dirty="0" smtClean="0">
                <a:ea typeface="华文楷体" panose="02010600040101010101" pitchFamily="2" charset="-122"/>
              </a:rPr>
              <a:t>X</a:t>
            </a:r>
            <a:r>
              <a:rPr lang="zh-CN" altLang="en-US" sz="1200" dirty="0" smtClean="0">
                <a:ea typeface="华文楷体" panose="02010600040101010101" pitchFamily="2" charset="-122"/>
              </a:rPr>
              <a:t>的结点，</a:t>
            </a:r>
            <a:r>
              <a:rPr lang="en-US" altLang="zh-CN" sz="1200" dirty="0" smtClean="0">
                <a:ea typeface="华文楷体" panose="02010600040101010101" pitchFamily="2" charset="-122"/>
              </a:rPr>
              <a:t>T</a:t>
            </a:r>
            <a:r>
              <a:rPr lang="zh-CN" altLang="en-US" sz="1200" dirty="0" smtClean="0">
                <a:ea typeface="华文楷体" panose="02010600040101010101" pitchFamily="2" charset="-122"/>
              </a:rPr>
              <a:t>是危机结点为根的子树</a:t>
            </a:r>
            <a:endParaRPr lang="en-US" altLang="zh-CN" sz="1200" dirty="0" smtClean="0">
              <a:ea typeface="华文楷体" panose="02010600040101010101" pitchFamily="2" charset="-122"/>
            </a:endParaRPr>
          </a:p>
          <a:p>
            <a:pPr marL="0" indent="0">
              <a:buNone/>
            </a:pPr>
            <a:r>
              <a:rPr lang="en-US" altLang="zh-CN" sz="1200" dirty="0" smtClean="0">
                <a:ea typeface="华文楷体" panose="02010600040101010101" pitchFamily="2" charset="-122"/>
              </a:rPr>
              <a:t>{</a:t>
            </a:r>
            <a:endParaRPr lang="en-US" altLang="zh-CN" sz="1200" dirty="0" smtClean="0">
              <a:ea typeface="华文楷体" panose="02010600040101010101" pitchFamily="2" charset="-122"/>
            </a:endParaRPr>
          </a:p>
          <a:p>
            <a:pPr marL="0" indent="0">
              <a:buNone/>
            </a:pPr>
            <a:r>
              <a:rPr lang="en-US" altLang="zh-CN" sz="1200" dirty="0">
                <a:ea typeface="华文楷体" panose="02010600040101010101" pitchFamily="2" charset="-122"/>
              </a:rPr>
              <a:t> </a:t>
            </a:r>
            <a:r>
              <a:rPr lang="en-US" altLang="zh-CN" sz="1200" dirty="0" smtClean="0">
                <a:ea typeface="华文楷体" panose="02010600040101010101" pitchFamily="2" charset="-122"/>
              </a:rPr>
              <a:t>   if (T==NULL)    {</a:t>
            </a:r>
            <a:endParaRPr lang="en-US" altLang="zh-CN" sz="1200" dirty="0" smtClean="0">
              <a:ea typeface="华文楷体" panose="02010600040101010101" pitchFamily="2" charset="-122"/>
            </a:endParaRPr>
          </a:p>
          <a:p>
            <a:pPr marL="0" indent="0">
              <a:buNone/>
            </a:pPr>
            <a:r>
              <a:rPr lang="en-US" altLang="zh-CN" sz="1200" dirty="0" smtClean="0">
                <a:ea typeface="华文楷体" panose="02010600040101010101" pitchFamily="2" charset="-122"/>
              </a:rPr>
              <a:t>        T = (</a:t>
            </a:r>
            <a:r>
              <a:rPr lang="en-US" altLang="zh-CN" sz="1200" dirty="0" err="1">
                <a:ea typeface="华文楷体" panose="02010600040101010101" pitchFamily="2" charset="-122"/>
              </a:rPr>
              <a:t>AvlTreeH</a:t>
            </a:r>
            <a:r>
              <a:rPr lang="en-US" altLang="zh-CN" sz="1200" dirty="0" smtClean="0">
                <a:ea typeface="华文楷体" panose="02010600040101010101" pitchFamily="2" charset="-122"/>
              </a:rPr>
              <a:t>) </a:t>
            </a:r>
            <a:r>
              <a:rPr lang="en-US" altLang="zh-CN" sz="1200" dirty="0" err="1" smtClean="0">
                <a:ea typeface="华文楷体" panose="02010600040101010101" pitchFamily="2" charset="-122"/>
              </a:rPr>
              <a:t>malloc</a:t>
            </a:r>
            <a:r>
              <a:rPr lang="en-US" altLang="zh-CN" sz="1200" dirty="0" smtClean="0">
                <a:ea typeface="华文楷体" panose="02010600040101010101" pitchFamily="2" charset="-122"/>
              </a:rPr>
              <a:t>(</a:t>
            </a:r>
            <a:r>
              <a:rPr lang="en-US" altLang="zh-CN" sz="1200" dirty="0" err="1" smtClean="0">
                <a:ea typeface="华文楷体" panose="02010600040101010101" pitchFamily="2" charset="-122"/>
              </a:rPr>
              <a:t>sizeof</a:t>
            </a:r>
            <a:r>
              <a:rPr lang="en-US" altLang="zh-CN" sz="1200" dirty="0" smtClean="0">
                <a:ea typeface="华文楷体" panose="02010600040101010101" pitchFamily="2" charset="-122"/>
              </a:rPr>
              <a:t>(</a:t>
            </a:r>
            <a:r>
              <a:rPr lang="en-US" altLang="zh-CN" sz="1200" dirty="0" err="1" smtClean="0">
                <a:ea typeface="华文楷体" panose="02010600040101010101" pitchFamily="2" charset="-122"/>
              </a:rPr>
              <a:t>AvlNode</a:t>
            </a:r>
            <a:r>
              <a:rPr lang="en-US" altLang="zh-CN" sz="1200" dirty="0" smtClean="0">
                <a:ea typeface="华文楷体" panose="02010600040101010101" pitchFamily="2" charset="-122"/>
              </a:rPr>
              <a:t>));</a:t>
            </a:r>
            <a:endParaRPr lang="en-US" altLang="zh-CN" sz="1200" dirty="0" smtClean="0">
              <a:ea typeface="华文楷体" panose="02010600040101010101" pitchFamily="2" charset="-122"/>
            </a:endParaRPr>
          </a:p>
          <a:p>
            <a:pPr marL="0" indent="0">
              <a:buNone/>
            </a:pPr>
            <a:r>
              <a:rPr lang="en-US" altLang="zh-CN" sz="1200" dirty="0">
                <a:ea typeface="华文楷体" panose="02010600040101010101" pitchFamily="2" charset="-122"/>
              </a:rPr>
              <a:t> </a:t>
            </a:r>
            <a:r>
              <a:rPr lang="en-US" altLang="zh-CN" sz="1200" dirty="0" smtClean="0">
                <a:ea typeface="华文楷体" panose="02010600040101010101" pitchFamily="2" charset="-122"/>
              </a:rPr>
              <a:t>       if (</a:t>
            </a:r>
            <a:r>
              <a:rPr lang="en-US" altLang="zh-CN" sz="1200" dirty="0">
                <a:ea typeface="华文楷体" panose="02010600040101010101" pitchFamily="2" charset="-122"/>
              </a:rPr>
              <a:t>T==NULL</a:t>
            </a:r>
            <a:r>
              <a:rPr lang="en-US" altLang="zh-CN" sz="1200" dirty="0" smtClean="0">
                <a:ea typeface="华文楷体" panose="02010600040101010101" pitchFamily="2" charset="-122"/>
              </a:rPr>
              <a:t>)    </a:t>
            </a:r>
            <a:r>
              <a:rPr lang="en-US" altLang="zh-CN" sz="1200" dirty="0" err="1" smtClean="0">
                <a:ea typeface="华文楷体" panose="02010600040101010101" pitchFamily="2" charset="-122"/>
              </a:rPr>
              <a:t>FatalError</a:t>
            </a:r>
            <a:r>
              <a:rPr lang="en-US" altLang="zh-CN" sz="1200" dirty="0" smtClean="0">
                <a:ea typeface="华文楷体" panose="02010600040101010101" pitchFamily="2" charset="-122"/>
              </a:rPr>
              <a:t>(“Out of space!”)</a:t>
            </a:r>
            <a:endParaRPr lang="en-US" altLang="zh-CN" sz="1200" dirty="0" smtClean="0">
              <a:ea typeface="华文楷体" panose="02010600040101010101" pitchFamily="2" charset="-122"/>
            </a:endParaRPr>
          </a:p>
          <a:p>
            <a:pPr marL="0" indent="0">
              <a:buNone/>
            </a:pPr>
            <a:r>
              <a:rPr lang="en-US" altLang="zh-CN" sz="1200" dirty="0" smtClean="0">
                <a:ea typeface="华文楷体" panose="02010600040101010101" pitchFamily="2" charset="-122"/>
              </a:rPr>
              <a:t>        else    {</a:t>
            </a:r>
            <a:endParaRPr lang="en-US" altLang="zh-CN" sz="1200" dirty="0" smtClean="0">
              <a:ea typeface="华文楷体" panose="02010600040101010101" pitchFamily="2" charset="-122"/>
            </a:endParaRPr>
          </a:p>
          <a:p>
            <a:pPr marL="0" indent="0">
              <a:buNone/>
            </a:pPr>
            <a:r>
              <a:rPr lang="en-US" altLang="zh-CN" sz="1200" dirty="0">
                <a:ea typeface="华文楷体" panose="02010600040101010101" pitchFamily="2" charset="-122"/>
              </a:rPr>
              <a:t> </a:t>
            </a:r>
            <a:r>
              <a:rPr lang="en-US" altLang="zh-CN" sz="1200" dirty="0" smtClean="0">
                <a:ea typeface="华文楷体" panose="02010600040101010101" pitchFamily="2" charset="-122"/>
              </a:rPr>
              <a:t>           T-&gt;data =X; T-&gt;height = 1;</a:t>
            </a:r>
            <a:endParaRPr lang="en-US" altLang="zh-CN" sz="1200" dirty="0" smtClean="0">
              <a:ea typeface="华文楷体" panose="02010600040101010101" pitchFamily="2" charset="-122"/>
            </a:endParaRPr>
          </a:p>
          <a:p>
            <a:pPr marL="0" indent="0">
              <a:buNone/>
            </a:pPr>
            <a:r>
              <a:rPr lang="en-US" altLang="zh-CN" sz="1200" dirty="0">
                <a:ea typeface="华文楷体" panose="02010600040101010101" pitchFamily="2" charset="-122"/>
              </a:rPr>
              <a:t> </a:t>
            </a:r>
            <a:r>
              <a:rPr lang="en-US" altLang="zh-CN" sz="1200" dirty="0" smtClean="0">
                <a:ea typeface="华文楷体" panose="02010600040101010101" pitchFamily="2" charset="-122"/>
              </a:rPr>
              <a:t>           T-&gt;left = T-&gt;right = NULL;     </a:t>
            </a:r>
            <a:endParaRPr lang="en-US" altLang="zh-CN" sz="1200" dirty="0" smtClean="0">
              <a:ea typeface="华文楷体" panose="02010600040101010101" pitchFamily="2" charset="-122"/>
            </a:endParaRPr>
          </a:p>
          <a:p>
            <a:pPr marL="0" indent="0">
              <a:buNone/>
            </a:pPr>
            <a:r>
              <a:rPr lang="en-US" altLang="zh-CN" sz="1200" dirty="0">
                <a:ea typeface="华文楷体" panose="02010600040101010101" pitchFamily="2" charset="-122"/>
              </a:rPr>
              <a:t> </a:t>
            </a:r>
            <a:r>
              <a:rPr lang="en-US" altLang="zh-CN" sz="1200" dirty="0" smtClean="0">
                <a:ea typeface="华文楷体" panose="02010600040101010101" pitchFamily="2" charset="-122"/>
              </a:rPr>
              <a:t>       }    </a:t>
            </a:r>
            <a:endParaRPr lang="en-US" altLang="zh-CN" sz="1200" dirty="0" smtClean="0">
              <a:ea typeface="华文楷体" panose="02010600040101010101" pitchFamily="2" charset="-122"/>
            </a:endParaRPr>
          </a:p>
          <a:p>
            <a:pPr marL="0" indent="0">
              <a:buNone/>
            </a:pPr>
            <a:r>
              <a:rPr lang="en-US" altLang="zh-CN" sz="1200" dirty="0">
                <a:ea typeface="华文楷体" panose="02010600040101010101" pitchFamily="2" charset="-122"/>
              </a:rPr>
              <a:t> </a:t>
            </a:r>
            <a:r>
              <a:rPr lang="en-US" altLang="zh-CN" sz="1200" dirty="0" smtClean="0">
                <a:ea typeface="华文楷体" panose="02010600040101010101" pitchFamily="2" charset="-122"/>
              </a:rPr>
              <a:t>   }</a:t>
            </a:r>
            <a:endParaRPr lang="en-US" altLang="zh-CN" sz="1200" dirty="0" smtClean="0">
              <a:ea typeface="华文楷体" panose="02010600040101010101" pitchFamily="2" charset="-122"/>
            </a:endParaRPr>
          </a:p>
          <a:p>
            <a:pPr marL="0" indent="0">
              <a:buNone/>
            </a:pPr>
            <a:r>
              <a:rPr lang="en-US" altLang="zh-CN" sz="1200" dirty="0">
                <a:ea typeface="华文楷体" panose="02010600040101010101" pitchFamily="2" charset="-122"/>
              </a:rPr>
              <a:t> </a:t>
            </a:r>
            <a:r>
              <a:rPr lang="en-US" altLang="zh-CN" sz="1200" dirty="0" smtClean="0">
                <a:ea typeface="华文楷体" panose="02010600040101010101" pitchFamily="2" charset="-122"/>
              </a:rPr>
              <a:t>   else if (X &lt; T-&gt;data) {</a:t>
            </a:r>
            <a:endParaRPr lang="en-US" altLang="zh-CN" sz="1200" dirty="0" smtClean="0">
              <a:ea typeface="华文楷体" panose="02010600040101010101" pitchFamily="2" charset="-122"/>
            </a:endParaRPr>
          </a:p>
          <a:p>
            <a:pPr marL="0" indent="0">
              <a:buNone/>
            </a:pPr>
            <a:r>
              <a:rPr lang="en-US" altLang="zh-CN" sz="1200" dirty="0">
                <a:ea typeface="华文楷体" panose="02010600040101010101" pitchFamily="2" charset="-122"/>
              </a:rPr>
              <a:t> </a:t>
            </a:r>
            <a:r>
              <a:rPr lang="en-US" altLang="zh-CN" sz="1200" dirty="0" smtClean="0">
                <a:ea typeface="华文楷体" panose="02010600040101010101" pitchFamily="2" charset="-122"/>
              </a:rPr>
              <a:t>       T-&gt;left = Insert(X, T-&gt;left);</a:t>
            </a:r>
            <a:endParaRPr lang="en-US" altLang="zh-CN" sz="1200" dirty="0" smtClean="0">
              <a:ea typeface="华文楷体" panose="02010600040101010101" pitchFamily="2" charset="-122"/>
            </a:endParaRPr>
          </a:p>
          <a:p>
            <a:pPr marL="0" indent="0">
              <a:buNone/>
            </a:pPr>
            <a:r>
              <a:rPr lang="en-US" altLang="zh-CN" sz="1200" dirty="0">
                <a:ea typeface="华文楷体" panose="02010600040101010101" pitchFamily="2" charset="-122"/>
              </a:rPr>
              <a:t> </a:t>
            </a:r>
            <a:r>
              <a:rPr lang="en-US" altLang="zh-CN" sz="1200" dirty="0" smtClean="0">
                <a:ea typeface="华文楷体" panose="02010600040101010101" pitchFamily="2" charset="-122"/>
              </a:rPr>
              <a:t>       if(Height(T-&gt;left) - </a:t>
            </a:r>
            <a:r>
              <a:rPr lang="en-US" altLang="zh-CN" sz="1200" dirty="0">
                <a:ea typeface="华文楷体" panose="02010600040101010101" pitchFamily="2" charset="-122"/>
              </a:rPr>
              <a:t>Height(T-</a:t>
            </a:r>
            <a:r>
              <a:rPr lang="en-US" altLang="zh-CN" sz="1200" dirty="0" smtClean="0">
                <a:ea typeface="华文楷体" panose="02010600040101010101" pitchFamily="2" charset="-122"/>
              </a:rPr>
              <a:t>&gt;right) == 2)</a:t>
            </a:r>
            <a:endParaRPr lang="en-US" altLang="zh-CN" sz="1200" dirty="0" smtClean="0">
              <a:ea typeface="华文楷体" panose="02010600040101010101" pitchFamily="2" charset="-122"/>
            </a:endParaRPr>
          </a:p>
          <a:p>
            <a:pPr marL="0" indent="0">
              <a:buNone/>
            </a:pPr>
            <a:r>
              <a:rPr lang="en-US" altLang="zh-CN" sz="1200" dirty="0" smtClean="0">
                <a:ea typeface="华文楷体" panose="02010600040101010101" pitchFamily="2" charset="-122"/>
              </a:rPr>
              <a:t>            if(X &lt; T-&gt;left-&gt;data)    T= </a:t>
            </a:r>
            <a:r>
              <a:rPr lang="en-US" altLang="zh-CN" sz="1200" dirty="0" err="1" smtClean="0">
                <a:ea typeface="华文楷体" panose="02010600040101010101" pitchFamily="2" charset="-122"/>
              </a:rPr>
              <a:t>SingleRotateWithLeft</a:t>
            </a:r>
            <a:r>
              <a:rPr lang="en-US" altLang="zh-CN" sz="1200" dirty="0" smtClean="0">
                <a:ea typeface="华文楷体" panose="02010600040101010101" pitchFamily="2" charset="-122"/>
              </a:rPr>
              <a:t>(T);  //LL</a:t>
            </a:r>
            <a:r>
              <a:rPr lang="zh-CN" altLang="en-US" sz="1200" dirty="0" smtClean="0">
                <a:ea typeface="华文楷体" panose="02010600040101010101" pitchFamily="2" charset="-122"/>
              </a:rPr>
              <a:t>型，单次顺时针旋转</a:t>
            </a:r>
            <a:endParaRPr lang="en-US" altLang="zh-CN" sz="1200" dirty="0" smtClean="0">
              <a:ea typeface="华文楷体" panose="02010600040101010101" pitchFamily="2" charset="-122"/>
            </a:endParaRPr>
          </a:p>
          <a:p>
            <a:pPr marL="0" indent="0">
              <a:buNone/>
            </a:pPr>
            <a:r>
              <a:rPr lang="en-US" altLang="zh-CN" sz="1200" dirty="0">
                <a:ea typeface="华文楷体" panose="02010600040101010101" pitchFamily="2" charset="-122"/>
              </a:rPr>
              <a:t> </a:t>
            </a:r>
            <a:r>
              <a:rPr lang="en-US" altLang="zh-CN" sz="1200" dirty="0" smtClean="0">
                <a:ea typeface="华文楷体" panose="02010600040101010101" pitchFamily="2" charset="-122"/>
              </a:rPr>
              <a:t>           else    T = </a:t>
            </a:r>
            <a:r>
              <a:rPr lang="en-US" altLang="zh-CN" sz="1200" dirty="0" err="1" smtClean="0">
                <a:ea typeface="华文楷体" panose="02010600040101010101" pitchFamily="2" charset="-122"/>
              </a:rPr>
              <a:t>DoubleRotateWithLeft</a:t>
            </a:r>
            <a:r>
              <a:rPr lang="en-US" altLang="zh-CN" sz="1200" dirty="0" smtClean="0">
                <a:ea typeface="华文楷体" panose="02010600040101010101" pitchFamily="2" charset="-122"/>
              </a:rPr>
              <a:t>(T);  //</a:t>
            </a:r>
            <a:r>
              <a:rPr lang="en-US" altLang="zh-CN" sz="1200" dirty="0">
                <a:ea typeface="华文楷体" panose="02010600040101010101" pitchFamily="2" charset="-122"/>
              </a:rPr>
              <a:t> </a:t>
            </a:r>
            <a:r>
              <a:rPr lang="en-US" altLang="zh-CN" sz="1200" dirty="0" smtClean="0">
                <a:ea typeface="华文楷体" panose="02010600040101010101" pitchFamily="2" charset="-122"/>
              </a:rPr>
              <a:t>LR</a:t>
            </a:r>
            <a:r>
              <a:rPr lang="zh-CN" altLang="en-US" sz="1200" dirty="0" smtClean="0">
                <a:ea typeface="华文楷体" panose="02010600040101010101" pitchFamily="2" charset="-122"/>
              </a:rPr>
              <a:t>型，</a:t>
            </a:r>
            <a:r>
              <a:rPr lang="zh-CN" altLang="en-US" sz="1200" dirty="0">
                <a:ea typeface="华文楷体" panose="02010600040101010101" pitchFamily="2" charset="-122"/>
              </a:rPr>
              <a:t>一</a:t>
            </a:r>
            <a:r>
              <a:rPr lang="zh-CN" altLang="en-US" sz="1200" dirty="0" smtClean="0">
                <a:ea typeface="华文楷体" panose="02010600040101010101" pitchFamily="2" charset="-122"/>
              </a:rPr>
              <a:t>次顺时针</a:t>
            </a:r>
            <a:r>
              <a:rPr lang="en-US" altLang="zh-CN" sz="1200" dirty="0" smtClean="0">
                <a:ea typeface="华文楷体" panose="02010600040101010101" pitchFamily="2" charset="-122"/>
              </a:rPr>
              <a:t>+</a:t>
            </a:r>
            <a:r>
              <a:rPr lang="zh-CN" altLang="en-US" sz="1200" dirty="0">
                <a:ea typeface="华文楷体" panose="02010600040101010101" pitchFamily="2" charset="-122"/>
              </a:rPr>
              <a:t>一</a:t>
            </a:r>
            <a:r>
              <a:rPr lang="zh-CN" altLang="en-US" sz="1200" dirty="0" smtClean="0">
                <a:ea typeface="华文楷体" panose="02010600040101010101" pitchFamily="2" charset="-122"/>
              </a:rPr>
              <a:t>次</a:t>
            </a:r>
            <a:r>
              <a:rPr lang="zh-CN" altLang="en-US" sz="1200" dirty="0">
                <a:ea typeface="华文楷体" panose="02010600040101010101" pitchFamily="2" charset="-122"/>
              </a:rPr>
              <a:t>逆</a:t>
            </a:r>
            <a:r>
              <a:rPr lang="zh-CN" altLang="en-US" sz="1200" dirty="0" smtClean="0">
                <a:ea typeface="华文楷体" panose="02010600040101010101" pitchFamily="2" charset="-122"/>
              </a:rPr>
              <a:t>时针旋转</a:t>
            </a:r>
            <a:endParaRPr lang="en-US" altLang="zh-CN" sz="1200" dirty="0" smtClean="0">
              <a:ea typeface="华文楷体" panose="02010600040101010101" pitchFamily="2" charset="-122"/>
            </a:endParaRPr>
          </a:p>
          <a:p>
            <a:pPr marL="0" indent="0">
              <a:buNone/>
            </a:pPr>
            <a:r>
              <a:rPr lang="en-US" altLang="zh-CN" sz="1200" dirty="0">
                <a:ea typeface="华文楷体" panose="02010600040101010101" pitchFamily="2" charset="-122"/>
              </a:rPr>
              <a:t> </a:t>
            </a:r>
            <a:r>
              <a:rPr lang="en-US" altLang="zh-CN" sz="1200" dirty="0" smtClean="0">
                <a:ea typeface="华文楷体" panose="02010600040101010101" pitchFamily="2" charset="-122"/>
              </a:rPr>
              <a:t>   }</a:t>
            </a:r>
            <a:endParaRPr lang="en-US" altLang="zh-CN" sz="1200" dirty="0" smtClean="0">
              <a:ea typeface="华文楷体" panose="02010600040101010101" pitchFamily="2" charset="-122"/>
            </a:endParaRPr>
          </a:p>
          <a:p>
            <a:pPr marL="0" indent="0">
              <a:buNone/>
            </a:pPr>
            <a:r>
              <a:rPr lang="en-US" altLang="zh-CN" sz="1200" dirty="0">
                <a:ea typeface="华文楷体" panose="02010600040101010101" pitchFamily="2" charset="-122"/>
              </a:rPr>
              <a:t> </a:t>
            </a:r>
            <a:r>
              <a:rPr lang="en-US" altLang="zh-CN" sz="1200" dirty="0" smtClean="0">
                <a:ea typeface="华文楷体" panose="02010600040101010101" pitchFamily="2" charset="-122"/>
              </a:rPr>
              <a:t>   else if( X&gt;T-&gt;data )    {</a:t>
            </a:r>
            <a:endParaRPr lang="en-US" altLang="zh-CN" sz="1200" dirty="0" smtClean="0">
              <a:ea typeface="华文楷体" panose="02010600040101010101" pitchFamily="2" charset="-122"/>
            </a:endParaRPr>
          </a:p>
          <a:p>
            <a:pPr marL="0" indent="0">
              <a:buNone/>
            </a:pPr>
            <a:r>
              <a:rPr lang="en-US" altLang="zh-CN" sz="1200" dirty="0" smtClean="0">
                <a:ea typeface="华文楷体" panose="02010600040101010101" pitchFamily="2" charset="-122"/>
              </a:rPr>
              <a:t>        </a:t>
            </a:r>
            <a:r>
              <a:rPr lang="en-US" altLang="zh-CN" sz="1200" dirty="0">
                <a:ea typeface="华文楷体" panose="02010600040101010101" pitchFamily="2" charset="-122"/>
              </a:rPr>
              <a:t>T-</a:t>
            </a:r>
            <a:r>
              <a:rPr lang="en-US" altLang="zh-CN" sz="1200" dirty="0" smtClean="0">
                <a:ea typeface="华文楷体" panose="02010600040101010101" pitchFamily="2" charset="-122"/>
              </a:rPr>
              <a:t>&gt;right </a:t>
            </a:r>
            <a:r>
              <a:rPr lang="en-US" altLang="zh-CN" sz="1200" dirty="0">
                <a:ea typeface="华文楷体" panose="02010600040101010101" pitchFamily="2" charset="-122"/>
              </a:rPr>
              <a:t>= Insert(X, T-</a:t>
            </a:r>
            <a:r>
              <a:rPr lang="en-US" altLang="zh-CN" sz="1200" dirty="0" smtClean="0">
                <a:ea typeface="华文楷体" panose="02010600040101010101" pitchFamily="2" charset="-122"/>
              </a:rPr>
              <a:t>&gt;right);</a:t>
            </a:r>
            <a:endParaRPr lang="en-US" altLang="zh-CN" sz="1200" dirty="0">
              <a:ea typeface="华文楷体" panose="02010600040101010101" pitchFamily="2" charset="-122"/>
            </a:endParaRPr>
          </a:p>
          <a:p>
            <a:pPr marL="0" indent="0">
              <a:buNone/>
            </a:pPr>
            <a:r>
              <a:rPr lang="en-US" altLang="zh-CN" sz="1200" dirty="0">
                <a:ea typeface="华文楷体" panose="02010600040101010101" pitchFamily="2" charset="-122"/>
              </a:rPr>
              <a:t>        if(Height(T-</a:t>
            </a:r>
            <a:r>
              <a:rPr lang="en-US" altLang="zh-CN" sz="1200" dirty="0" smtClean="0">
                <a:ea typeface="华文楷体" panose="02010600040101010101" pitchFamily="2" charset="-122"/>
              </a:rPr>
              <a:t>&gt;right) </a:t>
            </a:r>
            <a:r>
              <a:rPr lang="en-US" altLang="zh-CN" sz="1200" dirty="0">
                <a:ea typeface="华文楷体" panose="02010600040101010101" pitchFamily="2" charset="-122"/>
              </a:rPr>
              <a:t>- Height(T-</a:t>
            </a:r>
            <a:r>
              <a:rPr lang="en-US" altLang="zh-CN" sz="1200" dirty="0" smtClean="0">
                <a:ea typeface="华文楷体" panose="02010600040101010101" pitchFamily="2" charset="-122"/>
              </a:rPr>
              <a:t>&gt;left) </a:t>
            </a:r>
            <a:r>
              <a:rPr lang="en-US" altLang="zh-CN" sz="1200" dirty="0">
                <a:ea typeface="华文楷体" panose="02010600040101010101" pitchFamily="2" charset="-122"/>
              </a:rPr>
              <a:t>== 2)</a:t>
            </a:r>
            <a:endParaRPr lang="en-US" altLang="zh-CN" sz="1200" dirty="0">
              <a:ea typeface="华文楷体" panose="02010600040101010101" pitchFamily="2" charset="-122"/>
            </a:endParaRPr>
          </a:p>
          <a:p>
            <a:pPr marL="0" indent="0">
              <a:buNone/>
            </a:pPr>
            <a:r>
              <a:rPr lang="en-US" altLang="zh-CN" sz="1200" dirty="0">
                <a:ea typeface="华文楷体" panose="02010600040101010101" pitchFamily="2" charset="-122"/>
              </a:rPr>
              <a:t>            if(X </a:t>
            </a:r>
            <a:r>
              <a:rPr lang="en-US" altLang="zh-CN" sz="1200" dirty="0" smtClean="0">
                <a:ea typeface="华文楷体" panose="02010600040101010101" pitchFamily="2" charset="-122"/>
              </a:rPr>
              <a:t>&gt; </a:t>
            </a:r>
            <a:r>
              <a:rPr lang="en-US" altLang="zh-CN" sz="1200" dirty="0">
                <a:ea typeface="华文楷体" panose="02010600040101010101" pitchFamily="2" charset="-122"/>
              </a:rPr>
              <a:t>T-</a:t>
            </a:r>
            <a:r>
              <a:rPr lang="en-US" altLang="zh-CN" sz="1200" dirty="0" smtClean="0">
                <a:ea typeface="华文楷体" panose="02010600040101010101" pitchFamily="2" charset="-122"/>
              </a:rPr>
              <a:t>&gt;right-</a:t>
            </a:r>
            <a:r>
              <a:rPr lang="en-US" altLang="zh-CN" sz="1200" dirty="0">
                <a:ea typeface="华文楷体" panose="02010600040101010101" pitchFamily="2" charset="-122"/>
              </a:rPr>
              <a:t>&gt;data)    T= </a:t>
            </a:r>
            <a:r>
              <a:rPr lang="en-US" altLang="zh-CN" sz="1200" dirty="0" err="1" smtClean="0">
                <a:ea typeface="华文楷体" panose="02010600040101010101" pitchFamily="2" charset="-122"/>
              </a:rPr>
              <a:t>SingleRotateWithRight</a:t>
            </a:r>
            <a:r>
              <a:rPr lang="en-US" altLang="zh-CN" sz="1200" dirty="0" smtClean="0">
                <a:ea typeface="华文楷体" panose="02010600040101010101" pitchFamily="2" charset="-122"/>
              </a:rPr>
              <a:t>(T</a:t>
            </a:r>
            <a:r>
              <a:rPr lang="en-US" altLang="zh-CN" sz="1200" dirty="0">
                <a:ea typeface="华文楷体" panose="02010600040101010101" pitchFamily="2" charset="-122"/>
              </a:rPr>
              <a:t>);  </a:t>
            </a:r>
            <a:r>
              <a:rPr lang="en-US" altLang="zh-CN" sz="1200" dirty="0" smtClean="0">
                <a:ea typeface="华文楷体" panose="02010600040101010101" pitchFamily="2" charset="-122"/>
              </a:rPr>
              <a:t>//RR</a:t>
            </a:r>
            <a:r>
              <a:rPr lang="zh-CN" altLang="en-US" sz="1200" dirty="0" smtClean="0">
                <a:ea typeface="华文楷体" panose="02010600040101010101" pitchFamily="2" charset="-122"/>
              </a:rPr>
              <a:t>型</a:t>
            </a:r>
            <a:r>
              <a:rPr lang="zh-CN" altLang="en-US" sz="1200" dirty="0">
                <a:ea typeface="华文楷体" panose="02010600040101010101" pitchFamily="2" charset="-122"/>
              </a:rPr>
              <a:t>，单</a:t>
            </a:r>
            <a:r>
              <a:rPr lang="zh-CN" altLang="en-US" sz="1200" dirty="0" smtClean="0">
                <a:ea typeface="华文楷体" panose="02010600040101010101" pitchFamily="2" charset="-122"/>
              </a:rPr>
              <a:t>次</a:t>
            </a:r>
            <a:r>
              <a:rPr lang="zh-CN" altLang="en-US" sz="1200" dirty="0">
                <a:ea typeface="华文楷体" panose="02010600040101010101" pitchFamily="2" charset="-122"/>
              </a:rPr>
              <a:t>逆</a:t>
            </a:r>
            <a:r>
              <a:rPr lang="zh-CN" altLang="en-US" sz="1200" dirty="0" smtClean="0">
                <a:ea typeface="华文楷体" panose="02010600040101010101" pitchFamily="2" charset="-122"/>
              </a:rPr>
              <a:t>时针</a:t>
            </a:r>
            <a:r>
              <a:rPr lang="zh-CN" altLang="en-US" sz="1200" dirty="0">
                <a:ea typeface="华文楷体" panose="02010600040101010101" pitchFamily="2" charset="-122"/>
              </a:rPr>
              <a:t>旋转</a:t>
            </a:r>
            <a:endParaRPr lang="en-US" altLang="zh-CN" sz="1200" dirty="0">
              <a:ea typeface="华文楷体" panose="02010600040101010101" pitchFamily="2" charset="-122"/>
            </a:endParaRPr>
          </a:p>
          <a:p>
            <a:pPr marL="0" indent="0">
              <a:buNone/>
            </a:pPr>
            <a:r>
              <a:rPr lang="en-US" altLang="zh-CN" sz="1200" dirty="0">
                <a:ea typeface="华文楷体" panose="02010600040101010101" pitchFamily="2" charset="-122"/>
              </a:rPr>
              <a:t>            else    T = </a:t>
            </a:r>
            <a:r>
              <a:rPr lang="en-US" altLang="zh-CN" sz="1200" dirty="0" err="1" smtClean="0">
                <a:ea typeface="华文楷体" panose="02010600040101010101" pitchFamily="2" charset="-122"/>
              </a:rPr>
              <a:t>DoubleRotateWithRight</a:t>
            </a:r>
            <a:r>
              <a:rPr lang="en-US" altLang="zh-CN" sz="1200" dirty="0" smtClean="0">
                <a:ea typeface="华文楷体" panose="02010600040101010101" pitchFamily="2" charset="-122"/>
              </a:rPr>
              <a:t>(T</a:t>
            </a:r>
            <a:r>
              <a:rPr lang="en-US" altLang="zh-CN" sz="1200" dirty="0">
                <a:ea typeface="华文楷体" panose="02010600040101010101" pitchFamily="2" charset="-122"/>
              </a:rPr>
              <a:t>);  // LR</a:t>
            </a:r>
            <a:r>
              <a:rPr lang="zh-CN" altLang="en-US" sz="1200" dirty="0">
                <a:ea typeface="华文楷体" panose="02010600040101010101" pitchFamily="2" charset="-122"/>
              </a:rPr>
              <a:t>型，一</a:t>
            </a:r>
            <a:r>
              <a:rPr lang="zh-CN" altLang="en-US" sz="1200" dirty="0" smtClean="0">
                <a:ea typeface="华文楷体" panose="02010600040101010101" pitchFamily="2" charset="-122"/>
              </a:rPr>
              <a:t>次</a:t>
            </a:r>
            <a:r>
              <a:rPr lang="zh-CN" altLang="en-US" sz="1200" dirty="0">
                <a:ea typeface="华文楷体" panose="02010600040101010101" pitchFamily="2" charset="-122"/>
              </a:rPr>
              <a:t>逆</a:t>
            </a:r>
            <a:r>
              <a:rPr lang="zh-CN" altLang="en-US" sz="1200" dirty="0" smtClean="0">
                <a:ea typeface="华文楷体" panose="02010600040101010101" pitchFamily="2" charset="-122"/>
              </a:rPr>
              <a:t>时针</a:t>
            </a:r>
            <a:r>
              <a:rPr lang="en-US" altLang="zh-CN" sz="1200" dirty="0">
                <a:ea typeface="华文楷体" panose="02010600040101010101" pitchFamily="2" charset="-122"/>
              </a:rPr>
              <a:t>+</a:t>
            </a:r>
            <a:r>
              <a:rPr lang="zh-CN" altLang="en-US" sz="1200" dirty="0">
                <a:ea typeface="华文楷体" panose="02010600040101010101" pitchFamily="2" charset="-122"/>
              </a:rPr>
              <a:t>一</a:t>
            </a:r>
            <a:r>
              <a:rPr lang="zh-CN" altLang="en-US" sz="1200" dirty="0" smtClean="0">
                <a:ea typeface="华文楷体" panose="02010600040101010101" pitchFamily="2" charset="-122"/>
              </a:rPr>
              <a:t>次顺时针</a:t>
            </a:r>
            <a:r>
              <a:rPr lang="zh-CN" altLang="en-US" sz="1200" dirty="0">
                <a:ea typeface="华文楷体" panose="02010600040101010101" pitchFamily="2" charset="-122"/>
              </a:rPr>
              <a:t>旋转</a:t>
            </a:r>
            <a:endParaRPr lang="en-US" altLang="zh-CN" sz="1200" dirty="0">
              <a:ea typeface="华文楷体" panose="02010600040101010101" pitchFamily="2" charset="-122"/>
            </a:endParaRPr>
          </a:p>
          <a:p>
            <a:pPr marL="0" indent="0">
              <a:buNone/>
            </a:pPr>
            <a:r>
              <a:rPr lang="en-US" altLang="zh-CN" sz="1200" dirty="0" smtClean="0">
                <a:ea typeface="华文楷体" panose="02010600040101010101" pitchFamily="2" charset="-122"/>
              </a:rPr>
              <a:t>    }</a:t>
            </a:r>
            <a:endParaRPr lang="en-US" altLang="zh-CN" sz="1200" dirty="0" smtClean="0">
              <a:ea typeface="华文楷体" panose="02010600040101010101" pitchFamily="2" charset="-122"/>
            </a:endParaRPr>
          </a:p>
          <a:p>
            <a:pPr marL="0" indent="0">
              <a:buNone/>
            </a:pPr>
            <a:r>
              <a:rPr lang="en-US" altLang="zh-CN" sz="1200" dirty="0">
                <a:ea typeface="华文楷体" panose="02010600040101010101" pitchFamily="2" charset="-122"/>
              </a:rPr>
              <a:t> </a:t>
            </a:r>
            <a:r>
              <a:rPr lang="en-US" altLang="zh-CN" sz="1200" dirty="0" smtClean="0">
                <a:ea typeface="华文楷体" panose="02010600040101010101" pitchFamily="2" charset="-122"/>
              </a:rPr>
              <a:t>   T-&gt;height = MAX(</a:t>
            </a:r>
            <a:r>
              <a:rPr lang="en-US" altLang="zh-CN" sz="1200" dirty="0">
                <a:ea typeface="华文楷体" panose="02010600040101010101" pitchFamily="2" charset="-122"/>
              </a:rPr>
              <a:t>Height(T-&gt;left) </a:t>
            </a:r>
            <a:r>
              <a:rPr lang="en-US" altLang="zh-CN" sz="1200" dirty="0" smtClean="0">
                <a:ea typeface="华文楷体" panose="02010600040101010101" pitchFamily="2" charset="-122"/>
              </a:rPr>
              <a:t>, </a:t>
            </a:r>
            <a:r>
              <a:rPr lang="en-US" altLang="zh-CN" sz="1200" dirty="0">
                <a:ea typeface="华文楷体" panose="02010600040101010101" pitchFamily="2" charset="-122"/>
              </a:rPr>
              <a:t>Height(T-</a:t>
            </a:r>
            <a:r>
              <a:rPr lang="en-US" altLang="zh-CN" sz="1200" dirty="0" smtClean="0">
                <a:ea typeface="华文楷体" panose="02010600040101010101" pitchFamily="2" charset="-122"/>
              </a:rPr>
              <a:t>&gt;right) ) + 1;</a:t>
            </a:r>
            <a:endParaRPr lang="en-US" altLang="zh-CN" sz="1200" dirty="0" smtClean="0">
              <a:ea typeface="华文楷体" panose="02010600040101010101" pitchFamily="2" charset="-122"/>
            </a:endParaRPr>
          </a:p>
          <a:p>
            <a:pPr marL="0" indent="0">
              <a:buNone/>
            </a:pPr>
            <a:r>
              <a:rPr lang="en-US" altLang="zh-CN" sz="1200" dirty="0" smtClean="0">
                <a:ea typeface="华文楷体" panose="02010600040101010101" pitchFamily="2" charset="-122"/>
              </a:rPr>
              <a:t>    return T;</a:t>
            </a:r>
            <a:br>
              <a:rPr lang="en-US" altLang="zh-CN" sz="1200" dirty="0" smtClean="0">
                <a:ea typeface="华文楷体" panose="02010600040101010101" pitchFamily="2" charset="-122"/>
              </a:rPr>
            </a:br>
            <a:r>
              <a:rPr lang="en-US" altLang="zh-CN" sz="1200" dirty="0" smtClean="0">
                <a:ea typeface="华文楷体" panose="02010600040101010101" pitchFamily="2" charset="-122"/>
              </a:rPr>
              <a:t>}</a:t>
            </a:r>
            <a:endParaRPr lang="zh-CN" altLang="en-US" sz="1200" dirty="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dirty="0" smtClean="0"/>
              <a:t>BUPT SCST</a:t>
            </a:r>
            <a:endParaRPr lang="en-US" altLang="zh-CN" dirty="0"/>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页脚占位符 3"/>
          <p:cNvSpPr>
            <a:spLocks noGrp="1"/>
          </p:cNvSpPr>
          <p:nvPr>
            <p:ph type="ftr" sz="quarter" idx="10"/>
          </p:nvPr>
        </p:nvSpPr>
        <p:spPr/>
        <p:txBody>
          <a:bodyPr/>
          <a:lstStyle/>
          <a:p>
            <a:pPr>
              <a:defRPr/>
            </a:pPr>
            <a:r>
              <a:rPr lang="en-US" altLang="zh-CN" dirty="0" smtClean="0"/>
              <a:t>BUPT SCST</a:t>
            </a:r>
            <a:endParaRPr lang="en-US" altLang="zh-CN" dirty="0"/>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
        <p:nvSpPr>
          <p:cNvPr id="8" name="文本框 7"/>
          <p:cNvSpPr txBox="1"/>
          <p:nvPr/>
        </p:nvSpPr>
        <p:spPr>
          <a:xfrm>
            <a:off x="107504" y="1124744"/>
            <a:ext cx="5243743" cy="2554545"/>
          </a:xfrm>
          <a:prstGeom prst="rect">
            <a:avLst/>
          </a:prstGeom>
          <a:noFill/>
          <a:ln>
            <a:solidFill>
              <a:schemeClr val="accent1"/>
            </a:solidFill>
          </a:ln>
        </p:spPr>
        <p:txBody>
          <a:bodyPr wrap="none" rtlCol="0">
            <a:spAutoFit/>
          </a:bodyPr>
          <a:lstStyle/>
          <a:p>
            <a:r>
              <a:rPr lang="en-US" altLang="zh-CN" sz="1600" dirty="0" err="1" smtClean="0">
                <a:latin typeface="Times New Roman" panose="02020603050405020304" pitchFamily="18" charset="0"/>
                <a:cs typeface="Times New Roman" panose="02020603050405020304" pitchFamily="18" charset="0"/>
              </a:rPr>
              <a:t>PositionH</a:t>
            </a:r>
            <a:r>
              <a:rPr lang="en-US" altLang="zh-CN" sz="1600" dirty="0" smtClean="0">
                <a:latin typeface="Times New Roman" panose="02020603050405020304" pitchFamily="18" charset="0"/>
                <a:cs typeface="Times New Roman" panose="02020603050405020304" pitchFamily="18" charset="0"/>
              </a:rPr>
              <a:t> </a:t>
            </a:r>
            <a:r>
              <a:rPr lang="en-US" altLang="zh-CN" sz="1600" dirty="0" err="1" smtClean="0">
                <a:latin typeface="Times New Roman" panose="02020603050405020304" pitchFamily="18" charset="0"/>
                <a:cs typeface="Times New Roman" panose="02020603050405020304" pitchFamily="18" charset="0"/>
              </a:rPr>
              <a:t>SingleRotateWithLeft</a:t>
            </a:r>
            <a:r>
              <a:rPr lang="en-US" altLang="zh-CN" sz="1600" dirty="0" smtClean="0">
                <a:latin typeface="Times New Roman" panose="02020603050405020304" pitchFamily="18" charset="0"/>
                <a:cs typeface="Times New Roman" panose="02020603050405020304" pitchFamily="18" charset="0"/>
              </a:rPr>
              <a:t>(</a:t>
            </a:r>
            <a:r>
              <a:rPr lang="en-US" altLang="zh-CN" sz="1600" dirty="0" err="1" smtClean="0">
                <a:latin typeface="Times New Roman" panose="02020603050405020304" pitchFamily="18" charset="0"/>
                <a:cs typeface="Times New Roman" panose="02020603050405020304" pitchFamily="18" charset="0"/>
              </a:rPr>
              <a:t>PositionH</a:t>
            </a:r>
            <a:r>
              <a:rPr lang="en-US" altLang="zh-CN" sz="1600" dirty="0" smtClean="0">
                <a:latin typeface="Times New Roman" panose="02020603050405020304" pitchFamily="18" charset="0"/>
                <a:cs typeface="Times New Roman" panose="02020603050405020304" pitchFamily="18" charset="0"/>
              </a:rPr>
              <a:t> k2)</a:t>
            </a:r>
            <a:endParaRPr lang="en-US" altLang="zh-CN" sz="1600" dirty="0" smtClean="0">
              <a:latin typeface="Times New Roman" panose="02020603050405020304" pitchFamily="18" charset="0"/>
              <a:cs typeface="Times New Roman" panose="02020603050405020304" pitchFamily="18" charset="0"/>
            </a:endParaRPr>
          </a:p>
          <a:p>
            <a:r>
              <a:rPr lang="en-US" altLang="zh-CN" sz="1600" dirty="0" smtClean="0">
                <a:latin typeface="Times New Roman" panose="02020603050405020304" pitchFamily="18" charset="0"/>
                <a:cs typeface="Times New Roman" panose="02020603050405020304" pitchFamily="18" charset="0"/>
              </a:rPr>
              <a:t>{</a:t>
            </a:r>
            <a:endParaRPr lang="en-US" altLang="zh-CN" sz="1600" dirty="0" smtClean="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dirty="0" smtClean="0">
                <a:latin typeface="Times New Roman" panose="02020603050405020304" pitchFamily="18" charset="0"/>
                <a:cs typeface="Times New Roman" panose="02020603050405020304" pitchFamily="18" charset="0"/>
              </a:rPr>
              <a:t>   </a:t>
            </a:r>
            <a:r>
              <a:rPr lang="en-US" altLang="zh-CN" sz="1600" dirty="0" err="1" smtClean="0">
                <a:latin typeface="Times New Roman" panose="02020603050405020304" pitchFamily="18" charset="0"/>
                <a:cs typeface="Times New Roman" panose="02020603050405020304" pitchFamily="18" charset="0"/>
              </a:rPr>
              <a:t>PositionH</a:t>
            </a:r>
            <a:r>
              <a:rPr lang="en-US" altLang="zh-CN" sz="1600" dirty="0" smtClean="0">
                <a:latin typeface="Times New Roman" panose="02020603050405020304" pitchFamily="18" charset="0"/>
                <a:cs typeface="Times New Roman" panose="02020603050405020304" pitchFamily="18" charset="0"/>
              </a:rPr>
              <a:t> k1;</a:t>
            </a:r>
            <a:endParaRPr lang="en-US" altLang="zh-CN" sz="1600" dirty="0" smtClean="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dirty="0" smtClean="0">
                <a:latin typeface="Times New Roman" panose="02020603050405020304" pitchFamily="18" charset="0"/>
                <a:cs typeface="Times New Roman" panose="02020603050405020304" pitchFamily="18" charset="0"/>
              </a:rPr>
              <a:t>   k1 = k2-&gt;left;</a:t>
            </a:r>
            <a:endParaRPr lang="en-US" altLang="zh-CN" sz="1600" dirty="0" smtClean="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dirty="0" smtClean="0">
                <a:latin typeface="Times New Roman" panose="02020603050405020304" pitchFamily="18" charset="0"/>
                <a:cs typeface="Times New Roman" panose="02020603050405020304" pitchFamily="18" charset="0"/>
              </a:rPr>
              <a:t>   k2-&gt;left = k1-&gt;right;</a:t>
            </a:r>
            <a:endParaRPr lang="en-US" altLang="zh-CN" sz="1600" dirty="0" smtClean="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dirty="0" smtClean="0">
                <a:latin typeface="Times New Roman" panose="02020603050405020304" pitchFamily="18" charset="0"/>
                <a:cs typeface="Times New Roman" panose="02020603050405020304" pitchFamily="18" charset="0"/>
              </a:rPr>
              <a:t>   k1-&gt;right = k2;</a:t>
            </a:r>
            <a:endParaRPr lang="en-US" altLang="zh-CN" sz="1600" dirty="0" smtClean="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dirty="0" smtClean="0">
                <a:latin typeface="Times New Roman" panose="02020603050405020304" pitchFamily="18" charset="0"/>
                <a:cs typeface="Times New Roman" panose="02020603050405020304" pitchFamily="18" charset="0"/>
              </a:rPr>
              <a:t>   k2-&gt;height =Max(Height(k2-&gt;left), Height(k2-&gt;right ))+1;</a:t>
            </a:r>
            <a:endParaRPr lang="en-US" altLang="zh-CN" sz="1600" dirty="0" smtClean="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dirty="0" smtClean="0">
                <a:latin typeface="Times New Roman" panose="02020603050405020304" pitchFamily="18" charset="0"/>
                <a:cs typeface="Times New Roman" panose="02020603050405020304" pitchFamily="18" charset="0"/>
              </a:rPr>
              <a:t>   k1-</a:t>
            </a:r>
            <a:r>
              <a:rPr lang="en-US" altLang="zh-CN" sz="1600" dirty="0">
                <a:latin typeface="Times New Roman" panose="02020603050405020304" pitchFamily="18" charset="0"/>
                <a:cs typeface="Times New Roman" panose="02020603050405020304" pitchFamily="18" charset="0"/>
              </a:rPr>
              <a:t>&gt;height =</a:t>
            </a:r>
            <a:r>
              <a:rPr lang="en-US" altLang="zh-CN" sz="1600" dirty="0" smtClean="0">
                <a:latin typeface="Times New Roman" panose="02020603050405020304" pitchFamily="18" charset="0"/>
                <a:cs typeface="Times New Roman" panose="02020603050405020304" pitchFamily="18" charset="0"/>
              </a:rPr>
              <a:t>Max(Height(k1-</a:t>
            </a:r>
            <a:r>
              <a:rPr lang="en-US" altLang="zh-CN" sz="1600" dirty="0">
                <a:latin typeface="Times New Roman" panose="02020603050405020304" pitchFamily="18" charset="0"/>
                <a:cs typeface="Times New Roman" panose="02020603050405020304" pitchFamily="18" charset="0"/>
              </a:rPr>
              <a:t>&gt;left), </a:t>
            </a:r>
            <a:r>
              <a:rPr lang="en-US" altLang="zh-CN" sz="1600" dirty="0" smtClean="0">
                <a:latin typeface="Times New Roman" panose="02020603050405020304" pitchFamily="18" charset="0"/>
                <a:cs typeface="Times New Roman" panose="02020603050405020304" pitchFamily="18" charset="0"/>
              </a:rPr>
              <a:t>k2-&gt;height )+</a:t>
            </a:r>
            <a:r>
              <a:rPr lang="en-US" altLang="zh-CN" sz="1600" dirty="0">
                <a:latin typeface="Times New Roman" panose="02020603050405020304" pitchFamily="18" charset="0"/>
                <a:cs typeface="Times New Roman" panose="02020603050405020304" pitchFamily="18" charset="0"/>
              </a:rPr>
              <a:t>1;</a:t>
            </a:r>
            <a:endParaRPr lang="en-US" altLang="zh-CN" sz="1600" dirty="0">
              <a:latin typeface="Times New Roman" panose="02020603050405020304" pitchFamily="18" charset="0"/>
              <a:cs typeface="Times New Roman" panose="02020603050405020304" pitchFamily="18" charset="0"/>
            </a:endParaRPr>
          </a:p>
          <a:p>
            <a:r>
              <a:rPr lang="en-US" altLang="zh-CN" sz="1600" dirty="0" smtClean="0">
                <a:latin typeface="Times New Roman" panose="02020603050405020304" pitchFamily="18" charset="0"/>
                <a:cs typeface="Times New Roman" panose="02020603050405020304" pitchFamily="18" charset="0"/>
              </a:rPr>
              <a:t>    return k1;</a:t>
            </a:r>
            <a:endParaRPr lang="en-US" altLang="zh-CN" sz="1600" dirty="0" smtClean="0">
              <a:latin typeface="Times New Roman" panose="02020603050405020304" pitchFamily="18" charset="0"/>
              <a:cs typeface="Times New Roman" panose="02020603050405020304" pitchFamily="18" charset="0"/>
            </a:endParaRPr>
          </a:p>
          <a:p>
            <a:r>
              <a:rPr lang="en-US" altLang="zh-CN" sz="1600" dirty="0" smtClean="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p:txBody>
      </p:sp>
      <p:sp>
        <p:nvSpPr>
          <p:cNvPr id="9" name="文本框 8"/>
          <p:cNvSpPr txBox="1"/>
          <p:nvPr/>
        </p:nvSpPr>
        <p:spPr>
          <a:xfrm>
            <a:off x="107503" y="4061390"/>
            <a:ext cx="5243744" cy="1815882"/>
          </a:xfrm>
          <a:prstGeom prst="rect">
            <a:avLst/>
          </a:prstGeom>
          <a:noFill/>
          <a:ln>
            <a:solidFill>
              <a:schemeClr val="accent1"/>
            </a:solidFill>
          </a:ln>
        </p:spPr>
        <p:txBody>
          <a:bodyPr wrap="square" rtlCol="0">
            <a:spAutoFit/>
          </a:bodyPr>
          <a:lstStyle/>
          <a:p>
            <a:r>
              <a:rPr lang="en-US" altLang="zh-CN" sz="1600" dirty="0" err="1" smtClean="0">
                <a:latin typeface="Times New Roman" panose="02020603050405020304" pitchFamily="18" charset="0"/>
                <a:cs typeface="Times New Roman" panose="02020603050405020304" pitchFamily="18" charset="0"/>
              </a:rPr>
              <a:t>PositionR</a:t>
            </a:r>
            <a:r>
              <a:rPr lang="en-US" altLang="zh-CN" sz="1600" dirty="0" smtClean="0">
                <a:latin typeface="Times New Roman" panose="02020603050405020304" pitchFamily="18" charset="0"/>
                <a:cs typeface="Times New Roman" panose="02020603050405020304" pitchFamily="18" charset="0"/>
              </a:rPr>
              <a:t> </a:t>
            </a:r>
            <a:r>
              <a:rPr lang="en-US" altLang="zh-CN" sz="1600" dirty="0" err="1" smtClean="0">
                <a:latin typeface="Times New Roman" panose="02020603050405020304" pitchFamily="18" charset="0"/>
                <a:cs typeface="Times New Roman" panose="02020603050405020304" pitchFamily="18" charset="0"/>
              </a:rPr>
              <a:t>doubleRotateWithLeft</a:t>
            </a:r>
            <a:r>
              <a:rPr lang="en-US" altLang="zh-CN" sz="1600" dirty="0" smtClean="0">
                <a:latin typeface="Times New Roman" panose="02020603050405020304" pitchFamily="18" charset="0"/>
                <a:cs typeface="Times New Roman" panose="02020603050405020304" pitchFamily="18" charset="0"/>
              </a:rPr>
              <a:t>(</a:t>
            </a:r>
            <a:r>
              <a:rPr lang="en-US" altLang="zh-CN" sz="1600" dirty="0" err="1" smtClean="0">
                <a:latin typeface="Times New Roman" panose="02020603050405020304" pitchFamily="18" charset="0"/>
                <a:cs typeface="Times New Roman" panose="02020603050405020304" pitchFamily="18" charset="0"/>
              </a:rPr>
              <a:t>PositionH</a:t>
            </a:r>
            <a:r>
              <a:rPr lang="en-US" altLang="zh-CN" sz="1600" dirty="0" smtClean="0">
                <a:latin typeface="Times New Roman" panose="02020603050405020304" pitchFamily="18" charset="0"/>
                <a:cs typeface="Times New Roman" panose="02020603050405020304" pitchFamily="18" charset="0"/>
              </a:rPr>
              <a:t> k3)</a:t>
            </a:r>
            <a:endParaRPr lang="en-US" altLang="zh-CN" sz="1600" dirty="0" smtClean="0">
              <a:latin typeface="Times New Roman" panose="02020603050405020304" pitchFamily="18" charset="0"/>
              <a:cs typeface="Times New Roman" panose="02020603050405020304" pitchFamily="18" charset="0"/>
            </a:endParaRPr>
          </a:p>
          <a:p>
            <a:r>
              <a:rPr lang="en-US" altLang="zh-CN" sz="1600" dirty="0" smtClean="0">
                <a:latin typeface="Times New Roman" panose="02020603050405020304" pitchFamily="18" charset="0"/>
                <a:cs typeface="Times New Roman" panose="02020603050405020304" pitchFamily="18" charset="0"/>
              </a:rPr>
              <a:t>{</a:t>
            </a:r>
            <a:endParaRPr lang="en-US" altLang="zh-CN" sz="1600" dirty="0" smtClean="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   //k1 </a:t>
            </a:r>
            <a:r>
              <a:rPr lang="zh-CN" altLang="en-US" sz="1600" dirty="0" smtClean="0">
                <a:latin typeface="Times New Roman" panose="02020603050405020304" pitchFamily="18" charset="0"/>
                <a:ea typeface="华文楷体" panose="02010600040101010101" pitchFamily="2" charset="-122"/>
                <a:cs typeface="Times New Roman" panose="02020603050405020304" pitchFamily="18" charset="0"/>
              </a:rPr>
              <a:t>和 </a:t>
            </a:r>
            <a:r>
              <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rPr>
              <a:t>k2</a:t>
            </a:r>
            <a:r>
              <a:rPr lang="zh-CN" altLang="en-US" sz="1600" dirty="0" smtClean="0">
                <a:latin typeface="Times New Roman" panose="02020603050405020304" pitchFamily="18" charset="0"/>
                <a:ea typeface="华文楷体" panose="02010600040101010101" pitchFamily="2" charset="-122"/>
                <a:cs typeface="Times New Roman" panose="02020603050405020304" pitchFamily="18" charset="0"/>
              </a:rPr>
              <a:t>之间</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逆时针</a:t>
            </a:r>
            <a:r>
              <a:rPr lang="zh-CN" altLang="en-US" sz="1600" dirty="0" smtClean="0">
                <a:latin typeface="Times New Roman" panose="02020603050405020304" pitchFamily="18" charset="0"/>
                <a:ea typeface="华文楷体" panose="02010600040101010101" pitchFamily="2" charset="-122"/>
                <a:cs typeface="Times New Roman" panose="02020603050405020304" pitchFamily="18" charset="0"/>
              </a:rPr>
              <a:t>旋转</a:t>
            </a:r>
            <a:endParaRPr lang="en-US" altLang="zh-CN" sz="1600" dirty="0" smtClean="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dirty="0" smtClean="0">
                <a:latin typeface="Times New Roman" panose="02020603050405020304" pitchFamily="18" charset="0"/>
                <a:cs typeface="Times New Roman" panose="02020603050405020304" pitchFamily="18" charset="0"/>
              </a:rPr>
              <a:t>   k3-&gt;left = </a:t>
            </a:r>
            <a:r>
              <a:rPr lang="en-US" altLang="zh-CN" sz="1600" dirty="0" err="1" smtClean="0">
                <a:latin typeface="Times New Roman" panose="02020603050405020304" pitchFamily="18" charset="0"/>
                <a:cs typeface="Times New Roman" panose="02020603050405020304" pitchFamily="18" charset="0"/>
              </a:rPr>
              <a:t>SingleRotateWithRight</a:t>
            </a:r>
            <a:r>
              <a:rPr lang="en-US" altLang="zh-CN" sz="1600" dirty="0" smtClean="0">
                <a:latin typeface="Times New Roman" panose="02020603050405020304" pitchFamily="18" charset="0"/>
                <a:cs typeface="Times New Roman" panose="02020603050405020304" pitchFamily="18" charset="0"/>
              </a:rPr>
              <a:t>(k3-&gt;left);</a:t>
            </a:r>
            <a:endParaRPr lang="en-US" altLang="zh-CN" sz="1600" dirty="0" smtClean="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//k3 </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和 </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k2</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之间顺时针旋转</a:t>
            </a:r>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en-US" altLang="zh-CN" sz="1600" dirty="0" smtClean="0">
                <a:latin typeface="Times New Roman" panose="02020603050405020304" pitchFamily="18" charset="0"/>
                <a:cs typeface="Times New Roman" panose="02020603050405020304" pitchFamily="18" charset="0"/>
              </a:rPr>
              <a:t>   </a:t>
            </a:r>
            <a:r>
              <a:rPr lang="en-US" altLang="zh-CN" sz="1600" dirty="0" err="1" smtClean="0">
                <a:latin typeface="Times New Roman" panose="02020603050405020304" pitchFamily="18" charset="0"/>
                <a:cs typeface="Times New Roman" panose="02020603050405020304" pitchFamily="18" charset="0"/>
              </a:rPr>
              <a:t>retrun</a:t>
            </a:r>
            <a:r>
              <a:rPr lang="en-US" altLang="zh-CN" sz="1600" dirty="0" smtClean="0">
                <a:latin typeface="Times New Roman" panose="02020603050405020304" pitchFamily="18" charset="0"/>
                <a:cs typeface="Times New Roman" panose="02020603050405020304" pitchFamily="18" charset="0"/>
              </a:rPr>
              <a:t> </a:t>
            </a:r>
            <a:r>
              <a:rPr lang="en-US" altLang="zh-CN" sz="1600" dirty="0" err="1" smtClean="0">
                <a:latin typeface="Times New Roman" panose="02020603050405020304" pitchFamily="18" charset="0"/>
                <a:cs typeface="Times New Roman" panose="02020603050405020304" pitchFamily="18" charset="0"/>
              </a:rPr>
              <a:t>SingleRotateWithLeft</a:t>
            </a:r>
            <a:r>
              <a:rPr lang="en-US" altLang="zh-CN" sz="1600" dirty="0" smtClean="0">
                <a:latin typeface="Times New Roman" panose="02020603050405020304" pitchFamily="18" charset="0"/>
                <a:cs typeface="Times New Roman" panose="02020603050405020304" pitchFamily="18" charset="0"/>
              </a:rPr>
              <a:t>(K3);</a:t>
            </a:r>
            <a:endParaRPr lang="en-US" altLang="zh-CN" sz="1600" dirty="0" smtClean="0">
              <a:latin typeface="Times New Roman" panose="02020603050405020304" pitchFamily="18" charset="0"/>
              <a:cs typeface="Times New Roman" panose="02020603050405020304" pitchFamily="18" charset="0"/>
            </a:endParaRPr>
          </a:p>
          <a:p>
            <a:r>
              <a:rPr lang="en-US" altLang="zh-CN" sz="1600" dirty="0" smtClean="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p:txBody>
      </p:sp>
      <p:pic>
        <p:nvPicPr>
          <p:cNvPr id="10" name="图片 9"/>
          <p:cNvPicPr>
            <a:picLocks noChangeAspect="1"/>
          </p:cNvPicPr>
          <p:nvPr/>
        </p:nvPicPr>
        <p:blipFill>
          <a:blip r:embed="rId1"/>
          <a:stretch>
            <a:fillRect/>
          </a:stretch>
        </p:blipFill>
        <p:spPr>
          <a:xfrm>
            <a:off x="5508104" y="1700330"/>
            <a:ext cx="3436862" cy="1509466"/>
          </a:xfrm>
          <a:prstGeom prst="rect">
            <a:avLst/>
          </a:prstGeom>
        </p:spPr>
      </p:pic>
      <p:pic>
        <p:nvPicPr>
          <p:cNvPr id="11" name="图片 10"/>
          <p:cNvPicPr>
            <a:picLocks noChangeAspect="1"/>
          </p:cNvPicPr>
          <p:nvPr/>
        </p:nvPicPr>
        <p:blipFill>
          <a:blip r:embed="rId2"/>
          <a:stretch>
            <a:fillRect/>
          </a:stretch>
        </p:blipFill>
        <p:spPr>
          <a:xfrm>
            <a:off x="5561080" y="3952606"/>
            <a:ext cx="3582920" cy="2068682"/>
          </a:xfrm>
          <a:prstGeom prst="rect">
            <a:avLst/>
          </a:prstGeom>
        </p:spPr>
      </p:pic>
      <p:cxnSp>
        <p:nvCxnSpPr>
          <p:cNvPr id="13" name="直接连接符 12"/>
          <p:cNvCxnSpPr/>
          <p:nvPr/>
        </p:nvCxnSpPr>
        <p:spPr bwMode="auto">
          <a:xfrm>
            <a:off x="0" y="3861048"/>
            <a:ext cx="9144000"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4" name="文本框 13"/>
          <p:cNvSpPr txBox="1"/>
          <p:nvPr/>
        </p:nvSpPr>
        <p:spPr>
          <a:xfrm>
            <a:off x="81246" y="6232252"/>
            <a:ext cx="5296258" cy="338554"/>
          </a:xfrm>
          <a:prstGeom prst="rect">
            <a:avLst/>
          </a:prstGeom>
          <a:noFill/>
          <a:ln>
            <a:solidFill>
              <a:srgbClr val="FF0000"/>
            </a:solidFill>
          </a:ln>
        </p:spPr>
        <p:txBody>
          <a:bodyPr wrap="none" rtlCol="0">
            <a:spAutoFit/>
          </a:bodyPr>
          <a:lstStyle/>
          <a:p>
            <a:r>
              <a:rPr lang="en-US" altLang="zh-CN" sz="1600" dirty="0" err="1">
                <a:latin typeface="Times New Roman" panose="02020603050405020304" pitchFamily="18" charset="0"/>
                <a:ea typeface="华文楷体" panose="02010600040101010101" pitchFamily="2" charset="-122"/>
                <a:cs typeface="Times New Roman" panose="02020603050405020304" pitchFamily="18" charset="0"/>
              </a:rPr>
              <a:t>SingleRotateWithRight</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1600" dirty="0" err="1">
                <a:latin typeface="Times New Roman" panose="02020603050405020304" pitchFamily="18" charset="0"/>
                <a:ea typeface="华文楷体" panose="02010600040101010101" pitchFamily="2" charset="-122"/>
                <a:cs typeface="Times New Roman" panose="02020603050405020304" pitchFamily="18" charset="0"/>
              </a:rPr>
              <a:t>doubleRotateWithRight</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为对偶情况</a:t>
            </a:r>
            <a:endParaRPr lang="zh-CN" altLang="en-US" sz="16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4506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45061"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zh-CN" sz="2400" b="1" dirty="0" smtClean="0">
                <a:solidFill>
                  <a:srgbClr val="CC6600"/>
                </a:solidFill>
                <a:ea typeface="华文楷体" panose="02010600040101010101" pitchFamily="2" charset="-122"/>
              </a:rPr>
              <a:t>删除</a:t>
            </a:r>
            <a:r>
              <a:rPr lang="en-US" altLang="zh-CN" sz="2400" b="1" dirty="0" smtClean="0">
                <a:solidFill>
                  <a:srgbClr val="CC6600"/>
                </a:solidFill>
                <a:ea typeface="华文楷体" panose="02010600040101010101" pitchFamily="2" charset="-122"/>
              </a:rPr>
              <a:t>]</a:t>
            </a:r>
            <a:r>
              <a:rPr lang="zh-CN" altLang="zh-CN" sz="2400" dirty="0" smtClean="0">
                <a:ea typeface="华文楷体" panose="02010600040101010101" pitchFamily="2" charset="-122"/>
              </a:rPr>
              <a:t>  （思路同插入）</a:t>
            </a:r>
            <a:endParaRPr lang="zh-CN" altLang="zh-CN" sz="2400" b="1" dirty="0" smtClean="0">
              <a:ea typeface="华文楷体" panose="02010600040101010101" pitchFamily="2" charset="-122"/>
            </a:endParaRPr>
          </a:p>
          <a:p>
            <a:pPr eaLnBrk="1" hangingPunct="1"/>
            <a:r>
              <a:rPr lang="zh-CN" altLang="en-US" sz="2400" dirty="0" smtClean="0">
                <a:ea typeface="华文楷体" panose="02010600040101010101" pitchFamily="2" charset="-122"/>
              </a:rPr>
              <a:t>将删除结点</a:t>
            </a:r>
            <a:r>
              <a:rPr lang="en-US" altLang="zh-CN" sz="2400" dirty="0" smtClean="0">
                <a:ea typeface="华文楷体" panose="02010600040101010101" pitchFamily="2" charset="-122"/>
              </a:rPr>
              <a:t>q</a:t>
            </a:r>
            <a:r>
              <a:rPr lang="zh-CN" altLang="en-US" sz="2400" dirty="0" smtClean="0">
                <a:ea typeface="华文楷体" panose="02010600040101010101" pitchFamily="2" charset="-122"/>
              </a:rPr>
              <a:t>转化为</a:t>
            </a:r>
            <a:r>
              <a:rPr lang="en-US" altLang="zh-CN" sz="2400" dirty="0" smtClean="0">
                <a:ea typeface="华文楷体" panose="02010600040101010101" pitchFamily="2" charset="-122"/>
              </a:rPr>
              <a:t>q</a:t>
            </a:r>
            <a:r>
              <a:rPr lang="zh-CN" altLang="en-US" sz="2400" dirty="0" smtClean="0">
                <a:ea typeface="华文楷体" panose="02010600040101010101" pitchFamily="2" charset="-122"/>
              </a:rPr>
              <a:t>最多有一个孩子的情形，即若</a:t>
            </a:r>
            <a:r>
              <a:rPr lang="en-US" altLang="zh-CN" sz="2400" dirty="0" smtClean="0">
                <a:ea typeface="华文楷体" panose="02010600040101010101" pitchFamily="2" charset="-122"/>
              </a:rPr>
              <a:t>q</a:t>
            </a:r>
            <a:r>
              <a:rPr lang="zh-CN" altLang="en-US" sz="2400" dirty="0" smtClean="0">
                <a:ea typeface="华文楷体" panose="02010600040101010101" pitchFamily="2" charset="-122"/>
              </a:rPr>
              <a:t>有两个孩子，则以其中序前驱</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后继结点</a:t>
            </a:r>
            <a:r>
              <a:rPr lang="en-US" altLang="zh-CN" sz="2400" dirty="0" smtClean="0">
                <a:ea typeface="华文楷体" panose="02010600040101010101" pitchFamily="2" charset="-122"/>
              </a:rPr>
              <a:t>r</a:t>
            </a:r>
            <a:r>
              <a:rPr lang="zh-CN" altLang="en-US" sz="2400" dirty="0" smtClean="0">
                <a:ea typeface="华文楷体" panose="02010600040101010101" pitchFamily="2" charset="-122"/>
              </a:rPr>
              <a:t>取代它，删除</a:t>
            </a:r>
            <a:r>
              <a:rPr lang="en-US" altLang="zh-CN" sz="2400" dirty="0" smtClean="0">
                <a:ea typeface="华文楷体" panose="02010600040101010101" pitchFamily="2" charset="-122"/>
              </a:rPr>
              <a:t>r</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r>
              <a:rPr lang="zh-CN" altLang="en-US" sz="2400" dirty="0" smtClean="0">
                <a:ea typeface="华文楷体" panose="02010600040101010101" pitchFamily="2" charset="-122"/>
              </a:rPr>
              <a:t>若树的平衡性被破坏，利用单一</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双重旋转恢复。</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性能</a:t>
            </a:r>
            <a:r>
              <a:rPr lang="en-US" altLang="zh-CN" sz="2400" b="1" dirty="0" smtClean="0">
                <a:solidFill>
                  <a:srgbClr val="CC66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定理：一个具有</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个结点的平衡二叉树形，其高度</a:t>
            </a:r>
            <a:r>
              <a:rPr lang="en-US" altLang="zh-CN" sz="2400" dirty="0" smtClean="0">
                <a:ea typeface="华文楷体" panose="02010600040101010101" pitchFamily="2" charset="-122"/>
              </a:rPr>
              <a:t>h</a:t>
            </a:r>
            <a:r>
              <a:rPr lang="zh-CN" altLang="en-US" sz="2400" dirty="0" smtClean="0">
                <a:ea typeface="华文楷体" panose="02010600040101010101" pitchFamily="2" charset="-122"/>
              </a:rPr>
              <a:t>为</a:t>
            </a:r>
            <a:endParaRPr lang="zh-CN" altLang="en-US" sz="2400" dirty="0" smtClean="0">
              <a:ea typeface="华文楷体" panose="02010600040101010101" pitchFamily="2" charset="-122"/>
            </a:endParaRPr>
          </a:p>
          <a:p>
            <a:pPr algn="ctr" eaLnBrk="1" hangingPunct="1">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sym typeface="Symbol" panose="05050102010706020507" pitchFamily="18" charset="2"/>
              </a:rPr>
              <a:t>log</a:t>
            </a:r>
            <a:r>
              <a:rPr lang="en-US" altLang="zh-CN" sz="2400" baseline="-25000" dirty="0" smtClean="0">
                <a:ea typeface="华文楷体" panose="02010600040101010101" pitchFamily="2" charset="-122"/>
                <a:sym typeface="Symbol" panose="05050102010706020507" pitchFamily="18" charset="2"/>
              </a:rPr>
              <a:t>2</a:t>
            </a:r>
            <a:r>
              <a:rPr lang="en-US" altLang="zh-CN" sz="2400" dirty="0" smtClean="0">
                <a:ea typeface="华文楷体" panose="02010600040101010101" pitchFamily="2" charset="-122"/>
                <a:sym typeface="Symbol" panose="05050102010706020507" pitchFamily="18" charset="2"/>
              </a:rPr>
              <a:t>(n+1)  h  1.4404log</a:t>
            </a:r>
            <a:r>
              <a:rPr lang="en-US" altLang="zh-CN" sz="2400" baseline="-25000" dirty="0" smtClean="0">
                <a:ea typeface="华文楷体" panose="02010600040101010101" pitchFamily="2" charset="-122"/>
                <a:sym typeface="Symbol" panose="05050102010706020507" pitchFamily="18" charset="2"/>
              </a:rPr>
              <a:t>2</a:t>
            </a:r>
            <a:r>
              <a:rPr lang="en-US" altLang="zh-CN" sz="2400" dirty="0" smtClean="0">
                <a:ea typeface="华文楷体" panose="02010600040101010101" pitchFamily="2" charset="-122"/>
                <a:sym typeface="Symbol" panose="05050102010706020507" pitchFamily="18" charset="2"/>
              </a:rPr>
              <a:t>(n+2)-0.328</a:t>
            </a:r>
            <a:endParaRPr lang="en-US" altLang="zh-CN"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a:t>
            </a:r>
            <a:r>
              <a:rPr lang="zh-CN" altLang="en-US" sz="2400" dirty="0" smtClean="0">
                <a:ea typeface="华文楷体" panose="02010600040101010101" pitchFamily="2" charset="-122"/>
                <a:sym typeface="Symbol" panose="05050102010706020507" pitchFamily="18" charset="2"/>
              </a:rPr>
              <a:t>结论：最坏情况下，</a:t>
            </a:r>
            <a:r>
              <a:rPr lang="en-US" altLang="zh-CN" sz="2400" dirty="0" smtClean="0">
                <a:ea typeface="华文楷体" panose="02010600040101010101" pitchFamily="2" charset="-122"/>
                <a:sym typeface="Symbol" panose="05050102010706020507" pitchFamily="18" charset="2"/>
              </a:rPr>
              <a:t>AVL</a:t>
            </a:r>
            <a:r>
              <a:rPr lang="zh-CN" altLang="en-US" sz="2400" dirty="0" smtClean="0">
                <a:ea typeface="华文楷体" panose="02010600040101010101" pitchFamily="2" charset="-122"/>
                <a:sym typeface="Symbol" panose="05050102010706020507" pitchFamily="18" charset="2"/>
              </a:rPr>
              <a:t>树的高度约为</a:t>
            </a:r>
            <a:r>
              <a:rPr lang="en-US" altLang="zh-CN" sz="2400" dirty="0" smtClean="0">
                <a:ea typeface="华文楷体" panose="02010600040101010101" pitchFamily="2" charset="-122"/>
                <a:sym typeface="Symbol" panose="05050102010706020507" pitchFamily="18" charset="2"/>
              </a:rPr>
              <a:t>1.44log</a:t>
            </a:r>
            <a:r>
              <a:rPr lang="en-US" altLang="zh-CN" sz="2400" baseline="-25000" dirty="0" smtClean="0">
                <a:ea typeface="华文楷体" panose="02010600040101010101" pitchFamily="2" charset="-122"/>
                <a:sym typeface="Symbol" panose="05050102010706020507" pitchFamily="18" charset="2"/>
              </a:rPr>
              <a:t>2</a:t>
            </a:r>
            <a:r>
              <a:rPr lang="en-US" altLang="zh-CN" sz="2400" dirty="0" smtClean="0">
                <a:ea typeface="华文楷体" panose="02010600040101010101" pitchFamily="2" charset="-122"/>
                <a:sym typeface="Symbol" panose="05050102010706020507" pitchFamily="18" charset="2"/>
              </a:rPr>
              <a:t>n</a:t>
            </a:r>
            <a:r>
              <a:rPr lang="zh-CN" altLang="en-US" sz="2400" dirty="0" smtClean="0">
                <a:ea typeface="华文楷体" panose="02010600040101010101" pitchFamily="2" charset="-122"/>
                <a:sym typeface="Symbol" panose="05050102010706020507" pitchFamily="18" charset="2"/>
              </a:rPr>
              <a:t>，而完全平衡的二叉树高度约为</a:t>
            </a:r>
            <a:r>
              <a:rPr lang="en-US" altLang="zh-CN" sz="2400" dirty="0" smtClean="0">
                <a:ea typeface="华文楷体" panose="02010600040101010101" pitchFamily="2" charset="-122"/>
                <a:sym typeface="Symbol" panose="05050102010706020507" pitchFamily="18" charset="2"/>
              </a:rPr>
              <a:t>log</a:t>
            </a:r>
            <a:r>
              <a:rPr lang="en-US" altLang="zh-CN" sz="2400" baseline="-25000" dirty="0" smtClean="0">
                <a:ea typeface="华文楷体" panose="02010600040101010101" pitchFamily="2" charset="-122"/>
                <a:sym typeface="Symbol" panose="05050102010706020507" pitchFamily="18" charset="2"/>
              </a:rPr>
              <a:t>2</a:t>
            </a:r>
            <a:r>
              <a:rPr lang="en-US" altLang="zh-CN" sz="2400" dirty="0" smtClean="0">
                <a:ea typeface="华文楷体" panose="02010600040101010101" pitchFamily="2" charset="-122"/>
                <a:sym typeface="Symbol" panose="05050102010706020507" pitchFamily="18" charset="2"/>
              </a:rPr>
              <a:t>n</a:t>
            </a:r>
            <a:r>
              <a:rPr lang="zh-CN" altLang="en-US" sz="2400" dirty="0" smtClean="0">
                <a:ea typeface="华文楷体" panose="02010600040101010101" pitchFamily="2" charset="-122"/>
                <a:sym typeface="Symbol" panose="05050102010706020507" pitchFamily="18" charset="2"/>
              </a:rPr>
              <a:t>，因此</a:t>
            </a:r>
            <a:r>
              <a:rPr lang="en-US" altLang="zh-CN" sz="2400" dirty="0" smtClean="0">
                <a:ea typeface="华文楷体" panose="02010600040101010101" pitchFamily="2" charset="-122"/>
                <a:sym typeface="Symbol" panose="05050102010706020507" pitchFamily="18" charset="2"/>
              </a:rPr>
              <a:t>AVL</a:t>
            </a:r>
            <a:r>
              <a:rPr lang="zh-CN" altLang="en-US" sz="2400" dirty="0" smtClean="0">
                <a:ea typeface="华文楷体" panose="02010600040101010101" pitchFamily="2" charset="-122"/>
                <a:sym typeface="Symbol" panose="05050102010706020507" pitchFamily="18" charset="2"/>
              </a:rPr>
              <a:t>树是接近最优的，其</a:t>
            </a:r>
            <a:r>
              <a:rPr lang="zh-CN" altLang="en-US" sz="2400" dirty="0" smtClean="0">
                <a:solidFill>
                  <a:srgbClr val="A63204"/>
                </a:solidFill>
                <a:ea typeface="华文楷体" panose="02010600040101010101" pitchFamily="2" charset="-122"/>
                <a:sym typeface="Symbol" panose="05050102010706020507" pitchFamily="18" charset="2"/>
              </a:rPr>
              <a:t>平均查找长度与</a:t>
            </a:r>
            <a:r>
              <a:rPr lang="en-US" altLang="zh-CN" sz="2400" dirty="0" smtClean="0">
                <a:solidFill>
                  <a:srgbClr val="A63204"/>
                </a:solidFill>
                <a:ea typeface="华文楷体" panose="02010600040101010101" pitchFamily="2" charset="-122"/>
                <a:sym typeface="Symbol" panose="05050102010706020507" pitchFamily="18" charset="2"/>
              </a:rPr>
              <a:t>log</a:t>
            </a:r>
            <a:r>
              <a:rPr lang="en-US" altLang="zh-CN" sz="2400" baseline="-25000" dirty="0" smtClean="0">
                <a:solidFill>
                  <a:srgbClr val="A63204"/>
                </a:solidFill>
                <a:ea typeface="华文楷体" panose="02010600040101010101" pitchFamily="2" charset="-122"/>
                <a:sym typeface="Symbol" panose="05050102010706020507" pitchFamily="18" charset="2"/>
              </a:rPr>
              <a:t>2</a:t>
            </a:r>
            <a:r>
              <a:rPr lang="en-US" altLang="zh-CN" sz="2400" dirty="0" smtClean="0">
                <a:solidFill>
                  <a:srgbClr val="A63204"/>
                </a:solidFill>
                <a:ea typeface="华文楷体" panose="02010600040101010101" pitchFamily="2" charset="-122"/>
                <a:sym typeface="Symbol" panose="05050102010706020507" pitchFamily="18" charset="2"/>
              </a:rPr>
              <a:t>n</a:t>
            </a:r>
            <a:r>
              <a:rPr lang="zh-CN" altLang="en-US" sz="2400" dirty="0" smtClean="0">
                <a:solidFill>
                  <a:srgbClr val="A63204"/>
                </a:solidFill>
                <a:ea typeface="华文楷体" panose="02010600040101010101" pitchFamily="2" charset="-122"/>
                <a:sym typeface="Symbol" panose="05050102010706020507" pitchFamily="18" charset="2"/>
              </a:rPr>
              <a:t>同数量级</a:t>
            </a:r>
            <a:r>
              <a:rPr lang="zh-CN" altLang="en-US" sz="2400" dirty="0" smtClean="0">
                <a:ea typeface="华文楷体" panose="02010600040101010101" pitchFamily="2" charset="-122"/>
                <a:sym typeface="Symbol" panose="05050102010706020507" pitchFamily="18" charset="2"/>
              </a:rPr>
              <a:t>。</a:t>
            </a:r>
            <a:endParaRPr lang="zh-CN" altLang="en-US" sz="2400" dirty="0" smtClean="0">
              <a:ea typeface="华文楷体" panose="02010600040101010101" pitchFamily="2" charset="-122"/>
              <a:sym typeface="Symbol" panose="05050102010706020507" pitchFamily="18" charset="2"/>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页脚占位符 3"/>
          <p:cNvSpPr>
            <a:spLocks noGrp="1"/>
          </p:cNvSpPr>
          <p:nvPr>
            <p:ph type="ftr" sz="quarter" idx="10"/>
          </p:nvPr>
        </p:nvSpPr>
        <p:spPr/>
        <p:txBody>
          <a:bodyPr/>
          <a:lstStyle/>
          <a:p>
            <a:pPr>
              <a:defRPr/>
            </a:pPr>
            <a:r>
              <a:rPr lang="en-US" altLang="zh-CN"/>
              <a:t>BUPT SCST</a:t>
            </a:r>
            <a:endParaRPr lang="en-US" altLang="zh-CN"/>
          </a:p>
        </p:txBody>
      </p:sp>
      <p:sp>
        <p:nvSpPr>
          <p:cNvPr id="22" name="日期占位符 5"/>
          <p:cNvSpPr>
            <a:spLocks noGrp="1"/>
          </p:cNvSpPr>
          <p:nvPr>
            <p:ph type="dt" sz="quarter" idx="12"/>
          </p:nvPr>
        </p:nvSpPr>
        <p:spPr/>
        <p:txBody>
          <a:bodyPr/>
          <a:lstStyle/>
          <a:p>
            <a:pPr>
              <a:defRPr/>
            </a:pPr>
            <a:r>
              <a:rPr lang="en-US" altLang="zh-CN"/>
              <a:t>BUPT</a:t>
            </a:r>
            <a:endParaRPr lang="en-US" altLang="zh-CN"/>
          </a:p>
        </p:txBody>
      </p:sp>
      <p:sp>
        <p:nvSpPr>
          <p:cNvPr id="46084" name="Rectangle 2"/>
          <p:cNvSpPr>
            <a:spLocks noGrp="1" noChangeArrowheads="1"/>
          </p:cNvSpPr>
          <p:nvPr>
            <p:ph type="title"/>
          </p:nvPr>
        </p:nvSpPr>
        <p:spPr/>
        <p:txBody>
          <a:bodyPr/>
          <a:lstStyle/>
          <a:p>
            <a:pPr algn="l" eaLnBrk="1" hangingPunct="1"/>
            <a:r>
              <a:rPr lang="en-US" altLang="zh-CN" sz="2800" dirty="0" smtClean="0">
                <a:ea typeface="华文楷体" panose="02010600040101010101" pitchFamily="2" charset="-122"/>
              </a:rPr>
              <a:t>8.7 B</a:t>
            </a:r>
            <a:r>
              <a:rPr lang="zh-CN" altLang="en-US" sz="2800" dirty="0" smtClean="0">
                <a:ea typeface="华文楷体" panose="02010600040101010101" pitchFamily="2" charset="-122"/>
              </a:rPr>
              <a:t>树与</a:t>
            </a:r>
            <a:r>
              <a:rPr lang="en-US" altLang="zh-CN" sz="2800" dirty="0">
                <a:ea typeface="华文楷体" panose="02010600040101010101" pitchFamily="2" charset="-122"/>
              </a:rPr>
              <a:t>B +</a:t>
            </a:r>
            <a:r>
              <a:rPr lang="zh-CN" altLang="en-US" sz="2800" dirty="0" smtClean="0">
                <a:ea typeface="华文楷体" panose="02010600040101010101" pitchFamily="2" charset="-122"/>
              </a:rPr>
              <a:t>树</a:t>
            </a:r>
            <a:endParaRPr lang="zh-CN" altLang="en-US" sz="2800" dirty="0" smtClean="0">
              <a:ea typeface="华文楷体" panose="02010600040101010101" pitchFamily="2" charset="-122"/>
            </a:endParaRPr>
          </a:p>
        </p:txBody>
      </p:sp>
      <p:sp>
        <p:nvSpPr>
          <p:cNvPr id="46085" name="Rectangle 3"/>
          <p:cNvSpPr>
            <a:spLocks noGrp="1" noChangeArrowheads="1"/>
          </p:cNvSpPr>
          <p:nvPr>
            <p:ph type="body" idx="1"/>
          </p:nvPr>
        </p:nvSpPr>
        <p:spPr/>
        <p:txBody>
          <a:bodyPr/>
          <a:lstStyle/>
          <a:p>
            <a:pPr eaLnBrk="1" hangingPunct="1">
              <a:buNone/>
            </a:pPr>
            <a:r>
              <a:rPr lang="en-US" altLang="zh-CN" sz="2400" dirty="0" smtClean="0">
                <a:solidFill>
                  <a:schemeClr val="accent2"/>
                </a:solidFill>
                <a:ea typeface="华文楷体" panose="02010600040101010101" pitchFamily="2" charset="-122"/>
              </a:rPr>
              <a:t>[</a:t>
            </a:r>
            <a:r>
              <a:rPr lang="zh-CN" altLang="en-US" sz="2400" dirty="0" smtClean="0">
                <a:solidFill>
                  <a:schemeClr val="accent2"/>
                </a:solidFill>
                <a:ea typeface="华文楷体" panose="02010600040101010101" pitchFamily="2" charset="-122"/>
              </a:rPr>
              <a:t>采用</a:t>
            </a:r>
            <a:r>
              <a:rPr lang="en-US" altLang="zh-CN" sz="2400" dirty="0" smtClean="0">
                <a:solidFill>
                  <a:schemeClr val="accent2"/>
                </a:solidFill>
                <a:ea typeface="华文楷体" panose="02010600040101010101" pitchFamily="2" charset="-122"/>
              </a:rPr>
              <a:t>B</a:t>
            </a:r>
            <a:r>
              <a:rPr lang="zh-CN" altLang="en-US" sz="2400" dirty="0" smtClean="0">
                <a:solidFill>
                  <a:schemeClr val="accent2"/>
                </a:solidFill>
                <a:ea typeface="华文楷体" panose="02010600040101010101" pitchFamily="2" charset="-122"/>
              </a:rPr>
              <a:t>与</a:t>
            </a:r>
            <a:r>
              <a:rPr lang="en-US" altLang="zh-CN" sz="2400" dirty="0">
                <a:solidFill>
                  <a:schemeClr val="accent2"/>
                </a:solidFill>
                <a:ea typeface="华文楷体" panose="02010600040101010101" pitchFamily="2" charset="-122"/>
              </a:rPr>
              <a:t>B +</a:t>
            </a:r>
            <a:r>
              <a:rPr lang="zh-CN" altLang="en-US" sz="2400" dirty="0" smtClean="0">
                <a:solidFill>
                  <a:schemeClr val="accent2"/>
                </a:solidFill>
                <a:ea typeface="华文楷体" panose="02010600040101010101" pitchFamily="2" charset="-122"/>
              </a:rPr>
              <a:t>树的意义</a:t>
            </a:r>
            <a:r>
              <a:rPr lang="en-US" altLang="zh-CN" sz="2400" dirty="0" smtClean="0">
                <a:solidFill>
                  <a:schemeClr val="accent2"/>
                </a:solidFill>
                <a:ea typeface="华文楷体" panose="02010600040101010101" pitchFamily="2" charset="-122"/>
              </a:rPr>
              <a:t>]</a:t>
            </a:r>
            <a:endParaRPr lang="en-US" altLang="zh-CN" sz="2400" dirty="0" smtClean="0">
              <a:solidFill>
                <a:schemeClr val="accent2"/>
              </a:solidFill>
              <a:ea typeface="华文楷体" panose="02010600040101010101" pitchFamily="2" charset="-122"/>
            </a:endParaRPr>
          </a:p>
          <a:p>
            <a:pPr lvl="1" eaLnBrk="1" hangingPunct="1">
              <a:buFont typeface="Wingdings" panose="05000000000000000000" pitchFamily="2" charset="2"/>
              <a:buNone/>
            </a:pPr>
            <a:r>
              <a:rPr kumimoji="1" lang="zh-CN" altLang="en-US" sz="2400" dirty="0" smtClean="0">
                <a:ea typeface="华文楷体" panose="02010600040101010101" pitchFamily="2" charset="-122"/>
              </a:rPr>
              <a:t>大量数据存放在外存中，由于是海量数据，不可能一次调入内存。因此，要多次访问外存，速度慢。所以，主要矛盾变为减少访外次数。</a:t>
            </a:r>
            <a:endParaRPr kumimoji="1" lang="zh-CN" altLang="en-US" sz="2400" dirty="0" smtClean="0">
              <a:ea typeface="华文楷体" panose="02010600040101010101" pitchFamily="2" charset="-122"/>
            </a:endParaRPr>
          </a:p>
          <a:p>
            <a:pPr lvl="1" eaLnBrk="1" hangingPunct="1">
              <a:buFont typeface="Wingdings" panose="05000000000000000000" pitchFamily="2" charset="2"/>
              <a:buNone/>
            </a:pPr>
            <a:endParaRPr kumimoji="1" lang="en-US" altLang="zh-CN" sz="2400" b="1" dirty="0" smtClean="0">
              <a:ea typeface="华文楷体" panose="02010600040101010101" pitchFamily="2" charset="-122"/>
            </a:endParaRPr>
          </a:p>
        </p:txBody>
      </p:sp>
      <p:sp>
        <p:nvSpPr>
          <p:cNvPr id="46086" name="AutoShape 4"/>
          <p:cNvSpPr>
            <a:spLocks noChangeArrowheads="1"/>
          </p:cNvSpPr>
          <p:nvPr/>
        </p:nvSpPr>
        <p:spPr bwMode="auto">
          <a:xfrm>
            <a:off x="4227513" y="3429000"/>
            <a:ext cx="2249487" cy="1066800"/>
          </a:xfrm>
          <a:custGeom>
            <a:avLst/>
            <a:gdLst>
              <a:gd name="T0" fmla="*/ 2147483646 w 21600"/>
              <a:gd name="T1" fmla="*/ 0 h 21600"/>
              <a:gd name="T2" fmla="*/ 2147483646 w 21600"/>
              <a:gd name="T3" fmla="*/ 381054243 h 21600"/>
              <a:gd name="T4" fmla="*/ 0 w 21600"/>
              <a:gd name="T5" fmla="*/ 1301102519 h 21600"/>
              <a:gd name="T6" fmla="*/ 2147483646 w 21600"/>
              <a:gd name="T7" fmla="*/ 2147483646 h 21600"/>
              <a:gd name="T8" fmla="*/ 2147483646 w 21600"/>
              <a:gd name="T9" fmla="*/ 2147483646 h 21600"/>
              <a:gd name="T10" fmla="*/ 2147483646 w 21600"/>
              <a:gd name="T11" fmla="*/ 2147483646 h 21600"/>
              <a:gd name="T12" fmla="*/ 2147483646 w 21600"/>
              <a:gd name="T13" fmla="*/ 1301102519 h 21600"/>
              <a:gd name="T14" fmla="*/ 2147483646 w 21600"/>
              <a:gd name="T15" fmla="*/ 381054243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491" y="10800"/>
                </a:moveTo>
                <a:cubicBezTo>
                  <a:pt x="1491" y="15941"/>
                  <a:pt x="5659" y="20109"/>
                  <a:pt x="10800" y="20109"/>
                </a:cubicBezTo>
                <a:cubicBezTo>
                  <a:pt x="15941" y="20109"/>
                  <a:pt x="20109" y="15941"/>
                  <a:pt x="20109" y="10800"/>
                </a:cubicBezTo>
                <a:cubicBezTo>
                  <a:pt x="20109" y="5659"/>
                  <a:pt x="15941" y="1491"/>
                  <a:pt x="10800" y="1491"/>
                </a:cubicBezTo>
                <a:cubicBezTo>
                  <a:pt x="5659" y="1491"/>
                  <a:pt x="1491" y="5659"/>
                  <a:pt x="1491" y="10800"/>
                </a:cubicBezTo>
                <a:close/>
              </a:path>
            </a:pathLst>
          </a:custGeom>
          <a:solidFill>
            <a:schemeClr val="accent1"/>
          </a:solidFill>
          <a:ln w="9525">
            <a:solidFill>
              <a:schemeClr val="accent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087" name="Line 5"/>
          <p:cNvSpPr>
            <a:spLocks noChangeShapeType="1"/>
          </p:cNvSpPr>
          <p:nvPr/>
        </p:nvSpPr>
        <p:spPr bwMode="auto">
          <a:xfrm flipH="1">
            <a:off x="5218113" y="4419600"/>
            <a:ext cx="1587" cy="65088"/>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088" name="Line 6"/>
          <p:cNvSpPr>
            <a:spLocks noChangeShapeType="1"/>
          </p:cNvSpPr>
          <p:nvPr/>
        </p:nvSpPr>
        <p:spPr bwMode="auto">
          <a:xfrm flipH="1">
            <a:off x="5522913" y="4419600"/>
            <a:ext cx="1587" cy="65088"/>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089" name="Line 7"/>
          <p:cNvSpPr>
            <a:spLocks noChangeShapeType="1"/>
          </p:cNvSpPr>
          <p:nvPr/>
        </p:nvSpPr>
        <p:spPr bwMode="auto">
          <a:xfrm flipH="1">
            <a:off x="5370513" y="4419600"/>
            <a:ext cx="1587" cy="65088"/>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090" name="Line 8"/>
          <p:cNvSpPr>
            <a:spLocks noChangeShapeType="1"/>
          </p:cNvSpPr>
          <p:nvPr/>
        </p:nvSpPr>
        <p:spPr bwMode="auto">
          <a:xfrm flipH="1">
            <a:off x="5065713" y="4419600"/>
            <a:ext cx="1587" cy="65088"/>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091" name="AutoShape 9"/>
          <p:cNvSpPr>
            <a:spLocks noChangeArrowheads="1"/>
          </p:cNvSpPr>
          <p:nvPr/>
        </p:nvSpPr>
        <p:spPr bwMode="auto">
          <a:xfrm>
            <a:off x="4191000" y="3048000"/>
            <a:ext cx="2249488" cy="1066800"/>
          </a:xfrm>
          <a:custGeom>
            <a:avLst/>
            <a:gdLst>
              <a:gd name="T0" fmla="*/ 2147483646 w 21600"/>
              <a:gd name="T1" fmla="*/ 0 h 21600"/>
              <a:gd name="T2" fmla="*/ 2147483646 w 21600"/>
              <a:gd name="T3" fmla="*/ 381054243 h 21600"/>
              <a:gd name="T4" fmla="*/ 0 w 21600"/>
              <a:gd name="T5" fmla="*/ 1301102519 h 21600"/>
              <a:gd name="T6" fmla="*/ 2147483646 w 21600"/>
              <a:gd name="T7" fmla="*/ 2147483646 h 21600"/>
              <a:gd name="T8" fmla="*/ 2147483646 w 21600"/>
              <a:gd name="T9" fmla="*/ 2147483646 h 21600"/>
              <a:gd name="T10" fmla="*/ 2147483646 w 21600"/>
              <a:gd name="T11" fmla="*/ 2147483646 h 21600"/>
              <a:gd name="T12" fmla="*/ 2147483646 w 21600"/>
              <a:gd name="T13" fmla="*/ 1301102519 h 21600"/>
              <a:gd name="T14" fmla="*/ 2147483646 w 21600"/>
              <a:gd name="T15" fmla="*/ 381054243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491" y="10800"/>
                </a:moveTo>
                <a:cubicBezTo>
                  <a:pt x="1491" y="15941"/>
                  <a:pt x="5659" y="20109"/>
                  <a:pt x="10800" y="20109"/>
                </a:cubicBezTo>
                <a:cubicBezTo>
                  <a:pt x="15941" y="20109"/>
                  <a:pt x="20109" y="15941"/>
                  <a:pt x="20109" y="10800"/>
                </a:cubicBezTo>
                <a:cubicBezTo>
                  <a:pt x="20109" y="5659"/>
                  <a:pt x="15941" y="1491"/>
                  <a:pt x="10800" y="1491"/>
                </a:cubicBezTo>
                <a:cubicBezTo>
                  <a:pt x="5659" y="1491"/>
                  <a:pt x="1491" y="5659"/>
                  <a:pt x="1491" y="10800"/>
                </a:cubicBezTo>
                <a:close/>
              </a:path>
            </a:pathLst>
          </a:custGeom>
          <a:solidFill>
            <a:srgbClr val="F95AB7"/>
          </a:solidFill>
          <a:ln w="9525">
            <a:solidFill>
              <a:schemeClr val="accent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092" name="Line 10"/>
          <p:cNvSpPr>
            <a:spLocks noChangeShapeType="1"/>
          </p:cNvSpPr>
          <p:nvPr/>
        </p:nvSpPr>
        <p:spPr bwMode="auto">
          <a:xfrm flipH="1">
            <a:off x="5181600" y="4038600"/>
            <a:ext cx="1588" cy="65088"/>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093" name="AutoShape 11"/>
          <p:cNvSpPr>
            <a:spLocks noChangeArrowheads="1"/>
          </p:cNvSpPr>
          <p:nvPr/>
        </p:nvSpPr>
        <p:spPr bwMode="auto">
          <a:xfrm>
            <a:off x="5029200" y="3200400"/>
            <a:ext cx="609600" cy="304800"/>
          </a:xfrm>
          <a:custGeom>
            <a:avLst/>
            <a:gdLst>
              <a:gd name="T0" fmla="*/ 191474739 w 21600"/>
              <a:gd name="T1" fmla="*/ 682794 h 21600"/>
              <a:gd name="T2" fmla="*/ 47902735 w 21600"/>
              <a:gd name="T3" fmla="*/ 30346410 h 21600"/>
              <a:gd name="T4" fmla="*/ 211705670 w 21600"/>
              <a:gd name="T5" fmla="*/ 12391446 h 21600"/>
              <a:gd name="T6" fmla="*/ 519125990 w 21600"/>
              <a:gd name="T7" fmla="*/ 14678589 h 21600"/>
              <a:gd name="T8" fmla="*/ 465109391 w 21600"/>
              <a:gd name="T9" fmla="*/ 32650472 h 21600"/>
              <a:gd name="T10" fmla="*/ 321311976 w 21600"/>
              <a:gd name="T11" fmla="*/ 2589281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753" y="8100"/>
                </a:moveTo>
                <a:cubicBezTo>
                  <a:pt x="15693" y="5763"/>
                  <a:pt x="13365" y="4263"/>
                  <a:pt x="10800" y="4263"/>
                </a:cubicBezTo>
                <a:cubicBezTo>
                  <a:pt x="7189" y="4263"/>
                  <a:pt x="4263" y="7189"/>
                  <a:pt x="4263" y="10800"/>
                </a:cubicBezTo>
                <a:lnTo>
                  <a:pt x="0" y="10800"/>
                </a:lnTo>
                <a:cubicBezTo>
                  <a:pt x="0" y="4835"/>
                  <a:pt x="4835" y="0"/>
                  <a:pt x="10800" y="0"/>
                </a:cubicBezTo>
                <a:cubicBezTo>
                  <a:pt x="15038" y="0"/>
                  <a:pt x="18885" y="2479"/>
                  <a:pt x="20635" y="6339"/>
                </a:cubicBezTo>
                <a:lnTo>
                  <a:pt x="23094" y="5224"/>
                </a:lnTo>
                <a:lnTo>
                  <a:pt x="20691" y="11620"/>
                </a:lnTo>
                <a:lnTo>
                  <a:pt x="14294" y="9215"/>
                </a:lnTo>
                <a:lnTo>
                  <a:pt x="16753" y="8100"/>
                </a:lnTo>
                <a:close/>
              </a:path>
            </a:pathLst>
          </a:custGeom>
          <a:solidFill>
            <a:schemeClr val="folHlink"/>
          </a:soli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094" name="Line 12"/>
          <p:cNvSpPr>
            <a:spLocks noChangeShapeType="1"/>
          </p:cNvSpPr>
          <p:nvPr/>
        </p:nvSpPr>
        <p:spPr bwMode="auto">
          <a:xfrm flipH="1">
            <a:off x="5486400" y="4038600"/>
            <a:ext cx="1588" cy="65088"/>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095" name="Line 13"/>
          <p:cNvSpPr>
            <a:spLocks noChangeShapeType="1"/>
          </p:cNvSpPr>
          <p:nvPr/>
        </p:nvSpPr>
        <p:spPr bwMode="auto">
          <a:xfrm flipH="1">
            <a:off x="5334000" y="4038600"/>
            <a:ext cx="1588" cy="65088"/>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096" name="Line 14"/>
          <p:cNvSpPr>
            <a:spLocks noChangeShapeType="1"/>
          </p:cNvSpPr>
          <p:nvPr/>
        </p:nvSpPr>
        <p:spPr bwMode="auto">
          <a:xfrm flipH="1">
            <a:off x="5029200" y="4038600"/>
            <a:ext cx="1588" cy="65088"/>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097" name="Line 15"/>
          <p:cNvSpPr>
            <a:spLocks noChangeShapeType="1"/>
          </p:cNvSpPr>
          <p:nvPr/>
        </p:nvSpPr>
        <p:spPr bwMode="auto">
          <a:xfrm>
            <a:off x="5334000" y="4495800"/>
            <a:ext cx="0" cy="838200"/>
          </a:xfrm>
          <a:prstGeom prst="line">
            <a:avLst/>
          </a:prstGeom>
          <a:noFill/>
          <a:ln w="76200">
            <a:solidFill>
              <a:srgbClr val="618FFD"/>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098" name="Rectangle 16"/>
          <p:cNvSpPr>
            <a:spLocks noChangeArrowheads="1"/>
          </p:cNvSpPr>
          <p:nvPr/>
        </p:nvSpPr>
        <p:spPr bwMode="auto">
          <a:xfrm>
            <a:off x="2514600" y="3048000"/>
            <a:ext cx="838200" cy="27432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2000" b="1" dirty="0">
              <a:latin typeface="Times New Roman" panose="02020603050405020304" pitchFamily="18" charset="0"/>
              <a:ea typeface="华文楷体" panose="02010600040101010101" pitchFamily="2" charset="-122"/>
            </a:endParaRPr>
          </a:p>
        </p:txBody>
      </p:sp>
      <p:sp>
        <p:nvSpPr>
          <p:cNvPr id="46099" name="Freeform 17"/>
          <p:cNvSpPr/>
          <p:nvPr/>
        </p:nvSpPr>
        <p:spPr bwMode="auto">
          <a:xfrm>
            <a:off x="3200400" y="3124200"/>
            <a:ext cx="1981200" cy="1676400"/>
          </a:xfrm>
          <a:custGeom>
            <a:avLst/>
            <a:gdLst>
              <a:gd name="T0" fmla="*/ 2147483646 w 1328"/>
              <a:gd name="T1" fmla="*/ 2147483646 h 1665"/>
              <a:gd name="T2" fmla="*/ 2147483646 w 1328"/>
              <a:gd name="T3" fmla="*/ 2147483646 h 1665"/>
              <a:gd name="T4" fmla="*/ 2147483646 w 1328"/>
              <a:gd name="T5" fmla="*/ 2147483646 h 1665"/>
              <a:gd name="T6" fmla="*/ 2147483646 w 1328"/>
              <a:gd name="T7" fmla="*/ 2147483646 h 1665"/>
              <a:gd name="T8" fmla="*/ 2147483646 w 1328"/>
              <a:gd name="T9" fmla="*/ 2147483646 h 1665"/>
              <a:gd name="T10" fmla="*/ 2147483646 w 1328"/>
              <a:gd name="T11" fmla="*/ 2147483646 h 1665"/>
              <a:gd name="T12" fmla="*/ 2147483646 w 1328"/>
              <a:gd name="T13" fmla="*/ 2147483646 h 1665"/>
              <a:gd name="T14" fmla="*/ 2147483646 w 1328"/>
              <a:gd name="T15" fmla="*/ 2147483646 h 1665"/>
              <a:gd name="T16" fmla="*/ 2147483646 w 1328"/>
              <a:gd name="T17" fmla="*/ 2147483646 h 1665"/>
              <a:gd name="T18" fmla="*/ 2147483646 w 1328"/>
              <a:gd name="T19" fmla="*/ 2147483646 h 1665"/>
              <a:gd name="T20" fmla="*/ 2147483646 w 1328"/>
              <a:gd name="T21" fmla="*/ 2147483646 h 1665"/>
              <a:gd name="T22" fmla="*/ 2147483646 w 1328"/>
              <a:gd name="T23" fmla="*/ 2147483646 h 1665"/>
              <a:gd name="T24" fmla="*/ 2147483646 w 1328"/>
              <a:gd name="T25" fmla="*/ 2147483646 h 1665"/>
              <a:gd name="T26" fmla="*/ 2147483646 w 1328"/>
              <a:gd name="T27" fmla="*/ 2147483646 h 1665"/>
              <a:gd name="T28" fmla="*/ 2147483646 w 1328"/>
              <a:gd name="T29" fmla="*/ 2147483646 h 1665"/>
              <a:gd name="T30" fmla="*/ 2147483646 w 1328"/>
              <a:gd name="T31" fmla="*/ 2147483646 h 1665"/>
              <a:gd name="T32" fmla="*/ 0 w 1328"/>
              <a:gd name="T33" fmla="*/ 2147483646 h 1665"/>
              <a:gd name="T34" fmla="*/ 2147483646 w 1328"/>
              <a:gd name="T35" fmla="*/ 2147483646 h 1665"/>
              <a:gd name="T36" fmla="*/ 2147483646 w 1328"/>
              <a:gd name="T37" fmla="*/ 2147483646 h 1665"/>
              <a:gd name="T38" fmla="*/ 2147483646 w 1328"/>
              <a:gd name="T39" fmla="*/ 2147483646 h 1665"/>
              <a:gd name="T40" fmla="*/ 2147483646 w 1328"/>
              <a:gd name="T41" fmla="*/ 2147483646 h 1665"/>
              <a:gd name="T42" fmla="*/ 2147483646 w 1328"/>
              <a:gd name="T43" fmla="*/ 2147483646 h 1665"/>
              <a:gd name="T44" fmla="*/ 2147483646 w 1328"/>
              <a:gd name="T45" fmla="*/ 2147483646 h 1665"/>
              <a:gd name="T46" fmla="*/ 2147483646 w 1328"/>
              <a:gd name="T47" fmla="*/ 2147483646 h 1665"/>
              <a:gd name="T48" fmla="*/ 2147483646 w 1328"/>
              <a:gd name="T49" fmla="*/ 2147483646 h 1665"/>
              <a:gd name="T50" fmla="*/ 2147483646 w 1328"/>
              <a:gd name="T51" fmla="*/ 2147483646 h 1665"/>
              <a:gd name="T52" fmla="*/ 2147483646 w 1328"/>
              <a:gd name="T53" fmla="*/ 2147483646 h 1665"/>
              <a:gd name="T54" fmla="*/ 2147483646 w 1328"/>
              <a:gd name="T55" fmla="*/ 2147483646 h 1665"/>
              <a:gd name="T56" fmla="*/ 2147483646 w 1328"/>
              <a:gd name="T57" fmla="*/ 2147483646 h 1665"/>
              <a:gd name="T58" fmla="*/ 2147483646 w 1328"/>
              <a:gd name="T59" fmla="*/ 2147483646 h 1665"/>
              <a:gd name="T60" fmla="*/ 2147483646 w 1328"/>
              <a:gd name="T61" fmla="*/ 2147483646 h 1665"/>
              <a:gd name="T62" fmla="*/ 2147483646 w 1328"/>
              <a:gd name="T63" fmla="*/ 2147483646 h 1665"/>
              <a:gd name="T64" fmla="*/ 2147483646 w 1328"/>
              <a:gd name="T65" fmla="*/ 2147483646 h 1665"/>
              <a:gd name="T66" fmla="*/ 2147483646 w 1328"/>
              <a:gd name="T67" fmla="*/ 2147483646 h 1665"/>
              <a:gd name="T68" fmla="*/ 2147483646 w 1328"/>
              <a:gd name="T69" fmla="*/ 2147483646 h 1665"/>
              <a:gd name="T70" fmla="*/ 2147483646 w 1328"/>
              <a:gd name="T71" fmla="*/ 2147483646 h 1665"/>
              <a:gd name="T72" fmla="*/ 2147483646 w 1328"/>
              <a:gd name="T73" fmla="*/ 2147483646 h 1665"/>
              <a:gd name="T74" fmla="*/ 2147483646 w 1328"/>
              <a:gd name="T75" fmla="*/ 2147483646 h 1665"/>
              <a:gd name="T76" fmla="*/ 2147483646 w 1328"/>
              <a:gd name="T77" fmla="*/ 2147483646 h 1665"/>
              <a:gd name="T78" fmla="*/ 2147483646 w 1328"/>
              <a:gd name="T79" fmla="*/ 2147483646 h 1665"/>
              <a:gd name="T80" fmla="*/ 2147483646 w 1328"/>
              <a:gd name="T81" fmla="*/ 2147483646 h 1665"/>
              <a:gd name="T82" fmla="*/ 2147483646 w 1328"/>
              <a:gd name="T83" fmla="*/ 2147483646 h 1665"/>
              <a:gd name="T84" fmla="*/ 2147483646 w 1328"/>
              <a:gd name="T85" fmla="*/ 2147483646 h 1665"/>
              <a:gd name="T86" fmla="*/ 2147483646 w 1328"/>
              <a:gd name="T87" fmla="*/ 2147483646 h 166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328" h="1665">
                <a:moveTo>
                  <a:pt x="1216" y="1401"/>
                </a:moveTo>
                <a:cubicBezTo>
                  <a:pt x="1164" y="1436"/>
                  <a:pt x="1100" y="1445"/>
                  <a:pt x="1040" y="1457"/>
                </a:cubicBezTo>
                <a:cubicBezTo>
                  <a:pt x="1005" y="1451"/>
                  <a:pt x="961" y="1449"/>
                  <a:pt x="928" y="1433"/>
                </a:cubicBezTo>
                <a:cubicBezTo>
                  <a:pt x="896" y="1417"/>
                  <a:pt x="890" y="1388"/>
                  <a:pt x="856" y="1377"/>
                </a:cubicBezTo>
                <a:cubicBezTo>
                  <a:pt x="824" y="1345"/>
                  <a:pt x="778" y="1319"/>
                  <a:pt x="752" y="1281"/>
                </a:cubicBezTo>
                <a:cubicBezTo>
                  <a:pt x="730" y="1247"/>
                  <a:pt x="718" y="1210"/>
                  <a:pt x="696" y="1177"/>
                </a:cubicBezTo>
                <a:cubicBezTo>
                  <a:pt x="678" y="1104"/>
                  <a:pt x="682" y="1026"/>
                  <a:pt x="664" y="953"/>
                </a:cubicBezTo>
                <a:cubicBezTo>
                  <a:pt x="639" y="854"/>
                  <a:pt x="624" y="754"/>
                  <a:pt x="592" y="657"/>
                </a:cubicBezTo>
                <a:cubicBezTo>
                  <a:pt x="580" y="574"/>
                  <a:pt x="588" y="619"/>
                  <a:pt x="568" y="521"/>
                </a:cubicBezTo>
                <a:cubicBezTo>
                  <a:pt x="565" y="508"/>
                  <a:pt x="560" y="481"/>
                  <a:pt x="560" y="481"/>
                </a:cubicBezTo>
                <a:cubicBezTo>
                  <a:pt x="557" y="452"/>
                  <a:pt x="554" y="422"/>
                  <a:pt x="552" y="393"/>
                </a:cubicBezTo>
                <a:cubicBezTo>
                  <a:pt x="548" y="329"/>
                  <a:pt x="562" y="262"/>
                  <a:pt x="544" y="201"/>
                </a:cubicBezTo>
                <a:cubicBezTo>
                  <a:pt x="519" y="118"/>
                  <a:pt x="296" y="122"/>
                  <a:pt x="272" y="121"/>
                </a:cubicBezTo>
                <a:cubicBezTo>
                  <a:pt x="238" y="110"/>
                  <a:pt x="203" y="106"/>
                  <a:pt x="168" y="97"/>
                </a:cubicBezTo>
                <a:cubicBezTo>
                  <a:pt x="198" y="67"/>
                  <a:pt x="233" y="56"/>
                  <a:pt x="264" y="25"/>
                </a:cubicBezTo>
                <a:cubicBezTo>
                  <a:pt x="226" y="0"/>
                  <a:pt x="249" y="6"/>
                  <a:pt x="192" y="25"/>
                </a:cubicBezTo>
                <a:cubicBezTo>
                  <a:pt x="129" y="46"/>
                  <a:pt x="56" y="60"/>
                  <a:pt x="0" y="97"/>
                </a:cubicBezTo>
                <a:cubicBezTo>
                  <a:pt x="49" y="170"/>
                  <a:pt x="63" y="263"/>
                  <a:pt x="112" y="337"/>
                </a:cubicBezTo>
                <a:cubicBezTo>
                  <a:pt x="115" y="348"/>
                  <a:pt x="111" y="362"/>
                  <a:pt x="120" y="369"/>
                </a:cubicBezTo>
                <a:cubicBezTo>
                  <a:pt x="127" y="374"/>
                  <a:pt x="137" y="366"/>
                  <a:pt x="144" y="361"/>
                </a:cubicBezTo>
                <a:cubicBezTo>
                  <a:pt x="170" y="340"/>
                  <a:pt x="173" y="294"/>
                  <a:pt x="192" y="265"/>
                </a:cubicBezTo>
                <a:cubicBezTo>
                  <a:pt x="267" y="340"/>
                  <a:pt x="147" y="227"/>
                  <a:pt x="264" y="305"/>
                </a:cubicBezTo>
                <a:cubicBezTo>
                  <a:pt x="280" y="316"/>
                  <a:pt x="296" y="326"/>
                  <a:pt x="312" y="337"/>
                </a:cubicBezTo>
                <a:cubicBezTo>
                  <a:pt x="320" y="342"/>
                  <a:pt x="336" y="353"/>
                  <a:pt x="336" y="353"/>
                </a:cubicBezTo>
                <a:cubicBezTo>
                  <a:pt x="339" y="361"/>
                  <a:pt x="340" y="369"/>
                  <a:pt x="344" y="377"/>
                </a:cubicBezTo>
                <a:cubicBezTo>
                  <a:pt x="348" y="386"/>
                  <a:pt x="356" y="392"/>
                  <a:pt x="360" y="401"/>
                </a:cubicBezTo>
                <a:cubicBezTo>
                  <a:pt x="371" y="427"/>
                  <a:pt x="375" y="455"/>
                  <a:pt x="384" y="481"/>
                </a:cubicBezTo>
                <a:cubicBezTo>
                  <a:pt x="391" y="502"/>
                  <a:pt x="400" y="545"/>
                  <a:pt x="400" y="545"/>
                </a:cubicBezTo>
                <a:cubicBezTo>
                  <a:pt x="402" y="650"/>
                  <a:pt x="368" y="1041"/>
                  <a:pt x="432" y="1233"/>
                </a:cubicBezTo>
                <a:cubicBezTo>
                  <a:pt x="449" y="1349"/>
                  <a:pt x="469" y="1428"/>
                  <a:pt x="520" y="1529"/>
                </a:cubicBezTo>
                <a:cubicBezTo>
                  <a:pt x="531" y="1551"/>
                  <a:pt x="524" y="1559"/>
                  <a:pt x="544" y="1577"/>
                </a:cubicBezTo>
                <a:cubicBezTo>
                  <a:pt x="558" y="1590"/>
                  <a:pt x="576" y="1598"/>
                  <a:pt x="592" y="1609"/>
                </a:cubicBezTo>
                <a:cubicBezTo>
                  <a:pt x="608" y="1619"/>
                  <a:pt x="630" y="1613"/>
                  <a:pt x="648" y="1617"/>
                </a:cubicBezTo>
                <a:cubicBezTo>
                  <a:pt x="747" y="1637"/>
                  <a:pt x="809" y="1643"/>
                  <a:pt x="920" y="1649"/>
                </a:cubicBezTo>
                <a:cubicBezTo>
                  <a:pt x="988" y="1644"/>
                  <a:pt x="1047" y="1641"/>
                  <a:pt x="1112" y="1625"/>
                </a:cubicBezTo>
                <a:cubicBezTo>
                  <a:pt x="1195" y="1570"/>
                  <a:pt x="1067" y="1654"/>
                  <a:pt x="1168" y="1593"/>
                </a:cubicBezTo>
                <a:cubicBezTo>
                  <a:pt x="1184" y="1583"/>
                  <a:pt x="1216" y="1561"/>
                  <a:pt x="1216" y="1561"/>
                </a:cubicBezTo>
                <a:cubicBezTo>
                  <a:pt x="1225" y="1596"/>
                  <a:pt x="1229" y="1631"/>
                  <a:pt x="1240" y="1665"/>
                </a:cubicBezTo>
                <a:cubicBezTo>
                  <a:pt x="1310" y="1595"/>
                  <a:pt x="1316" y="1479"/>
                  <a:pt x="1328" y="1385"/>
                </a:cubicBezTo>
                <a:cubicBezTo>
                  <a:pt x="1268" y="1373"/>
                  <a:pt x="1201" y="1372"/>
                  <a:pt x="1144" y="1353"/>
                </a:cubicBezTo>
                <a:cubicBezTo>
                  <a:pt x="1133" y="1358"/>
                  <a:pt x="1114" y="1357"/>
                  <a:pt x="1112" y="1369"/>
                </a:cubicBezTo>
                <a:cubicBezTo>
                  <a:pt x="1110" y="1380"/>
                  <a:pt x="1129" y="1384"/>
                  <a:pt x="1136" y="1393"/>
                </a:cubicBezTo>
                <a:cubicBezTo>
                  <a:pt x="1169" y="1433"/>
                  <a:pt x="1132" y="1404"/>
                  <a:pt x="1176" y="1433"/>
                </a:cubicBezTo>
                <a:cubicBezTo>
                  <a:pt x="1157" y="1436"/>
                  <a:pt x="1120" y="1441"/>
                  <a:pt x="1120" y="1441"/>
                </a:cubicBezTo>
              </a:path>
            </a:pathLst>
          </a:custGeom>
          <a:solidFill>
            <a:schemeClr val="folHlink"/>
          </a:solidFill>
          <a:ln w="9525" cap="flat" cmpd="sng">
            <a:solidFill>
              <a:schemeClr val="accent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100" name="Text Box 18"/>
          <p:cNvSpPr txBox="1">
            <a:spLocks noChangeArrowheads="1"/>
          </p:cNvSpPr>
          <p:nvPr/>
        </p:nvSpPr>
        <p:spPr bwMode="auto">
          <a:xfrm>
            <a:off x="2514600" y="6019800"/>
            <a:ext cx="8382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2000" b="1" dirty="0">
                <a:solidFill>
                  <a:schemeClr val="folHlink"/>
                </a:solidFill>
                <a:latin typeface="Times New Roman" panose="02020603050405020304" pitchFamily="18" charset="0"/>
                <a:ea typeface="华文楷体" panose="02010600040101010101" pitchFamily="2" charset="-122"/>
              </a:rPr>
              <a:t>内存</a:t>
            </a:r>
            <a:endParaRPr kumimoji="1" lang="zh-CN" altLang="en-US" sz="2000" b="1" dirty="0">
              <a:latin typeface="Times New Roman" panose="02020603050405020304" pitchFamily="18" charset="0"/>
              <a:ea typeface="华文楷体" panose="02010600040101010101" pitchFamily="2" charset="-122"/>
            </a:endParaRPr>
          </a:p>
        </p:txBody>
      </p:sp>
      <p:sp>
        <p:nvSpPr>
          <p:cNvPr id="46101" name="AutoShape 19"/>
          <p:cNvSpPr>
            <a:spLocks noChangeArrowheads="1"/>
          </p:cNvSpPr>
          <p:nvPr/>
        </p:nvSpPr>
        <p:spPr bwMode="auto">
          <a:xfrm>
            <a:off x="5029200" y="3200400"/>
            <a:ext cx="609600" cy="304800"/>
          </a:xfrm>
          <a:custGeom>
            <a:avLst/>
            <a:gdLst>
              <a:gd name="T0" fmla="*/ 191474739 w 21600"/>
              <a:gd name="T1" fmla="*/ 682794 h 21600"/>
              <a:gd name="T2" fmla="*/ 47902735 w 21600"/>
              <a:gd name="T3" fmla="*/ 30346410 h 21600"/>
              <a:gd name="T4" fmla="*/ 211705670 w 21600"/>
              <a:gd name="T5" fmla="*/ 12391446 h 21600"/>
              <a:gd name="T6" fmla="*/ 519125990 w 21600"/>
              <a:gd name="T7" fmla="*/ 14678589 h 21600"/>
              <a:gd name="T8" fmla="*/ 465109391 w 21600"/>
              <a:gd name="T9" fmla="*/ 32650472 h 21600"/>
              <a:gd name="T10" fmla="*/ 321311976 w 21600"/>
              <a:gd name="T11" fmla="*/ 2589281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753" y="8100"/>
                </a:moveTo>
                <a:cubicBezTo>
                  <a:pt x="15693" y="5763"/>
                  <a:pt x="13365" y="4263"/>
                  <a:pt x="10800" y="4263"/>
                </a:cubicBezTo>
                <a:cubicBezTo>
                  <a:pt x="7189" y="4263"/>
                  <a:pt x="4263" y="7189"/>
                  <a:pt x="4263" y="10800"/>
                </a:cubicBezTo>
                <a:lnTo>
                  <a:pt x="0" y="10800"/>
                </a:lnTo>
                <a:cubicBezTo>
                  <a:pt x="0" y="4835"/>
                  <a:pt x="4835" y="0"/>
                  <a:pt x="10800" y="0"/>
                </a:cubicBezTo>
                <a:cubicBezTo>
                  <a:pt x="15038" y="0"/>
                  <a:pt x="18885" y="2479"/>
                  <a:pt x="20635" y="6339"/>
                </a:cubicBezTo>
                <a:lnTo>
                  <a:pt x="23094" y="5224"/>
                </a:lnTo>
                <a:lnTo>
                  <a:pt x="20691" y="11620"/>
                </a:lnTo>
                <a:lnTo>
                  <a:pt x="14294" y="9215"/>
                </a:lnTo>
                <a:lnTo>
                  <a:pt x="16753" y="8100"/>
                </a:lnTo>
                <a:close/>
              </a:path>
            </a:pathLst>
          </a:custGeom>
          <a:solidFill>
            <a:schemeClr val="folHlink"/>
          </a:soli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6102" name="Line 20"/>
          <p:cNvSpPr>
            <a:spLocks noChangeShapeType="1"/>
          </p:cNvSpPr>
          <p:nvPr/>
        </p:nvSpPr>
        <p:spPr bwMode="auto">
          <a:xfrm>
            <a:off x="5334000" y="2667000"/>
            <a:ext cx="0" cy="1143000"/>
          </a:xfrm>
          <a:prstGeom prst="line">
            <a:avLst/>
          </a:prstGeom>
          <a:noFill/>
          <a:ln w="76200">
            <a:solidFill>
              <a:srgbClr val="618FFD"/>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页脚占位符 3"/>
          <p:cNvSpPr>
            <a:spLocks noGrp="1"/>
          </p:cNvSpPr>
          <p:nvPr>
            <p:ph type="ftr" sz="quarter" idx="10"/>
          </p:nvPr>
        </p:nvSpPr>
        <p:spPr/>
        <p:txBody>
          <a:bodyPr/>
          <a:lstStyle/>
          <a:p>
            <a:pPr>
              <a:defRPr/>
            </a:pPr>
            <a:r>
              <a:rPr lang="en-US" altLang="zh-CN"/>
              <a:t>BUPT SCST</a:t>
            </a:r>
            <a:endParaRPr lang="en-US" altLang="zh-CN"/>
          </a:p>
        </p:txBody>
      </p:sp>
      <p:sp>
        <p:nvSpPr>
          <p:cNvPr id="63" name="日期占位符 5"/>
          <p:cNvSpPr>
            <a:spLocks noGrp="1"/>
          </p:cNvSpPr>
          <p:nvPr>
            <p:ph type="dt" sz="quarter" idx="12"/>
          </p:nvPr>
        </p:nvSpPr>
        <p:spPr/>
        <p:txBody>
          <a:bodyPr/>
          <a:lstStyle/>
          <a:p>
            <a:pPr>
              <a:defRPr/>
            </a:pPr>
            <a:r>
              <a:rPr lang="en-US" altLang="zh-CN"/>
              <a:t>BUPT</a:t>
            </a:r>
            <a:endParaRPr lang="en-US" altLang="zh-CN"/>
          </a:p>
        </p:txBody>
      </p:sp>
      <p:sp>
        <p:nvSpPr>
          <p:cNvPr id="4710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47109"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sz="2400" dirty="0" smtClean="0">
                <a:ea typeface="华文楷体" panose="02010600040101010101" pitchFamily="2" charset="-122"/>
              </a:rPr>
              <a:t>用</a:t>
            </a:r>
            <a:r>
              <a:rPr kumimoji="1" lang="zh-CN" altLang="zh-CN" sz="2400" dirty="0" smtClean="0">
                <a:ea typeface="华文楷体" panose="02010600040101010101" pitchFamily="2" charset="-122"/>
              </a:rPr>
              <a:t>二叉树组织文件，需访问</a:t>
            </a:r>
            <a:r>
              <a:rPr kumimoji="1" lang="zh-CN" altLang="en-US" sz="2400" dirty="0" smtClean="0">
                <a:ea typeface="华文楷体" panose="02010600040101010101" pitchFamily="2" charset="-122"/>
              </a:rPr>
              <a:t>外存次数太多。</a:t>
            </a:r>
            <a:endParaRPr kumimoji="1" lang="zh-CN" altLang="en-US" sz="2400" dirty="0" smtClean="0">
              <a:ea typeface="华文楷体" panose="02010600040101010101" pitchFamily="2" charset="-122"/>
            </a:endParaRPr>
          </a:p>
          <a:p>
            <a:pPr eaLnBrk="1" hangingPunct="1">
              <a:buFont typeface="Wingdings" panose="05000000000000000000" pitchFamily="2" charset="2"/>
              <a:buNone/>
            </a:pPr>
            <a:r>
              <a:rPr kumimoji="1" lang="zh-CN" altLang="en-US" sz="2400" dirty="0" smtClean="0">
                <a:ea typeface="华文楷体" panose="02010600040101010101" pitchFamily="2" charset="-122"/>
              </a:rPr>
              <a:t>如：</a:t>
            </a:r>
            <a:r>
              <a:rPr kumimoji="1" lang="zh-CN" altLang="zh-CN" sz="2400" dirty="0" smtClean="0">
                <a:ea typeface="华文楷体" panose="02010600040101010101" pitchFamily="2" charset="-122"/>
              </a:rPr>
              <a:t>当文件的记录个数为 100</a:t>
            </a:r>
            <a:r>
              <a:rPr kumimoji="1" lang="en-US" altLang="zh-CN" sz="2400" dirty="0" smtClean="0">
                <a:ea typeface="华文楷体" panose="02010600040101010101" pitchFamily="2" charset="-122"/>
              </a:rPr>
              <a:t>,</a:t>
            </a:r>
            <a:r>
              <a:rPr kumimoji="1" lang="zh-CN" altLang="zh-CN" sz="2400" dirty="0" smtClean="0">
                <a:ea typeface="华文楷体" panose="02010600040101010101" pitchFamily="2" charset="-122"/>
              </a:rPr>
              <a:t>000时，要找到给定关键字的记录，需访问外存17次（</a:t>
            </a:r>
            <a:r>
              <a:rPr kumimoji="1" lang="en-US" altLang="zh-CN" sz="2400" dirty="0" smtClean="0">
                <a:ea typeface="华文楷体" panose="02010600040101010101" pitchFamily="2" charset="-122"/>
              </a:rPr>
              <a:t>log100,000</a:t>
            </a:r>
            <a:r>
              <a:rPr kumimoji="1" lang="zh-CN" altLang="en-US" sz="2400" dirty="0" smtClean="0">
                <a:ea typeface="华文楷体" panose="02010600040101010101" pitchFamily="2" charset="-122"/>
              </a:rPr>
              <a:t>）</a:t>
            </a:r>
            <a:r>
              <a:rPr kumimoji="1" lang="en-US" altLang="zh-CN" sz="2400" dirty="0" smtClean="0">
                <a:ea typeface="华文楷体" panose="02010600040101010101" pitchFamily="2" charset="-122"/>
              </a:rPr>
              <a:t>,</a:t>
            </a:r>
            <a:r>
              <a:rPr kumimoji="1" lang="zh-CN" altLang="zh-CN" sz="2400" dirty="0" smtClean="0">
                <a:ea typeface="华文楷体" panose="02010600040101010101" pitchFamily="2" charset="-122"/>
              </a:rPr>
              <a:t>太多了！</a:t>
            </a:r>
            <a:endParaRPr kumimoji="1" lang="zh-CN" altLang="en-US" sz="2400" dirty="0" smtClean="0">
              <a:ea typeface="华文楷体" panose="02010600040101010101" pitchFamily="2" charset="-122"/>
            </a:endParaRPr>
          </a:p>
        </p:txBody>
      </p:sp>
      <p:sp>
        <p:nvSpPr>
          <p:cNvPr id="47110" name="Rectangle 4"/>
          <p:cNvSpPr>
            <a:spLocks noChangeArrowheads="1"/>
          </p:cNvSpPr>
          <p:nvPr/>
        </p:nvSpPr>
        <p:spPr bwMode="auto">
          <a:xfrm>
            <a:off x="2286000" y="2971800"/>
            <a:ext cx="3733800" cy="1600200"/>
          </a:xfrm>
          <a:prstGeom prst="rect">
            <a:avLst/>
          </a:prstGeom>
          <a:solidFill>
            <a:srgbClr val="FFFFFF"/>
          </a:solidFill>
          <a:ln w="38100">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7111" name="Line 5"/>
          <p:cNvSpPr>
            <a:spLocks noChangeShapeType="1"/>
          </p:cNvSpPr>
          <p:nvPr/>
        </p:nvSpPr>
        <p:spPr bwMode="auto">
          <a:xfrm>
            <a:off x="3886200" y="4419600"/>
            <a:ext cx="228600" cy="4572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12" name="Line 6"/>
          <p:cNvSpPr>
            <a:spLocks noChangeShapeType="1"/>
          </p:cNvSpPr>
          <p:nvPr/>
        </p:nvSpPr>
        <p:spPr bwMode="auto">
          <a:xfrm flipH="1">
            <a:off x="3657600" y="4419600"/>
            <a:ext cx="152400" cy="4572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13" name="Line 7"/>
          <p:cNvSpPr>
            <a:spLocks noChangeShapeType="1"/>
          </p:cNvSpPr>
          <p:nvPr/>
        </p:nvSpPr>
        <p:spPr bwMode="auto">
          <a:xfrm>
            <a:off x="3505200" y="5105400"/>
            <a:ext cx="304800"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14" name="Line 8"/>
          <p:cNvSpPr>
            <a:spLocks noChangeShapeType="1"/>
          </p:cNvSpPr>
          <p:nvPr/>
        </p:nvSpPr>
        <p:spPr bwMode="auto">
          <a:xfrm>
            <a:off x="3962400" y="5105400"/>
            <a:ext cx="304800"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15" name="Line 9"/>
          <p:cNvSpPr>
            <a:spLocks noChangeShapeType="1"/>
          </p:cNvSpPr>
          <p:nvPr/>
        </p:nvSpPr>
        <p:spPr bwMode="auto">
          <a:xfrm>
            <a:off x="4800600" y="4419600"/>
            <a:ext cx="228600" cy="4572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16" name="Line 10"/>
          <p:cNvSpPr>
            <a:spLocks noChangeShapeType="1"/>
          </p:cNvSpPr>
          <p:nvPr/>
        </p:nvSpPr>
        <p:spPr bwMode="auto">
          <a:xfrm flipH="1">
            <a:off x="4572000" y="4419600"/>
            <a:ext cx="152400" cy="4572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17" name="Line 11"/>
          <p:cNvSpPr>
            <a:spLocks noChangeShapeType="1"/>
          </p:cNvSpPr>
          <p:nvPr/>
        </p:nvSpPr>
        <p:spPr bwMode="auto">
          <a:xfrm>
            <a:off x="4419600" y="5105400"/>
            <a:ext cx="304800"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18" name="Line 12"/>
          <p:cNvSpPr>
            <a:spLocks noChangeShapeType="1"/>
          </p:cNvSpPr>
          <p:nvPr/>
        </p:nvSpPr>
        <p:spPr bwMode="auto">
          <a:xfrm>
            <a:off x="4876800" y="5105400"/>
            <a:ext cx="304800"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19" name="Line 13"/>
          <p:cNvSpPr>
            <a:spLocks noChangeShapeType="1"/>
          </p:cNvSpPr>
          <p:nvPr/>
        </p:nvSpPr>
        <p:spPr bwMode="auto">
          <a:xfrm>
            <a:off x="5638800" y="4419600"/>
            <a:ext cx="228600" cy="4572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20" name="Line 14"/>
          <p:cNvSpPr>
            <a:spLocks noChangeShapeType="1"/>
          </p:cNvSpPr>
          <p:nvPr/>
        </p:nvSpPr>
        <p:spPr bwMode="auto">
          <a:xfrm flipH="1">
            <a:off x="5410200" y="4419600"/>
            <a:ext cx="152400" cy="4572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21" name="Line 15"/>
          <p:cNvSpPr>
            <a:spLocks noChangeShapeType="1"/>
          </p:cNvSpPr>
          <p:nvPr/>
        </p:nvSpPr>
        <p:spPr bwMode="auto">
          <a:xfrm>
            <a:off x="5257800" y="5105400"/>
            <a:ext cx="304800"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22" name="Line 16"/>
          <p:cNvSpPr>
            <a:spLocks noChangeShapeType="1"/>
          </p:cNvSpPr>
          <p:nvPr/>
        </p:nvSpPr>
        <p:spPr bwMode="auto">
          <a:xfrm>
            <a:off x="5715000" y="5105400"/>
            <a:ext cx="304800"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23" name="Line 17"/>
          <p:cNvSpPr>
            <a:spLocks noChangeShapeType="1"/>
          </p:cNvSpPr>
          <p:nvPr/>
        </p:nvSpPr>
        <p:spPr bwMode="auto">
          <a:xfrm>
            <a:off x="5029200" y="3886200"/>
            <a:ext cx="381000" cy="3810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24" name="Line 18"/>
          <p:cNvSpPr>
            <a:spLocks noChangeShapeType="1"/>
          </p:cNvSpPr>
          <p:nvPr/>
        </p:nvSpPr>
        <p:spPr bwMode="auto">
          <a:xfrm>
            <a:off x="3352800" y="3962400"/>
            <a:ext cx="457200" cy="3048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25" name="Line 19"/>
          <p:cNvSpPr>
            <a:spLocks noChangeShapeType="1"/>
          </p:cNvSpPr>
          <p:nvPr/>
        </p:nvSpPr>
        <p:spPr bwMode="auto">
          <a:xfrm flipH="1">
            <a:off x="4724400" y="3962400"/>
            <a:ext cx="152400" cy="3048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26" name="Line 20"/>
          <p:cNvSpPr>
            <a:spLocks noChangeShapeType="1"/>
          </p:cNvSpPr>
          <p:nvPr/>
        </p:nvSpPr>
        <p:spPr bwMode="auto">
          <a:xfrm flipH="1">
            <a:off x="2743200" y="3962400"/>
            <a:ext cx="457200" cy="3048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27" name="Line 21"/>
          <p:cNvSpPr>
            <a:spLocks noChangeShapeType="1"/>
          </p:cNvSpPr>
          <p:nvPr/>
        </p:nvSpPr>
        <p:spPr bwMode="auto">
          <a:xfrm flipH="1">
            <a:off x="3276600" y="3352800"/>
            <a:ext cx="762000" cy="5334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28" name="Rectangle 22"/>
          <p:cNvSpPr>
            <a:spLocks noChangeArrowheads="1"/>
          </p:cNvSpPr>
          <p:nvPr/>
        </p:nvSpPr>
        <p:spPr bwMode="auto">
          <a:xfrm>
            <a:off x="2362200" y="4876800"/>
            <a:ext cx="3048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7129" name="Line 23"/>
          <p:cNvSpPr>
            <a:spLocks noChangeShapeType="1"/>
          </p:cNvSpPr>
          <p:nvPr/>
        </p:nvSpPr>
        <p:spPr bwMode="auto">
          <a:xfrm>
            <a:off x="4114800" y="3429000"/>
            <a:ext cx="838200" cy="3810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30" name="Oval 24"/>
          <p:cNvSpPr>
            <a:spLocks noChangeArrowheads="1"/>
          </p:cNvSpPr>
          <p:nvPr/>
        </p:nvSpPr>
        <p:spPr bwMode="auto">
          <a:xfrm>
            <a:off x="3810000" y="3276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50</a:t>
            </a:r>
            <a:endParaRPr kumimoji="1" lang="en-US" altLang="zh-CN" sz="1600" b="1" u="sng" dirty="0">
              <a:latin typeface="Times New Roman" panose="02020603050405020304" pitchFamily="18" charset="0"/>
              <a:ea typeface="华文楷体" panose="02010600040101010101" pitchFamily="2" charset="-122"/>
            </a:endParaRPr>
          </a:p>
        </p:txBody>
      </p:sp>
      <p:sp>
        <p:nvSpPr>
          <p:cNvPr id="47131" name="Oval 25"/>
          <p:cNvSpPr>
            <a:spLocks noChangeArrowheads="1"/>
          </p:cNvSpPr>
          <p:nvPr/>
        </p:nvSpPr>
        <p:spPr bwMode="auto">
          <a:xfrm>
            <a:off x="3048000" y="37338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25</a:t>
            </a:r>
            <a:endParaRPr kumimoji="1" lang="en-US" altLang="zh-CN" sz="1600" b="1" u="sng" dirty="0">
              <a:latin typeface="Times New Roman" panose="02020603050405020304" pitchFamily="18" charset="0"/>
              <a:ea typeface="华文楷体" panose="02010600040101010101" pitchFamily="2" charset="-122"/>
            </a:endParaRPr>
          </a:p>
        </p:txBody>
      </p:sp>
      <p:sp>
        <p:nvSpPr>
          <p:cNvPr id="47132" name="Text Box 26"/>
          <p:cNvSpPr txBox="1">
            <a:spLocks noChangeArrowheads="1"/>
          </p:cNvSpPr>
          <p:nvPr/>
        </p:nvSpPr>
        <p:spPr bwMode="auto">
          <a:xfrm>
            <a:off x="2286000" y="48768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10</a:t>
            </a:r>
            <a:endParaRPr kumimoji="1" lang="en-US" altLang="zh-CN" sz="2000" b="1" dirty="0">
              <a:latin typeface="Times New Roman" panose="02020603050405020304" pitchFamily="18" charset="0"/>
              <a:ea typeface="华文楷体" panose="02010600040101010101" pitchFamily="2" charset="-122"/>
            </a:endParaRPr>
          </a:p>
        </p:txBody>
      </p:sp>
      <p:sp>
        <p:nvSpPr>
          <p:cNvPr id="47133" name="Oval 27"/>
          <p:cNvSpPr>
            <a:spLocks noChangeArrowheads="1"/>
          </p:cNvSpPr>
          <p:nvPr/>
        </p:nvSpPr>
        <p:spPr bwMode="auto">
          <a:xfrm>
            <a:off x="4724400" y="36576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75</a:t>
            </a:r>
            <a:endParaRPr kumimoji="1" lang="en-US" altLang="zh-CN" sz="1600" b="1" u="sng" dirty="0">
              <a:latin typeface="Times New Roman" panose="02020603050405020304" pitchFamily="18" charset="0"/>
              <a:ea typeface="华文楷体" panose="02010600040101010101" pitchFamily="2" charset="-122"/>
            </a:endParaRPr>
          </a:p>
        </p:txBody>
      </p:sp>
      <p:sp>
        <p:nvSpPr>
          <p:cNvPr id="47134" name="Line 28"/>
          <p:cNvSpPr>
            <a:spLocks noChangeShapeType="1"/>
          </p:cNvSpPr>
          <p:nvPr/>
        </p:nvSpPr>
        <p:spPr bwMode="auto">
          <a:xfrm>
            <a:off x="2743200" y="4419600"/>
            <a:ext cx="228600" cy="4572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35" name="Line 29"/>
          <p:cNvSpPr>
            <a:spLocks noChangeShapeType="1"/>
          </p:cNvSpPr>
          <p:nvPr/>
        </p:nvSpPr>
        <p:spPr bwMode="auto">
          <a:xfrm flipH="1">
            <a:off x="2514600" y="4419600"/>
            <a:ext cx="152400" cy="4572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36" name="Oval 30"/>
          <p:cNvSpPr>
            <a:spLocks noChangeArrowheads="1"/>
          </p:cNvSpPr>
          <p:nvPr/>
        </p:nvSpPr>
        <p:spPr bwMode="auto">
          <a:xfrm>
            <a:off x="2514600" y="4191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15</a:t>
            </a:r>
            <a:endParaRPr kumimoji="1" lang="en-US" altLang="zh-CN" sz="1600" b="1" u="sng" dirty="0">
              <a:latin typeface="Times New Roman" panose="02020603050405020304" pitchFamily="18" charset="0"/>
              <a:ea typeface="华文楷体" panose="02010600040101010101" pitchFamily="2" charset="-122"/>
            </a:endParaRPr>
          </a:p>
        </p:txBody>
      </p:sp>
      <p:sp>
        <p:nvSpPr>
          <p:cNvPr id="47137" name="Oval 31"/>
          <p:cNvSpPr>
            <a:spLocks noChangeArrowheads="1"/>
          </p:cNvSpPr>
          <p:nvPr/>
        </p:nvSpPr>
        <p:spPr bwMode="auto">
          <a:xfrm>
            <a:off x="3581400" y="4191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35</a:t>
            </a:r>
            <a:endParaRPr kumimoji="1" lang="en-US" altLang="zh-CN" sz="1600" b="1" u="sng" dirty="0">
              <a:latin typeface="Times New Roman" panose="02020603050405020304" pitchFamily="18" charset="0"/>
              <a:ea typeface="华文楷体" panose="02010600040101010101" pitchFamily="2" charset="-122"/>
            </a:endParaRPr>
          </a:p>
        </p:txBody>
      </p:sp>
      <p:sp>
        <p:nvSpPr>
          <p:cNvPr id="47138" name="Oval 32"/>
          <p:cNvSpPr>
            <a:spLocks noChangeArrowheads="1"/>
          </p:cNvSpPr>
          <p:nvPr/>
        </p:nvSpPr>
        <p:spPr bwMode="auto">
          <a:xfrm>
            <a:off x="4495800" y="4191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60</a:t>
            </a:r>
            <a:endParaRPr kumimoji="1" lang="en-US" altLang="zh-CN" sz="1600" b="1" u="sng" dirty="0">
              <a:latin typeface="Times New Roman" panose="02020603050405020304" pitchFamily="18" charset="0"/>
              <a:ea typeface="华文楷体" panose="02010600040101010101" pitchFamily="2" charset="-122"/>
            </a:endParaRPr>
          </a:p>
        </p:txBody>
      </p:sp>
      <p:sp>
        <p:nvSpPr>
          <p:cNvPr id="47139" name="Oval 33"/>
          <p:cNvSpPr>
            <a:spLocks noChangeArrowheads="1"/>
          </p:cNvSpPr>
          <p:nvPr/>
        </p:nvSpPr>
        <p:spPr bwMode="auto">
          <a:xfrm>
            <a:off x="5257800" y="4191000"/>
            <a:ext cx="457200" cy="381000"/>
          </a:xfrm>
          <a:prstGeom prst="ellipse">
            <a:avLst/>
          </a:prstGeom>
          <a:solidFill>
            <a:srgbClr val="FF0000"/>
          </a:solidFill>
          <a:ln w="1905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kumimoji="1" lang="en-US" altLang="zh-CN" sz="1600" b="1" dirty="0">
                <a:latin typeface="Times New Roman" panose="02020603050405020304" pitchFamily="18" charset="0"/>
                <a:ea typeface="华文楷体" panose="02010600040101010101" pitchFamily="2" charset="-122"/>
              </a:rPr>
              <a:t>90</a:t>
            </a:r>
            <a:endParaRPr kumimoji="1" lang="en-US" altLang="zh-CN" sz="1600" b="1" u="sng" dirty="0">
              <a:latin typeface="Times New Roman" panose="02020603050405020304" pitchFamily="18" charset="0"/>
              <a:ea typeface="华文楷体" panose="02010600040101010101" pitchFamily="2" charset="-122"/>
            </a:endParaRPr>
          </a:p>
        </p:txBody>
      </p:sp>
      <p:sp>
        <p:nvSpPr>
          <p:cNvPr id="47140" name="Line 34"/>
          <p:cNvSpPr>
            <a:spLocks noChangeShapeType="1"/>
          </p:cNvSpPr>
          <p:nvPr/>
        </p:nvSpPr>
        <p:spPr bwMode="auto">
          <a:xfrm>
            <a:off x="2362200" y="5105400"/>
            <a:ext cx="304800"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41" name="Rectangle 35"/>
          <p:cNvSpPr>
            <a:spLocks noChangeArrowheads="1"/>
          </p:cNvSpPr>
          <p:nvPr/>
        </p:nvSpPr>
        <p:spPr bwMode="auto">
          <a:xfrm>
            <a:off x="2819400" y="4876800"/>
            <a:ext cx="3048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7142" name="Text Box 36"/>
          <p:cNvSpPr txBox="1">
            <a:spLocks noChangeArrowheads="1"/>
          </p:cNvSpPr>
          <p:nvPr/>
        </p:nvSpPr>
        <p:spPr bwMode="auto">
          <a:xfrm>
            <a:off x="2743200" y="48768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20</a:t>
            </a:r>
            <a:endParaRPr kumimoji="1" lang="en-US" altLang="zh-CN" sz="2000" b="1" dirty="0">
              <a:latin typeface="Times New Roman" panose="02020603050405020304" pitchFamily="18" charset="0"/>
              <a:ea typeface="华文楷体" panose="02010600040101010101" pitchFamily="2" charset="-122"/>
            </a:endParaRPr>
          </a:p>
        </p:txBody>
      </p:sp>
      <p:sp>
        <p:nvSpPr>
          <p:cNvPr id="47143" name="Line 37"/>
          <p:cNvSpPr>
            <a:spLocks noChangeShapeType="1"/>
          </p:cNvSpPr>
          <p:nvPr/>
        </p:nvSpPr>
        <p:spPr bwMode="auto">
          <a:xfrm>
            <a:off x="2819400" y="5105400"/>
            <a:ext cx="304800"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44" name="Rectangle 38"/>
          <p:cNvSpPr>
            <a:spLocks noChangeArrowheads="1"/>
          </p:cNvSpPr>
          <p:nvPr/>
        </p:nvSpPr>
        <p:spPr bwMode="auto">
          <a:xfrm>
            <a:off x="3505200" y="4876800"/>
            <a:ext cx="3048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7145" name="Text Box 39"/>
          <p:cNvSpPr txBox="1">
            <a:spLocks noChangeArrowheads="1"/>
          </p:cNvSpPr>
          <p:nvPr/>
        </p:nvSpPr>
        <p:spPr bwMode="auto">
          <a:xfrm>
            <a:off x="3429000" y="48768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30</a:t>
            </a:r>
            <a:endParaRPr kumimoji="1" lang="en-US" altLang="zh-CN" sz="2000" b="1" dirty="0">
              <a:latin typeface="Times New Roman" panose="02020603050405020304" pitchFamily="18" charset="0"/>
              <a:ea typeface="华文楷体" panose="02010600040101010101" pitchFamily="2" charset="-122"/>
            </a:endParaRPr>
          </a:p>
        </p:txBody>
      </p:sp>
      <p:sp>
        <p:nvSpPr>
          <p:cNvPr id="47146" name="Rectangle 40"/>
          <p:cNvSpPr>
            <a:spLocks noChangeArrowheads="1"/>
          </p:cNvSpPr>
          <p:nvPr/>
        </p:nvSpPr>
        <p:spPr bwMode="auto">
          <a:xfrm>
            <a:off x="3962400" y="4876800"/>
            <a:ext cx="3048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7147" name="Text Box 41"/>
          <p:cNvSpPr txBox="1">
            <a:spLocks noChangeArrowheads="1"/>
          </p:cNvSpPr>
          <p:nvPr/>
        </p:nvSpPr>
        <p:spPr bwMode="auto">
          <a:xfrm>
            <a:off x="3886200" y="48768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40</a:t>
            </a:r>
            <a:endParaRPr kumimoji="1" lang="en-US" altLang="zh-CN" sz="2000" b="1" dirty="0">
              <a:latin typeface="Times New Roman" panose="02020603050405020304" pitchFamily="18" charset="0"/>
              <a:ea typeface="华文楷体" panose="02010600040101010101" pitchFamily="2" charset="-122"/>
            </a:endParaRPr>
          </a:p>
        </p:txBody>
      </p:sp>
      <p:sp>
        <p:nvSpPr>
          <p:cNvPr id="47148" name="Rectangle 42"/>
          <p:cNvSpPr>
            <a:spLocks noChangeArrowheads="1"/>
          </p:cNvSpPr>
          <p:nvPr/>
        </p:nvSpPr>
        <p:spPr bwMode="auto">
          <a:xfrm>
            <a:off x="4419600" y="4876800"/>
            <a:ext cx="3048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7149" name="Text Box 43"/>
          <p:cNvSpPr txBox="1">
            <a:spLocks noChangeArrowheads="1"/>
          </p:cNvSpPr>
          <p:nvPr/>
        </p:nvSpPr>
        <p:spPr bwMode="auto">
          <a:xfrm>
            <a:off x="4343400" y="48768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55</a:t>
            </a:r>
            <a:endParaRPr kumimoji="1" lang="en-US" altLang="zh-CN" sz="2000" b="1" dirty="0">
              <a:latin typeface="Times New Roman" panose="02020603050405020304" pitchFamily="18" charset="0"/>
              <a:ea typeface="华文楷体" panose="02010600040101010101" pitchFamily="2" charset="-122"/>
            </a:endParaRPr>
          </a:p>
        </p:txBody>
      </p:sp>
      <p:sp>
        <p:nvSpPr>
          <p:cNvPr id="47150" name="Rectangle 44"/>
          <p:cNvSpPr>
            <a:spLocks noChangeArrowheads="1"/>
          </p:cNvSpPr>
          <p:nvPr/>
        </p:nvSpPr>
        <p:spPr bwMode="auto">
          <a:xfrm>
            <a:off x="4876800" y="4876800"/>
            <a:ext cx="3048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7151" name="Text Box 45"/>
          <p:cNvSpPr txBox="1">
            <a:spLocks noChangeArrowheads="1"/>
          </p:cNvSpPr>
          <p:nvPr/>
        </p:nvSpPr>
        <p:spPr bwMode="auto">
          <a:xfrm>
            <a:off x="4800600" y="48768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70</a:t>
            </a:r>
            <a:endParaRPr kumimoji="1" lang="en-US" altLang="zh-CN" sz="2000" b="1" dirty="0">
              <a:latin typeface="Times New Roman" panose="02020603050405020304" pitchFamily="18" charset="0"/>
              <a:ea typeface="华文楷体" panose="02010600040101010101" pitchFamily="2" charset="-122"/>
            </a:endParaRPr>
          </a:p>
        </p:txBody>
      </p:sp>
      <p:sp>
        <p:nvSpPr>
          <p:cNvPr id="47152" name="Rectangle 46"/>
          <p:cNvSpPr>
            <a:spLocks noChangeArrowheads="1"/>
          </p:cNvSpPr>
          <p:nvPr/>
        </p:nvSpPr>
        <p:spPr bwMode="auto">
          <a:xfrm>
            <a:off x="5257800" y="4876800"/>
            <a:ext cx="3048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7153" name="Text Box 47"/>
          <p:cNvSpPr txBox="1">
            <a:spLocks noChangeArrowheads="1"/>
          </p:cNvSpPr>
          <p:nvPr/>
        </p:nvSpPr>
        <p:spPr bwMode="auto">
          <a:xfrm>
            <a:off x="5181600" y="48768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80</a:t>
            </a:r>
            <a:endParaRPr kumimoji="1" lang="en-US" altLang="zh-CN" sz="2000" b="1" dirty="0">
              <a:latin typeface="Times New Roman" panose="02020603050405020304" pitchFamily="18" charset="0"/>
              <a:ea typeface="华文楷体" panose="02010600040101010101" pitchFamily="2" charset="-122"/>
            </a:endParaRPr>
          </a:p>
        </p:txBody>
      </p:sp>
      <p:sp>
        <p:nvSpPr>
          <p:cNvPr id="47154" name="Rectangle 48"/>
          <p:cNvSpPr>
            <a:spLocks noChangeArrowheads="1"/>
          </p:cNvSpPr>
          <p:nvPr/>
        </p:nvSpPr>
        <p:spPr bwMode="auto">
          <a:xfrm>
            <a:off x="5715000" y="4876800"/>
            <a:ext cx="304800" cy="609600"/>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7155" name="Text Box 49"/>
          <p:cNvSpPr txBox="1">
            <a:spLocks noChangeArrowheads="1"/>
          </p:cNvSpPr>
          <p:nvPr/>
        </p:nvSpPr>
        <p:spPr bwMode="auto">
          <a:xfrm>
            <a:off x="5715000" y="48006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95</a:t>
            </a:r>
            <a:endParaRPr kumimoji="1" lang="en-US" altLang="zh-CN" sz="2000" b="1" dirty="0">
              <a:latin typeface="Times New Roman" panose="02020603050405020304" pitchFamily="18" charset="0"/>
              <a:ea typeface="华文楷体" panose="02010600040101010101" pitchFamily="2" charset="-122"/>
            </a:endParaRPr>
          </a:p>
        </p:txBody>
      </p:sp>
      <p:sp>
        <p:nvSpPr>
          <p:cNvPr id="47156" name="Line 50"/>
          <p:cNvSpPr>
            <a:spLocks noChangeShapeType="1"/>
          </p:cNvSpPr>
          <p:nvPr/>
        </p:nvSpPr>
        <p:spPr bwMode="auto">
          <a:xfrm>
            <a:off x="3505200" y="5105400"/>
            <a:ext cx="304800"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57" name="Line 51"/>
          <p:cNvSpPr>
            <a:spLocks noChangeShapeType="1"/>
          </p:cNvSpPr>
          <p:nvPr/>
        </p:nvSpPr>
        <p:spPr bwMode="auto">
          <a:xfrm>
            <a:off x="3962400" y="5105400"/>
            <a:ext cx="304800"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58" name="Line 52"/>
          <p:cNvSpPr>
            <a:spLocks noChangeShapeType="1"/>
          </p:cNvSpPr>
          <p:nvPr/>
        </p:nvSpPr>
        <p:spPr bwMode="auto">
          <a:xfrm>
            <a:off x="4419600" y="5105400"/>
            <a:ext cx="304800"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59" name="Line 53"/>
          <p:cNvSpPr>
            <a:spLocks noChangeShapeType="1"/>
          </p:cNvSpPr>
          <p:nvPr/>
        </p:nvSpPr>
        <p:spPr bwMode="auto">
          <a:xfrm>
            <a:off x="4876800" y="5105400"/>
            <a:ext cx="304800"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60" name="Line 54"/>
          <p:cNvSpPr>
            <a:spLocks noChangeShapeType="1"/>
          </p:cNvSpPr>
          <p:nvPr/>
        </p:nvSpPr>
        <p:spPr bwMode="auto">
          <a:xfrm>
            <a:off x="5257800" y="5105400"/>
            <a:ext cx="304800"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61" name="Line 55"/>
          <p:cNvSpPr>
            <a:spLocks noChangeShapeType="1"/>
          </p:cNvSpPr>
          <p:nvPr/>
        </p:nvSpPr>
        <p:spPr bwMode="auto">
          <a:xfrm>
            <a:off x="5715000" y="5105400"/>
            <a:ext cx="304800"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7162" name="Rectangle 56"/>
          <p:cNvSpPr>
            <a:spLocks noChangeArrowheads="1"/>
          </p:cNvSpPr>
          <p:nvPr/>
        </p:nvSpPr>
        <p:spPr bwMode="auto">
          <a:xfrm>
            <a:off x="2057400" y="4724400"/>
            <a:ext cx="4267200" cy="914400"/>
          </a:xfrm>
          <a:prstGeom prst="rect">
            <a:avLst/>
          </a:prstGeom>
          <a:noFill/>
          <a:ln w="76200">
            <a:solidFill>
              <a:schemeClr val="folHlink"/>
            </a:solidFill>
            <a:miter lim="800000"/>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7163" name="Text Box 57"/>
          <p:cNvSpPr txBox="1">
            <a:spLocks noChangeArrowheads="1"/>
          </p:cNvSpPr>
          <p:nvPr/>
        </p:nvSpPr>
        <p:spPr bwMode="auto">
          <a:xfrm>
            <a:off x="5943600" y="2943225"/>
            <a:ext cx="457200" cy="9541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索引文件</a:t>
            </a:r>
            <a:endParaRPr kumimoji="1" lang="zh-CN" altLang="en-US" sz="1400" b="1" dirty="0">
              <a:latin typeface="Times New Roman" panose="02020603050405020304" pitchFamily="18" charset="0"/>
              <a:ea typeface="华文楷体" panose="02010600040101010101" pitchFamily="2" charset="-122"/>
            </a:endParaRPr>
          </a:p>
        </p:txBody>
      </p:sp>
      <p:sp>
        <p:nvSpPr>
          <p:cNvPr id="47164" name="Text Box 58"/>
          <p:cNvSpPr txBox="1">
            <a:spLocks noChangeArrowheads="1"/>
          </p:cNvSpPr>
          <p:nvPr/>
        </p:nvSpPr>
        <p:spPr bwMode="auto">
          <a:xfrm>
            <a:off x="6248400" y="4695825"/>
            <a:ext cx="457200" cy="9541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数据文件</a:t>
            </a:r>
            <a:endParaRPr kumimoji="1" lang="zh-CN" altLang="en-US" sz="1400" b="1" dirty="0">
              <a:latin typeface="Times New Roman" panose="02020603050405020304" pitchFamily="18" charset="0"/>
              <a:ea typeface="华文楷体" panose="02010600040101010101" pitchFamily="2" charset="-122"/>
            </a:endParaRPr>
          </a:p>
        </p:txBody>
      </p:sp>
      <p:sp>
        <p:nvSpPr>
          <p:cNvPr id="47165" name="Text Box 59"/>
          <p:cNvSpPr txBox="1">
            <a:spLocks noChangeArrowheads="1"/>
          </p:cNvSpPr>
          <p:nvPr/>
        </p:nvSpPr>
        <p:spPr bwMode="auto">
          <a:xfrm>
            <a:off x="4267200" y="2895600"/>
            <a:ext cx="17526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200" b="1" dirty="0">
                <a:latin typeface="Times New Roman" panose="02020603050405020304" pitchFamily="18" charset="0"/>
                <a:ea typeface="华文楷体" panose="02010600040101010101" pitchFamily="2" charset="-122"/>
              </a:rPr>
              <a:t>文件头，可常驻内存</a:t>
            </a:r>
            <a:endParaRPr kumimoji="1" lang="zh-CN" altLang="en-US" sz="1200" b="1" dirty="0">
              <a:latin typeface="Times New Roman" panose="02020603050405020304" pitchFamily="18" charset="0"/>
              <a:ea typeface="华文楷体" panose="02010600040101010101" pitchFamily="2" charset="-122"/>
            </a:endParaRPr>
          </a:p>
        </p:txBody>
      </p:sp>
      <p:sp>
        <p:nvSpPr>
          <p:cNvPr id="47166" name="AutoShape 60"/>
          <p:cNvSpPr>
            <a:spLocks noChangeArrowheads="1"/>
          </p:cNvSpPr>
          <p:nvPr/>
        </p:nvSpPr>
        <p:spPr bwMode="auto">
          <a:xfrm rot="-1785028">
            <a:off x="4191000" y="3200400"/>
            <a:ext cx="533400" cy="152400"/>
          </a:xfrm>
          <a:prstGeom prst="leftArrow">
            <a:avLst>
              <a:gd name="adj1" fmla="val 50000"/>
              <a:gd name="adj2" fmla="val 87500"/>
            </a:avLst>
          </a:prstGeom>
          <a:solidFill>
            <a:schemeClr val="accent1"/>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1400" b="1" dirty="0">
              <a:latin typeface="Times New Roman" panose="02020603050405020304" pitchFamily="18" charset="0"/>
              <a:ea typeface="华文楷体" panose="02010600040101010101" pitchFamily="2" charset="-122"/>
            </a:endParaRPr>
          </a:p>
        </p:txBody>
      </p:sp>
      <p:sp>
        <p:nvSpPr>
          <p:cNvPr id="47167" name="Text Box 61"/>
          <p:cNvSpPr txBox="1">
            <a:spLocks noChangeArrowheads="1"/>
          </p:cNvSpPr>
          <p:nvPr/>
        </p:nvSpPr>
        <p:spPr bwMode="auto">
          <a:xfrm>
            <a:off x="2057400" y="5715000"/>
            <a:ext cx="4876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文件访问示意图：索引文件存在内存、数据文件存在盘上</a:t>
            </a:r>
            <a:endParaRPr kumimoji="1" lang="zh-CN" altLang="en-US" sz="1400" b="1"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4813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48133" name="Rectangle 3"/>
          <p:cNvSpPr>
            <a:spLocks noGrp="1" noChangeArrowheads="1"/>
          </p:cNvSpPr>
          <p:nvPr>
            <p:ph type="body" idx="1"/>
          </p:nvPr>
        </p:nvSpPr>
        <p:spPr>
          <a:xfrm>
            <a:off x="533400" y="1152525"/>
            <a:ext cx="8229600" cy="5248275"/>
          </a:xfrm>
        </p:spPr>
        <p:txBody>
          <a:bodyPr/>
          <a:lstStyle/>
          <a:p>
            <a:pPr eaLnBrk="1" hangingPunct="1">
              <a:lnSpc>
                <a:spcPct val="80000"/>
              </a:lnSpc>
              <a:buFont typeface="Wingdings" panose="05000000000000000000" pitchFamily="2" charset="2"/>
              <a:buNone/>
            </a:pPr>
            <a:r>
              <a:rPr lang="en-US" altLang="zh-CN" sz="2400" b="1" dirty="0" smtClean="0">
                <a:solidFill>
                  <a:schemeClr val="accent2"/>
                </a:solidFill>
                <a:ea typeface="华文楷体" panose="02010600040101010101" pitchFamily="2" charset="-122"/>
              </a:rPr>
              <a:t>[B-</a:t>
            </a:r>
            <a:r>
              <a:rPr lang="zh-CN" altLang="en-US" sz="2400" b="1" dirty="0" smtClean="0">
                <a:solidFill>
                  <a:schemeClr val="accent2"/>
                </a:solidFill>
                <a:ea typeface="华文楷体" panose="02010600040101010101" pitchFamily="2" charset="-122"/>
              </a:rPr>
              <a:t>树</a:t>
            </a:r>
            <a:r>
              <a:rPr lang="en-US" altLang="zh-CN" sz="2400" b="1" dirty="0" smtClean="0">
                <a:solidFill>
                  <a:schemeClr val="accent2"/>
                </a:solidFill>
                <a:ea typeface="华文楷体" panose="02010600040101010101" pitchFamily="2" charset="-122"/>
              </a:rPr>
              <a:t>]-AVL</a:t>
            </a:r>
            <a:r>
              <a:rPr lang="zh-CN" altLang="en-US" sz="2400" b="1" dirty="0" smtClean="0">
                <a:solidFill>
                  <a:schemeClr val="accent2"/>
                </a:solidFill>
                <a:ea typeface="华文楷体" panose="02010600040101010101" pitchFamily="2" charset="-122"/>
              </a:rPr>
              <a:t>树推广到多叉树</a:t>
            </a:r>
            <a:endParaRPr lang="en-US" altLang="zh-CN" sz="2400" b="1" dirty="0" smtClean="0">
              <a:solidFill>
                <a:schemeClr val="accent2"/>
              </a:solidFill>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B-</a:t>
            </a:r>
            <a:r>
              <a:rPr lang="zh-CN" altLang="en-US" sz="2400" dirty="0" smtClean="0">
                <a:ea typeface="华文楷体" panose="02010600040101010101" pitchFamily="2" charset="-122"/>
              </a:rPr>
              <a:t>树是一种平衡的多路查找树。应用于文件系统。</a:t>
            </a:r>
            <a:endParaRPr lang="zh-CN" altLang="en-US" sz="2400" b="1"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b="1" dirty="0" smtClean="0">
                <a:solidFill>
                  <a:srgbClr val="800000"/>
                </a:solidFill>
                <a:ea typeface="华文楷体" panose="02010600040101010101" pitchFamily="2" charset="-122"/>
              </a:rPr>
              <a:t>1. </a:t>
            </a:r>
            <a:r>
              <a:rPr lang="zh-CN" altLang="en-US" sz="2400" b="1" dirty="0" smtClean="0">
                <a:solidFill>
                  <a:srgbClr val="800000"/>
                </a:solidFill>
                <a:ea typeface="华文楷体" panose="02010600040101010101" pitchFamily="2" charset="-122"/>
              </a:rPr>
              <a:t>定义</a:t>
            </a:r>
            <a:endParaRPr lang="zh-CN" altLang="en-US" sz="2400" b="1" dirty="0" smtClean="0">
              <a:solidFill>
                <a:srgbClr val="800000"/>
              </a:solidFill>
              <a:ea typeface="华文楷体" panose="02010600040101010101" pitchFamily="2" charset="-122"/>
            </a:endParaRPr>
          </a:p>
          <a:p>
            <a:pPr eaLnBrk="1" hangingPunct="1">
              <a:lnSpc>
                <a:spcPct val="80000"/>
              </a:lnSpc>
              <a:spcBef>
                <a:spcPct val="50000"/>
              </a:spcBef>
              <a:buFont typeface="Wingdings" panose="05000000000000000000" pitchFamily="2" charset="2"/>
              <a:buNone/>
            </a:pPr>
            <a:r>
              <a:rPr lang="zh-CN" altLang="en-US" sz="2400" dirty="0" smtClean="0">
                <a:ea typeface="华文楷体" panose="02010600040101010101" pitchFamily="2" charset="-122"/>
              </a:rPr>
              <a:t>     一棵 </a:t>
            </a:r>
            <a:r>
              <a:rPr lang="en-US" altLang="zh-CN" sz="2400" b="1" dirty="0" smtClean="0">
                <a:solidFill>
                  <a:srgbClr val="FF3300"/>
                </a:solidFill>
                <a:ea typeface="华文楷体" panose="02010600040101010101" pitchFamily="2" charset="-122"/>
              </a:rPr>
              <a:t>m </a:t>
            </a:r>
            <a:r>
              <a:rPr lang="zh-CN" altLang="en-US" sz="2400" b="1" dirty="0" smtClean="0">
                <a:solidFill>
                  <a:srgbClr val="FF3300"/>
                </a:solidFill>
                <a:ea typeface="华文楷体" panose="02010600040101010101" pitchFamily="2" charset="-122"/>
              </a:rPr>
              <a:t>阶</a:t>
            </a:r>
            <a:r>
              <a:rPr lang="en-US" altLang="zh-CN" sz="2400" b="1" dirty="0" smtClean="0">
                <a:solidFill>
                  <a:srgbClr val="FF3300"/>
                </a:solidFill>
                <a:ea typeface="华文楷体" panose="02010600040101010101" pitchFamily="2" charset="-122"/>
              </a:rPr>
              <a:t>B</a:t>
            </a:r>
            <a:r>
              <a:rPr lang="zh-CN" altLang="en-US" sz="2400" b="1" dirty="0" smtClean="0">
                <a:solidFill>
                  <a:srgbClr val="FF3300"/>
                </a:solidFill>
                <a:ea typeface="华文楷体" panose="02010600040101010101" pitchFamily="2" charset="-122"/>
              </a:rPr>
              <a:t>树</a:t>
            </a:r>
            <a:r>
              <a:rPr lang="zh-CN" altLang="en-US" sz="2400" dirty="0" smtClean="0">
                <a:ea typeface="华文楷体" panose="02010600040101010101" pitchFamily="2" charset="-122"/>
              </a:rPr>
              <a:t>，或为空树，或为满足下列特性的 </a:t>
            </a:r>
            <a:r>
              <a:rPr lang="en-US" altLang="zh-CN" sz="2400" dirty="0" smtClean="0">
                <a:ea typeface="华文楷体" panose="02010600040101010101" pitchFamily="2" charset="-122"/>
              </a:rPr>
              <a:t>m </a:t>
            </a:r>
            <a:r>
              <a:rPr lang="zh-CN" altLang="en-US" sz="2400" dirty="0" smtClean="0">
                <a:ea typeface="华文楷体" panose="02010600040101010101" pitchFamily="2" charset="-122"/>
              </a:rPr>
              <a:t>叉树：</a:t>
            </a:r>
            <a:endParaRPr lang="zh-CN" altLang="en-US" sz="2400" dirty="0" smtClean="0">
              <a:ea typeface="华文楷体" panose="02010600040101010101" pitchFamily="2" charset="-122"/>
            </a:endParaRPr>
          </a:p>
          <a:p>
            <a:pPr eaLnBrk="1" hangingPunct="1">
              <a:lnSpc>
                <a:spcPct val="80000"/>
              </a:lnSpc>
              <a:spcBef>
                <a:spcPct val="50000"/>
              </a:spcBef>
              <a:buFont typeface="Wingdings" panose="05000000000000000000" pitchFamily="2" charset="2"/>
              <a:buNone/>
            </a:pPr>
            <a:r>
              <a:rPr lang="zh-CN" altLang="en-US" sz="2400" dirty="0" smtClean="0">
                <a:ea typeface="华文楷体" panose="02010600040101010101" pitchFamily="2" charset="-122"/>
              </a:rPr>
              <a:t>     </a:t>
            </a:r>
            <a:r>
              <a:rPr lang="en-US" altLang="zh-CN" sz="2400" dirty="0">
                <a:ea typeface="华文楷体" panose="02010600040101010101" pitchFamily="2" charset="-122"/>
              </a:rPr>
              <a:t>①</a:t>
            </a:r>
            <a:r>
              <a:rPr lang="zh-CN" altLang="en-US" sz="2400" dirty="0" smtClean="0">
                <a:ea typeface="华文楷体" panose="02010600040101010101" pitchFamily="2" charset="-122"/>
              </a:rPr>
              <a:t>树中每个结点最多有</a:t>
            </a:r>
            <a:r>
              <a:rPr lang="zh-CN" altLang="en-US" sz="2400" dirty="0" smtClean="0">
                <a:solidFill>
                  <a:schemeClr val="accent2"/>
                </a:solidFill>
                <a:ea typeface="华文楷体" panose="02010600040101010101" pitchFamily="2" charset="-122"/>
              </a:rPr>
              <a:t> </a:t>
            </a:r>
            <a:r>
              <a:rPr lang="en-US" altLang="zh-CN" sz="2400" b="1" dirty="0" smtClean="0">
                <a:solidFill>
                  <a:schemeClr val="accent2"/>
                </a:solidFill>
                <a:ea typeface="华文楷体" panose="02010600040101010101" pitchFamily="2" charset="-122"/>
              </a:rPr>
              <a:t>m</a:t>
            </a:r>
            <a:r>
              <a:rPr lang="en-US" altLang="zh-CN" sz="2400" dirty="0" smtClean="0">
                <a:solidFill>
                  <a:schemeClr val="accent2"/>
                </a:solidFill>
                <a:ea typeface="华文楷体" panose="02010600040101010101" pitchFamily="2" charset="-122"/>
              </a:rPr>
              <a:t> </a:t>
            </a:r>
            <a:r>
              <a:rPr lang="zh-CN" altLang="en-US" sz="2400" dirty="0" smtClean="0">
                <a:ea typeface="华文楷体" panose="02010600040101010101" pitchFamily="2" charset="-122"/>
              </a:rPr>
              <a:t>棵子树；</a:t>
            </a:r>
            <a:endParaRPr lang="zh-CN" altLang="en-US" sz="2400" dirty="0" smtClean="0">
              <a:ea typeface="华文楷体" panose="02010600040101010101" pitchFamily="2" charset="-122"/>
            </a:endParaRPr>
          </a:p>
          <a:p>
            <a:pPr eaLnBrk="1" hangingPunct="1">
              <a:lnSpc>
                <a:spcPct val="80000"/>
              </a:lnSpc>
              <a:spcBef>
                <a:spcPct val="50000"/>
              </a:spcBef>
              <a:buFont typeface="Wingdings" panose="05000000000000000000" pitchFamily="2" charset="2"/>
              <a:buNone/>
            </a:pPr>
            <a:r>
              <a:rPr lang="zh-CN" altLang="en-US" sz="2400" dirty="0" smtClean="0">
                <a:ea typeface="华文楷体" panose="02010600040101010101" pitchFamily="2" charset="-122"/>
              </a:rPr>
              <a:t>     </a:t>
            </a:r>
            <a:r>
              <a:rPr lang="en-US" altLang="zh-CN" sz="2400" dirty="0">
                <a:ea typeface="华文楷体" panose="02010600040101010101" pitchFamily="2" charset="-122"/>
              </a:rPr>
              <a:t>②</a:t>
            </a:r>
            <a:r>
              <a:rPr lang="zh-CN" altLang="en-US" sz="2400" dirty="0" smtClean="0">
                <a:ea typeface="华文楷体" panose="02010600040101010101" pitchFamily="2" charset="-122"/>
              </a:rPr>
              <a:t>根结点或者是叶子结点，或者其子树数在</a:t>
            </a:r>
            <a:r>
              <a:rPr lang="en-US" altLang="zh-CN" sz="2400" b="1" dirty="0" smtClean="0">
                <a:solidFill>
                  <a:schemeClr val="accent2"/>
                </a:solidFill>
                <a:ea typeface="华文楷体" panose="02010600040101010101" pitchFamily="2" charset="-122"/>
              </a:rPr>
              <a:t>2~m</a:t>
            </a:r>
            <a:r>
              <a:rPr lang="zh-CN" altLang="en-US" sz="2400" dirty="0" smtClean="0">
                <a:ea typeface="华文楷体" panose="02010600040101010101" pitchFamily="2" charset="-122"/>
              </a:rPr>
              <a:t>之间；</a:t>
            </a:r>
            <a:endParaRPr lang="zh-CN" altLang="en-US" sz="2400" dirty="0" smtClean="0">
              <a:ea typeface="华文楷体" panose="02010600040101010101" pitchFamily="2" charset="-122"/>
            </a:endParaRPr>
          </a:p>
          <a:p>
            <a:pPr eaLnBrk="1" hangingPunct="1">
              <a:lnSpc>
                <a:spcPct val="80000"/>
              </a:lnSpc>
              <a:spcBef>
                <a:spcPct val="50000"/>
              </a:spcBef>
              <a:buFont typeface="Wingdings" panose="05000000000000000000" pitchFamily="2" charset="2"/>
              <a:buNone/>
            </a:pPr>
            <a:r>
              <a:rPr lang="zh-CN" altLang="en-US" sz="2400" b="1" dirty="0" smtClean="0">
                <a:ea typeface="华文楷体" panose="02010600040101010101" pitchFamily="2" charset="-122"/>
              </a:rPr>
              <a:t>     </a:t>
            </a:r>
            <a:r>
              <a:rPr lang="en-US" altLang="zh-CN" sz="2400" dirty="0">
                <a:ea typeface="华文楷体" panose="02010600040101010101" pitchFamily="2" charset="-122"/>
              </a:rPr>
              <a:t>③</a:t>
            </a:r>
            <a:r>
              <a:rPr lang="zh-CN" altLang="en-US" sz="2400" dirty="0" smtClean="0">
                <a:ea typeface="华文楷体" panose="02010600040101010101" pitchFamily="2" charset="-122"/>
              </a:rPr>
              <a:t>除根之外的所有非叶子结点子树数在 </a:t>
            </a:r>
            <a:r>
              <a:rPr lang="zh-CN" altLang="en-US" sz="2400" b="1" dirty="0" smtClean="0">
                <a:solidFill>
                  <a:schemeClr val="accent2"/>
                </a:solidFill>
                <a:ea typeface="华文楷体" panose="02010600040101010101" pitchFamily="2" charset="-122"/>
                <a:sym typeface="Symbol" panose="05050102010706020507" pitchFamily="18" charset="2"/>
              </a:rPr>
              <a:t></a:t>
            </a:r>
            <a:r>
              <a:rPr lang="en-US" altLang="zh-CN" sz="2400" b="1" dirty="0" smtClean="0">
                <a:solidFill>
                  <a:schemeClr val="accent2"/>
                </a:solidFill>
                <a:ea typeface="华文楷体" panose="02010600040101010101" pitchFamily="2" charset="-122"/>
              </a:rPr>
              <a:t>m/2</a:t>
            </a:r>
            <a:r>
              <a:rPr lang="en-US" altLang="zh-CN" sz="2400" b="1" dirty="0" smtClean="0">
                <a:solidFill>
                  <a:schemeClr val="accent2"/>
                </a:solidFill>
                <a:ea typeface="华文楷体" panose="02010600040101010101" pitchFamily="2" charset="-122"/>
                <a:sym typeface="Symbol" panose="05050102010706020507" pitchFamily="18" charset="2"/>
              </a:rPr>
              <a:t></a:t>
            </a:r>
            <a:r>
              <a:rPr lang="en-US" altLang="zh-CN" sz="2400" b="1" dirty="0" smtClean="0">
                <a:solidFill>
                  <a:schemeClr val="accent2"/>
                </a:solidFill>
                <a:ea typeface="华文楷体" panose="02010600040101010101" pitchFamily="2" charset="-122"/>
              </a:rPr>
              <a:t>~m</a:t>
            </a:r>
            <a:r>
              <a:rPr lang="zh-CN" altLang="en-US" sz="2400" dirty="0" smtClean="0">
                <a:ea typeface="华文楷体" panose="02010600040101010101" pitchFamily="2" charset="-122"/>
              </a:rPr>
              <a:t>之间；</a:t>
            </a:r>
            <a:endParaRPr lang="zh-CN" altLang="en-US" sz="2400" dirty="0" smtClean="0">
              <a:ea typeface="华文楷体" panose="02010600040101010101" pitchFamily="2" charset="-122"/>
            </a:endParaRPr>
          </a:p>
          <a:p>
            <a:pPr eaLnBrk="1" hangingPunct="1">
              <a:lnSpc>
                <a:spcPct val="80000"/>
              </a:lnSpc>
              <a:spcBef>
                <a:spcPct val="50000"/>
              </a:spcBef>
              <a:buFont typeface="Wingdings" panose="05000000000000000000" pitchFamily="2" charset="2"/>
              <a:buNone/>
            </a:pPr>
            <a:r>
              <a:rPr lang="zh-CN" altLang="en-US" sz="2400" dirty="0" smtClean="0">
                <a:ea typeface="华文楷体" panose="02010600040101010101" pitchFamily="2" charset="-122"/>
              </a:rPr>
              <a:t>     </a:t>
            </a:r>
            <a:r>
              <a:rPr lang="en-US" altLang="zh-CN" sz="2400" dirty="0">
                <a:ea typeface="华文楷体" panose="02010600040101010101" pitchFamily="2" charset="-122"/>
              </a:rPr>
              <a:t>④</a:t>
            </a:r>
            <a:r>
              <a:rPr lang="zh-CN" altLang="en-US" sz="2400" dirty="0" smtClean="0">
                <a:ea typeface="华文楷体" panose="02010600040101010101" pitchFamily="2" charset="-122"/>
              </a:rPr>
              <a:t>所有非终端结点包含 </a:t>
            </a:r>
            <a:r>
              <a:rPr lang="zh-CN" altLang="en-US" sz="2400" b="1" dirty="0" smtClean="0">
                <a:solidFill>
                  <a:schemeClr val="accent2"/>
                </a:solidFill>
                <a:ea typeface="华文楷体" panose="02010600040101010101" pitchFamily="2" charset="-122"/>
              </a:rPr>
              <a:t>（</a:t>
            </a:r>
            <a:r>
              <a:rPr lang="en-US" altLang="zh-CN" sz="2400" b="1" dirty="0" smtClean="0">
                <a:solidFill>
                  <a:schemeClr val="accent2"/>
                </a:solidFill>
                <a:ea typeface="华文楷体" panose="02010600040101010101" pitchFamily="2" charset="-122"/>
              </a:rPr>
              <a:t>n,A</a:t>
            </a:r>
            <a:r>
              <a:rPr lang="en-US" altLang="zh-CN" sz="2400" b="1" baseline="-25000" dirty="0" smtClean="0">
                <a:solidFill>
                  <a:schemeClr val="accent2"/>
                </a:solidFill>
                <a:ea typeface="华文楷体" panose="02010600040101010101" pitchFamily="2" charset="-122"/>
              </a:rPr>
              <a:t>0</a:t>
            </a:r>
            <a:r>
              <a:rPr lang="en-US" altLang="zh-CN" sz="2400" b="1" dirty="0" smtClean="0">
                <a:solidFill>
                  <a:schemeClr val="accent2"/>
                </a:solidFill>
                <a:ea typeface="华文楷体" panose="02010600040101010101" pitchFamily="2" charset="-122"/>
              </a:rPr>
              <a:t>,K</a:t>
            </a:r>
            <a:r>
              <a:rPr lang="en-US" altLang="zh-CN" sz="2400" b="1" baseline="-25000" dirty="0" smtClean="0">
                <a:solidFill>
                  <a:schemeClr val="accent2"/>
                </a:solidFill>
                <a:ea typeface="华文楷体" panose="02010600040101010101" pitchFamily="2" charset="-122"/>
              </a:rPr>
              <a:t>1</a:t>
            </a:r>
            <a:r>
              <a:rPr lang="en-US" altLang="zh-CN" sz="2400" b="1" dirty="0" smtClean="0">
                <a:solidFill>
                  <a:schemeClr val="accent2"/>
                </a:solidFill>
                <a:ea typeface="华文楷体" panose="02010600040101010101" pitchFamily="2" charset="-122"/>
              </a:rPr>
              <a:t>,A</a:t>
            </a:r>
            <a:r>
              <a:rPr lang="en-US" altLang="zh-CN" sz="2400" b="1" baseline="-25000" dirty="0" smtClean="0">
                <a:solidFill>
                  <a:schemeClr val="accent2"/>
                </a:solidFill>
                <a:ea typeface="华文楷体" panose="02010600040101010101" pitchFamily="2" charset="-122"/>
              </a:rPr>
              <a:t>1</a:t>
            </a:r>
            <a:r>
              <a:rPr lang="en-US" altLang="zh-CN" sz="2400" b="1" dirty="0" smtClean="0">
                <a:solidFill>
                  <a:schemeClr val="accent2"/>
                </a:solidFill>
                <a:ea typeface="华文楷体" panose="02010600040101010101" pitchFamily="2" charset="-122"/>
              </a:rPr>
              <a:t>,K</a:t>
            </a:r>
            <a:r>
              <a:rPr lang="en-US" altLang="zh-CN" sz="2400" b="1" baseline="-25000" dirty="0" smtClean="0">
                <a:solidFill>
                  <a:schemeClr val="accent2"/>
                </a:solidFill>
                <a:ea typeface="华文楷体" panose="02010600040101010101" pitchFamily="2" charset="-122"/>
              </a:rPr>
              <a:t>2</a:t>
            </a:r>
            <a:r>
              <a:rPr lang="en-US" altLang="zh-CN" sz="2400" b="1" dirty="0" smtClean="0">
                <a:solidFill>
                  <a:schemeClr val="accent2"/>
                </a:solidFill>
                <a:ea typeface="华文楷体" panose="02010600040101010101" pitchFamily="2" charset="-122"/>
              </a:rPr>
              <a:t>,…,</a:t>
            </a:r>
            <a:r>
              <a:rPr lang="en-US" altLang="zh-CN" sz="2400" b="1" dirty="0" err="1" smtClean="0">
                <a:solidFill>
                  <a:schemeClr val="accent2"/>
                </a:solidFill>
                <a:ea typeface="华文楷体" panose="02010600040101010101" pitchFamily="2" charset="-122"/>
              </a:rPr>
              <a:t>K</a:t>
            </a:r>
            <a:r>
              <a:rPr lang="en-US" altLang="zh-CN" sz="2400" b="1" baseline="-25000" dirty="0" err="1" smtClean="0">
                <a:solidFill>
                  <a:schemeClr val="accent2"/>
                </a:solidFill>
                <a:ea typeface="华文楷体" panose="02010600040101010101" pitchFamily="2" charset="-122"/>
              </a:rPr>
              <a:t>n</a:t>
            </a:r>
            <a:r>
              <a:rPr lang="en-US" altLang="zh-CN" sz="2400" b="1" dirty="0" err="1" smtClean="0">
                <a:solidFill>
                  <a:schemeClr val="accent2"/>
                </a:solidFill>
                <a:ea typeface="华文楷体" panose="02010600040101010101" pitchFamily="2" charset="-122"/>
              </a:rPr>
              <a:t>,A</a:t>
            </a:r>
            <a:r>
              <a:rPr lang="en-US" altLang="zh-CN" sz="2400" b="1" baseline="-25000" dirty="0" err="1" smtClean="0">
                <a:solidFill>
                  <a:schemeClr val="accent2"/>
                </a:solidFill>
                <a:ea typeface="华文楷体" panose="02010600040101010101" pitchFamily="2" charset="-122"/>
              </a:rPr>
              <a:t>n</a:t>
            </a:r>
            <a:r>
              <a:rPr lang="zh-CN" altLang="en-US" sz="2400" b="1" dirty="0" smtClean="0">
                <a:solidFill>
                  <a:schemeClr val="accent2"/>
                </a:solidFill>
                <a:ea typeface="华文楷体" panose="02010600040101010101" pitchFamily="2" charset="-122"/>
              </a:rPr>
              <a:t>）</a:t>
            </a:r>
            <a:r>
              <a:rPr lang="zh-CN" altLang="en-US" sz="2400" dirty="0" smtClean="0">
                <a:ea typeface="华文楷体" panose="02010600040101010101" pitchFamily="2" charset="-122"/>
              </a:rPr>
              <a:t>信息数据；其中</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为结点中关键字个数（</a:t>
            </a:r>
            <a:r>
              <a:rPr lang="en-US" altLang="zh-CN" sz="2400" b="1" dirty="0" smtClean="0">
                <a:solidFill>
                  <a:schemeClr val="accent2"/>
                </a:solidFill>
                <a:ea typeface="华文楷体" panose="02010600040101010101" pitchFamily="2" charset="-122"/>
              </a:rPr>
              <a:t>n&lt;=m-1</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A</a:t>
            </a:r>
            <a:r>
              <a:rPr lang="en-US" altLang="zh-CN" sz="2400" baseline="-25000" dirty="0" smtClean="0">
                <a:ea typeface="华文楷体" panose="02010600040101010101" pitchFamily="2" charset="-122"/>
              </a:rPr>
              <a:t>i</a:t>
            </a:r>
            <a:r>
              <a:rPr lang="zh-CN" altLang="en-US" sz="2400" dirty="0" smtClean="0">
                <a:ea typeface="华文楷体" panose="02010600040101010101" pitchFamily="2" charset="-122"/>
              </a:rPr>
              <a:t>为指向子树的指针，</a:t>
            </a:r>
            <a:r>
              <a:rPr lang="en-US" altLang="zh-CN" sz="2400" dirty="0" smtClean="0">
                <a:ea typeface="华文楷体" panose="02010600040101010101" pitchFamily="2" charset="-122"/>
              </a:rPr>
              <a:t>K</a:t>
            </a:r>
            <a:r>
              <a:rPr lang="en-US" altLang="zh-CN" sz="2400" baseline="-25000" dirty="0" smtClean="0">
                <a:ea typeface="华文楷体" panose="02010600040101010101" pitchFamily="2" charset="-122"/>
              </a:rPr>
              <a:t>i</a:t>
            </a:r>
            <a:r>
              <a:rPr lang="zh-CN" altLang="en-US" sz="2400" dirty="0" smtClean="0">
                <a:ea typeface="华文楷体" panose="02010600040101010101" pitchFamily="2" charset="-122"/>
              </a:rPr>
              <a:t>为关键字。</a:t>
            </a:r>
            <a:endParaRPr lang="zh-CN" altLang="en-US" dirty="0" smtClean="0">
              <a:solidFill>
                <a:srgbClr val="A50021"/>
              </a:solidFill>
              <a:ea typeface="华文楷体" panose="02010600040101010101" pitchFamily="2" charset="-122"/>
            </a:endParaRPr>
          </a:p>
          <a:p>
            <a:pPr eaLnBrk="1" hangingPunct="1">
              <a:lnSpc>
                <a:spcPct val="80000"/>
              </a:lnSpc>
              <a:spcBef>
                <a:spcPct val="50000"/>
              </a:spcBef>
              <a:buFont typeface="Wingdings" panose="05000000000000000000" pitchFamily="2" charset="2"/>
              <a:buNone/>
            </a:pPr>
            <a:r>
              <a:rPr lang="zh-CN" altLang="en-US" sz="2400" dirty="0" smtClean="0">
                <a:ea typeface="华文楷体" panose="02010600040101010101" pitchFamily="2" charset="-122"/>
              </a:rPr>
              <a:t>     </a:t>
            </a:r>
            <a:r>
              <a:rPr lang="en-US" altLang="zh-CN" sz="2400" dirty="0">
                <a:ea typeface="华文楷体" panose="02010600040101010101" pitchFamily="2" charset="-122"/>
              </a:rPr>
              <a:t>⑤</a:t>
            </a:r>
            <a:r>
              <a:rPr lang="zh-CN" altLang="en-US" sz="2400" dirty="0" smtClean="0">
                <a:ea typeface="华文楷体" panose="02010600040101010101" pitchFamily="2" charset="-122"/>
              </a:rPr>
              <a:t>所有叶子结点都在同一层上，且不带信息。</a:t>
            </a:r>
            <a:endParaRPr lang="zh-CN" altLang="en-US" sz="2400" dirty="0" smtClean="0">
              <a:ea typeface="华文楷体" panose="02010600040101010101" pitchFamily="2" charset="-122"/>
            </a:endParaRPr>
          </a:p>
        </p:txBody>
      </p:sp>
      <p:sp>
        <p:nvSpPr>
          <p:cNvPr id="2" name="文本框 1"/>
          <p:cNvSpPr txBox="1"/>
          <p:nvPr/>
        </p:nvSpPr>
        <p:spPr>
          <a:xfrm>
            <a:off x="945049" y="6159797"/>
            <a:ext cx="6699270" cy="461665"/>
          </a:xfrm>
          <a:prstGeom prst="rect">
            <a:avLst/>
          </a:prstGeom>
          <a:noFill/>
          <a:ln>
            <a:solidFill>
              <a:srgbClr val="FF0000"/>
            </a:solidFill>
          </a:ln>
        </p:spPr>
        <p:txBody>
          <a:bodyPr wrap="none" rtlCol="0">
            <a:spAutoFit/>
          </a:bodyPr>
          <a:lstStyle/>
          <a:p>
            <a:r>
              <a:rPr lang="en-US" altLang="zh-CN" sz="2400" dirty="0">
                <a:latin typeface="Times New Roman" panose="02020603050405020304" pitchFamily="18" charset="0"/>
                <a:ea typeface="华文楷体" panose="02010600040101010101" pitchFamily="2" charset="-122"/>
              </a:rPr>
              <a:t>4</a:t>
            </a:r>
            <a:r>
              <a:rPr lang="zh-CN" altLang="en-US" sz="2400" dirty="0">
                <a:latin typeface="Times New Roman" panose="02020603050405020304" pitchFamily="18" charset="0"/>
                <a:ea typeface="华文楷体" panose="02010600040101010101" pitchFamily="2" charset="-122"/>
              </a:rPr>
              <a:t>阶</a:t>
            </a:r>
            <a:r>
              <a:rPr lang="en-US" altLang="zh-CN" sz="2400" dirty="0">
                <a:latin typeface="Times New Roman" panose="02020603050405020304" pitchFamily="18" charset="0"/>
                <a:ea typeface="华文楷体" panose="02010600040101010101" pitchFamily="2" charset="-122"/>
              </a:rPr>
              <a:t>B</a:t>
            </a:r>
            <a:r>
              <a:rPr lang="zh-CN" altLang="en-US" sz="2400" dirty="0">
                <a:latin typeface="Times New Roman" panose="02020603050405020304" pitchFamily="18" charset="0"/>
                <a:ea typeface="华文楷体" panose="02010600040101010101" pitchFamily="2" charset="-122"/>
              </a:rPr>
              <a:t>树常被称为</a:t>
            </a:r>
            <a:r>
              <a:rPr lang="en-US" altLang="zh-CN" sz="2400" dirty="0" smtClean="0">
                <a:latin typeface="Times New Roman" panose="02020603050405020304" pitchFamily="18" charset="0"/>
                <a:ea typeface="华文楷体" panose="02010600040101010101" pitchFamily="2" charset="-122"/>
              </a:rPr>
              <a:t>2-3-4</a:t>
            </a:r>
            <a:r>
              <a:rPr lang="zh-CN" altLang="en-US" sz="2400" dirty="0" smtClean="0">
                <a:latin typeface="Times New Roman" panose="02020603050405020304" pitchFamily="18" charset="0"/>
                <a:ea typeface="华文楷体" panose="02010600040101010101" pitchFamily="2" charset="-122"/>
              </a:rPr>
              <a:t>树</a:t>
            </a:r>
            <a:r>
              <a:rPr lang="zh-CN" altLang="en-US" sz="2400" dirty="0">
                <a:latin typeface="Times New Roman" panose="02020603050405020304" pitchFamily="18" charset="0"/>
                <a:ea typeface="华文楷体" panose="02010600040101010101" pitchFamily="2" charset="-122"/>
              </a:rPr>
              <a:t>，</a:t>
            </a:r>
            <a:r>
              <a:rPr lang="en-US" altLang="zh-CN" sz="2400" dirty="0">
                <a:latin typeface="Times New Roman" panose="02020603050405020304" pitchFamily="18" charset="0"/>
                <a:ea typeface="华文楷体" panose="02010600040101010101" pitchFamily="2" charset="-122"/>
              </a:rPr>
              <a:t>3</a:t>
            </a:r>
            <a:r>
              <a:rPr lang="zh-CN" altLang="en-US" sz="2400" dirty="0">
                <a:latin typeface="Times New Roman" panose="02020603050405020304" pitchFamily="18" charset="0"/>
                <a:ea typeface="华文楷体" panose="02010600040101010101" pitchFamily="2" charset="-122"/>
              </a:rPr>
              <a:t>阶</a:t>
            </a:r>
            <a:r>
              <a:rPr lang="en-US" altLang="zh-CN" sz="2400" dirty="0">
                <a:latin typeface="Times New Roman" panose="02020603050405020304" pitchFamily="18" charset="0"/>
                <a:ea typeface="华文楷体" panose="02010600040101010101" pitchFamily="2" charset="-122"/>
              </a:rPr>
              <a:t>B</a:t>
            </a:r>
            <a:r>
              <a:rPr lang="zh-CN" altLang="en-US" sz="2400" dirty="0">
                <a:latin typeface="Times New Roman" panose="02020603050405020304" pitchFamily="18" charset="0"/>
                <a:ea typeface="华文楷体" panose="02010600040101010101" pitchFamily="2" charset="-122"/>
              </a:rPr>
              <a:t>树常被称为</a:t>
            </a:r>
            <a:r>
              <a:rPr lang="en-US" altLang="zh-CN" sz="2400" dirty="0">
                <a:latin typeface="Times New Roman" panose="02020603050405020304" pitchFamily="18" charset="0"/>
                <a:ea typeface="华文楷体" panose="02010600040101010101" pitchFamily="2" charset="-122"/>
              </a:rPr>
              <a:t>2-3</a:t>
            </a:r>
            <a:r>
              <a:rPr lang="zh-CN" altLang="en-US" sz="2400" dirty="0">
                <a:latin typeface="Times New Roman" panose="02020603050405020304" pitchFamily="18" charset="0"/>
                <a:ea typeface="华文楷体" panose="02010600040101010101" pitchFamily="2" charset="-122"/>
              </a:rPr>
              <a:t>树</a:t>
            </a:r>
            <a:endParaRPr lang="zh-CN" altLang="en-US" sz="24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5018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0181"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800000"/>
                </a:solidFill>
                <a:ea typeface="华文楷体" panose="02010600040101010101" pitchFamily="2" charset="-122"/>
              </a:rPr>
              <a:t>2. B-</a:t>
            </a:r>
            <a:r>
              <a:rPr lang="zh-CN" altLang="en-US" sz="2400" b="1" dirty="0" smtClean="0">
                <a:solidFill>
                  <a:srgbClr val="800000"/>
                </a:solidFill>
                <a:ea typeface="华文楷体" panose="02010600040101010101" pitchFamily="2" charset="-122"/>
              </a:rPr>
              <a:t>树结点结构</a:t>
            </a:r>
            <a:endParaRPr lang="zh-CN" altLang="en-US" sz="2400" b="1" dirty="0" smtClean="0">
              <a:solidFill>
                <a:srgbClr val="800000"/>
              </a:solidFill>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a:t>
            </a:r>
            <a:r>
              <a:rPr lang="en-US" altLang="zh-CN" sz="2400" dirty="0" smtClean="0">
                <a:solidFill>
                  <a:srgbClr val="FF3300"/>
                </a:solidFill>
                <a:ea typeface="华文楷体" panose="02010600040101010101" pitchFamily="2" charset="-122"/>
              </a:rPr>
              <a:t>n</a:t>
            </a:r>
            <a:r>
              <a:rPr lang="en-US" altLang="zh-CN" sz="2400" dirty="0" smtClean="0">
                <a:ea typeface="华文楷体" panose="02010600040101010101" pitchFamily="2" charset="-122"/>
              </a:rPr>
              <a:t>, </a:t>
            </a:r>
            <a:r>
              <a:rPr lang="en-US" altLang="zh-CN" sz="2400" dirty="0" smtClean="0">
                <a:solidFill>
                  <a:schemeClr val="accent2"/>
                </a:solidFill>
                <a:ea typeface="华文楷体" panose="02010600040101010101" pitchFamily="2" charset="-122"/>
              </a:rPr>
              <a:t>A</a:t>
            </a:r>
            <a:r>
              <a:rPr lang="en-US" altLang="zh-CN" sz="2400" baseline="-25000" dirty="0" smtClean="0">
                <a:solidFill>
                  <a:schemeClr val="accent2"/>
                </a:solidFill>
                <a:ea typeface="华文楷体" panose="02010600040101010101" pitchFamily="2" charset="-122"/>
              </a:rPr>
              <a:t>0</a:t>
            </a:r>
            <a:r>
              <a:rPr lang="en-US" altLang="zh-CN" sz="2400" dirty="0" smtClean="0">
                <a:ea typeface="华文楷体" panose="02010600040101010101" pitchFamily="2" charset="-122"/>
              </a:rPr>
              <a:t>, K</a:t>
            </a:r>
            <a:r>
              <a:rPr lang="en-US" altLang="zh-CN" sz="2400" baseline="-25000" dirty="0" smtClean="0">
                <a:ea typeface="华文楷体" panose="02010600040101010101" pitchFamily="2" charset="-122"/>
              </a:rPr>
              <a:t>1</a:t>
            </a:r>
            <a:r>
              <a:rPr lang="en-US" altLang="zh-CN" sz="2400" dirty="0" smtClean="0">
                <a:ea typeface="华文楷体" panose="02010600040101010101" pitchFamily="2" charset="-122"/>
              </a:rPr>
              <a:t>, </a:t>
            </a:r>
            <a:r>
              <a:rPr lang="en-US" altLang="zh-CN" sz="2400" dirty="0" smtClean="0">
                <a:solidFill>
                  <a:schemeClr val="accent2"/>
                </a:solidFill>
                <a:ea typeface="华文楷体" panose="02010600040101010101" pitchFamily="2" charset="-122"/>
              </a:rPr>
              <a:t>A</a:t>
            </a:r>
            <a:r>
              <a:rPr lang="en-US" altLang="zh-CN" sz="2400" baseline="-25000" dirty="0" smtClean="0">
                <a:solidFill>
                  <a:schemeClr val="accent2"/>
                </a:solidFill>
                <a:ea typeface="华文楷体" panose="02010600040101010101" pitchFamily="2" charset="-122"/>
              </a:rPr>
              <a:t>1</a:t>
            </a:r>
            <a:r>
              <a:rPr lang="en-US" altLang="zh-CN" sz="2400" dirty="0" smtClean="0">
                <a:ea typeface="华文楷体" panose="02010600040101010101" pitchFamily="2" charset="-122"/>
              </a:rPr>
              <a:t>, K</a:t>
            </a:r>
            <a:r>
              <a:rPr lang="en-US" altLang="zh-CN" sz="2400" baseline="-25000" dirty="0" smtClean="0">
                <a:ea typeface="华文楷体" panose="02010600040101010101" pitchFamily="2" charset="-122"/>
              </a:rPr>
              <a:t>2</a:t>
            </a:r>
            <a:r>
              <a:rPr lang="en-US" altLang="zh-CN" sz="2400" dirty="0" smtClean="0">
                <a:ea typeface="华文楷体" panose="02010600040101010101" pitchFamily="2" charset="-122"/>
              </a:rPr>
              <a:t>, </a:t>
            </a:r>
            <a:r>
              <a:rPr lang="en-US" altLang="zh-CN" sz="2400" dirty="0" smtClean="0">
                <a:solidFill>
                  <a:schemeClr val="accent2"/>
                </a:solidFill>
                <a:ea typeface="华文楷体" panose="02010600040101010101" pitchFamily="2" charset="-122"/>
              </a:rPr>
              <a:t>A</a:t>
            </a:r>
            <a:r>
              <a:rPr lang="en-US" altLang="zh-CN" sz="2400" baseline="-25000" dirty="0" smtClean="0">
                <a:solidFill>
                  <a:schemeClr val="accent2"/>
                </a:solidFill>
                <a:ea typeface="华文楷体" panose="02010600040101010101" pitchFamily="2" charset="-122"/>
              </a:rPr>
              <a:t>2</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K</a:t>
            </a:r>
            <a:r>
              <a:rPr lang="en-US" altLang="zh-CN" sz="2400" baseline="-25000" dirty="0" err="1" smtClean="0">
                <a:ea typeface="华文楷体" panose="02010600040101010101" pitchFamily="2" charset="-122"/>
              </a:rPr>
              <a:t>n</a:t>
            </a:r>
            <a:r>
              <a:rPr lang="en-US" altLang="zh-CN" sz="2400" dirty="0" smtClean="0">
                <a:ea typeface="华文楷体" panose="02010600040101010101" pitchFamily="2" charset="-122"/>
              </a:rPr>
              <a:t>, </a:t>
            </a:r>
            <a:r>
              <a:rPr lang="en-US" altLang="zh-CN" sz="2400" dirty="0" smtClean="0">
                <a:solidFill>
                  <a:schemeClr val="accent2"/>
                </a:solidFill>
                <a:ea typeface="华文楷体" panose="02010600040101010101" pitchFamily="2" charset="-122"/>
              </a:rPr>
              <a:t>A</a:t>
            </a:r>
            <a:r>
              <a:rPr lang="en-US" altLang="zh-CN" sz="2400" baseline="-25000" dirty="0" smtClean="0">
                <a:solidFill>
                  <a:schemeClr val="accent2"/>
                </a:solidFill>
                <a:ea typeface="华文楷体" panose="02010600040101010101" pitchFamily="2" charset="-122"/>
              </a:rPr>
              <a:t>n</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lvl="1" eaLnBrk="1" hangingPunct="1"/>
            <a:r>
              <a:rPr lang="en-US" altLang="zh-CN" sz="2000" dirty="0" smtClean="0">
                <a:ea typeface="华文楷体" panose="02010600040101010101" pitchFamily="2" charset="-122"/>
              </a:rPr>
              <a:t>n:  </a:t>
            </a:r>
            <a:r>
              <a:rPr lang="zh-CN" altLang="en-US" sz="2000" dirty="0" smtClean="0">
                <a:ea typeface="华文楷体" panose="02010600040101010101" pitchFamily="2" charset="-122"/>
              </a:rPr>
              <a:t>关键字的个数</a:t>
            </a:r>
            <a:endParaRPr lang="zh-CN" altLang="en-US" sz="2000" dirty="0" smtClean="0">
              <a:ea typeface="华文楷体" panose="02010600040101010101" pitchFamily="2" charset="-122"/>
            </a:endParaRPr>
          </a:p>
          <a:p>
            <a:pPr lvl="1" eaLnBrk="1" hangingPunct="1"/>
            <a:r>
              <a:rPr lang="en-US" altLang="zh-CN" sz="2000" dirty="0" smtClean="0">
                <a:ea typeface="华文楷体" panose="02010600040101010101" pitchFamily="2" charset="-122"/>
              </a:rPr>
              <a:t>A</a:t>
            </a:r>
            <a:r>
              <a:rPr lang="en-US" altLang="zh-CN" sz="2000" baseline="-25000" dirty="0" smtClean="0">
                <a:ea typeface="华文楷体" panose="02010600040101010101" pitchFamily="2" charset="-122"/>
              </a:rPr>
              <a:t>0</a:t>
            </a:r>
            <a:r>
              <a:rPr lang="zh-CN" altLang="en-US" sz="2000" dirty="0" smtClean="0">
                <a:ea typeface="华文楷体" panose="02010600040101010101" pitchFamily="2" charset="-122"/>
              </a:rPr>
              <a:t>：</a:t>
            </a:r>
            <a:r>
              <a:rPr lang="en-US" altLang="zh-CN" sz="2000" dirty="0" smtClean="0">
                <a:ea typeface="华文楷体" panose="02010600040101010101" pitchFamily="2" charset="-122"/>
              </a:rPr>
              <a:t>&lt;K</a:t>
            </a:r>
            <a:r>
              <a:rPr lang="en-US" altLang="zh-CN" sz="2000" baseline="-25000" dirty="0" smtClean="0">
                <a:ea typeface="华文楷体" panose="02010600040101010101" pitchFamily="2" charset="-122"/>
              </a:rPr>
              <a:t>1</a:t>
            </a:r>
            <a:r>
              <a:rPr lang="en-US" altLang="zh-CN" sz="2000" dirty="0" smtClean="0">
                <a:ea typeface="华文楷体" panose="02010600040101010101" pitchFamily="2" charset="-122"/>
              </a:rPr>
              <a:t> </a:t>
            </a:r>
            <a:r>
              <a:rPr lang="zh-CN" altLang="en-US" sz="2000" dirty="0" smtClean="0">
                <a:ea typeface="华文楷体" panose="02010600040101010101" pitchFamily="2" charset="-122"/>
              </a:rPr>
              <a:t>的结点组成的子树地址（指在该 </a:t>
            </a:r>
            <a:r>
              <a:rPr lang="en-US" altLang="zh-CN" sz="2000" dirty="0" smtClean="0">
                <a:ea typeface="华文楷体" panose="02010600040101010101" pitchFamily="2" charset="-122"/>
              </a:rPr>
              <a:t>B</a:t>
            </a:r>
            <a:r>
              <a:rPr lang="zh-CN" altLang="en-US" sz="2000" dirty="0" smtClean="0">
                <a:ea typeface="华文楷体" panose="02010600040101010101" pitchFamily="2" charset="-122"/>
              </a:rPr>
              <a:t>树中）</a:t>
            </a:r>
            <a:endParaRPr lang="zh-CN" altLang="en-US" sz="2000" dirty="0" smtClean="0">
              <a:ea typeface="华文楷体" panose="02010600040101010101" pitchFamily="2" charset="-122"/>
            </a:endParaRPr>
          </a:p>
          <a:p>
            <a:pPr lvl="1" eaLnBrk="1" hangingPunct="1"/>
            <a:r>
              <a:rPr lang="en-US" altLang="zh-CN" sz="2000" dirty="0" smtClean="0">
                <a:ea typeface="华文楷体" panose="02010600040101010101" pitchFamily="2" charset="-122"/>
              </a:rPr>
              <a:t>K</a:t>
            </a:r>
            <a:r>
              <a:rPr lang="en-US" altLang="zh-CN" sz="2000" baseline="-25000" dirty="0" smtClean="0">
                <a:ea typeface="华文楷体" panose="02010600040101010101" pitchFamily="2" charset="-122"/>
              </a:rPr>
              <a:t>1</a:t>
            </a:r>
            <a:r>
              <a:rPr lang="zh-CN" altLang="en-US" sz="2000" dirty="0" smtClean="0">
                <a:ea typeface="华文楷体" panose="02010600040101010101" pitchFamily="2" charset="-122"/>
              </a:rPr>
              <a:t>：关键字</a:t>
            </a:r>
            <a:endParaRPr lang="zh-CN" altLang="en-US" sz="2000" dirty="0" smtClean="0">
              <a:ea typeface="华文楷体" panose="02010600040101010101" pitchFamily="2" charset="-122"/>
            </a:endParaRPr>
          </a:p>
          <a:p>
            <a:pPr lvl="1" eaLnBrk="1" hangingPunct="1"/>
            <a:r>
              <a:rPr lang="en-US" altLang="zh-CN" sz="2000" dirty="0" smtClean="0">
                <a:ea typeface="华文楷体" panose="02010600040101010101" pitchFamily="2" charset="-122"/>
              </a:rPr>
              <a:t>A</a:t>
            </a:r>
            <a:r>
              <a:rPr lang="en-US" altLang="zh-CN" sz="2000" baseline="-25000" dirty="0" smtClean="0">
                <a:ea typeface="华文楷体" panose="02010600040101010101" pitchFamily="2" charset="-122"/>
              </a:rPr>
              <a:t>2</a:t>
            </a:r>
            <a:r>
              <a:rPr lang="zh-CN" altLang="en-US" sz="2000" dirty="0" smtClean="0">
                <a:ea typeface="华文楷体" panose="02010600040101010101" pitchFamily="2" charset="-122"/>
              </a:rPr>
              <a:t>：</a:t>
            </a:r>
            <a:r>
              <a:rPr lang="en-US" altLang="zh-CN" sz="2000" dirty="0" smtClean="0">
                <a:ea typeface="华文楷体" panose="02010600040101010101" pitchFamily="2" charset="-122"/>
              </a:rPr>
              <a:t>&gt; K</a:t>
            </a:r>
            <a:r>
              <a:rPr lang="en-US" altLang="zh-CN" sz="2000" baseline="-25000" dirty="0" smtClean="0">
                <a:ea typeface="华文楷体" panose="02010600040101010101" pitchFamily="2" charset="-122"/>
              </a:rPr>
              <a:t>1</a:t>
            </a:r>
            <a:r>
              <a:rPr lang="en-US" altLang="zh-CN" sz="2000" dirty="0" smtClean="0">
                <a:ea typeface="华文楷体" panose="02010600040101010101" pitchFamily="2" charset="-122"/>
              </a:rPr>
              <a:t> </a:t>
            </a:r>
            <a:r>
              <a:rPr lang="zh-CN" altLang="en-US" sz="2000" dirty="0" smtClean="0">
                <a:ea typeface="华文楷体" panose="02010600040101010101" pitchFamily="2" charset="-122"/>
              </a:rPr>
              <a:t>且 </a:t>
            </a:r>
            <a:r>
              <a:rPr lang="en-US" altLang="zh-CN" sz="2000" dirty="0" smtClean="0">
                <a:ea typeface="华文楷体" panose="02010600040101010101" pitchFamily="2" charset="-122"/>
              </a:rPr>
              <a:t>&lt; K</a:t>
            </a:r>
            <a:r>
              <a:rPr lang="en-US" altLang="zh-CN" sz="2000" baseline="-25000" dirty="0" smtClean="0">
                <a:ea typeface="华文楷体" panose="02010600040101010101" pitchFamily="2" charset="-122"/>
              </a:rPr>
              <a:t>2</a:t>
            </a:r>
            <a:r>
              <a:rPr lang="en-US" altLang="zh-CN" sz="2000" dirty="0" smtClean="0">
                <a:ea typeface="华文楷体" panose="02010600040101010101" pitchFamily="2" charset="-122"/>
              </a:rPr>
              <a:t> </a:t>
            </a:r>
            <a:r>
              <a:rPr lang="zh-CN" altLang="en-US" sz="2000" dirty="0" smtClean="0">
                <a:ea typeface="华文楷体" panose="02010600040101010101" pitchFamily="2" charset="-122"/>
              </a:rPr>
              <a:t>的结点组成的</a:t>
            </a:r>
            <a:r>
              <a:rPr lang="zh-CN" altLang="en-US" sz="2000" dirty="0" smtClean="0">
                <a:ea typeface="华文楷体" panose="02010600040101010101" pitchFamily="2" charset="-122"/>
                <a:sym typeface="+mn-ea"/>
              </a:rPr>
              <a:t>子树</a:t>
            </a:r>
            <a:r>
              <a:rPr lang="zh-CN" altLang="en-US" sz="2000" dirty="0" smtClean="0">
                <a:ea typeface="华文楷体" panose="02010600040101010101" pitchFamily="2" charset="-122"/>
              </a:rPr>
              <a:t>地址（指在该 </a:t>
            </a:r>
            <a:r>
              <a:rPr lang="en-US" altLang="zh-CN" sz="2000" dirty="0" smtClean="0">
                <a:ea typeface="华文楷体" panose="02010600040101010101" pitchFamily="2" charset="-122"/>
              </a:rPr>
              <a:t>B</a:t>
            </a:r>
            <a:r>
              <a:rPr lang="zh-CN" altLang="en-US" sz="2000" dirty="0" smtClean="0">
                <a:ea typeface="华文楷体" panose="02010600040101010101" pitchFamily="2" charset="-122"/>
              </a:rPr>
              <a:t>树中）</a:t>
            </a:r>
            <a:endParaRPr lang="zh-CN" altLang="en-US" sz="2000" dirty="0" smtClean="0">
              <a:ea typeface="华文楷体" panose="02010600040101010101" pitchFamily="2" charset="-122"/>
            </a:endParaRPr>
          </a:p>
          <a:p>
            <a:pPr lvl="1" eaLnBrk="1" hangingPunct="1"/>
            <a:r>
              <a:rPr lang="zh-CN" altLang="en-US" sz="2000" dirty="0" smtClean="0">
                <a:ea typeface="华文楷体" panose="02010600040101010101" pitchFamily="2" charset="-122"/>
              </a:rPr>
              <a:t>其余类推 </a:t>
            </a:r>
            <a:r>
              <a:rPr lang="en-US" altLang="zh-CN" sz="2000" dirty="0" smtClean="0">
                <a:ea typeface="华文楷体" panose="02010600040101010101" pitchFamily="2" charset="-122"/>
              </a:rPr>
              <a:t>………</a:t>
            </a:r>
            <a:endParaRPr lang="en-US" altLang="zh-CN" sz="2000" dirty="0" smtClean="0">
              <a:ea typeface="华文楷体" panose="02010600040101010101" pitchFamily="2" charset="-122"/>
            </a:endParaRPr>
          </a:p>
          <a:p>
            <a:pPr lvl="1" eaLnBrk="1" hangingPunct="1"/>
            <a:r>
              <a:rPr lang="en-US" altLang="zh-CN" sz="2000" dirty="0" smtClean="0">
                <a:ea typeface="华文楷体" panose="02010600040101010101" pitchFamily="2" charset="-122"/>
              </a:rPr>
              <a:t>A</a:t>
            </a:r>
            <a:r>
              <a:rPr lang="en-US" altLang="zh-CN" sz="2000" baseline="-25000" dirty="0" smtClean="0">
                <a:ea typeface="华文楷体" panose="02010600040101010101" pitchFamily="2" charset="-122"/>
              </a:rPr>
              <a:t>n</a:t>
            </a:r>
            <a:r>
              <a:rPr lang="zh-CN" altLang="en-US" sz="2000" dirty="0" smtClean="0">
                <a:ea typeface="华文楷体" panose="02010600040101010101" pitchFamily="2" charset="-122"/>
              </a:rPr>
              <a:t>：</a:t>
            </a:r>
            <a:r>
              <a:rPr lang="en-US" altLang="zh-CN" sz="2000" dirty="0" smtClean="0">
                <a:ea typeface="华文楷体" panose="02010600040101010101" pitchFamily="2" charset="-122"/>
              </a:rPr>
              <a:t>&gt; </a:t>
            </a:r>
            <a:r>
              <a:rPr lang="en-US" altLang="zh-CN" sz="2000" dirty="0" err="1" smtClean="0">
                <a:ea typeface="华文楷体" panose="02010600040101010101" pitchFamily="2" charset="-122"/>
              </a:rPr>
              <a:t>K</a:t>
            </a:r>
            <a:r>
              <a:rPr lang="en-US" altLang="zh-CN" sz="2000" baseline="-25000" dirty="0" err="1" smtClean="0">
                <a:ea typeface="华文楷体" panose="02010600040101010101" pitchFamily="2" charset="-122"/>
              </a:rPr>
              <a:t>n</a:t>
            </a:r>
            <a:r>
              <a:rPr lang="en-US" altLang="zh-CN" sz="2000" dirty="0" smtClean="0">
                <a:ea typeface="华文楷体" panose="02010600040101010101" pitchFamily="2" charset="-122"/>
              </a:rPr>
              <a:t> </a:t>
            </a:r>
            <a:r>
              <a:rPr lang="zh-CN" altLang="en-US" sz="2000" dirty="0" smtClean="0">
                <a:ea typeface="华文楷体" panose="02010600040101010101" pitchFamily="2" charset="-122"/>
              </a:rPr>
              <a:t>的结点组成的</a:t>
            </a:r>
            <a:r>
              <a:rPr lang="zh-CN" altLang="en-US" sz="2000" dirty="0" smtClean="0">
                <a:ea typeface="华文楷体" panose="02010600040101010101" pitchFamily="2" charset="-122"/>
                <a:sym typeface="+mn-ea"/>
              </a:rPr>
              <a:t>子树</a:t>
            </a:r>
            <a:r>
              <a:rPr lang="zh-CN" altLang="en-US" sz="2000" dirty="0" smtClean="0">
                <a:ea typeface="华文楷体" panose="02010600040101010101" pitchFamily="2" charset="-122"/>
              </a:rPr>
              <a:t>地址（指在该 </a:t>
            </a:r>
            <a:r>
              <a:rPr lang="en-US" altLang="zh-CN" sz="2000" dirty="0" smtClean="0">
                <a:ea typeface="华文楷体" panose="02010600040101010101" pitchFamily="2" charset="-122"/>
              </a:rPr>
              <a:t>B</a:t>
            </a:r>
            <a:r>
              <a:rPr lang="zh-CN" altLang="en-US" sz="2000" dirty="0" smtClean="0">
                <a:ea typeface="华文楷体" panose="02010600040101010101" pitchFamily="2" charset="-122"/>
              </a:rPr>
              <a:t>树中）</a:t>
            </a:r>
            <a:endParaRPr lang="zh-CN" altLang="en-US" sz="2000" dirty="0" smtClean="0">
              <a:ea typeface="华文楷体" panose="02010600040101010101" pitchFamily="2" charset="-122"/>
            </a:endParaRPr>
          </a:p>
          <a:p>
            <a:pPr lvl="1" eaLnBrk="1" hangingPunct="1"/>
            <a:r>
              <a:rPr lang="en-US" altLang="zh-CN" sz="2000" b="1" dirty="0" smtClean="0">
                <a:solidFill>
                  <a:srgbClr val="FF0000"/>
                </a:solidFill>
                <a:ea typeface="华文楷体" panose="02010600040101010101" pitchFamily="2" charset="-122"/>
              </a:rPr>
              <a:t>K</a:t>
            </a:r>
            <a:r>
              <a:rPr lang="en-US" altLang="zh-CN" sz="2000" b="1" baseline="-25000" dirty="0" smtClean="0">
                <a:solidFill>
                  <a:srgbClr val="FF0000"/>
                </a:solidFill>
                <a:ea typeface="华文楷体" panose="02010600040101010101" pitchFamily="2" charset="-122"/>
              </a:rPr>
              <a:t>1</a:t>
            </a:r>
            <a:r>
              <a:rPr lang="en-US" altLang="zh-CN" sz="2000" b="1" dirty="0" smtClean="0">
                <a:solidFill>
                  <a:srgbClr val="FF0000"/>
                </a:solidFill>
                <a:ea typeface="华文楷体" panose="02010600040101010101" pitchFamily="2" charset="-122"/>
              </a:rPr>
              <a:t> &lt;K</a:t>
            </a:r>
            <a:r>
              <a:rPr lang="en-US" altLang="zh-CN" sz="2000" b="1" baseline="-25000" dirty="0" smtClean="0">
                <a:solidFill>
                  <a:srgbClr val="FF0000"/>
                </a:solidFill>
                <a:ea typeface="华文楷体" panose="02010600040101010101" pitchFamily="2" charset="-122"/>
              </a:rPr>
              <a:t>2</a:t>
            </a:r>
            <a:r>
              <a:rPr lang="en-US" altLang="zh-CN" sz="2000" b="1" dirty="0" smtClean="0">
                <a:solidFill>
                  <a:srgbClr val="FF0000"/>
                </a:solidFill>
                <a:ea typeface="华文楷体" panose="02010600040101010101" pitchFamily="2" charset="-122"/>
              </a:rPr>
              <a:t> &lt;…... &lt; </a:t>
            </a:r>
            <a:r>
              <a:rPr lang="en-US" altLang="zh-CN" sz="2000" b="1" dirty="0" err="1" smtClean="0">
                <a:solidFill>
                  <a:srgbClr val="FF0000"/>
                </a:solidFill>
                <a:ea typeface="华文楷体" panose="02010600040101010101" pitchFamily="2" charset="-122"/>
              </a:rPr>
              <a:t>K</a:t>
            </a:r>
            <a:r>
              <a:rPr lang="en-US" altLang="zh-CN" sz="2000" b="1" baseline="-25000" dirty="0" err="1" smtClean="0">
                <a:solidFill>
                  <a:srgbClr val="FF0000"/>
                </a:solidFill>
                <a:ea typeface="华文楷体" panose="02010600040101010101" pitchFamily="2" charset="-122"/>
              </a:rPr>
              <a:t>n</a:t>
            </a:r>
            <a:endParaRPr lang="en-US" altLang="zh-CN" sz="2000" b="1" baseline="-25000" dirty="0" err="1" smtClean="0">
              <a:solidFill>
                <a:srgbClr val="FF0000"/>
              </a:solidFill>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页脚占位符 3"/>
          <p:cNvSpPr>
            <a:spLocks noGrp="1"/>
          </p:cNvSpPr>
          <p:nvPr>
            <p:ph type="ftr" sz="quarter" idx="10"/>
          </p:nvPr>
        </p:nvSpPr>
        <p:spPr/>
        <p:txBody>
          <a:bodyPr/>
          <a:lstStyle/>
          <a:p>
            <a:pPr>
              <a:defRPr/>
            </a:pPr>
            <a:r>
              <a:rPr lang="en-US" altLang="zh-CN"/>
              <a:t>BUPT SCST</a:t>
            </a:r>
            <a:endParaRPr lang="en-US" altLang="zh-CN"/>
          </a:p>
        </p:txBody>
      </p:sp>
      <p:sp>
        <p:nvSpPr>
          <p:cNvPr id="79" name="日期占位符 5"/>
          <p:cNvSpPr>
            <a:spLocks noGrp="1"/>
          </p:cNvSpPr>
          <p:nvPr>
            <p:ph type="dt" sz="quarter" idx="12"/>
          </p:nvPr>
        </p:nvSpPr>
        <p:spPr/>
        <p:txBody>
          <a:bodyPr/>
          <a:lstStyle/>
          <a:p>
            <a:pPr>
              <a:defRPr/>
            </a:pPr>
            <a:r>
              <a:rPr lang="en-US" altLang="zh-CN"/>
              <a:t>BUPT</a:t>
            </a:r>
            <a:endParaRPr lang="en-US" altLang="zh-CN"/>
          </a:p>
        </p:txBody>
      </p:sp>
      <p:sp>
        <p:nvSpPr>
          <p:cNvPr id="4915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49158" name="Rectangle 4"/>
          <p:cNvSpPr>
            <a:spLocks noChangeArrowheads="1"/>
          </p:cNvSpPr>
          <p:nvPr/>
        </p:nvSpPr>
        <p:spPr bwMode="auto">
          <a:xfrm>
            <a:off x="76200" y="5623520"/>
            <a:ext cx="7391400" cy="685800"/>
          </a:xfrm>
          <a:prstGeom prst="rect">
            <a:avLst/>
          </a:prstGeom>
          <a:solidFill>
            <a:srgbClr val="FFFFFF"/>
          </a:solidFill>
          <a:ln w="19050">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9159" name="Text Box 5"/>
          <p:cNvSpPr txBox="1">
            <a:spLocks noChangeArrowheads="1"/>
          </p:cNvSpPr>
          <p:nvPr/>
        </p:nvSpPr>
        <p:spPr bwMode="auto">
          <a:xfrm>
            <a:off x="6019800" y="5242520"/>
            <a:ext cx="10668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solidFill>
                  <a:srgbClr val="C00000"/>
                </a:solidFill>
                <a:latin typeface="Times New Roman" panose="02020603050405020304" pitchFamily="18" charset="0"/>
                <a:ea typeface="华文楷体" panose="02010600040101010101" pitchFamily="2" charset="-122"/>
              </a:rPr>
              <a:t>1</a:t>
            </a:r>
            <a:r>
              <a:rPr kumimoji="1" lang="zh-CN" altLang="en-US" sz="1400" b="1" dirty="0">
                <a:latin typeface="Times New Roman" panose="02020603050405020304" pitchFamily="18" charset="0"/>
                <a:ea typeface="华文楷体" panose="02010600040101010101" pitchFamily="2" charset="-122"/>
              </a:rPr>
              <a:t>，</a:t>
            </a:r>
            <a:r>
              <a:rPr kumimoji="1" lang="en-US" altLang="zh-CN" sz="1400" b="1" dirty="0">
                <a:latin typeface="Times New Roman" panose="02020603050405020304" pitchFamily="18" charset="0"/>
                <a:ea typeface="华文楷体" panose="02010600040101010101" pitchFamily="2" charset="-122"/>
              </a:rPr>
              <a:t>99</a:t>
            </a:r>
            <a:endParaRPr kumimoji="1" lang="en-US" altLang="zh-CN" sz="1400" b="1" dirty="0">
              <a:latin typeface="Times New Roman" panose="02020603050405020304" pitchFamily="18" charset="0"/>
              <a:ea typeface="华文楷体" panose="02010600040101010101" pitchFamily="2" charset="-122"/>
            </a:endParaRPr>
          </a:p>
        </p:txBody>
      </p:sp>
      <p:sp>
        <p:nvSpPr>
          <p:cNvPr id="49160" name="Text Box 6"/>
          <p:cNvSpPr txBox="1">
            <a:spLocks noChangeArrowheads="1"/>
          </p:cNvSpPr>
          <p:nvPr/>
        </p:nvSpPr>
        <p:spPr bwMode="auto">
          <a:xfrm>
            <a:off x="4419600" y="5242520"/>
            <a:ext cx="14478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solidFill>
                  <a:srgbClr val="C00000"/>
                </a:solidFill>
                <a:latin typeface="Times New Roman" panose="02020603050405020304" pitchFamily="18" charset="0"/>
                <a:ea typeface="华文楷体" panose="02010600040101010101" pitchFamily="2" charset="-122"/>
              </a:rPr>
              <a:t>3</a:t>
            </a:r>
            <a:r>
              <a:rPr kumimoji="1" lang="zh-CN" altLang="en-US" sz="1400" b="1" dirty="0">
                <a:latin typeface="Times New Roman" panose="02020603050405020304" pitchFamily="18" charset="0"/>
                <a:ea typeface="华文楷体" panose="02010600040101010101" pitchFamily="2" charset="-122"/>
              </a:rPr>
              <a:t>，</a:t>
            </a:r>
            <a:r>
              <a:rPr kumimoji="1" lang="en-US" altLang="zh-CN" sz="1400" b="1" dirty="0">
                <a:latin typeface="Times New Roman" panose="02020603050405020304" pitchFamily="18" charset="0"/>
                <a:ea typeface="华文楷体" panose="02010600040101010101" pitchFamily="2" charset="-122"/>
              </a:rPr>
              <a:t>47</a:t>
            </a:r>
            <a:r>
              <a:rPr kumimoji="1" lang="zh-CN" altLang="en-US" sz="1400" b="1" dirty="0">
                <a:latin typeface="Times New Roman" panose="02020603050405020304" pitchFamily="18" charset="0"/>
                <a:ea typeface="华文楷体" panose="02010600040101010101" pitchFamily="2" charset="-122"/>
              </a:rPr>
              <a:t>，</a:t>
            </a:r>
            <a:r>
              <a:rPr kumimoji="1" lang="en-US" altLang="zh-CN" sz="1400" b="1" dirty="0">
                <a:latin typeface="Times New Roman" panose="02020603050405020304" pitchFamily="18" charset="0"/>
                <a:ea typeface="华文楷体" panose="02010600040101010101" pitchFamily="2" charset="-122"/>
              </a:rPr>
              <a:t>58</a:t>
            </a:r>
            <a:r>
              <a:rPr kumimoji="1" lang="zh-CN" altLang="en-US" sz="1400" b="1" dirty="0">
                <a:latin typeface="Times New Roman" panose="02020603050405020304" pitchFamily="18" charset="0"/>
                <a:ea typeface="华文楷体" panose="02010600040101010101" pitchFamily="2" charset="-122"/>
              </a:rPr>
              <a:t>，</a:t>
            </a:r>
            <a:r>
              <a:rPr kumimoji="1" lang="en-US" altLang="zh-CN" sz="1400" b="1" dirty="0">
                <a:latin typeface="Times New Roman" panose="02020603050405020304" pitchFamily="18" charset="0"/>
                <a:ea typeface="华文楷体" panose="02010600040101010101" pitchFamily="2" charset="-122"/>
              </a:rPr>
              <a:t>64</a:t>
            </a:r>
            <a:endParaRPr kumimoji="1" lang="en-US" altLang="zh-CN" sz="1400" b="1" dirty="0">
              <a:latin typeface="Times New Roman" panose="02020603050405020304" pitchFamily="18" charset="0"/>
              <a:ea typeface="华文楷体" panose="02010600040101010101" pitchFamily="2" charset="-122"/>
            </a:endParaRPr>
          </a:p>
        </p:txBody>
      </p:sp>
      <p:sp>
        <p:nvSpPr>
          <p:cNvPr id="49161" name="Text Box 7"/>
          <p:cNvSpPr txBox="1">
            <a:spLocks noChangeArrowheads="1"/>
          </p:cNvSpPr>
          <p:nvPr/>
        </p:nvSpPr>
        <p:spPr bwMode="auto">
          <a:xfrm>
            <a:off x="3200400" y="5242520"/>
            <a:ext cx="10668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solidFill>
                  <a:srgbClr val="C00000"/>
                </a:solidFill>
                <a:latin typeface="Times New Roman" panose="02020603050405020304" pitchFamily="18" charset="0"/>
                <a:ea typeface="华文楷体" panose="02010600040101010101" pitchFamily="2" charset="-122"/>
              </a:rPr>
              <a:t>1</a:t>
            </a:r>
            <a:r>
              <a:rPr kumimoji="1" lang="zh-CN" altLang="en-US" sz="1400" b="1" dirty="0">
                <a:latin typeface="Times New Roman" panose="02020603050405020304" pitchFamily="18" charset="0"/>
                <a:ea typeface="华文楷体" panose="02010600040101010101" pitchFamily="2" charset="-122"/>
              </a:rPr>
              <a:t>，</a:t>
            </a:r>
            <a:r>
              <a:rPr kumimoji="1" lang="en-US" altLang="zh-CN" sz="1400" b="1" dirty="0">
                <a:latin typeface="Times New Roman" panose="02020603050405020304" pitchFamily="18" charset="0"/>
                <a:ea typeface="华文楷体" panose="02010600040101010101" pitchFamily="2" charset="-122"/>
              </a:rPr>
              <a:t>39</a:t>
            </a:r>
            <a:endParaRPr kumimoji="1" lang="en-US" altLang="zh-CN" sz="1400" b="1" dirty="0">
              <a:latin typeface="Times New Roman" panose="02020603050405020304" pitchFamily="18" charset="0"/>
              <a:ea typeface="华文楷体" panose="02010600040101010101" pitchFamily="2" charset="-122"/>
            </a:endParaRPr>
          </a:p>
        </p:txBody>
      </p:sp>
      <p:sp>
        <p:nvSpPr>
          <p:cNvPr id="49162" name="Text Box 8"/>
          <p:cNvSpPr txBox="1">
            <a:spLocks noChangeArrowheads="1"/>
          </p:cNvSpPr>
          <p:nvPr/>
        </p:nvSpPr>
        <p:spPr bwMode="auto">
          <a:xfrm>
            <a:off x="1676400" y="5242520"/>
            <a:ext cx="10668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solidFill>
                  <a:srgbClr val="C00000"/>
                </a:solidFill>
                <a:latin typeface="Times New Roman" panose="02020603050405020304" pitchFamily="18" charset="0"/>
                <a:ea typeface="华文楷体" panose="02010600040101010101" pitchFamily="2" charset="-122"/>
              </a:rPr>
              <a:t>1</a:t>
            </a:r>
            <a:r>
              <a:rPr kumimoji="1" lang="zh-CN" altLang="en-US" sz="1400" b="1" dirty="0">
                <a:latin typeface="Times New Roman" panose="02020603050405020304" pitchFamily="18" charset="0"/>
                <a:ea typeface="华文楷体" panose="02010600040101010101" pitchFamily="2" charset="-122"/>
              </a:rPr>
              <a:t>，</a:t>
            </a:r>
            <a:r>
              <a:rPr kumimoji="1" lang="en-US" altLang="zh-CN" sz="1400" b="1" dirty="0">
                <a:latin typeface="Times New Roman" panose="02020603050405020304" pitchFamily="18" charset="0"/>
                <a:ea typeface="华文楷体" panose="02010600040101010101" pitchFamily="2" charset="-122"/>
              </a:rPr>
              <a:t>27</a:t>
            </a:r>
            <a:endParaRPr kumimoji="1" lang="en-US" altLang="zh-CN" sz="1400" b="1" dirty="0">
              <a:latin typeface="Times New Roman" panose="02020603050405020304" pitchFamily="18" charset="0"/>
              <a:ea typeface="华文楷体" panose="02010600040101010101" pitchFamily="2" charset="-122"/>
            </a:endParaRPr>
          </a:p>
        </p:txBody>
      </p:sp>
      <p:sp>
        <p:nvSpPr>
          <p:cNvPr id="49163" name="Text Box 9"/>
          <p:cNvSpPr txBox="1">
            <a:spLocks noChangeArrowheads="1"/>
          </p:cNvSpPr>
          <p:nvPr/>
        </p:nvSpPr>
        <p:spPr bwMode="auto">
          <a:xfrm>
            <a:off x="381000" y="5242520"/>
            <a:ext cx="10668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solidFill>
                  <a:srgbClr val="C00000"/>
                </a:solidFill>
                <a:latin typeface="Times New Roman" panose="02020603050405020304" pitchFamily="18" charset="0"/>
                <a:ea typeface="华文楷体" panose="02010600040101010101" pitchFamily="2" charset="-122"/>
              </a:rPr>
              <a:t>1</a:t>
            </a:r>
            <a:r>
              <a:rPr kumimoji="1" lang="zh-CN" altLang="en-US" sz="1400" b="1" dirty="0">
                <a:latin typeface="Times New Roman" panose="02020603050405020304" pitchFamily="18" charset="0"/>
                <a:ea typeface="华文楷体" panose="02010600040101010101" pitchFamily="2" charset="-122"/>
              </a:rPr>
              <a:t>，</a:t>
            </a:r>
            <a:r>
              <a:rPr kumimoji="1" lang="en-US" altLang="zh-CN" sz="1400" b="1" dirty="0">
                <a:latin typeface="Times New Roman" panose="02020603050405020304" pitchFamily="18" charset="0"/>
                <a:ea typeface="华文楷体" panose="02010600040101010101" pitchFamily="2" charset="-122"/>
              </a:rPr>
              <a:t>11</a:t>
            </a:r>
            <a:endParaRPr kumimoji="1" lang="en-US" altLang="zh-CN" sz="1400" b="1" dirty="0">
              <a:latin typeface="Times New Roman" panose="02020603050405020304" pitchFamily="18" charset="0"/>
              <a:ea typeface="华文楷体" panose="02010600040101010101" pitchFamily="2" charset="-122"/>
            </a:endParaRPr>
          </a:p>
        </p:txBody>
      </p:sp>
      <p:sp>
        <p:nvSpPr>
          <p:cNvPr id="49164" name="Text Box 10"/>
          <p:cNvSpPr txBox="1">
            <a:spLocks noChangeArrowheads="1"/>
          </p:cNvSpPr>
          <p:nvPr/>
        </p:nvSpPr>
        <p:spPr bwMode="auto">
          <a:xfrm>
            <a:off x="4572000" y="4156670"/>
            <a:ext cx="10668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solidFill>
                  <a:srgbClr val="C00000"/>
                </a:solidFill>
                <a:latin typeface="Times New Roman" panose="02020603050405020304" pitchFamily="18" charset="0"/>
                <a:ea typeface="华文楷体" panose="02010600040101010101" pitchFamily="2" charset="-122"/>
              </a:rPr>
              <a:t>2</a:t>
            </a:r>
            <a:r>
              <a:rPr kumimoji="1" lang="zh-CN" altLang="en-US" sz="1400" b="1" dirty="0">
                <a:latin typeface="Times New Roman" panose="02020603050405020304" pitchFamily="18" charset="0"/>
                <a:ea typeface="华文楷体" panose="02010600040101010101" pitchFamily="2" charset="-122"/>
              </a:rPr>
              <a:t>，</a:t>
            </a:r>
            <a:r>
              <a:rPr kumimoji="1" lang="en-US" altLang="zh-CN" sz="1400" b="1" dirty="0">
                <a:latin typeface="Times New Roman" panose="02020603050405020304" pitchFamily="18" charset="0"/>
                <a:ea typeface="华文楷体" panose="02010600040101010101" pitchFamily="2" charset="-122"/>
              </a:rPr>
              <a:t>43</a:t>
            </a:r>
            <a:r>
              <a:rPr kumimoji="1" lang="zh-CN" altLang="en-US" sz="1400" b="1" dirty="0">
                <a:latin typeface="Times New Roman" panose="02020603050405020304" pitchFamily="18" charset="0"/>
                <a:ea typeface="华文楷体" panose="02010600040101010101" pitchFamily="2" charset="-122"/>
              </a:rPr>
              <a:t>，</a:t>
            </a:r>
            <a:r>
              <a:rPr kumimoji="1" lang="en-US" altLang="zh-CN" sz="1400" b="1" dirty="0">
                <a:latin typeface="Times New Roman" panose="02020603050405020304" pitchFamily="18" charset="0"/>
                <a:ea typeface="华文楷体" panose="02010600040101010101" pitchFamily="2" charset="-122"/>
              </a:rPr>
              <a:t>78</a:t>
            </a:r>
            <a:endParaRPr kumimoji="1" lang="en-US" altLang="zh-CN" sz="1400" b="1" dirty="0">
              <a:latin typeface="Times New Roman" panose="02020603050405020304" pitchFamily="18" charset="0"/>
              <a:ea typeface="华文楷体" panose="02010600040101010101" pitchFamily="2" charset="-122"/>
            </a:endParaRPr>
          </a:p>
        </p:txBody>
      </p:sp>
      <p:sp>
        <p:nvSpPr>
          <p:cNvPr id="49165" name="Text Box 11"/>
          <p:cNvSpPr txBox="1">
            <a:spLocks noChangeArrowheads="1"/>
          </p:cNvSpPr>
          <p:nvPr/>
        </p:nvSpPr>
        <p:spPr bwMode="auto">
          <a:xfrm>
            <a:off x="990600" y="4099520"/>
            <a:ext cx="10668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solidFill>
                  <a:srgbClr val="C00000"/>
                </a:solidFill>
                <a:latin typeface="Times New Roman" panose="02020603050405020304" pitchFamily="18" charset="0"/>
                <a:ea typeface="华文楷体" panose="02010600040101010101" pitchFamily="2" charset="-122"/>
              </a:rPr>
              <a:t>1</a:t>
            </a:r>
            <a:r>
              <a:rPr kumimoji="1" lang="zh-CN" altLang="en-US" sz="1400" b="1" dirty="0">
                <a:latin typeface="Times New Roman" panose="02020603050405020304" pitchFamily="18" charset="0"/>
                <a:ea typeface="华文楷体" panose="02010600040101010101" pitchFamily="2" charset="-122"/>
              </a:rPr>
              <a:t>，</a:t>
            </a:r>
            <a:r>
              <a:rPr kumimoji="1" lang="en-US" altLang="zh-CN" sz="1400" b="1" dirty="0">
                <a:latin typeface="Times New Roman" panose="02020603050405020304" pitchFamily="18" charset="0"/>
                <a:ea typeface="华文楷体" panose="02010600040101010101" pitchFamily="2" charset="-122"/>
              </a:rPr>
              <a:t>18</a:t>
            </a:r>
            <a:endParaRPr kumimoji="1" lang="en-US" altLang="zh-CN" sz="1400" b="1" dirty="0">
              <a:latin typeface="Times New Roman" panose="02020603050405020304" pitchFamily="18" charset="0"/>
              <a:ea typeface="华文楷体" panose="02010600040101010101" pitchFamily="2" charset="-122"/>
            </a:endParaRPr>
          </a:p>
        </p:txBody>
      </p:sp>
      <p:sp>
        <p:nvSpPr>
          <p:cNvPr id="49166" name="Text Box 12"/>
          <p:cNvSpPr txBox="1">
            <a:spLocks noChangeArrowheads="1"/>
          </p:cNvSpPr>
          <p:nvPr/>
        </p:nvSpPr>
        <p:spPr bwMode="auto">
          <a:xfrm>
            <a:off x="2743200" y="3261320"/>
            <a:ext cx="10668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solidFill>
                  <a:srgbClr val="C00000"/>
                </a:solidFill>
                <a:latin typeface="Times New Roman" panose="02020603050405020304" pitchFamily="18" charset="0"/>
                <a:ea typeface="华文楷体" panose="02010600040101010101" pitchFamily="2" charset="-122"/>
              </a:rPr>
              <a:t>1</a:t>
            </a:r>
            <a:r>
              <a:rPr kumimoji="1" lang="zh-CN" altLang="en-US" sz="1400" b="1" dirty="0">
                <a:latin typeface="Times New Roman" panose="02020603050405020304" pitchFamily="18" charset="0"/>
                <a:ea typeface="华文楷体" panose="02010600040101010101" pitchFamily="2" charset="-122"/>
              </a:rPr>
              <a:t>，</a:t>
            </a:r>
            <a:r>
              <a:rPr kumimoji="1" lang="en-US" altLang="zh-CN" sz="1400" b="1" dirty="0">
                <a:latin typeface="Times New Roman" panose="02020603050405020304" pitchFamily="18" charset="0"/>
                <a:ea typeface="华文楷体" panose="02010600040101010101" pitchFamily="2" charset="-122"/>
              </a:rPr>
              <a:t>35</a:t>
            </a:r>
            <a:endParaRPr kumimoji="1" lang="en-US" altLang="zh-CN" sz="1400" b="1" dirty="0">
              <a:latin typeface="Times New Roman" panose="02020603050405020304" pitchFamily="18" charset="0"/>
              <a:ea typeface="华文楷体" panose="02010600040101010101" pitchFamily="2" charset="-122"/>
            </a:endParaRPr>
          </a:p>
        </p:txBody>
      </p:sp>
      <p:sp>
        <p:nvSpPr>
          <p:cNvPr id="49167" name="Line 13"/>
          <p:cNvSpPr>
            <a:spLocks noChangeShapeType="1"/>
          </p:cNvSpPr>
          <p:nvPr/>
        </p:nvSpPr>
        <p:spPr bwMode="auto">
          <a:xfrm flipH="1">
            <a:off x="1905000" y="3489920"/>
            <a:ext cx="1143000" cy="609600"/>
          </a:xfrm>
          <a:prstGeom prst="line">
            <a:avLst/>
          </a:prstGeom>
          <a:noFill/>
          <a:ln w="1905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9168" name="Line 14"/>
          <p:cNvSpPr>
            <a:spLocks noChangeShapeType="1"/>
          </p:cNvSpPr>
          <p:nvPr/>
        </p:nvSpPr>
        <p:spPr bwMode="auto">
          <a:xfrm>
            <a:off x="3429000" y="3413720"/>
            <a:ext cx="1371600" cy="762000"/>
          </a:xfrm>
          <a:prstGeom prst="line">
            <a:avLst/>
          </a:prstGeom>
          <a:noFill/>
          <a:ln w="1905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9169" name="Line 15"/>
          <p:cNvSpPr>
            <a:spLocks noChangeShapeType="1"/>
          </p:cNvSpPr>
          <p:nvPr/>
        </p:nvSpPr>
        <p:spPr bwMode="auto">
          <a:xfrm flipH="1">
            <a:off x="685800" y="4328120"/>
            <a:ext cx="609600" cy="914400"/>
          </a:xfrm>
          <a:prstGeom prst="line">
            <a:avLst/>
          </a:prstGeom>
          <a:noFill/>
          <a:ln w="1905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9170" name="Line 16"/>
          <p:cNvSpPr>
            <a:spLocks noChangeShapeType="1"/>
          </p:cNvSpPr>
          <p:nvPr/>
        </p:nvSpPr>
        <p:spPr bwMode="auto">
          <a:xfrm>
            <a:off x="1676400" y="4328120"/>
            <a:ext cx="685800" cy="914400"/>
          </a:xfrm>
          <a:prstGeom prst="line">
            <a:avLst/>
          </a:prstGeom>
          <a:noFill/>
          <a:ln w="1905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9171" name="Line 17"/>
          <p:cNvSpPr>
            <a:spLocks noChangeShapeType="1"/>
          </p:cNvSpPr>
          <p:nvPr/>
        </p:nvSpPr>
        <p:spPr bwMode="auto">
          <a:xfrm flipH="1">
            <a:off x="4191000" y="4328120"/>
            <a:ext cx="685800" cy="914400"/>
          </a:xfrm>
          <a:prstGeom prst="line">
            <a:avLst/>
          </a:prstGeom>
          <a:noFill/>
          <a:ln w="1905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9172" name="Line 18"/>
          <p:cNvSpPr>
            <a:spLocks noChangeShapeType="1"/>
          </p:cNvSpPr>
          <p:nvPr/>
        </p:nvSpPr>
        <p:spPr bwMode="auto">
          <a:xfrm>
            <a:off x="5257800" y="4328120"/>
            <a:ext cx="0" cy="914400"/>
          </a:xfrm>
          <a:prstGeom prst="line">
            <a:avLst/>
          </a:prstGeom>
          <a:noFill/>
          <a:ln w="1905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9173" name="Line 19"/>
          <p:cNvSpPr>
            <a:spLocks noChangeShapeType="1"/>
          </p:cNvSpPr>
          <p:nvPr/>
        </p:nvSpPr>
        <p:spPr bwMode="auto">
          <a:xfrm>
            <a:off x="5562600" y="4328120"/>
            <a:ext cx="1066800" cy="914400"/>
          </a:xfrm>
          <a:prstGeom prst="line">
            <a:avLst/>
          </a:prstGeom>
          <a:noFill/>
          <a:ln w="1905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nvGrpSpPr>
          <p:cNvPr id="49174" name="Group 20"/>
          <p:cNvGrpSpPr/>
          <p:nvPr/>
        </p:nvGrpSpPr>
        <p:grpSpPr bwMode="auto">
          <a:xfrm>
            <a:off x="4495800" y="5471120"/>
            <a:ext cx="304800" cy="685800"/>
            <a:chOff x="624" y="3552"/>
            <a:chExt cx="192" cy="432"/>
          </a:xfrm>
        </p:grpSpPr>
        <p:sp>
          <p:nvSpPr>
            <p:cNvPr id="49229" name="Rectangle 21"/>
            <p:cNvSpPr>
              <a:spLocks noChangeArrowheads="1"/>
            </p:cNvSpPr>
            <p:nvPr/>
          </p:nvSpPr>
          <p:spPr bwMode="auto">
            <a:xfrm>
              <a:off x="624" y="3744"/>
              <a:ext cx="144" cy="240"/>
            </a:xfrm>
            <a:prstGeom prst="rect">
              <a:avLst/>
            </a:prstGeom>
            <a:solidFill>
              <a:srgbClr val="FFFFFF"/>
            </a:solidFill>
            <a:ln w="2857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9230" name="Text Box 22"/>
            <p:cNvSpPr txBox="1">
              <a:spLocks noChangeArrowheads="1"/>
            </p:cNvSpPr>
            <p:nvPr/>
          </p:nvSpPr>
          <p:spPr bwMode="auto">
            <a:xfrm>
              <a:off x="624" y="3744"/>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solidFill>
                    <a:schemeClr val="folHlink"/>
                  </a:solidFill>
                  <a:latin typeface="Times New Roman" panose="02020603050405020304" pitchFamily="18" charset="0"/>
                  <a:ea typeface="华文楷体" panose="02010600040101010101" pitchFamily="2" charset="-122"/>
                </a:rPr>
                <a:t>F</a:t>
              </a:r>
              <a:endParaRPr kumimoji="1" lang="en-US" altLang="zh-CN" sz="1400" b="1" dirty="0">
                <a:latin typeface="Times New Roman" panose="02020603050405020304" pitchFamily="18" charset="0"/>
                <a:ea typeface="华文楷体" panose="02010600040101010101" pitchFamily="2" charset="-122"/>
              </a:endParaRPr>
            </a:p>
          </p:txBody>
        </p:sp>
        <p:sp>
          <p:nvSpPr>
            <p:cNvPr id="49231" name="Line 23"/>
            <p:cNvSpPr>
              <a:spLocks noChangeShapeType="1"/>
            </p:cNvSpPr>
            <p:nvPr/>
          </p:nvSpPr>
          <p:spPr bwMode="auto">
            <a:xfrm>
              <a:off x="720" y="3552"/>
              <a:ext cx="0" cy="19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grpSp>
        <p:nvGrpSpPr>
          <p:cNvPr id="49175" name="Group 24"/>
          <p:cNvGrpSpPr/>
          <p:nvPr/>
        </p:nvGrpSpPr>
        <p:grpSpPr bwMode="auto">
          <a:xfrm>
            <a:off x="4876800" y="5471120"/>
            <a:ext cx="304800" cy="685800"/>
            <a:chOff x="624" y="3552"/>
            <a:chExt cx="192" cy="432"/>
          </a:xfrm>
        </p:grpSpPr>
        <p:sp>
          <p:nvSpPr>
            <p:cNvPr id="49226" name="Rectangle 25"/>
            <p:cNvSpPr>
              <a:spLocks noChangeArrowheads="1"/>
            </p:cNvSpPr>
            <p:nvPr/>
          </p:nvSpPr>
          <p:spPr bwMode="auto">
            <a:xfrm>
              <a:off x="624" y="3744"/>
              <a:ext cx="144" cy="240"/>
            </a:xfrm>
            <a:prstGeom prst="rect">
              <a:avLst/>
            </a:prstGeom>
            <a:solidFill>
              <a:srgbClr val="FFFFFF"/>
            </a:solidFill>
            <a:ln w="2857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9227" name="Text Box 26"/>
            <p:cNvSpPr txBox="1">
              <a:spLocks noChangeArrowheads="1"/>
            </p:cNvSpPr>
            <p:nvPr/>
          </p:nvSpPr>
          <p:spPr bwMode="auto">
            <a:xfrm>
              <a:off x="624" y="3744"/>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solidFill>
                    <a:schemeClr val="folHlink"/>
                  </a:solidFill>
                  <a:latin typeface="Times New Roman" panose="02020603050405020304" pitchFamily="18" charset="0"/>
                  <a:ea typeface="华文楷体" panose="02010600040101010101" pitchFamily="2" charset="-122"/>
                </a:rPr>
                <a:t>F</a:t>
              </a:r>
              <a:endParaRPr kumimoji="1" lang="en-US" altLang="zh-CN" sz="1400" b="1" dirty="0">
                <a:latin typeface="Times New Roman" panose="02020603050405020304" pitchFamily="18" charset="0"/>
                <a:ea typeface="华文楷体" panose="02010600040101010101" pitchFamily="2" charset="-122"/>
              </a:endParaRPr>
            </a:p>
          </p:txBody>
        </p:sp>
        <p:sp>
          <p:nvSpPr>
            <p:cNvPr id="49228" name="Line 27"/>
            <p:cNvSpPr>
              <a:spLocks noChangeShapeType="1"/>
            </p:cNvSpPr>
            <p:nvPr/>
          </p:nvSpPr>
          <p:spPr bwMode="auto">
            <a:xfrm>
              <a:off x="720" y="3552"/>
              <a:ext cx="0" cy="19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grpSp>
        <p:nvGrpSpPr>
          <p:cNvPr id="49176" name="Group 28"/>
          <p:cNvGrpSpPr/>
          <p:nvPr/>
        </p:nvGrpSpPr>
        <p:grpSpPr bwMode="auto">
          <a:xfrm>
            <a:off x="5257800" y="5471120"/>
            <a:ext cx="304800" cy="685800"/>
            <a:chOff x="624" y="3552"/>
            <a:chExt cx="192" cy="432"/>
          </a:xfrm>
        </p:grpSpPr>
        <p:sp>
          <p:nvSpPr>
            <p:cNvPr id="49223" name="Rectangle 29"/>
            <p:cNvSpPr>
              <a:spLocks noChangeArrowheads="1"/>
            </p:cNvSpPr>
            <p:nvPr/>
          </p:nvSpPr>
          <p:spPr bwMode="auto">
            <a:xfrm>
              <a:off x="624" y="3744"/>
              <a:ext cx="144" cy="240"/>
            </a:xfrm>
            <a:prstGeom prst="rect">
              <a:avLst/>
            </a:prstGeom>
            <a:solidFill>
              <a:srgbClr val="FFFFFF"/>
            </a:solidFill>
            <a:ln w="2857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9224" name="Text Box 30"/>
            <p:cNvSpPr txBox="1">
              <a:spLocks noChangeArrowheads="1"/>
            </p:cNvSpPr>
            <p:nvPr/>
          </p:nvSpPr>
          <p:spPr bwMode="auto">
            <a:xfrm>
              <a:off x="624" y="3744"/>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solidFill>
                    <a:schemeClr val="folHlink"/>
                  </a:solidFill>
                  <a:latin typeface="Times New Roman" panose="02020603050405020304" pitchFamily="18" charset="0"/>
                  <a:ea typeface="华文楷体" panose="02010600040101010101" pitchFamily="2" charset="-122"/>
                </a:rPr>
                <a:t>F</a:t>
              </a:r>
              <a:endParaRPr kumimoji="1" lang="en-US" altLang="zh-CN" sz="1400" b="1" dirty="0">
                <a:latin typeface="Times New Roman" panose="02020603050405020304" pitchFamily="18" charset="0"/>
                <a:ea typeface="华文楷体" panose="02010600040101010101" pitchFamily="2" charset="-122"/>
              </a:endParaRPr>
            </a:p>
          </p:txBody>
        </p:sp>
        <p:sp>
          <p:nvSpPr>
            <p:cNvPr id="49225" name="Line 31"/>
            <p:cNvSpPr>
              <a:spLocks noChangeShapeType="1"/>
            </p:cNvSpPr>
            <p:nvPr/>
          </p:nvSpPr>
          <p:spPr bwMode="auto">
            <a:xfrm>
              <a:off x="720" y="3552"/>
              <a:ext cx="0" cy="19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grpSp>
        <p:nvGrpSpPr>
          <p:cNvPr id="49177" name="Group 32"/>
          <p:cNvGrpSpPr/>
          <p:nvPr/>
        </p:nvGrpSpPr>
        <p:grpSpPr bwMode="auto">
          <a:xfrm>
            <a:off x="5638800" y="5471120"/>
            <a:ext cx="304800" cy="685800"/>
            <a:chOff x="624" y="3552"/>
            <a:chExt cx="192" cy="432"/>
          </a:xfrm>
        </p:grpSpPr>
        <p:sp>
          <p:nvSpPr>
            <p:cNvPr id="49220" name="Rectangle 33"/>
            <p:cNvSpPr>
              <a:spLocks noChangeArrowheads="1"/>
            </p:cNvSpPr>
            <p:nvPr/>
          </p:nvSpPr>
          <p:spPr bwMode="auto">
            <a:xfrm>
              <a:off x="624" y="3744"/>
              <a:ext cx="144" cy="240"/>
            </a:xfrm>
            <a:prstGeom prst="rect">
              <a:avLst/>
            </a:prstGeom>
            <a:solidFill>
              <a:srgbClr val="FFFFFF"/>
            </a:solidFill>
            <a:ln w="2857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9221" name="Text Box 34"/>
            <p:cNvSpPr txBox="1">
              <a:spLocks noChangeArrowheads="1"/>
            </p:cNvSpPr>
            <p:nvPr/>
          </p:nvSpPr>
          <p:spPr bwMode="auto">
            <a:xfrm>
              <a:off x="624" y="3744"/>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solidFill>
                    <a:schemeClr val="folHlink"/>
                  </a:solidFill>
                  <a:latin typeface="Times New Roman" panose="02020603050405020304" pitchFamily="18" charset="0"/>
                  <a:ea typeface="华文楷体" panose="02010600040101010101" pitchFamily="2" charset="-122"/>
                </a:rPr>
                <a:t>F</a:t>
              </a:r>
              <a:endParaRPr kumimoji="1" lang="en-US" altLang="zh-CN" sz="1400" b="1" dirty="0">
                <a:latin typeface="Times New Roman" panose="02020603050405020304" pitchFamily="18" charset="0"/>
                <a:ea typeface="华文楷体" panose="02010600040101010101" pitchFamily="2" charset="-122"/>
              </a:endParaRPr>
            </a:p>
          </p:txBody>
        </p:sp>
        <p:sp>
          <p:nvSpPr>
            <p:cNvPr id="49222" name="Line 35"/>
            <p:cNvSpPr>
              <a:spLocks noChangeShapeType="1"/>
            </p:cNvSpPr>
            <p:nvPr/>
          </p:nvSpPr>
          <p:spPr bwMode="auto">
            <a:xfrm>
              <a:off x="720" y="3552"/>
              <a:ext cx="0" cy="19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grpSp>
        <p:nvGrpSpPr>
          <p:cNvPr id="49178" name="Group 36"/>
          <p:cNvGrpSpPr/>
          <p:nvPr/>
        </p:nvGrpSpPr>
        <p:grpSpPr bwMode="auto">
          <a:xfrm>
            <a:off x="6172200" y="5471120"/>
            <a:ext cx="304800" cy="685800"/>
            <a:chOff x="624" y="3552"/>
            <a:chExt cx="192" cy="432"/>
          </a:xfrm>
        </p:grpSpPr>
        <p:sp>
          <p:nvSpPr>
            <p:cNvPr id="49217" name="Rectangle 37"/>
            <p:cNvSpPr>
              <a:spLocks noChangeArrowheads="1"/>
            </p:cNvSpPr>
            <p:nvPr/>
          </p:nvSpPr>
          <p:spPr bwMode="auto">
            <a:xfrm>
              <a:off x="624" y="3744"/>
              <a:ext cx="144" cy="240"/>
            </a:xfrm>
            <a:prstGeom prst="rect">
              <a:avLst/>
            </a:prstGeom>
            <a:solidFill>
              <a:srgbClr val="FFFFFF"/>
            </a:solidFill>
            <a:ln w="2857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9218" name="Text Box 38"/>
            <p:cNvSpPr txBox="1">
              <a:spLocks noChangeArrowheads="1"/>
            </p:cNvSpPr>
            <p:nvPr/>
          </p:nvSpPr>
          <p:spPr bwMode="auto">
            <a:xfrm>
              <a:off x="624" y="3744"/>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solidFill>
                    <a:schemeClr val="folHlink"/>
                  </a:solidFill>
                  <a:latin typeface="Times New Roman" panose="02020603050405020304" pitchFamily="18" charset="0"/>
                  <a:ea typeface="华文楷体" panose="02010600040101010101" pitchFamily="2" charset="-122"/>
                </a:rPr>
                <a:t>F</a:t>
              </a:r>
              <a:endParaRPr kumimoji="1" lang="en-US" altLang="zh-CN" sz="1400" b="1" dirty="0">
                <a:latin typeface="Times New Roman" panose="02020603050405020304" pitchFamily="18" charset="0"/>
                <a:ea typeface="华文楷体" panose="02010600040101010101" pitchFamily="2" charset="-122"/>
              </a:endParaRPr>
            </a:p>
          </p:txBody>
        </p:sp>
        <p:sp>
          <p:nvSpPr>
            <p:cNvPr id="49219" name="Line 39"/>
            <p:cNvSpPr>
              <a:spLocks noChangeShapeType="1"/>
            </p:cNvSpPr>
            <p:nvPr/>
          </p:nvSpPr>
          <p:spPr bwMode="auto">
            <a:xfrm>
              <a:off x="720" y="3552"/>
              <a:ext cx="0" cy="19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grpSp>
        <p:nvGrpSpPr>
          <p:cNvPr id="49179" name="Group 40"/>
          <p:cNvGrpSpPr/>
          <p:nvPr/>
        </p:nvGrpSpPr>
        <p:grpSpPr bwMode="auto">
          <a:xfrm>
            <a:off x="6705600" y="5471120"/>
            <a:ext cx="304800" cy="685800"/>
            <a:chOff x="624" y="3552"/>
            <a:chExt cx="192" cy="432"/>
          </a:xfrm>
        </p:grpSpPr>
        <p:sp>
          <p:nvSpPr>
            <p:cNvPr id="49214" name="Rectangle 41"/>
            <p:cNvSpPr>
              <a:spLocks noChangeArrowheads="1"/>
            </p:cNvSpPr>
            <p:nvPr/>
          </p:nvSpPr>
          <p:spPr bwMode="auto">
            <a:xfrm>
              <a:off x="624" y="3744"/>
              <a:ext cx="144" cy="240"/>
            </a:xfrm>
            <a:prstGeom prst="rect">
              <a:avLst/>
            </a:prstGeom>
            <a:solidFill>
              <a:srgbClr val="FFFFFF"/>
            </a:solidFill>
            <a:ln w="2857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9215" name="Text Box 42"/>
            <p:cNvSpPr txBox="1">
              <a:spLocks noChangeArrowheads="1"/>
            </p:cNvSpPr>
            <p:nvPr/>
          </p:nvSpPr>
          <p:spPr bwMode="auto">
            <a:xfrm>
              <a:off x="624" y="3744"/>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solidFill>
                    <a:schemeClr val="folHlink"/>
                  </a:solidFill>
                  <a:latin typeface="Times New Roman" panose="02020603050405020304" pitchFamily="18" charset="0"/>
                  <a:ea typeface="华文楷体" panose="02010600040101010101" pitchFamily="2" charset="-122"/>
                </a:rPr>
                <a:t>F</a:t>
              </a:r>
              <a:endParaRPr kumimoji="1" lang="en-US" altLang="zh-CN" sz="1400" b="1" dirty="0">
                <a:latin typeface="Times New Roman" panose="02020603050405020304" pitchFamily="18" charset="0"/>
                <a:ea typeface="华文楷体" panose="02010600040101010101" pitchFamily="2" charset="-122"/>
              </a:endParaRPr>
            </a:p>
          </p:txBody>
        </p:sp>
        <p:sp>
          <p:nvSpPr>
            <p:cNvPr id="49216" name="Line 43"/>
            <p:cNvSpPr>
              <a:spLocks noChangeShapeType="1"/>
            </p:cNvSpPr>
            <p:nvPr/>
          </p:nvSpPr>
          <p:spPr bwMode="auto">
            <a:xfrm>
              <a:off x="720" y="3552"/>
              <a:ext cx="0" cy="19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grpSp>
        <p:nvGrpSpPr>
          <p:cNvPr id="49180" name="Group 44"/>
          <p:cNvGrpSpPr/>
          <p:nvPr/>
        </p:nvGrpSpPr>
        <p:grpSpPr bwMode="auto">
          <a:xfrm>
            <a:off x="457200" y="5471120"/>
            <a:ext cx="304800" cy="685800"/>
            <a:chOff x="624" y="3552"/>
            <a:chExt cx="192" cy="432"/>
          </a:xfrm>
        </p:grpSpPr>
        <p:sp>
          <p:nvSpPr>
            <p:cNvPr id="49211" name="Rectangle 45"/>
            <p:cNvSpPr>
              <a:spLocks noChangeArrowheads="1"/>
            </p:cNvSpPr>
            <p:nvPr/>
          </p:nvSpPr>
          <p:spPr bwMode="auto">
            <a:xfrm>
              <a:off x="624" y="3744"/>
              <a:ext cx="144" cy="240"/>
            </a:xfrm>
            <a:prstGeom prst="rect">
              <a:avLst/>
            </a:prstGeom>
            <a:solidFill>
              <a:srgbClr val="FFFFFF"/>
            </a:solidFill>
            <a:ln w="2857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9212" name="Text Box 46"/>
            <p:cNvSpPr txBox="1">
              <a:spLocks noChangeArrowheads="1"/>
            </p:cNvSpPr>
            <p:nvPr/>
          </p:nvSpPr>
          <p:spPr bwMode="auto">
            <a:xfrm>
              <a:off x="624" y="3744"/>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solidFill>
                    <a:schemeClr val="folHlink"/>
                  </a:solidFill>
                  <a:latin typeface="Times New Roman" panose="02020603050405020304" pitchFamily="18" charset="0"/>
                  <a:ea typeface="华文楷体" panose="02010600040101010101" pitchFamily="2" charset="-122"/>
                </a:rPr>
                <a:t>F</a:t>
              </a:r>
              <a:endParaRPr kumimoji="1" lang="en-US" altLang="zh-CN" sz="1400" b="1" dirty="0">
                <a:latin typeface="Times New Roman" panose="02020603050405020304" pitchFamily="18" charset="0"/>
                <a:ea typeface="华文楷体" panose="02010600040101010101" pitchFamily="2" charset="-122"/>
              </a:endParaRPr>
            </a:p>
          </p:txBody>
        </p:sp>
        <p:sp>
          <p:nvSpPr>
            <p:cNvPr id="49213" name="Line 47"/>
            <p:cNvSpPr>
              <a:spLocks noChangeShapeType="1"/>
            </p:cNvSpPr>
            <p:nvPr/>
          </p:nvSpPr>
          <p:spPr bwMode="auto">
            <a:xfrm>
              <a:off x="720" y="3552"/>
              <a:ext cx="0" cy="19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grpSp>
        <p:nvGrpSpPr>
          <p:cNvPr id="49181" name="Group 48"/>
          <p:cNvGrpSpPr/>
          <p:nvPr/>
        </p:nvGrpSpPr>
        <p:grpSpPr bwMode="auto">
          <a:xfrm>
            <a:off x="914400" y="5471120"/>
            <a:ext cx="304800" cy="685800"/>
            <a:chOff x="624" y="3552"/>
            <a:chExt cx="192" cy="432"/>
          </a:xfrm>
        </p:grpSpPr>
        <p:sp>
          <p:nvSpPr>
            <p:cNvPr id="49208" name="Rectangle 49"/>
            <p:cNvSpPr>
              <a:spLocks noChangeArrowheads="1"/>
            </p:cNvSpPr>
            <p:nvPr/>
          </p:nvSpPr>
          <p:spPr bwMode="auto">
            <a:xfrm>
              <a:off x="624" y="3744"/>
              <a:ext cx="144" cy="240"/>
            </a:xfrm>
            <a:prstGeom prst="rect">
              <a:avLst/>
            </a:prstGeom>
            <a:solidFill>
              <a:srgbClr val="FFFFFF"/>
            </a:solidFill>
            <a:ln w="2857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9209" name="Text Box 50"/>
            <p:cNvSpPr txBox="1">
              <a:spLocks noChangeArrowheads="1"/>
            </p:cNvSpPr>
            <p:nvPr/>
          </p:nvSpPr>
          <p:spPr bwMode="auto">
            <a:xfrm>
              <a:off x="624" y="3744"/>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solidFill>
                    <a:schemeClr val="folHlink"/>
                  </a:solidFill>
                  <a:latin typeface="Times New Roman" panose="02020603050405020304" pitchFamily="18" charset="0"/>
                  <a:ea typeface="华文楷体" panose="02010600040101010101" pitchFamily="2" charset="-122"/>
                </a:rPr>
                <a:t>F</a:t>
              </a:r>
              <a:endParaRPr kumimoji="1" lang="en-US" altLang="zh-CN" sz="1400" b="1" dirty="0">
                <a:latin typeface="Times New Roman" panose="02020603050405020304" pitchFamily="18" charset="0"/>
                <a:ea typeface="华文楷体" panose="02010600040101010101" pitchFamily="2" charset="-122"/>
              </a:endParaRPr>
            </a:p>
          </p:txBody>
        </p:sp>
        <p:sp>
          <p:nvSpPr>
            <p:cNvPr id="49210" name="Line 51"/>
            <p:cNvSpPr>
              <a:spLocks noChangeShapeType="1"/>
            </p:cNvSpPr>
            <p:nvPr/>
          </p:nvSpPr>
          <p:spPr bwMode="auto">
            <a:xfrm>
              <a:off x="720" y="3552"/>
              <a:ext cx="0" cy="19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grpSp>
        <p:nvGrpSpPr>
          <p:cNvPr id="49182" name="Group 52"/>
          <p:cNvGrpSpPr/>
          <p:nvPr/>
        </p:nvGrpSpPr>
        <p:grpSpPr bwMode="auto">
          <a:xfrm>
            <a:off x="1828800" y="5471120"/>
            <a:ext cx="304800" cy="685800"/>
            <a:chOff x="624" y="3552"/>
            <a:chExt cx="192" cy="432"/>
          </a:xfrm>
        </p:grpSpPr>
        <p:sp>
          <p:nvSpPr>
            <p:cNvPr id="49205" name="Rectangle 53"/>
            <p:cNvSpPr>
              <a:spLocks noChangeArrowheads="1"/>
            </p:cNvSpPr>
            <p:nvPr/>
          </p:nvSpPr>
          <p:spPr bwMode="auto">
            <a:xfrm>
              <a:off x="624" y="3744"/>
              <a:ext cx="144" cy="240"/>
            </a:xfrm>
            <a:prstGeom prst="rect">
              <a:avLst/>
            </a:prstGeom>
            <a:solidFill>
              <a:srgbClr val="FFFFFF"/>
            </a:solidFill>
            <a:ln w="2857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9206" name="Text Box 54"/>
            <p:cNvSpPr txBox="1">
              <a:spLocks noChangeArrowheads="1"/>
            </p:cNvSpPr>
            <p:nvPr/>
          </p:nvSpPr>
          <p:spPr bwMode="auto">
            <a:xfrm>
              <a:off x="624" y="3744"/>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solidFill>
                    <a:schemeClr val="folHlink"/>
                  </a:solidFill>
                  <a:latin typeface="Times New Roman" panose="02020603050405020304" pitchFamily="18" charset="0"/>
                  <a:ea typeface="华文楷体" panose="02010600040101010101" pitchFamily="2" charset="-122"/>
                </a:rPr>
                <a:t>F</a:t>
              </a:r>
              <a:endParaRPr kumimoji="1" lang="en-US" altLang="zh-CN" sz="1400" b="1" dirty="0">
                <a:latin typeface="Times New Roman" panose="02020603050405020304" pitchFamily="18" charset="0"/>
                <a:ea typeface="华文楷体" panose="02010600040101010101" pitchFamily="2" charset="-122"/>
              </a:endParaRPr>
            </a:p>
          </p:txBody>
        </p:sp>
        <p:sp>
          <p:nvSpPr>
            <p:cNvPr id="49207" name="Line 55"/>
            <p:cNvSpPr>
              <a:spLocks noChangeShapeType="1"/>
            </p:cNvSpPr>
            <p:nvPr/>
          </p:nvSpPr>
          <p:spPr bwMode="auto">
            <a:xfrm>
              <a:off x="720" y="3552"/>
              <a:ext cx="0" cy="19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grpSp>
        <p:nvGrpSpPr>
          <p:cNvPr id="49183" name="Group 56"/>
          <p:cNvGrpSpPr/>
          <p:nvPr/>
        </p:nvGrpSpPr>
        <p:grpSpPr bwMode="auto">
          <a:xfrm>
            <a:off x="2286000" y="5471120"/>
            <a:ext cx="304800" cy="685800"/>
            <a:chOff x="624" y="3552"/>
            <a:chExt cx="192" cy="432"/>
          </a:xfrm>
        </p:grpSpPr>
        <p:sp>
          <p:nvSpPr>
            <p:cNvPr id="49202" name="Rectangle 57"/>
            <p:cNvSpPr>
              <a:spLocks noChangeArrowheads="1"/>
            </p:cNvSpPr>
            <p:nvPr/>
          </p:nvSpPr>
          <p:spPr bwMode="auto">
            <a:xfrm>
              <a:off x="624" y="3744"/>
              <a:ext cx="144" cy="240"/>
            </a:xfrm>
            <a:prstGeom prst="rect">
              <a:avLst/>
            </a:prstGeom>
            <a:solidFill>
              <a:srgbClr val="FFFFFF"/>
            </a:solidFill>
            <a:ln w="2857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9203" name="Text Box 58"/>
            <p:cNvSpPr txBox="1">
              <a:spLocks noChangeArrowheads="1"/>
            </p:cNvSpPr>
            <p:nvPr/>
          </p:nvSpPr>
          <p:spPr bwMode="auto">
            <a:xfrm>
              <a:off x="624" y="3744"/>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solidFill>
                    <a:schemeClr val="folHlink"/>
                  </a:solidFill>
                  <a:latin typeface="Times New Roman" panose="02020603050405020304" pitchFamily="18" charset="0"/>
                  <a:ea typeface="华文楷体" panose="02010600040101010101" pitchFamily="2" charset="-122"/>
                </a:rPr>
                <a:t>F</a:t>
              </a:r>
              <a:endParaRPr kumimoji="1" lang="en-US" altLang="zh-CN" sz="1400" b="1" dirty="0">
                <a:latin typeface="Times New Roman" panose="02020603050405020304" pitchFamily="18" charset="0"/>
                <a:ea typeface="华文楷体" panose="02010600040101010101" pitchFamily="2" charset="-122"/>
              </a:endParaRPr>
            </a:p>
          </p:txBody>
        </p:sp>
        <p:sp>
          <p:nvSpPr>
            <p:cNvPr id="49204" name="Line 59"/>
            <p:cNvSpPr>
              <a:spLocks noChangeShapeType="1"/>
            </p:cNvSpPr>
            <p:nvPr/>
          </p:nvSpPr>
          <p:spPr bwMode="auto">
            <a:xfrm>
              <a:off x="720" y="3552"/>
              <a:ext cx="0" cy="19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grpSp>
        <p:nvGrpSpPr>
          <p:cNvPr id="49184" name="Group 60"/>
          <p:cNvGrpSpPr/>
          <p:nvPr/>
        </p:nvGrpSpPr>
        <p:grpSpPr bwMode="auto">
          <a:xfrm>
            <a:off x="3276600" y="5471120"/>
            <a:ext cx="304800" cy="685800"/>
            <a:chOff x="624" y="3552"/>
            <a:chExt cx="192" cy="432"/>
          </a:xfrm>
        </p:grpSpPr>
        <p:sp>
          <p:nvSpPr>
            <p:cNvPr id="49199" name="Rectangle 61"/>
            <p:cNvSpPr>
              <a:spLocks noChangeArrowheads="1"/>
            </p:cNvSpPr>
            <p:nvPr/>
          </p:nvSpPr>
          <p:spPr bwMode="auto">
            <a:xfrm>
              <a:off x="624" y="3744"/>
              <a:ext cx="144" cy="240"/>
            </a:xfrm>
            <a:prstGeom prst="rect">
              <a:avLst/>
            </a:prstGeom>
            <a:solidFill>
              <a:srgbClr val="FFFFFF"/>
            </a:solidFill>
            <a:ln w="2857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9200" name="Text Box 62"/>
            <p:cNvSpPr txBox="1">
              <a:spLocks noChangeArrowheads="1"/>
            </p:cNvSpPr>
            <p:nvPr/>
          </p:nvSpPr>
          <p:spPr bwMode="auto">
            <a:xfrm>
              <a:off x="624" y="3744"/>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solidFill>
                    <a:schemeClr val="folHlink"/>
                  </a:solidFill>
                  <a:latin typeface="Times New Roman" panose="02020603050405020304" pitchFamily="18" charset="0"/>
                  <a:ea typeface="华文楷体" panose="02010600040101010101" pitchFamily="2" charset="-122"/>
                </a:rPr>
                <a:t>F</a:t>
              </a:r>
              <a:endParaRPr kumimoji="1" lang="en-US" altLang="zh-CN" sz="1400" b="1" dirty="0">
                <a:latin typeface="Times New Roman" panose="02020603050405020304" pitchFamily="18" charset="0"/>
                <a:ea typeface="华文楷体" panose="02010600040101010101" pitchFamily="2" charset="-122"/>
              </a:endParaRPr>
            </a:p>
          </p:txBody>
        </p:sp>
        <p:sp>
          <p:nvSpPr>
            <p:cNvPr id="49201" name="Line 63"/>
            <p:cNvSpPr>
              <a:spLocks noChangeShapeType="1"/>
            </p:cNvSpPr>
            <p:nvPr/>
          </p:nvSpPr>
          <p:spPr bwMode="auto">
            <a:xfrm>
              <a:off x="720" y="3552"/>
              <a:ext cx="0" cy="19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grpSp>
        <p:nvGrpSpPr>
          <p:cNvPr id="49185" name="Group 64"/>
          <p:cNvGrpSpPr/>
          <p:nvPr/>
        </p:nvGrpSpPr>
        <p:grpSpPr bwMode="auto">
          <a:xfrm>
            <a:off x="3810000" y="5471120"/>
            <a:ext cx="304800" cy="685800"/>
            <a:chOff x="624" y="3552"/>
            <a:chExt cx="192" cy="432"/>
          </a:xfrm>
        </p:grpSpPr>
        <p:sp>
          <p:nvSpPr>
            <p:cNvPr id="49196" name="Rectangle 65"/>
            <p:cNvSpPr>
              <a:spLocks noChangeArrowheads="1"/>
            </p:cNvSpPr>
            <p:nvPr/>
          </p:nvSpPr>
          <p:spPr bwMode="auto">
            <a:xfrm>
              <a:off x="624" y="3744"/>
              <a:ext cx="144" cy="240"/>
            </a:xfrm>
            <a:prstGeom prst="rect">
              <a:avLst/>
            </a:prstGeom>
            <a:solidFill>
              <a:srgbClr val="FFFFFF"/>
            </a:solidFill>
            <a:ln w="2857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49197" name="Text Box 66"/>
            <p:cNvSpPr txBox="1">
              <a:spLocks noChangeArrowheads="1"/>
            </p:cNvSpPr>
            <p:nvPr/>
          </p:nvSpPr>
          <p:spPr bwMode="auto">
            <a:xfrm>
              <a:off x="624" y="3744"/>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solidFill>
                    <a:schemeClr val="folHlink"/>
                  </a:solidFill>
                  <a:latin typeface="Times New Roman" panose="02020603050405020304" pitchFamily="18" charset="0"/>
                  <a:ea typeface="华文楷体" panose="02010600040101010101" pitchFamily="2" charset="-122"/>
                </a:rPr>
                <a:t>F</a:t>
              </a:r>
              <a:endParaRPr kumimoji="1" lang="en-US" altLang="zh-CN" sz="1400" b="1" dirty="0">
                <a:latin typeface="Times New Roman" panose="02020603050405020304" pitchFamily="18" charset="0"/>
                <a:ea typeface="华文楷体" panose="02010600040101010101" pitchFamily="2" charset="-122"/>
              </a:endParaRPr>
            </a:p>
          </p:txBody>
        </p:sp>
        <p:sp>
          <p:nvSpPr>
            <p:cNvPr id="49198" name="Line 67"/>
            <p:cNvSpPr>
              <a:spLocks noChangeShapeType="1"/>
            </p:cNvSpPr>
            <p:nvPr/>
          </p:nvSpPr>
          <p:spPr bwMode="auto">
            <a:xfrm>
              <a:off x="720" y="3552"/>
              <a:ext cx="0" cy="192"/>
            </a:xfrm>
            <a:prstGeom prst="line">
              <a:avLst/>
            </a:prstGeom>
            <a:noFill/>
            <a:ln w="28575">
              <a:solidFill>
                <a:schemeClr val="fo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pSp>
      <p:sp>
        <p:nvSpPr>
          <p:cNvPr id="49186" name="Text Box 68"/>
          <p:cNvSpPr txBox="1">
            <a:spLocks noChangeArrowheads="1"/>
          </p:cNvSpPr>
          <p:nvPr/>
        </p:nvSpPr>
        <p:spPr bwMode="auto">
          <a:xfrm>
            <a:off x="7391400" y="3261320"/>
            <a:ext cx="1143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第 </a:t>
            </a:r>
            <a:r>
              <a:rPr kumimoji="1" lang="en-US" altLang="zh-CN" sz="1400" b="1" dirty="0">
                <a:latin typeface="Times New Roman" panose="02020603050405020304" pitchFamily="18" charset="0"/>
                <a:ea typeface="华文楷体" panose="02010600040101010101" pitchFamily="2" charset="-122"/>
              </a:rPr>
              <a:t>1 </a:t>
            </a:r>
            <a:r>
              <a:rPr kumimoji="1" lang="zh-CN" altLang="en-US" sz="1400" b="1" dirty="0">
                <a:latin typeface="Times New Roman" panose="02020603050405020304" pitchFamily="18" charset="0"/>
                <a:ea typeface="华文楷体" panose="02010600040101010101" pitchFamily="2" charset="-122"/>
              </a:rPr>
              <a:t>层</a:t>
            </a:r>
            <a:endParaRPr kumimoji="1" lang="zh-CN" altLang="en-US" sz="1400" b="1" dirty="0">
              <a:latin typeface="Times New Roman" panose="02020603050405020304" pitchFamily="18" charset="0"/>
              <a:ea typeface="华文楷体" panose="02010600040101010101" pitchFamily="2" charset="-122"/>
            </a:endParaRPr>
          </a:p>
        </p:txBody>
      </p:sp>
      <p:sp>
        <p:nvSpPr>
          <p:cNvPr id="49187" name="Text Box 69"/>
          <p:cNvSpPr txBox="1">
            <a:spLocks noChangeArrowheads="1"/>
          </p:cNvSpPr>
          <p:nvPr/>
        </p:nvSpPr>
        <p:spPr bwMode="auto">
          <a:xfrm>
            <a:off x="7391400" y="4099520"/>
            <a:ext cx="1143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第 </a:t>
            </a:r>
            <a:r>
              <a:rPr kumimoji="1" lang="en-US" altLang="zh-CN" sz="1400" b="1" dirty="0">
                <a:latin typeface="Times New Roman" panose="02020603050405020304" pitchFamily="18" charset="0"/>
                <a:ea typeface="华文楷体" panose="02010600040101010101" pitchFamily="2" charset="-122"/>
              </a:rPr>
              <a:t>2 </a:t>
            </a:r>
            <a:r>
              <a:rPr kumimoji="1" lang="zh-CN" altLang="en-US" sz="1400" b="1" dirty="0">
                <a:latin typeface="Times New Roman" panose="02020603050405020304" pitchFamily="18" charset="0"/>
                <a:ea typeface="华文楷体" panose="02010600040101010101" pitchFamily="2" charset="-122"/>
              </a:rPr>
              <a:t>层</a:t>
            </a:r>
            <a:endParaRPr kumimoji="1" lang="zh-CN" altLang="en-US" sz="1400" b="1" dirty="0">
              <a:latin typeface="Times New Roman" panose="02020603050405020304" pitchFamily="18" charset="0"/>
              <a:ea typeface="华文楷体" panose="02010600040101010101" pitchFamily="2" charset="-122"/>
            </a:endParaRPr>
          </a:p>
        </p:txBody>
      </p:sp>
      <p:sp>
        <p:nvSpPr>
          <p:cNvPr id="49188" name="Text Box 70"/>
          <p:cNvSpPr txBox="1">
            <a:spLocks noChangeArrowheads="1"/>
          </p:cNvSpPr>
          <p:nvPr/>
        </p:nvSpPr>
        <p:spPr bwMode="auto">
          <a:xfrm>
            <a:off x="7467600" y="5166320"/>
            <a:ext cx="1447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第 </a:t>
            </a:r>
            <a:r>
              <a:rPr kumimoji="1" lang="en-US" altLang="zh-CN" sz="1400" b="1" dirty="0">
                <a:latin typeface="Times New Roman" panose="02020603050405020304" pitchFamily="18" charset="0"/>
                <a:ea typeface="华文楷体" panose="02010600040101010101" pitchFamily="2" charset="-122"/>
              </a:rPr>
              <a:t>3 </a:t>
            </a:r>
            <a:r>
              <a:rPr kumimoji="1" lang="zh-CN" altLang="en-US" sz="1400" b="1" dirty="0">
                <a:latin typeface="Times New Roman" panose="02020603050405020304" pitchFamily="18" charset="0"/>
                <a:ea typeface="华文楷体" panose="02010600040101010101" pitchFamily="2" charset="-122"/>
              </a:rPr>
              <a:t>层</a:t>
            </a:r>
            <a:r>
              <a:rPr kumimoji="1" lang="en-US" altLang="zh-CN" sz="1400" b="1" dirty="0">
                <a:latin typeface="Times New Roman" panose="02020603050405020304" pitchFamily="18" charset="0"/>
                <a:ea typeface="华文楷体" panose="02010600040101010101" pitchFamily="2" charset="-122"/>
              </a:rPr>
              <a:t>(L</a:t>
            </a:r>
            <a:r>
              <a:rPr kumimoji="1" lang="zh-CN" altLang="zh-CN" sz="1400" b="1" dirty="0">
                <a:latin typeface="Times New Roman" panose="02020603050405020304" pitchFamily="18" charset="0"/>
                <a:ea typeface="华文楷体" panose="02010600040101010101" pitchFamily="2" charset="-122"/>
              </a:rPr>
              <a:t>层</a:t>
            </a:r>
            <a:r>
              <a:rPr kumimoji="1" lang="en-US" altLang="zh-CN" sz="14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49189" name="Text Box 71"/>
          <p:cNvSpPr txBox="1">
            <a:spLocks noChangeArrowheads="1"/>
          </p:cNvSpPr>
          <p:nvPr/>
        </p:nvSpPr>
        <p:spPr bwMode="auto">
          <a:xfrm>
            <a:off x="7467600" y="5852120"/>
            <a:ext cx="1447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第 </a:t>
            </a:r>
            <a:r>
              <a:rPr kumimoji="1" lang="en-US" altLang="zh-CN" sz="1400" b="1" dirty="0">
                <a:latin typeface="Times New Roman" panose="02020603050405020304" pitchFamily="18" charset="0"/>
                <a:ea typeface="华文楷体" panose="02010600040101010101" pitchFamily="2" charset="-122"/>
              </a:rPr>
              <a:t>4 </a:t>
            </a:r>
            <a:r>
              <a:rPr kumimoji="1" lang="zh-CN" altLang="en-US" sz="1400" b="1" dirty="0">
                <a:latin typeface="Times New Roman" panose="02020603050405020304" pitchFamily="18" charset="0"/>
                <a:ea typeface="华文楷体" panose="02010600040101010101" pitchFamily="2" charset="-122"/>
              </a:rPr>
              <a:t>层</a:t>
            </a:r>
            <a:r>
              <a:rPr kumimoji="1" lang="en-US" altLang="zh-CN" sz="1400" b="1" dirty="0">
                <a:latin typeface="Times New Roman" panose="02020603050405020304" pitchFamily="18" charset="0"/>
                <a:ea typeface="华文楷体" panose="02010600040101010101" pitchFamily="2" charset="-122"/>
              </a:rPr>
              <a:t>(L</a:t>
            </a:r>
            <a:r>
              <a:rPr kumimoji="1" lang="zh-CN" altLang="en-US" sz="1400" b="1" dirty="0">
                <a:latin typeface="Times New Roman" panose="02020603050405020304" pitchFamily="18" charset="0"/>
                <a:ea typeface="华文楷体" panose="02010600040101010101" pitchFamily="2" charset="-122"/>
              </a:rPr>
              <a:t>＋</a:t>
            </a:r>
            <a:r>
              <a:rPr kumimoji="1" lang="en-US" altLang="zh-CN" sz="1400" b="1" dirty="0">
                <a:latin typeface="Times New Roman" panose="02020603050405020304" pitchFamily="18" charset="0"/>
                <a:ea typeface="华文楷体" panose="02010600040101010101" pitchFamily="2" charset="-122"/>
              </a:rPr>
              <a:t>1</a:t>
            </a:r>
            <a:r>
              <a:rPr kumimoji="1" lang="zh-CN" altLang="zh-CN" sz="1400" b="1" dirty="0">
                <a:latin typeface="Times New Roman" panose="02020603050405020304" pitchFamily="18" charset="0"/>
                <a:ea typeface="华文楷体" panose="02010600040101010101" pitchFamily="2" charset="-122"/>
              </a:rPr>
              <a:t>层</a:t>
            </a:r>
            <a:r>
              <a:rPr kumimoji="1" lang="en-US" altLang="zh-CN" sz="14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49190" name="Line 72"/>
          <p:cNvSpPr>
            <a:spLocks noChangeShapeType="1"/>
          </p:cNvSpPr>
          <p:nvPr/>
        </p:nvSpPr>
        <p:spPr bwMode="auto">
          <a:xfrm>
            <a:off x="5943600" y="4099520"/>
            <a:ext cx="1524000" cy="0"/>
          </a:xfrm>
          <a:prstGeom prst="line">
            <a:avLst/>
          </a:prstGeom>
          <a:noFill/>
          <a:ln w="9525">
            <a:solidFill>
              <a:schemeClr val="accent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9191" name="Line 73"/>
          <p:cNvSpPr>
            <a:spLocks noChangeShapeType="1"/>
          </p:cNvSpPr>
          <p:nvPr/>
        </p:nvSpPr>
        <p:spPr bwMode="auto">
          <a:xfrm>
            <a:off x="7010400" y="5547320"/>
            <a:ext cx="457200" cy="0"/>
          </a:xfrm>
          <a:prstGeom prst="line">
            <a:avLst/>
          </a:prstGeom>
          <a:noFill/>
          <a:ln w="9525">
            <a:solidFill>
              <a:schemeClr val="accent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9192" name="Text Box 74"/>
          <p:cNvSpPr txBox="1">
            <a:spLocks noChangeArrowheads="1"/>
          </p:cNvSpPr>
          <p:nvPr/>
        </p:nvSpPr>
        <p:spPr bwMode="auto">
          <a:xfrm>
            <a:off x="6477000" y="4404320"/>
            <a:ext cx="236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b="1" dirty="0">
                <a:solidFill>
                  <a:schemeClr val="accent1"/>
                </a:solidFill>
                <a:latin typeface="Times New Roman" panose="02020603050405020304" pitchFamily="18" charset="0"/>
                <a:ea typeface="黑体" panose="02010609060101010101" pitchFamily="49" charset="-122"/>
                <a:sym typeface="Symbol" panose="05050102010706020507" pitchFamily="18" charset="2"/>
              </a:rPr>
              <a:t>m/2~ m</a:t>
            </a:r>
            <a:r>
              <a:rPr kumimoji="1" lang="zh-CN" altLang="en-US" sz="2400" b="1" dirty="0">
                <a:solidFill>
                  <a:schemeClr val="accent1"/>
                </a:solidFill>
                <a:latin typeface="Times New Roman" panose="02020603050405020304" pitchFamily="18" charset="0"/>
                <a:ea typeface="华文楷体" panose="02010600040101010101" pitchFamily="2" charset="-122"/>
              </a:rPr>
              <a:t>棵子树</a:t>
            </a:r>
            <a:endParaRPr kumimoji="1" lang="zh-CN" altLang="en-US" sz="2400" b="1" dirty="0">
              <a:solidFill>
                <a:schemeClr val="accent1"/>
              </a:solidFill>
              <a:latin typeface="Times New Roman" panose="02020603050405020304" pitchFamily="18" charset="0"/>
              <a:ea typeface="华文楷体" panose="02010600040101010101" pitchFamily="2" charset="-122"/>
            </a:endParaRPr>
          </a:p>
        </p:txBody>
      </p:sp>
      <p:sp>
        <p:nvSpPr>
          <p:cNvPr id="49193" name="Line 75"/>
          <p:cNvSpPr>
            <a:spLocks noChangeShapeType="1"/>
          </p:cNvSpPr>
          <p:nvPr/>
        </p:nvSpPr>
        <p:spPr bwMode="auto">
          <a:xfrm flipV="1">
            <a:off x="7315200" y="4099520"/>
            <a:ext cx="0" cy="304800"/>
          </a:xfrm>
          <a:prstGeom prst="line">
            <a:avLst/>
          </a:prstGeom>
          <a:noFill/>
          <a:ln w="952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9194" name="Line 76"/>
          <p:cNvSpPr>
            <a:spLocks noChangeShapeType="1"/>
          </p:cNvSpPr>
          <p:nvPr/>
        </p:nvSpPr>
        <p:spPr bwMode="auto">
          <a:xfrm>
            <a:off x="7315200" y="5090120"/>
            <a:ext cx="0" cy="457200"/>
          </a:xfrm>
          <a:prstGeom prst="line">
            <a:avLst/>
          </a:prstGeom>
          <a:noFill/>
          <a:ln w="952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49195" name="Text Box 77"/>
          <p:cNvSpPr txBox="1">
            <a:spLocks noChangeArrowheads="1"/>
          </p:cNvSpPr>
          <p:nvPr/>
        </p:nvSpPr>
        <p:spPr bwMode="auto">
          <a:xfrm>
            <a:off x="8686800" y="577592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zh-CN" altLang="en-US" sz="2400">
                <a:solidFill>
                  <a:schemeClr val="accent1"/>
                </a:solidFill>
                <a:latin typeface="Times New Roman" panose="02020603050405020304" pitchFamily="18" charset="0"/>
                <a:ea typeface="黑体" panose="02010609060101010101" pitchFamily="49" charset="-122"/>
              </a:rPr>
              <a:t>叶</a:t>
            </a:r>
            <a:endParaRPr kumimoji="1" lang="zh-CN" altLang="en-US" sz="2400">
              <a:solidFill>
                <a:schemeClr val="accent1"/>
              </a:solidFill>
              <a:latin typeface="Times New Roman" panose="02020603050405020304" pitchFamily="18" charset="0"/>
              <a:ea typeface="黑体" panose="02010609060101010101" pitchFamily="49" charset="-122"/>
            </a:endParaRPr>
          </a:p>
        </p:txBody>
      </p:sp>
      <p:sp>
        <p:nvSpPr>
          <p:cNvPr id="3" name="文本框 2"/>
          <p:cNvSpPr txBox="1"/>
          <p:nvPr/>
        </p:nvSpPr>
        <p:spPr>
          <a:xfrm>
            <a:off x="91852" y="1180981"/>
            <a:ext cx="8807896" cy="1599565"/>
          </a:xfrm>
          <a:prstGeom prst="rect">
            <a:avLst/>
          </a:prstGeom>
          <a:noFill/>
          <a:ln>
            <a:solidFill>
              <a:schemeClr val="accent1"/>
            </a:solidFill>
          </a:ln>
        </p:spPr>
        <p:txBody>
          <a:bodyPr wrap="square" rtlCol="0">
            <a:spAutoFit/>
          </a:bodyPr>
          <a:lstStyle/>
          <a:p>
            <a:r>
              <a:rPr kumimoji="1" lang="zh-CN" altLang="en-US" sz="1600" dirty="0">
                <a:ea typeface="华文楷体" panose="02010600040101010101" pitchFamily="2" charset="-122"/>
              </a:rPr>
              <a:t>例如：</a:t>
            </a:r>
            <a:r>
              <a:rPr kumimoji="1" lang="en-US" altLang="zh-CN" sz="1600" dirty="0">
                <a:ea typeface="华文楷体" panose="02010600040101010101" pitchFamily="2" charset="-122"/>
              </a:rPr>
              <a:t> </a:t>
            </a:r>
            <a:r>
              <a:rPr kumimoji="1" lang="en-US" altLang="zh-CN" sz="1600" b="1" dirty="0">
                <a:solidFill>
                  <a:srgbClr val="FF0000"/>
                </a:solidFill>
                <a:ea typeface="华文楷体" panose="02010600040101010101" pitchFamily="2" charset="-122"/>
              </a:rPr>
              <a:t>4 </a:t>
            </a:r>
            <a:r>
              <a:rPr kumimoji="1" lang="zh-CN" altLang="zh-CN" sz="1600" b="1" dirty="0">
                <a:solidFill>
                  <a:srgbClr val="FF0000"/>
                </a:solidFill>
                <a:ea typeface="华文楷体" panose="02010600040101010101" pitchFamily="2" charset="-122"/>
              </a:rPr>
              <a:t>阶 </a:t>
            </a:r>
            <a:r>
              <a:rPr kumimoji="1" lang="en-US" altLang="zh-CN" sz="1600" b="1" dirty="0">
                <a:solidFill>
                  <a:srgbClr val="FF0000"/>
                </a:solidFill>
                <a:ea typeface="华文楷体" panose="02010600040101010101" pitchFamily="2" charset="-122"/>
              </a:rPr>
              <a:t>B</a:t>
            </a:r>
            <a:r>
              <a:rPr kumimoji="1" lang="zh-CN" altLang="en-US" sz="1600" b="1" dirty="0">
                <a:solidFill>
                  <a:srgbClr val="FF0000"/>
                </a:solidFill>
                <a:ea typeface="华文楷体" panose="02010600040101010101" pitchFamily="2" charset="-122"/>
              </a:rPr>
              <a:t>树</a:t>
            </a:r>
            <a:r>
              <a:rPr kumimoji="1" lang="zh-CN" altLang="en-US" sz="1600" dirty="0">
                <a:ea typeface="华文楷体" panose="02010600040101010101" pitchFamily="2" charset="-122"/>
              </a:rPr>
              <a:t>，又称</a:t>
            </a:r>
            <a:r>
              <a:rPr kumimoji="1" lang="en-US" altLang="zh-CN" sz="1600" dirty="0">
                <a:solidFill>
                  <a:srgbClr val="C00000"/>
                </a:solidFill>
                <a:ea typeface="华文楷体" panose="02010600040101010101" pitchFamily="2" charset="-122"/>
              </a:rPr>
              <a:t>2-3-4</a:t>
            </a:r>
            <a:r>
              <a:rPr kumimoji="1" lang="zh-CN" altLang="en-US" sz="1600" dirty="0">
                <a:solidFill>
                  <a:srgbClr val="C00000"/>
                </a:solidFill>
                <a:ea typeface="华文楷体" panose="02010600040101010101" pitchFamily="2" charset="-122"/>
              </a:rPr>
              <a:t>树</a:t>
            </a:r>
            <a:r>
              <a:rPr kumimoji="1" lang="zh-CN" altLang="en-US" sz="1600" dirty="0">
                <a:ea typeface="华文楷体" panose="02010600040101010101" pitchFamily="2" charset="-122"/>
              </a:rPr>
              <a:t>，要么是空树，要么包含三类</a:t>
            </a:r>
            <a:r>
              <a:rPr kumimoji="1" lang="zh-CN" altLang="en-US" sz="1600" dirty="0" smtClean="0">
                <a:ea typeface="华文楷体" panose="02010600040101010101" pitchFamily="2" charset="-122"/>
              </a:rPr>
              <a:t>结点：</a:t>
            </a:r>
            <a:r>
              <a:rPr kumimoji="1" lang="en-US" altLang="zh-CN" sz="1600" dirty="0">
                <a:solidFill>
                  <a:srgbClr val="C00000"/>
                </a:solidFill>
                <a:ea typeface="华文楷体" panose="02010600040101010101" pitchFamily="2" charset="-122"/>
              </a:rPr>
              <a:t>2-</a:t>
            </a:r>
            <a:r>
              <a:rPr kumimoji="1" lang="zh-CN" altLang="en-US" sz="1600" dirty="0">
                <a:solidFill>
                  <a:srgbClr val="C00000"/>
                </a:solidFill>
                <a:ea typeface="华文楷体" panose="02010600040101010101" pitchFamily="2" charset="-122"/>
              </a:rPr>
              <a:t>结点</a:t>
            </a:r>
            <a:r>
              <a:rPr kumimoji="1" lang="zh-CN" altLang="en-US" sz="1600" dirty="0" smtClean="0">
                <a:ea typeface="华文楷体" panose="02010600040101010101" pitchFamily="2" charset="-122"/>
              </a:rPr>
              <a:t>：</a:t>
            </a:r>
            <a:r>
              <a:rPr kumimoji="1" lang="en-US" altLang="zh-CN" sz="1600" dirty="0" smtClean="0">
                <a:ea typeface="华文楷体" panose="02010600040101010101" pitchFamily="2" charset="-122"/>
              </a:rPr>
              <a:t>1</a:t>
            </a:r>
            <a:r>
              <a:rPr kumimoji="1" lang="zh-CN" altLang="en-US" sz="1600" dirty="0" smtClean="0">
                <a:ea typeface="华文楷体" panose="02010600040101010101" pitchFamily="2" charset="-122"/>
              </a:rPr>
              <a:t>个</a:t>
            </a:r>
            <a:r>
              <a:rPr kumimoji="1" lang="zh-CN" altLang="en-US" sz="1600" dirty="0">
                <a:ea typeface="华文楷体" panose="02010600040101010101" pitchFamily="2" charset="-122"/>
              </a:rPr>
              <a:t>关键字，一个指向带有较小关键字的左指针，一个指向带有较小</a:t>
            </a:r>
            <a:r>
              <a:rPr kumimoji="1" lang="zh-CN" altLang="en-US" sz="1600" dirty="0" smtClean="0">
                <a:ea typeface="华文楷体" panose="02010600040101010101" pitchFamily="2" charset="-122"/>
              </a:rPr>
              <a:t>关键字子树的</a:t>
            </a:r>
            <a:r>
              <a:rPr kumimoji="1" lang="zh-CN" altLang="en-US" sz="1600" dirty="0">
                <a:ea typeface="华文楷体" panose="02010600040101010101" pitchFamily="2" charset="-122"/>
              </a:rPr>
              <a:t>左指针，一个</a:t>
            </a:r>
            <a:r>
              <a:rPr kumimoji="1" lang="zh-CN" altLang="en-US" sz="1600" dirty="0" smtClean="0">
                <a:ea typeface="华文楷体" panose="02010600040101010101" pitchFamily="2" charset="-122"/>
              </a:rPr>
              <a:t>指向</a:t>
            </a:r>
            <a:r>
              <a:rPr kumimoji="1" lang="zh-CN" altLang="en-US" sz="1600" dirty="0">
                <a:ea typeface="华文楷体" panose="02010600040101010101" pitchFamily="2" charset="-122"/>
              </a:rPr>
              <a:t>带有</a:t>
            </a:r>
            <a:r>
              <a:rPr kumimoji="1" lang="zh-CN" altLang="en-US" sz="1600" dirty="0" smtClean="0">
                <a:ea typeface="华文楷体" panose="02010600040101010101" pitchFamily="2" charset="-122"/>
              </a:rPr>
              <a:t>较大关键字子树的右指针；</a:t>
            </a:r>
            <a:r>
              <a:rPr kumimoji="1" lang="en-US" altLang="zh-CN" sz="1600" dirty="0" smtClean="0">
                <a:solidFill>
                  <a:srgbClr val="C00000"/>
                </a:solidFill>
                <a:ea typeface="华文楷体" panose="02010600040101010101" pitchFamily="2" charset="-122"/>
              </a:rPr>
              <a:t>3-</a:t>
            </a:r>
            <a:r>
              <a:rPr kumimoji="1" lang="zh-CN" altLang="en-US" sz="1600" dirty="0" smtClean="0">
                <a:solidFill>
                  <a:srgbClr val="C00000"/>
                </a:solidFill>
                <a:ea typeface="华文楷体" panose="02010600040101010101" pitchFamily="2" charset="-122"/>
              </a:rPr>
              <a:t>结点</a:t>
            </a:r>
            <a:r>
              <a:rPr kumimoji="1" lang="zh-CN" altLang="en-US" sz="1600" dirty="0" smtClean="0">
                <a:ea typeface="华文楷体" panose="02010600040101010101" pitchFamily="2" charset="-122"/>
              </a:rPr>
              <a:t>：</a:t>
            </a:r>
            <a:r>
              <a:rPr kumimoji="1" lang="en-US" altLang="zh-CN" sz="1600" dirty="0" smtClean="0">
                <a:ea typeface="华文楷体" panose="02010600040101010101" pitchFamily="2" charset="-122"/>
              </a:rPr>
              <a:t>2</a:t>
            </a:r>
            <a:r>
              <a:rPr kumimoji="1" lang="zh-CN" altLang="en-US" sz="1600" dirty="0" smtClean="0">
                <a:ea typeface="华文楷体" panose="02010600040101010101" pitchFamily="2" charset="-122"/>
              </a:rPr>
              <a:t>个关键字，一个指向</a:t>
            </a:r>
            <a:r>
              <a:rPr kumimoji="1" lang="zh-CN" altLang="en-US" sz="1600" dirty="0">
                <a:ea typeface="华文楷体" panose="02010600040101010101" pitchFamily="2" charset="-122"/>
              </a:rPr>
              <a:t>带有较小关键字的左</a:t>
            </a:r>
            <a:r>
              <a:rPr kumimoji="1" lang="zh-CN" altLang="en-US" sz="1600" dirty="0" smtClean="0">
                <a:ea typeface="华文楷体" panose="02010600040101010101" pitchFamily="2" charset="-122"/>
              </a:rPr>
              <a:t>指针，一个指向带有该结点两个关键字定义区间之间的子树的指针，一</a:t>
            </a:r>
            <a:r>
              <a:rPr kumimoji="1" lang="zh-CN" altLang="en-US" sz="1600" dirty="0">
                <a:ea typeface="华文楷体" panose="02010600040101010101" pitchFamily="2" charset="-122"/>
              </a:rPr>
              <a:t>个指向带有较大关键字子树的右</a:t>
            </a:r>
            <a:r>
              <a:rPr kumimoji="1" lang="zh-CN" altLang="en-US" sz="1600" dirty="0" smtClean="0">
                <a:ea typeface="华文楷体" panose="02010600040101010101" pitchFamily="2" charset="-122"/>
              </a:rPr>
              <a:t>指针；</a:t>
            </a:r>
            <a:r>
              <a:rPr kumimoji="1" lang="en-US" altLang="zh-CN" sz="1600" dirty="0" smtClean="0">
                <a:solidFill>
                  <a:srgbClr val="C00000"/>
                </a:solidFill>
                <a:ea typeface="华文楷体" panose="02010600040101010101" pitchFamily="2" charset="-122"/>
              </a:rPr>
              <a:t>4-</a:t>
            </a:r>
            <a:r>
              <a:rPr kumimoji="1" lang="zh-CN" altLang="en-US" sz="1600" dirty="0" smtClean="0">
                <a:solidFill>
                  <a:srgbClr val="C00000"/>
                </a:solidFill>
                <a:ea typeface="华文楷体" panose="02010600040101010101" pitchFamily="2" charset="-122"/>
              </a:rPr>
              <a:t>结点</a:t>
            </a:r>
            <a:r>
              <a:rPr kumimoji="1" lang="zh-CN" altLang="en-US" sz="1600" dirty="0" smtClean="0">
                <a:ea typeface="华文楷体" panose="02010600040101010101" pitchFamily="2" charset="-122"/>
              </a:rPr>
              <a:t>：三个关键字、四个指针，分别指向三个关键字所含的四个值域区间的子树。</a:t>
            </a:r>
            <a:endParaRPr kumimoji="1" lang="zh-CN" altLang="en-US" sz="1600" dirty="0">
              <a:ea typeface="华文楷体" panose="02010600040101010101" pitchFamily="2" charset="-122"/>
            </a:endParaRPr>
          </a:p>
          <a:p>
            <a:endParaRPr lang="zh-CN" alt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3"/>
          <p:cNvSpPr>
            <a:spLocks noGrp="1"/>
          </p:cNvSpPr>
          <p:nvPr>
            <p:ph type="ftr" sz="quarter" idx="10"/>
          </p:nvPr>
        </p:nvSpPr>
        <p:spPr/>
        <p:txBody>
          <a:bodyPr/>
          <a:lstStyle/>
          <a:p>
            <a:pPr>
              <a:defRPr/>
            </a:pPr>
            <a:r>
              <a:rPr lang="en-US" altLang="zh-CN"/>
              <a:t>BUPT SCST</a:t>
            </a:r>
            <a:endParaRPr lang="en-US" altLang="zh-CN"/>
          </a:p>
        </p:txBody>
      </p:sp>
      <p:sp>
        <p:nvSpPr>
          <p:cNvPr id="6" name="日期占位符 5"/>
          <p:cNvSpPr>
            <a:spLocks noGrp="1"/>
          </p:cNvSpPr>
          <p:nvPr>
            <p:ph type="dt" sz="quarter" idx="12"/>
          </p:nvPr>
        </p:nvSpPr>
        <p:spPr/>
        <p:txBody>
          <a:bodyPr/>
          <a:lstStyle/>
          <a:p>
            <a:pPr>
              <a:defRPr/>
            </a:pPr>
            <a:r>
              <a:rPr lang="en-US" altLang="zh-CN"/>
              <a:t>BUPT</a:t>
            </a:r>
            <a:endParaRPr lang="en-US" altLang="zh-CN"/>
          </a:p>
        </p:txBody>
      </p:sp>
      <p:sp>
        <p:nvSpPr>
          <p:cNvPr id="5325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3253" name="Rectangle 3"/>
          <p:cNvSpPr>
            <a:spLocks noGrp="1" noChangeArrowheads="1"/>
          </p:cNvSpPr>
          <p:nvPr>
            <p:ph type="body" idx="1"/>
          </p:nvPr>
        </p:nvSpPr>
        <p:spPr>
          <a:ln>
            <a:solidFill>
              <a:schemeClr val="accent1"/>
            </a:solidFill>
          </a:ln>
        </p:spPr>
        <p:txBody>
          <a:bodyPr/>
          <a:lstStyle/>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设关键字的总数为 </a:t>
            </a:r>
            <a:r>
              <a:rPr lang="en-US" altLang="zh-CN" sz="2400" dirty="0" smtClean="0">
                <a:ea typeface="华文楷体" panose="02010600040101010101" pitchFamily="2" charset="-122"/>
              </a:rPr>
              <a:t>N </a:t>
            </a:r>
            <a:r>
              <a:rPr lang="zh-CN" altLang="en-US" sz="2400" dirty="0" smtClean="0">
                <a:ea typeface="华文楷体" panose="02010600040101010101" pitchFamily="2" charset="-122"/>
              </a:rPr>
              <a:t>，求 </a:t>
            </a:r>
            <a:r>
              <a:rPr lang="en-US" altLang="zh-CN" sz="2400" dirty="0" smtClean="0">
                <a:ea typeface="华文楷体" panose="02010600040101010101" pitchFamily="2" charset="-122"/>
              </a:rPr>
              <a:t>m</a:t>
            </a:r>
            <a:r>
              <a:rPr lang="zh-CN" altLang="en-US" sz="2400" dirty="0" smtClean="0">
                <a:ea typeface="华文楷体" panose="02010600040101010101" pitchFamily="2" charset="-122"/>
              </a:rPr>
              <a:t>阶 </a:t>
            </a:r>
            <a:r>
              <a:rPr lang="en-US" altLang="zh-CN" sz="2400" dirty="0" smtClean="0">
                <a:ea typeface="华文楷体" panose="02010600040101010101" pitchFamily="2" charset="-122"/>
              </a:rPr>
              <a:t>B</a:t>
            </a:r>
            <a:r>
              <a:rPr lang="zh-CN" altLang="en-US" sz="2400" dirty="0" smtClean="0">
                <a:ea typeface="华文楷体" panose="02010600040101010101" pitchFamily="2" charset="-122"/>
              </a:rPr>
              <a:t>树的最大层次 </a:t>
            </a:r>
            <a:r>
              <a:rPr lang="en-US" altLang="zh-CN" sz="2400" dirty="0" smtClean="0">
                <a:ea typeface="华文楷体" panose="02010600040101010101" pitchFamily="2" charset="-122"/>
              </a:rPr>
              <a:t>L</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b="1" dirty="0" smtClean="0">
                <a:ea typeface="华文楷体" panose="02010600040101010101" pitchFamily="2" charset="-122"/>
              </a:rPr>
              <a:t>层次	      结点数		关键字的个数（最少）</a:t>
            </a:r>
            <a:endParaRPr lang="zh-CN" altLang="en-US" sz="2400" b="1"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1	               1		                  1</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2	               2		                  2(</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m/2  -1</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3	               2(</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m/2</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	                  2 (</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m/2</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 (</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m/2  -1</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4	              2 (</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m/2</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 </a:t>
            </a:r>
            <a:r>
              <a:rPr lang="en-US" altLang="zh-CN" sz="2400" baseline="30000" dirty="0" smtClean="0">
                <a:ea typeface="华文楷体" panose="02010600040101010101" pitchFamily="2" charset="-122"/>
              </a:rPr>
              <a:t>2</a:t>
            </a:r>
            <a:r>
              <a:rPr lang="en-US" altLang="zh-CN" sz="2400" dirty="0" smtClean="0">
                <a:ea typeface="华文楷体" panose="02010600040101010101" pitchFamily="2" charset="-122"/>
              </a:rPr>
              <a:t>	                  2(</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m/2</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a:t>
            </a:r>
            <a:r>
              <a:rPr lang="en-US" altLang="zh-CN" sz="2400" baseline="30000" dirty="0" smtClean="0">
                <a:ea typeface="华文楷体" panose="02010600040101010101" pitchFamily="2" charset="-122"/>
              </a:rPr>
              <a:t>2</a:t>
            </a:r>
            <a:r>
              <a:rPr lang="en-US" altLang="zh-CN" sz="2400" dirty="0" smtClean="0">
                <a:ea typeface="华文楷体" panose="02010600040101010101" pitchFamily="2" charset="-122"/>
              </a:rPr>
              <a:t>(</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m/2  -1</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                               …</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L	             2(</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m/2</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a:t>
            </a:r>
            <a:r>
              <a:rPr lang="en-US" altLang="zh-CN" sz="2400" baseline="30000" dirty="0" smtClean="0">
                <a:ea typeface="华文楷体" panose="02010600040101010101" pitchFamily="2" charset="-122"/>
              </a:rPr>
              <a:t>L-2</a:t>
            </a:r>
            <a:r>
              <a:rPr lang="en-US" altLang="zh-CN" sz="2400" dirty="0" smtClean="0">
                <a:ea typeface="华文楷体" panose="02010600040101010101" pitchFamily="2" charset="-122"/>
              </a:rPr>
              <a:t>                   2 (</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 m/2</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a:t>
            </a:r>
            <a:r>
              <a:rPr lang="en-US" altLang="zh-CN" sz="2400" baseline="30000" dirty="0" smtClean="0">
                <a:ea typeface="华文楷体" panose="02010600040101010101" pitchFamily="2" charset="-122"/>
              </a:rPr>
              <a:t>L-2</a:t>
            </a:r>
            <a:r>
              <a:rPr lang="en-US" altLang="zh-CN" sz="2400" dirty="0" smtClean="0">
                <a:ea typeface="华文楷体" panose="02010600040101010101" pitchFamily="2" charset="-122"/>
              </a:rPr>
              <a:t> (</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m/2  -1</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L+1	      2(</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m/2</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a:t>
            </a:r>
            <a:r>
              <a:rPr lang="en-US" altLang="zh-CN" sz="2400" baseline="30000" dirty="0" smtClean="0">
                <a:ea typeface="华文楷体" panose="02010600040101010101" pitchFamily="2" charset="-122"/>
              </a:rPr>
              <a:t>L-1</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叶子</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所以，</a:t>
            </a:r>
            <a:r>
              <a:rPr lang="en-US" altLang="zh-CN" sz="2400" dirty="0" smtClean="0">
                <a:ea typeface="华文楷体" panose="02010600040101010101" pitchFamily="2" charset="-122"/>
              </a:rPr>
              <a:t>N= 2 (</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m/2</a:t>
            </a:r>
            <a:r>
              <a:rPr lang="en-US" altLang="zh-CN"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a:t>
            </a:r>
            <a:r>
              <a:rPr lang="en-US" altLang="zh-CN" sz="2400" baseline="30000" dirty="0" smtClean="0">
                <a:ea typeface="华文楷体" panose="02010600040101010101" pitchFamily="2" charset="-122"/>
              </a:rPr>
              <a:t>L-1</a:t>
            </a:r>
            <a:r>
              <a:rPr lang="en-US" altLang="zh-CN" sz="2400" dirty="0" smtClean="0">
                <a:ea typeface="华文楷体" panose="02010600040101010101" pitchFamily="2" charset="-122"/>
              </a:rPr>
              <a:t> -1</a:t>
            </a: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故：</a:t>
            </a:r>
            <a:r>
              <a:rPr lang="en-US" altLang="zh-CN" sz="2400" dirty="0" smtClean="0">
                <a:ea typeface="华文楷体" panose="02010600040101010101" pitchFamily="2" charset="-122"/>
              </a:rPr>
              <a:t>L</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log </a:t>
            </a:r>
            <a:r>
              <a:rPr lang="en-US" altLang="zh-CN" sz="2400" baseline="-25000" dirty="0" smtClean="0">
                <a:ea typeface="华文楷体" panose="02010600040101010101" pitchFamily="2" charset="-122"/>
                <a:sym typeface="Symbol" panose="05050102010706020507" pitchFamily="18" charset="2"/>
              </a:rPr>
              <a:t></a:t>
            </a:r>
            <a:r>
              <a:rPr lang="en-US" altLang="zh-CN" sz="2400" baseline="-25000" dirty="0" smtClean="0">
                <a:ea typeface="华文楷体" panose="02010600040101010101" pitchFamily="2" charset="-122"/>
              </a:rPr>
              <a:t>m/2</a:t>
            </a:r>
            <a:r>
              <a:rPr lang="en-US" altLang="zh-CN" sz="2400" baseline="-250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rPr>
              <a:t>((N+1)/2)+ 1</a:t>
            </a:r>
            <a:endParaRPr lang="en-US" altLang="zh-CN" sz="2400" dirty="0" smtClean="0">
              <a:ea typeface="华文楷体" panose="02010600040101010101" pitchFamily="2" charset="-122"/>
            </a:endParaRPr>
          </a:p>
        </p:txBody>
      </p:sp>
      <p:sp>
        <p:nvSpPr>
          <p:cNvPr id="53254" name="Text Box 4"/>
          <p:cNvSpPr txBox="1">
            <a:spLocks noChangeArrowheads="1"/>
          </p:cNvSpPr>
          <p:nvPr/>
        </p:nvSpPr>
        <p:spPr bwMode="auto">
          <a:xfrm>
            <a:off x="1447800" y="5715000"/>
            <a:ext cx="522351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kumimoji="1" lang="zh-CN" altLang="zh-CN" sz="1800" b="1" dirty="0">
                <a:solidFill>
                  <a:srgbClr val="FF0000"/>
                </a:solidFill>
                <a:latin typeface="Times New Roman" panose="02020603050405020304" pitchFamily="18" charset="0"/>
                <a:ea typeface="华文楷体" panose="02010600040101010101" pitchFamily="2" charset="-122"/>
              </a:rPr>
              <a:t>设 </a:t>
            </a:r>
            <a:r>
              <a:rPr kumimoji="1" lang="en-US" altLang="zh-CN" sz="1800" b="1" dirty="0">
                <a:solidFill>
                  <a:srgbClr val="FF0000"/>
                </a:solidFill>
                <a:latin typeface="Times New Roman" panose="02020603050405020304" pitchFamily="18" charset="0"/>
                <a:ea typeface="华文楷体" panose="02010600040101010101" pitchFamily="2" charset="-122"/>
              </a:rPr>
              <a:t>N </a:t>
            </a:r>
            <a:r>
              <a:rPr kumimoji="1" lang="zh-CN" altLang="en-US" sz="1800" b="1" dirty="0">
                <a:solidFill>
                  <a:srgbClr val="FF0000"/>
                </a:solidFill>
                <a:latin typeface="Times New Roman" panose="02020603050405020304" pitchFamily="18" charset="0"/>
                <a:ea typeface="华文楷体" panose="02010600040101010101" pitchFamily="2" charset="-122"/>
              </a:rPr>
              <a:t>＝</a:t>
            </a:r>
            <a:r>
              <a:rPr kumimoji="1" lang="en-US" altLang="zh-CN" sz="1800" b="1" dirty="0">
                <a:solidFill>
                  <a:srgbClr val="FF0000"/>
                </a:solidFill>
                <a:latin typeface="Times New Roman" panose="02020603050405020304" pitchFamily="18" charset="0"/>
                <a:ea typeface="华文楷体" panose="02010600040101010101" pitchFamily="2" charset="-122"/>
              </a:rPr>
              <a:t>1000,000 </a:t>
            </a:r>
            <a:r>
              <a:rPr kumimoji="1" lang="zh-CN" altLang="zh-CN" sz="1800" b="1" dirty="0">
                <a:solidFill>
                  <a:srgbClr val="FF0000"/>
                </a:solidFill>
                <a:latin typeface="Times New Roman" panose="02020603050405020304" pitchFamily="18" charset="0"/>
                <a:ea typeface="华文楷体" panose="02010600040101010101" pitchFamily="2" charset="-122"/>
              </a:rPr>
              <a:t>且 </a:t>
            </a:r>
            <a:r>
              <a:rPr kumimoji="1" lang="en-US" altLang="zh-CN" sz="1800" b="1" dirty="0">
                <a:solidFill>
                  <a:srgbClr val="FF0000"/>
                </a:solidFill>
                <a:latin typeface="Times New Roman" panose="02020603050405020304" pitchFamily="18" charset="0"/>
                <a:ea typeface="华文楷体" panose="02010600040101010101" pitchFamily="2" charset="-122"/>
              </a:rPr>
              <a:t>m</a:t>
            </a:r>
            <a:r>
              <a:rPr kumimoji="1" lang="zh-CN" altLang="en-US" sz="1800" b="1" dirty="0">
                <a:solidFill>
                  <a:srgbClr val="FF0000"/>
                </a:solidFill>
                <a:latin typeface="Times New Roman" panose="02020603050405020304" pitchFamily="18" charset="0"/>
                <a:ea typeface="华文楷体" panose="02010600040101010101" pitchFamily="2" charset="-122"/>
              </a:rPr>
              <a:t>＝</a:t>
            </a:r>
            <a:r>
              <a:rPr kumimoji="1" lang="en-US" altLang="zh-CN" sz="1800" b="1" dirty="0">
                <a:solidFill>
                  <a:srgbClr val="FF0000"/>
                </a:solidFill>
                <a:latin typeface="Times New Roman" panose="02020603050405020304" pitchFamily="18" charset="0"/>
                <a:ea typeface="华文楷体" panose="02010600040101010101" pitchFamily="2" charset="-122"/>
              </a:rPr>
              <a:t>256 </a:t>
            </a:r>
            <a:r>
              <a:rPr kumimoji="1" lang="zh-CN" altLang="en-US" sz="1800" b="1" dirty="0">
                <a:solidFill>
                  <a:srgbClr val="FF0000"/>
                </a:solidFill>
                <a:latin typeface="Times New Roman" panose="02020603050405020304" pitchFamily="18" charset="0"/>
                <a:ea typeface="华文楷体" panose="02010600040101010101" pitchFamily="2" charset="-122"/>
              </a:rPr>
              <a:t>，</a:t>
            </a:r>
            <a:endParaRPr kumimoji="1" lang="zh-CN" altLang="en-US" sz="1800" b="1" dirty="0">
              <a:solidFill>
                <a:srgbClr val="FF0000"/>
              </a:solidFill>
              <a:latin typeface="Times New Roman" panose="02020603050405020304" pitchFamily="18" charset="0"/>
              <a:ea typeface="华文楷体" panose="02010600040101010101" pitchFamily="2" charset="-122"/>
            </a:endParaRPr>
          </a:p>
          <a:p>
            <a:pPr eaLnBrk="1" hangingPunct="1">
              <a:spcBef>
                <a:spcPct val="0"/>
              </a:spcBef>
              <a:buClrTx/>
              <a:buFontTx/>
              <a:buNone/>
            </a:pPr>
            <a:r>
              <a:rPr kumimoji="1" lang="zh-CN" altLang="zh-CN" sz="1800" b="1" dirty="0">
                <a:solidFill>
                  <a:srgbClr val="FF0000"/>
                </a:solidFill>
                <a:latin typeface="Times New Roman" panose="02020603050405020304" pitchFamily="18" charset="0"/>
                <a:ea typeface="华文楷体" panose="02010600040101010101" pitchFamily="2" charset="-122"/>
              </a:rPr>
              <a:t>则 </a:t>
            </a:r>
            <a:r>
              <a:rPr kumimoji="1" lang="en-US" altLang="zh-CN" sz="1800" b="1" dirty="0">
                <a:solidFill>
                  <a:srgbClr val="FF0000"/>
                </a:solidFill>
                <a:latin typeface="Times New Roman" panose="02020603050405020304" pitchFamily="18" charset="0"/>
                <a:ea typeface="华文楷体" panose="02010600040101010101" pitchFamily="2" charset="-122"/>
              </a:rPr>
              <a:t>L &lt;= 3</a:t>
            </a:r>
            <a:r>
              <a:rPr kumimoji="1" lang="zh-CN" altLang="en-US" sz="1800" b="1" dirty="0">
                <a:solidFill>
                  <a:srgbClr val="FF0000"/>
                </a:solidFill>
                <a:latin typeface="Times New Roman" panose="02020603050405020304" pitchFamily="18" charset="0"/>
                <a:ea typeface="华文楷体" panose="02010600040101010101" pitchFamily="2" charset="-122"/>
              </a:rPr>
              <a:t>；</a:t>
            </a:r>
            <a:r>
              <a:rPr kumimoji="1" lang="zh-CN" altLang="zh-CN" sz="1800" b="1" dirty="0">
                <a:solidFill>
                  <a:srgbClr val="FF0000"/>
                </a:solidFill>
                <a:latin typeface="Times New Roman" panose="02020603050405020304" pitchFamily="18" charset="0"/>
                <a:ea typeface="华文楷体" panose="02010600040101010101" pitchFamily="2" charset="-122"/>
              </a:rPr>
              <a:t>最多 3 次访问外存可找到所有的记录。</a:t>
            </a:r>
            <a:endParaRPr kumimoji="1" lang="zh-CN" altLang="zh-CN" sz="1800" b="1" dirty="0">
              <a:solidFill>
                <a:srgbClr val="FF0000"/>
              </a:solidFill>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5222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2229"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chemeClr val="accent2"/>
                </a:solidFill>
                <a:ea typeface="华文楷体" panose="02010600040101010101" pitchFamily="2" charset="-122"/>
              </a:rPr>
              <a:t>3.B</a:t>
            </a:r>
            <a:r>
              <a:rPr lang="zh-CN" altLang="en-US" sz="2400" b="1" dirty="0" smtClean="0">
                <a:solidFill>
                  <a:schemeClr val="accent2"/>
                </a:solidFill>
                <a:ea typeface="华文楷体" panose="02010600040101010101" pitchFamily="2" charset="-122"/>
              </a:rPr>
              <a:t>树查找过程</a:t>
            </a:r>
            <a:endParaRPr lang="zh-CN" altLang="en-US" sz="2400" b="1" dirty="0" smtClean="0">
              <a:solidFill>
                <a:schemeClr val="accent2"/>
              </a:solidFill>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类似于二叉排序树的查找。如查找关键字为 </a:t>
            </a:r>
            <a:r>
              <a:rPr lang="en-US" altLang="zh-CN" sz="2400" dirty="0" smtClean="0">
                <a:ea typeface="华文楷体" panose="02010600040101010101" pitchFamily="2" charset="-122"/>
              </a:rPr>
              <a:t>KEY </a:t>
            </a:r>
            <a:r>
              <a:rPr lang="zh-CN" altLang="en-US" sz="2400" dirty="0" smtClean="0">
                <a:ea typeface="华文楷体" panose="02010600040101010101" pitchFamily="2" charset="-122"/>
              </a:rPr>
              <a:t>的记录</a:t>
            </a:r>
            <a:r>
              <a:rPr lang="zh-CN" altLang="en-US" dirty="0" smtClean="0">
                <a:ea typeface="华文楷体" panose="02010600040101010101" pitchFamily="2" charset="-122"/>
              </a:rPr>
              <a:t>。</a:t>
            </a:r>
            <a:endParaRPr lang="zh-CN" altLang="en-US" dirty="0" smtClean="0">
              <a:ea typeface="华文楷体" panose="02010600040101010101" pitchFamily="2" charset="-122"/>
            </a:endParaRPr>
          </a:p>
          <a:p>
            <a:pPr lvl="1" eaLnBrk="1" hangingPunct="1"/>
            <a:r>
              <a:rPr lang="zh-CN" altLang="en-US" dirty="0" smtClean="0">
                <a:ea typeface="华文楷体" panose="02010600040101010101" pitchFamily="2" charset="-122"/>
              </a:rPr>
              <a:t> </a:t>
            </a:r>
            <a:r>
              <a:rPr lang="zh-CN" altLang="en-US" sz="2400" dirty="0" smtClean="0">
                <a:ea typeface="华文楷体" panose="02010600040101010101" pitchFamily="2" charset="-122"/>
              </a:rPr>
              <a:t>从根开始查找，如果 </a:t>
            </a:r>
            <a:r>
              <a:rPr lang="en-US" altLang="zh-CN" sz="2400" dirty="0" smtClean="0">
                <a:ea typeface="华文楷体" panose="02010600040101010101" pitchFamily="2" charset="-122"/>
              </a:rPr>
              <a:t>K</a:t>
            </a:r>
            <a:r>
              <a:rPr lang="en-US" altLang="zh-CN" sz="2400" baseline="-25000" dirty="0" smtClean="0">
                <a:ea typeface="华文楷体" panose="02010600040101010101" pitchFamily="2" charset="-122"/>
              </a:rPr>
              <a:t>i</a:t>
            </a:r>
            <a:r>
              <a:rPr lang="en-US" altLang="zh-CN" sz="2400" dirty="0" smtClean="0">
                <a:ea typeface="华文楷体" panose="02010600040101010101" pitchFamily="2" charset="-122"/>
              </a:rPr>
              <a:t> = KEY </a:t>
            </a:r>
            <a:r>
              <a:rPr lang="zh-CN" altLang="en-US" sz="2400" dirty="0" smtClean="0">
                <a:ea typeface="华文楷体" panose="02010600040101010101" pitchFamily="2" charset="-122"/>
              </a:rPr>
              <a:t>则查找成功。        </a:t>
            </a:r>
            <a:endParaRPr lang="zh-CN" altLang="en-US" sz="2400" dirty="0" smtClean="0">
              <a:ea typeface="华文楷体" panose="02010600040101010101" pitchFamily="2" charset="-122"/>
            </a:endParaRPr>
          </a:p>
          <a:p>
            <a:pPr lvl="1" eaLnBrk="1" hangingPunct="1"/>
            <a:r>
              <a:rPr lang="zh-CN" altLang="en-US" sz="2400" dirty="0" smtClean="0">
                <a:ea typeface="华文楷体" panose="02010600040101010101" pitchFamily="2" charset="-122"/>
              </a:rPr>
              <a:t>若  </a:t>
            </a:r>
            <a:r>
              <a:rPr lang="en-US" altLang="zh-CN" sz="2400" dirty="0" smtClean="0">
                <a:ea typeface="华文楷体" panose="02010600040101010101" pitchFamily="2" charset="-122"/>
              </a:rPr>
              <a:t>K</a:t>
            </a:r>
            <a:r>
              <a:rPr lang="en-US" altLang="zh-CN" sz="2400" baseline="-25000" dirty="0" smtClean="0">
                <a:ea typeface="华文楷体" panose="02010600040101010101" pitchFamily="2" charset="-122"/>
              </a:rPr>
              <a:t>i</a:t>
            </a:r>
            <a:r>
              <a:rPr lang="en-US" altLang="zh-CN" sz="2400" dirty="0" smtClean="0">
                <a:ea typeface="华文楷体" panose="02010600040101010101" pitchFamily="2" charset="-122"/>
              </a:rPr>
              <a:t> &lt; KEY &lt; K</a:t>
            </a:r>
            <a:r>
              <a:rPr lang="en-US" altLang="zh-CN" sz="2400" baseline="-25000" dirty="0" smtClean="0">
                <a:ea typeface="华文楷体" panose="02010600040101010101" pitchFamily="2" charset="-122"/>
              </a:rPr>
              <a:t>i+1</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查找 </a:t>
            </a:r>
            <a:r>
              <a:rPr lang="en-US" altLang="zh-CN" sz="2400" dirty="0" smtClean="0">
                <a:ea typeface="华文楷体" panose="02010600040101010101" pitchFamily="2" charset="-122"/>
              </a:rPr>
              <a:t>A</a:t>
            </a:r>
            <a:r>
              <a:rPr lang="en-US" altLang="zh-CN" sz="2400" baseline="-25000" dirty="0" smtClean="0">
                <a:ea typeface="华文楷体" panose="02010600040101010101" pitchFamily="2" charset="-122"/>
              </a:rPr>
              <a:t>i</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指向的结点</a:t>
            </a:r>
            <a:endParaRPr lang="zh-CN" altLang="en-US" sz="2400" dirty="0" smtClean="0">
              <a:ea typeface="华文楷体" panose="02010600040101010101" pitchFamily="2" charset="-122"/>
            </a:endParaRPr>
          </a:p>
          <a:p>
            <a:pPr lvl="1" eaLnBrk="1" hangingPunct="1"/>
            <a:r>
              <a:rPr lang="zh-CN" altLang="en-US" sz="2400" dirty="0" smtClean="0">
                <a:ea typeface="华文楷体" panose="02010600040101010101" pitchFamily="2" charset="-122"/>
              </a:rPr>
              <a:t>若  </a:t>
            </a:r>
            <a:r>
              <a:rPr lang="en-US" altLang="zh-CN" sz="2400" dirty="0" smtClean="0">
                <a:ea typeface="华文楷体" panose="02010600040101010101" pitchFamily="2" charset="-122"/>
              </a:rPr>
              <a:t>KEY &lt; K</a:t>
            </a:r>
            <a:r>
              <a:rPr lang="en-US" altLang="zh-CN" sz="2400" baseline="-25000" dirty="0" smtClean="0">
                <a:ea typeface="华文楷体" panose="02010600040101010101" pitchFamily="2" charset="-122"/>
              </a:rPr>
              <a:t>1</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查找 </a:t>
            </a:r>
            <a:r>
              <a:rPr lang="en-US" altLang="zh-CN" sz="2400" dirty="0" smtClean="0">
                <a:ea typeface="华文楷体" panose="02010600040101010101" pitchFamily="2" charset="-122"/>
              </a:rPr>
              <a:t>A</a:t>
            </a:r>
            <a:r>
              <a:rPr lang="en-US" altLang="zh-CN" sz="2400" baseline="-25000" dirty="0" smtClean="0">
                <a:ea typeface="华文楷体" panose="02010600040101010101" pitchFamily="2" charset="-122"/>
              </a:rPr>
              <a:t>0</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指向的结点</a:t>
            </a:r>
            <a:endParaRPr lang="zh-CN" altLang="en-US" sz="2400" dirty="0" smtClean="0">
              <a:ea typeface="华文楷体" panose="02010600040101010101" pitchFamily="2" charset="-122"/>
            </a:endParaRPr>
          </a:p>
          <a:p>
            <a:pPr lvl="1" eaLnBrk="1" hangingPunct="1"/>
            <a:r>
              <a:rPr lang="zh-CN" altLang="en-US" sz="2400" dirty="0" smtClean="0">
                <a:ea typeface="华文楷体" panose="02010600040101010101" pitchFamily="2" charset="-122"/>
              </a:rPr>
              <a:t>若  </a:t>
            </a:r>
            <a:r>
              <a:rPr lang="en-US" altLang="zh-CN" sz="2400" dirty="0" smtClean="0">
                <a:ea typeface="华文楷体" panose="02010600040101010101" pitchFamily="2" charset="-122"/>
              </a:rPr>
              <a:t>KEY &gt; </a:t>
            </a:r>
            <a:r>
              <a:rPr lang="en-US" altLang="zh-CN" sz="2400" dirty="0" err="1" smtClean="0">
                <a:ea typeface="华文楷体" panose="02010600040101010101" pitchFamily="2" charset="-122"/>
              </a:rPr>
              <a:t>K</a:t>
            </a:r>
            <a:r>
              <a:rPr lang="en-US" altLang="zh-CN" sz="2400" baseline="-25000" dirty="0" err="1" smtClean="0">
                <a:ea typeface="华文楷体" panose="02010600040101010101" pitchFamily="2" charset="-122"/>
              </a:rPr>
              <a:t>n</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查找 </a:t>
            </a:r>
            <a:r>
              <a:rPr lang="en-US" altLang="zh-CN" sz="2400" dirty="0" smtClean="0">
                <a:ea typeface="华文楷体" panose="02010600040101010101" pitchFamily="2" charset="-122"/>
              </a:rPr>
              <a:t>A</a:t>
            </a:r>
            <a:r>
              <a:rPr lang="en-US" altLang="zh-CN" sz="2400" baseline="-25000" dirty="0" smtClean="0">
                <a:ea typeface="华文楷体" panose="02010600040101010101" pitchFamily="2" charset="-122"/>
              </a:rPr>
              <a:t>n</a:t>
            </a:r>
            <a:r>
              <a:rPr lang="zh-CN" altLang="en-US" sz="2400" dirty="0" smtClean="0">
                <a:ea typeface="华文楷体" panose="02010600040101010101" pitchFamily="2" charset="-122"/>
              </a:rPr>
              <a:t>指向的结点</a:t>
            </a:r>
            <a:endParaRPr lang="zh-CN" altLang="en-US" sz="2400" dirty="0" smtClean="0">
              <a:ea typeface="华文楷体" panose="02010600040101010101" pitchFamily="2" charset="-122"/>
            </a:endParaRPr>
          </a:p>
          <a:p>
            <a:pPr lvl="1" eaLnBrk="1" hangingPunct="1"/>
            <a:r>
              <a:rPr lang="zh-CN" altLang="en-US" sz="2400" dirty="0" smtClean="0">
                <a:ea typeface="华文楷体" panose="02010600040101010101" pitchFamily="2" charset="-122"/>
              </a:rPr>
              <a:t>若 找到叶子，则查找失败</a:t>
            </a:r>
            <a:r>
              <a:rPr lang="zh-CN" altLang="en-US" dirty="0" smtClean="0">
                <a:ea typeface="华文楷体" panose="02010600040101010101" pitchFamily="2" charset="-122"/>
              </a:rPr>
              <a:t>。</a:t>
            </a:r>
            <a:endParaRPr lang="zh-CN" altLang="en-US"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页脚占位符 3"/>
          <p:cNvSpPr>
            <a:spLocks noGrp="1"/>
          </p:cNvSpPr>
          <p:nvPr>
            <p:ph type="ftr" sz="quarter" idx="10"/>
          </p:nvPr>
        </p:nvSpPr>
        <p:spPr/>
        <p:txBody>
          <a:bodyPr/>
          <a:lstStyle/>
          <a:p>
            <a:pPr>
              <a:defRPr/>
            </a:pPr>
            <a:r>
              <a:rPr lang="en-US" altLang="zh-CN" dirty="0"/>
              <a:t>BUPT SCST</a:t>
            </a:r>
            <a:endParaRPr lang="en-US" altLang="zh-CN" dirty="0"/>
          </a:p>
        </p:txBody>
      </p:sp>
      <p:sp>
        <p:nvSpPr>
          <p:cNvPr id="14" name="日期占位符 5"/>
          <p:cNvSpPr>
            <a:spLocks noGrp="1"/>
          </p:cNvSpPr>
          <p:nvPr>
            <p:ph type="dt" sz="quarter" idx="12"/>
          </p:nvPr>
        </p:nvSpPr>
        <p:spPr/>
        <p:txBody>
          <a:bodyPr/>
          <a:lstStyle/>
          <a:p>
            <a:pPr>
              <a:defRPr/>
            </a:pPr>
            <a:r>
              <a:rPr lang="en-US" altLang="zh-CN" dirty="0"/>
              <a:t>BUPT</a:t>
            </a:r>
            <a:endParaRPr lang="en-US" altLang="zh-CN" dirty="0"/>
          </a:p>
        </p:txBody>
      </p:sp>
      <p:sp>
        <p:nvSpPr>
          <p:cNvPr id="54276" name="Rectangle 2"/>
          <p:cNvSpPr>
            <a:spLocks noChangeArrowheads="1"/>
          </p:cNvSpPr>
          <p:nvPr/>
        </p:nvSpPr>
        <p:spPr bwMode="auto">
          <a:xfrm>
            <a:off x="4427984" y="5257800"/>
            <a:ext cx="4716016" cy="381000"/>
          </a:xfrm>
          <a:prstGeom prst="rect">
            <a:avLst/>
          </a:prstGeom>
          <a:solidFill>
            <a:schemeClr val="bg1"/>
          </a:solidFill>
          <a:ln w="222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4277" name="Rectangle 3"/>
          <p:cNvSpPr>
            <a:spLocks noChangeArrowheads="1"/>
          </p:cNvSpPr>
          <p:nvPr/>
        </p:nvSpPr>
        <p:spPr bwMode="auto">
          <a:xfrm>
            <a:off x="0" y="5257800"/>
            <a:ext cx="4355976" cy="381000"/>
          </a:xfrm>
          <a:prstGeom prst="rect">
            <a:avLst/>
          </a:prstGeom>
          <a:solidFill>
            <a:schemeClr val="bg1"/>
          </a:solidFill>
          <a:ln w="222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4278" name="Rectangle 4"/>
          <p:cNvSpPr>
            <a:spLocks noChangeArrowheads="1"/>
          </p:cNvSpPr>
          <p:nvPr/>
        </p:nvSpPr>
        <p:spPr bwMode="auto">
          <a:xfrm>
            <a:off x="1446213" y="4648200"/>
            <a:ext cx="3886200" cy="381000"/>
          </a:xfrm>
          <a:prstGeom prst="rect">
            <a:avLst/>
          </a:prstGeom>
          <a:solidFill>
            <a:schemeClr val="bg1"/>
          </a:solidFill>
          <a:ln w="222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4279" name="Rectangle 5"/>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4280" name="Rectangle 6"/>
          <p:cNvSpPr>
            <a:spLocks noGrp="1" noChangeArrowheads="1"/>
          </p:cNvSpPr>
          <p:nvPr>
            <p:ph type="body" idx="1"/>
          </p:nvPr>
        </p:nvSpPr>
        <p:spPr>
          <a:xfrm>
            <a:off x="0" y="1152525"/>
            <a:ext cx="8964488" cy="5248275"/>
          </a:xfrm>
        </p:spPr>
        <p:txBody>
          <a:bodyPr/>
          <a:lstStyle/>
          <a:p>
            <a:pPr eaLnBrk="1" hangingPunct="1">
              <a:lnSpc>
                <a:spcPct val="80000"/>
              </a:lnSpc>
              <a:buFont typeface="Wingdings" panose="05000000000000000000" pitchFamily="2" charset="2"/>
              <a:buNone/>
            </a:pPr>
            <a:r>
              <a:rPr lang="en-US" altLang="zh-CN" sz="2400" b="1" dirty="0" smtClean="0">
                <a:solidFill>
                  <a:schemeClr val="accent2"/>
                </a:solidFill>
                <a:ea typeface="华文楷体" panose="02010600040101010101" pitchFamily="2" charset="-122"/>
              </a:rPr>
              <a:t>4.m</a:t>
            </a:r>
            <a:r>
              <a:rPr lang="zh-CN" altLang="en-US" sz="2400" b="1" dirty="0" smtClean="0">
                <a:solidFill>
                  <a:schemeClr val="accent2"/>
                </a:solidFill>
                <a:ea typeface="华文楷体" panose="02010600040101010101" pitchFamily="2" charset="-122"/>
              </a:rPr>
              <a:t>阶</a:t>
            </a:r>
            <a:r>
              <a:rPr lang="en-US" altLang="zh-CN" sz="2400" b="1" dirty="0" smtClean="0">
                <a:solidFill>
                  <a:schemeClr val="accent2"/>
                </a:solidFill>
                <a:ea typeface="华文楷体" panose="02010600040101010101" pitchFamily="2" charset="-122"/>
              </a:rPr>
              <a:t>B-</a:t>
            </a:r>
            <a:r>
              <a:rPr lang="zh-CN" altLang="en-US" sz="2400" b="1" dirty="0" smtClean="0">
                <a:solidFill>
                  <a:schemeClr val="accent2"/>
                </a:solidFill>
                <a:ea typeface="华文楷体" panose="02010600040101010101" pitchFamily="2" charset="-122"/>
              </a:rPr>
              <a:t>树插入过程</a:t>
            </a:r>
            <a:endParaRPr lang="zh-CN" altLang="en-US" sz="2400" b="1" dirty="0" smtClean="0">
              <a:solidFill>
                <a:schemeClr val="accent2"/>
              </a:solidFill>
              <a:ea typeface="华文楷体" panose="02010600040101010101" pitchFamily="2" charset="-122"/>
            </a:endParaRPr>
          </a:p>
          <a:p>
            <a:pPr eaLnBrk="1" hangingPunct="1">
              <a:lnSpc>
                <a:spcPct val="80000"/>
              </a:lnSpc>
              <a:buNone/>
            </a:pP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、利用查找过程确定第 </a:t>
            </a:r>
            <a:r>
              <a:rPr lang="en-US" altLang="zh-CN" sz="2400" dirty="0" smtClean="0">
                <a:ea typeface="华文楷体" panose="02010600040101010101" pitchFamily="2" charset="-122"/>
              </a:rPr>
              <a:t>L </a:t>
            </a:r>
            <a:r>
              <a:rPr lang="zh-CN" altLang="en-US" sz="2400" dirty="0" smtClean="0">
                <a:ea typeface="华文楷体" panose="02010600040101010101" pitchFamily="2" charset="-122"/>
              </a:rPr>
              <a:t>层上数据元素的插入</a:t>
            </a:r>
            <a:r>
              <a:rPr lang="zh-CN" altLang="en-US" sz="2400" dirty="0">
                <a:ea typeface="华文楷体" panose="02010600040101010101" pitchFamily="2" charset="-122"/>
              </a:rPr>
              <a:t>位置（</a:t>
            </a:r>
            <a:r>
              <a:rPr lang="zh-CN" altLang="en-US" sz="2400" dirty="0" smtClean="0">
                <a:ea typeface="华文楷体" panose="02010600040101010101" pitchFamily="2" charset="-122"/>
              </a:rPr>
              <a:t>注意：第 </a:t>
            </a:r>
            <a:r>
              <a:rPr lang="en-US" altLang="zh-CN" sz="2400" dirty="0" smtClean="0">
                <a:ea typeface="华文楷体" panose="02010600040101010101" pitchFamily="2" charset="-122"/>
              </a:rPr>
              <a:t>L+1 </a:t>
            </a:r>
            <a:r>
              <a:rPr lang="zh-CN" altLang="en-US" sz="2400" dirty="0" smtClean="0">
                <a:ea typeface="华文楷体" panose="02010600040101010101" pitchFamily="2" charset="-122"/>
              </a:rPr>
              <a:t>层为叶子结点）</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、找到插入位置</a:t>
            </a:r>
            <a:r>
              <a:rPr lang="zh-CN" altLang="en-US" sz="2400" dirty="0">
                <a:ea typeface="华文楷体" panose="02010600040101010101" pitchFamily="2" charset="-122"/>
              </a:rPr>
              <a:t>后</a:t>
            </a:r>
            <a:r>
              <a:rPr lang="zh-CN" altLang="en-US" sz="2400" dirty="0" smtClean="0">
                <a:ea typeface="华文楷体" panose="02010600040101010101" pitchFamily="2" charset="-122"/>
              </a:rPr>
              <a:t>，将关键字和其它信息按序插入到相应结点上。</a:t>
            </a:r>
            <a:endParaRPr lang="zh-CN" altLang="en-US" sz="2400" dirty="0" smtClean="0">
              <a:ea typeface="华文楷体" panose="02010600040101010101" pitchFamily="2" charset="-122"/>
            </a:endParaRPr>
          </a:p>
          <a:p>
            <a:pPr eaLnBrk="1" hangingPunct="1">
              <a:lnSpc>
                <a:spcPct val="80000"/>
              </a:lnSpc>
              <a:buNone/>
            </a:pPr>
            <a:r>
              <a:rPr lang="en-US" altLang="zh-CN" sz="2400" dirty="0" smtClean="0">
                <a:ea typeface="华文楷体" panose="02010600040101010101" pitchFamily="2" charset="-122"/>
              </a:rPr>
              <a:t>3</a:t>
            </a:r>
            <a:r>
              <a:rPr lang="zh-CN" altLang="en-US" sz="2400" dirty="0" smtClean="0">
                <a:ea typeface="华文楷体" panose="02010600040101010101" pitchFamily="2" charset="-122"/>
              </a:rPr>
              <a:t>、若插入新数据元素后，被插入结点的关键字个数为</a:t>
            </a:r>
            <a:r>
              <a:rPr lang="en-US" altLang="zh-CN" sz="2400" dirty="0" smtClean="0">
                <a:ea typeface="华文楷体" panose="02010600040101010101" pitchFamily="2" charset="-122"/>
              </a:rPr>
              <a:t>m, </a:t>
            </a:r>
            <a:r>
              <a:rPr lang="zh-CN" altLang="en-US" sz="2400" dirty="0" smtClean="0">
                <a:ea typeface="华文楷体" panose="02010600040101010101" pitchFamily="2" charset="-122"/>
              </a:rPr>
              <a:t>则该结点满。必须分裂成两个结点。否则不满结束。</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如结点原为：</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b="1" dirty="0" smtClean="0">
                <a:ea typeface="华文楷体" panose="02010600040101010101" pitchFamily="2" charset="-122"/>
              </a:rPr>
              <a:t>     </a:t>
            </a:r>
            <a:r>
              <a:rPr lang="en-US" altLang="zh-CN" sz="2000" b="1" dirty="0" smtClean="0">
                <a:ea typeface="华文楷体" panose="02010600040101010101" pitchFamily="2" charset="-122"/>
              </a:rPr>
              <a:t>(m-1, A</a:t>
            </a:r>
            <a:r>
              <a:rPr lang="en-US" altLang="zh-CN" sz="2000" b="1" baseline="-25000" dirty="0" smtClean="0">
                <a:ea typeface="华文楷体" panose="02010600040101010101" pitchFamily="2" charset="-122"/>
              </a:rPr>
              <a:t>0</a:t>
            </a:r>
            <a:r>
              <a:rPr lang="en-US" altLang="zh-CN" sz="2000" b="1" dirty="0" smtClean="0">
                <a:ea typeface="华文楷体" panose="02010600040101010101" pitchFamily="2" charset="-122"/>
              </a:rPr>
              <a:t>, (K</a:t>
            </a:r>
            <a:r>
              <a:rPr lang="en-US" altLang="zh-CN" sz="2000" b="1" baseline="-25000" dirty="0" smtClean="0">
                <a:ea typeface="华文楷体" panose="02010600040101010101" pitchFamily="2" charset="-122"/>
              </a:rPr>
              <a:t>1</a:t>
            </a:r>
            <a:r>
              <a:rPr lang="en-US" altLang="zh-CN" sz="2000" b="1" dirty="0" smtClean="0">
                <a:ea typeface="华文楷体" panose="02010600040101010101" pitchFamily="2" charset="-122"/>
              </a:rPr>
              <a:t>, A</a:t>
            </a:r>
            <a:r>
              <a:rPr lang="en-US" altLang="zh-CN" sz="2000" b="1" baseline="-25000" dirty="0" smtClean="0">
                <a:ea typeface="华文楷体" panose="02010600040101010101" pitchFamily="2" charset="-122"/>
              </a:rPr>
              <a:t>1</a:t>
            </a:r>
            <a:r>
              <a:rPr lang="en-US" altLang="zh-CN" sz="2000" b="1" dirty="0" smtClean="0">
                <a:ea typeface="华文楷体" panose="02010600040101010101" pitchFamily="2" charset="-122"/>
              </a:rPr>
              <a:t>), </a:t>
            </a:r>
            <a:r>
              <a:rPr lang="en-US" altLang="zh-CN" sz="2000" b="1" dirty="0">
                <a:ea typeface="华文楷体" panose="02010600040101010101" pitchFamily="2" charset="-122"/>
              </a:rPr>
              <a:t>(</a:t>
            </a:r>
            <a:r>
              <a:rPr lang="en-US" altLang="zh-CN" sz="2000" b="1" dirty="0" smtClean="0">
                <a:ea typeface="华文楷体" panose="02010600040101010101" pitchFamily="2" charset="-122"/>
              </a:rPr>
              <a:t>K</a:t>
            </a:r>
            <a:r>
              <a:rPr lang="en-US" altLang="zh-CN" sz="2000" b="1" baseline="-25000" dirty="0" smtClean="0">
                <a:ea typeface="华文楷体" panose="02010600040101010101" pitchFamily="2" charset="-122"/>
              </a:rPr>
              <a:t>2</a:t>
            </a:r>
            <a:r>
              <a:rPr lang="en-US" altLang="zh-CN" sz="2000" b="1" dirty="0" smtClean="0">
                <a:ea typeface="华文楷体" panose="02010600040101010101" pitchFamily="2" charset="-122"/>
              </a:rPr>
              <a:t>, A</a:t>
            </a:r>
            <a:r>
              <a:rPr lang="en-US" altLang="zh-CN" sz="2000" b="1" baseline="-25000" dirty="0" smtClean="0">
                <a:ea typeface="华文楷体" panose="02010600040101010101" pitchFamily="2" charset="-122"/>
              </a:rPr>
              <a:t>2</a:t>
            </a:r>
            <a:r>
              <a:rPr lang="en-US" altLang="zh-CN" sz="2000" b="1" dirty="0" smtClean="0">
                <a:ea typeface="华文楷体" panose="02010600040101010101" pitchFamily="2" charset="-122"/>
              </a:rPr>
              <a:t>),    …   (K</a:t>
            </a:r>
            <a:r>
              <a:rPr lang="en-US" altLang="zh-CN" sz="2000" b="1" baseline="-25000" dirty="0" smtClean="0">
                <a:ea typeface="华文楷体" panose="02010600040101010101" pitchFamily="2" charset="-122"/>
              </a:rPr>
              <a:t>m-1</a:t>
            </a:r>
            <a:r>
              <a:rPr lang="en-US" altLang="zh-CN" sz="2000" b="1" dirty="0" smtClean="0">
                <a:ea typeface="华文楷体" panose="02010600040101010101" pitchFamily="2" charset="-122"/>
              </a:rPr>
              <a:t>, A</a:t>
            </a:r>
            <a:r>
              <a:rPr lang="en-US" altLang="zh-CN" sz="2000" b="1" baseline="-25000" dirty="0" smtClean="0">
                <a:ea typeface="华文楷体" panose="02010600040101010101" pitchFamily="2" charset="-122"/>
              </a:rPr>
              <a:t>m-1</a:t>
            </a:r>
            <a:r>
              <a:rPr lang="en-US" altLang="zh-CN" sz="2000" b="1" dirty="0" smtClean="0">
                <a:ea typeface="华文楷体" panose="02010600040101010101" pitchFamily="2" charset="-122"/>
              </a:rPr>
              <a:t>))</a:t>
            </a:r>
            <a:endParaRPr lang="en-US" altLang="zh-CN" sz="2000" b="1" dirty="0" smtClean="0">
              <a:ea typeface="华文楷体" panose="02010600040101010101" pitchFamily="2" charset="-122"/>
            </a:endParaRPr>
          </a:p>
          <a:p>
            <a:pPr eaLnBrk="1" hangingPunct="1">
              <a:lnSpc>
                <a:spcPct val="80000"/>
              </a:lnSpc>
              <a:buNone/>
            </a:pPr>
            <a:r>
              <a:rPr lang="zh-CN" altLang="en-US" sz="2400" dirty="0" smtClean="0">
                <a:ea typeface="华文楷体" panose="02010600040101010101" pitchFamily="2" charset="-122"/>
              </a:rPr>
              <a:t>插入一个关键字之后变为：</a:t>
            </a:r>
            <a:r>
              <a:rPr lang="en-US" altLang="zh-CN" sz="2000" b="1" dirty="0" smtClean="0">
                <a:ea typeface="华文楷体" panose="02010600040101010101" pitchFamily="2" charset="-122"/>
              </a:rPr>
              <a:t>(m, A</a:t>
            </a:r>
            <a:r>
              <a:rPr lang="en-US" altLang="zh-CN" sz="2000" b="1" baseline="-25000" dirty="0" smtClean="0">
                <a:ea typeface="华文楷体" panose="02010600040101010101" pitchFamily="2" charset="-122"/>
              </a:rPr>
              <a:t>0</a:t>
            </a:r>
            <a:r>
              <a:rPr lang="en-US" altLang="zh-CN" sz="2000" b="1" dirty="0" smtClean="0">
                <a:ea typeface="华文楷体" panose="02010600040101010101" pitchFamily="2" charset="-122"/>
              </a:rPr>
              <a:t>, </a:t>
            </a:r>
            <a:r>
              <a:rPr lang="en-US" altLang="zh-CN" sz="2000" b="1" dirty="0">
                <a:ea typeface="华文楷体" panose="02010600040101010101" pitchFamily="2" charset="-122"/>
              </a:rPr>
              <a:t>(</a:t>
            </a:r>
            <a:r>
              <a:rPr lang="en-US" altLang="zh-CN" sz="2000" b="1" dirty="0" smtClean="0">
                <a:ea typeface="华文楷体" panose="02010600040101010101" pitchFamily="2" charset="-122"/>
              </a:rPr>
              <a:t>K</a:t>
            </a:r>
            <a:r>
              <a:rPr lang="en-US" altLang="zh-CN" sz="2000" b="1" baseline="-25000" dirty="0" smtClean="0">
                <a:ea typeface="华文楷体" panose="02010600040101010101" pitchFamily="2" charset="-122"/>
              </a:rPr>
              <a:t>1</a:t>
            </a:r>
            <a:r>
              <a:rPr lang="en-US" altLang="zh-CN" sz="2000" b="1" dirty="0" smtClean="0">
                <a:ea typeface="华文楷体" panose="02010600040101010101" pitchFamily="2" charset="-122"/>
              </a:rPr>
              <a:t>, A</a:t>
            </a:r>
            <a:r>
              <a:rPr lang="en-US" altLang="zh-CN" sz="2000" b="1" baseline="-25000" dirty="0" smtClean="0">
                <a:ea typeface="华文楷体" panose="02010600040101010101" pitchFamily="2" charset="-122"/>
              </a:rPr>
              <a:t>1</a:t>
            </a:r>
            <a:r>
              <a:rPr lang="en-US" altLang="zh-CN" sz="2000" b="1" dirty="0">
                <a:ea typeface="华文楷体" panose="02010600040101010101" pitchFamily="2" charset="-122"/>
              </a:rPr>
              <a:t>), ( K</a:t>
            </a:r>
            <a:r>
              <a:rPr lang="en-US" altLang="zh-CN" sz="2000" b="1" baseline="-25000" dirty="0" smtClean="0">
                <a:ea typeface="华文楷体" panose="02010600040101010101" pitchFamily="2" charset="-122"/>
              </a:rPr>
              <a:t>2</a:t>
            </a:r>
            <a:r>
              <a:rPr lang="en-US" altLang="zh-CN" sz="2000" b="1" dirty="0" smtClean="0">
                <a:ea typeface="华文楷体" panose="02010600040101010101" pitchFamily="2" charset="-122"/>
              </a:rPr>
              <a:t>, A</a:t>
            </a:r>
            <a:r>
              <a:rPr lang="en-US" altLang="zh-CN" sz="2000" b="1" baseline="-25000" dirty="0" smtClean="0">
                <a:ea typeface="华文楷体" panose="02010600040101010101" pitchFamily="2" charset="-122"/>
              </a:rPr>
              <a:t>2</a:t>
            </a:r>
            <a:r>
              <a:rPr lang="en-US" altLang="zh-CN" sz="2000" b="1" dirty="0">
                <a:ea typeface="华文楷体" panose="02010600040101010101" pitchFamily="2" charset="-122"/>
              </a:rPr>
              <a:t>),    </a:t>
            </a:r>
            <a:r>
              <a:rPr lang="en-US" altLang="zh-CN" sz="2000" b="1" dirty="0" smtClean="0">
                <a:ea typeface="华文楷体" panose="02010600040101010101" pitchFamily="2" charset="-122"/>
              </a:rPr>
              <a:t>…   (K</a:t>
            </a:r>
            <a:r>
              <a:rPr lang="en-US" altLang="zh-CN" sz="2000" b="1" baseline="-25000" dirty="0" smtClean="0">
                <a:ea typeface="华文楷体" panose="02010600040101010101" pitchFamily="2" charset="-122"/>
              </a:rPr>
              <a:t>m</a:t>
            </a:r>
            <a:r>
              <a:rPr lang="en-US" altLang="zh-CN" sz="2000" b="1" dirty="0" smtClean="0">
                <a:ea typeface="华文楷体" panose="02010600040101010101" pitchFamily="2" charset="-122"/>
              </a:rPr>
              <a:t>, A</a:t>
            </a:r>
            <a:r>
              <a:rPr lang="en-US" altLang="zh-CN" sz="2000" b="1" baseline="-25000" dirty="0" smtClean="0">
                <a:ea typeface="华文楷体" panose="02010600040101010101" pitchFamily="2" charset="-122"/>
              </a:rPr>
              <a:t>m</a:t>
            </a:r>
            <a:r>
              <a:rPr lang="en-US" altLang="zh-CN" sz="2000" b="1" dirty="0" smtClean="0">
                <a:ea typeface="华文楷体" panose="02010600040101010101" pitchFamily="2" charset="-122"/>
              </a:rPr>
              <a:t>))</a:t>
            </a:r>
            <a:endParaRPr lang="en-US" altLang="zh-CN" sz="2000" b="1"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该结点以</a:t>
            </a:r>
            <a:r>
              <a:rPr lang="en-US" altLang="zh-CN" sz="2000" b="1" dirty="0" smtClean="0">
                <a:ea typeface="华文楷体" panose="02010600040101010101" pitchFamily="2" charset="-122"/>
              </a:rPr>
              <a:t>K </a:t>
            </a:r>
            <a:r>
              <a:rPr lang="en-US" altLang="zh-CN" sz="2000" b="1" baseline="-25000" dirty="0" smtClean="0">
                <a:ea typeface="华文楷体" panose="02010600040101010101" pitchFamily="2" charset="-122"/>
                <a:sym typeface="Symbol" panose="05050102010706020507" pitchFamily="18" charset="2"/>
              </a:rPr>
              <a:t></a:t>
            </a:r>
            <a:r>
              <a:rPr lang="en-US" altLang="zh-CN" sz="2000" b="1" baseline="-25000" dirty="0" smtClean="0">
                <a:ea typeface="华文楷体" panose="02010600040101010101" pitchFamily="2" charset="-122"/>
              </a:rPr>
              <a:t>m/2</a:t>
            </a:r>
            <a:r>
              <a:rPr lang="en-US" altLang="zh-CN" sz="2000" b="1" baseline="-25000" dirty="0" smtClean="0">
                <a:ea typeface="华文楷体" panose="02010600040101010101" pitchFamily="2" charset="-122"/>
                <a:sym typeface="Symbol" panose="05050102010706020507" pitchFamily="18" charset="2"/>
              </a:rPr>
              <a:t></a:t>
            </a:r>
            <a:r>
              <a:rPr lang="zh-CN" altLang="en-US" sz="2400" dirty="0" smtClean="0">
                <a:ea typeface="华文楷体" panose="02010600040101010101" pitchFamily="2" charset="-122"/>
                <a:sym typeface="Symbol" panose="05050102010706020507" pitchFamily="18" charset="2"/>
              </a:rPr>
              <a:t>为界</a:t>
            </a:r>
            <a:r>
              <a:rPr lang="zh-CN" altLang="en-US" sz="2400" dirty="0" smtClean="0">
                <a:ea typeface="华文楷体" panose="02010600040101010101" pitchFamily="2" charset="-122"/>
              </a:rPr>
              <a:t>，进行分裂：</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b="1" dirty="0" smtClean="0">
                <a:ea typeface="华文楷体" panose="02010600040101010101" pitchFamily="2" charset="-122"/>
              </a:rPr>
              <a:t>                   </a:t>
            </a:r>
            <a:r>
              <a:rPr lang="en-US" altLang="zh-CN" sz="2000" b="1" dirty="0" smtClean="0">
                <a:ea typeface="华文楷体" panose="02010600040101010101" pitchFamily="2" charset="-122"/>
              </a:rPr>
              <a:t>………...(K </a:t>
            </a:r>
            <a:r>
              <a:rPr lang="en-US" altLang="zh-CN" sz="2000" b="1" baseline="-25000" dirty="0" smtClean="0">
                <a:ea typeface="华文楷体" panose="02010600040101010101" pitchFamily="2" charset="-122"/>
                <a:sym typeface="Symbol" panose="05050102010706020507" pitchFamily="18" charset="2"/>
              </a:rPr>
              <a:t></a:t>
            </a:r>
            <a:r>
              <a:rPr lang="en-US" altLang="zh-CN" sz="2000" b="1" baseline="-25000" dirty="0" smtClean="0">
                <a:ea typeface="华文楷体" panose="02010600040101010101" pitchFamily="2" charset="-122"/>
              </a:rPr>
              <a:t>m/2</a:t>
            </a:r>
            <a:r>
              <a:rPr lang="en-US" altLang="zh-CN" sz="2000" b="1" baseline="-25000" dirty="0" smtClean="0">
                <a:ea typeface="华文楷体" panose="02010600040101010101" pitchFamily="2" charset="-122"/>
                <a:sym typeface="Symbol" panose="05050102010706020507" pitchFamily="18" charset="2"/>
              </a:rPr>
              <a:t></a:t>
            </a:r>
            <a:r>
              <a:rPr lang="en-US" altLang="zh-CN" sz="2000" b="1" dirty="0" smtClean="0">
                <a:ea typeface="华文楷体" panose="02010600040101010101" pitchFamily="2" charset="-122"/>
              </a:rPr>
              <a:t> , p’ ) …………...</a:t>
            </a:r>
            <a:endParaRPr lang="en-US" altLang="zh-CN" sz="2000" b="1" dirty="0" smtClean="0">
              <a:ea typeface="华文楷体" panose="02010600040101010101" pitchFamily="2" charset="-122"/>
            </a:endParaRPr>
          </a:p>
          <a:p>
            <a:pPr eaLnBrk="1" hangingPunct="1">
              <a:lnSpc>
                <a:spcPct val="80000"/>
              </a:lnSpc>
              <a:buFont typeface="Wingdings" panose="05000000000000000000" pitchFamily="2" charset="2"/>
              <a:buNone/>
            </a:pPr>
            <a:endParaRPr lang="en-US" altLang="zh-CN" sz="2000" b="1" dirty="0" smtClean="0">
              <a:ea typeface="华文楷体" panose="02010600040101010101" pitchFamily="2" charset="-122"/>
            </a:endParaRPr>
          </a:p>
          <a:p>
            <a:pPr eaLnBrk="1" hangingPunct="1">
              <a:lnSpc>
                <a:spcPct val="80000"/>
              </a:lnSpc>
              <a:buNone/>
            </a:pPr>
            <a:r>
              <a:rPr lang="en-US" altLang="zh-CN" sz="2000" b="1" dirty="0" smtClean="0">
                <a:ea typeface="华文楷体" panose="02010600040101010101" pitchFamily="2" charset="-122"/>
              </a:rPr>
              <a:t> (</a:t>
            </a:r>
            <a:r>
              <a:rPr lang="en-US" altLang="zh-CN" sz="1800" b="1" dirty="0" smtClean="0">
                <a:ea typeface="华文楷体" panose="02010600040101010101" pitchFamily="2" charset="-122"/>
                <a:sym typeface="Symbol" panose="05050102010706020507" pitchFamily="18" charset="2"/>
              </a:rPr>
              <a:t></a:t>
            </a:r>
            <a:r>
              <a:rPr lang="en-US" altLang="zh-CN" sz="1800" b="1" dirty="0" smtClean="0">
                <a:ea typeface="华文楷体" panose="02010600040101010101" pitchFamily="2" charset="-122"/>
              </a:rPr>
              <a:t>m/2-1</a:t>
            </a:r>
            <a:r>
              <a:rPr lang="en-US" altLang="zh-CN" sz="1800" b="1" dirty="0" smtClean="0">
                <a:ea typeface="华文楷体" panose="02010600040101010101" pitchFamily="2" charset="-122"/>
                <a:sym typeface="Symbol" panose="05050102010706020507" pitchFamily="18" charset="2"/>
              </a:rPr>
              <a:t></a:t>
            </a:r>
            <a:r>
              <a:rPr lang="en-US" altLang="zh-CN" sz="1800" b="1" dirty="0" smtClean="0">
                <a:ea typeface="华文楷体" panose="02010600040101010101" pitchFamily="2" charset="-122"/>
              </a:rPr>
              <a:t>,A</a:t>
            </a:r>
            <a:r>
              <a:rPr lang="en-US" altLang="zh-CN" sz="1800" b="1" baseline="-25000" dirty="0" smtClean="0">
                <a:ea typeface="华文楷体" panose="02010600040101010101" pitchFamily="2" charset="-122"/>
              </a:rPr>
              <a:t>0</a:t>
            </a:r>
            <a:r>
              <a:rPr lang="en-US" altLang="zh-CN" sz="1800" b="1" dirty="0" smtClean="0">
                <a:ea typeface="华文楷体" panose="02010600040101010101" pitchFamily="2" charset="-122"/>
              </a:rPr>
              <a:t>, (K</a:t>
            </a:r>
            <a:r>
              <a:rPr lang="en-US" altLang="zh-CN" sz="1800" b="1" baseline="-25000" dirty="0" smtClean="0">
                <a:ea typeface="华文楷体" panose="02010600040101010101" pitchFamily="2" charset="-122"/>
              </a:rPr>
              <a:t>1</a:t>
            </a:r>
            <a:r>
              <a:rPr lang="en-US" altLang="zh-CN" sz="1800" b="1" dirty="0" smtClean="0">
                <a:ea typeface="华文楷体" panose="02010600040101010101" pitchFamily="2" charset="-122"/>
              </a:rPr>
              <a:t>,A</a:t>
            </a:r>
            <a:r>
              <a:rPr lang="en-US" altLang="zh-CN" sz="1800" b="1" baseline="-25000" dirty="0" smtClean="0">
                <a:ea typeface="华文楷体" panose="02010600040101010101" pitchFamily="2" charset="-122"/>
              </a:rPr>
              <a:t>1</a:t>
            </a:r>
            <a:r>
              <a:rPr lang="en-US" altLang="zh-CN" sz="1800" b="1" dirty="0" smtClean="0">
                <a:ea typeface="华文楷体" panose="02010600040101010101" pitchFamily="2" charset="-122"/>
              </a:rPr>
              <a:t>)…(K </a:t>
            </a:r>
            <a:r>
              <a:rPr lang="en-US" altLang="zh-CN" sz="1800" b="1" baseline="-25000" dirty="0" smtClean="0">
                <a:ea typeface="华文楷体" panose="02010600040101010101" pitchFamily="2" charset="-122"/>
                <a:sym typeface="Symbol" panose="05050102010706020507" pitchFamily="18" charset="2"/>
              </a:rPr>
              <a:t></a:t>
            </a:r>
            <a:r>
              <a:rPr lang="en-US" altLang="zh-CN" sz="1800" b="1" baseline="-25000" dirty="0" smtClean="0">
                <a:ea typeface="华文楷体" panose="02010600040101010101" pitchFamily="2" charset="-122"/>
              </a:rPr>
              <a:t>m/2</a:t>
            </a:r>
            <a:r>
              <a:rPr lang="en-US" altLang="zh-CN" sz="1800" b="1" baseline="-25000" dirty="0" smtClean="0">
                <a:ea typeface="华文楷体" panose="02010600040101010101" pitchFamily="2" charset="-122"/>
                <a:sym typeface="Symbol" panose="05050102010706020507" pitchFamily="18" charset="2"/>
              </a:rPr>
              <a:t>-1</a:t>
            </a:r>
            <a:r>
              <a:rPr lang="en-US" altLang="zh-CN" sz="1800" b="1" dirty="0" smtClean="0">
                <a:ea typeface="华文楷体" panose="02010600040101010101" pitchFamily="2" charset="-122"/>
              </a:rPr>
              <a:t>, A </a:t>
            </a:r>
            <a:r>
              <a:rPr lang="en-US" altLang="zh-CN" sz="1800" b="1" baseline="-25000" dirty="0" smtClean="0">
                <a:ea typeface="华文楷体" panose="02010600040101010101" pitchFamily="2" charset="-122"/>
                <a:sym typeface="Symbol" panose="05050102010706020507" pitchFamily="18" charset="2"/>
              </a:rPr>
              <a:t></a:t>
            </a:r>
            <a:r>
              <a:rPr lang="en-US" altLang="zh-CN" sz="1800" b="1" baseline="-25000" dirty="0" smtClean="0">
                <a:ea typeface="华文楷体" panose="02010600040101010101" pitchFamily="2" charset="-122"/>
              </a:rPr>
              <a:t>m/2</a:t>
            </a:r>
            <a:r>
              <a:rPr lang="en-US" altLang="zh-CN" sz="1800" b="1" baseline="-25000" dirty="0" smtClean="0">
                <a:ea typeface="华文楷体" panose="02010600040101010101" pitchFamily="2" charset="-122"/>
                <a:sym typeface="Symbol" panose="05050102010706020507" pitchFamily="18" charset="2"/>
              </a:rPr>
              <a:t>-1</a:t>
            </a:r>
            <a:r>
              <a:rPr lang="en-US" altLang="zh-CN" sz="1800" b="1" dirty="0" smtClean="0">
                <a:ea typeface="华文楷体" panose="02010600040101010101" pitchFamily="2" charset="-122"/>
              </a:rPr>
              <a:t>))         m- </a:t>
            </a:r>
            <a:r>
              <a:rPr lang="en-US" altLang="zh-CN" sz="1800" b="1" dirty="0" smtClean="0">
                <a:ea typeface="华文楷体" panose="02010600040101010101" pitchFamily="2" charset="-122"/>
                <a:sym typeface="Symbol" panose="05050102010706020507" pitchFamily="18" charset="2"/>
              </a:rPr>
              <a:t></a:t>
            </a:r>
            <a:r>
              <a:rPr lang="en-US" altLang="zh-CN" sz="1800" b="1" dirty="0" smtClean="0">
                <a:ea typeface="华文楷体" panose="02010600040101010101" pitchFamily="2" charset="-122"/>
              </a:rPr>
              <a:t>m/2</a:t>
            </a:r>
            <a:r>
              <a:rPr lang="en-US" altLang="zh-CN" sz="1800" b="1" dirty="0" smtClean="0">
                <a:ea typeface="华文楷体" panose="02010600040101010101" pitchFamily="2" charset="-122"/>
                <a:sym typeface="Symbol" panose="05050102010706020507" pitchFamily="18" charset="2"/>
              </a:rPr>
              <a:t></a:t>
            </a:r>
            <a:r>
              <a:rPr lang="en-US" altLang="zh-CN" sz="1800" b="1" dirty="0" smtClean="0">
                <a:ea typeface="华文楷体" panose="02010600040101010101" pitchFamily="2" charset="-122"/>
              </a:rPr>
              <a:t>,A </a:t>
            </a:r>
            <a:r>
              <a:rPr lang="en-US" altLang="zh-CN" sz="1800" b="1" baseline="-25000" dirty="0" smtClean="0">
                <a:ea typeface="华文楷体" panose="02010600040101010101" pitchFamily="2" charset="-122"/>
                <a:sym typeface="Symbol" panose="05050102010706020507" pitchFamily="18" charset="2"/>
              </a:rPr>
              <a:t></a:t>
            </a:r>
            <a:r>
              <a:rPr lang="en-US" altLang="zh-CN" sz="1800" b="1" baseline="-25000" dirty="0" smtClean="0">
                <a:ea typeface="华文楷体" panose="02010600040101010101" pitchFamily="2" charset="-122"/>
              </a:rPr>
              <a:t>m/2</a:t>
            </a:r>
            <a:r>
              <a:rPr lang="en-US" altLang="zh-CN" sz="1800" b="1" baseline="-25000" dirty="0" smtClean="0">
                <a:ea typeface="华文楷体" panose="02010600040101010101" pitchFamily="2" charset="-122"/>
                <a:sym typeface="Symbol" panose="05050102010706020507" pitchFamily="18" charset="2"/>
              </a:rPr>
              <a:t></a:t>
            </a:r>
            <a:r>
              <a:rPr lang="en-US" altLang="zh-CN" sz="1800" b="1" dirty="0" smtClean="0">
                <a:ea typeface="华文楷体" panose="02010600040101010101" pitchFamily="2" charset="-122"/>
              </a:rPr>
              <a:t>,(</a:t>
            </a:r>
            <a:r>
              <a:rPr lang="en-US" altLang="zh-CN" sz="1800" b="1" dirty="0">
                <a:ea typeface="华文楷体" panose="02010600040101010101" pitchFamily="2" charset="-122"/>
              </a:rPr>
              <a:t>K </a:t>
            </a:r>
            <a:r>
              <a:rPr lang="en-US" altLang="zh-CN" sz="1800" b="1" baseline="-25000" dirty="0">
                <a:ea typeface="华文楷体" panose="02010600040101010101" pitchFamily="2" charset="-122"/>
                <a:sym typeface="Symbol" panose="05050102010706020507" pitchFamily="18" charset="2"/>
              </a:rPr>
              <a:t></a:t>
            </a:r>
            <a:r>
              <a:rPr lang="en-US" altLang="zh-CN" sz="1800" b="1" baseline="-25000" dirty="0">
                <a:ea typeface="华文楷体" panose="02010600040101010101" pitchFamily="2" charset="-122"/>
              </a:rPr>
              <a:t>m/2</a:t>
            </a:r>
            <a:r>
              <a:rPr lang="en-US" altLang="zh-CN" sz="1800" b="1" baseline="-25000" dirty="0" smtClean="0">
                <a:ea typeface="华文楷体" panose="02010600040101010101" pitchFamily="2" charset="-122"/>
                <a:sym typeface="Symbol" panose="05050102010706020507" pitchFamily="18" charset="2"/>
              </a:rPr>
              <a:t>+1</a:t>
            </a:r>
            <a:r>
              <a:rPr lang="en-US" altLang="zh-CN" sz="1800" b="1" dirty="0" smtClean="0">
                <a:ea typeface="华文楷体" panose="02010600040101010101" pitchFamily="2" charset="-122"/>
              </a:rPr>
              <a:t>, </a:t>
            </a:r>
            <a:r>
              <a:rPr lang="en-US" altLang="zh-CN" sz="1800" b="1" dirty="0" err="1" smtClean="0">
                <a:ea typeface="华文楷体" panose="02010600040101010101" pitchFamily="2" charset="-122"/>
              </a:rPr>
              <a:t>A</a:t>
            </a:r>
            <a:r>
              <a:rPr lang="en-US" altLang="zh-CN" sz="1800" b="1" baseline="-25000" dirty="0" err="1" smtClean="0">
                <a:ea typeface="华文楷体" panose="02010600040101010101" pitchFamily="2" charset="-122"/>
                <a:sym typeface="Symbol" panose="05050102010706020507" pitchFamily="18" charset="2"/>
              </a:rPr>
              <a:t></a:t>
            </a:r>
            <a:r>
              <a:rPr lang="en-US" altLang="zh-CN" sz="1800" b="1" baseline="-25000" dirty="0" err="1" smtClean="0">
                <a:ea typeface="华文楷体" panose="02010600040101010101" pitchFamily="2" charset="-122"/>
              </a:rPr>
              <a:t>m</a:t>
            </a:r>
            <a:r>
              <a:rPr lang="en-US" altLang="zh-CN" sz="1800" b="1" baseline="-25000" dirty="0" smtClean="0">
                <a:ea typeface="华文楷体" panose="02010600040101010101" pitchFamily="2" charset="-122"/>
              </a:rPr>
              <a:t>/2</a:t>
            </a:r>
            <a:r>
              <a:rPr lang="en-US" altLang="zh-CN" sz="1800" b="1" baseline="-25000" dirty="0" smtClean="0">
                <a:ea typeface="华文楷体" panose="02010600040101010101" pitchFamily="2" charset="-122"/>
                <a:sym typeface="Symbol" panose="05050102010706020507" pitchFamily="18" charset="2"/>
              </a:rPr>
              <a:t>+1</a:t>
            </a:r>
            <a:r>
              <a:rPr lang="en-US" altLang="zh-CN" sz="1800" b="1" dirty="0">
                <a:ea typeface="华文楷体" panose="02010600040101010101" pitchFamily="2" charset="-122"/>
              </a:rPr>
              <a:t>) </a:t>
            </a:r>
            <a:r>
              <a:rPr lang="en-US" altLang="zh-CN" sz="1800" b="1" dirty="0" smtClean="0">
                <a:ea typeface="华文楷体" panose="02010600040101010101" pitchFamily="2" charset="-122"/>
              </a:rPr>
              <a:t>…(</a:t>
            </a:r>
            <a:r>
              <a:rPr lang="en-US" altLang="zh-CN" sz="1800" b="1" dirty="0" err="1" smtClean="0">
                <a:ea typeface="华文楷体" panose="02010600040101010101" pitchFamily="2" charset="-122"/>
              </a:rPr>
              <a:t>K</a:t>
            </a:r>
            <a:r>
              <a:rPr lang="en-US" altLang="zh-CN" sz="1800" b="1" baseline="-25000" dirty="0" err="1" smtClean="0">
                <a:ea typeface="华文楷体" panose="02010600040101010101" pitchFamily="2" charset="-122"/>
              </a:rPr>
              <a:t>m</a:t>
            </a:r>
            <a:r>
              <a:rPr lang="en-US" altLang="zh-CN" sz="1800" b="1" dirty="0" err="1" smtClean="0">
                <a:ea typeface="华文楷体" panose="02010600040101010101" pitchFamily="2" charset="-122"/>
              </a:rPr>
              <a:t>,A</a:t>
            </a:r>
            <a:r>
              <a:rPr lang="en-US" altLang="zh-CN" sz="1800" b="1" baseline="-25000" dirty="0" err="1" smtClean="0">
                <a:ea typeface="华文楷体" panose="02010600040101010101" pitchFamily="2" charset="-122"/>
              </a:rPr>
              <a:t>m</a:t>
            </a:r>
            <a:r>
              <a:rPr lang="en-US" altLang="zh-CN" sz="1800" b="1" dirty="0" smtClean="0">
                <a:ea typeface="华文楷体" panose="02010600040101010101" pitchFamily="2" charset="-122"/>
              </a:rPr>
              <a:t>)</a:t>
            </a:r>
            <a:endParaRPr lang="en-US" altLang="zh-CN" sz="1800" b="1" dirty="0" smtClean="0">
              <a:ea typeface="华文楷体" panose="02010600040101010101" pitchFamily="2" charset="-122"/>
            </a:endParaRPr>
          </a:p>
          <a:p>
            <a:pPr eaLnBrk="1" hangingPunct="1">
              <a:lnSpc>
                <a:spcPct val="80000"/>
              </a:lnSpc>
              <a:buFont typeface="Wingdings" panose="05000000000000000000" pitchFamily="2" charset="2"/>
              <a:buNone/>
            </a:pPr>
            <a:endParaRPr lang="en-US" altLang="zh-CN"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生成新结点 </a:t>
            </a:r>
            <a:r>
              <a:rPr lang="en-US" altLang="zh-CN" sz="2400" dirty="0" smtClean="0">
                <a:ea typeface="华文楷体" panose="02010600040101010101" pitchFamily="2" charset="-122"/>
              </a:rPr>
              <a:t>p’, </a:t>
            </a:r>
            <a:r>
              <a:rPr lang="zh-CN" altLang="en-US" sz="2400" dirty="0" smtClean="0">
                <a:ea typeface="华文楷体" panose="02010600040101010101" pitchFamily="2" charset="-122"/>
              </a:rPr>
              <a:t>将原结点的后半部分复制过去。若分裂一直进行到根结点，树可能长高一层。</a:t>
            </a:r>
            <a:endParaRPr lang="zh-CN" altLang="en-US" sz="2400" dirty="0" smtClean="0">
              <a:ea typeface="华文楷体" panose="02010600040101010101" pitchFamily="2" charset="-122"/>
            </a:endParaRPr>
          </a:p>
        </p:txBody>
      </p:sp>
      <p:sp>
        <p:nvSpPr>
          <p:cNvPr id="54281" name="Text Box 7"/>
          <p:cNvSpPr txBox="1">
            <a:spLocks noChangeArrowheads="1"/>
          </p:cNvSpPr>
          <p:nvPr/>
        </p:nvSpPr>
        <p:spPr bwMode="auto">
          <a:xfrm>
            <a:off x="6096000" y="4419600"/>
            <a:ext cx="1752600" cy="527050"/>
          </a:xfrm>
          <a:prstGeom prst="rect">
            <a:avLst/>
          </a:prstGeom>
          <a:noFill/>
          <a:ln w="9525">
            <a:solidFill>
              <a:srgbClr val="C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zh-CN" sz="1400" b="1" dirty="0">
                <a:latin typeface="Times New Roman" panose="02020603050405020304" pitchFamily="18" charset="0"/>
                <a:ea typeface="华文楷体" panose="02010600040101010101" pitchFamily="2" charset="-122"/>
              </a:rPr>
              <a:t>(</a:t>
            </a:r>
            <a:r>
              <a:rPr kumimoji="1" lang="en-US" altLang="zh-CN" sz="1400" b="1" dirty="0">
                <a:latin typeface="Times New Roman" panose="02020603050405020304" pitchFamily="18" charset="0"/>
                <a:ea typeface="华文楷体" panose="02010600040101010101" pitchFamily="2" charset="-122"/>
              </a:rPr>
              <a:t>K  </a:t>
            </a:r>
            <a:r>
              <a:rPr kumimoji="1" lang="en-US" altLang="zh-CN" sz="1400" b="1" baseline="-15000" dirty="0">
                <a:latin typeface="Times New Roman" panose="02020603050405020304" pitchFamily="18" charset="0"/>
                <a:ea typeface="华文楷体" panose="02010600040101010101" pitchFamily="2" charset="-122"/>
              </a:rPr>
              <a:t>m/2   </a:t>
            </a:r>
            <a:r>
              <a:rPr kumimoji="1" lang="en-US" altLang="zh-CN" sz="1400" b="1" dirty="0">
                <a:latin typeface="Times New Roman" panose="02020603050405020304" pitchFamily="18" charset="0"/>
                <a:ea typeface="华文楷体" panose="02010600040101010101" pitchFamily="2" charset="-122"/>
              </a:rPr>
              <a:t>, p’</a:t>
            </a:r>
            <a:r>
              <a:rPr kumimoji="1" lang="en-US" altLang="zh-CN" sz="1400" b="1" baseline="-15000" dirty="0">
                <a:latin typeface="Times New Roman" panose="02020603050405020304" pitchFamily="18" charset="0"/>
                <a:ea typeface="华文楷体" panose="02010600040101010101" pitchFamily="2" charset="-122"/>
              </a:rPr>
              <a:t> </a:t>
            </a:r>
            <a:r>
              <a:rPr kumimoji="1" lang="en-US" altLang="zh-CN" sz="1400" b="1" dirty="0">
                <a:latin typeface="Times New Roman" panose="02020603050405020304" pitchFamily="18" charset="0"/>
                <a:ea typeface="华文楷体" panose="02010600040101010101" pitchFamily="2" charset="-122"/>
              </a:rPr>
              <a:t>) </a:t>
            </a:r>
            <a:r>
              <a:rPr kumimoji="1" lang="zh-CN" altLang="zh-CN" sz="1400" b="1" dirty="0">
                <a:latin typeface="Times New Roman" panose="02020603050405020304" pitchFamily="18" charset="0"/>
                <a:ea typeface="华文楷体" panose="02010600040101010101" pitchFamily="2" charset="-122"/>
              </a:rPr>
              <a:t>数据项插入上层结点之中</a:t>
            </a:r>
            <a:endParaRPr kumimoji="1" lang="zh-CN" altLang="en-US" sz="1400" b="1" dirty="0">
              <a:latin typeface="Times New Roman" panose="02020603050405020304" pitchFamily="18" charset="0"/>
              <a:ea typeface="华文楷体" panose="02010600040101010101" pitchFamily="2" charset="-122"/>
            </a:endParaRPr>
          </a:p>
        </p:txBody>
      </p:sp>
      <p:sp>
        <p:nvSpPr>
          <p:cNvPr id="54282" name="Line 8"/>
          <p:cNvSpPr>
            <a:spLocks noChangeShapeType="1"/>
          </p:cNvSpPr>
          <p:nvPr/>
        </p:nvSpPr>
        <p:spPr bwMode="auto">
          <a:xfrm flipH="1">
            <a:off x="4038600" y="4572000"/>
            <a:ext cx="2209800" cy="228600"/>
          </a:xfrm>
          <a:prstGeom prst="line">
            <a:avLst/>
          </a:prstGeom>
          <a:noFill/>
          <a:ln w="28575">
            <a:solidFill>
              <a:schemeClr val="accent4">
                <a:lumMod val="60000"/>
                <a:lumOff val="4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4283" name="Text Box 9"/>
          <p:cNvSpPr txBox="1">
            <a:spLocks noChangeArrowheads="1"/>
          </p:cNvSpPr>
          <p:nvPr/>
        </p:nvSpPr>
        <p:spPr bwMode="auto">
          <a:xfrm>
            <a:off x="609600" y="4953000"/>
            <a:ext cx="16764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P</a:t>
            </a:r>
            <a:endParaRPr kumimoji="1" lang="en-US" altLang="zh-CN" sz="1400" b="1" dirty="0">
              <a:latin typeface="Times New Roman" panose="02020603050405020304" pitchFamily="18" charset="0"/>
              <a:ea typeface="华文楷体" panose="02010600040101010101" pitchFamily="2" charset="-122"/>
            </a:endParaRPr>
          </a:p>
        </p:txBody>
      </p:sp>
      <p:sp>
        <p:nvSpPr>
          <p:cNvPr id="54284" name="Line 10"/>
          <p:cNvSpPr>
            <a:spLocks noChangeShapeType="1"/>
          </p:cNvSpPr>
          <p:nvPr/>
        </p:nvSpPr>
        <p:spPr bwMode="auto">
          <a:xfrm>
            <a:off x="838200" y="5105400"/>
            <a:ext cx="533400" cy="152400"/>
          </a:xfrm>
          <a:prstGeom prst="line">
            <a:avLst/>
          </a:prstGeom>
          <a:noFill/>
          <a:ln w="28575">
            <a:solidFill>
              <a:schemeClr val="accent4">
                <a:lumMod val="60000"/>
                <a:lumOff val="4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4285" name="Text Box 11"/>
          <p:cNvSpPr txBox="1">
            <a:spLocks noChangeArrowheads="1"/>
          </p:cNvSpPr>
          <p:nvPr/>
        </p:nvSpPr>
        <p:spPr bwMode="auto">
          <a:xfrm>
            <a:off x="6629400" y="4876800"/>
            <a:ext cx="16764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P’</a:t>
            </a:r>
            <a:endParaRPr kumimoji="1" lang="en-US" altLang="zh-CN" sz="1400" b="1" dirty="0">
              <a:latin typeface="Times New Roman" panose="02020603050405020304" pitchFamily="18" charset="0"/>
              <a:ea typeface="华文楷体" panose="02010600040101010101" pitchFamily="2" charset="-122"/>
            </a:endParaRPr>
          </a:p>
        </p:txBody>
      </p:sp>
      <p:sp>
        <p:nvSpPr>
          <p:cNvPr id="54286" name="Line 12"/>
          <p:cNvSpPr>
            <a:spLocks noChangeShapeType="1"/>
          </p:cNvSpPr>
          <p:nvPr/>
        </p:nvSpPr>
        <p:spPr bwMode="auto">
          <a:xfrm flipH="1">
            <a:off x="6324600" y="5029200"/>
            <a:ext cx="304800" cy="228600"/>
          </a:xfrm>
          <a:prstGeom prst="line">
            <a:avLst/>
          </a:prstGeom>
          <a:noFill/>
          <a:ln w="28575">
            <a:solidFill>
              <a:schemeClr val="accent4">
                <a:lumMod val="60000"/>
                <a:lumOff val="40000"/>
              </a:schemeClr>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页脚占位符 3"/>
          <p:cNvSpPr>
            <a:spLocks noGrp="1"/>
          </p:cNvSpPr>
          <p:nvPr>
            <p:ph type="ftr" sz="quarter" idx="10"/>
          </p:nvPr>
        </p:nvSpPr>
        <p:spPr/>
        <p:txBody>
          <a:bodyPr/>
          <a:lstStyle/>
          <a:p>
            <a:pPr>
              <a:defRPr/>
            </a:pPr>
            <a:r>
              <a:rPr lang="en-US" altLang="zh-CN"/>
              <a:t>BUPT SCST</a:t>
            </a:r>
            <a:endParaRPr lang="en-US" altLang="zh-CN"/>
          </a:p>
        </p:txBody>
      </p:sp>
      <p:sp>
        <p:nvSpPr>
          <p:cNvPr id="107" name="日期占位符 5"/>
          <p:cNvSpPr>
            <a:spLocks noGrp="1"/>
          </p:cNvSpPr>
          <p:nvPr>
            <p:ph type="dt" sz="quarter" idx="12"/>
          </p:nvPr>
        </p:nvSpPr>
        <p:spPr/>
        <p:txBody>
          <a:bodyPr/>
          <a:lstStyle/>
          <a:p>
            <a:pPr>
              <a:defRPr/>
            </a:pPr>
            <a:r>
              <a:rPr lang="en-US" altLang="zh-CN"/>
              <a:t>BUPT</a:t>
            </a:r>
            <a:endParaRPr lang="en-US" altLang="zh-CN"/>
          </a:p>
        </p:txBody>
      </p:sp>
      <p:sp>
        <p:nvSpPr>
          <p:cNvPr id="5530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5301" name="Rectangle 3"/>
          <p:cNvSpPr>
            <a:spLocks noGrp="1" noChangeArrowheads="1"/>
          </p:cNvSpPr>
          <p:nvPr>
            <p:ph type="body" idx="1"/>
          </p:nvPr>
        </p:nvSpPr>
        <p:spPr/>
        <p:txBody>
          <a:bodyPr/>
          <a:lstStyle/>
          <a:p>
            <a:pPr eaLnBrk="1" hangingPunct="1">
              <a:buFont typeface="Wingdings" panose="05000000000000000000" pitchFamily="2" charset="2"/>
              <a:buNone/>
            </a:pPr>
            <a:r>
              <a:rPr kumimoji="1" lang="zh-CN" altLang="en-US" sz="2400" dirty="0" smtClean="0">
                <a:ea typeface="华文楷体" panose="02010600040101010101" pitchFamily="2" charset="-122"/>
              </a:rPr>
              <a:t>例：</a:t>
            </a:r>
            <a:r>
              <a:rPr kumimoji="1" lang="en-US" altLang="zh-CN" sz="2400" dirty="0" smtClean="0">
                <a:ea typeface="华文楷体" panose="02010600040101010101" pitchFamily="2" charset="-122"/>
              </a:rPr>
              <a:t>2-3</a:t>
            </a:r>
            <a:r>
              <a:rPr kumimoji="1" lang="zh-CN" altLang="en-US" sz="2400" dirty="0" smtClean="0">
                <a:ea typeface="华文楷体" panose="02010600040101010101" pitchFamily="2" charset="-122"/>
              </a:rPr>
              <a:t>树的插入</a:t>
            </a:r>
            <a:r>
              <a:rPr kumimoji="1" lang="en-US" altLang="zh-CN" sz="2400" dirty="0" smtClean="0">
                <a:ea typeface="华文楷体" panose="02010600040101010101" pitchFamily="2" charset="-122"/>
              </a:rPr>
              <a:t>key=7</a:t>
            </a:r>
            <a:endParaRPr kumimoji="1" lang="en-US" altLang="zh-CN" sz="2400" dirty="0" smtClean="0">
              <a:ea typeface="华文楷体" panose="02010600040101010101" pitchFamily="2" charset="-122"/>
            </a:endParaRPr>
          </a:p>
        </p:txBody>
      </p:sp>
      <p:sp>
        <p:nvSpPr>
          <p:cNvPr id="55302" name="Text Box 4"/>
          <p:cNvSpPr txBox="1">
            <a:spLocks noChangeArrowheads="1"/>
          </p:cNvSpPr>
          <p:nvPr/>
        </p:nvSpPr>
        <p:spPr bwMode="auto">
          <a:xfrm>
            <a:off x="152400" y="3105150"/>
            <a:ext cx="685800" cy="307777"/>
          </a:xfrm>
          <a:prstGeom prst="rect">
            <a:avLst/>
          </a:prstGeom>
          <a:noFill/>
          <a:ln w="19050">
            <a:solidFill>
              <a:schemeClr val="accent2"/>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3</a:t>
            </a:r>
            <a:r>
              <a:rPr kumimoji="1" lang="zh-CN" altLang="en-US" sz="1400" b="1" dirty="0">
                <a:latin typeface="Times New Roman" panose="02020603050405020304" pitchFamily="18" charset="0"/>
                <a:ea typeface="华文楷体" panose="02010600040101010101" pitchFamily="2" charset="-122"/>
              </a:rPr>
              <a:t>，</a:t>
            </a:r>
            <a:r>
              <a:rPr kumimoji="1" lang="en-US" altLang="zh-CN" sz="1400" b="1" dirty="0">
                <a:latin typeface="Times New Roman" panose="02020603050405020304" pitchFamily="18" charset="0"/>
                <a:ea typeface="华文楷体" panose="02010600040101010101" pitchFamily="2" charset="-122"/>
              </a:rPr>
              <a:t>12</a:t>
            </a:r>
            <a:endParaRPr kumimoji="1" lang="en-US" altLang="zh-CN" sz="1400" b="1" dirty="0">
              <a:latin typeface="Times New Roman" panose="02020603050405020304" pitchFamily="18" charset="0"/>
              <a:ea typeface="华文楷体" panose="02010600040101010101" pitchFamily="2" charset="-122"/>
            </a:endParaRPr>
          </a:p>
        </p:txBody>
      </p:sp>
      <p:sp>
        <p:nvSpPr>
          <p:cNvPr id="55303" name="Text Box 5"/>
          <p:cNvSpPr txBox="1">
            <a:spLocks noChangeArrowheads="1"/>
          </p:cNvSpPr>
          <p:nvPr/>
        </p:nvSpPr>
        <p:spPr bwMode="auto">
          <a:xfrm>
            <a:off x="4953000" y="2286000"/>
            <a:ext cx="1066800" cy="307777"/>
          </a:xfrm>
          <a:prstGeom prst="rect">
            <a:avLst/>
          </a:prstGeom>
          <a:noFill/>
          <a:ln w="19050" algn="ctr">
            <a:solidFill>
              <a:schemeClr val="accent2"/>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7   24  30</a:t>
            </a:r>
            <a:endParaRPr kumimoji="1" lang="en-US" altLang="zh-CN" sz="1400" b="1" dirty="0">
              <a:latin typeface="Times New Roman" panose="02020603050405020304" pitchFamily="18" charset="0"/>
              <a:ea typeface="华文楷体" panose="02010600040101010101" pitchFamily="2" charset="-122"/>
            </a:endParaRPr>
          </a:p>
        </p:txBody>
      </p:sp>
      <p:sp>
        <p:nvSpPr>
          <p:cNvPr id="55304" name="Text Box 6"/>
          <p:cNvSpPr txBox="1">
            <a:spLocks noChangeArrowheads="1"/>
          </p:cNvSpPr>
          <p:nvPr/>
        </p:nvSpPr>
        <p:spPr bwMode="auto">
          <a:xfrm>
            <a:off x="609600" y="2343150"/>
            <a:ext cx="8382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24</a:t>
            </a:r>
            <a:r>
              <a:rPr kumimoji="1" lang="zh-CN" altLang="en-US" sz="1400" b="1" dirty="0">
                <a:latin typeface="Times New Roman" panose="02020603050405020304" pitchFamily="18" charset="0"/>
                <a:ea typeface="华文楷体" panose="02010600040101010101" pitchFamily="2" charset="-122"/>
              </a:rPr>
              <a:t>，</a:t>
            </a:r>
            <a:r>
              <a:rPr kumimoji="1" lang="en-US" altLang="zh-CN" sz="1400" b="1" dirty="0">
                <a:latin typeface="Times New Roman" panose="02020603050405020304" pitchFamily="18" charset="0"/>
                <a:ea typeface="华文楷体" panose="02010600040101010101" pitchFamily="2" charset="-122"/>
              </a:rPr>
              <a:t>30</a:t>
            </a:r>
            <a:endParaRPr kumimoji="1" lang="en-US" altLang="zh-CN" sz="1400" b="1" dirty="0">
              <a:latin typeface="Times New Roman" panose="02020603050405020304" pitchFamily="18" charset="0"/>
              <a:ea typeface="华文楷体" panose="02010600040101010101" pitchFamily="2" charset="-122"/>
            </a:endParaRPr>
          </a:p>
        </p:txBody>
      </p:sp>
      <p:sp>
        <p:nvSpPr>
          <p:cNvPr id="55305" name="Text Box 7"/>
          <p:cNvSpPr txBox="1">
            <a:spLocks noChangeArrowheads="1"/>
          </p:cNvSpPr>
          <p:nvPr/>
        </p:nvSpPr>
        <p:spPr bwMode="auto">
          <a:xfrm>
            <a:off x="1676400" y="1809750"/>
            <a:ext cx="914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45</a:t>
            </a:r>
            <a:r>
              <a:rPr kumimoji="1" lang="zh-CN" altLang="en-US" sz="1400" b="1" dirty="0">
                <a:latin typeface="Times New Roman" panose="02020603050405020304" pitchFamily="18" charset="0"/>
                <a:ea typeface="华文楷体" panose="02010600040101010101" pitchFamily="2" charset="-122"/>
              </a:rPr>
              <a:t>，</a:t>
            </a:r>
            <a:r>
              <a:rPr kumimoji="1" lang="en-US" altLang="zh-CN" sz="1400" b="1" dirty="0">
                <a:latin typeface="Times New Roman" panose="02020603050405020304" pitchFamily="18" charset="0"/>
                <a:ea typeface="华文楷体" panose="02010600040101010101" pitchFamily="2" charset="-122"/>
              </a:rPr>
              <a:t>70</a:t>
            </a:r>
            <a:endParaRPr kumimoji="1" lang="en-US" altLang="zh-CN" sz="1400" b="1" dirty="0">
              <a:latin typeface="Times New Roman" panose="02020603050405020304" pitchFamily="18" charset="0"/>
              <a:ea typeface="华文楷体" panose="02010600040101010101" pitchFamily="2" charset="-122"/>
            </a:endParaRPr>
          </a:p>
        </p:txBody>
      </p:sp>
      <p:sp>
        <p:nvSpPr>
          <p:cNvPr id="55306" name="Text Box 8"/>
          <p:cNvSpPr txBox="1">
            <a:spLocks noChangeArrowheads="1"/>
          </p:cNvSpPr>
          <p:nvPr/>
        </p:nvSpPr>
        <p:spPr bwMode="auto">
          <a:xfrm>
            <a:off x="2362200" y="234315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53</a:t>
            </a:r>
            <a:endParaRPr kumimoji="1" lang="en-US" altLang="zh-CN" sz="1400" b="1" dirty="0">
              <a:latin typeface="Times New Roman" panose="02020603050405020304" pitchFamily="18" charset="0"/>
              <a:ea typeface="华文楷体" panose="02010600040101010101" pitchFamily="2" charset="-122"/>
            </a:endParaRPr>
          </a:p>
        </p:txBody>
      </p:sp>
      <p:sp>
        <p:nvSpPr>
          <p:cNvPr id="55307" name="Text Box 9"/>
          <p:cNvSpPr txBox="1">
            <a:spLocks noChangeArrowheads="1"/>
          </p:cNvSpPr>
          <p:nvPr/>
        </p:nvSpPr>
        <p:spPr bwMode="auto">
          <a:xfrm>
            <a:off x="3581400" y="236220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90</a:t>
            </a:r>
            <a:endParaRPr kumimoji="1" lang="en-US" altLang="zh-CN" sz="1400" b="1" dirty="0">
              <a:latin typeface="Times New Roman" panose="02020603050405020304" pitchFamily="18" charset="0"/>
              <a:ea typeface="华文楷体" panose="02010600040101010101" pitchFamily="2" charset="-122"/>
            </a:endParaRPr>
          </a:p>
        </p:txBody>
      </p:sp>
      <p:sp>
        <p:nvSpPr>
          <p:cNvPr id="55308" name="Text Box 10"/>
          <p:cNvSpPr txBox="1">
            <a:spLocks noChangeArrowheads="1"/>
          </p:cNvSpPr>
          <p:nvPr/>
        </p:nvSpPr>
        <p:spPr bwMode="auto">
          <a:xfrm>
            <a:off x="914400" y="312420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26</a:t>
            </a:r>
            <a:endParaRPr kumimoji="1" lang="en-US" altLang="zh-CN" sz="1400" b="1" dirty="0">
              <a:latin typeface="Times New Roman" panose="02020603050405020304" pitchFamily="18" charset="0"/>
              <a:ea typeface="华文楷体" panose="02010600040101010101" pitchFamily="2" charset="-122"/>
            </a:endParaRPr>
          </a:p>
        </p:txBody>
      </p:sp>
      <p:sp>
        <p:nvSpPr>
          <p:cNvPr id="55309" name="Text Box 11"/>
          <p:cNvSpPr txBox="1">
            <a:spLocks noChangeArrowheads="1"/>
          </p:cNvSpPr>
          <p:nvPr/>
        </p:nvSpPr>
        <p:spPr bwMode="auto">
          <a:xfrm>
            <a:off x="3810000" y="3124200"/>
            <a:ext cx="6858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100</a:t>
            </a:r>
            <a:endParaRPr kumimoji="1" lang="en-US" altLang="zh-CN" sz="1400" b="1" dirty="0">
              <a:latin typeface="Times New Roman" panose="02020603050405020304" pitchFamily="18" charset="0"/>
              <a:ea typeface="华文楷体" panose="02010600040101010101" pitchFamily="2" charset="-122"/>
            </a:endParaRPr>
          </a:p>
        </p:txBody>
      </p:sp>
      <p:sp>
        <p:nvSpPr>
          <p:cNvPr id="55310" name="Text Box 12"/>
          <p:cNvSpPr txBox="1">
            <a:spLocks noChangeArrowheads="1"/>
          </p:cNvSpPr>
          <p:nvPr/>
        </p:nvSpPr>
        <p:spPr bwMode="auto">
          <a:xfrm>
            <a:off x="1524000" y="312420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39</a:t>
            </a:r>
            <a:endParaRPr kumimoji="1" lang="en-US" altLang="zh-CN" sz="1400" b="1" dirty="0">
              <a:latin typeface="Times New Roman" panose="02020603050405020304" pitchFamily="18" charset="0"/>
              <a:ea typeface="华文楷体" panose="02010600040101010101" pitchFamily="2" charset="-122"/>
            </a:endParaRPr>
          </a:p>
        </p:txBody>
      </p:sp>
      <p:sp>
        <p:nvSpPr>
          <p:cNvPr id="55311" name="Text Box 13"/>
          <p:cNvSpPr txBox="1">
            <a:spLocks noChangeArrowheads="1"/>
          </p:cNvSpPr>
          <p:nvPr/>
        </p:nvSpPr>
        <p:spPr bwMode="auto">
          <a:xfrm>
            <a:off x="2133600" y="312420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50</a:t>
            </a:r>
            <a:endParaRPr kumimoji="1" lang="en-US" altLang="zh-CN" sz="1400" b="1" dirty="0">
              <a:latin typeface="Times New Roman" panose="02020603050405020304" pitchFamily="18" charset="0"/>
              <a:ea typeface="华文楷体" panose="02010600040101010101" pitchFamily="2" charset="-122"/>
            </a:endParaRPr>
          </a:p>
        </p:txBody>
      </p:sp>
      <p:sp>
        <p:nvSpPr>
          <p:cNvPr id="55312" name="Text Box 14"/>
          <p:cNvSpPr txBox="1">
            <a:spLocks noChangeArrowheads="1"/>
          </p:cNvSpPr>
          <p:nvPr/>
        </p:nvSpPr>
        <p:spPr bwMode="auto">
          <a:xfrm>
            <a:off x="2743200" y="3124200"/>
            <a:ext cx="4572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61</a:t>
            </a:r>
            <a:endParaRPr kumimoji="1" lang="en-US" altLang="zh-CN" sz="1400" b="1" dirty="0">
              <a:latin typeface="Times New Roman" panose="02020603050405020304" pitchFamily="18" charset="0"/>
              <a:ea typeface="华文楷体" panose="02010600040101010101" pitchFamily="2" charset="-122"/>
            </a:endParaRPr>
          </a:p>
        </p:txBody>
      </p:sp>
      <p:sp>
        <p:nvSpPr>
          <p:cNvPr id="55313" name="Text Box 15"/>
          <p:cNvSpPr txBox="1">
            <a:spLocks noChangeArrowheads="1"/>
          </p:cNvSpPr>
          <p:nvPr/>
        </p:nvSpPr>
        <p:spPr bwMode="auto">
          <a:xfrm>
            <a:off x="3276600" y="3124200"/>
            <a:ext cx="4572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85</a:t>
            </a:r>
            <a:endParaRPr kumimoji="1" lang="en-US" altLang="zh-CN" sz="1400" b="1" dirty="0">
              <a:latin typeface="Times New Roman" panose="02020603050405020304" pitchFamily="18" charset="0"/>
              <a:ea typeface="华文楷体" panose="02010600040101010101" pitchFamily="2" charset="-122"/>
            </a:endParaRPr>
          </a:p>
        </p:txBody>
      </p:sp>
      <p:sp>
        <p:nvSpPr>
          <p:cNvPr id="55314" name="Line 16"/>
          <p:cNvSpPr>
            <a:spLocks noChangeShapeType="1"/>
          </p:cNvSpPr>
          <p:nvPr/>
        </p:nvSpPr>
        <p:spPr bwMode="auto">
          <a:xfrm flipH="1">
            <a:off x="1143000" y="2057400"/>
            <a:ext cx="609600" cy="3048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15" name="Line 17"/>
          <p:cNvSpPr>
            <a:spLocks noChangeShapeType="1"/>
          </p:cNvSpPr>
          <p:nvPr/>
        </p:nvSpPr>
        <p:spPr bwMode="auto">
          <a:xfrm flipH="1">
            <a:off x="228600" y="2514600"/>
            <a:ext cx="4572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16" name="Line 18"/>
          <p:cNvSpPr>
            <a:spLocks noChangeShapeType="1"/>
          </p:cNvSpPr>
          <p:nvPr/>
        </p:nvSpPr>
        <p:spPr bwMode="auto">
          <a:xfrm>
            <a:off x="990600" y="251460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17" name="Line 19"/>
          <p:cNvSpPr>
            <a:spLocks noChangeShapeType="1"/>
          </p:cNvSpPr>
          <p:nvPr/>
        </p:nvSpPr>
        <p:spPr bwMode="auto">
          <a:xfrm>
            <a:off x="1371600" y="2514600"/>
            <a:ext cx="3048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18" name="Line 20"/>
          <p:cNvSpPr>
            <a:spLocks noChangeShapeType="1"/>
          </p:cNvSpPr>
          <p:nvPr/>
        </p:nvSpPr>
        <p:spPr bwMode="auto">
          <a:xfrm>
            <a:off x="2057400" y="1981200"/>
            <a:ext cx="381000" cy="3810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19" name="Line 21"/>
          <p:cNvSpPr>
            <a:spLocks noChangeShapeType="1"/>
          </p:cNvSpPr>
          <p:nvPr/>
        </p:nvSpPr>
        <p:spPr bwMode="auto">
          <a:xfrm>
            <a:off x="2362200" y="1981200"/>
            <a:ext cx="1447800" cy="3810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20" name="Line 22"/>
          <p:cNvSpPr>
            <a:spLocks noChangeShapeType="1"/>
          </p:cNvSpPr>
          <p:nvPr/>
        </p:nvSpPr>
        <p:spPr bwMode="auto">
          <a:xfrm flipH="1">
            <a:off x="2286000" y="251460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21" name="Line 23"/>
          <p:cNvSpPr>
            <a:spLocks noChangeShapeType="1"/>
          </p:cNvSpPr>
          <p:nvPr/>
        </p:nvSpPr>
        <p:spPr bwMode="auto">
          <a:xfrm>
            <a:off x="2667000" y="251460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22" name="Line 24"/>
          <p:cNvSpPr>
            <a:spLocks noChangeShapeType="1"/>
          </p:cNvSpPr>
          <p:nvPr/>
        </p:nvSpPr>
        <p:spPr bwMode="auto">
          <a:xfrm flipH="1">
            <a:off x="3505200" y="251460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23" name="Line 25"/>
          <p:cNvSpPr>
            <a:spLocks noChangeShapeType="1"/>
          </p:cNvSpPr>
          <p:nvPr/>
        </p:nvSpPr>
        <p:spPr bwMode="auto">
          <a:xfrm>
            <a:off x="3886200" y="2514600"/>
            <a:ext cx="2286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24" name="Text Box 26"/>
          <p:cNvSpPr txBox="1">
            <a:spLocks noChangeArrowheads="1"/>
          </p:cNvSpPr>
          <p:nvPr/>
        </p:nvSpPr>
        <p:spPr bwMode="auto">
          <a:xfrm>
            <a:off x="4572000" y="3124200"/>
            <a:ext cx="304800" cy="307777"/>
          </a:xfrm>
          <a:prstGeom prst="rect">
            <a:avLst/>
          </a:prstGeom>
          <a:noFill/>
          <a:ln w="19050" algn="ctr">
            <a:solidFill>
              <a:schemeClr val="accent2"/>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3</a:t>
            </a:r>
            <a:endParaRPr kumimoji="1" lang="en-US" altLang="zh-CN" sz="1400" b="1" dirty="0">
              <a:latin typeface="Times New Roman" panose="02020603050405020304" pitchFamily="18" charset="0"/>
              <a:ea typeface="华文楷体" panose="02010600040101010101" pitchFamily="2" charset="-122"/>
            </a:endParaRPr>
          </a:p>
        </p:txBody>
      </p:sp>
      <p:sp>
        <p:nvSpPr>
          <p:cNvPr id="55325" name="Text Box 27"/>
          <p:cNvSpPr txBox="1">
            <a:spLocks noChangeArrowheads="1"/>
          </p:cNvSpPr>
          <p:nvPr/>
        </p:nvSpPr>
        <p:spPr bwMode="auto">
          <a:xfrm>
            <a:off x="6248400" y="1790700"/>
            <a:ext cx="914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45</a:t>
            </a:r>
            <a:r>
              <a:rPr kumimoji="1" lang="zh-CN" altLang="en-US" sz="1400" b="1" dirty="0">
                <a:latin typeface="Times New Roman" panose="02020603050405020304" pitchFamily="18" charset="0"/>
                <a:ea typeface="华文楷体" panose="02010600040101010101" pitchFamily="2" charset="-122"/>
              </a:rPr>
              <a:t>，</a:t>
            </a:r>
            <a:r>
              <a:rPr kumimoji="1" lang="en-US" altLang="zh-CN" sz="1400" b="1" dirty="0">
                <a:latin typeface="Times New Roman" panose="02020603050405020304" pitchFamily="18" charset="0"/>
                <a:ea typeface="华文楷体" panose="02010600040101010101" pitchFamily="2" charset="-122"/>
              </a:rPr>
              <a:t>70</a:t>
            </a:r>
            <a:endParaRPr kumimoji="1" lang="en-US" altLang="zh-CN" sz="1400" b="1" dirty="0">
              <a:latin typeface="Times New Roman" panose="02020603050405020304" pitchFamily="18" charset="0"/>
              <a:ea typeface="华文楷体" panose="02010600040101010101" pitchFamily="2" charset="-122"/>
            </a:endParaRPr>
          </a:p>
        </p:txBody>
      </p:sp>
      <p:sp>
        <p:nvSpPr>
          <p:cNvPr id="55326" name="Text Box 28"/>
          <p:cNvSpPr txBox="1">
            <a:spLocks noChangeArrowheads="1"/>
          </p:cNvSpPr>
          <p:nvPr/>
        </p:nvSpPr>
        <p:spPr bwMode="auto">
          <a:xfrm>
            <a:off x="6934200" y="232410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53</a:t>
            </a:r>
            <a:endParaRPr kumimoji="1" lang="en-US" altLang="zh-CN" sz="1400" b="1" dirty="0">
              <a:latin typeface="Times New Roman" panose="02020603050405020304" pitchFamily="18" charset="0"/>
              <a:ea typeface="华文楷体" panose="02010600040101010101" pitchFamily="2" charset="-122"/>
            </a:endParaRPr>
          </a:p>
        </p:txBody>
      </p:sp>
      <p:sp>
        <p:nvSpPr>
          <p:cNvPr id="55327" name="Text Box 29"/>
          <p:cNvSpPr txBox="1">
            <a:spLocks noChangeArrowheads="1"/>
          </p:cNvSpPr>
          <p:nvPr/>
        </p:nvSpPr>
        <p:spPr bwMode="auto">
          <a:xfrm>
            <a:off x="8153400" y="234315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90</a:t>
            </a:r>
            <a:endParaRPr kumimoji="1" lang="en-US" altLang="zh-CN" sz="1400" b="1" dirty="0">
              <a:latin typeface="Times New Roman" panose="02020603050405020304" pitchFamily="18" charset="0"/>
              <a:ea typeface="华文楷体" panose="02010600040101010101" pitchFamily="2" charset="-122"/>
            </a:endParaRPr>
          </a:p>
        </p:txBody>
      </p:sp>
      <p:sp>
        <p:nvSpPr>
          <p:cNvPr id="55328" name="Text Box 30"/>
          <p:cNvSpPr txBox="1">
            <a:spLocks noChangeArrowheads="1"/>
          </p:cNvSpPr>
          <p:nvPr/>
        </p:nvSpPr>
        <p:spPr bwMode="auto">
          <a:xfrm>
            <a:off x="5486400" y="310515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26</a:t>
            </a:r>
            <a:endParaRPr kumimoji="1" lang="en-US" altLang="zh-CN" sz="1400" b="1" dirty="0">
              <a:latin typeface="Times New Roman" panose="02020603050405020304" pitchFamily="18" charset="0"/>
              <a:ea typeface="华文楷体" panose="02010600040101010101" pitchFamily="2" charset="-122"/>
            </a:endParaRPr>
          </a:p>
        </p:txBody>
      </p:sp>
      <p:sp>
        <p:nvSpPr>
          <p:cNvPr id="55329" name="Text Box 31"/>
          <p:cNvSpPr txBox="1">
            <a:spLocks noChangeArrowheads="1"/>
          </p:cNvSpPr>
          <p:nvPr/>
        </p:nvSpPr>
        <p:spPr bwMode="auto">
          <a:xfrm>
            <a:off x="8382000" y="310515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100</a:t>
            </a:r>
            <a:endParaRPr kumimoji="1" lang="en-US" altLang="zh-CN" sz="1400" b="1" dirty="0">
              <a:latin typeface="Times New Roman" panose="02020603050405020304" pitchFamily="18" charset="0"/>
              <a:ea typeface="华文楷体" panose="02010600040101010101" pitchFamily="2" charset="-122"/>
            </a:endParaRPr>
          </a:p>
        </p:txBody>
      </p:sp>
      <p:sp>
        <p:nvSpPr>
          <p:cNvPr id="55330" name="Text Box 32"/>
          <p:cNvSpPr txBox="1">
            <a:spLocks noChangeArrowheads="1"/>
          </p:cNvSpPr>
          <p:nvPr/>
        </p:nvSpPr>
        <p:spPr bwMode="auto">
          <a:xfrm>
            <a:off x="6096000" y="310515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39</a:t>
            </a:r>
            <a:endParaRPr kumimoji="1" lang="en-US" altLang="zh-CN" sz="1400" b="1" dirty="0">
              <a:latin typeface="Times New Roman" panose="02020603050405020304" pitchFamily="18" charset="0"/>
              <a:ea typeface="华文楷体" panose="02010600040101010101" pitchFamily="2" charset="-122"/>
            </a:endParaRPr>
          </a:p>
        </p:txBody>
      </p:sp>
      <p:sp>
        <p:nvSpPr>
          <p:cNvPr id="55331" name="Text Box 33"/>
          <p:cNvSpPr txBox="1">
            <a:spLocks noChangeArrowheads="1"/>
          </p:cNvSpPr>
          <p:nvPr/>
        </p:nvSpPr>
        <p:spPr bwMode="auto">
          <a:xfrm>
            <a:off x="6705600" y="310515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50</a:t>
            </a:r>
            <a:endParaRPr kumimoji="1" lang="en-US" altLang="zh-CN" sz="1400" b="1" dirty="0">
              <a:latin typeface="Times New Roman" panose="02020603050405020304" pitchFamily="18" charset="0"/>
              <a:ea typeface="华文楷体" panose="02010600040101010101" pitchFamily="2" charset="-122"/>
            </a:endParaRPr>
          </a:p>
        </p:txBody>
      </p:sp>
      <p:sp>
        <p:nvSpPr>
          <p:cNvPr id="55332" name="Text Box 34"/>
          <p:cNvSpPr txBox="1">
            <a:spLocks noChangeArrowheads="1"/>
          </p:cNvSpPr>
          <p:nvPr/>
        </p:nvSpPr>
        <p:spPr bwMode="auto">
          <a:xfrm>
            <a:off x="7315200" y="3105150"/>
            <a:ext cx="4572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61</a:t>
            </a:r>
            <a:endParaRPr kumimoji="1" lang="en-US" altLang="zh-CN" sz="1400" b="1" dirty="0">
              <a:latin typeface="Times New Roman" panose="02020603050405020304" pitchFamily="18" charset="0"/>
              <a:ea typeface="华文楷体" panose="02010600040101010101" pitchFamily="2" charset="-122"/>
            </a:endParaRPr>
          </a:p>
        </p:txBody>
      </p:sp>
      <p:sp>
        <p:nvSpPr>
          <p:cNvPr id="55333" name="Text Box 35"/>
          <p:cNvSpPr txBox="1">
            <a:spLocks noChangeArrowheads="1"/>
          </p:cNvSpPr>
          <p:nvPr/>
        </p:nvSpPr>
        <p:spPr bwMode="auto">
          <a:xfrm>
            <a:off x="7848600" y="3105150"/>
            <a:ext cx="4572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85</a:t>
            </a:r>
            <a:endParaRPr kumimoji="1" lang="en-US" altLang="zh-CN" sz="1400" b="1" dirty="0">
              <a:latin typeface="Times New Roman" panose="02020603050405020304" pitchFamily="18" charset="0"/>
              <a:ea typeface="华文楷体" panose="02010600040101010101" pitchFamily="2" charset="-122"/>
            </a:endParaRPr>
          </a:p>
        </p:txBody>
      </p:sp>
      <p:sp>
        <p:nvSpPr>
          <p:cNvPr id="55334" name="Line 36"/>
          <p:cNvSpPr>
            <a:spLocks noChangeShapeType="1"/>
          </p:cNvSpPr>
          <p:nvPr/>
        </p:nvSpPr>
        <p:spPr bwMode="auto">
          <a:xfrm flipH="1">
            <a:off x="5715000" y="1981200"/>
            <a:ext cx="609600" cy="3048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35" name="Line 37"/>
          <p:cNvSpPr>
            <a:spLocks noChangeShapeType="1"/>
          </p:cNvSpPr>
          <p:nvPr/>
        </p:nvSpPr>
        <p:spPr bwMode="auto">
          <a:xfrm flipH="1">
            <a:off x="4572000" y="2514600"/>
            <a:ext cx="4572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36" name="Line 38"/>
          <p:cNvSpPr>
            <a:spLocks noChangeShapeType="1"/>
          </p:cNvSpPr>
          <p:nvPr/>
        </p:nvSpPr>
        <p:spPr bwMode="auto">
          <a:xfrm>
            <a:off x="5562600" y="249555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37" name="Line 39"/>
          <p:cNvSpPr>
            <a:spLocks noChangeShapeType="1"/>
          </p:cNvSpPr>
          <p:nvPr/>
        </p:nvSpPr>
        <p:spPr bwMode="auto">
          <a:xfrm>
            <a:off x="5943600" y="2495550"/>
            <a:ext cx="3048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38" name="Line 40"/>
          <p:cNvSpPr>
            <a:spLocks noChangeShapeType="1"/>
          </p:cNvSpPr>
          <p:nvPr/>
        </p:nvSpPr>
        <p:spPr bwMode="auto">
          <a:xfrm>
            <a:off x="6629400" y="1962150"/>
            <a:ext cx="381000" cy="3810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39" name="Line 41"/>
          <p:cNvSpPr>
            <a:spLocks noChangeShapeType="1"/>
          </p:cNvSpPr>
          <p:nvPr/>
        </p:nvSpPr>
        <p:spPr bwMode="auto">
          <a:xfrm>
            <a:off x="6934200" y="1962150"/>
            <a:ext cx="1447800" cy="3810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40" name="Line 42"/>
          <p:cNvSpPr>
            <a:spLocks noChangeShapeType="1"/>
          </p:cNvSpPr>
          <p:nvPr/>
        </p:nvSpPr>
        <p:spPr bwMode="auto">
          <a:xfrm flipH="1">
            <a:off x="6858000" y="249555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41" name="Line 43"/>
          <p:cNvSpPr>
            <a:spLocks noChangeShapeType="1"/>
          </p:cNvSpPr>
          <p:nvPr/>
        </p:nvSpPr>
        <p:spPr bwMode="auto">
          <a:xfrm>
            <a:off x="7239000" y="249555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42" name="Line 44"/>
          <p:cNvSpPr>
            <a:spLocks noChangeShapeType="1"/>
          </p:cNvSpPr>
          <p:nvPr/>
        </p:nvSpPr>
        <p:spPr bwMode="auto">
          <a:xfrm flipH="1">
            <a:off x="8077200" y="249555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43" name="Line 45"/>
          <p:cNvSpPr>
            <a:spLocks noChangeShapeType="1"/>
          </p:cNvSpPr>
          <p:nvPr/>
        </p:nvSpPr>
        <p:spPr bwMode="auto">
          <a:xfrm>
            <a:off x="8458200" y="2495550"/>
            <a:ext cx="2286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44" name="Text Box 46"/>
          <p:cNvSpPr txBox="1">
            <a:spLocks noChangeArrowheads="1"/>
          </p:cNvSpPr>
          <p:nvPr/>
        </p:nvSpPr>
        <p:spPr bwMode="auto">
          <a:xfrm>
            <a:off x="4953000" y="3124200"/>
            <a:ext cx="457200" cy="307777"/>
          </a:xfrm>
          <a:prstGeom prst="rect">
            <a:avLst/>
          </a:prstGeom>
          <a:noFill/>
          <a:ln w="19050" algn="ctr">
            <a:solidFill>
              <a:schemeClr val="accent2"/>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12</a:t>
            </a:r>
            <a:endParaRPr kumimoji="1" lang="en-US" altLang="zh-CN" sz="1400" b="1" dirty="0">
              <a:latin typeface="Times New Roman" panose="02020603050405020304" pitchFamily="18" charset="0"/>
              <a:ea typeface="华文楷体" panose="02010600040101010101" pitchFamily="2" charset="-122"/>
            </a:endParaRPr>
          </a:p>
        </p:txBody>
      </p:sp>
      <p:sp>
        <p:nvSpPr>
          <p:cNvPr id="55345" name="Line 47"/>
          <p:cNvSpPr>
            <a:spLocks noChangeShapeType="1"/>
          </p:cNvSpPr>
          <p:nvPr/>
        </p:nvSpPr>
        <p:spPr bwMode="auto">
          <a:xfrm>
            <a:off x="5181600" y="251460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46" name="Text Box 48"/>
          <p:cNvSpPr txBox="1">
            <a:spLocks noChangeArrowheads="1"/>
          </p:cNvSpPr>
          <p:nvPr/>
        </p:nvSpPr>
        <p:spPr bwMode="auto">
          <a:xfrm>
            <a:off x="990600" y="4895850"/>
            <a:ext cx="457200" cy="307777"/>
          </a:xfrm>
          <a:prstGeom prst="rect">
            <a:avLst/>
          </a:prstGeom>
          <a:noFill/>
          <a:ln w="19050" algn="ctr">
            <a:solidFill>
              <a:schemeClr val="accent2"/>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30</a:t>
            </a:r>
            <a:endParaRPr kumimoji="1" lang="en-US" altLang="zh-CN" sz="1400" b="1" dirty="0">
              <a:latin typeface="Times New Roman" panose="02020603050405020304" pitchFamily="18" charset="0"/>
              <a:ea typeface="华文楷体" panose="02010600040101010101" pitchFamily="2" charset="-122"/>
            </a:endParaRPr>
          </a:p>
        </p:txBody>
      </p:sp>
      <p:sp>
        <p:nvSpPr>
          <p:cNvPr id="55347" name="Text Box 49"/>
          <p:cNvSpPr txBox="1">
            <a:spLocks noChangeArrowheads="1"/>
          </p:cNvSpPr>
          <p:nvPr/>
        </p:nvSpPr>
        <p:spPr bwMode="auto">
          <a:xfrm>
            <a:off x="76200" y="5772150"/>
            <a:ext cx="3048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3</a:t>
            </a:r>
            <a:endParaRPr kumimoji="1" lang="en-US" altLang="zh-CN" sz="1400" b="1" dirty="0">
              <a:latin typeface="Times New Roman" panose="02020603050405020304" pitchFamily="18" charset="0"/>
              <a:ea typeface="华文楷体" panose="02010600040101010101" pitchFamily="2" charset="-122"/>
            </a:endParaRPr>
          </a:p>
        </p:txBody>
      </p:sp>
      <p:sp>
        <p:nvSpPr>
          <p:cNvPr id="55348" name="Text Box 50"/>
          <p:cNvSpPr txBox="1">
            <a:spLocks noChangeArrowheads="1"/>
          </p:cNvSpPr>
          <p:nvPr/>
        </p:nvSpPr>
        <p:spPr bwMode="auto">
          <a:xfrm>
            <a:off x="1143000" y="4362450"/>
            <a:ext cx="1219200" cy="307777"/>
          </a:xfrm>
          <a:prstGeom prst="rect">
            <a:avLst/>
          </a:prstGeom>
          <a:noFill/>
          <a:ln w="19050" algn="ctr">
            <a:solidFill>
              <a:schemeClr val="accent2"/>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24   45   70</a:t>
            </a:r>
            <a:endParaRPr kumimoji="1" lang="en-US" altLang="zh-CN" sz="1400" b="1" dirty="0">
              <a:latin typeface="Times New Roman" panose="02020603050405020304" pitchFamily="18" charset="0"/>
              <a:ea typeface="华文楷体" panose="02010600040101010101" pitchFamily="2" charset="-122"/>
            </a:endParaRPr>
          </a:p>
        </p:txBody>
      </p:sp>
      <p:sp>
        <p:nvSpPr>
          <p:cNvPr id="55349" name="Text Box 51"/>
          <p:cNvSpPr txBox="1">
            <a:spLocks noChangeArrowheads="1"/>
          </p:cNvSpPr>
          <p:nvPr/>
        </p:nvSpPr>
        <p:spPr bwMode="auto">
          <a:xfrm>
            <a:off x="2438400" y="497205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53</a:t>
            </a:r>
            <a:endParaRPr kumimoji="1" lang="en-US" altLang="zh-CN" sz="1400" b="1" dirty="0">
              <a:latin typeface="Times New Roman" panose="02020603050405020304" pitchFamily="18" charset="0"/>
              <a:ea typeface="华文楷体" panose="02010600040101010101" pitchFamily="2" charset="-122"/>
            </a:endParaRPr>
          </a:p>
        </p:txBody>
      </p:sp>
      <p:sp>
        <p:nvSpPr>
          <p:cNvPr id="55350" name="Text Box 52"/>
          <p:cNvSpPr txBox="1">
            <a:spLocks noChangeArrowheads="1"/>
          </p:cNvSpPr>
          <p:nvPr/>
        </p:nvSpPr>
        <p:spPr bwMode="auto">
          <a:xfrm>
            <a:off x="3581400" y="499110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90</a:t>
            </a:r>
            <a:endParaRPr kumimoji="1" lang="en-US" altLang="zh-CN" sz="1400" b="1" dirty="0">
              <a:latin typeface="Times New Roman" panose="02020603050405020304" pitchFamily="18" charset="0"/>
              <a:ea typeface="华文楷体" panose="02010600040101010101" pitchFamily="2" charset="-122"/>
            </a:endParaRPr>
          </a:p>
        </p:txBody>
      </p:sp>
      <p:sp>
        <p:nvSpPr>
          <p:cNvPr id="55351" name="Text Box 53"/>
          <p:cNvSpPr txBox="1">
            <a:spLocks noChangeArrowheads="1"/>
          </p:cNvSpPr>
          <p:nvPr/>
        </p:nvSpPr>
        <p:spPr bwMode="auto">
          <a:xfrm>
            <a:off x="990600" y="575310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26</a:t>
            </a:r>
            <a:endParaRPr kumimoji="1" lang="en-US" altLang="zh-CN" sz="1400" b="1" dirty="0">
              <a:latin typeface="Times New Roman" panose="02020603050405020304" pitchFamily="18" charset="0"/>
              <a:ea typeface="华文楷体" panose="02010600040101010101" pitchFamily="2" charset="-122"/>
            </a:endParaRPr>
          </a:p>
        </p:txBody>
      </p:sp>
      <p:sp>
        <p:nvSpPr>
          <p:cNvPr id="55352" name="Text Box 54"/>
          <p:cNvSpPr txBox="1">
            <a:spLocks noChangeArrowheads="1"/>
          </p:cNvSpPr>
          <p:nvPr/>
        </p:nvSpPr>
        <p:spPr bwMode="auto">
          <a:xfrm>
            <a:off x="3886200" y="575310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100</a:t>
            </a:r>
            <a:endParaRPr kumimoji="1" lang="en-US" altLang="zh-CN" sz="1400" b="1" dirty="0">
              <a:latin typeface="Times New Roman" panose="02020603050405020304" pitchFamily="18" charset="0"/>
              <a:ea typeface="华文楷体" panose="02010600040101010101" pitchFamily="2" charset="-122"/>
            </a:endParaRPr>
          </a:p>
        </p:txBody>
      </p:sp>
      <p:sp>
        <p:nvSpPr>
          <p:cNvPr id="55353" name="Text Box 55"/>
          <p:cNvSpPr txBox="1">
            <a:spLocks noChangeArrowheads="1"/>
          </p:cNvSpPr>
          <p:nvPr/>
        </p:nvSpPr>
        <p:spPr bwMode="auto">
          <a:xfrm>
            <a:off x="1600200" y="575310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39</a:t>
            </a:r>
            <a:endParaRPr kumimoji="1" lang="en-US" altLang="zh-CN" sz="1400" b="1" dirty="0">
              <a:latin typeface="Times New Roman" panose="02020603050405020304" pitchFamily="18" charset="0"/>
              <a:ea typeface="华文楷体" panose="02010600040101010101" pitchFamily="2" charset="-122"/>
            </a:endParaRPr>
          </a:p>
        </p:txBody>
      </p:sp>
      <p:sp>
        <p:nvSpPr>
          <p:cNvPr id="55354" name="Text Box 56"/>
          <p:cNvSpPr txBox="1">
            <a:spLocks noChangeArrowheads="1"/>
          </p:cNvSpPr>
          <p:nvPr/>
        </p:nvSpPr>
        <p:spPr bwMode="auto">
          <a:xfrm>
            <a:off x="2209800" y="575310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50</a:t>
            </a:r>
            <a:endParaRPr kumimoji="1" lang="en-US" altLang="zh-CN" sz="1400" b="1" dirty="0">
              <a:latin typeface="Times New Roman" panose="02020603050405020304" pitchFamily="18" charset="0"/>
              <a:ea typeface="华文楷体" panose="02010600040101010101" pitchFamily="2" charset="-122"/>
            </a:endParaRPr>
          </a:p>
        </p:txBody>
      </p:sp>
      <p:sp>
        <p:nvSpPr>
          <p:cNvPr id="55355" name="Text Box 57"/>
          <p:cNvSpPr txBox="1">
            <a:spLocks noChangeArrowheads="1"/>
          </p:cNvSpPr>
          <p:nvPr/>
        </p:nvSpPr>
        <p:spPr bwMode="auto">
          <a:xfrm>
            <a:off x="2819400" y="5753100"/>
            <a:ext cx="4572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61</a:t>
            </a:r>
            <a:endParaRPr kumimoji="1" lang="en-US" altLang="zh-CN" sz="1400" b="1" dirty="0">
              <a:latin typeface="Times New Roman" panose="02020603050405020304" pitchFamily="18" charset="0"/>
              <a:ea typeface="华文楷体" panose="02010600040101010101" pitchFamily="2" charset="-122"/>
            </a:endParaRPr>
          </a:p>
        </p:txBody>
      </p:sp>
      <p:sp>
        <p:nvSpPr>
          <p:cNvPr id="55356" name="Text Box 58"/>
          <p:cNvSpPr txBox="1">
            <a:spLocks noChangeArrowheads="1"/>
          </p:cNvSpPr>
          <p:nvPr/>
        </p:nvSpPr>
        <p:spPr bwMode="auto">
          <a:xfrm>
            <a:off x="3352800" y="5753100"/>
            <a:ext cx="4572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85</a:t>
            </a:r>
            <a:endParaRPr kumimoji="1" lang="en-US" altLang="zh-CN" sz="1400" b="1" dirty="0">
              <a:latin typeface="Times New Roman" panose="02020603050405020304" pitchFamily="18" charset="0"/>
              <a:ea typeface="华文楷体" panose="02010600040101010101" pitchFamily="2" charset="-122"/>
            </a:endParaRPr>
          </a:p>
        </p:txBody>
      </p:sp>
      <p:sp>
        <p:nvSpPr>
          <p:cNvPr id="55357" name="Line 59"/>
          <p:cNvSpPr>
            <a:spLocks noChangeShapeType="1"/>
          </p:cNvSpPr>
          <p:nvPr/>
        </p:nvSpPr>
        <p:spPr bwMode="auto">
          <a:xfrm flipH="1">
            <a:off x="609600" y="4591050"/>
            <a:ext cx="609600" cy="3048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58" name="Line 60"/>
          <p:cNvSpPr>
            <a:spLocks noChangeShapeType="1"/>
          </p:cNvSpPr>
          <p:nvPr/>
        </p:nvSpPr>
        <p:spPr bwMode="auto">
          <a:xfrm flipH="1">
            <a:off x="76200" y="5162550"/>
            <a:ext cx="4572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59" name="Line 61"/>
          <p:cNvSpPr>
            <a:spLocks noChangeShapeType="1"/>
          </p:cNvSpPr>
          <p:nvPr/>
        </p:nvSpPr>
        <p:spPr bwMode="auto">
          <a:xfrm>
            <a:off x="1066800" y="514350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60" name="Line 62"/>
          <p:cNvSpPr>
            <a:spLocks noChangeShapeType="1"/>
          </p:cNvSpPr>
          <p:nvPr/>
        </p:nvSpPr>
        <p:spPr bwMode="auto">
          <a:xfrm>
            <a:off x="1371600" y="5124450"/>
            <a:ext cx="3048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61" name="Line 63"/>
          <p:cNvSpPr>
            <a:spLocks noChangeShapeType="1"/>
          </p:cNvSpPr>
          <p:nvPr/>
        </p:nvSpPr>
        <p:spPr bwMode="auto">
          <a:xfrm>
            <a:off x="1828800" y="4591050"/>
            <a:ext cx="762000" cy="3810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62" name="Line 64"/>
          <p:cNvSpPr>
            <a:spLocks noChangeShapeType="1"/>
          </p:cNvSpPr>
          <p:nvPr/>
        </p:nvSpPr>
        <p:spPr bwMode="auto">
          <a:xfrm>
            <a:off x="2286000" y="4514850"/>
            <a:ext cx="1600200" cy="4572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63" name="Line 65"/>
          <p:cNvSpPr>
            <a:spLocks noChangeShapeType="1"/>
          </p:cNvSpPr>
          <p:nvPr/>
        </p:nvSpPr>
        <p:spPr bwMode="auto">
          <a:xfrm flipH="1">
            <a:off x="2362200" y="514350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64" name="Line 66"/>
          <p:cNvSpPr>
            <a:spLocks noChangeShapeType="1"/>
          </p:cNvSpPr>
          <p:nvPr/>
        </p:nvSpPr>
        <p:spPr bwMode="auto">
          <a:xfrm>
            <a:off x="2743200" y="514350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65" name="Line 67"/>
          <p:cNvSpPr>
            <a:spLocks noChangeShapeType="1"/>
          </p:cNvSpPr>
          <p:nvPr/>
        </p:nvSpPr>
        <p:spPr bwMode="auto">
          <a:xfrm flipH="1">
            <a:off x="3581400" y="514350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66" name="Line 68"/>
          <p:cNvSpPr>
            <a:spLocks noChangeShapeType="1"/>
          </p:cNvSpPr>
          <p:nvPr/>
        </p:nvSpPr>
        <p:spPr bwMode="auto">
          <a:xfrm>
            <a:off x="3962400" y="5143500"/>
            <a:ext cx="2286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67" name="Text Box 69"/>
          <p:cNvSpPr txBox="1">
            <a:spLocks noChangeArrowheads="1"/>
          </p:cNvSpPr>
          <p:nvPr/>
        </p:nvSpPr>
        <p:spPr bwMode="auto">
          <a:xfrm>
            <a:off x="457200" y="5772150"/>
            <a:ext cx="4572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12</a:t>
            </a:r>
            <a:endParaRPr kumimoji="1" lang="en-US" altLang="zh-CN" sz="1400" b="1" dirty="0">
              <a:latin typeface="Times New Roman" panose="02020603050405020304" pitchFamily="18" charset="0"/>
              <a:ea typeface="华文楷体" panose="02010600040101010101" pitchFamily="2" charset="-122"/>
            </a:endParaRPr>
          </a:p>
        </p:txBody>
      </p:sp>
      <p:sp>
        <p:nvSpPr>
          <p:cNvPr id="55368" name="Line 70"/>
          <p:cNvSpPr>
            <a:spLocks noChangeShapeType="1"/>
          </p:cNvSpPr>
          <p:nvPr/>
        </p:nvSpPr>
        <p:spPr bwMode="auto">
          <a:xfrm>
            <a:off x="685800" y="516255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69" name="Text Box 71"/>
          <p:cNvSpPr txBox="1">
            <a:spLocks noChangeArrowheads="1"/>
          </p:cNvSpPr>
          <p:nvPr/>
        </p:nvSpPr>
        <p:spPr bwMode="auto">
          <a:xfrm>
            <a:off x="457200" y="4895850"/>
            <a:ext cx="304800" cy="307777"/>
          </a:xfrm>
          <a:prstGeom prst="rect">
            <a:avLst/>
          </a:prstGeom>
          <a:noFill/>
          <a:ln w="19050" algn="ctr">
            <a:solidFill>
              <a:schemeClr val="accent2"/>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7   </a:t>
            </a:r>
            <a:endParaRPr kumimoji="1" lang="en-US" altLang="zh-CN" sz="1400" b="1" dirty="0">
              <a:latin typeface="Times New Roman" panose="02020603050405020304" pitchFamily="18" charset="0"/>
              <a:ea typeface="华文楷体" panose="02010600040101010101" pitchFamily="2" charset="-122"/>
            </a:endParaRPr>
          </a:p>
        </p:txBody>
      </p:sp>
      <p:sp>
        <p:nvSpPr>
          <p:cNvPr id="55370" name="Line 72"/>
          <p:cNvSpPr>
            <a:spLocks noChangeShapeType="1"/>
          </p:cNvSpPr>
          <p:nvPr/>
        </p:nvSpPr>
        <p:spPr bwMode="auto">
          <a:xfrm flipH="1">
            <a:off x="1143000" y="4514850"/>
            <a:ext cx="381000" cy="3810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71" name="Text Box 73"/>
          <p:cNvSpPr txBox="1">
            <a:spLocks noChangeArrowheads="1"/>
          </p:cNvSpPr>
          <p:nvPr/>
        </p:nvSpPr>
        <p:spPr bwMode="auto">
          <a:xfrm>
            <a:off x="5562600" y="5143500"/>
            <a:ext cx="4572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30</a:t>
            </a:r>
            <a:endParaRPr kumimoji="1" lang="en-US" altLang="zh-CN" sz="1400" b="1" dirty="0">
              <a:latin typeface="Times New Roman" panose="02020603050405020304" pitchFamily="18" charset="0"/>
              <a:ea typeface="华文楷体" panose="02010600040101010101" pitchFamily="2" charset="-122"/>
            </a:endParaRPr>
          </a:p>
        </p:txBody>
      </p:sp>
      <p:sp>
        <p:nvSpPr>
          <p:cNvPr id="55372" name="Text Box 74"/>
          <p:cNvSpPr txBox="1">
            <a:spLocks noChangeArrowheads="1"/>
          </p:cNvSpPr>
          <p:nvPr/>
        </p:nvSpPr>
        <p:spPr bwMode="auto">
          <a:xfrm>
            <a:off x="4648200" y="6019800"/>
            <a:ext cx="3048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3</a:t>
            </a:r>
            <a:endParaRPr kumimoji="1" lang="en-US" altLang="zh-CN" sz="1400" b="1" dirty="0">
              <a:latin typeface="Times New Roman" panose="02020603050405020304" pitchFamily="18" charset="0"/>
              <a:ea typeface="华文楷体" panose="02010600040101010101" pitchFamily="2" charset="-122"/>
            </a:endParaRPr>
          </a:p>
        </p:txBody>
      </p:sp>
      <p:sp>
        <p:nvSpPr>
          <p:cNvPr id="55373" name="Text Box 75"/>
          <p:cNvSpPr txBox="1">
            <a:spLocks noChangeArrowheads="1"/>
          </p:cNvSpPr>
          <p:nvPr/>
        </p:nvSpPr>
        <p:spPr bwMode="auto">
          <a:xfrm>
            <a:off x="5562600" y="4438650"/>
            <a:ext cx="457200" cy="307777"/>
          </a:xfrm>
          <a:prstGeom prst="rect">
            <a:avLst/>
          </a:prstGeom>
          <a:noFill/>
          <a:ln w="19050" algn="ctr">
            <a:solidFill>
              <a:schemeClr val="accent2"/>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24</a:t>
            </a:r>
            <a:endParaRPr kumimoji="1" lang="en-US" altLang="zh-CN" sz="1400" b="1" dirty="0">
              <a:latin typeface="Times New Roman" panose="02020603050405020304" pitchFamily="18" charset="0"/>
              <a:ea typeface="华文楷体" panose="02010600040101010101" pitchFamily="2" charset="-122"/>
            </a:endParaRPr>
          </a:p>
        </p:txBody>
      </p:sp>
      <p:sp>
        <p:nvSpPr>
          <p:cNvPr id="55374" name="Text Box 76"/>
          <p:cNvSpPr txBox="1">
            <a:spLocks noChangeArrowheads="1"/>
          </p:cNvSpPr>
          <p:nvPr/>
        </p:nvSpPr>
        <p:spPr bwMode="auto">
          <a:xfrm>
            <a:off x="7010400" y="521970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53</a:t>
            </a:r>
            <a:endParaRPr kumimoji="1" lang="en-US" altLang="zh-CN" sz="1400" b="1" dirty="0">
              <a:latin typeface="Times New Roman" panose="02020603050405020304" pitchFamily="18" charset="0"/>
              <a:ea typeface="华文楷体" panose="02010600040101010101" pitchFamily="2" charset="-122"/>
            </a:endParaRPr>
          </a:p>
        </p:txBody>
      </p:sp>
      <p:sp>
        <p:nvSpPr>
          <p:cNvPr id="55375" name="Text Box 77"/>
          <p:cNvSpPr txBox="1">
            <a:spLocks noChangeArrowheads="1"/>
          </p:cNvSpPr>
          <p:nvPr/>
        </p:nvSpPr>
        <p:spPr bwMode="auto">
          <a:xfrm>
            <a:off x="8153400" y="523875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90</a:t>
            </a:r>
            <a:endParaRPr kumimoji="1" lang="en-US" altLang="zh-CN" sz="1400" b="1" dirty="0">
              <a:latin typeface="Times New Roman" panose="02020603050405020304" pitchFamily="18" charset="0"/>
              <a:ea typeface="华文楷体" panose="02010600040101010101" pitchFamily="2" charset="-122"/>
            </a:endParaRPr>
          </a:p>
        </p:txBody>
      </p:sp>
      <p:sp>
        <p:nvSpPr>
          <p:cNvPr id="55376" name="Text Box 78"/>
          <p:cNvSpPr txBox="1">
            <a:spLocks noChangeArrowheads="1"/>
          </p:cNvSpPr>
          <p:nvPr/>
        </p:nvSpPr>
        <p:spPr bwMode="auto">
          <a:xfrm>
            <a:off x="5562600" y="600075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26</a:t>
            </a:r>
            <a:endParaRPr kumimoji="1" lang="en-US" altLang="zh-CN" sz="1400" b="1" dirty="0">
              <a:latin typeface="Times New Roman" panose="02020603050405020304" pitchFamily="18" charset="0"/>
              <a:ea typeface="华文楷体" panose="02010600040101010101" pitchFamily="2" charset="-122"/>
            </a:endParaRPr>
          </a:p>
        </p:txBody>
      </p:sp>
      <p:sp>
        <p:nvSpPr>
          <p:cNvPr id="55377" name="Text Box 79"/>
          <p:cNvSpPr txBox="1">
            <a:spLocks noChangeArrowheads="1"/>
          </p:cNvSpPr>
          <p:nvPr/>
        </p:nvSpPr>
        <p:spPr bwMode="auto">
          <a:xfrm>
            <a:off x="8458200" y="600075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100</a:t>
            </a:r>
            <a:endParaRPr kumimoji="1" lang="en-US" altLang="zh-CN" sz="1400" b="1" dirty="0">
              <a:latin typeface="Times New Roman" panose="02020603050405020304" pitchFamily="18" charset="0"/>
              <a:ea typeface="华文楷体" panose="02010600040101010101" pitchFamily="2" charset="-122"/>
            </a:endParaRPr>
          </a:p>
        </p:txBody>
      </p:sp>
      <p:sp>
        <p:nvSpPr>
          <p:cNvPr id="55378" name="Text Box 80"/>
          <p:cNvSpPr txBox="1">
            <a:spLocks noChangeArrowheads="1"/>
          </p:cNvSpPr>
          <p:nvPr/>
        </p:nvSpPr>
        <p:spPr bwMode="auto">
          <a:xfrm>
            <a:off x="6172200" y="600075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39</a:t>
            </a:r>
            <a:endParaRPr kumimoji="1" lang="en-US" altLang="zh-CN" sz="1400" b="1" dirty="0">
              <a:latin typeface="Times New Roman" panose="02020603050405020304" pitchFamily="18" charset="0"/>
              <a:ea typeface="华文楷体" panose="02010600040101010101" pitchFamily="2" charset="-122"/>
            </a:endParaRPr>
          </a:p>
        </p:txBody>
      </p:sp>
      <p:sp>
        <p:nvSpPr>
          <p:cNvPr id="55379" name="Text Box 81"/>
          <p:cNvSpPr txBox="1">
            <a:spLocks noChangeArrowheads="1"/>
          </p:cNvSpPr>
          <p:nvPr/>
        </p:nvSpPr>
        <p:spPr bwMode="auto">
          <a:xfrm>
            <a:off x="6781800" y="600075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50</a:t>
            </a:r>
            <a:endParaRPr kumimoji="1" lang="en-US" altLang="zh-CN" sz="1400" b="1" dirty="0">
              <a:latin typeface="Times New Roman" panose="02020603050405020304" pitchFamily="18" charset="0"/>
              <a:ea typeface="华文楷体" panose="02010600040101010101" pitchFamily="2" charset="-122"/>
            </a:endParaRPr>
          </a:p>
        </p:txBody>
      </p:sp>
      <p:sp>
        <p:nvSpPr>
          <p:cNvPr id="55380" name="Text Box 82"/>
          <p:cNvSpPr txBox="1">
            <a:spLocks noChangeArrowheads="1"/>
          </p:cNvSpPr>
          <p:nvPr/>
        </p:nvSpPr>
        <p:spPr bwMode="auto">
          <a:xfrm>
            <a:off x="7391400" y="6000750"/>
            <a:ext cx="4572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61</a:t>
            </a:r>
            <a:endParaRPr kumimoji="1" lang="en-US" altLang="zh-CN" sz="1400" b="1" dirty="0">
              <a:latin typeface="Times New Roman" panose="02020603050405020304" pitchFamily="18" charset="0"/>
              <a:ea typeface="华文楷体" panose="02010600040101010101" pitchFamily="2" charset="-122"/>
            </a:endParaRPr>
          </a:p>
        </p:txBody>
      </p:sp>
      <p:sp>
        <p:nvSpPr>
          <p:cNvPr id="55381" name="Text Box 83"/>
          <p:cNvSpPr txBox="1">
            <a:spLocks noChangeArrowheads="1"/>
          </p:cNvSpPr>
          <p:nvPr/>
        </p:nvSpPr>
        <p:spPr bwMode="auto">
          <a:xfrm>
            <a:off x="7924800" y="6000750"/>
            <a:ext cx="4572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85</a:t>
            </a:r>
            <a:endParaRPr kumimoji="1" lang="en-US" altLang="zh-CN" sz="1400" b="1" dirty="0">
              <a:latin typeface="Times New Roman" panose="02020603050405020304" pitchFamily="18" charset="0"/>
              <a:ea typeface="华文楷体" panose="02010600040101010101" pitchFamily="2" charset="-122"/>
            </a:endParaRPr>
          </a:p>
        </p:txBody>
      </p:sp>
      <p:sp>
        <p:nvSpPr>
          <p:cNvPr id="55382" name="Line 84"/>
          <p:cNvSpPr>
            <a:spLocks noChangeShapeType="1"/>
          </p:cNvSpPr>
          <p:nvPr/>
        </p:nvSpPr>
        <p:spPr bwMode="auto">
          <a:xfrm flipH="1">
            <a:off x="5257800" y="4667250"/>
            <a:ext cx="381000" cy="4572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83" name="Line 85"/>
          <p:cNvSpPr>
            <a:spLocks noChangeShapeType="1"/>
          </p:cNvSpPr>
          <p:nvPr/>
        </p:nvSpPr>
        <p:spPr bwMode="auto">
          <a:xfrm flipH="1">
            <a:off x="4648200" y="5410200"/>
            <a:ext cx="4572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84" name="Line 86"/>
          <p:cNvSpPr>
            <a:spLocks noChangeShapeType="1"/>
          </p:cNvSpPr>
          <p:nvPr/>
        </p:nvSpPr>
        <p:spPr bwMode="auto">
          <a:xfrm>
            <a:off x="5638800" y="539115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85" name="Line 87"/>
          <p:cNvSpPr>
            <a:spLocks noChangeShapeType="1"/>
          </p:cNvSpPr>
          <p:nvPr/>
        </p:nvSpPr>
        <p:spPr bwMode="auto">
          <a:xfrm>
            <a:off x="5943600" y="5372100"/>
            <a:ext cx="3048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86" name="Line 88"/>
          <p:cNvSpPr>
            <a:spLocks noChangeShapeType="1"/>
          </p:cNvSpPr>
          <p:nvPr/>
        </p:nvSpPr>
        <p:spPr bwMode="auto">
          <a:xfrm flipH="1">
            <a:off x="7162800" y="4591050"/>
            <a:ext cx="152400" cy="62865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87" name="Line 89"/>
          <p:cNvSpPr>
            <a:spLocks noChangeShapeType="1"/>
          </p:cNvSpPr>
          <p:nvPr/>
        </p:nvSpPr>
        <p:spPr bwMode="auto">
          <a:xfrm>
            <a:off x="7620000" y="4591050"/>
            <a:ext cx="838200" cy="62865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88" name="Line 90"/>
          <p:cNvSpPr>
            <a:spLocks noChangeShapeType="1"/>
          </p:cNvSpPr>
          <p:nvPr/>
        </p:nvSpPr>
        <p:spPr bwMode="auto">
          <a:xfrm flipH="1">
            <a:off x="6934200" y="539115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89" name="Line 91"/>
          <p:cNvSpPr>
            <a:spLocks noChangeShapeType="1"/>
          </p:cNvSpPr>
          <p:nvPr/>
        </p:nvSpPr>
        <p:spPr bwMode="auto">
          <a:xfrm>
            <a:off x="7315200" y="539115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90" name="Line 92"/>
          <p:cNvSpPr>
            <a:spLocks noChangeShapeType="1"/>
          </p:cNvSpPr>
          <p:nvPr/>
        </p:nvSpPr>
        <p:spPr bwMode="auto">
          <a:xfrm flipH="1">
            <a:off x="8153400" y="539115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91" name="Line 93"/>
          <p:cNvSpPr>
            <a:spLocks noChangeShapeType="1"/>
          </p:cNvSpPr>
          <p:nvPr/>
        </p:nvSpPr>
        <p:spPr bwMode="auto">
          <a:xfrm>
            <a:off x="8534400" y="5391150"/>
            <a:ext cx="2286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92" name="Text Box 94"/>
          <p:cNvSpPr txBox="1">
            <a:spLocks noChangeArrowheads="1"/>
          </p:cNvSpPr>
          <p:nvPr/>
        </p:nvSpPr>
        <p:spPr bwMode="auto">
          <a:xfrm>
            <a:off x="5029200" y="6019800"/>
            <a:ext cx="4572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12</a:t>
            </a:r>
            <a:endParaRPr kumimoji="1" lang="en-US" altLang="zh-CN" sz="1400" b="1" dirty="0">
              <a:latin typeface="Times New Roman" panose="02020603050405020304" pitchFamily="18" charset="0"/>
              <a:ea typeface="华文楷体" panose="02010600040101010101" pitchFamily="2" charset="-122"/>
            </a:endParaRPr>
          </a:p>
        </p:txBody>
      </p:sp>
      <p:sp>
        <p:nvSpPr>
          <p:cNvPr id="55393" name="Line 95"/>
          <p:cNvSpPr>
            <a:spLocks noChangeShapeType="1"/>
          </p:cNvSpPr>
          <p:nvPr/>
        </p:nvSpPr>
        <p:spPr bwMode="auto">
          <a:xfrm>
            <a:off x="5257800" y="541020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94" name="Text Box 96"/>
          <p:cNvSpPr txBox="1">
            <a:spLocks noChangeArrowheads="1"/>
          </p:cNvSpPr>
          <p:nvPr/>
        </p:nvSpPr>
        <p:spPr bwMode="auto">
          <a:xfrm>
            <a:off x="5029200" y="5143500"/>
            <a:ext cx="3048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7   </a:t>
            </a:r>
            <a:endParaRPr kumimoji="1" lang="en-US" altLang="zh-CN" sz="1400" b="1" dirty="0">
              <a:latin typeface="Times New Roman" panose="02020603050405020304" pitchFamily="18" charset="0"/>
              <a:ea typeface="华文楷体" panose="02010600040101010101" pitchFamily="2" charset="-122"/>
            </a:endParaRPr>
          </a:p>
        </p:txBody>
      </p:sp>
      <p:sp>
        <p:nvSpPr>
          <p:cNvPr id="55395" name="Line 97"/>
          <p:cNvSpPr>
            <a:spLocks noChangeShapeType="1"/>
          </p:cNvSpPr>
          <p:nvPr/>
        </p:nvSpPr>
        <p:spPr bwMode="auto">
          <a:xfrm>
            <a:off x="5943600" y="4667250"/>
            <a:ext cx="0" cy="4572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96" name="Text Box 98"/>
          <p:cNvSpPr txBox="1">
            <a:spLocks noChangeArrowheads="1"/>
          </p:cNvSpPr>
          <p:nvPr/>
        </p:nvSpPr>
        <p:spPr bwMode="auto">
          <a:xfrm>
            <a:off x="6324600" y="3886200"/>
            <a:ext cx="533400" cy="307777"/>
          </a:xfrm>
          <a:prstGeom prst="rect">
            <a:avLst/>
          </a:prstGeom>
          <a:noFill/>
          <a:ln w="19050" algn="ctr">
            <a:solidFill>
              <a:schemeClr val="accent2"/>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45</a:t>
            </a:r>
            <a:endParaRPr kumimoji="1" lang="en-US" altLang="zh-CN" sz="1400" b="1" dirty="0">
              <a:latin typeface="Times New Roman" panose="02020603050405020304" pitchFamily="18" charset="0"/>
              <a:ea typeface="华文楷体" panose="02010600040101010101" pitchFamily="2" charset="-122"/>
            </a:endParaRPr>
          </a:p>
        </p:txBody>
      </p:sp>
      <p:sp>
        <p:nvSpPr>
          <p:cNvPr id="55397" name="Text Box 99"/>
          <p:cNvSpPr txBox="1">
            <a:spLocks noChangeArrowheads="1"/>
          </p:cNvSpPr>
          <p:nvPr/>
        </p:nvSpPr>
        <p:spPr bwMode="auto">
          <a:xfrm>
            <a:off x="7239000" y="4438650"/>
            <a:ext cx="457200" cy="307777"/>
          </a:xfrm>
          <a:prstGeom prst="rect">
            <a:avLst/>
          </a:prstGeom>
          <a:noFill/>
          <a:ln w="19050" algn="ctr">
            <a:solidFill>
              <a:schemeClr val="accent2"/>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70</a:t>
            </a:r>
            <a:endParaRPr kumimoji="1" lang="en-US" altLang="zh-CN" sz="1400" b="1" dirty="0">
              <a:latin typeface="Times New Roman" panose="02020603050405020304" pitchFamily="18" charset="0"/>
              <a:ea typeface="华文楷体" panose="02010600040101010101" pitchFamily="2" charset="-122"/>
            </a:endParaRPr>
          </a:p>
        </p:txBody>
      </p:sp>
      <p:sp>
        <p:nvSpPr>
          <p:cNvPr id="55398" name="Line 100"/>
          <p:cNvSpPr>
            <a:spLocks noChangeShapeType="1"/>
          </p:cNvSpPr>
          <p:nvPr/>
        </p:nvSpPr>
        <p:spPr bwMode="auto">
          <a:xfrm flipH="1">
            <a:off x="5943600" y="4057650"/>
            <a:ext cx="457200" cy="3810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399" name="Line 101"/>
          <p:cNvSpPr>
            <a:spLocks noChangeShapeType="1"/>
          </p:cNvSpPr>
          <p:nvPr/>
        </p:nvSpPr>
        <p:spPr bwMode="auto">
          <a:xfrm>
            <a:off x="6781800" y="4057650"/>
            <a:ext cx="685800" cy="3810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400" name="AutoShape 102"/>
          <p:cNvSpPr>
            <a:spLocks noChangeArrowheads="1"/>
          </p:cNvSpPr>
          <p:nvPr/>
        </p:nvSpPr>
        <p:spPr bwMode="auto">
          <a:xfrm>
            <a:off x="152400" y="3276600"/>
            <a:ext cx="457200" cy="762000"/>
          </a:xfrm>
          <a:custGeom>
            <a:avLst/>
            <a:gdLst>
              <a:gd name="T0" fmla="*/ 146317356 w 21600"/>
              <a:gd name="T1" fmla="*/ 0 h 21600"/>
              <a:gd name="T2" fmla="*/ 87786570 w 21600"/>
              <a:gd name="T3" fmla="*/ 316108503 h 21600"/>
              <a:gd name="T4" fmla="*/ 0 w 21600"/>
              <a:gd name="T5" fmla="*/ 790314791 h 21600"/>
              <a:gd name="T6" fmla="*/ 87786570 w 21600"/>
              <a:gd name="T7" fmla="*/ 948325475 h 21600"/>
              <a:gd name="T8" fmla="*/ 175573119 w 21600"/>
              <a:gd name="T9" fmla="*/ 658559770 h 21600"/>
              <a:gd name="T10" fmla="*/ 204838300 w 21600"/>
              <a:gd name="T11" fmla="*/ 316108503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chemeClr val="accent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5401" name="AutoShape 103"/>
          <p:cNvSpPr>
            <a:spLocks noChangeArrowheads="1"/>
          </p:cNvSpPr>
          <p:nvPr/>
        </p:nvSpPr>
        <p:spPr bwMode="auto">
          <a:xfrm>
            <a:off x="4038600" y="1828800"/>
            <a:ext cx="914400" cy="228600"/>
          </a:xfrm>
          <a:prstGeom prst="rightArrow">
            <a:avLst>
              <a:gd name="adj1" fmla="val 50000"/>
              <a:gd name="adj2" fmla="val 100000"/>
            </a:avLst>
          </a:prstGeom>
          <a:solidFill>
            <a:schemeClr val="accent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5402" name="AutoShape 104"/>
          <p:cNvSpPr>
            <a:spLocks noChangeArrowheads="1"/>
          </p:cNvSpPr>
          <p:nvPr/>
        </p:nvSpPr>
        <p:spPr bwMode="auto">
          <a:xfrm>
            <a:off x="4038600" y="4343400"/>
            <a:ext cx="914400" cy="228600"/>
          </a:xfrm>
          <a:prstGeom prst="rightArrow">
            <a:avLst>
              <a:gd name="adj1" fmla="val 50000"/>
              <a:gd name="adj2" fmla="val 100000"/>
            </a:avLst>
          </a:prstGeom>
          <a:solidFill>
            <a:schemeClr val="accent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5403" name="Text Box 105"/>
          <p:cNvSpPr txBox="1">
            <a:spLocks noChangeArrowheads="1"/>
          </p:cNvSpPr>
          <p:nvPr/>
        </p:nvSpPr>
        <p:spPr bwMode="auto">
          <a:xfrm>
            <a:off x="76200" y="4038600"/>
            <a:ext cx="685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7</a:t>
            </a:r>
            <a:r>
              <a:rPr kumimoji="1" lang="zh-CN" altLang="en-US" sz="1400" b="1" dirty="0">
                <a:latin typeface="Times New Roman" panose="02020603050405020304" pitchFamily="18" charset="0"/>
                <a:ea typeface="华文楷体" panose="02010600040101010101" pitchFamily="2" charset="-122"/>
              </a:rPr>
              <a:t>插入</a:t>
            </a:r>
            <a:endParaRPr kumimoji="1" lang="zh-CN" altLang="en-US" sz="1400" b="1"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页脚占位符 3"/>
          <p:cNvSpPr>
            <a:spLocks noGrp="1"/>
          </p:cNvSpPr>
          <p:nvPr>
            <p:ph type="ftr" sz="quarter" idx="10"/>
          </p:nvPr>
        </p:nvSpPr>
        <p:spPr/>
        <p:txBody>
          <a:bodyPr/>
          <a:lstStyle/>
          <a:p>
            <a:pPr>
              <a:defRPr/>
            </a:pPr>
            <a:r>
              <a:rPr lang="en-US" altLang="zh-CN"/>
              <a:t>BUPT SCST</a:t>
            </a:r>
            <a:endParaRPr lang="en-US" altLang="zh-CN"/>
          </a:p>
        </p:txBody>
      </p:sp>
      <p:sp>
        <p:nvSpPr>
          <p:cNvPr id="12" name="日期占位符 5"/>
          <p:cNvSpPr>
            <a:spLocks noGrp="1"/>
          </p:cNvSpPr>
          <p:nvPr>
            <p:ph type="dt" sz="quarter" idx="12"/>
          </p:nvPr>
        </p:nvSpPr>
        <p:spPr/>
        <p:txBody>
          <a:bodyPr/>
          <a:lstStyle/>
          <a:p>
            <a:pPr>
              <a:defRPr/>
            </a:pPr>
            <a:r>
              <a:rPr lang="en-US" altLang="zh-CN"/>
              <a:t>BUPT</a:t>
            </a:r>
            <a:endParaRPr lang="en-US" altLang="zh-CN"/>
          </a:p>
        </p:txBody>
      </p:sp>
      <p:sp>
        <p:nvSpPr>
          <p:cNvPr id="56324" name="Freeform 2"/>
          <p:cNvSpPr/>
          <p:nvPr/>
        </p:nvSpPr>
        <p:spPr bwMode="auto">
          <a:xfrm>
            <a:off x="1447800" y="6400800"/>
            <a:ext cx="585788" cy="338138"/>
          </a:xfrm>
          <a:custGeom>
            <a:avLst/>
            <a:gdLst>
              <a:gd name="T0" fmla="*/ 2147483646 w 241"/>
              <a:gd name="T1" fmla="*/ 2147483646 h 190"/>
              <a:gd name="T2" fmla="*/ 2147483646 w 241"/>
              <a:gd name="T3" fmla="*/ 2147483646 h 190"/>
              <a:gd name="T4" fmla="*/ 2147483646 w 241"/>
              <a:gd name="T5" fmla="*/ 2147483646 h 190"/>
              <a:gd name="T6" fmla="*/ 2147483646 w 241"/>
              <a:gd name="T7" fmla="*/ 2147483646 h 190"/>
              <a:gd name="T8" fmla="*/ 2147483646 w 241"/>
              <a:gd name="T9" fmla="*/ 2147483646 h 190"/>
              <a:gd name="T10" fmla="*/ 2147483646 w 241"/>
              <a:gd name="T11" fmla="*/ 2147483646 h 19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1" h="190">
                <a:moveTo>
                  <a:pt x="15" y="173"/>
                </a:moveTo>
                <a:cubicBezTo>
                  <a:pt x="22" y="61"/>
                  <a:pt x="0" y="37"/>
                  <a:pt x="88" y="5"/>
                </a:cubicBezTo>
                <a:cubicBezTo>
                  <a:pt x="134" y="8"/>
                  <a:pt x="182" y="0"/>
                  <a:pt x="226" y="13"/>
                </a:cubicBezTo>
                <a:cubicBezTo>
                  <a:pt x="241" y="17"/>
                  <a:pt x="204" y="63"/>
                  <a:pt x="204" y="63"/>
                </a:cubicBezTo>
                <a:cubicBezTo>
                  <a:pt x="177" y="103"/>
                  <a:pt x="177" y="145"/>
                  <a:pt x="125" y="158"/>
                </a:cubicBezTo>
                <a:cubicBezTo>
                  <a:pt x="79" y="190"/>
                  <a:pt x="112" y="173"/>
                  <a:pt x="15" y="173"/>
                </a:cubicBezTo>
                <a:close/>
              </a:path>
            </a:pathLst>
          </a:custGeom>
          <a:solidFill>
            <a:srgbClr val="FFFFFF"/>
          </a:solidFill>
          <a:ln w="38100" cap="flat" cmpd="sng">
            <a:solidFill>
              <a:schemeClr val="folHlink"/>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325" name="Rectangle 3"/>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6326" name="Rectangle 4"/>
          <p:cNvSpPr>
            <a:spLocks noGrp="1" noChangeArrowheads="1"/>
          </p:cNvSpPr>
          <p:nvPr>
            <p:ph type="body" idx="1"/>
          </p:nvPr>
        </p:nvSpPr>
        <p:spPr>
          <a:xfrm>
            <a:off x="457200" y="990600"/>
            <a:ext cx="8382000" cy="5334000"/>
          </a:xfrm>
        </p:spPr>
        <p:txBody>
          <a:bodyPr/>
          <a:lstStyle/>
          <a:p>
            <a:pPr eaLnBrk="1" hangingPunct="1">
              <a:lnSpc>
                <a:spcPct val="80000"/>
              </a:lnSpc>
              <a:buFont typeface="Wingdings" panose="05000000000000000000" pitchFamily="2" charset="2"/>
              <a:buNone/>
            </a:pPr>
            <a:r>
              <a:rPr lang="en-US" altLang="zh-CN" sz="2400" b="1" dirty="0" smtClean="0">
                <a:solidFill>
                  <a:schemeClr val="accent2"/>
                </a:solidFill>
                <a:ea typeface="华文楷体" panose="02010600040101010101" pitchFamily="2" charset="-122"/>
              </a:rPr>
              <a:t>5.B-</a:t>
            </a:r>
            <a:r>
              <a:rPr lang="zh-CN" altLang="en-US" sz="2400" b="1" dirty="0" smtClean="0">
                <a:solidFill>
                  <a:schemeClr val="accent2"/>
                </a:solidFill>
                <a:ea typeface="华文楷体" panose="02010600040101010101" pitchFamily="2" charset="-122"/>
              </a:rPr>
              <a:t>树删除过程</a:t>
            </a:r>
            <a:endParaRPr lang="zh-CN" altLang="en-US" sz="2400" b="1" dirty="0" smtClean="0">
              <a:solidFill>
                <a:schemeClr val="accent2"/>
              </a:solidFill>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1</a:t>
            </a:r>
            <a:r>
              <a:rPr lang="zh-CN" altLang="en-US" sz="2000" dirty="0" smtClean="0">
                <a:ea typeface="华文楷体" panose="02010600040101010101" pitchFamily="2" charset="-122"/>
              </a:rPr>
              <a:t>、查找具有给定键值的关键字 </a:t>
            </a:r>
            <a:r>
              <a:rPr lang="en-US" altLang="zh-CN" sz="2000" dirty="0" smtClean="0">
                <a:ea typeface="华文楷体" panose="02010600040101010101" pitchFamily="2" charset="-122"/>
              </a:rPr>
              <a:t>K</a:t>
            </a:r>
            <a:r>
              <a:rPr lang="en-US" altLang="zh-CN" sz="2000" baseline="-25000" dirty="0" smtClean="0">
                <a:ea typeface="华文楷体" panose="02010600040101010101" pitchFamily="2" charset="-122"/>
              </a:rPr>
              <a:t>i</a:t>
            </a:r>
            <a:r>
              <a:rPr lang="en-US" altLang="zh-CN" sz="2000" dirty="0" smtClean="0">
                <a:ea typeface="华文楷体" panose="02010600040101010101" pitchFamily="2" charset="-122"/>
              </a:rPr>
              <a:t> </a:t>
            </a:r>
            <a:endParaRPr lang="en-US" altLang="zh-CN"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2</a:t>
            </a:r>
            <a:r>
              <a:rPr lang="zh-CN" altLang="en-US" sz="2000" dirty="0" smtClean="0">
                <a:ea typeface="华文楷体" panose="02010600040101010101" pitchFamily="2" charset="-122"/>
              </a:rPr>
              <a:t>、如果在第</a:t>
            </a:r>
            <a:r>
              <a:rPr lang="zh-CN" altLang="en-US" sz="2000" dirty="0" smtClean="0">
                <a:solidFill>
                  <a:srgbClr val="FF0000"/>
                </a:solidFill>
                <a:ea typeface="华文楷体" panose="02010600040101010101" pitchFamily="2" charset="-122"/>
              </a:rPr>
              <a:t> </a:t>
            </a:r>
            <a:r>
              <a:rPr lang="en-US" altLang="zh-CN" sz="2000" dirty="0" smtClean="0">
                <a:solidFill>
                  <a:srgbClr val="FF0000"/>
                </a:solidFill>
                <a:ea typeface="华文楷体" panose="02010600040101010101" pitchFamily="2" charset="-122"/>
              </a:rPr>
              <a:t>L</a:t>
            </a:r>
            <a:r>
              <a:rPr lang="en-US" altLang="zh-CN" sz="2000" dirty="0" smtClean="0">
                <a:ea typeface="华文楷体" panose="02010600040101010101" pitchFamily="2" charset="-122"/>
              </a:rPr>
              <a:t> </a:t>
            </a:r>
            <a:r>
              <a:rPr lang="zh-CN" altLang="en-US" sz="2000" dirty="0" smtClean="0">
                <a:ea typeface="华文楷体" panose="02010600040101010101" pitchFamily="2" charset="-122"/>
              </a:rPr>
              <a:t>层，可直接删除（注意：第 </a:t>
            </a:r>
            <a:r>
              <a:rPr lang="en-US" altLang="zh-CN" sz="2000" dirty="0" smtClean="0">
                <a:solidFill>
                  <a:srgbClr val="FF0000"/>
                </a:solidFill>
                <a:ea typeface="华文楷体" panose="02010600040101010101" pitchFamily="2" charset="-122"/>
              </a:rPr>
              <a:t>L+1</a:t>
            </a:r>
            <a:r>
              <a:rPr lang="en-US" altLang="zh-CN" sz="2000" dirty="0" smtClean="0">
                <a:ea typeface="华文楷体" panose="02010600040101010101" pitchFamily="2" charset="-122"/>
              </a:rPr>
              <a:t> </a:t>
            </a:r>
            <a:r>
              <a:rPr lang="zh-CN" altLang="en-US" sz="2000" dirty="0" smtClean="0">
                <a:ea typeface="华文楷体" panose="02010600040101010101" pitchFamily="2" charset="-122"/>
              </a:rPr>
              <a:t>层为</a:t>
            </a:r>
            <a:r>
              <a:rPr lang="zh-CN" altLang="en-US" sz="2000" dirty="0" smtClean="0">
                <a:solidFill>
                  <a:srgbClr val="FF0000"/>
                </a:solidFill>
                <a:ea typeface="华文楷体" panose="02010600040101010101" pitchFamily="2" charset="-122"/>
              </a:rPr>
              <a:t>叶子</a:t>
            </a:r>
            <a:r>
              <a:rPr lang="zh-CN" altLang="en-US" sz="2000" dirty="0" smtClean="0">
                <a:ea typeface="华文楷体" panose="02010600040101010101" pitchFamily="2" charset="-122"/>
              </a:rPr>
              <a:t>结点），转 </a:t>
            </a:r>
            <a:r>
              <a:rPr lang="en-US" altLang="zh-CN" sz="2000" dirty="0" smtClean="0">
                <a:ea typeface="华文楷体" panose="02010600040101010101" pitchFamily="2" charset="-122"/>
              </a:rPr>
              <a:t>4 </a:t>
            </a:r>
            <a:r>
              <a:rPr lang="zh-CN" altLang="en-US" sz="2000" dirty="0" smtClean="0">
                <a:ea typeface="华文楷体" panose="02010600040101010101" pitchFamily="2" charset="-122"/>
              </a:rPr>
              <a:t>。</a:t>
            </a:r>
            <a:endParaRPr lang="zh-CN" altLang="en-US"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3</a:t>
            </a:r>
            <a:r>
              <a:rPr lang="zh-CN" altLang="en-US" sz="2000" dirty="0" smtClean="0">
                <a:ea typeface="华文楷体" panose="02010600040101010101" pitchFamily="2" charset="-122"/>
              </a:rPr>
              <a:t>、否则，则首先生成 “替身”。用该关键字的右边子树中的最左面的结点的关键字取代。然后，删除第 </a:t>
            </a:r>
            <a:r>
              <a:rPr lang="en-US" altLang="zh-CN" sz="2000" dirty="0" smtClean="0">
                <a:ea typeface="华文楷体" panose="02010600040101010101" pitchFamily="2" charset="-122"/>
              </a:rPr>
              <a:t>L </a:t>
            </a:r>
            <a:r>
              <a:rPr lang="zh-CN" altLang="en-US" sz="2000" dirty="0" smtClean="0">
                <a:ea typeface="华文楷体" panose="02010600040101010101" pitchFamily="2" charset="-122"/>
              </a:rPr>
              <a:t>层上的该关键字。</a:t>
            </a:r>
            <a:endParaRPr lang="zh-CN" altLang="en-US" sz="20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000" dirty="0" smtClean="0">
                <a:ea typeface="华文楷体" panose="02010600040101010101" pitchFamily="2" charset="-122"/>
              </a:rPr>
              <a:t>4</a:t>
            </a:r>
            <a:r>
              <a:rPr lang="zh-CN" altLang="en-US" sz="2000" dirty="0" smtClean="0">
                <a:ea typeface="华文楷体" panose="02010600040101010101" pitchFamily="2" charset="-122"/>
              </a:rPr>
              <a:t>、从第 </a:t>
            </a:r>
            <a:r>
              <a:rPr lang="en-US" altLang="zh-CN" sz="2000" dirty="0" smtClean="0">
                <a:ea typeface="华文楷体" panose="02010600040101010101" pitchFamily="2" charset="-122"/>
              </a:rPr>
              <a:t>L </a:t>
            </a:r>
            <a:r>
              <a:rPr lang="zh-CN" altLang="en-US" sz="2000" dirty="0" smtClean="0">
                <a:ea typeface="华文楷体" panose="02010600040101010101" pitchFamily="2" charset="-122"/>
              </a:rPr>
              <a:t>层开始进行删除。</a:t>
            </a:r>
            <a:endParaRPr lang="zh-CN" altLang="en-US" sz="20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000" dirty="0" smtClean="0">
                <a:ea typeface="华文楷体" panose="02010600040101010101" pitchFamily="2" charset="-122"/>
              </a:rPr>
              <a:t>   </a:t>
            </a:r>
            <a:r>
              <a:rPr lang="en-US" altLang="zh-CN" sz="2000" dirty="0" smtClean="0">
                <a:ea typeface="华文楷体" panose="02010600040101010101" pitchFamily="2" charset="-122"/>
              </a:rPr>
              <a:t>A</a:t>
            </a:r>
            <a:r>
              <a:rPr lang="zh-CN" altLang="en-US" sz="2000" dirty="0" smtClean="0">
                <a:ea typeface="华文楷体" panose="02010600040101010101" pitchFamily="2" charset="-122"/>
              </a:rPr>
              <a:t>、不动：若删除关键字值的那个结点的关键字的个数仍处于</a:t>
            </a:r>
            <a:r>
              <a:rPr lang="zh-CN" altLang="en-US" sz="1800" dirty="0" smtClean="0">
                <a:ea typeface="华文楷体" panose="02010600040101010101" pitchFamily="2" charset="-122"/>
                <a:sym typeface="Symbol" panose="05050102010706020507" pitchFamily="18" charset="2"/>
              </a:rPr>
              <a:t></a:t>
            </a:r>
            <a:r>
              <a:rPr lang="en-US" altLang="zh-CN" sz="2000" dirty="0" smtClean="0">
                <a:ea typeface="华文楷体" panose="02010600040101010101" pitchFamily="2" charset="-122"/>
              </a:rPr>
              <a:t>m/2</a:t>
            </a:r>
            <a:r>
              <a:rPr lang="en-US" altLang="zh-CN" sz="1800" dirty="0" smtClean="0">
                <a:ea typeface="华文楷体" panose="02010600040101010101" pitchFamily="2" charset="-122"/>
                <a:sym typeface="Symbol" panose="05050102010706020507" pitchFamily="18" charset="2"/>
              </a:rPr>
              <a:t></a:t>
            </a:r>
            <a:r>
              <a:rPr lang="en-US" altLang="zh-CN" sz="2000" dirty="0" smtClean="0">
                <a:ea typeface="华文楷体" panose="02010600040101010101" pitchFamily="2" charset="-122"/>
              </a:rPr>
              <a:t> -1</a:t>
            </a:r>
            <a:r>
              <a:rPr lang="zh-CN" altLang="en-US" sz="2000" dirty="0" smtClean="0">
                <a:ea typeface="华文楷体" panose="02010600040101010101" pitchFamily="2" charset="-122"/>
              </a:rPr>
              <a:t>和 </a:t>
            </a:r>
            <a:r>
              <a:rPr lang="en-US" altLang="zh-CN" sz="2000" dirty="0" smtClean="0">
                <a:ea typeface="华文楷体" panose="02010600040101010101" pitchFamily="2" charset="-122"/>
              </a:rPr>
              <a:t>m-1</a:t>
            </a:r>
            <a:r>
              <a:rPr lang="zh-CN" altLang="en-US" sz="2000" dirty="0" smtClean="0">
                <a:ea typeface="华文楷体" panose="02010600040101010101" pitchFamily="2" charset="-122"/>
              </a:rPr>
              <a:t>之间。则结束。</a:t>
            </a:r>
            <a:endParaRPr lang="zh-CN" altLang="en-US" sz="20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000" dirty="0" smtClean="0">
                <a:ea typeface="华文楷体" panose="02010600040101010101" pitchFamily="2" charset="-122"/>
              </a:rPr>
              <a:t>   </a:t>
            </a:r>
            <a:r>
              <a:rPr lang="en-US" altLang="zh-CN" sz="2000" dirty="0" smtClean="0">
                <a:ea typeface="华文楷体" panose="02010600040101010101" pitchFamily="2" charset="-122"/>
              </a:rPr>
              <a:t>B</a:t>
            </a:r>
            <a:r>
              <a:rPr lang="zh-CN" altLang="en-US" sz="2000" dirty="0" smtClean="0">
                <a:ea typeface="华文楷体" panose="02010600040101010101" pitchFamily="2" charset="-122"/>
              </a:rPr>
              <a:t>、借：若删除关键字值的那个结点的关键字的个数原为 </a:t>
            </a:r>
            <a:r>
              <a:rPr lang="zh-CN" altLang="en-US" sz="1800" dirty="0" smtClean="0">
                <a:ea typeface="华文楷体" panose="02010600040101010101" pitchFamily="2" charset="-122"/>
                <a:sym typeface="Symbol" panose="05050102010706020507" pitchFamily="18" charset="2"/>
              </a:rPr>
              <a:t></a:t>
            </a:r>
            <a:r>
              <a:rPr lang="en-US" altLang="zh-CN" sz="2000" dirty="0" smtClean="0">
                <a:ea typeface="华文楷体" panose="02010600040101010101" pitchFamily="2" charset="-122"/>
              </a:rPr>
              <a:t>m/2</a:t>
            </a:r>
            <a:r>
              <a:rPr lang="en-US" altLang="zh-CN" sz="1800" dirty="0" smtClean="0">
                <a:ea typeface="华文楷体" panose="02010600040101010101" pitchFamily="2" charset="-122"/>
                <a:sym typeface="Symbol" panose="05050102010706020507" pitchFamily="18" charset="2"/>
              </a:rPr>
              <a:t></a:t>
            </a:r>
            <a:r>
              <a:rPr lang="en-US" altLang="zh-CN" sz="2000" dirty="0" smtClean="0">
                <a:ea typeface="华文楷体" panose="02010600040101010101" pitchFamily="2" charset="-122"/>
              </a:rPr>
              <a:t> -1 </a:t>
            </a:r>
            <a:r>
              <a:rPr lang="zh-CN" altLang="en-US" sz="2000" dirty="0" smtClean="0">
                <a:ea typeface="华文楷体" panose="02010600040101010101" pitchFamily="2" charset="-122"/>
              </a:rPr>
              <a:t>。而它们左</a:t>
            </a:r>
            <a:r>
              <a:rPr lang="en-US" altLang="zh-CN" sz="2000" dirty="0" smtClean="0">
                <a:ea typeface="华文楷体" panose="02010600040101010101" pitchFamily="2" charset="-122"/>
              </a:rPr>
              <a:t>\</a:t>
            </a:r>
            <a:r>
              <a:rPr lang="zh-CN" altLang="en-US" sz="2000" dirty="0" smtClean="0">
                <a:ea typeface="华文楷体" panose="02010600040101010101" pitchFamily="2" charset="-122"/>
              </a:rPr>
              <a:t>右兄弟结点的关键字个数 </a:t>
            </a:r>
            <a:r>
              <a:rPr lang="en-US" altLang="zh-CN" sz="2000" dirty="0" smtClean="0">
                <a:ea typeface="华文楷体" panose="02010600040101010101" pitchFamily="2" charset="-122"/>
              </a:rPr>
              <a:t>&gt; </a:t>
            </a:r>
            <a:r>
              <a:rPr lang="en-US" altLang="zh-CN" sz="1800" dirty="0" smtClean="0">
                <a:ea typeface="华文楷体" panose="02010600040101010101" pitchFamily="2" charset="-122"/>
                <a:sym typeface="Symbol" panose="05050102010706020507" pitchFamily="18" charset="2"/>
              </a:rPr>
              <a:t></a:t>
            </a:r>
            <a:r>
              <a:rPr lang="en-US" altLang="zh-CN" sz="2000" dirty="0" smtClean="0">
                <a:ea typeface="华文楷体" panose="02010600040101010101" pitchFamily="2" charset="-122"/>
              </a:rPr>
              <a:t>m/2</a:t>
            </a:r>
            <a:r>
              <a:rPr lang="en-US" altLang="zh-CN" sz="1800" dirty="0" smtClean="0">
                <a:ea typeface="华文楷体" panose="02010600040101010101" pitchFamily="2" charset="-122"/>
                <a:sym typeface="Symbol" panose="05050102010706020507" pitchFamily="18" charset="2"/>
              </a:rPr>
              <a:t></a:t>
            </a:r>
            <a:r>
              <a:rPr lang="en-US" altLang="zh-CN" sz="2000" dirty="0" smtClean="0">
                <a:ea typeface="华文楷体" panose="02010600040101010101" pitchFamily="2" charset="-122"/>
              </a:rPr>
              <a:t> -1; </a:t>
            </a:r>
            <a:r>
              <a:rPr lang="zh-CN" altLang="en-US" sz="2000" dirty="0" smtClean="0">
                <a:ea typeface="华文楷体" panose="02010600040101010101" pitchFamily="2" charset="-122"/>
              </a:rPr>
              <a:t>则借一关键字过来，结束。</a:t>
            </a:r>
            <a:endParaRPr lang="zh-CN" altLang="en-US" sz="20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000" dirty="0" smtClean="0">
                <a:ea typeface="华文楷体" panose="02010600040101010101" pitchFamily="2" charset="-122"/>
              </a:rPr>
              <a:t>   </a:t>
            </a:r>
            <a:r>
              <a:rPr lang="en-US" altLang="zh-CN" sz="2000" dirty="0" smtClean="0">
                <a:ea typeface="华文楷体" panose="02010600040101010101" pitchFamily="2" charset="-122"/>
              </a:rPr>
              <a:t>C</a:t>
            </a:r>
            <a:r>
              <a:rPr lang="zh-CN" altLang="en-US" sz="2000" dirty="0" smtClean="0">
                <a:ea typeface="华文楷体" panose="02010600040101010101" pitchFamily="2" charset="-122"/>
              </a:rPr>
              <a:t>、并：若该结点的左</a:t>
            </a:r>
            <a:r>
              <a:rPr lang="en-US" altLang="zh-CN" sz="2000" dirty="0" smtClean="0">
                <a:ea typeface="华文楷体" panose="02010600040101010101" pitchFamily="2" charset="-122"/>
              </a:rPr>
              <a:t>\</a:t>
            </a:r>
            <a:r>
              <a:rPr lang="zh-CN" altLang="en-US" sz="2000" dirty="0" smtClean="0">
                <a:ea typeface="华文楷体" panose="02010600040101010101" pitchFamily="2" charset="-122"/>
              </a:rPr>
              <a:t>右兄弟结点的关键字的个数为</a:t>
            </a:r>
            <a:r>
              <a:rPr lang="zh-CN" altLang="en-US" sz="1800" dirty="0" smtClean="0">
                <a:ea typeface="华文楷体" panose="02010600040101010101" pitchFamily="2" charset="-122"/>
                <a:sym typeface="Symbol" panose="05050102010706020507" pitchFamily="18" charset="2"/>
              </a:rPr>
              <a:t></a:t>
            </a:r>
            <a:r>
              <a:rPr lang="en-US" altLang="zh-CN" sz="2000" dirty="0" smtClean="0">
                <a:ea typeface="华文楷体" panose="02010600040101010101" pitchFamily="2" charset="-122"/>
              </a:rPr>
              <a:t>m/2</a:t>
            </a:r>
            <a:r>
              <a:rPr lang="en-US" altLang="zh-CN" sz="1800" dirty="0" smtClean="0">
                <a:ea typeface="华文楷体" panose="02010600040101010101" pitchFamily="2" charset="-122"/>
                <a:sym typeface="Symbol" panose="05050102010706020507" pitchFamily="18" charset="2"/>
              </a:rPr>
              <a:t></a:t>
            </a:r>
            <a:r>
              <a:rPr lang="en-US" altLang="zh-CN" sz="2000" dirty="0" smtClean="0">
                <a:ea typeface="华文楷体" panose="02010600040101010101" pitchFamily="2" charset="-122"/>
              </a:rPr>
              <a:t> -1; </a:t>
            </a:r>
            <a:r>
              <a:rPr lang="zh-CN" altLang="en-US" sz="2000" dirty="0" smtClean="0">
                <a:ea typeface="华文楷体" panose="02010600040101010101" pitchFamily="2" charset="-122"/>
              </a:rPr>
              <a:t>则执行合并结点的操作。</a:t>
            </a:r>
            <a:endParaRPr lang="zh-CN" altLang="en-US" sz="20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000" dirty="0" smtClean="0">
                <a:ea typeface="华文楷体" panose="02010600040101010101" pitchFamily="2" charset="-122"/>
              </a:rPr>
              <a:t>如结点原为：</a:t>
            </a:r>
            <a:endParaRPr lang="zh-CN" altLang="en-US" sz="2000" dirty="0" smtClean="0">
              <a:ea typeface="华文楷体" panose="02010600040101010101" pitchFamily="2" charset="-122"/>
            </a:endParaRPr>
          </a:p>
          <a:p>
            <a:pPr lvl="1" eaLnBrk="1" hangingPunct="1">
              <a:lnSpc>
                <a:spcPct val="80000"/>
              </a:lnSpc>
              <a:buFont typeface="Wingdings" panose="05000000000000000000" pitchFamily="2" charset="2"/>
              <a:buNone/>
            </a:pPr>
            <a:r>
              <a:rPr kumimoji="1" lang="zh-CN" altLang="zh-CN" sz="1800" b="1" dirty="0" smtClean="0">
                <a:ea typeface="华文楷体" panose="02010600040101010101" pitchFamily="2" charset="-122"/>
              </a:rPr>
              <a:t>（ ………….   (</a:t>
            </a:r>
            <a:r>
              <a:rPr kumimoji="1" lang="en-US" altLang="zh-CN" sz="1800" b="1" dirty="0" smtClean="0">
                <a:solidFill>
                  <a:schemeClr val="accent2"/>
                </a:solidFill>
                <a:ea typeface="华文楷体" panose="02010600040101010101" pitchFamily="2" charset="-122"/>
              </a:rPr>
              <a:t>K</a:t>
            </a:r>
            <a:r>
              <a:rPr kumimoji="1" lang="en-US" altLang="zh-CN" sz="1800" b="1" baseline="-25000" dirty="0" smtClean="0">
                <a:solidFill>
                  <a:schemeClr val="accent2"/>
                </a:solidFill>
                <a:ea typeface="华文楷体" panose="02010600040101010101" pitchFamily="2" charset="-122"/>
              </a:rPr>
              <a:t>i</a:t>
            </a:r>
            <a:r>
              <a:rPr kumimoji="1" lang="en-US" altLang="zh-CN" sz="1800" b="1" dirty="0" smtClean="0">
                <a:ea typeface="华文楷体" panose="02010600040101010101" pitchFamily="2" charset="-122"/>
              </a:rPr>
              <a:t>, A</a:t>
            </a:r>
            <a:r>
              <a:rPr kumimoji="1" lang="en-US" altLang="zh-CN" sz="1800" b="1" baseline="-25000" dirty="0" smtClean="0">
                <a:ea typeface="华文楷体" panose="02010600040101010101" pitchFamily="2" charset="-122"/>
              </a:rPr>
              <a:t>i</a:t>
            </a:r>
            <a:r>
              <a:rPr kumimoji="1" lang="en-US" altLang="zh-CN" sz="1800" b="1" dirty="0" smtClean="0">
                <a:ea typeface="华文楷体" panose="02010600040101010101" pitchFamily="2" charset="-122"/>
              </a:rPr>
              <a:t>), (K</a:t>
            </a:r>
            <a:r>
              <a:rPr kumimoji="1" lang="en-US" altLang="zh-CN" sz="1800" b="1" baseline="-25000" dirty="0" smtClean="0">
                <a:ea typeface="华文楷体" panose="02010600040101010101" pitchFamily="2" charset="-122"/>
              </a:rPr>
              <a:t>i+1</a:t>
            </a:r>
            <a:r>
              <a:rPr kumimoji="1" lang="en-US" altLang="zh-CN" sz="1800" b="1" dirty="0" smtClean="0">
                <a:ea typeface="华文楷体" panose="02010600040101010101" pitchFamily="2" charset="-122"/>
              </a:rPr>
              <a:t>, A</a:t>
            </a:r>
            <a:r>
              <a:rPr kumimoji="1" lang="en-US" altLang="zh-CN" sz="1800" b="1" baseline="-25000" dirty="0" smtClean="0">
                <a:ea typeface="华文楷体" panose="02010600040101010101" pitchFamily="2" charset="-122"/>
              </a:rPr>
              <a:t>i+1</a:t>
            </a:r>
            <a:r>
              <a:rPr kumimoji="1" lang="en-US" altLang="zh-CN" sz="1800" b="1" dirty="0" smtClean="0">
                <a:ea typeface="华文楷体" panose="02010600040101010101" pitchFamily="2" charset="-122"/>
              </a:rPr>
              <a:t>),    ………….  </a:t>
            </a:r>
            <a:r>
              <a:rPr kumimoji="1" lang="zh-CN" altLang="en-US" sz="1800" b="1" dirty="0" smtClean="0">
                <a:ea typeface="华文楷体" panose="02010600040101010101" pitchFamily="2" charset="-122"/>
              </a:rPr>
              <a:t>）</a:t>
            </a:r>
            <a:endParaRPr kumimoji="1" lang="zh-CN" altLang="en-US" sz="1800" b="1" dirty="0" smtClean="0">
              <a:ea typeface="华文楷体" panose="02010600040101010101" pitchFamily="2" charset="-122"/>
            </a:endParaRPr>
          </a:p>
          <a:p>
            <a:pPr lvl="1" eaLnBrk="1" hangingPunct="1">
              <a:lnSpc>
                <a:spcPct val="80000"/>
              </a:lnSpc>
              <a:buFont typeface="Wingdings" panose="05000000000000000000" pitchFamily="2" charset="2"/>
              <a:buNone/>
            </a:pPr>
            <a:r>
              <a:rPr kumimoji="1" lang="zh-CN" altLang="en-US" sz="1800" b="1" dirty="0" smtClean="0">
                <a:ea typeface="华文楷体" panose="02010600040101010101" pitchFamily="2" charset="-122"/>
              </a:rPr>
              <a:t>	</a:t>
            </a:r>
            <a:endParaRPr kumimoji="1" lang="zh-CN" altLang="en-US" sz="1800" b="1" dirty="0" smtClean="0">
              <a:ea typeface="华文楷体" panose="02010600040101010101" pitchFamily="2" charset="-122"/>
            </a:endParaRPr>
          </a:p>
          <a:p>
            <a:pPr lvl="1" eaLnBrk="1" hangingPunct="1">
              <a:lnSpc>
                <a:spcPct val="80000"/>
              </a:lnSpc>
              <a:buFont typeface="Wingdings" panose="05000000000000000000" pitchFamily="2" charset="2"/>
              <a:buNone/>
            </a:pPr>
            <a:r>
              <a:rPr kumimoji="1" lang="zh-CN" altLang="en-US" sz="1800" b="1" dirty="0" smtClean="0">
                <a:ea typeface="华文楷体" panose="02010600040101010101" pitchFamily="2" charset="-122"/>
              </a:rPr>
              <a:t>	 		（  </a:t>
            </a:r>
            <a:r>
              <a:rPr kumimoji="1" lang="en-US" altLang="zh-CN" sz="1800" b="1" dirty="0" smtClean="0">
                <a:ea typeface="华文楷体" panose="02010600040101010101" pitchFamily="2" charset="-122"/>
              </a:rPr>
              <a:t>A</a:t>
            </a:r>
            <a:r>
              <a:rPr kumimoji="1" lang="en-US" altLang="zh-CN" sz="1800" b="1" baseline="-25000" dirty="0" smtClean="0">
                <a:ea typeface="华文楷体" panose="02010600040101010101" pitchFamily="2" charset="-122"/>
              </a:rPr>
              <a:t>0</a:t>
            </a:r>
            <a:r>
              <a:rPr kumimoji="1" lang="en-US" altLang="zh-CN" sz="1800" b="1" dirty="0" smtClean="0">
                <a:ea typeface="华文楷体" panose="02010600040101010101" pitchFamily="2" charset="-122"/>
              </a:rPr>
              <a:t>’, (K</a:t>
            </a:r>
            <a:r>
              <a:rPr kumimoji="1" lang="en-US" altLang="zh-CN" sz="1800" b="1" baseline="-25000" dirty="0" smtClean="0">
                <a:ea typeface="华文楷体" panose="02010600040101010101" pitchFamily="2" charset="-122"/>
              </a:rPr>
              <a:t>1</a:t>
            </a:r>
            <a:r>
              <a:rPr kumimoji="1" lang="en-US" altLang="zh-CN" sz="1800" b="1" dirty="0" smtClean="0">
                <a:ea typeface="华文楷体" panose="02010600040101010101" pitchFamily="2" charset="-122"/>
              </a:rPr>
              <a:t>’, A</a:t>
            </a:r>
            <a:r>
              <a:rPr kumimoji="1" lang="en-US" altLang="zh-CN" sz="1800" b="1" baseline="-25000" dirty="0" smtClean="0">
                <a:ea typeface="华文楷体" panose="02010600040101010101" pitchFamily="2" charset="-122"/>
              </a:rPr>
              <a:t>1</a:t>
            </a:r>
            <a:r>
              <a:rPr kumimoji="1" lang="en-US" altLang="zh-CN" sz="1800" b="1" dirty="0" smtClean="0">
                <a:ea typeface="华文楷体" panose="02010600040101010101" pitchFamily="2" charset="-122"/>
              </a:rPr>
              <a:t>’ )  ……… </a:t>
            </a:r>
            <a:r>
              <a:rPr kumimoji="1" lang="zh-CN" altLang="en-US" sz="1800" b="1" dirty="0" smtClean="0">
                <a:ea typeface="华文楷体" panose="02010600040101010101" pitchFamily="2" charset="-122"/>
              </a:rPr>
              <a:t>）</a:t>
            </a:r>
            <a:endParaRPr kumimoji="1" lang="zh-CN" altLang="en-US" sz="1800" b="1" dirty="0" smtClean="0">
              <a:ea typeface="华文楷体" panose="02010600040101010101" pitchFamily="2" charset="-122"/>
            </a:endParaRPr>
          </a:p>
          <a:p>
            <a:pPr lvl="1" eaLnBrk="1" hangingPunct="1">
              <a:lnSpc>
                <a:spcPct val="80000"/>
              </a:lnSpc>
              <a:buFont typeface="Wingdings" panose="05000000000000000000" pitchFamily="2" charset="2"/>
              <a:buNone/>
            </a:pPr>
            <a:r>
              <a:rPr kumimoji="1" lang="zh-CN" altLang="en-US" sz="1800" b="1" dirty="0" smtClean="0">
                <a:ea typeface="华文楷体" panose="02010600040101010101" pitchFamily="2" charset="-122"/>
              </a:rPr>
              <a:t>		</a:t>
            </a:r>
            <a:endParaRPr kumimoji="1" lang="zh-CN" altLang="en-US" sz="1800" b="1" dirty="0" smtClean="0">
              <a:ea typeface="华文楷体" panose="02010600040101010101" pitchFamily="2" charset="-122"/>
            </a:endParaRPr>
          </a:p>
          <a:p>
            <a:pPr lvl="1" eaLnBrk="1" hangingPunct="1">
              <a:lnSpc>
                <a:spcPct val="80000"/>
              </a:lnSpc>
              <a:buFont typeface="Wingdings" panose="05000000000000000000" pitchFamily="2" charset="2"/>
              <a:buNone/>
            </a:pPr>
            <a:r>
              <a:rPr kumimoji="1" lang="zh-CN" altLang="en-US" sz="1800" b="1" dirty="0" smtClean="0">
                <a:ea typeface="华文楷体" panose="02010600040101010101" pitchFamily="2" charset="-122"/>
              </a:rPr>
              <a:t>		 （   </a:t>
            </a:r>
            <a:r>
              <a:rPr kumimoji="1" lang="en-US" altLang="zh-CN" sz="1800" b="1" dirty="0" smtClean="0">
                <a:ea typeface="华文楷体" panose="02010600040101010101" pitchFamily="2" charset="-122"/>
              </a:rPr>
              <a:t>A</a:t>
            </a:r>
            <a:r>
              <a:rPr kumimoji="1" lang="en-US" altLang="zh-CN" sz="1800" b="1" baseline="-25000" dirty="0" smtClean="0">
                <a:ea typeface="华文楷体" panose="02010600040101010101" pitchFamily="2" charset="-122"/>
              </a:rPr>
              <a:t>0</a:t>
            </a:r>
            <a:r>
              <a:rPr kumimoji="1" lang="en-US" altLang="zh-CN" sz="1800" b="1" dirty="0" smtClean="0">
                <a:ea typeface="华文楷体" panose="02010600040101010101" pitchFamily="2" charset="-122"/>
              </a:rPr>
              <a:t>’’, (K</a:t>
            </a:r>
            <a:r>
              <a:rPr kumimoji="1" lang="en-US" altLang="zh-CN" sz="1800" b="1" baseline="-25000" dirty="0" smtClean="0">
                <a:ea typeface="华文楷体" panose="02010600040101010101" pitchFamily="2" charset="-122"/>
              </a:rPr>
              <a:t>1</a:t>
            </a:r>
            <a:r>
              <a:rPr kumimoji="1" lang="en-US" altLang="zh-CN" sz="1800" b="1" dirty="0" smtClean="0">
                <a:ea typeface="华文楷体" panose="02010600040101010101" pitchFamily="2" charset="-122"/>
              </a:rPr>
              <a:t>’’, A</a:t>
            </a:r>
            <a:r>
              <a:rPr kumimoji="1" lang="en-US" altLang="zh-CN" sz="1800" b="1" baseline="-25000" dirty="0" smtClean="0">
                <a:ea typeface="华文楷体" panose="02010600040101010101" pitchFamily="2" charset="-122"/>
              </a:rPr>
              <a:t>1</a:t>
            </a:r>
            <a:r>
              <a:rPr kumimoji="1" lang="en-US" altLang="zh-CN" sz="1800" b="1" dirty="0" smtClean="0">
                <a:ea typeface="华文楷体" panose="02010600040101010101" pitchFamily="2" charset="-122"/>
              </a:rPr>
              <a:t>’’ )  ……… </a:t>
            </a:r>
            <a:r>
              <a:rPr kumimoji="1" lang="zh-CN" altLang="en-US" sz="1800" b="1" dirty="0" smtClean="0">
                <a:ea typeface="华文楷体" panose="02010600040101010101" pitchFamily="2" charset="-122"/>
              </a:rPr>
              <a:t>）</a:t>
            </a:r>
            <a:endParaRPr kumimoji="1" lang="zh-CN" altLang="en-US" sz="1800" b="1" dirty="0" smtClean="0">
              <a:ea typeface="华文楷体" panose="02010600040101010101" pitchFamily="2" charset="-122"/>
            </a:endParaRPr>
          </a:p>
          <a:p>
            <a:pPr lvl="1" eaLnBrk="1" hangingPunct="1">
              <a:lnSpc>
                <a:spcPct val="80000"/>
              </a:lnSpc>
              <a:buFont typeface="Wingdings" panose="05000000000000000000" pitchFamily="2" charset="2"/>
              <a:buNone/>
            </a:pPr>
            <a:r>
              <a:rPr kumimoji="1" lang="zh-CN" altLang="en-US" sz="1800" b="1" dirty="0" smtClean="0">
                <a:ea typeface="华文楷体" panose="02010600040101010101" pitchFamily="2" charset="-122"/>
              </a:rPr>
              <a:t>	</a:t>
            </a:r>
            <a:endParaRPr kumimoji="1" lang="zh-CN" altLang="en-US" sz="1800" b="1" dirty="0" smtClean="0">
              <a:ea typeface="华文楷体" panose="02010600040101010101" pitchFamily="2" charset="-122"/>
            </a:endParaRPr>
          </a:p>
          <a:p>
            <a:pPr lvl="1" eaLnBrk="1" hangingPunct="1">
              <a:lnSpc>
                <a:spcPct val="80000"/>
              </a:lnSpc>
              <a:buFont typeface="Wingdings" panose="05000000000000000000" pitchFamily="2" charset="2"/>
              <a:buNone/>
            </a:pPr>
            <a:r>
              <a:rPr kumimoji="1" lang="en-US" altLang="zh-CN" sz="1800" b="1" dirty="0" smtClean="0">
                <a:ea typeface="华文楷体" panose="02010600040101010101" pitchFamily="2" charset="-122"/>
              </a:rPr>
              <a:t>……  </a:t>
            </a:r>
            <a:r>
              <a:rPr kumimoji="1" lang="en-US" altLang="zh-CN" sz="1800" b="1" dirty="0" smtClean="0">
                <a:solidFill>
                  <a:schemeClr val="accent2"/>
                </a:solidFill>
                <a:ea typeface="华文楷体" panose="02010600040101010101" pitchFamily="2" charset="-122"/>
              </a:rPr>
              <a:t>K</a:t>
            </a:r>
            <a:r>
              <a:rPr kumimoji="1" lang="en-US" altLang="zh-CN" sz="1800" b="1" baseline="-25000" dirty="0" smtClean="0">
                <a:solidFill>
                  <a:schemeClr val="accent2"/>
                </a:solidFill>
                <a:ea typeface="华文楷体" panose="02010600040101010101" pitchFamily="2" charset="-122"/>
              </a:rPr>
              <a:t>1</a:t>
            </a:r>
            <a:r>
              <a:rPr kumimoji="1" lang="en-US" altLang="zh-CN" sz="1800" b="1" dirty="0" smtClean="0">
                <a:ea typeface="华文楷体" panose="02010600040101010101" pitchFamily="2" charset="-122"/>
              </a:rPr>
              <a:t>  ……… </a:t>
            </a:r>
            <a:endParaRPr lang="en-US" altLang="zh-CN" sz="2000" dirty="0" smtClean="0">
              <a:ea typeface="华文楷体" panose="02010600040101010101" pitchFamily="2" charset="-122"/>
            </a:endParaRPr>
          </a:p>
        </p:txBody>
      </p:sp>
      <p:sp>
        <p:nvSpPr>
          <p:cNvPr id="56327" name="Line 5"/>
          <p:cNvSpPr>
            <a:spLocks noChangeShapeType="1"/>
          </p:cNvSpPr>
          <p:nvPr/>
        </p:nvSpPr>
        <p:spPr bwMode="auto">
          <a:xfrm>
            <a:off x="2819400" y="4953000"/>
            <a:ext cx="838200" cy="457200"/>
          </a:xfrm>
          <a:prstGeom prst="line">
            <a:avLst/>
          </a:prstGeom>
          <a:noFill/>
          <a:ln w="38100">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328" name="Line 6"/>
          <p:cNvSpPr>
            <a:spLocks noChangeShapeType="1"/>
          </p:cNvSpPr>
          <p:nvPr/>
        </p:nvSpPr>
        <p:spPr bwMode="auto">
          <a:xfrm flipH="1">
            <a:off x="2438400" y="5562600"/>
            <a:ext cx="533400" cy="457200"/>
          </a:xfrm>
          <a:prstGeom prst="line">
            <a:avLst/>
          </a:prstGeom>
          <a:noFill/>
          <a:ln w="38100">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329" name="Line 7"/>
          <p:cNvSpPr>
            <a:spLocks noChangeShapeType="1"/>
          </p:cNvSpPr>
          <p:nvPr/>
        </p:nvSpPr>
        <p:spPr bwMode="auto">
          <a:xfrm flipH="1">
            <a:off x="1828800" y="6096000"/>
            <a:ext cx="457200" cy="381000"/>
          </a:xfrm>
          <a:prstGeom prst="line">
            <a:avLst/>
          </a:prstGeom>
          <a:noFill/>
          <a:ln w="38100">
            <a:solidFill>
              <a:schemeClr val="folHlink"/>
            </a:solidFill>
            <a:prstDash val="sysDot"/>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330" name="Freeform 8"/>
          <p:cNvSpPr/>
          <p:nvPr/>
        </p:nvSpPr>
        <p:spPr bwMode="auto">
          <a:xfrm>
            <a:off x="1581150" y="4953000"/>
            <a:ext cx="933450" cy="1438275"/>
          </a:xfrm>
          <a:custGeom>
            <a:avLst/>
            <a:gdLst>
              <a:gd name="T0" fmla="*/ 2147483646 w 444"/>
              <a:gd name="T1" fmla="*/ 2147483646 h 1050"/>
              <a:gd name="T2" fmla="*/ 2147483646 w 444"/>
              <a:gd name="T3" fmla="*/ 2147483646 h 1050"/>
              <a:gd name="T4" fmla="*/ 2147483646 w 444"/>
              <a:gd name="T5" fmla="*/ 2147483646 h 1050"/>
              <a:gd name="T6" fmla="*/ 2147483646 w 444"/>
              <a:gd name="T7" fmla="*/ 2147483646 h 1050"/>
              <a:gd name="T8" fmla="*/ 2147483646 w 444"/>
              <a:gd name="T9" fmla="*/ 2147483646 h 1050"/>
              <a:gd name="T10" fmla="*/ 2147483646 w 444"/>
              <a:gd name="T11" fmla="*/ 2147483646 h 1050"/>
              <a:gd name="T12" fmla="*/ 2147483646 w 444"/>
              <a:gd name="T13" fmla="*/ 2147483646 h 1050"/>
              <a:gd name="T14" fmla="*/ 2147483646 w 444"/>
              <a:gd name="T15" fmla="*/ 2147483646 h 1050"/>
              <a:gd name="T16" fmla="*/ 2147483646 w 444"/>
              <a:gd name="T17" fmla="*/ 2147483646 h 1050"/>
              <a:gd name="T18" fmla="*/ 2147483646 w 444"/>
              <a:gd name="T19" fmla="*/ 2147483646 h 1050"/>
              <a:gd name="T20" fmla="*/ 2147483646 w 444"/>
              <a:gd name="T21" fmla="*/ 2147483646 h 1050"/>
              <a:gd name="T22" fmla="*/ 2147483646 w 444"/>
              <a:gd name="T23" fmla="*/ 2147483646 h 1050"/>
              <a:gd name="T24" fmla="*/ 2147483646 w 444"/>
              <a:gd name="T25" fmla="*/ 2147483646 h 1050"/>
              <a:gd name="T26" fmla="*/ 2147483646 w 444"/>
              <a:gd name="T27" fmla="*/ 2147483646 h 1050"/>
              <a:gd name="T28" fmla="*/ 2147483646 w 444"/>
              <a:gd name="T29" fmla="*/ 2147483646 h 105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44" h="1050">
                <a:moveTo>
                  <a:pt x="23" y="1050"/>
                </a:moveTo>
                <a:cubicBezTo>
                  <a:pt x="13" y="935"/>
                  <a:pt x="0" y="896"/>
                  <a:pt x="15" y="766"/>
                </a:cubicBezTo>
                <a:cubicBezTo>
                  <a:pt x="17" y="745"/>
                  <a:pt x="65" y="689"/>
                  <a:pt x="81" y="672"/>
                </a:cubicBezTo>
                <a:cubicBezTo>
                  <a:pt x="95" y="657"/>
                  <a:pt x="124" y="628"/>
                  <a:pt x="124" y="628"/>
                </a:cubicBezTo>
                <a:cubicBezTo>
                  <a:pt x="137" y="579"/>
                  <a:pt x="155" y="538"/>
                  <a:pt x="183" y="497"/>
                </a:cubicBezTo>
                <a:cubicBezTo>
                  <a:pt x="190" y="474"/>
                  <a:pt x="204" y="443"/>
                  <a:pt x="219" y="424"/>
                </a:cubicBezTo>
                <a:cubicBezTo>
                  <a:pt x="232" y="408"/>
                  <a:pt x="263" y="381"/>
                  <a:pt x="263" y="381"/>
                </a:cubicBezTo>
                <a:cubicBezTo>
                  <a:pt x="265" y="371"/>
                  <a:pt x="266" y="361"/>
                  <a:pt x="270" y="352"/>
                </a:cubicBezTo>
                <a:cubicBezTo>
                  <a:pt x="273" y="344"/>
                  <a:pt x="281" y="338"/>
                  <a:pt x="284" y="330"/>
                </a:cubicBezTo>
                <a:cubicBezTo>
                  <a:pt x="289" y="316"/>
                  <a:pt x="288" y="300"/>
                  <a:pt x="292" y="286"/>
                </a:cubicBezTo>
                <a:cubicBezTo>
                  <a:pt x="302" y="246"/>
                  <a:pt x="317" y="213"/>
                  <a:pt x="335" y="177"/>
                </a:cubicBezTo>
                <a:cubicBezTo>
                  <a:pt x="360" y="128"/>
                  <a:pt x="341" y="123"/>
                  <a:pt x="386" y="90"/>
                </a:cubicBezTo>
                <a:cubicBezTo>
                  <a:pt x="396" y="75"/>
                  <a:pt x="405" y="61"/>
                  <a:pt x="415" y="46"/>
                </a:cubicBezTo>
                <a:cubicBezTo>
                  <a:pt x="420" y="39"/>
                  <a:pt x="430" y="24"/>
                  <a:pt x="430" y="24"/>
                </a:cubicBezTo>
                <a:cubicBezTo>
                  <a:pt x="438" y="0"/>
                  <a:pt x="429" y="2"/>
                  <a:pt x="444" y="2"/>
                </a:cubicBezTo>
              </a:path>
            </a:pathLst>
          </a:custGeom>
          <a:noFill/>
          <a:ln w="38100" cap="flat" cmpd="sng">
            <a:solidFill>
              <a:schemeClr val="folHlink"/>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6331" name="Text Box 9"/>
          <p:cNvSpPr txBox="1">
            <a:spLocks noChangeArrowheads="1"/>
          </p:cNvSpPr>
          <p:nvPr/>
        </p:nvSpPr>
        <p:spPr bwMode="auto">
          <a:xfrm>
            <a:off x="3124200" y="6545263"/>
            <a:ext cx="4038600" cy="3067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solidFill>
                  <a:srgbClr val="FF0000"/>
                </a:solidFill>
                <a:latin typeface="Times New Roman" panose="02020603050405020304" pitchFamily="18" charset="0"/>
                <a:ea typeface="华文楷体" panose="02010600040101010101" pitchFamily="2" charset="-122"/>
              </a:rPr>
              <a:t>第  </a:t>
            </a:r>
            <a:r>
              <a:rPr kumimoji="1" lang="en-US" altLang="zh-CN" sz="1400" b="1" dirty="0">
                <a:solidFill>
                  <a:srgbClr val="FF0000"/>
                </a:solidFill>
                <a:latin typeface="Times New Roman" panose="02020603050405020304" pitchFamily="18" charset="0"/>
                <a:ea typeface="华文楷体" panose="02010600040101010101" pitchFamily="2" charset="-122"/>
              </a:rPr>
              <a:t>L </a:t>
            </a:r>
            <a:r>
              <a:rPr kumimoji="1" lang="zh-CN" altLang="zh-CN" sz="1400" b="1" dirty="0">
                <a:solidFill>
                  <a:srgbClr val="FF0000"/>
                </a:solidFill>
                <a:latin typeface="Times New Roman" panose="02020603050405020304" pitchFamily="18" charset="0"/>
                <a:ea typeface="华文楷体" panose="02010600040101010101" pitchFamily="2" charset="-122"/>
              </a:rPr>
              <a:t>层：找到了被删结点的替身</a:t>
            </a:r>
            <a:r>
              <a:rPr kumimoji="1" lang="zh-CN" altLang="zh-CN" sz="1400" b="1" dirty="0">
                <a:latin typeface="Times New Roman" panose="02020603050405020304" pitchFamily="18" charset="0"/>
                <a:ea typeface="华文楷体" panose="02010600040101010101" pitchFamily="2" charset="-122"/>
              </a:rPr>
              <a:t>。</a:t>
            </a:r>
            <a:endParaRPr kumimoji="1" lang="zh-CN" altLang="en-US" sz="1400" b="1" dirty="0">
              <a:latin typeface="Times New Roman" panose="02020603050405020304" pitchFamily="18" charset="0"/>
              <a:ea typeface="华文楷体" panose="02010600040101010101" pitchFamily="2" charset="-122"/>
            </a:endParaRPr>
          </a:p>
        </p:txBody>
      </p:sp>
      <p:sp>
        <p:nvSpPr>
          <p:cNvPr id="56332" name="Line 10"/>
          <p:cNvSpPr>
            <a:spLocks noChangeShapeType="1"/>
          </p:cNvSpPr>
          <p:nvPr/>
        </p:nvSpPr>
        <p:spPr bwMode="auto">
          <a:xfrm flipV="1">
            <a:off x="1981200" y="6629400"/>
            <a:ext cx="1066800" cy="0"/>
          </a:xfrm>
          <a:prstGeom prst="line">
            <a:avLst/>
          </a:prstGeom>
          <a:noFill/>
          <a:ln w="2222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页脚占位符 3"/>
          <p:cNvSpPr>
            <a:spLocks noGrp="1"/>
          </p:cNvSpPr>
          <p:nvPr>
            <p:ph type="ftr" sz="quarter" idx="10"/>
          </p:nvPr>
        </p:nvSpPr>
        <p:spPr/>
        <p:txBody>
          <a:bodyPr/>
          <a:lstStyle/>
          <a:p>
            <a:pPr>
              <a:defRPr/>
            </a:pPr>
            <a:r>
              <a:rPr lang="en-US" altLang="zh-CN"/>
              <a:t>BUPT SCST</a:t>
            </a:r>
            <a:endParaRPr lang="en-US" altLang="zh-CN"/>
          </a:p>
        </p:txBody>
      </p:sp>
      <p:sp>
        <p:nvSpPr>
          <p:cNvPr id="84" name="日期占位符 5"/>
          <p:cNvSpPr>
            <a:spLocks noGrp="1"/>
          </p:cNvSpPr>
          <p:nvPr>
            <p:ph type="dt" sz="quarter" idx="12"/>
          </p:nvPr>
        </p:nvSpPr>
        <p:spPr/>
        <p:txBody>
          <a:bodyPr/>
          <a:lstStyle/>
          <a:p>
            <a:pPr>
              <a:defRPr/>
            </a:pPr>
            <a:r>
              <a:rPr lang="en-US" altLang="zh-CN"/>
              <a:t>BUPT</a:t>
            </a:r>
            <a:endParaRPr lang="en-US" altLang="zh-CN"/>
          </a:p>
        </p:txBody>
      </p:sp>
      <p:sp>
        <p:nvSpPr>
          <p:cNvPr id="5734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7349" name="Rectangle 3"/>
          <p:cNvSpPr>
            <a:spLocks noGrp="1" noChangeArrowheads="1"/>
          </p:cNvSpPr>
          <p:nvPr>
            <p:ph type="body" idx="1"/>
          </p:nvPr>
        </p:nvSpPr>
        <p:spPr/>
        <p:txBody>
          <a:bodyPr/>
          <a:lstStyle/>
          <a:p>
            <a:pPr eaLnBrk="1" hangingPunct="1">
              <a:buFont typeface="Wingdings" panose="05000000000000000000" pitchFamily="2" charset="2"/>
              <a:buNone/>
            </a:pPr>
            <a:r>
              <a:rPr kumimoji="1" lang="zh-CN" altLang="en-US" sz="2400" dirty="0" smtClean="0">
                <a:ea typeface="华文楷体" panose="02010600040101010101" pitchFamily="2" charset="-122"/>
              </a:rPr>
              <a:t>例如：</a:t>
            </a:r>
            <a:r>
              <a:rPr kumimoji="1" lang="en-US" altLang="zh-CN" sz="2400" dirty="0" smtClean="0">
                <a:ea typeface="华文楷体" panose="02010600040101010101" pitchFamily="2" charset="-122"/>
              </a:rPr>
              <a:t>2-3</a:t>
            </a:r>
            <a:r>
              <a:rPr kumimoji="1" lang="zh-CN" altLang="en-US" sz="2400" dirty="0" smtClean="0">
                <a:ea typeface="华文楷体" panose="02010600040101010101" pitchFamily="2" charset="-122"/>
              </a:rPr>
              <a:t>树的删除操作。</a:t>
            </a:r>
            <a:endParaRPr kumimoji="1" lang="zh-CN" altLang="en-US" sz="2400" dirty="0" smtClean="0">
              <a:ea typeface="华文楷体" panose="02010600040101010101" pitchFamily="2" charset="-122"/>
            </a:endParaRPr>
          </a:p>
        </p:txBody>
      </p:sp>
      <p:sp>
        <p:nvSpPr>
          <p:cNvPr id="57350" name="Freeform 4"/>
          <p:cNvSpPr/>
          <p:nvPr/>
        </p:nvSpPr>
        <p:spPr bwMode="auto">
          <a:xfrm>
            <a:off x="3462338" y="4292600"/>
            <a:ext cx="2219325" cy="1204913"/>
          </a:xfrm>
          <a:custGeom>
            <a:avLst/>
            <a:gdLst>
              <a:gd name="T0" fmla="*/ 2147483646 w 1398"/>
              <a:gd name="T1" fmla="*/ 2147483646 h 759"/>
              <a:gd name="T2" fmla="*/ 2147483646 w 1398"/>
              <a:gd name="T3" fmla="*/ 2147483646 h 759"/>
              <a:gd name="T4" fmla="*/ 2147483646 w 1398"/>
              <a:gd name="T5" fmla="*/ 2147483646 h 759"/>
              <a:gd name="T6" fmla="*/ 2147483646 w 1398"/>
              <a:gd name="T7" fmla="*/ 2147483646 h 759"/>
              <a:gd name="T8" fmla="*/ 2147483646 w 1398"/>
              <a:gd name="T9" fmla="*/ 2147483646 h 759"/>
              <a:gd name="T10" fmla="*/ 2147483646 w 1398"/>
              <a:gd name="T11" fmla="*/ 2147483646 h 759"/>
              <a:gd name="T12" fmla="*/ 2147483646 w 1398"/>
              <a:gd name="T13" fmla="*/ 2147483646 h 759"/>
              <a:gd name="T14" fmla="*/ 2147483646 w 1398"/>
              <a:gd name="T15" fmla="*/ 2147483646 h 759"/>
              <a:gd name="T16" fmla="*/ 2147483646 w 1398"/>
              <a:gd name="T17" fmla="*/ 2147483646 h 759"/>
              <a:gd name="T18" fmla="*/ 2147483646 w 1398"/>
              <a:gd name="T19" fmla="*/ 2147483646 h 759"/>
              <a:gd name="T20" fmla="*/ 2147483646 w 1398"/>
              <a:gd name="T21" fmla="*/ 2147483646 h 759"/>
              <a:gd name="T22" fmla="*/ 2147483646 w 1398"/>
              <a:gd name="T23" fmla="*/ 2147483646 h 759"/>
              <a:gd name="T24" fmla="*/ 2147483646 w 1398"/>
              <a:gd name="T25" fmla="*/ 2147483646 h 759"/>
              <a:gd name="T26" fmla="*/ 2147483646 w 1398"/>
              <a:gd name="T27" fmla="*/ 2147483646 h 759"/>
              <a:gd name="T28" fmla="*/ 2147483646 w 1398"/>
              <a:gd name="T29" fmla="*/ 2147483646 h 759"/>
              <a:gd name="T30" fmla="*/ 2147483646 w 1398"/>
              <a:gd name="T31" fmla="*/ 2147483646 h 759"/>
              <a:gd name="T32" fmla="*/ 2147483646 w 1398"/>
              <a:gd name="T33" fmla="*/ 2147483646 h 759"/>
              <a:gd name="T34" fmla="*/ 2147483646 w 1398"/>
              <a:gd name="T35" fmla="*/ 2147483646 h 759"/>
              <a:gd name="T36" fmla="*/ 2147483646 w 1398"/>
              <a:gd name="T37" fmla="*/ 2147483646 h 759"/>
              <a:gd name="T38" fmla="*/ 2147483646 w 1398"/>
              <a:gd name="T39" fmla="*/ 2147483646 h 759"/>
              <a:gd name="T40" fmla="*/ 2147483646 w 1398"/>
              <a:gd name="T41" fmla="*/ 2147483646 h 759"/>
              <a:gd name="T42" fmla="*/ 2147483646 w 1398"/>
              <a:gd name="T43" fmla="*/ 2147483646 h 759"/>
              <a:gd name="T44" fmla="*/ 2147483646 w 1398"/>
              <a:gd name="T45" fmla="*/ 2147483646 h 759"/>
              <a:gd name="T46" fmla="*/ 2147483646 w 1398"/>
              <a:gd name="T47" fmla="*/ 2147483646 h 759"/>
              <a:gd name="T48" fmla="*/ 2147483646 w 1398"/>
              <a:gd name="T49" fmla="*/ 2147483646 h 75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398" h="759">
                <a:moveTo>
                  <a:pt x="56" y="744"/>
                </a:moveTo>
                <a:cubicBezTo>
                  <a:pt x="188" y="726"/>
                  <a:pt x="150" y="728"/>
                  <a:pt x="376" y="744"/>
                </a:cubicBezTo>
                <a:cubicBezTo>
                  <a:pt x="391" y="745"/>
                  <a:pt x="419" y="758"/>
                  <a:pt x="419" y="758"/>
                </a:cubicBezTo>
                <a:cubicBezTo>
                  <a:pt x="734" y="755"/>
                  <a:pt x="1038" y="755"/>
                  <a:pt x="1350" y="736"/>
                </a:cubicBezTo>
                <a:cubicBezTo>
                  <a:pt x="1379" y="607"/>
                  <a:pt x="1398" y="446"/>
                  <a:pt x="1314" y="336"/>
                </a:cubicBezTo>
                <a:cubicBezTo>
                  <a:pt x="1303" y="295"/>
                  <a:pt x="1296" y="264"/>
                  <a:pt x="1278" y="227"/>
                </a:cubicBezTo>
                <a:cubicBezTo>
                  <a:pt x="1274" y="208"/>
                  <a:pt x="1267" y="157"/>
                  <a:pt x="1256" y="140"/>
                </a:cubicBezTo>
                <a:cubicBezTo>
                  <a:pt x="1251" y="133"/>
                  <a:pt x="1241" y="131"/>
                  <a:pt x="1234" y="125"/>
                </a:cubicBezTo>
                <a:cubicBezTo>
                  <a:pt x="1226" y="118"/>
                  <a:pt x="1221" y="109"/>
                  <a:pt x="1212" y="103"/>
                </a:cubicBezTo>
                <a:cubicBezTo>
                  <a:pt x="1186" y="86"/>
                  <a:pt x="1150" y="81"/>
                  <a:pt x="1125" y="60"/>
                </a:cubicBezTo>
                <a:cubicBezTo>
                  <a:pt x="1069" y="14"/>
                  <a:pt x="1134" y="55"/>
                  <a:pt x="1081" y="31"/>
                </a:cubicBezTo>
                <a:cubicBezTo>
                  <a:pt x="1061" y="22"/>
                  <a:pt x="1023" y="2"/>
                  <a:pt x="1023" y="2"/>
                </a:cubicBezTo>
                <a:cubicBezTo>
                  <a:pt x="926" y="4"/>
                  <a:pt x="829" y="0"/>
                  <a:pt x="732" y="9"/>
                </a:cubicBezTo>
                <a:cubicBezTo>
                  <a:pt x="723" y="10"/>
                  <a:pt x="724" y="24"/>
                  <a:pt x="718" y="31"/>
                </a:cubicBezTo>
                <a:cubicBezTo>
                  <a:pt x="696" y="58"/>
                  <a:pt x="700" y="52"/>
                  <a:pt x="667" y="60"/>
                </a:cubicBezTo>
                <a:cubicBezTo>
                  <a:pt x="625" y="87"/>
                  <a:pt x="586" y="104"/>
                  <a:pt x="550" y="140"/>
                </a:cubicBezTo>
                <a:cubicBezTo>
                  <a:pt x="539" y="209"/>
                  <a:pt x="528" y="178"/>
                  <a:pt x="485" y="227"/>
                </a:cubicBezTo>
                <a:cubicBezTo>
                  <a:pt x="405" y="318"/>
                  <a:pt x="356" y="335"/>
                  <a:pt x="238" y="351"/>
                </a:cubicBezTo>
                <a:cubicBezTo>
                  <a:pt x="222" y="361"/>
                  <a:pt x="202" y="362"/>
                  <a:pt x="187" y="373"/>
                </a:cubicBezTo>
                <a:cubicBezTo>
                  <a:pt x="181" y="378"/>
                  <a:pt x="183" y="388"/>
                  <a:pt x="179" y="394"/>
                </a:cubicBezTo>
                <a:cubicBezTo>
                  <a:pt x="168" y="410"/>
                  <a:pt x="154" y="422"/>
                  <a:pt x="143" y="438"/>
                </a:cubicBezTo>
                <a:cubicBezTo>
                  <a:pt x="132" y="474"/>
                  <a:pt x="118" y="507"/>
                  <a:pt x="92" y="533"/>
                </a:cubicBezTo>
                <a:cubicBezTo>
                  <a:pt x="81" y="566"/>
                  <a:pt x="61" y="598"/>
                  <a:pt x="41" y="627"/>
                </a:cubicBezTo>
                <a:cubicBezTo>
                  <a:pt x="31" y="658"/>
                  <a:pt x="0" y="686"/>
                  <a:pt x="27" y="722"/>
                </a:cubicBezTo>
                <a:cubicBezTo>
                  <a:pt x="55" y="759"/>
                  <a:pt x="74" y="705"/>
                  <a:pt x="56" y="744"/>
                </a:cubicBezTo>
                <a:close/>
              </a:path>
            </a:pathLst>
          </a:custGeom>
          <a:solidFill>
            <a:srgbClr val="FFFFFF"/>
          </a:solidFill>
          <a:ln w="38100" cap="flat" cmpd="sng">
            <a:solidFill>
              <a:schemeClr val="folHlink"/>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351" name="Freeform 5"/>
          <p:cNvSpPr/>
          <p:nvPr/>
        </p:nvSpPr>
        <p:spPr bwMode="auto">
          <a:xfrm>
            <a:off x="69850" y="4927600"/>
            <a:ext cx="1489075" cy="1701800"/>
          </a:xfrm>
          <a:custGeom>
            <a:avLst/>
            <a:gdLst>
              <a:gd name="T0" fmla="*/ 2147483646 w 938"/>
              <a:gd name="T1" fmla="*/ 2147483646 h 1072"/>
              <a:gd name="T2" fmla="*/ 2147483646 w 938"/>
              <a:gd name="T3" fmla="*/ 2147483646 h 1072"/>
              <a:gd name="T4" fmla="*/ 2147483646 w 938"/>
              <a:gd name="T5" fmla="*/ 2147483646 h 1072"/>
              <a:gd name="T6" fmla="*/ 2147483646 w 938"/>
              <a:gd name="T7" fmla="*/ 2147483646 h 1072"/>
              <a:gd name="T8" fmla="*/ 2147483646 w 938"/>
              <a:gd name="T9" fmla="*/ 2147483646 h 1072"/>
              <a:gd name="T10" fmla="*/ 2147483646 w 938"/>
              <a:gd name="T11" fmla="*/ 2147483646 h 1072"/>
              <a:gd name="T12" fmla="*/ 2147483646 w 938"/>
              <a:gd name="T13" fmla="*/ 2147483646 h 1072"/>
              <a:gd name="T14" fmla="*/ 2147483646 w 938"/>
              <a:gd name="T15" fmla="*/ 2147483646 h 1072"/>
              <a:gd name="T16" fmla="*/ 2147483646 w 938"/>
              <a:gd name="T17" fmla="*/ 2147483646 h 1072"/>
              <a:gd name="T18" fmla="*/ 2147483646 w 938"/>
              <a:gd name="T19" fmla="*/ 2147483646 h 1072"/>
              <a:gd name="T20" fmla="*/ 2147483646 w 938"/>
              <a:gd name="T21" fmla="*/ 2147483646 h 1072"/>
              <a:gd name="T22" fmla="*/ 2147483646 w 938"/>
              <a:gd name="T23" fmla="*/ 2147483646 h 1072"/>
              <a:gd name="T24" fmla="*/ 2147483646 w 938"/>
              <a:gd name="T25" fmla="*/ 2147483646 h 1072"/>
              <a:gd name="T26" fmla="*/ 2147483646 w 938"/>
              <a:gd name="T27" fmla="*/ 2147483646 h 1072"/>
              <a:gd name="T28" fmla="*/ 2147483646 w 938"/>
              <a:gd name="T29" fmla="*/ 2147483646 h 1072"/>
              <a:gd name="T30" fmla="*/ 2147483646 w 938"/>
              <a:gd name="T31" fmla="*/ 2147483646 h 1072"/>
              <a:gd name="T32" fmla="*/ 2147483646 w 938"/>
              <a:gd name="T33" fmla="*/ 2147483646 h 1072"/>
              <a:gd name="T34" fmla="*/ 2147483646 w 938"/>
              <a:gd name="T35" fmla="*/ 2147483646 h 1072"/>
              <a:gd name="T36" fmla="*/ 2147483646 w 938"/>
              <a:gd name="T37" fmla="*/ 2147483646 h 1072"/>
              <a:gd name="T38" fmla="*/ 2147483646 w 938"/>
              <a:gd name="T39" fmla="*/ 2147483646 h 1072"/>
              <a:gd name="T40" fmla="*/ 2147483646 w 938"/>
              <a:gd name="T41" fmla="*/ 2147483646 h 107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38" h="1072">
                <a:moveTo>
                  <a:pt x="19" y="802"/>
                </a:moveTo>
                <a:cubicBezTo>
                  <a:pt x="661" y="796"/>
                  <a:pt x="886" y="1072"/>
                  <a:pt x="920" y="685"/>
                </a:cubicBezTo>
                <a:cubicBezTo>
                  <a:pt x="918" y="624"/>
                  <a:pt x="938" y="461"/>
                  <a:pt x="862" y="409"/>
                </a:cubicBezTo>
                <a:cubicBezTo>
                  <a:pt x="837" y="356"/>
                  <a:pt x="815" y="305"/>
                  <a:pt x="797" y="249"/>
                </a:cubicBezTo>
                <a:cubicBezTo>
                  <a:pt x="782" y="202"/>
                  <a:pt x="726" y="151"/>
                  <a:pt x="688" y="125"/>
                </a:cubicBezTo>
                <a:cubicBezTo>
                  <a:pt x="643" y="95"/>
                  <a:pt x="602" y="61"/>
                  <a:pt x="557" y="31"/>
                </a:cubicBezTo>
                <a:cubicBezTo>
                  <a:pt x="524" y="9"/>
                  <a:pt x="415" y="5"/>
                  <a:pt x="382" y="2"/>
                </a:cubicBezTo>
                <a:cubicBezTo>
                  <a:pt x="336" y="4"/>
                  <a:pt x="289" y="0"/>
                  <a:pt x="244" y="9"/>
                </a:cubicBezTo>
                <a:cubicBezTo>
                  <a:pt x="236" y="11"/>
                  <a:pt x="241" y="24"/>
                  <a:pt x="237" y="31"/>
                </a:cubicBezTo>
                <a:cubicBezTo>
                  <a:pt x="216" y="69"/>
                  <a:pt x="212" y="70"/>
                  <a:pt x="186" y="96"/>
                </a:cubicBezTo>
                <a:cubicBezTo>
                  <a:pt x="177" y="132"/>
                  <a:pt x="165" y="142"/>
                  <a:pt x="135" y="162"/>
                </a:cubicBezTo>
                <a:cubicBezTo>
                  <a:pt x="116" y="189"/>
                  <a:pt x="97" y="209"/>
                  <a:pt x="69" y="227"/>
                </a:cubicBezTo>
                <a:cubicBezTo>
                  <a:pt x="60" y="245"/>
                  <a:pt x="48" y="260"/>
                  <a:pt x="40" y="278"/>
                </a:cubicBezTo>
                <a:cubicBezTo>
                  <a:pt x="34" y="292"/>
                  <a:pt x="31" y="307"/>
                  <a:pt x="26" y="322"/>
                </a:cubicBezTo>
                <a:cubicBezTo>
                  <a:pt x="24" y="329"/>
                  <a:pt x="19" y="344"/>
                  <a:pt x="19" y="344"/>
                </a:cubicBezTo>
                <a:cubicBezTo>
                  <a:pt x="13" y="462"/>
                  <a:pt x="0" y="548"/>
                  <a:pt x="11" y="664"/>
                </a:cubicBezTo>
                <a:cubicBezTo>
                  <a:pt x="13" y="687"/>
                  <a:pt x="26" y="707"/>
                  <a:pt x="33" y="729"/>
                </a:cubicBezTo>
                <a:cubicBezTo>
                  <a:pt x="35" y="736"/>
                  <a:pt x="40" y="751"/>
                  <a:pt x="40" y="751"/>
                </a:cubicBezTo>
                <a:cubicBezTo>
                  <a:pt x="38" y="773"/>
                  <a:pt x="43" y="797"/>
                  <a:pt x="33" y="816"/>
                </a:cubicBezTo>
                <a:cubicBezTo>
                  <a:pt x="30" y="823"/>
                  <a:pt x="16" y="814"/>
                  <a:pt x="11" y="809"/>
                </a:cubicBezTo>
                <a:cubicBezTo>
                  <a:pt x="8" y="806"/>
                  <a:pt x="16" y="804"/>
                  <a:pt x="19" y="802"/>
                </a:cubicBezTo>
                <a:close/>
              </a:path>
            </a:pathLst>
          </a:custGeom>
          <a:solidFill>
            <a:srgbClr val="FFFFFF"/>
          </a:solidFill>
          <a:ln w="38100" cap="flat" cmpd="sng">
            <a:solidFill>
              <a:schemeClr val="folHlink"/>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352" name="Text Box 6"/>
          <p:cNvSpPr txBox="1">
            <a:spLocks noChangeArrowheads="1"/>
          </p:cNvSpPr>
          <p:nvPr/>
        </p:nvSpPr>
        <p:spPr bwMode="auto">
          <a:xfrm>
            <a:off x="304800" y="3105150"/>
            <a:ext cx="3810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3</a:t>
            </a:r>
            <a:endParaRPr kumimoji="1" lang="en-US" altLang="zh-CN" sz="1400" b="1" dirty="0">
              <a:latin typeface="Times New Roman" panose="02020603050405020304" pitchFamily="18" charset="0"/>
              <a:ea typeface="华文楷体" panose="02010600040101010101" pitchFamily="2" charset="-122"/>
            </a:endParaRPr>
          </a:p>
        </p:txBody>
      </p:sp>
      <p:sp>
        <p:nvSpPr>
          <p:cNvPr id="57353" name="Text Box 7"/>
          <p:cNvSpPr txBox="1">
            <a:spLocks noChangeArrowheads="1"/>
          </p:cNvSpPr>
          <p:nvPr/>
        </p:nvSpPr>
        <p:spPr bwMode="auto">
          <a:xfrm>
            <a:off x="762000" y="234315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24</a:t>
            </a:r>
            <a:endParaRPr kumimoji="1" lang="en-US" altLang="zh-CN" sz="1400" b="1" dirty="0">
              <a:latin typeface="Times New Roman" panose="02020603050405020304" pitchFamily="18" charset="0"/>
              <a:ea typeface="华文楷体" panose="02010600040101010101" pitchFamily="2" charset="-122"/>
            </a:endParaRPr>
          </a:p>
        </p:txBody>
      </p:sp>
      <p:sp>
        <p:nvSpPr>
          <p:cNvPr id="57354" name="Text Box 8"/>
          <p:cNvSpPr txBox="1">
            <a:spLocks noChangeArrowheads="1"/>
          </p:cNvSpPr>
          <p:nvPr/>
        </p:nvSpPr>
        <p:spPr bwMode="auto">
          <a:xfrm>
            <a:off x="1828800" y="1809750"/>
            <a:ext cx="4572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45</a:t>
            </a:r>
            <a:endParaRPr kumimoji="1" lang="en-US" altLang="zh-CN" sz="1400" b="1" dirty="0">
              <a:latin typeface="Times New Roman" panose="02020603050405020304" pitchFamily="18" charset="0"/>
              <a:ea typeface="华文楷体" panose="02010600040101010101" pitchFamily="2" charset="-122"/>
            </a:endParaRPr>
          </a:p>
        </p:txBody>
      </p:sp>
      <p:sp>
        <p:nvSpPr>
          <p:cNvPr id="57355" name="Text Box 9"/>
          <p:cNvSpPr txBox="1">
            <a:spLocks noChangeArrowheads="1"/>
          </p:cNvSpPr>
          <p:nvPr/>
        </p:nvSpPr>
        <p:spPr bwMode="auto">
          <a:xfrm>
            <a:off x="2133600" y="2362200"/>
            <a:ext cx="8382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53   90</a:t>
            </a:r>
            <a:endParaRPr kumimoji="1" lang="en-US" altLang="zh-CN" sz="1400" b="1" dirty="0">
              <a:latin typeface="Times New Roman" panose="02020603050405020304" pitchFamily="18" charset="0"/>
              <a:ea typeface="华文楷体" panose="02010600040101010101" pitchFamily="2" charset="-122"/>
            </a:endParaRPr>
          </a:p>
        </p:txBody>
      </p:sp>
      <p:sp>
        <p:nvSpPr>
          <p:cNvPr id="57356" name="Text Box 10"/>
          <p:cNvSpPr txBox="1">
            <a:spLocks noChangeArrowheads="1"/>
          </p:cNvSpPr>
          <p:nvPr/>
        </p:nvSpPr>
        <p:spPr bwMode="auto">
          <a:xfrm>
            <a:off x="990600" y="312420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37</a:t>
            </a:r>
            <a:endParaRPr kumimoji="1" lang="en-US" altLang="zh-CN" sz="1400" b="1" dirty="0">
              <a:latin typeface="Times New Roman" panose="02020603050405020304" pitchFamily="18" charset="0"/>
              <a:ea typeface="华文楷体" panose="02010600040101010101" pitchFamily="2" charset="-122"/>
            </a:endParaRPr>
          </a:p>
        </p:txBody>
      </p:sp>
      <p:sp>
        <p:nvSpPr>
          <p:cNvPr id="57357" name="Text Box 11"/>
          <p:cNvSpPr txBox="1">
            <a:spLocks noChangeArrowheads="1"/>
          </p:cNvSpPr>
          <p:nvPr/>
        </p:nvSpPr>
        <p:spPr bwMode="auto">
          <a:xfrm>
            <a:off x="3429000" y="3124200"/>
            <a:ext cx="6096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100</a:t>
            </a:r>
            <a:endParaRPr kumimoji="1" lang="en-US" altLang="zh-CN" sz="1400" b="1" dirty="0">
              <a:latin typeface="Times New Roman" panose="02020603050405020304" pitchFamily="18" charset="0"/>
              <a:ea typeface="华文楷体" panose="02010600040101010101" pitchFamily="2" charset="-122"/>
            </a:endParaRPr>
          </a:p>
        </p:txBody>
      </p:sp>
      <p:sp>
        <p:nvSpPr>
          <p:cNvPr id="57358" name="Text Box 12"/>
          <p:cNvSpPr txBox="1">
            <a:spLocks noChangeArrowheads="1"/>
          </p:cNvSpPr>
          <p:nvPr/>
        </p:nvSpPr>
        <p:spPr bwMode="auto">
          <a:xfrm>
            <a:off x="1905000" y="312420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50</a:t>
            </a:r>
            <a:endParaRPr kumimoji="1" lang="en-US" altLang="zh-CN" sz="1400" b="1" dirty="0">
              <a:latin typeface="Times New Roman" panose="02020603050405020304" pitchFamily="18" charset="0"/>
              <a:ea typeface="华文楷体" panose="02010600040101010101" pitchFamily="2" charset="-122"/>
            </a:endParaRPr>
          </a:p>
        </p:txBody>
      </p:sp>
      <p:sp>
        <p:nvSpPr>
          <p:cNvPr id="57359" name="Text Box 13"/>
          <p:cNvSpPr txBox="1">
            <a:spLocks noChangeArrowheads="1"/>
          </p:cNvSpPr>
          <p:nvPr/>
        </p:nvSpPr>
        <p:spPr bwMode="auto">
          <a:xfrm>
            <a:off x="2514600" y="3124200"/>
            <a:ext cx="8382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61</a:t>
            </a:r>
            <a:r>
              <a:rPr kumimoji="1" lang="zh-CN" altLang="en-US" sz="1400" b="1" dirty="0">
                <a:latin typeface="Times New Roman" panose="02020603050405020304" pitchFamily="18" charset="0"/>
                <a:ea typeface="华文楷体" panose="02010600040101010101" pitchFamily="2" charset="-122"/>
              </a:rPr>
              <a:t>，</a:t>
            </a:r>
            <a:r>
              <a:rPr kumimoji="1" lang="en-US" altLang="zh-CN" sz="1400" b="1" dirty="0">
                <a:latin typeface="Times New Roman" panose="02020603050405020304" pitchFamily="18" charset="0"/>
                <a:ea typeface="华文楷体" panose="02010600040101010101" pitchFamily="2" charset="-122"/>
              </a:rPr>
              <a:t>70</a:t>
            </a:r>
            <a:endParaRPr kumimoji="1" lang="en-US" altLang="zh-CN" sz="1400" b="1" dirty="0">
              <a:latin typeface="Times New Roman" panose="02020603050405020304" pitchFamily="18" charset="0"/>
              <a:ea typeface="华文楷体" panose="02010600040101010101" pitchFamily="2" charset="-122"/>
            </a:endParaRPr>
          </a:p>
        </p:txBody>
      </p:sp>
      <p:sp>
        <p:nvSpPr>
          <p:cNvPr id="57360" name="Line 14"/>
          <p:cNvSpPr>
            <a:spLocks noChangeShapeType="1"/>
          </p:cNvSpPr>
          <p:nvPr/>
        </p:nvSpPr>
        <p:spPr bwMode="auto">
          <a:xfrm flipH="1">
            <a:off x="1295400" y="2057400"/>
            <a:ext cx="609600" cy="3048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361" name="Line 15"/>
          <p:cNvSpPr>
            <a:spLocks noChangeShapeType="1"/>
          </p:cNvSpPr>
          <p:nvPr/>
        </p:nvSpPr>
        <p:spPr bwMode="auto">
          <a:xfrm flipH="1">
            <a:off x="381000" y="2514600"/>
            <a:ext cx="4572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362" name="Line 16"/>
          <p:cNvSpPr>
            <a:spLocks noChangeShapeType="1"/>
          </p:cNvSpPr>
          <p:nvPr/>
        </p:nvSpPr>
        <p:spPr bwMode="auto">
          <a:xfrm>
            <a:off x="1066800" y="251460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363" name="Line 17"/>
          <p:cNvSpPr>
            <a:spLocks noChangeShapeType="1"/>
          </p:cNvSpPr>
          <p:nvPr/>
        </p:nvSpPr>
        <p:spPr bwMode="auto">
          <a:xfrm>
            <a:off x="2209800" y="1981200"/>
            <a:ext cx="381000" cy="3810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364" name="Line 18"/>
          <p:cNvSpPr>
            <a:spLocks noChangeShapeType="1"/>
          </p:cNvSpPr>
          <p:nvPr/>
        </p:nvSpPr>
        <p:spPr bwMode="auto">
          <a:xfrm flipH="1">
            <a:off x="2057400" y="251460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365" name="Line 19"/>
          <p:cNvSpPr>
            <a:spLocks noChangeShapeType="1"/>
          </p:cNvSpPr>
          <p:nvPr/>
        </p:nvSpPr>
        <p:spPr bwMode="auto">
          <a:xfrm>
            <a:off x="2514600" y="2514600"/>
            <a:ext cx="3810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366" name="Line 20"/>
          <p:cNvSpPr>
            <a:spLocks noChangeShapeType="1"/>
          </p:cNvSpPr>
          <p:nvPr/>
        </p:nvSpPr>
        <p:spPr bwMode="auto">
          <a:xfrm>
            <a:off x="2895600" y="2590800"/>
            <a:ext cx="838200" cy="5334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367" name="AutoShape 21"/>
          <p:cNvSpPr>
            <a:spLocks noChangeArrowheads="1"/>
          </p:cNvSpPr>
          <p:nvPr/>
        </p:nvSpPr>
        <p:spPr bwMode="auto">
          <a:xfrm>
            <a:off x="3810000" y="2057400"/>
            <a:ext cx="914400" cy="228600"/>
          </a:xfrm>
          <a:prstGeom prst="rightArrow">
            <a:avLst>
              <a:gd name="adj1" fmla="val 50000"/>
              <a:gd name="adj2" fmla="val 100000"/>
            </a:avLst>
          </a:prstGeom>
          <a:solidFill>
            <a:schemeClr val="accent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7368" name="AutoShape 22"/>
          <p:cNvSpPr>
            <a:spLocks noChangeArrowheads="1"/>
          </p:cNvSpPr>
          <p:nvPr/>
        </p:nvSpPr>
        <p:spPr bwMode="auto">
          <a:xfrm>
            <a:off x="304800" y="4572000"/>
            <a:ext cx="914400" cy="228600"/>
          </a:xfrm>
          <a:prstGeom prst="rightArrow">
            <a:avLst>
              <a:gd name="adj1" fmla="val 50000"/>
              <a:gd name="adj2" fmla="val 100000"/>
            </a:avLst>
          </a:prstGeom>
          <a:solidFill>
            <a:schemeClr val="accent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7369" name="AutoShape 23"/>
          <p:cNvSpPr>
            <a:spLocks noChangeArrowheads="1"/>
          </p:cNvSpPr>
          <p:nvPr/>
        </p:nvSpPr>
        <p:spPr bwMode="auto">
          <a:xfrm rot="-2617099">
            <a:off x="1524000" y="3429000"/>
            <a:ext cx="533400" cy="152400"/>
          </a:xfrm>
          <a:prstGeom prst="rightArrow">
            <a:avLst>
              <a:gd name="adj1" fmla="val 50000"/>
              <a:gd name="adj2" fmla="val 875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7370" name="Text Box 24"/>
          <p:cNvSpPr txBox="1">
            <a:spLocks noChangeArrowheads="1"/>
          </p:cNvSpPr>
          <p:nvPr/>
        </p:nvSpPr>
        <p:spPr bwMode="auto">
          <a:xfrm>
            <a:off x="838200" y="3657600"/>
            <a:ext cx="12954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被删关键字</a:t>
            </a:r>
            <a:endParaRPr kumimoji="1" lang="zh-CN" altLang="en-US" sz="1400" b="1" dirty="0">
              <a:latin typeface="Times New Roman" panose="02020603050405020304" pitchFamily="18" charset="0"/>
              <a:ea typeface="华文楷体" panose="02010600040101010101" pitchFamily="2" charset="-122"/>
            </a:endParaRPr>
          </a:p>
        </p:txBody>
      </p:sp>
      <p:sp>
        <p:nvSpPr>
          <p:cNvPr id="57371" name="Text Box 25"/>
          <p:cNvSpPr txBox="1">
            <a:spLocks noChangeArrowheads="1"/>
          </p:cNvSpPr>
          <p:nvPr/>
        </p:nvSpPr>
        <p:spPr bwMode="auto">
          <a:xfrm>
            <a:off x="5029200" y="3028950"/>
            <a:ext cx="3810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3</a:t>
            </a:r>
            <a:endParaRPr kumimoji="1" lang="en-US" altLang="zh-CN" sz="1400" b="1" dirty="0">
              <a:latin typeface="Times New Roman" panose="02020603050405020304" pitchFamily="18" charset="0"/>
              <a:ea typeface="华文楷体" panose="02010600040101010101" pitchFamily="2" charset="-122"/>
            </a:endParaRPr>
          </a:p>
        </p:txBody>
      </p:sp>
      <p:sp>
        <p:nvSpPr>
          <p:cNvPr id="57372" name="Text Box 26"/>
          <p:cNvSpPr txBox="1">
            <a:spLocks noChangeArrowheads="1"/>
          </p:cNvSpPr>
          <p:nvPr/>
        </p:nvSpPr>
        <p:spPr bwMode="auto">
          <a:xfrm>
            <a:off x="5486400" y="226695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24</a:t>
            </a:r>
            <a:endParaRPr kumimoji="1" lang="en-US" altLang="zh-CN" sz="1400" b="1" dirty="0">
              <a:latin typeface="Times New Roman" panose="02020603050405020304" pitchFamily="18" charset="0"/>
              <a:ea typeface="华文楷体" panose="02010600040101010101" pitchFamily="2" charset="-122"/>
            </a:endParaRPr>
          </a:p>
        </p:txBody>
      </p:sp>
      <p:sp>
        <p:nvSpPr>
          <p:cNvPr id="57373" name="Text Box 27"/>
          <p:cNvSpPr txBox="1">
            <a:spLocks noChangeArrowheads="1"/>
          </p:cNvSpPr>
          <p:nvPr/>
        </p:nvSpPr>
        <p:spPr bwMode="auto">
          <a:xfrm>
            <a:off x="6553200" y="1733550"/>
            <a:ext cx="4572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45</a:t>
            </a:r>
            <a:endParaRPr kumimoji="1" lang="en-US" altLang="zh-CN" sz="1400" b="1" dirty="0">
              <a:latin typeface="Times New Roman" panose="02020603050405020304" pitchFamily="18" charset="0"/>
              <a:ea typeface="华文楷体" panose="02010600040101010101" pitchFamily="2" charset="-122"/>
            </a:endParaRPr>
          </a:p>
        </p:txBody>
      </p:sp>
      <p:sp>
        <p:nvSpPr>
          <p:cNvPr id="57374" name="Text Box 28"/>
          <p:cNvSpPr txBox="1">
            <a:spLocks noChangeArrowheads="1"/>
          </p:cNvSpPr>
          <p:nvPr/>
        </p:nvSpPr>
        <p:spPr bwMode="auto">
          <a:xfrm>
            <a:off x="6858000" y="2286000"/>
            <a:ext cx="8382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61   90</a:t>
            </a:r>
            <a:endParaRPr kumimoji="1" lang="en-US" altLang="zh-CN" sz="1400" b="1" dirty="0">
              <a:latin typeface="Times New Roman" panose="02020603050405020304" pitchFamily="18" charset="0"/>
              <a:ea typeface="华文楷体" panose="02010600040101010101" pitchFamily="2" charset="-122"/>
            </a:endParaRPr>
          </a:p>
        </p:txBody>
      </p:sp>
      <p:sp>
        <p:nvSpPr>
          <p:cNvPr id="57375" name="Text Box 29"/>
          <p:cNvSpPr txBox="1">
            <a:spLocks noChangeArrowheads="1"/>
          </p:cNvSpPr>
          <p:nvPr/>
        </p:nvSpPr>
        <p:spPr bwMode="auto">
          <a:xfrm>
            <a:off x="5715000" y="304800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37</a:t>
            </a:r>
            <a:endParaRPr kumimoji="1" lang="en-US" altLang="zh-CN" sz="1400" b="1" dirty="0">
              <a:latin typeface="Times New Roman" panose="02020603050405020304" pitchFamily="18" charset="0"/>
              <a:ea typeface="华文楷体" panose="02010600040101010101" pitchFamily="2" charset="-122"/>
            </a:endParaRPr>
          </a:p>
        </p:txBody>
      </p:sp>
      <p:sp>
        <p:nvSpPr>
          <p:cNvPr id="57376" name="Text Box 30"/>
          <p:cNvSpPr txBox="1">
            <a:spLocks noChangeArrowheads="1"/>
          </p:cNvSpPr>
          <p:nvPr/>
        </p:nvSpPr>
        <p:spPr bwMode="auto">
          <a:xfrm>
            <a:off x="8153400" y="3048000"/>
            <a:ext cx="6096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100</a:t>
            </a:r>
            <a:endParaRPr kumimoji="1" lang="en-US" altLang="zh-CN" sz="1400" b="1" dirty="0">
              <a:latin typeface="Times New Roman" panose="02020603050405020304" pitchFamily="18" charset="0"/>
              <a:ea typeface="华文楷体" panose="02010600040101010101" pitchFamily="2" charset="-122"/>
            </a:endParaRPr>
          </a:p>
        </p:txBody>
      </p:sp>
      <p:sp>
        <p:nvSpPr>
          <p:cNvPr id="57377" name="Text Box 31"/>
          <p:cNvSpPr txBox="1">
            <a:spLocks noChangeArrowheads="1"/>
          </p:cNvSpPr>
          <p:nvPr/>
        </p:nvSpPr>
        <p:spPr bwMode="auto">
          <a:xfrm>
            <a:off x="6629400" y="304800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53</a:t>
            </a:r>
            <a:endParaRPr kumimoji="1" lang="en-US" altLang="zh-CN" sz="1400" b="1" dirty="0">
              <a:latin typeface="Times New Roman" panose="02020603050405020304" pitchFamily="18" charset="0"/>
              <a:ea typeface="华文楷体" panose="02010600040101010101" pitchFamily="2" charset="-122"/>
            </a:endParaRPr>
          </a:p>
        </p:txBody>
      </p:sp>
      <p:sp>
        <p:nvSpPr>
          <p:cNvPr id="57378" name="Text Box 32"/>
          <p:cNvSpPr txBox="1">
            <a:spLocks noChangeArrowheads="1"/>
          </p:cNvSpPr>
          <p:nvPr/>
        </p:nvSpPr>
        <p:spPr bwMode="auto">
          <a:xfrm>
            <a:off x="7391400" y="3048000"/>
            <a:ext cx="4572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70</a:t>
            </a:r>
            <a:endParaRPr kumimoji="1" lang="en-US" altLang="zh-CN" sz="1400" b="1" dirty="0">
              <a:latin typeface="Times New Roman" panose="02020603050405020304" pitchFamily="18" charset="0"/>
              <a:ea typeface="华文楷体" panose="02010600040101010101" pitchFamily="2" charset="-122"/>
            </a:endParaRPr>
          </a:p>
        </p:txBody>
      </p:sp>
      <p:sp>
        <p:nvSpPr>
          <p:cNvPr id="57379" name="Line 33"/>
          <p:cNvSpPr>
            <a:spLocks noChangeShapeType="1"/>
          </p:cNvSpPr>
          <p:nvPr/>
        </p:nvSpPr>
        <p:spPr bwMode="auto">
          <a:xfrm flipH="1">
            <a:off x="6019800" y="1981200"/>
            <a:ext cx="609600" cy="3048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380" name="Line 34"/>
          <p:cNvSpPr>
            <a:spLocks noChangeShapeType="1"/>
          </p:cNvSpPr>
          <p:nvPr/>
        </p:nvSpPr>
        <p:spPr bwMode="auto">
          <a:xfrm flipH="1">
            <a:off x="5105400" y="2438400"/>
            <a:ext cx="4572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381" name="Line 35"/>
          <p:cNvSpPr>
            <a:spLocks noChangeShapeType="1"/>
          </p:cNvSpPr>
          <p:nvPr/>
        </p:nvSpPr>
        <p:spPr bwMode="auto">
          <a:xfrm>
            <a:off x="5791200" y="243840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382" name="Line 36"/>
          <p:cNvSpPr>
            <a:spLocks noChangeShapeType="1"/>
          </p:cNvSpPr>
          <p:nvPr/>
        </p:nvSpPr>
        <p:spPr bwMode="auto">
          <a:xfrm>
            <a:off x="6934200" y="1905000"/>
            <a:ext cx="381000" cy="3810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383" name="Line 37"/>
          <p:cNvSpPr>
            <a:spLocks noChangeShapeType="1"/>
          </p:cNvSpPr>
          <p:nvPr/>
        </p:nvSpPr>
        <p:spPr bwMode="auto">
          <a:xfrm flipH="1">
            <a:off x="6781800" y="243840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384" name="Line 38"/>
          <p:cNvSpPr>
            <a:spLocks noChangeShapeType="1"/>
          </p:cNvSpPr>
          <p:nvPr/>
        </p:nvSpPr>
        <p:spPr bwMode="auto">
          <a:xfrm>
            <a:off x="7239000" y="2438400"/>
            <a:ext cx="3810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385" name="Line 39"/>
          <p:cNvSpPr>
            <a:spLocks noChangeShapeType="1"/>
          </p:cNvSpPr>
          <p:nvPr/>
        </p:nvSpPr>
        <p:spPr bwMode="auto">
          <a:xfrm>
            <a:off x="7620000" y="2514600"/>
            <a:ext cx="838200" cy="5334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386" name="AutoShape 40"/>
          <p:cNvSpPr>
            <a:spLocks noChangeArrowheads="1"/>
          </p:cNvSpPr>
          <p:nvPr/>
        </p:nvSpPr>
        <p:spPr bwMode="auto">
          <a:xfrm rot="10656844" flipV="1">
            <a:off x="2133600" y="2590800"/>
            <a:ext cx="533400" cy="609600"/>
          </a:xfrm>
          <a:prstGeom prst="curvedDownArrow">
            <a:avLst>
              <a:gd name="adj1" fmla="val 20000"/>
              <a:gd name="adj2" fmla="val 40000"/>
              <a:gd name="adj3" fmla="val 38095"/>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FontTx/>
              <a:buNone/>
            </a:pPr>
            <a:endParaRPr kumimoji="1" lang="zh-CN" altLang="zh-CN" sz="1400" b="1" dirty="0">
              <a:solidFill>
                <a:schemeClr val="folHlink"/>
              </a:solidFill>
              <a:latin typeface="Times New Roman" panose="02020603050405020304" pitchFamily="18" charset="0"/>
              <a:ea typeface="华文楷体" panose="02010600040101010101" pitchFamily="2" charset="-122"/>
            </a:endParaRPr>
          </a:p>
        </p:txBody>
      </p:sp>
      <p:sp>
        <p:nvSpPr>
          <p:cNvPr id="57387" name="Text Box 41"/>
          <p:cNvSpPr txBox="1">
            <a:spLocks noChangeArrowheads="1"/>
          </p:cNvSpPr>
          <p:nvPr/>
        </p:nvSpPr>
        <p:spPr bwMode="auto">
          <a:xfrm>
            <a:off x="3276600" y="2286000"/>
            <a:ext cx="198120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200" b="1" dirty="0">
                <a:latin typeface="Times New Roman" panose="02020603050405020304" pitchFamily="18" charset="0"/>
                <a:ea typeface="华文楷体" panose="02010600040101010101" pitchFamily="2" charset="-122"/>
              </a:rPr>
              <a:t>借：向被删结点方向旋转</a:t>
            </a:r>
            <a:endParaRPr kumimoji="1" lang="zh-CN" altLang="en-US" sz="1400" b="1" dirty="0">
              <a:latin typeface="Times New Roman" panose="02020603050405020304" pitchFamily="18" charset="0"/>
              <a:ea typeface="华文楷体" panose="02010600040101010101" pitchFamily="2" charset="-122"/>
            </a:endParaRPr>
          </a:p>
        </p:txBody>
      </p:sp>
      <p:sp>
        <p:nvSpPr>
          <p:cNvPr id="57388" name="AutoShape 42"/>
          <p:cNvSpPr>
            <a:spLocks noChangeArrowheads="1"/>
          </p:cNvSpPr>
          <p:nvPr/>
        </p:nvSpPr>
        <p:spPr bwMode="auto">
          <a:xfrm rot="-2617099">
            <a:off x="6324600" y="3352800"/>
            <a:ext cx="533400" cy="152400"/>
          </a:xfrm>
          <a:prstGeom prst="rightArrow">
            <a:avLst>
              <a:gd name="adj1" fmla="val 50000"/>
              <a:gd name="adj2" fmla="val 875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7389" name="Text Box 43"/>
          <p:cNvSpPr txBox="1">
            <a:spLocks noChangeArrowheads="1"/>
          </p:cNvSpPr>
          <p:nvPr/>
        </p:nvSpPr>
        <p:spPr bwMode="auto">
          <a:xfrm>
            <a:off x="5638800" y="3581400"/>
            <a:ext cx="1828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假定再删除该关键字</a:t>
            </a:r>
            <a:endParaRPr kumimoji="1" lang="zh-CN" altLang="en-US" sz="1400" b="1" dirty="0">
              <a:latin typeface="Times New Roman" panose="02020603050405020304" pitchFamily="18" charset="0"/>
              <a:ea typeface="华文楷体" panose="02010600040101010101" pitchFamily="2" charset="-122"/>
            </a:endParaRPr>
          </a:p>
        </p:txBody>
      </p:sp>
      <p:sp>
        <p:nvSpPr>
          <p:cNvPr id="57390" name="Text Box 44"/>
          <p:cNvSpPr txBox="1">
            <a:spLocks noChangeArrowheads="1"/>
          </p:cNvSpPr>
          <p:nvPr/>
        </p:nvSpPr>
        <p:spPr bwMode="auto">
          <a:xfrm>
            <a:off x="152400" y="5772150"/>
            <a:ext cx="3810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3</a:t>
            </a:r>
            <a:endParaRPr kumimoji="1" lang="en-US" altLang="zh-CN" sz="1400" b="1" dirty="0">
              <a:latin typeface="Times New Roman" panose="02020603050405020304" pitchFamily="18" charset="0"/>
              <a:ea typeface="华文楷体" panose="02010600040101010101" pitchFamily="2" charset="-122"/>
            </a:endParaRPr>
          </a:p>
        </p:txBody>
      </p:sp>
      <p:sp>
        <p:nvSpPr>
          <p:cNvPr id="57391" name="Text Box 45"/>
          <p:cNvSpPr txBox="1">
            <a:spLocks noChangeArrowheads="1"/>
          </p:cNvSpPr>
          <p:nvPr/>
        </p:nvSpPr>
        <p:spPr bwMode="auto">
          <a:xfrm>
            <a:off x="609600" y="501015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24</a:t>
            </a:r>
            <a:endParaRPr kumimoji="1" lang="en-US" altLang="zh-CN" sz="1400" b="1" dirty="0">
              <a:latin typeface="Times New Roman" panose="02020603050405020304" pitchFamily="18" charset="0"/>
              <a:ea typeface="华文楷体" panose="02010600040101010101" pitchFamily="2" charset="-122"/>
            </a:endParaRPr>
          </a:p>
        </p:txBody>
      </p:sp>
      <p:sp>
        <p:nvSpPr>
          <p:cNvPr id="57392" name="Text Box 46"/>
          <p:cNvSpPr txBox="1">
            <a:spLocks noChangeArrowheads="1"/>
          </p:cNvSpPr>
          <p:nvPr/>
        </p:nvSpPr>
        <p:spPr bwMode="auto">
          <a:xfrm>
            <a:off x="1371600" y="4476750"/>
            <a:ext cx="4572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45</a:t>
            </a:r>
            <a:endParaRPr kumimoji="1" lang="en-US" altLang="zh-CN" sz="1400" b="1" dirty="0">
              <a:latin typeface="Times New Roman" panose="02020603050405020304" pitchFamily="18" charset="0"/>
              <a:ea typeface="华文楷体" panose="02010600040101010101" pitchFamily="2" charset="-122"/>
            </a:endParaRPr>
          </a:p>
        </p:txBody>
      </p:sp>
      <p:sp>
        <p:nvSpPr>
          <p:cNvPr id="57393" name="Text Box 47"/>
          <p:cNvSpPr txBox="1">
            <a:spLocks noChangeArrowheads="1"/>
          </p:cNvSpPr>
          <p:nvPr/>
        </p:nvSpPr>
        <p:spPr bwMode="auto">
          <a:xfrm>
            <a:off x="1981200" y="5029200"/>
            <a:ext cx="6096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90</a:t>
            </a:r>
            <a:endParaRPr kumimoji="1" lang="en-US" altLang="zh-CN" sz="1400" b="1" dirty="0">
              <a:latin typeface="Times New Roman" panose="02020603050405020304" pitchFamily="18" charset="0"/>
              <a:ea typeface="华文楷体" panose="02010600040101010101" pitchFamily="2" charset="-122"/>
            </a:endParaRPr>
          </a:p>
        </p:txBody>
      </p:sp>
      <p:sp>
        <p:nvSpPr>
          <p:cNvPr id="57394" name="Text Box 48"/>
          <p:cNvSpPr txBox="1">
            <a:spLocks noChangeArrowheads="1"/>
          </p:cNvSpPr>
          <p:nvPr/>
        </p:nvSpPr>
        <p:spPr bwMode="auto">
          <a:xfrm>
            <a:off x="838200" y="579120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37</a:t>
            </a:r>
            <a:endParaRPr kumimoji="1" lang="en-US" altLang="zh-CN" sz="1400" b="1" dirty="0">
              <a:latin typeface="Times New Roman" panose="02020603050405020304" pitchFamily="18" charset="0"/>
              <a:ea typeface="华文楷体" panose="02010600040101010101" pitchFamily="2" charset="-122"/>
            </a:endParaRPr>
          </a:p>
        </p:txBody>
      </p:sp>
      <p:sp>
        <p:nvSpPr>
          <p:cNvPr id="57395" name="Text Box 49"/>
          <p:cNvSpPr txBox="1">
            <a:spLocks noChangeArrowheads="1"/>
          </p:cNvSpPr>
          <p:nvPr/>
        </p:nvSpPr>
        <p:spPr bwMode="auto">
          <a:xfrm>
            <a:off x="2667000" y="5791200"/>
            <a:ext cx="6096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100</a:t>
            </a:r>
            <a:endParaRPr kumimoji="1" lang="en-US" altLang="zh-CN" sz="1400" b="1" dirty="0">
              <a:latin typeface="Times New Roman" panose="02020603050405020304" pitchFamily="18" charset="0"/>
              <a:ea typeface="华文楷体" panose="02010600040101010101" pitchFamily="2" charset="-122"/>
            </a:endParaRPr>
          </a:p>
        </p:txBody>
      </p:sp>
      <p:sp>
        <p:nvSpPr>
          <p:cNvPr id="57396" name="Text Box 50"/>
          <p:cNvSpPr txBox="1">
            <a:spLocks noChangeArrowheads="1"/>
          </p:cNvSpPr>
          <p:nvPr/>
        </p:nvSpPr>
        <p:spPr bwMode="auto">
          <a:xfrm>
            <a:off x="1752600" y="5791200"/>
            <a:ext cx="8382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61</a:t>
            </a:r>
            <a:r>
              <a:rPr kumimoji="1" lang="zh-CN" altLang="en-US" sz="1400" b="1" dirty="0">
                <a:latin typeface="Times New Roman" panose="02020603050405020304" pitchFamily="18" charset="0"/>
                <a:ea typeface="华文楷体" panose="02010600040101010101" pitchFamily="2" charset="-122"/>
              </a:rPr>
              <a:t>，</a:t>
            </a:r>
            <a:r>
              <a:rPr kumimoji="1" lang="en-US" altLang="zh-CN" sz="1400" b="1" dirty="0">
                <a:latin typeface="Times New Roman" panose="02020603050405020304" pitchFamily="18" charset="0"/>
                <a:ea typeface="华文楷体" panose="02010600040101010101" pitchFamily="2" charset="-122"/>
              </a:rPr>
              <a:t>70</a:t>
            </a:r>
            <a:endParaRPr kumimoji="1" lang="en-US" altLang="zh-CN" sz="1400" b="1" dirty="0">
              <a:latin typeface="Times New Roman" panose="02020603050405020304" pitchFamily="18" charset="0"/>
              <a:ea typeface="华文楷体" panose="02010600040101010101" pitchFamily="2" charset="-122"/>
            </a:endParaRPr>
          </a:p>
        </p:txBody>
      </p:sp>
      <p:sp>
        <p:nvSpPr>
          <p:cNvPr id="57397" name="Line 51"/>
          <p:cNvSpPr>
            <a:spLocks noChangeShapeType="1"/>
          </p:cNvSpPr>
          <p:nvPr/>
        </p:nvSpPr>
        <p:spPr bwMode="auto">
          <a:xfrm flipH="1">
            <a:off x="838200" y="4724400"/>
            <a:ext cx="609600" cy="3048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398" name="Line 52"/>
          <p:cNvSpPr>
            <a:spLocks noChangeShapeType="1"/>
          </p:cNvSpPr>
          <p:nvPr/>
        </p:nvSpPr>
        <p:spPr bwMode="auto">
          <a:xfrm flipH="1">
            <a:off x="228600" y="5181600"/>
            <a:ext cx="4572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399" name="Line 53"/>
          <p:cNvSpPr>
            <a:spLocks noChangeShapeType="1"/>
          </p:cNvSpPr>
          <p:nvPr/>
        </p:nvSpPr>
        <p:spPr bwMode="auto">
          <a:xfrm>
            <a:off x="914400" y="518160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400" name="Line 54"/>
          <p:cNvSpPr>
            <a:spLocks noChangeShapeType="1"/>
          </p:cNvSpPr>
          <p:nvPr/>
        </p:nvSpPr>
        <p:spPr bwMode="auto">
          <a:xfrm>
            <a:off x="1752600" y="4648200"/>
            <a:ext cx="381000" cy="3810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401" name="Line 55"/>
          <p:cNvSpPr>
            <a:spLocks noChangeShapeType="1"/>
          </p:cNvSpPr>
          <p:nvPr/>
        </p:nvSpPr>
        <p:spPr bwMode="auto">
          <a:xfrm flipH="1">
            <a:off x="1905000" y="518160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402" name="Line 56"/>
          <p:cNvSpPr>
            <a:spLocks noChangeShapeType="1"/>
          </p:cNvSpPr>
          <p:nvPr/>
        </p:nvSpPr>
        <p:spPr bwMode="auto">
          <a:xfrm>
            <a:off x="2362200" y="5181600"/>
            <a:ext cx="3810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403" name="AutoShape 57"/>
          <p:cNvSpPr>
            <a:spLocks noChangeArrowheads="1"/>
          </p:cNvSpPr>
          <p:nvPr/>
        </p:nvSpPr>
        <p:spPr bwMode="auto">
          <a:xfrm rot="-2617099">
            <a:off x="685800" y="6096000"/>
            <a:ext cx="533400" cy="152400"/>
          </a:xfrm>
          <a:prstGeom prst="rightArrow">
            <a:avLst>
              <a:gd name="adj1" fmla="val 50000"/>
              <a:gd name="adj2" fmla="val 87500"/>
            </a:avLst>
          </a:prstGeom>
          <a:solidFill>
            <a:schemeClr val="folHlink"/>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7404" name="Text Box 58"/>
          <p:cNvSpPr txBox="1">
            <a:spLocks noChangeArrowheads="1"/>
          </p:cNvSpPr>
          <p:nvPr/>
        </p:nvSpPr>
        <p:spPr bwMode="auto">
          <a:xfrm>
            <a:off x="3429000" y="5791200"/>
            <a:ext cx="6858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3</a:t>
            </a:r>
            <a:r>
              <a:rPr kumimoji="1" lang="zh-CN" altLang="en-US" sz="1400" b="1" dirty="0">
                <a:latin typeface="Times New Roman" panose="02020603050405020304" pitchFamily="18" charset="0"/>
                <a:ea typeface="华文楷体" panose="02010600040101010101" pitchFamily="2" charset="-122"/>
              </a:rPr>
              <a:t>，</a:t>
            </a:r>
            <a:r>
              <a:rPr kumimoji="1" lang="en-US" altLang="zh-CN" sz="1400" b="1" dirty="0">
                <a:latin typeface="Times New Roman" panose="02020603050405020304" pitchFamily="18" charset="0"/>
                <a:ea typeface="华文楷体" panose="02010600040101010101" pitchFamily="2" charset="-122"/>
              </a:rPr>
              <a:t>24</a:t>
            </a:r>
            <a:endParaRPr kumimoji="1" lang="en-US" altLang="zh-CN" sz="1400" b="1" dirty="0">
              <a:latin typeface="Times New Roman" panose="02020603050405020304" pitchFamily="18" charset="0"/>
              <a:ea typeface="华文楷体" panose="02010600040101010101" pitchFamily="2" charset="-122"/>
            </a:endParaRPr>
          </a:p>
        </p:txBody>
      </p:sp>
      <p:sp>
        <p:nvSpPr>
          <p:cNvPr id="57405" name="Text Box 59"/>
          <p:cNvSpPr txBox="1">
            <a:spLocks noChangeArrowheads="1"/>
          </p:cNvSpPr>
          <p:nvPr/>
        </p:nvSpPr>
        <p:spPr bwMode="auto">
          <a:xfrm>
            <a:off x="3886200" y="5029200"/>
            <a:ext cx="5334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endParaRPr kumimoji="1" lang="zh-CN" altLang="zh-CN" sz="1400" b="1" dirty="0">
              <a:latin typeface="Times New Roman" panose="02020603050405020304" pitchFamily="18" charset="0"/>
              <a:ea typeface="华文楷体" panose="02010600040101010101" pitchFamily="2" charset="-122"/>
            </a:endParaRPr>
          </a:p>
        </p:txBody>
      </p:sp>
      <p:sp>
        <p:nvSpPr>
          <p:cNvPr id="57406" name="Text Box 60"/>
          <p:cNvSpPr txBox="1">
            <a:spLocks noChangeArrowheads="1"/>
          </p:cNvSpPr>
          <p:nvPr/>
        </p:nvSpPr>
        <p:spPr bwMode="auto">
          <a:xfrm>
            <a:off x="4648200" y="4495800"/>
            <a:ext cx="4572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45</a:t>
            </a:r>
            <a:endParaRPr kumimoji="1" lang="en-US" altLang="zh-CN" sz="1400" b="1" dirty="0">
              <a:latin typeface="Times New Roman" panose="02020603050405020304" pitchFamily="18" charset="0"/>
              <a:ea typeface="华文楷体" panose="02010600040101010101" pitchFamily="2" charset="-122"/>
            </a:endParaRPr>
          </a:p>
        </p:txBody>
      </p:sp>
      <p:sp>
        <p:nvSpPr>
          <p:cNvPr id="57407" name="Text Box 61"/>
          <p:cNvSpPr txBox="1">
            <a:spLocks noChangeArrowheads="1"/>
          </p:cNvSpPr>
          <p:nvPr/>
        </p:nvSpPr>
        <p:spPr bwMode="auto">
          <a:xfrm>
            <a:off x="4800600" y="5048250"/>
            <a:ext cx="6096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90</a:t>
            </a:r>
            <a:endParaRPr kumimoji="1" lang="en-US" altLang="zh-CN" sz="1400" b="1" dirty="0">
              <a:latin typeface="Times New Roman" panose="02020603050405020304" pitchFamily="18" charset="0"/>
              <a:ea typeface="华文楷体" panose="02010600040101010101" pitchFamily="2" charset="-122"/>
            </a:endParaRPr>
          </a:p>
        </p:txBody>
      </p:sp>
      <p:sp>
        <p:nvSpPr>
          <p:cNvPr id="57408" name="Text Box 62"/>
          <p:cNvSpPr txBox="1">
            <a:spLocks noChangeArrowheads="1"/>
          </p:cNvSpPr>
          <p:nvPr/>
        </p:nvSpPr>
        <p:spPr bwMode="auto">
          <a:xfrm>
            <a:off x="5486400" y="5810250"/>
            <a:ext cx="6096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100</a:t>
            </a:r>
            <a:endParaRPr kumimoji="1" lang="en-US" altLang="zh-CN" sz="1400" b="1" dirty="0">
              <a:latin typeface="Times New Roman" panose="02020603050405020304" pitchFamily="18" charset="0"/>
              <a:ea typeface="华文楷体" panose="02010600040101010101" pitchFamily="2" charset="-122"/>
            </a:endParaRPr>
          </a:p>
        </p:txBody>
      </p:sp>
      <p:sp>
        <p:nvSpPr>
          <p:cNvPr id="57409" name="Text Box 63"/>
          <p:cNvSpPr txBox="1">
            <a:spLocks noChangeArrowheads="1"/>
          </p:cNvSpPr>
          <p:nvPr/>
        </p:nvSpPr>
        <p:spPr bwMode="auto">
          <a:xfrm>
            <a:off x="4572000" y="5810250"/>
            <a:ext cx="8382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61</a:t>
            </a:r>
            <a:r>
              <a:rPr kumimoji="1" lang="zh-CN" altLang="en-US" sz="1400" b="1" dirty="0">
                <a:latin typeface="Times New Roman" panose="02020603050405020304" pitchFamily="18" charset="0"/>
                <a:ea typeface="华文楷体" panose="02010600040101010101" pitchFamily="2" charset="-122"/>
              </a:rPr>
              <a:t>，</a:t>
            </a:r>
            <a:r>
              <a:rPr kumimoji="1" lang="en-US" altLang="zh-CN" sz="1400" b="1" dirty="0">
                <a:latin typeface="Times New Roman" panose="02020603050405020304" pitchFamily="18" charset="0"/>
                <a:ea typeface="华文楷体" panose="02010600040101010101" pitchFamily="2" charset="-122"/>
              </a:rPr>
              <a:t>70</a:t>
            </a:r>
            <a:endParaRPr kumimoji="1" lang="en-US" altLang="zh-CN" sz="1400" b="1" dirty="0">
              <a:latin typeface="Times New Roman" panose="02020603050405020304" pitchFamily="18" charset="0"/>
              <a:ea typeface="华文楷体" panose="02010600040101010101" pitchFamily="2" charset="-122"/>
            </a:endParaRPr>
          </a:p>
        </p:txBody>
      </p:sp>
      <p:sp>
        <p:nvSpPr>
          <p:cNvPr id="57410" name="Line 64"/>
          <p:cNvSpPr>
            <a:spLocks noChangeShapeType="1"/>
          </p:cNvSpPr>
          <p:nvPr/>
        </p:nvSpPr>
        <p:spPr bwMode="auto">
          <a:xfrm flipH="1">
            <a:off x="4114800" y="4743450"/>
            <a:ext cx="609600" cy="30480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411" name="Line 65"/>
          <p:cNvSpPr>
            <a:spLocks noChangeShapeType="1"/>
          </p:cNvSpPr>
          <p:nvPr/>
        </p:nvSpPr>
        <p:spPr bwMode="auto">
          <a:xfrm flipH="1">
            <a:off x="3505200" y="5200650"/>
            <a:ext cx="4572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412" name="Line 66"/>
          <p:cNvSpPr>
            <a:spLocks noChangeShapeType="1"/>
          </p:cNvSpPr>
          <p:nvPr/>
        </p:nvSpPr>
        <p:spPr bwMode="auto">
          <a:xfrm>
            <a:off x="5029200" y="4667250"/>
            <a:ext cx="152400" cy="36195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413" name="Line 67"/>
          <p:cNvSpPr>
            <a:spLocks noChangeShapeType="1"/>
          </p:cNvSpPr>
          <p:nvPr/>
        </p:nvSpPr>
        <p:spPr bwMode="auto">
          <a:xfrm flipH="1">
            <a:off x="4724400" y="5200650"/>
            <a:ext cx="1524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414" name="Line 68"/>
          <p:cNvSpPr>
            <a:spLocks noChangeShapeType="1"/>
          </p:cNvSpPr>
          <p:nvPr/>
        </p:nvSpPr>
        <p:spPr bwMode="auto">
          <a:xfrm>
            <a:off x="5181600" y="5200650"/>
            <a:ext cx="381000" cy="60960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415" name="Text Box 69"/>
          <p:cNvSpPr txBox="1">
            <a:spLocks noChangeArrowheads="1"/>
          </p:cNvSpPr>
          <p:nvPr/>
        </p:nvSpPr>
        <p:spPr bwMode="auto">
          <a:xfrm>
            <a:off x="6400800" y="5829300"/>
            <a:ext cx="6858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3</a:t>
            </a:r>
            <a:r>
              <a:rPr kumimoji="1" lang="zh-CN" altLang="en-US" sz="1400" b="1" dirty="0">
                <a:latin typeface="Times New Roman" panose="02020603050405020304" pitchFamily="18" charset="0"/>
                <a:ea typeface="华文楷体" panose="02010600040101010101" pitchFamily="2" charset="-122"/>
              </a:rPr>
              <a:t>，</a:t>
            </a:r>
            <a:r>
              <a:rPr kumimoji="1" lang="en-US" altLang="zh-CN" sz="1400" b="1" dirty="0">
                <a:latin typeface="Times New Roman" panose="02020603050405020304" pitchFamily="18" charset="0"/>
                <a:ea typeface="华文楷体" panose="02010600040101010101" pitchFamily="2" charset="-122"/>
              </a:rPr>
              <a:t>24</a:t>
            </a:r>
            <a:endParaRPr kumimoji="1" lang="en-US" altLang="zh-CN" sz="1400" b="1" dirty="0">
              <a:latin typeface="Times New Roman" panose="02020603050405020304" pitchFamily="18" charset="0"/>
              <a:ea typeface="华文楷体" panose="02010600040101010101" pitchFamily="2" charset="-122"/>
            </a:endParaRPr>
          </a:p>
        </p:txBody>
      </p:sp>
      <p:sp>
        <p:nvSpPr>
          <p:cNvPr id="57416" name="Text Box 70"/>
          <p:cNvSpPr txBox="1">
            <a:spLocks noChangeArrowheads="1"/>
          </p:cNvSpPr>
          <p:nvPr/>
        </p:nvSpPr>
        <p:spPr bwMode="auto">
          <a:xfrm>
            <a:off x="7010400" y="4800600"/>
            <a:ext cx="10668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45      90</a:t>
            </a:r>
            <a:endParaRPr kumimoji="1" lang="en-US" altLang="zh-CN" sz="1400" b="1" dirty="0">
              <a:latin typeface="Times New Roman" panose="02020603050405020304" pitchFamily="18" charset="0"/>
              <a:ea typeface="华文楷体" panose="02010600040101010101" pitchFamily="2" charset="-122"/>
            </a:endParaRPr>
          </a:p>
        </p:txBody>
      </p:sp>
      <p:sp>
        <p:nvSpPr>
          <p:cNvPr id="57417" name="Text Box 71"/>
          <p:cNvSpPr txBox="1">
            <a:spLocks noChangeArrowheads="1"/>
          </p:cNvSpPr>
          <p:nvPr/>
        </p:nvSpPr>
        <p:spPr bwMode="auto">
          <a:xfrm>
            <a:off x="8458200" y="5848350"/>
            <a:ext cx="6096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100</a:t>
            </a:r>
            <a:endParaRPr kumimoji="1" lang="en-US" altLang="zh-CN" sz="1400" b="1" dirty="0">
              <a:latin typeface="Times New Roman" panose="02020603050405020304" pitchFamily="18" charset="0"/>
              <a:ea typeface="华文楷体" panose="02010600040101010101" pitchFamily="2" charset="-122"/>
            </a:endParaRPr>
          </a:p>
        </p:txBody>
      </p:sp>
      <p:sp>
        <p:nvSpPr>
          <p:cNvPr id="57418" name="Text Box 72"/>
          <p:cNvSpPr txBox="1">
            <a:spLocks noChangeArrowheads="1"/>
          </p:cNvSpPr>
          <p:nvPr/>
        </p:nvSpPr>
        <p:spPr bwMode="auto">
          <a:xfrm>
            <a:off x="7543800" y="5848350"/>
            <a:ext cx="838200" cy="307777"/>
          </a:xfrm>
          <a:prstGeom prst="rect">
            <a:avLst/>
          </a:prstGeom>
          <a:noFill/>
          <a:ln w="1905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61</a:t>
            </a:r>
            <a:r>
              <a:rPr kumimoji="1" lang="zh-CN" altLang="en-US" sz="1400" b="1" dirty="0">
                <a:latin typeface="Times New Roman" panose="02020603050405020304" pitchFamily="18" charset="0"/>
                <a:ea typeface="华文楷体" panose="02010600040101010101" pitchFamily="2" charset="-122"/>
              </a:rPr>
              <a:t>，</a:t>
            </a:r>
            <a:r>
              <a:rPr kumimoji="1" lang="en-US" altLang="zh-CN" sz="1400" b="1" dirty="0">
                <a:latin typeface="Times New Roman" panose="02020603050405020304" pitchFamily="18" charset="0"/>
                <a:ea typeface="华文楷体" panose="02010600040101010101" pitchFamily="2" charset="-122"/>
              </a:rPr>
              <a:t>70</a:t>
            </a:r>
            <a:endParaRPr kumimoji="1" lang="en-US" altLang="zh-CN" sz="1400" b="1" dirty="0">
              <a:latin typeface="Times New Roman" panose="02020603050405020304" pitchFamily="18" charset="0"/>
              <a:ea typeface="华文楷体" panose="02010600040101010101" pitchFamily="2" charset="-122"/>
            </a:endParaRPr>
          </a:p>
        </p:txBody>
      </p:sp>
      <p:sp>
        <p:nvSpPr>
          <p:cNvPr id="57419" name="Line 73"/>
          <p:cNvSpPr>
            <a:spLocks noChangeShapeType="1"/>
          </p:cNvSpPr>
          <p:nvPr/>
        </p:nvSpPr>
        <p:spPr bwMode="auto">
          <a:xfrm flipH="1">
            <a:off x="6477000" y="5029200"/>
            <a:ext cx="609600" cy="81915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420" name="Line 74"/>
          <p:cNvSpPr>
            <a:spLocks noChangeShapeType="1"/>
          </p:cNvSpPr>
          <p:nvPr/>
        </p:nvSpPr>
        <p:spPr bwMode="auto">
          <a:xfrm>
            <a:off x="7543800" y="5029200"/>
            <a:ext cx="152400" cy="81915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421" name="Line 75"/>
          <p:cNvSpPr>
            <a:spLocks noChangeShapeType="1"/>
          </p:cNvSpPr>
          <p:nvPr/>
        </p:nvSpPr>
        <p:spPr bwMode="auto">
          <a:xfrm>
            <a:off x="7924800" y="4953000"/>
            <a:ext cx="609600" cy="89535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7422" name="AutoShape 76"/>
          <p:cNvSpPr>
            <a:spLocks noChangeArrowheads="1"/>
          </p:cNvSpPr>
          <p:nvPr/>
        </p:nvSpPr>
        <p:spPr bwMode="auto">
          <a:xfrm>
            <a:off x="2819400" y="4572000"/>
            <a:ext cx="914400" cy="228600"/>
          </a:xfrm>
          <a:prstGeom prst="rightArrow">
            <a:avLst>
              <a:gd name="adj1" fmla="val 50000"/>
              <a:gd name="adj2" fmla="val 100000"/>
            </a:avLst>
          </a:prstGeom>
          <a:solidFill>
            <a:schemeClr val="accent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7423" name="AutoShape 77"/>
          <p:cNvSpPr>
            <a:spLocks noChangeArrowheads="1"/>
          </p:cNvSpPr>
          <p:nvPr/>
        </p:nvSpPr>
        <p:spPr bwMode="auto">
          <a:xfrm>
            <a:off x="5715000" y="4876800"/>
            <a:ext cx="914400" cy="228600"/>
          </a:xfrm>
          <a:prstGeom prst="rightArrow">
            <a:avLst>
              <a:gd name="adj1" fmla="val 50000"/>
              <a:gd name="adj2" fmla="val 100000"/>
            </a:avLst>
          </a:prstGeom>
          <a:solidFill>
            <a:schemeClr val="accent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57424" name="Text Box 78"/>
          <p:cNvSpPr txBox="1">
            <a:spLocks noChangeArrowheads="1"/>
          </p:cNvSpPr>
          <p:nvPr/>
        </p:nvSpPr>
        <p:spPr bwMode="auto">
          <a:xfrm>
            <a:off x="2819400" y="42672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并</a:t>
            </a:r>
            <a:endParaRPr kumimoji="1" lang="zh-CN" altLang="en-US" sz="1400" b="1" dirty="0">
              <a:latin typeface="Times New Roman" panose="02020603050405020304" pitchFamily="18" charset="0"/>
              <a:ea typeface="华文楷体" panose="02010600040101010101" pitchFamily="2" charset="-122"/>
            </a:endParaRPr>
          </a:p>
        </p:txBody>
      </p:sp>
      <p:sp>
        <p:nvSpPr>
          <p:cNvPr id="57425" name="Text Box 79"/>
          <p:cNvSpPr txBox="1">
            <a:spLocks noChangeArrowheads="1"/>
          </p:cNvSpPr>
          <p:nvPr/>
        </p:nvSpPr>
        <p:spPr bwMode="auto">
          <a:xfrm>
            <a:off x="304800" y="42672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并</a:t>
            </a:r>
            <a:endParaRPr kumimoji="1" lang="zh-CN" altLang="en-US" sz="1400" b="1" dirty="0">
              <a:latin typeface="Times New Roman" panose="02020603050405020304" pitchFamily="18" charset="0"/>
              <a:ea typeface="华文楷体" panose="02010600040101010101" pitchFamily="2" charset="-122"/>
            </a:endParaRPr>
          </a:p>
        </p:txBody>
      </p:sp>
      <p:sp>
        <p:nvSpPr>
          <p:cNvPr id="57426" name="Text Box 80"/>
          <p:cNvSpPr txBox="1">
            <a:spLocks noChangeArrowheads="1"/>
          </p:cNvSpPr>
          <p:nvPr/>
        </p:nvSpPr>
        <p:spPr bwMode="auto">
          <a:xfrm>
            <a:off x="5715000" y="45720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并</a:t>
            </a:r>
            <a:endParaRPr kumimoji="1" lang="zh-CN" altLang="en-US" sz="1400" b="1" dirty="0">
              <a:latin typeface="Times New Roman" panose="02020603050405020304" pitchFamily="18" charset="0"/>
              <a:ea typeface="华文楷体" panose="02010600040101010101" pitchFamily="2" charset="-122"/>
            </a:endParaRPr>
          </a:p>
        </p:txBody>
      </p:sp>
      <p:sp>
        <p:nvSpPr>
          <p:cNvPr id="57427" name="Text Box 81"/>
          <p:cNvSpPr txBox="1">
            <a:spLocks noChangeArrowheads="1"/>
          </p:cNvSpPr>
          <p:nvPr/>
        </p:nvSpPr>
        <p:spPr bwMode="auto">
          <a:xfrm>
            <a:off x="4572000" y="6254750"/>
            <a:ext cx="3962400" cy="527050"/>
          </a:xfrm>
          <a:prstGeom prst="rect">
            <a:avLst/>
          </a:prstGeom>
          <a:solidFill>
            <a:schemeClr val="accent1"/>
          </a:solidFill>
          <a:ln w="9525">
            <a:solidFill>
              <a:schemeClr val="fo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并：和父结点的一个关键字、及兄弟合并。有可能进行到根，使</a:t>
            </a:r>
            <a:r>
              <a:rPr kumimoji="1" lang="en-US" altLang="zh-CN" sz="1400" b="1" dirty="0">
                <a:latin typeface="Times New Roman" panose="02020603050405020304" pitchFamily="18" charset="0"/>
                <a:ea typeface="华文楷体" panose="02010600040101010101" pitchFamily="2" charset="-122"/>
              </a:rPr>
              <a:t>B-</a:t>
            </a:r>
            <a:r>
              <a:rPr kumimoji="1" lang="zh-CN" altLang="zh-CN" sz="1400" b="1" dirty="0">
                <a:latin typeface="Times New Roman" panose="02020603050405020304" pitchFamily="18" charset="0"/>
                <a:ea typeface="华文楷体" panose="02010600040101010101" pitchFamily="2" charset="-122"/>
              </a:rPr>
              <a:t>树的深度降低一层！</a:t>
            </a:r>
            <a:endParaRPr kumimoji="1" lang="zh-CN" altLang="en-US" sz="1400" b="1" dirty="0">
              <a:latin typeface="Times New Roman" panose="02020603050405020304" pitchFamily="18" charset="0"/>
              <a:ea typeface="华文楷体" panose="02010600040101010101" pitchFamily="2" charset="-122"/>
            </a:endParaRPr>
          </a:p>
        </p:txBody>
      </p:sp>
      <p:sp>
        <p:nvSpPr>
          <p:cNvPr id="57428" name="Text Box 82"/>
          <p:cNvSpPr txBox="1">
            <a:spLocks noChangeArrowheads="1"/>
          </p:cNvSpPr>
          <p:nvPr/>
        </p:nvSpPr>
        <p:spPr bwMode="auto">
          <a:xfrm>
            <a:off x="0" y="6400800"/>
            <a:ext cx="1828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假定再删除该关键字</a:t>
            </a:r>
            <a:endParaRPr kumimoji="1" lang="zh-CN" altLang="en-US" sz="1400" b="1"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5837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8373"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800000"/>
                </a:solidFill>
                <a:ea typeface="华文楷体" panose="02010600040101010101" pitchFamily="2" charset="-122"/>
              </a:rPr>
              <a:t>[B+</a:t>
            </a:r>
            <a:r>
              <a:rPr lang="zh-CN" altLang="en-US" sz="2400" b="1" dirty="0" smtClean="0">
                <a:solidFill>
                  <a:srgbClr val="800000"/>
                </a:solidFill>
                <a:ea typeface="华文楷体" panose="02010600040101010101" pitchFamily="2" charset="-122"/>
              </a:rPr>
              <a:t>树</a:t>
            </a:r>
            <a:r>
              <a:rPr lang="en-US" altLang="zh-CN" sz="2400" b="1" dirty="0" smtClean="0">
                <a:solidFill>
                  <a:srgbClr val="800000"/>
                </a:solidFill>
                <a:ea typeface="华文楷体" panose="02010600040101010101" pitchFamily="2" charset="-122"/>
              </a:rPr>
              <a:t>]</a:t>
            </a:r>
            <a:endParaRPr lang="en-US" altLang="zh-CN" sz="2400" b="1" dirty="0" smtClean="0">
              <a:solidFill>
                <a:srgbClr val="800000"/>
              </a:solidFill>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B+</a:t>
            </a:r>
            <a:r>
              <a:rPr lang="zh-CN" altLang="en-US" sz="2400" dirty="0" smtClean="0">
                <a:ea typeface="华文楷体" panose="02010600040101010101" pitchFamily="2" charset="-122"/>
              </a:rPr>
              <a:t>树是一种</a:t>
            </a:r>
            <a:r>
              <a:rPr lang="en-US" altLang="zh-CN" sz="2400" dirty="0" smtClean="0">
                <a:ea typeface="华文楷体" panose="02010600040101010101" pitchFamily="2" charset="-122"/>
              </a:rPr>
              <a:t>B-</a:t>
            </a:r>
            <a:r>
              <a:rPr lang="zh-CN" altLang="en-US" sz="2400" dirty="0" smtClean="0">
                <a:ea typeface="华文楷体" panose="02010600040101010101" pitchFamily="2" charset="-122"/>
              </a:rPr>
              <a:t>树的变形树。应用于索引顺序文件系统。</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zh-CN" altLang="en-US" sz="2400" b="1"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rgbClr val="800000"/>
                </a:solidFill>
                <a:ea typeface="华文楷体" panose="02010600040101010101" pitchFamily="2" charset="-122"/>
              </a:rPr>
              <a:t>1. m</a:t>
            </a:r>
            <a:r>
              <a:rPr lang="zh-CN" altLang="zh-CN" sz="2400" b="1" dirty="0" smtClean="0">
                <a:solidFill>
                  <a:srgbClr val="800000"/>
                </a:solidFill>
                <a:ea typeface="华文楷体" panose="02010600040101010101" pitchFamily="2" charset="-122"/>
              </a:rPr>
              <a:t>阶</a:t>
            </a:r>
            <a:r>
              <a:rPr lang="en-US" altLang="zh-CN" sz="2400" b="1" dirty="0" smtClean="0">
                <a:solidFill>
                  <a:srgbClr val="800000"/>
                </a:solidFill>
                <a:ea typeface="华文楷体" panose="02010600040101010101" pitchFamily="2" charset="-122"/>
              </a:rPr>
              <a:t>B</a:t>
            </a:r>
            <a:r>
              <a:rPr lang="en-US" altLang="zh-CN" sz="2400" b="1" baseline="30000" dirty="0" smtClean="0">
                <a:solidFill>
                  <a:srgbClr val="800000"/>
                </a:solidFill>
                <a:ea typeface="华文楷体" panose="02010600040101010101" pitchFamily="2" charset="-122"/>
              </a:rPr>
              <a:t>+</a:t>
            </a:r>
            <a:r>
              <a:rPr lang="en-US" altLang="zh-CN" sz="2400" b="1" dirty="0" smtClean="0">
                <a:solidFill>
                  <a:srgbClr val="800000"/>
                </a:solidFill>
                <a:ea typeface="华文楷体" panose="02010600040101010101" pitchFamily="2" charset="-122"/>
              </a:rPr>
              <a:t> </a:t>
            </a:r>
            <a:r>
              <a:rPr lang="zh-CN" altLang="en-US" sz="2400" b="1" dirty="0" smtClean="0">
                <a:solidFill>
                  <a:srgbClr val="800000"/>
                </a:solidFill>
                <a:ea typeface="华文楷体" panose="02010600040101010101" pitchFamily="2" charset="-122"/>
              </a:rPr>
              <a:t>树与 </a:t>
            </a:r>
            <a:r>
              <a:rPr lang="en-US" altLang="zh-CN" sz="2400" b="1" dirty="0" smtClean="0">
                <a:solidFill>
                  <a:srgbClr val="800000"/>
                </a:solidFill>
                <a:ea typeface="华文楷体" panose="02010600040101010101" pitchFamily="2" charset="-122"/>
              </a:rPr>
              <a:t>B-</a:t>
            </a:r>
            <a:r>
              <a:rPr lang="zh-CN" altLang="en-US" sz="2400" b="1" dirty="0" smtClean="0">
                <a:solidFill>
                  <a:srgbClr val="800000"/>
                </a:solidFill>
                <a:ea typeface="华文楷体" panose="02010600040101010101" pitchFamily="2" charset="-122"/>
              </a:rPr>
              <a:t>树的不同之处</a:t>
            </a:r>
            <a:endParaRPr lang="zh-CN" altLang="en-US" sz="2400" b="1" dirty="0" smtClean="0">
              <a:solidFill>
                <a:srgbClr val="800000"/>
              </a:solidFill>
              <a:ea typeface="华文楷体" panose="02010600040101010101" pitchFamily="2" charset="-122"/>
            </a:endParaRPr>
          </a:p>
          <a:p>
            <a:pPr eaLnBrk="1" hangingPunct="1">
              <a:buFont typeface="Wingdings" panose="05000000000000000000" pitchFamily="2" charset="2"/>
              <a:buNone/>
            </a:pPr>
            <a:r>
              <a:rPr lang="en-US" altLang="zh-CN" sz="2400" b="1" dirty="0" smtClean="0">
                <a:ea typeface="华文楷体" panose="02010600040101010101" pitchFamily="2" charset="-122"/>
              </a:rPr>
              <a:t>1)</a:t>
            </a:r>
            <a:r>
              <a:rPr lang="zh-CN" altLang="en-US" sz="2400" dirty="0" smtClean="0">
                <a:ea typeface="华文楷体" panose="02010600040101010101" pitchFamily="2" charset="-122"/>
              </a:rPr>
              <a:t>有 </a:t>
            </a:r>
            <a:r>
              <a:rPr lang="en-US" altLang="zh-CN" sz="2400" dirty="0" smtClean="0">
                <a:ea typeface="华文楷体" panose="02010600040101010101" pitchFamily="2" charset="-122"/>
              </a:rPr>
              <a:t>n </a:t>
            </a:r>
            <a:r>
              <a:rPr lang="zh-CN" altLang="en-US" sz="2400" dirty="0" smtClean="0">
                <a:ea typeface="华文楷体" panose="02010600040101010101" pitchFamily="2" charset="-122"/>
              </a:rPr>
              <a:t>棵子树的结点中有 </a:t>
            </a:r>
            <a:r>
              <a:rPr lang="en-US" altLang="zh-CN" sz="2400" dirty="0" smtClean="0">
                <a:ea typeface="华文楷体" panose="02010600040101010101" pitchFamily="2" charset="-122"/>
              </a:rPr>
              <a:t>n </a:t>
            </a:r>
            <a:r>
              <a:rPr lang="zh-CN" altLang="en-US" sz="2400" dirty="0" smtClean="0">
                <a:ea typeface="华文楷体" panose="02010600040101010101" pitchFamily="2" charset="-122"/>
              </a:rPr>
              <a:t>个关键字；</a:t>
            </a:r>
            <a:endParaRPr lang="zh-CN" altLang="en-US" sz="2400" dirty="0" smtClean="0">
              <a:ea typeface="华文楷体" panose="02010600040101010101" pitchFamily="2" charset="-122"/>
            </a:endParaRPr>
          </a:p>
          <a:p>
            <a:pPr eaLnBrk="1" hangingPunct="1">
              <a:spcBef>
                <a:spcPct val="50000"/>
              </a:spcBef>
              <a:buFont typeface="Wingdings" panose="05000000000000000000" pitchFamily="2" charset="2"/>
              <a:buNone/>
            </a:pPr>
            <a:r>
              <a:rPr lang="en-US" altLang="zh-CN" sz="2400" b="1" dirty="0" smtClean="0">
                <a:ea typeface="华文楷体" panose="02010600040101010101" pitchFamily="2" charset="-122"/>
              </a:rPr>
              <a:t>2)</a:t>
            </a:r>
            <a:r>
              <a:rPr lang="zh-CN" altLang="en-US" sz="2400" dirty="0" smtClean="0">
                <a:ea typeface="华文楷体" panose="02010600040101010101" pitchFamily="2" charset="-122"/>
              </a:rPr>
              <a:t>非叶结点可以看成是索引部分   </a:t>
            </a:r>
            <a:r>
              <a:rPr lang="zh-CN" altLang="en-US" sz="2400" b="1" dirty="0" smtClean="0">
                <a:solidFill>
                  <a:srgbClr val="FF3300"/>
                </a:solidFill>
                <a:ea typeface="华文楷体" panose="02010600040101010101" pitchFamily="2" charset="-122"/>
              </a:rPr>
              <a:t>索引集</a:t>
            </a:r>
            <a:endParaRPr lang="zh-CN" altLang="en-US" sz="2400" b="1" dirty="0" smtClean="0">
              <a:ea typeface="华文楷体" panose="02010600040101010101" pitchFamily="2" charset="-122"/>
            </a:endParaRPr>
          </a:p>
          <a:p>
            <a:pPr lvl="2" eaLnBrk="1" hangingPunct="1">
              <a:buFontTx/>
              <a:buNone/>
            </a:pPr>
            <a:r>
              <a:rPr lang="en-US" altLang="zh-CN" dirty="0" smtClean="0">
                <a:ea typeface="华文楷体" panose="02010600040101010101" pitchFamily="2" charset="-122"/>
              </a:rPr>
              <a:t>A</a:t>
            </a:r>
            <a:r>
              <a:rPr lang="en-US" altLang="zh-CN" baseline="-25000" dirty="0" smtClean="0">
                <a:ea typeface="华文楷体" panose="02010600040101010101" pitchFamily="2" charset="-122"/>
              </a:rPr>
              <a:t>i</a:t>
            </a:r>
            <a:r>
              <a:rPr lang="en-US" altLang="zh-CN" dirty="0" smtClean="0">
                <a:ea typeface="华文楷体" panose="02010600040101010101" pitchFamily="2" charset="-122"/>
              </a:rPr>
              <a:t> </a:t>
            </a:r>
            <a:r>
              <a:rPr lang="zh-CN" altLang="en-US" dirty="0" smtClean="0">
                <a:ea typeface="华文楷体" panose="02010600040101010101" pitchFamily="2" charset="-122"/>
              </a:rPr>
              <a:t>：第</a:t>
            </a:r>
            <a:r>
              <a:rPr lang="en-US" altLang="zh-CN" dirty="0" err="1" smtClean="0">
                <a:ea typeface="华文楷体" panose="02010600040101010101" pitchFamily="2" charset="-122"/>
              </a:rPr>
              <a:t>i</a:t>
            </a:r>
            <a:r>
              <a:rPr lang="zh-CN" altLang="en-US" dirty="0" smtClean="0">
                <a:ea typeface="华文楷体" panose="02010600040101010101" pitchFamily="2" charset="-122"/>
              </a:rPr>
              <a:t>个子结点的指针</a:t>
            </a:r>
            <a:endParaRPr lang="zh-CN" altLang="en-US" dirty="0" smtClean="0">
              <a:ea typeface="华文楷体" panose="02010600040101010101" pitchFamily="2" charset="-122"/>
            </a:endParaRPr>
          </a:p>
          <a:p>
            <a:pPr lvl="2" eaLnBrk="1" hangingPunct="1">
              <a:buFontTx/>
              <a:buNone/>
            </a:pPr>
            <a:r>
              <a:rPr lang="en-US" altLang="zh-CN" dirty="0" smtClean="0">
                <a:ea typeface="华文楷体" panose="02010600040101010101" pitchFamily="2" charset="-122"/>
              </a:rPr>
              <a:t>K</a:t>
            </a:r>
            <a:r>
              <a:rPr lang="en-US" altLang="zh-CN" baseline="-25000" dirty="0" smtClean="0">
                <a:ea typeface="华文楷体" panose="02010600040101010101" pitchFamily="2" charset="-122"/>
              </a:rPr>
              <a:t>i</a:t>
            </a:r>
            <a:r>
              <a:rPr lang="en-US" altLang="zh-CN" dirty="0" smtClean="0">
                <a:ea typeface="华文楷体" panose="02010600040101010101" pitchFamily="2" charset="-122"/>
              </a:rPr>
              <a:t> </a:t>
            </a:r>
            <a:r>
              <a:rPr lang="zh-CN" altLang="en-US" dirty="0" smtClean="0">
                <a:ea typeface="华文楷体" panose="02010600040101010101" pitchFamily="2" charset="-122"/>
              </a:rPr>
              <a:t>：第</a:t>
            </a:r>
            <a:r>
              <a:rPr lang="en-US" altLang="zh-CN" dirty="0" err="1" smtClean="0">
                <a:ea typeface="华文楷体" panose="02010600040101010101" pitchFamily="2" charset="-122"/>
              </a:rPr>
              <a:t>i</a:t>
            </a:r>
            <a:r>
              <a:rPr lang="zh-CN" altLang="en-US" dirty="0" smtClean="0">
                <a:ea typeface="华文楷体" panose="02010600040101010101" pitchFamily="2" charset="-122"/>
              </a:rPr>
              <a:t>个子结点的最大（或最小）关键字</a:t>
            </a:r>
            <a:endParaRPr lang="zh-CN" altLang="en-US" dirty="0" smtClean="0">
              <a:ea typeface="华文楷体" panose="02010600040101010101" pitchFamily="2" charset="-122"/>
            </a:endParaRPr>
          </a:p>
          <a:p>
            <a:pPr eaLnBrk="1" hangingPunct="1">
              <a:spcBef>
                <a:spcPct val="50000"/>
              </a:spcBef>
              <a:buFont typeface="Wingdings" panose="05000000000000000000" pitchFamily="2" charset="2"/>
              <a:buNone/>
            </a:pPr>
            <a:r>
              <a:rPr lang="en-US" altLang="zh-CN" sz="2400" b="1" dirty="0" smtClean="0">
                <a:ea typeface="华文楷体" panose="02010600040101010101" pitchFamily="2" charset="-122"/>
              </a:rPr>
              <a:t>3)</a:t>
            </a:r>
            <a:r>
              <a:rPr lang="zh-CN" altLang="en-US" sz="2400" dirty="0" smtClean="0">
                <a:ea typeface="华文楷体" panose="02010600040101010101" pitchFamily="2" charset="-122"/>
              </a:rPr>
              <a:t>所有叶子结点中包含了全部关键字的信息及指向这些关键字记录的指针，且叶子结点以关键字大小自小至大顺序链接；</a:t>
            </a:r>
            <a:r>
              <a:rPr lang="zh-CN" altLang="en-US" sz="2400" b="1" dirty="0" smtClean="0">
                <a:solidFill>
                  <a:srgbClr val="FF3300"/>
                </a:solidFill>
                <a:ea typeface="华文楷体" panose="02010600040101010101" pitchFamily="2" charset="-122"/>
              </a:rPr>
              <a:t>数据集</a:t>
            </a:r>
            <a:endParaRPr lang="zh-CN" altLang="en-US" sz="2400" b="1" dirty="0" smtClean="0">
              <a:solidFill>
                <a:srgbClr val="FF3300"/>
              </a:solidFill>
              <a:ea typeface="华文楷体" panose="02010600040101010101" pitchFamily="2" charset="-122"/>
            </a:endParaRPr>
          </a:p>
          <a:p>
            <a:pPr eaLnBrk="1" hangingPunct="1">
              <a:buFont typeface="Wingdings" panose="05000000000000000000" pitchFamily="2" charset="2"/>
              <a:buNone/>
            </a:pPr>
            <a:endParaRPr lang="en-US" altLang="zh-CN" sz="2400" b="1" dirty="0" smtClean="0">
              <a:solidFill>
                <a:srgbClr val="800000"/>
              </a:solidFill>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页脚占位符 3"/>
          <p:cNvSpPr>
            <a:spLocks noGrp="1"/>
          </p:cNvSpPr>
          <p:nvPr>
            <p:ph type="ftr" sz="quarter" idx="10"/>
          </p:nvPr>
        </p:nvSpPr>
        <p:spPr/>
        <p:txBody>
          <a:bodyPr/>
          <a:lstStyle/>
          <a:p>
            <a:pPr>
              <a:defRPr/>
            </a:pPr>
            <a:r>
              <a:rPr lang="en-US" altLang="zh-CN"/>
              <a:t>BUPT SCST</a:t>
            </a:r>
            <a:endParaRPr lang="en-US" altLang="zh-CN"/>
          </a:p>
        </p:txBody>
      </p:sp>
      <p:sp>
        <p:nvSpPr>
          <p:cNvPr id="42" name="日期占位符 5"/>
          <p:cNvSpPr>
            <a:spLocks noGrp="1"/>
          </p:cNvSpPr>
          <p:nvPr>
            <p:ph type="dt" sz="quarter" idx="12"/>
          </p:nvPr>
        </p:nvSpPr>
        <p:spPr/>
        <p:txBody>
          <a:bodyPr/>
          <a:lstStyle/>
          <a:p>
            <a:pPr>
              <a:defRPr/>
            </a:pPr>
            <a:r>
              <a:rPr lang="en-US" altLang="zh-CN"/>
              <a:t>BUPT</a:t>
            </a:r>
            <a:endParaRPr lang="en-US" altLang="zh-CN"/>
          </a:p>
        </p:txBody>
      </p:sp>
      <p:sp>
        <p:nvSpPr>
          <p:cNvPr id="5939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59397"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FF0066"/>
                </a:solidFill>
                <a:ea typeface="华文楷体" panose="02010600040101010101" pitchFamily="2" charset="-122"/>
              </a:rPr>
              <a:t>[</a:t>
            </a:r>
            <a:r>
              <a:rPr lang="zh-CN" altLang="en-US" sz="2400" b="1" dirty="0" smtClean="0">
                <a:solidFill>
                  <a:srgbClr val="FF0066"/>
                </a:solidFill>
                <a:ea typeface="华文楷体" panose="02010600040101010101" pitchFamily="2" charset="-122"/>
              </a:rPr>
              <a:t>结点结构</a:t>
            </a:r>
            <a:r>
              <a:rPr lang="en-US" altLang="zh-CN" sz="2400" b="1" dirty="0" smtClean="0">
                <a:solidFill>
                  <a:srgbClr val="FF0066"/>
                </a:solidFill>
                <a:ea typeface="华文楷体" panose="02010600040101010101" pitchFamily="2" charset="-122"/>
              </a:rPr>
              <a:t>]</a:t>
            </a:r>
            <a:endParaRPr lang="en-US" altLang="zh-CN" sz="2400" b="1" dirty="0" smtClean="0">
              <a:solidFill>
                <a:srgbClr val="FF0066"/>
              </a:solidFill>
              <a:ea typeface="华文楷体" panose="02010600040101010101" pitchFamily="2" charset="-122"/>
            </a:endParaRPr>
          </a:p>
          <a:p>
            <a:pPr lvl="1" eaLnBrk="1" hangingPunct="1"/>
            <a:r>
              <a:rPr lang="zh-CN" altLang="en-US" sz="2400" dirty="0" smtClean="0">
                <a:ea typeface="华文楷体" panose="02010600040101010101" pitchFamily="2" charset="-122"/>
              </a:rPr>
              <a:t>非叶结点  </a:t>
            </a:r>
            <a:r>
              <a:rPr lang="en-US" altLang="zh-CN" sz="2400" dirty="0" smtClean="0">
                <a:ea typeface="华文楷体" panose="02010600040101010101" pitchFamily="2" charset="-122"/>
              </a:rPr>
              <a:t>( </a:t>
            </a:r>
            <a:r>
              <a:rPr lang="en-US" altLang="zh-CN" sz="2400" dirty="0" smtClean="0">
                <a:solidFill>
                  <a:schemeClr val="accent2"/>
                </a:solidFill>
                <a:ea typeface="华文楷体" panose="02010600040101010101" pitchFamily="2" charset="-122"/>
              </a:rPr>
              <a:t>A</a:t>
            </a:r>
            <a:r>
              <a:rPr lang="en-US" altLang="zh-CN" sz="2400" baseline="-25000" dirty="0" smtClean="0">
                <a:solidFill>
                  <a:schemeClr val="accent2"/>
                </a:solidFill>
                <a:ea typeface="华文楷体" panose="02010600040101010101" pitchFamily="2" charset="-122"/>
              </a:rPr>
              <a:t>1</a:t>
            </a:r>
            <a:r>
              <a:rPr lang="en-US" altLang="zh-CN" sz="2400" dirty="0" smtClean="0">
                <a:ea typeface="华文楷体" panose="02010600040101010101" pitchFamily="2" charset="-122"/>
              </a:rPr>
              <a:t>, K</a:t>
            </a:r>
            <a:r>
              <a:rPr lang="en-US" altLang="zh-CN" sz="2400" baseline="-25000" dirty="0" smtClean="0">
                <a:ea typeface="华文楷体" panose="02010600040101010101" pitchFamily="2" charset="-122"/>
              </a:rPr>
              <a:t>1</a:t>
            </a:r>
            <a:r>
              <a:rPr lang="en-US" altLang="zh-CN" sz="2400" dirty="0" smtClean="0">
                <a:ea typeface="华文楷体" panose="02010600040101010101" pitchFamily="2" charset="-122"/>
              </a:rPr>
              <a:t>, ...,</a:t>
            </a:r>
            <a:r>
              <a:rPr lang="en-US" altLang="zh-CN" sz="2400" dirty="0" smtClean="0">
                <a:solidFill>
                  <a:schemeClr val="accent2"/>
                </a:solidFill>
                <a:ea typeface="华文楷体" panose="02010600040101010101" pitchFamily="2" charset="-122"/>
              </a:rPr>
              <a:t>A</a:t>
            </a:r>
            <a:r>
              <a:rPr lang="en-US" altLang="zh-CN" sz="2400" baseline="-25000" dirty="0" smtClean="0">
                <a:solidFill>
                  <a:schemeClr val="accent2"/>
                </a:solidFill>
                <a:ea typeface="华文楷体" panose="02010600040101010101" pitchFamily="2" charset="-122"/>
              </a:rPr>
              <a:t>i</a:t>
            </a:r>
            <a:r>
              <a:rPr lang="en-US" altLang="zh-CN" sz="2400" dirty="0" smtClean="0">
                <a:ea typeface="华文楷体" panose="02010600040101010101" pitchFamily="2" charset="-122"/>
              </a:rPr>
              <a:t>, K</a:t>
            </a:r>
            <a:r>
              <a:rPr lang="en-US" altLang="zh-CN" sz="2400" baseline="-25000" dirty="0" smtClean="0">
                <a:ea typeface="华文楷体" panose="02010600040101010101" pitchFamily="2" charset="-122"/>
              </a:rPr>
              <a:t>i</a:t>
            </a:r>
            <a:r>
              <a:rPr lang="en-US" altLang="zh-CN" sz="2400" dirty="0" smtClean="0">
                <a:ea typeface="华文楷体" panose="02010600040101010101" pitchFamily="2" charset="-122"/>
              </a:rPr>
              <a:t>, ..., </a:t>
            </a:r>
            <a:r>
              <a:rPr lang="en-US" altLang="zh-CN" sz="2400" dirty="0" err="1" smtClean="0">
                <a:solidFill>
                  <a:schemeClr val="accent2"/>
                </a:solidFill>
                <a:ea typeface="华文楷体" panose="02010600040101010101" pitchFamily="2" charset="-122"/>
              </a:rPr>
              <a:t>A</a:t>
            </a:r>
            <a:r>
              <a:rPr lang="en-US" altLang="zh-CN" sz="2400" baseline="-25000" dirty="0" err="1" smtClean="0">
                <a:solidFill>
                  <a:schemeClr val="accent2"/>
                </a:solidFill>
                <a:ea typeface="华文楷体" panose="02010600040101010101" pitchFamily="2" charset="-122"/>
              </a:rPr>
              <a:t>n</a:t>
            </a:r>
            <a:r>
              <a:rPr lang="en-US" altLang="zh-CN" sz="2400" dirty="0" err="1" smtClean="0">
                <a:ea typeface="华文楷体" panose="02010600040101010101" pitchFamily="2" charset="-122"/>
              </a:rPr>
              <a:t>,K</a:t>
            </a:r>
            <a:r>
              <a:rPr lang="en-US" altLang="zh-CN" sz="2400" baseline="-25000" dirty="0" err="1" smtClean="0">
                <a:ea typeface="华文楷体" panose="02010600040101010101" pitchFamily="2" charset="-122"/>
              </a:rPr>
              <a:t>n</a:t>
            </a:r>
            <a:r>
              <a:rPr lang="en-US" altLang="zh-CN" sz="2400" dirty="0" smtClean="0">
                <a:ea typeface="华文楷体" panose="02010600040101010101" pitchFamily="2" charset="-122"/>
              </a:rPr>
              <a:t>)  </a:t>
            </a:r>
            <a:r>
              <a:rPr lang="zh-CN" altLang="en-US" sz="2400" dirty="0" smtClean="0">
                <a:solidFill>
                  <a:srgbClr val="FF3300"/>
                </a:solidFill>
                <a:ea typeface="华文楷体" panose="02010600040101010101" pitchFamily="2" charset="-122"/>
              </a:rPr>
              <a:t>索引集</a:t>
            </a:r>
            <a:endParaRPr lang="zh-CN" altLang="en-US" sz="2400" dirty="0" smtClean="0">
              <a:ea typeface="华文楷体" panose="02010600040101010101" pitchFamily="2" charset="-122"/>
            </a:endParaRPr>
          </a:p>
          <a:p>
            <a:pPr lvl="3" eaLnBrk="1" hangingPunct="1">
              <a:buFontTx/>
              <a:buNone/>
            </a:pPr>
            <a:r>
              <a:rPr lang="en-US" altLang="zh-CN" sz="2400" dirty="0" smtClean="0">
                <a:ea typeface="华文楷体" panose="02010600040101010101" pitchFamily="2" charset="-122"/>
              </a:rPr>
              <a:t>A</a:t>
            </a:r>
            <a:r>
              <a:rPr lang="en-US" altLang="zh-CN" sz="2400" baseline="-25000" dirty="0" smtClean="0">
                <a:ea typeface="华文楷体" panose="02010600040101010101" pitchFamily="2" charset="-122"/>
              </a:rPr>
              <a:t>i</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：第</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个子结点的指针</a:t>
            </a:r>
            <a:endParaRPr lang="zh-CN" altLang="en-US" sz="2400" dirty="0" smtClean="0">
              <a:ea typeface="华文楷体" panose="02010600040101010101" pitchFamily="2" charset="-122"/>
            </a:endParaRPr>
          </a:p>
          <a:p>
            <a:pPr lvl="3" eaLnBrk="1" hangingPunct="1">
              <a:buFontTx/>
              <a:buNone/>
            </a:pPr>
            <a:r>
              <a:rPr lang="en-US" altLang="zh-CN" sz="2400" dirty="0" smtClean="0">
                <a:ea typeface="华文楷体" panose="02010600040101010101" pitchFamily="2" charset="-122"/>
              </a:rPr>
              <a:t>K</a:t>
            </a:r>
            <a:r>
              <a:rPr lang="en-US" altLang="zh-CN" sz="2400" baseline="-25000" dirty="0" smtClean="0">
                <a:ea typeface="华文楷体" panose="02010600040101010101" pitchFamily="2" charset="-122"/>
              </a:rPr>
              <a:t>i</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：第</a:t>
            </a:r>
            <a:r>
              <a:rPr lang="en-US" altLang="zh-CN" sz="2400" dirty="0" err="1" smtClean="0">
                <a:ea typeface="华文楷体" panose="02010600040101010101" pitchFamily="2" charset="-122"/>
              </a:rPr>
              <a:t>i</a:t>
            </a:r>
            <a:r>
              <a:rPr lang="zh-CN" altLang="en-US" sz="2400" dirty="0" smtClean="0">
                <a:ea typeface="华文楷体" panose="02010600040101010101" pitchFamily="2" charset="-122"/>
              </a:rPr>
              <a:t>个子结点的最大（或最小）关键字</a:t>
            </a:r>
            <a:endParaRPr lang="zh-CN" altLang="en-US" sz="2400" dirty="0" smtClean="0">
              <a:ea typeface="华文楷体" panose="02010600040101010101" pitchFamily="2" charset="-122"/>
            </a:endParaRPr>
          </a:p>
          <a:p>
            <a:pPr lvl="1" eaLnBrk="1" hangingPunct="1"/>
            <a:r>
              <a:rPr lang="zh-CN" altLang="en-US" sz="2400" dirty="0" smtClean="0">
                <a:ea typeface="华文楷体" panose="02010600040101010101" pitchFamily="2" charset="-122"/>
              </a:rPr>
              <a:t>叶结点  </a:t>
            </a:r>
            <a:endParaRPr lang="zh-CN" altLang="en-US" sz="2400" dirty="0" smtClean="0">
              <a:ea typeface="华文楷体" panose="02010600040101010101" pitchFamily="2" charset="-122"/>
            </a:endParaRPr>
          </a:p>
          <a:p>
            <a:pPr lvl="1" eaLnBrk="1" hangingPunct="1">
              <a:buFont typeface="Wingdings" panose="05000000000000000000" pitchFamily="2" charset="2"/>
              <a:buNone/>
            </a:pPr>
            <a:r>
              <a:rPr lang="zh-CN" altLang="en-US" sz="2400" dirty="0" smtClean="0">
                <a:ea typeface="华文楷体" panose="02010600040101010101" pitchFamily="2" charset="-122"/>
              </a:rPr>
              <a:t>    全部关键字及指向关键字记录的指针    </a:t>
            </a:r>
            <a:r>
              <a:rPr lang="zh-CN" altLang="en-US" sz="2400" dirty="0" smtClean="0">
                <a:solidFill>
                  <a:srgbClr val="FF3300"/>
                </a:solidFill>
                <a:ea typeface="华文楷体" panose="02010600040101010101" pitchFamily="2" charset="-122"/>
              </a:rPr>
              <a:t>数据集</a:t>
            </a:r>
            <a:endParaRPr lang="zh-CN" altLang="en-US" sz="2400" dirty="0" smtClean="0">
              <a:ea typeface="华文楷体" panose="02010600040101010101" pitchFamily="2" charset="-122"/>
            </a:endParaRPr>
          </a:p>
          <a:p>
            <a:pPr eaLnBrk="1" hangingPunct="1">
              <a:buFont typeface="Wingdings" panose="05000000000000000000" pitchFamily="2" charset="2"/>
              <a:buNone/>
            </a:pPr>
            <a:endParaRPr lang="en-US" altLang="zh-CN" sz="2400" dirty="0" smtClean="0">
              <a:ea typeface="华文楷体" panose="02010600040101010101" pitchFamily="2" charset="-122"/>
            </a:endParaRPr>
          </a:p>
        </p:txBody>
      </p:sp>
      <p:sp>
        <p:nvSpPr>
          <p:cNvPr id="59398" name="Text Box 4"/>
          <p:cNvSpPr txBox="1">
            <a:spLocks noChangeArrowheads="1"/>
          </p:cNvSpPr>
          <p:nvPr/>
        </p:nvSpPr>
        <p:spPr bwMode="auto">
          <a:xfrm>
            <a:off x="914400" y="5791200"/>
            <a:ext cx="1066800" cy="3762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1800">
                <a:latin typeface="Times New Roman" panose="02020603050405020304" pitchFamily="18" charset="0"/>
                <a:ea typeface="黑体" panose="02010609060101010101" pitchFamily="49" charset="-122"/>
              </a:rPr>
              <a:t>2  15  33</a:t>
            </a:r>
            <a:endParaRPr kumimoji="1" lang="en-US" altLang="zh-CN" sz="1800">
              <a:latin typeface="Times New Roman" panose="02020603050405020304" pitchFamily="18" charset="0"/>
              <a:ea typeface="黑体" panose="02010609060101010101" pitchFamily="49" charset="-122"/>
            </a:endParaRPr>
          </a:p>
        </p:txBody>
      </p:sp>
      <p:sp>
        <p:nvSpPr>
          <p:cNvPr id="59399" name="Text Box 5"/>
          <p:cNvSpPr txBox="1">
            <a:spLocks noChangeArrowheads="1"/>
          </p:cNvSpPr>
          <p:nvPr/>
        </p:nvSpPr>
        <p:spPr bwMode="auto">
          <a:xfrm>
            <a:off x="2133600" y="5791200"/>
            <a:ext cx="1752600" cy="3762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1800">
                <a:latin typeface="Times New Roman" panose="02020603050405020304" pitchFamily="18" charset="0"/>
                <a:ea typeface="黑体" panose="02010609060101010101" pitchFamily="49" charset="-122"/>
              </a:rPr>
              <a:t>4  40  47  58  67</a:t>
            </a:r>
            <a:endParaRPr kumimoji="1" lang="en-US" altLang="zh-CN" sz="1800">
              <a:latin typeface="Times New Roman" panose="02020603050405020304" pitchFamily="18" charset="0"/>
              <a:ea typeface="黑体" panose="02010609060101010101" pitchFamily="49" charset="-122"/>
            </a:endParaRPr>
          </a:p>
        </p:txBody>
      </p:sp>
      <p:sp>
        <p:nvSpPr>
          <p:cNvPr id="59400" name="Text Box 6"/>
          <p:cNvSpPr txBox="1">
            <a:spLocks noChangeArrowheads="1"/>
          </p:cNvSpPr>
          <p:nvPr/>
        </p:nvSpPr>
        <p:spPr bwMode="auto">
          <a:xfrm>
            <a:off x="4038600" y="5791200"/>
            <a:ext cx="1066800" cy="3762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1800">
                <a:latin typeface="Times New Roman" panose="02020603050405020304" pitchFamily="18" charset="0"/>
                <a:ea typeface="黑体" panose="02010609060101010101" pitchFamily="49" charset="-122"/>
              </a:rPr>
              <a:t>2  79  85</a:t>
            </a:r>
            <a:endParaRPr kumimoji="1" lang="en-US" altLang="zh-CN" sz="1800">
              <a:latin typeface="Times New Roman" panose="02020603050405020304" pitchFamily="18" charset="0"/>
              <a:ea typeface="黑体" panose="02010609060101010101" pitchFamily="49" charset="-122"/>
            </a:endParaRPr>
          </a:p>
        </p:txBody>
      </p:sp>
      <p:sp>
        <p:nvSpPr>
          <p:cNvPr id="59401" name="Text Box 7"/>
          <p:cNvSpPr txBox="1">
            <a:spLocks noChangeArrowheads="1"/>
          </p:cNvSpPr>
          <p:nvPr/>
        </p:nvSpPr>
        <p:spPr bwMode="auto">
          <a:xfrm>
            <a:off x="5257800" y="5791200"/>
            <a:ext cx="1676400" cy="3762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1800">
                <a:latin typeface="Times New Roman" panose="02020603050405020304" pitchFamily="18" charset="0"/>
                <a:ea typeface="黑体" panose="02010609060101010101" pitchFamily="49" charset="-122"/>
              </a:rPr>
              <a:t>3   90  96   105</a:t>
            </a:r>
            <a:endParaRPr kumimoji="1" lang="en-US" altLang="zh-CN" sz="1800">
              <a:latin typeface="Times New Roman" panose="02020603050405020304" pitchFamily="18" charset="0"/>
              <a:ea typeface="黑体" panose="02010609060101010101" pitchFamily="49" charset="-122"/>
            </a:endParaRPr>
          </a:p>
        </p:txBody>
      </p:sp>
      <p:sp>
        <p:nvSpPr>
          <p:cNvPr id="59402" name="Text Box 8"/>
          <p:cNvSpPr txBox="1">
            <a:spLocks noChangeArrowheads="1"/>
          </p:cNvSpPr>
          <p:nvPr/>
        </p:nvSpPr>
        <p:spPr bwMode="auto">
          <a:xfrm>
            <a:off x="3505200" y="4343400"/>
            <a:ext cx="1219200" cy="3762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1800">
                <a:latin typeface="Times New Roman" panose="02020603050405020304" pitchFamily="18" charset="0"/>
                <a:ea typeface="黑体" panose="02010609060101010101" pitchFamily="49" charset="-122"/>
              </a:rPr>
              <a:t>2   85  132</a:t>
            </a:r>
            <a:endParaRPr kumimoji="1" lang="en-US" altLang="zh-CN" sz="1800">
              <a:latin typeface="Times New Roman" panose="02020603050405020304" pitchFamily="18" charset="0"/>
              <a:ea typeface="黑体" panose="02010609060101010101" pitchFamily="49" charset="-122"/>
            </a:endParaRPr>
          </a:p>
        </p:txBody>
      </p:sp>
      <p:sp>
        <p:nvSpPr>
          <p:cNvPr id="59403" name="Text Box 9"/>
          <p:cNvSpPr txBox="1">
            <a:spLocks noChangeArrowheads="1"/>
          </p:cNvSpPr>
          <p:nvPr/>
        </p:nvSpPr>
        <p:spPr bwMode="auto">
          <a:xfrm>
            <a:off x="1828800" y="5029200"/>
            <a:ext cx="1600200" cy="3762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1800">
                <a:latin typeface="Times New Roman" panose="02020603050405020304" pitchFamily="18" charset="0"/>
                <a:ea typeface="黑体" panose="02010609060101010101" pitchFamily="49" charset="-122"/>
              </a:rPr>
              <a:t>3   33   67   85</a:t>
            </a:r>
            <a:endParaRPr kumimoji="1" lang="en-US" altLang="zh-CN" sz="1800">
              <a:latin typeface="Times New Roman" panose="02020603050405020304" pitchFamily="18" charset="0"/>
              <a:ea typeface="黑体" panose="02010609060101010101" pitchFamily="49" charset="-122"/>
            </a:endParaRPr>
          </a:p>
        </p:txBody>
      </p:sp>
      <p:sp>
        <p:nvSpPr>
          <p:cNvPr id="59404" name="Text Box 10"/>
          <p:cNvSpPr txBox="1">
            <a:spLocks noChangeArrowheads="1"/>
          </p:cNvSpPr>
          <p:nvPr/>
        </p:nvSpPr>
        <p:spPr bwMode="auto">
          <a:xfrm>
            <a:off x="5257800" y="5029200"/>
            <a:ext cx="1447800" cy="3762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1800">
                <a:latin typeface="Times New Roman" panose="02020603050405020304" pitchFamily="18" charset="0"/>
                <a:ea typeface="黑体" panose="02010609060101010101" pitchFamily="49" charset="-122"/>
              </a:rPr>
              <a:t>2   105   132</a:t>
            </a:r>
            <a:endParaRPr kumimoji="1" lang="en-US" altLang="zh-CN" sz="1800">
              <a:latin typeface="Times New Roman" panose="02020603050405020304" pitchFamily="18" charset="0"/>
              <a:ea typeface="黑体" panose="02010609060101010101" pitchFamily="49" charset="-122"/>
            </a:endParaRPr>
          </a:p>
        </p:txBody>
      </p:sp>
      <p:sp>
        <p:nvSpPr>
          <p:cNvPr id="59405" name="Text Box 11"/>
          <p:cNvSpPr txBox="1">
            <a:spLocks noChangeArrowheads="1"/>
          </p:cNvSpPr>
          <p:nvPr/>
        </p:nvSpPr>
        <p:spPr bwMode="auto">
          <a:xfrm>
            <a:off x="7162800" y="5791200"/>
            <a:ext cx="1295400" cy="37623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1800">
                <a:latin typeface="Times New Roman" panose="02020603050405020304" pitchFamily="18" charset="0"/>
                <a:ea typeface="黑体" panose="02010609060101010101" pitchFamily="49" charset="-122"/>
              </a:rPr>
              <a:t>2  114  132</a:t>
            </a:r>
            <a:endParaRPr kumimoji="1" lang="en-US" altLang="zh-CN" sz="1800">
              <a:latin typeface="Times New Roman" panose="02020603050405020304" pitchFamily="18" charset="0"/>
              <a:ea typeface="黑体" panose="02010609060101010101" pitchFamily="49" charset="-122"/>
            </a:endParaRPr>
          </a:p>
        </p:txBody>
      </p:sp>
      <p:sp>
        <p:nvSpPr>
          <p:cNvPr id="59406" name="Line 12"/>
          <p:cNvSpPr>
            <a:spLocks noChangeShapeType="1"/>
          </p:cNvSpPr>
          <p:nvPr/>
        </p:nvSpPr>
        <p:spPr bwMode="auto">
          <a:xfrm flipH="1">
            <a:off x="2667000" y="4572000"/>
            <a:ext cx="1143000" cy="457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07" name="Line 13"/>
          <p:cNvSpPr>
            <a:spLocks noChangeShapeType="1"/>
          </p:cNvSpPr>
          <p:nvPr/>
        </p:nvSpPr>
        <p:spPr bwMode="auto">
          <a:xfrm>
            <a:off x="4191000" y="4572000"/>
            <a:ext cx="1676400" cy="457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08" name="Line 14"/>
          <p:cNvSpPr>
            <a:spLocks noChangeShapeType="1"/>
          </p:cNvSpPr>
          <p:nvPr/>
        </p:nvSpPr>
        <p:spPr bwMode="auto">
          <a:xfrm flipH="1">
            <a:off x="1524000" y="5257800"/>
            <a:ext cx="609600" cy="533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09" name="Line 15"/>
          <p:cNvSpPr>
            <a:spLocks noChangeShapeType="1"/>
          </p:cNvSpPr>
          <p:nvPr/>
        </p:nvSpPr>
        <p:spPr bwMode="auto">
          <a:xfrm>
            <a:off x="2514600" y="5257800"/>
            <a:ext cx="0" cy="533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10" name="Line 16"/>
          <p:cNvSpPr>
            <a:spLocks noChangeShapeType="1"/>
          </p:cNvSpPr>
          <p:nvPr/>
        </p:nvSpPr>
        <p:spPr bwMode="auto">
          <a:xfrm>
            <a:off x="2895600" y="5257800"/>
            <a:ext cx="1524000" cy="533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11" name="Line 17"/>
          <p:cNvSpPr>
            <a:spLocks noChangeShapeType="1"/>
          </p:cNvSpPr>
          <p:nvPr/>
        </p:nvSpPr>
        <p:spPr bwMode="auto">
          <a:xfrm>
            <a:off x="5562600" y="5257800"/>
            <a:ext cx="0" cy="5334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12" name="Line 18"/>
          <p:cNvSpPr>
            <a:spLocks noChangeShapeType="1"/>
          </p:cNvSpPr>
          <p:nvPr/>
        </p:nvSpPr>
        <p:spPr bwMode="auto">
          <a:xfrm>
            <a:off x="6096000" y="5181600"/>
            <a:ext cx="1219200" cy="6096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13" name="Line 19"/>
          <p:cNvSpPr>
            <a:spLocks noChangeShapeType="1"/>
          </p:cNvSpPr>
          <p:nvPr/>
        </p:nvSpPr>
        <p:spPr bwMode="auto">
          <a:xfrm>
            <a:off x="1905000" y="5943600"/>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14" name="Line 20"/>
          <p:cNvSpPr>
            <a:spLocks noChangeShapeType="1"/>
          </p:cNvSpPr>
          <p:nvPr/>
        </p:nvSpPr>
        <p:spPr bwMode="auto">
          <a:xfrm>
            <a:off x="3810000" y="6019800"/>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15" name="Line 21"/>
          <p:cNvSpPr>
            <a:spLocks noChangeShapeType="1"/>
          </p:cNvSpPr>
          <p:nvPr/>
        </p:nvSpPr>
        <p:spPr bwMode="auto">
          <a:xfrm>
            <a:off x="4953000" y="5943600"/>
            <a:ext cx="3048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16" name="Line 22"/>
          <p:cNvSpPr>
            <a:spLocks noChangeShapeType="1"/>
          </p:cNvSpPr>
          <p:nvPr/>
        </p:nvSpPr>
        <p:spPr bwMode="auto">
          <a:xfrm>
            <a:off x="6858000" y="5943600"/>
            <a:ext cx="3048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17" name="Line 23"/>
          <p:cNvSpPr>
            <a:spLocks noChangeShapeType="1"/>
          </p:cNvSpPr>
          <p:nvPr/>
        </p:nvSpPr>
        <p:spPr bwMode="auto">
          <a:xfrm>
            <a:off x="685800" y="5943600"/>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18" name="Line 24"/>
          <p:cNvSpPr>
            <a:spLocks noChangeShapeType="1"/>
          </p:cNvSpPr>
          <p:nvPr/>
        </p:nvSpPr>
        <p:spPr bwMode="auto">
          <a:xfrm>
            <a:off x="3276600" y="4495800"/>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19" name="Line 25"/>
          <p:cNvSpPr>
            <a:spLocks noChangeShapeType="1"/>
          </p:cNvSpPr>
          <p:nvPr/>
        </p:nvSpPr>
        <p:spPr bwMode="auto">
          <a:xfrm>
            <a:off x="1219200" y="5943600"/>
            <a:ext cx="0" cy="381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20" name="Line 26"/>
          <p:cNvSpPr>
            <a:spLocks noChangeShapeType="1"/>
          </p:cNvSpPr>
          <p:nvPr/>
        </p:nvSpPr>
        <p:spPr bwMode="auto">
          <a:xfrm>
            <a:off x="1524000" y="5943600"/>
            <a:ext cx="0" cy="381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21" name="Line 27"/>
          <p:cNvSpPr>
            <a:spLocks noChangeShapeType="1"/>
          </p:cNvSpPr>
          <p:nvPr/>
        </p:nvSpPr>
        <p:spPr bwMode="auto">
          <a:xfrm>
            <a:off x="2362200" y="5943600"/>
            <a:ext cx="0" cy="381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22" name="Line 28"/>
          <p:cNvSpPr>
            <a:spLocks noChangeShapeType="1"/>
          </p:cNvSpPr>
          <p:nvPr/>
        </p:nvSpPr>
        <p:spPr bwMode="auto">
          <a:xfrm>
            <a:off x="2743200" y="5943600"/>
            <a:ext cx="0" cy="381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23" name="Line 29"/>
          <p:cNvSpPr>
            <a:spLocks noChangeShapeType="1"/>
          </p:cNvSpPr>
          <p:nvPr/>
        </p:nvSpPr>
        <p:spPr bwMode="auto">
          <a:xfrm>
            <a:off x="3048000" y="5943600"/>
            <a:ext cx="0" cy="381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24" name="Line 30"/>
          <p:cNvSpPr>
            <a:spLocks noChangeShapeType="1"/>
          </p:cNvSpPr>
          <p:nvPr/>
        </p:nvSpPr>
        <p:spPr bwMode="auto">
          <a:xfrm>
            <a:off x="3429000" y="5943600"/>
            <a:ext cx="0" cy="381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25" name="Line 31"/>
          <p:cNvSpPr>
            <a:spLocks noChangeShapeType="1"/>
          </p:cNvSpPr>
          <p:nvPr/>
        </p:nvSpPr>
        <p:spPr bwMode="auto">
          <a:xfrm>
            <a:off x="4267200" y="5943600"/>
            <a:ext cx="0" cy="381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26" name="Line 32"/>
          <p:cNvSpPr>
            <a:spLocks noChangeShapeType="1"/>
          </p:cNvSpPr>
          <p:nvPr/>
        </p:nvSpPr>
        <p:spPr bwMode="auto">
          <a:xfrm>
            <a:off x="4648200" y="5943600"/>
            <a:ext cx="0" cy="381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27" name="Line 33"/>
          <p:cNvSpPr>
            <a:spLocks noChangeShapeType="1"/>
          </p:cNvSpPr>
          <p:nvPr/>
        </p:nvSpPr>
        <p:spPr bwMode="auto">
          <a:xfrm>
            <a:off x="5562600" y="5943600"/>
            <a:ext cx="0" cy="381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28" name="Line 34"/>
          <p:cNvSpPr>
            <a:spLocks noChangeShapeType="1"/>
          </p:cNvSpPr>
          <p:nvPr/>
        </p:nvSpPr>
        <p:spPr bwMode="auto">
          <a:xfrm>
            <a:off x="5943600" y="5943600"/>
            <a:ext cx="0" cy="381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29" name="Line 35"/>
          <p:cNvSpPr>
            <a:spLocks noChangeShapeType="1"/>
          </p:cNvSpPr>
          <p:nvPr/>
        </p:nvSpPr>
        <p:spPr bwMode="auto">
          <a:xfrm>
            <a:off x="6324600" y="5943600"/>
            <a:ext cx="0" cy="381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30" name="Line 36"/>
          <p:cNvSpPr>
            <a:spLocks noChangeShapeType="1"/>
          </p:cNvSpPr>
          <p:nvPr/>
        </p:nvSpPr>
        <p:spPr bwMode="auto">
          <a:xfrm>
            <a:off x="7391400" y="5943600"/>
            <a:ext cx="0" cy="381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31" name="Line 37"/>
          <p:cNvSpPr>
            <a:spLocks noChangeShapeType="1"/>
          </p:cNvSpPr>
          <p:nvPr/>
        </p:nvSpPr>
        <p:spPr bwMode="auto">
          <a:xfrm>
            <a:off x="7848600" y="5943600"/>
            <a:ext cx="0" cy="381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59432" name="Text Box 38"/>
          <p:cNvSpPr txBox="1">
            <a:spLocks noChangeArrowheads="1"/>
          </p:cNvSpPr>
          <p:nvPr/>
        </p:nvSpPr>
        <p:spPr bwMode="auto">
          <a:xfrm>
            <a:off x="6553200" y="4114800"/>
            <a:ext cx="167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a:latin typeface="Times New Roman" panose="02020603050405020304" pitchFamily="18" charset="0"/>
                <a:ea typeface="黑体" panose="02010609060101010101" pitchFamily="49" charset="-122"/>
              </a:rPr>
              <a:t>4</a:t>
            </a:r>
            <a:r>
              <a:rPr kumimoji="1" lang="zh-CN" altLang="en-US" sz="2400">
                <a:latin typeface="Times New Roman" panose="02020603050405020304" pitchFamily="18" charset="0"/>
                <a:ea typeface="黑体" panose="02010609060101010101" pitchFamily="49" charset="-122"/>
              </a:rPr>
              <a:t>阶</a:t>
            </a:r>
            <a:r>
              <a:rPr kumimoji="1" lang="en-US" altLang="zh-CN" sz="2400">
                <a:latin typeface="Times New Roman" panose="02020603050405020304" pitchFamily="18" charset="0"/>
                <a:ea typeface="黑体" panose="02010609060101010101" pitchFamily="49" charset="-122"/>
              </a:rPr>
              <a:t>B+</a:t>
            </a:r>
            <a:r>
              <a:rPr kumimoji="1" lang="zh-CN" altLang="en-US" sz="2400">
                <a:latin typeface="Times New Roman" panose="02020603050405020304" pitchFamily="18" charset="0"/>
                <a:ea typeface="黑体" panose="02010609060101010101" pitchFamily="49" charset="-122"/>
              </a:rPr>
              <a:t>树</a:t>
            </a:r>
            <a:endParaRPr kumimoji="1" lang="zh-CN" altLang="en-US" sz="2400">
              <a:latin typeface="Times New Roman" panose="02020603050405020304" pitchFamily="18" charset="0"/>
              <a:ea typeface="黑体" panose="02010609060101010101" pitchFamily="49" charset="-122"/>
            </a:endParaRPr>
          </a:p>
        </p:txBody>
      </p:sp>
      <p:sp>
        <p:nvSpPr>
          <p:cNvPr id="59433" name="Text Box 39"/>
          <p:cNvSpPr txBox="1">
            <a:spLocks noChangeArrowheads="1"/>
          </p:cNvSpPr>
          <p:nvPr/>
        </p:nvSpPr>
        <p:spPr bwMode="auto">
          <a:xfrm>
            <a:off x="2667000" y="4267200"/>
            <a:ext cx="121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a:latin typeface="Times New Roman" panose="02020603050405020304" pitchFamily="18" charset="0"/>
                <a:ea typeface="黑体" panose="02010609060101010101" pitchFamily="49" charset="-122"/>
              </a:rPr>
              <a:t>root</a:t>
            </a:r>
            <a:endParaRPr kumimoji="1" lang="en-US" altLang="zh-CN" sz="2400">
              <a:latin typeface="Times New Roman" panose="02020603050405020304" pitchFamily="18" charset="0"/>
              <a:ea typeface="黑体" panose="02010609060101010101" pitchFamily="49" charset="-122"/>
            </a:endParaRPr>
          </a:p>
        </p:txBody>
      </p:sp>
      <p:sp>
        <p:nvSpPr>
          <p:cNvPr id="59434" name="Text Box 40"/>
          <p:cNvSpPr txBox="1">
            <a:spLocks noChangeArrowheads="1"/>
          </p:cNvSpPr>
          <p:nvPr/>
        </p:nvSpPr>
        <p:spPr bwMode="auto">
          <a:xfrm>
            <a:off x="228600" y="55626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a:latin typeface="Times New Roman" panose="02020603050405020304" pitchFamily="18" charset="0"/>
                <a:ea typeface="黑体" panose="02010609060101010101" pitchFamily="49" charset="-122"/>
              </a:rPr>
              <a:t>sqt</a:t>
            </a:r>
            <a:endParaRPr kumimoji="1" lang="en-US" altLang="zh-CN" sz="2400">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6042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60421"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400" b="1" dirty="0" smtClean="0">
                <a:solidFill>
                  <a:srgbClr val="800000"/>
                </a:solidFill>
                <a:ea typeface="华文楷体" panose="02010600040101010101" pitchFamily="2" charset="-122"/>
              </a:rPr>
              <a:t>2. B+</a:t>
            </a:r>
            <a:r>
              <a:rPr lang="zh-CN" altLang="en-US" sz="2400" b="1" dirty="0" smtClean="0">
                <a:solidFill>
                  <a:srgbClr val="800000"/>
                </a:solidFill>
                <a:ea typeface="华文楷体" panose="02010600040101010101" pitchFamily="2" charset="-122"/>
              </a:rPr>
              <a:t>树上的基本运算</a:t>
            </a:r>
            <a:endParaRPr lang="zh-CN" altLang="en-US" sz="2400" b="1" dirty="0" smtClean="0">
              <a:solidFill>
                <a:srgbClr val="800000"/>
              </a:solidFill>
              <a:ea typeface="华文楷体" panose="02010600040101010101" pitchFamily="2" charset="-122"/>
            </a:endParaRPr>
          </a:p>
          <a:p>
            <a:pPr eaLnBrk="1" hangingPunct="1">
              <a:lnSpc>
                <a:spcPct val="90000"/>
              </a:lnSpc>
              <a:buFont typeface="Wingdings" panose="05000000000000000000" pitchFamily="2" charset="2"/>
              <a:buNone/>
            </a:pPr>
            <a:r>
              <a:rPr lang="en-US" altLang="zh-CN" sz="2400" b="1" dirty="0" smtClean="0">
                <a:solidFill>
                  <a:srgbClr val="CC6600"/>
                </a:solidFill>
                <a:ea typeface="华文楷体" panose="02010600040101010101" pitchFamily="2" charset="-122"/>
              </a:rPr>
              <a:t>1)</a:t>
            </a:r>
            <a:r>
              <a:rPr lang="zh-CN" altLang="en-US" sz="2400" b="1" dirty="0" smtClean="0">
                <a:solidFill>
                  <a:srgbClr val="CC6600"/>
                </a:solidFill>
                <a:ea typeface="华文楷体" panose="02010600040101010101" pitchFamily="2" charset="-122"/>
              </a:rPr>
              <a:t>查找</a:t>
            </a:r>
            <a:endParaRPr lang="zh-CN" altLang="en-US" sz="2400" b="1" dirty="0" smtClean="0">
              <a:solidFill>
                <a:srgbClr val="CC6600"/>
              </a:solidFill>
              <a:ea typeface="华文楷体" panose="02010600040101010101" pitchFamily="2" charset="-122"/>
            </a:endParaRPr>
          </a:p>
          <a:p>
            <a:pPr eaLnBrk="1" hangingPunct="1">
              <a:lnSpc>
                <a:spcPct val="90000"/>
              </a:lnSpc>
            </a:pPr>
            <a:r>
              <a:rPr lang="zh-CN" altLang="en-US" sz="2400" dirty="0" smtClean="0">
                <a:ea typeface="华文楷体" panose="02010600040101010101" pitchFamily="2" charset="-122"/>
              </a:rPr>
              <a:t>方式</a:t>
            </a:r>
            <a:r>
              <a:rPr lang="en-US" altLang="zh-CN" sz="2400" dirty="0" smtClean="0">
                <a:ea typeface="华文楷体" panose="02010600040101010101" pitchFamily="2" charset="-122"/>
              </a:rPr>
              <a:t>1</a:t>
            </a:r>
            <a:r>
              <a:rPr lang="zh-CN" altLang="en-US" sz="2400" dirty="0" smtClean="0">
                <a:ea typeface="华文楷体" panose="02010600040101010101" pitchFamily="2" charset="-122"/>
              </a:rPr>
              <a:t>：从根结点开始，利用索引集结构，向下查找直到叶子结点</a:t>
            </a:r>
            <a:endParaRPr lang="zh-CN" altLang="en-US" sz="2400" dirty="0" smtClean="0">
              <a:ea typeface="华文楷体" panose="02010600040101010101" pitchFamily="2" charset="-122"/>
            </a:endParaRPr>
          </a:p>
          <a:p>
            <a:pPr eaLnBrk="1" hangingPunct="1">
              <a:lnSpc>
                <a:spcPct val="90000"/>
              </a:lnSpc>
            </a:pPr>
            <a:r>
              <a:rPr lang="zh-CN" altLang="en-US" sz="2400" dirty="0" smtClean="0">
                <a:ea typeface="华文楷体" panose="02010600040101010101" pitchFamily="2" charset="-122"/>
              </a:rPr>
              <a:t>方式</a:t>
            </a: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：从最小关键字开始，沿叶结点数据集的链结构顺序查找</a:t>
            </a:r>
            <a:endParaRPr lang="zh-CN" altLang="en-US" sz="2400" dirty="0" smtClean="0">
              <a:ea typeface="华文楷体" panose="02010600040101010101" pitchFamily="2" charset="-122"/>
            </a:endParaRPr>
          </a:p>
          <a:p>
            <a:pPr eaLnBrk="1" hangingPunct="1">
              <a:lnSpc>
                <a:spcPct val="90000"/>
              </a:lnSpc>
            </a:pP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b="1" dirty="0" smtClean="0">
                <a:solidFill>
                  <a:srgbClr val="CC6600"/>
                </a:solidFill>
                <a:ea typeface="华文楷体" panose="02010600040101010101" pitchFamily="2" charset="-122"/>
              </a:rPr>
              <a:t>2)</a:t>
            </a:r>
            <a:r>
              <a:rPr lang="zh-CN" altLang="en-US" sz="2400" b="1" dirty="0" smtClean="0">
                <a:solidFill>
                  <a:srgbClr val="CC6600"/>
                </a:solidFill>
                <a:ea typeface="华文楷体" panose="02010600040101010101" pitchFamily="2" charset="-122"/>
              </a:rPr>
              <a:t>插入</a:t>
            </a:r>
            <a:r>
              <a:rPr lang="zh-CN" altLang="en-US" sz="2400" dirty="0" smtClean="0">
                <a:solidFill>
                  <a:srgbClr val="CC6600"/>
                </a:solidFill>
                <a:ea typeface="华文楷体" panose="02010600040101010101" pitchFamily="2" charset="-122"/>
              </a:rPr>
              <a:t> </a:t>
            </a:r>
            <a:endParaRPr lang="zh-CN" altLang="en-US" sz="2400" dirty="0" smtClean="0">
              <a:solidFill>
                <a:srgbClr val="CC6600"/>
              </a:solidFill>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仅在叶子结点上进行，关键字个数大于</a:t>
            </a:r>
            <a:r>
              <a:rPr lang="en-US" altLang="zh-CN" sz="2400" dirty="0" smtClean="0">
                <a:ea typeface="华文楷体" panose="02010600040101010101" pitchFamily="2" charset="-122"/>
              </a:rPr>
              <a:t>m</a:t>
            </a:r>
            <a:r>
              <a:rPr lang="zh-CN" altLang="en-US" sz="2400" dirty="0" smtClean="0">
                <a:ea typeface="华文楷体" panose="02010600040101010101" pitchFamily="2" charset="-122"/>
              </a:rPr>
              <a:t>则分裂</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zh-CN" altLang="en-US" sz="2400" b="1"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b="1" dirty="0" smtClean="0">
                <a:solidFill>
                  <a:srgbClr val="CC6600"/>
                </a:solidFill>
                <a:ea typeface="华文楷体" panose="02010600040101010101" pitchFamily="2" charset="-122"/>
              </a:rPr>
              <a:t>3)</a:t>
            </a:r>
            <a:r>
              <a:rPr lang="zh-CN" altLang="en-US" sz="2400" b="1" dirty="0" smtClean="0">
                <a:solidFill>
                  <a:srgbClr val="CC6600"/>
                </a:solidFill>
                <a:ea typeface="华文楷体" panose="02010600040101010101" pitchFamily="2" charset="-122"/>
              </a:rPr>
              <a:t>删除</a:t>
            </a:r>
            <a:endParaRPr lang="zh-CN" altLang="en-US" sz="2400" b="1" dirty="0" smtClean="0">
              <a:solidFill>
                <a:srgbClr val="CC6600"/>
              </a:solidFill>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也仅在叶子结点上进行，关键字个数小于</a:t>
            </a:r>
            <a:r>
              <a:rPr lang="zh-CN" altLang="en-US"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sym typeface="Symbol" panose="05050102010706020507" pitchFamily="18" charset="2"/>
              </a:rPr>
              <a:t>m/2</a:t>
            </a:r>
            <a:r>
              <a:rPr lang="zh-CN" altLang="zh-CN" sz="2400" dirty="0" smtClean="0">
                <a:ea typeface="华文楷体" panose="02010600040101010101" pitchFamily="2" charset="-122"/>
                <a:sym typeface="Symbol" panose="05050102010706020507" pitchFamily="18" charset="2"/>
              </a:rPr>
              <a:t>时，需进行合并</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en-US" altLang="zh-CN" sz="2400" b="1" dirty="0" smtClean="0">
              <a:solidFill>
                <a:srgbClr val="800000"/>
              </a:solidFill>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61444" name="Rectangle 2"/>
          <p:cNvSpPr>
            <a:spLocks noGrp="1" noChangeArrowheads="1"/>
          </p:cNvSpPr>
          <p:nvPr>
            <p:ph type="title"/>
          </p:nvPr>
        </p:nvSpPr>
        <p:spPr/>
        <p:txBody>
          <a:bodyPr/>
          <a:lstStyle/>
          <a:p>
            <a:pPr algn="l" eaLnBrk="1" hangingPunct="1"/>
            <a:r>
              <a:rPr lang="en-US" altLang="zh-CN" sz="2800" dirty="0" smtClean="0">
                <a:ea typeface="华文楷体" panose="02010600040101010101" pitchFamily="2" charset="-122"/>
              </a:rPr>
              <a:t>8.8 </a:t>
            </a:r>
            <a:r>
              <a:rPr lang="zh-CN" altLang="en-US" sz="2800" dirty="0" smtClean="0">
                <a:ea typeface="华文楷体" panose="02010600040101010101" pitchFamily="2" charset="-122"/>
              </a:rPr>
              <a:t>哈希表</a:t>
            </a:r>
            <a:endParaRPr lang="zh-CN" altLang="en-US" sz="2800" dirty="0" smtClean="0">
              <a:ea typeface="华文楷体" panose="02010600040101010101" pitchFamily="2" charset="-122"/>
            </a:endParaRPr>
          </a:p>
        </p:txBody>
      </p:sp>
      <p:sp>
        <p:nvSpPr>
          <p:cNvPr id="61445"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哈希表的基本思想</a:t>
            </a:r>
            <a:r>
              <a:rPr lang="en-US" altLang="zh-CN" sz="2400" b="1" dirty="0" smtClean="0">
                <a:solidFill>
                  <a:srgbClr val="CC6600"/>
                </a:solidFill>
                <a:ea typeface="华文楷体" panose="02010600040101010101" pitchFamily="2" charset="-122"/>
              </a:rPr>
              <a:t>]</a:t>
            </a:r>
            <a:r>
              <a:rPr lang="en-US" altLang="zh-CN" sz="2400" dirty="0" smtClean="0">
                <a:solidFill>
                  <a:srgbClr val="CC6600"/>
                </a:solidFill>
                <a:ea typeface="华文楷体" panose="02010600040101010101" pitchFamily="2" charset="-122"/>
              </a:rPr>
              <a:t> </a:t>
            </a:r>
            <a:endParaRPr lang="en-US" altLang="zh-CN" sz="2400" dirty="0" smtClean="0">
              <a:solidFill>
                <a:srgbClr val="CC6600"/>
              </a:solidFill>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在记录的存储地址和它的关键字之间建立一个确定的对应关系；这样，理想状态不经过比较，一次存取就能得到所查元素。</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术语</a:t>
            </a:r>
            <a:r>
              <a:rPr lang="en-US" altLang="zh-CN" sz="2400" b="1" dirty="0" smtClean="0">
                <a:solidFill>
                  <a:srgbClr val="CC66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a:p>
            <a:pPr eaLnBrk="1" hangingPunct="1">
              <a:buFont typeface="Wingdings" panose="05000000000000000000" pitchFamily="2" charset="2"/>
              <a:buNone/>
            </a:pPr>
            <a:r>
              <a:rPr lang="en-US" altLang="zh-CN" sz="2400" i="1" dirty="0" smtClean="0">
                <a:solidFill>
                  <a:schemeClr val="accent2"/>
                </a:solidFill>
                <a:ea typeface="华文楷体" panose="02010600040101010101" pitchFamily="2" charset="-122"/>
              </a:rPr>
              <a:t>            </a:t>
            </a:r>
            <a:r>
              <a:rPr lang="zh-CN" altLang="en-US" sz="2400" b="1" dirty="0" smtClean="0">
                <a:solidFill>
                  <a:srgbClr val="FF3300"/>
                </a:solidFill>
                <a:ea typeface="华文楷体" panose="02010600040101010101" pitchFamily="2" charset="-122"/>
              </a:rPr>
              <a:t>哈希表   </a:t>
            </a:r>
            <a:r>
              <a:rPr lang="zh-CN" altLang="en-US" sz="2400" dirty="0" smtClean="0">
                <a:ea typeface="华文楷体" panose="02010600040101010101" pitchFamily="2" charset="-122"/>
              </a:rPr>
              <a:t>一个有限的连续的地址空间，用以容纳按哈希地址存储的记录。</a:t>
            </a:r>
            <a:endParaRPr lang="zh-CN" altLang="en-US" sz="2400" b="1"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            </a:t>
            </a:r>
            <a:r>
              <a:rPr lang="zh-CN" altLang="en-US" sz="2400" b="1" dirty="0" smtClean="0">
                <a:solidFill>
                  <a:srgbClr val="FF3300"/>
                </a:solidFill>
                <a:ea typeface="华文楷体" panose="02010600040101010101" pitchFamily="2" charset="-122"/>
              </a:rPr>
              <a:t>哈希函数   </a:t>
            </a:r>
            <a:r>
              <a:rPr lang="zh-CN" altLang="en-US" sz="2400" dirty="0" smtClean="0">
                <a:ea typeface="华文楷体" panose="02010600040101010101" pitchFamily="2" charset="-122"/>
              </a:rPr>
              <a:t>记录的存储位置与它的关键字之间存在的一种对应关系。   </a:t>
            </a:r>
            <a:r>
              <a:rPr lang="en-US" altLang="zh-CN" sz="2400" dirty="0" err="1" smtClean="0">
                <a:ea typeface="华文楷体" panose="02010600040101010101" pitchFamily="2" charset="-122"/>
              </a:rPr>
              <a:t>Loc</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r</a:t>
            </a:r>
            <a:r>
              <a:rPr lang="en-US" altLang="zh-CN" sz="2400" baseline="-25000" dirty="0" err="1" smtClean="0">
                <a:ea typeface="华文楷体" panose="02010600040101010101" pitchFamily="2" charset="-122"/>
              </a:rPr>
              <a:t>i</a:t>
            </a:r>
            <a:r>
              <a:rPr lang="en-US" altLang="zh-CN" sz="2400" dirty="0" smtClean="0">
                <a:ea typeface="华文楷体" panose="02010600040101010101" pitchFamily="2" charset="-122"/>
              </a:rPr>
              <a:t>)=</a:t>
            </a:r>
            <a:r>
              <a:rPr lang="en-US" altLang="zh-CN" sz="2400" b="1" dirty="0" smtClean="0">
                <a:solidFill>
                  <a:srgbClr val="FF3300"/>
                </a:solidFill>
                <a:ea typeface="华文楷体" panose="02010600040101010101" pitchFamily="2" charset="-122"/>
              </a:rPr>
              <a:t>H</a:t>
            </a: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key</a:t>
            </a:r>
            <a:r>
              <a:rPr lang="en-US" altLang="zh-CN" sz="2400" baseline="-25000" dirty="0" err="1" smtClean="0">
                <a:ea typeface="华文楷体" panose="02010600040101010101" pitchFamily="2" charset="-122"/>
              </a:rPr>
              <a:t>i</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solidFill>
                  <a:srgbClr val="FF3300"/>
                </a:solidFill>
                <a:ea typeface="华文楷体" panose="02010600040101010101" pitchFamily="2" charset="-122"/>
              </a:rPr>
              <a:t>            </a:t>
            </a:r>
            <a:r>
              <a:rPr lang="zh-CN" altLang="en-US" sz="2400" b="1" dirty="0" smtClean="0">
                <a:solidFill>
                  <a:srgbClr val="FF3300"/>
                </a:solidFill>
                <a:ea typeface="华文楷体" panose="02010600040101010101" pitchFamily="2" charset="-122"/>
              </a:rPr>
              <a:t>冲突   </a:t>
            </a:r>
            <a:r>
              <a:rPr lang="zh-CN" altLang="en-US" sz="2400" dirty="0" smtClean="0">
                <a:ea typeface="华文楷体" panose="02010600040101010101" pitchFamily="2" charset="-122"/>
              </a:rPr>
              <a:t>对于</a:t>
            </a:r>
            <a:r>
              <a:rPr lang="en-US" altLang="zh-CN" sz="2400" dirty="0" err="1" smtClean="0">
                <a:ea typeface="华文楷体" panose="02010600040101010101" pitchFamily="2" charset="-122"/>
              </a:rPr>
              <a:t>key</a:t>
            </a:r>
            <a:r>
              <a:rPr lang="en-US" altLang="zh-CN" sz="2400" baseline="-25000" dirty="0" err="1" smtClean="0">
                <a:ea typeface="华文楷体" panose="02010600040101010101" pitchFamily="2" charset="-122"/>
              </a:rPr>
              <a:t>i</a:t>
            </a:r>
            <a:r>
              <a:rPr lang="en-US" altLang="zh-CN" sz="2400" dirty="0" err="1" smtClean="0">
                <a:ea typeface="华文楷体" panose="02010600040101010101" pitchFamily="2" charset="-122"/>
                <a:sym typeface="Symbol" panose="05050102010706020507" pitchFamily="18" charset="2"/>
              </a:rPr>
              <a:t>key</a:t>
            </a:r>
            <a:r>
              <a:rPr lang="en-US" altLang="zh-CN" sz="2400" baseline="-25000" dirty="0" err="1" smtClean="0">
                <a:ea typeface="华文楷体" panose="02010600040101010101" pitchFamily="2" charset="-122"/>
                <a:sym typeface="Symbol" panose="05050102010706020507" pitchFamily="18" charset="2"/>
              </a:rPr>
              <a:t>j</a:t>
            </a:r>
            <a:r>
              <a:rPr lang="zh-CN" altLang="en-US" sz="2400" dirty="0" smtClean="0">
                <a:ea typeface="华文楷体" panose="02010600040101010101" pitchFamily="2" charset="-122"/>
                <a:sym typeface="Symbol" panose="05050102010706020507" pitchFamily="18" charset="2"/>
              </a:rPr>
              <a:t>， </a:t>
            </a:r>
            <a:r>
              <a:rPr lang="en-US" altLang="zh-CN" sz="2400" dirty="0" err="1" smtClean="0">
                <a:ea typeface="华文楷体" panose="02010600040101010101" pitchFamily="2" charset="-122"/>
                <a:sym typeface="Symbol" panose="05050102010706020507" pitchFamily="18" charset="2"/>
              </a:rPr>
              <a:t>i</a:t>
            </a:r>
            <a:r>
              <a:rPr lang="en-US" altLang="zh-CN" sz="2400" dirty="0" smtClean="0">
                <a:ea typeface="华文楷体" panose="02010600040101010101" pitchFamily="2" charset="-122"/>
                <a:sym typeface="Symbol" panose="05050102010706020507" pitchFamily="18" charset="2"/>
              </a:rPr>
              <a:t> j</a:t>
            </a:r>
            <a:r>
              <a:rPr lang="zh-CN" altLang="en-US" sz="2400" dirty="0" smtClean="0">
                <a:ea typeface="华文楷体" panose="02010600040101010101" pitchFamily="2" charset="-122"/>
                <a:sym typeface="Symbol" panose="05050102010706020507" pitchFamily="18" charset="2"/>
              </a:rPr>
              <a:t>，出现的</a:t>
            </a:r>
            <a:r>
              <a:rPr lang="en-US" altLang="zh-CN" sz="2400" dirty="0" smtClean="0">
                <a:ea typeface="华文楷体" panose="02010600040101010101" pitchFamily="2" charset="-122"/>
              </a:rPr>
              <a:t>H(</a:t>
            </a:r>
            <a:r>
              <a:rPr lang="en-US" altLang="zh-CN" sz="2400" dirty="0" err="1" smtClean="0">
                <a:ea typeface="华文楷体" panose="02010600040101010101" pitchFamily="2" charset="-122"/>
              </a:rPr>
              <a:t>key</a:t>
            </a:r>
            <a:r>
              <a:rPr lang="en-US" altLang="zh-CN" sz="2400" baseline="-25000" dirty="0" err="1" smtClean="0">
                <a:ea typeface="华文楷体" panose="02010600040101010101" pitchFamily="2" charset="-122"/>
              </a:rPr>
              <a:t>i</a:t>
            </a:r>
            <a:r>
              <a:rPr lang="en-US" altLang="zh-CN" sz="2400" dirty="0" smtClean="0">
                <a:ea typeface="华文楷体" panose="02010600040101010101" pitchFamily="2" charset="-122"/>
              </a:rPr>
              <a:t>) = H(</a:t>
            </a:r>
            <a:r>
              <a:rPr lang="en-US" altLang="zh-CN" sz="2400" dirty="0" err="1" smtClean="0">
                <a:ea typeface="华文楷体" panose="02010600040101010101" pitchFamily="2" charset="-122"/>
              </a:rPr>
              <a:t>key</a:t>
            </a:r>
            <a:r>
              <a:rPr lang="en-US" altLang="zh-CN" sz="2400" baseline="-25000" dirty="0" err="1" smtClean="0">
                <a:ea typeface="华文楷体" panose="02010600040101010101" pitchFamily="2" charset="-122"/>
              </a:rPr>
              <a:t>j</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的现象。</a:t>
            </a:r>
            <a:endParaRPr lang="zh-CN" altLang="en-US" sz="24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页脚占位符 3"/>
          <p:cNvSpPr>
            <a:spLocks noGrp="1"/>
          </p:cNvSpPr>
          <p:nvPr>
            <p:ph type="ftr" sz="quarter" idx="10"/>
          </p:nvPr>
        </p:nvSpPr>
        <p:spPr/>
        <p:txBody>
          <a:bodyPr/>
          <a:lstStyle/>
          <a:p>
            <a:pPr>
              <a:defRPr/>
            </a:pPr>
            <a:r>
              <a:rPr lang="en-US" altLang="zh-CN"/>
              <a:t>BUPT SCST</a:t>
            </a:r>
            <a:endParaRPr lang="en-US" altLang="zh-CN"/>
          </a:p>
        </p:txBody>
      </p:sp>
      <p:sp>
        <p:nvSpPr>
          <p:cNvPr id="8" name="日期占位符 5"/>
          <p:cNvSpPr>
            <a:spLocks noGrp="1"/>
          </p:cNvSpPr>
          <p:nvPr>
            <p:ph type="dt" sz="quarter" idx="12"/>
          </p:nvPr>
        </p:nvSpPr>
        <p:spPr/>
        <p:txBody>
          <a:bodyPr/>
          <a:lstStyle/>
          <a:p>
            <a:pPr>
              <a:defRPr/>
            </a:pPr>
            <a:r>
              <a:rPr lang="en-US" altLang="zh-CN"/>
              <a:t>BUPT</a:t>
            </a:r>
            <a:endParaRPr lang="en-US" altLang="zh-CN"/>
          </a:p>
        </p:txBody>
      </p:sp>
      <p:sp>
        <p:nvSpPr>
          <p:cNvPr id="62468"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62469"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400" i="1" dirty="0" smtClean="0">
                <a:solidFill>
                  <a:srgbClr val="FF3300"/>
                </a:solidFill>
                <a:ea typeface="华文楷体" panose="02010600040101010101" pitchFamily="2" charset="-122"/>
              </a:rPr>
              <a:t> </a:t>
            </a:r>
            <a:r>
              <a:rPr lang="zh-CN" altLang="en-US" sz="2400" b="1" dirty="0" smtClean="0">
                <a:solidFill>
                  <a:srgbClr val="FF3300"/>
                </a:solidFill>
                <a:ea typeface="华文楷体" panose="02010600040101010101" pitchFamily="2" charset="-122"/>
              </a:rPr>
              <a:t>同义词   </a:t>
            </a:r>
            <a:r>
              <a:rPr lang="zh-CN" altLang="en-US" sz="2400" dirty="0" smtClean="0">
                <a:ea typeface="华文楷体" panose="02010600040101010101" pitchFamily="2" charset="-122"/>
              </a:rPr>
              <a:t>在同一地址出现冲突的各关键字。 </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i="1" dirty="0" smtClean="0">
                <a:solidFill>
                  <a:srgbClr val="FF3300"/>
                </a:solidFill>
                <a:ea typeface="华文楷体" panose="02010600040101010101" pitchFamily="2" charset="-122"/>
              </a:rPr>
              <a:t> </a:t>
            </a:r>
            <a:r>
              <a:rPr lang="zh-CN" altLang="en-US" sz="2400" b="1" dirty="0" smtClean="0">
                <a:solidFill>
                  <a:srgbClr val="FF3300"/>
                </a:solidFill>
                <a:ea typeface="华文楷体" panose="02010600040101010101" pitchFamily="2" charset="-122"/>
              </a:rPr>
              <a:t>哈希</a:t>
            </a:r>
            <a:r>
              <a:rPr lang="en-US" altLang="zh-CN" sz="2400" b="1" dirty="0" smtClean="0">
                <a:solidFill>
                  <a:srgbClr val="FF3300"/>
                </a:solidFill>
                <a:ea typeface="华文楷体" panose="02010600040101010101" pitchFamily="2" charset="-122"/>
              </a:rPr>
              <a:t>(</a:t>
            </a:r>
            <a:r>
              <a:rPr lang="zh-CN" altLang="en-US" sz="2400" b="1" dirty="0" smtClean="0">
                <a:solidFill>
                  <a:srgbClr val="FF3300"/>
                </a:solidFill>
                <a:ea typeface="华文楷体" panose="02010600040101010101" pitchFamily="2" charset="-122"/>
              </a:rPr>
              <a:t>散列</a:t>
            </a:r>
            <a:r>
              <a:rPr lang="en-US" altLang="zh-CN" sz="2400" b="1" dirty="0" smtClean="0">
                <a:solidFill>
                  <a:srgbClr val="FF3300"/>
                </a:solidFill>
                <a:ea typeface="华文楷体" panose="02010600040101010101" pitchFamily="2" charset="-122"/>
              </a:rPr>
              <a:t>)</a:t>
            </a:r>
            <a:r>
              <a:rPr lang="zh-CN" altLang="en-US" sz="2400" b="1" dirty="0" smtClean="0">
                <a:solidFill>
                  <a:srgbClr val="FF3300"/>
                </a:solidFill>
                <a:ea typeface="华文楷体" panose="02010600040101010101" pitchFamily="2" charset="-122"/>
              </a:rPr>
              <a:t>地址   </a:t>
            </a:r>
            <a:r>
              <a:rPr lang="zh-CN" altLang="en-US" sz="2400" dirty="0" smtClean="0">
                <a:ea typeface="华文楷体" panose="02010600040101010101" pitchFamily="2" charset="-122"/>
              </a:rPr>
              <a:t>根据设定的哈希函数</a:t>
            </a:r>
            <a:r>
              <a:rPr lang="en-US" altLang="zh-CN" sz="2400" dirty="0" smtClean="0">
                <a:ea typeface="华文楷体" panose="02010600040101010101" pitchFamily="2" charset="-122"/>
              </a:rPr>
              <a:t>H(key)</a:t>
            </a:r>
            <a:r>
              <a:rPr lang="zh-CN" altLang="en-US" sz="2400" dirty="0" smtClean="0">
                <a:ea typeface="华文楷体" panose="02010600040101010101" pitchFamily="2" charset="-122"/>
              </a:rPr>
              <a:t>和处理冲突的方法确定的记录的存储位置。</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i="1" dirty="0" smtClean="0">
                <a:solidFill>
                  <a:srgbClr val="FF3300"/>
                </a:solidFill>
                <a:ea typeface="华文楷体" panose="02010600040101010101" pitchFamily="2" charset="-122"/>
              </a:rPr>
              <a:t> </a:t>
            </a:r>
            <a:r>
              <a:rPr lang="zh-CN" altLang="en-US" sz="2400" b="1" dirty="0" smtClean="0">
                <a:solidFill>
                  <a:srgbClr val="FF3300"/>
                </a:solidFill>
                <a:ea typeface="华文楷体" panose="02010600040101010101" pitchFamily="2" charset="-122"/>
              </a:rPr>
              <a:t>装填因子   </a:t>
            </a:r>
            <a:r>
              <a:rPr lang="zh-CN" altLang="en-US" sz="2400" dirty="0" smtClean="0">
                <a:ea typeface="华文楷体" panose="02010600040101010101" pitchFamily="2" charset="-122"/>
              </a:rPr>
              <a:t>表中填入的记录数</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和哈希表表长 </a:t>
            </a:r>
            <a:r>
              <a:rPr lang="en-US" altLang="zh-CN" sz="2400" dirty="0" smtClean="0">
                <a:ea typeface="华文楷体" panose="02010600040101010101" pitchFamily="2" charset="-122"/>
              </a:rPr>
              <a:t>m</a:t>
            </a:r>
            <a:r>
              <a:rPr lang="zh-CN" altLang="en-US" sz="2400" dirty="0" smtClean="0">
                <a:ea typeface="华文楷体" panose="02010600040101010101" pitchFamily="2" charset="-122"/>
              </a:rPr>
              <a:t>之比。  </a:t>
            </a:r>
            <a:endParaRPr lang="zh-CN" altLang="en-US" sz="2400" dirty="0" smtClean="0">
              <a:ea typeface="华文楷体" panose="02010600040101010101" pitchFamily="2" charset="-122"/>
            </a:endParaRPr>
          </a:p>
          <a:p>
            <a:pPr algn="ct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 </a:t>
            </a:r>
            <a:r>
              <a:rPr lang="zh-CN" altLang="en-US"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sym typeface="Symbol" panose="05050102010706020507" pitchFamily="18" charset="2"/>
              </a:rPr>
              <a:t>=n/m</a:t>
            </a:r>
            <a:endParaRPr lang="en-US" altLang="zh-CN" sz="24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设计哈希表的过程</a:t>
            </a:r>
            <a:r>
              <a:rPr lang="en-US" altLang="zh-CN" sz="2400" b="1" dirty="0" smtClean="0">
                <a:solidFill>
                  <a:srgbClr val="CC6600"/>
                </a:solidFill>
                <a:ea typeface="华文楷体" panose="02010600040101010101" pitchFamily="2" charset="-122"/>
              </a:rPr>
              <a:t>]</a:t>
            </a:r>
            <a:endParaRPr lang="en-US" altLang="zh-CN" sz="2400" dirty="0" smtClean="0">
              <a:solidFill>
                <a:srgbClr val="CC6600"/>
              </a:solidFill>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             1)</a:t>
            </a:r>
            <a:r>
              <a:rPr lang="zh-CN" altLang="en-US" sz="2400" dirty="0" smtClean="0">
                <a:ea typeface="华文楷体" panose="02010600040101010101" pitchFamily="2" charset="-122"/>
              </a:rPr>
              <a:t>明确哈希表的地址空间范围。即确定哈希函数的值域。</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2)</a:t>
            </a:r>
            <a:r>
              <a:rPr lang="zh-CN" altLang="en-US" sz="2400" dirty="0" smtClean="0">
                <a:ea typeface="华文楷体" panose="02010600040101010101" pitchFamily="2" charset="-122"/>
              </a:rPr>
              <a:t>选择合理的哈希函数。该函数要保证所有可能的记录的哈希地址均在指定的值域内，并使冲突的可能性尽量小。</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3)</a:t>
            </a:r>
            <a:r>
              <a:rPr lang="zh-CN" altLang="en-US" sz="2400" dirty="0" smtClean="0">
                <a:ea typeface="华文楷体" panose="02010600040101010101" pitchFamily="2" charset="-122"/>
              </a:rPr>
              <a:t>设定处理冲突的方法。</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endParaRPr lang="en-US" altLang="zh-CN" sz="2400" dirty="0" smtClean="0">
              <a:ea typeface="华文楷体" panose="02010600040101010101" pitchFamily="2" charset="-122"/>
            </a:endParaRPr>
          </a:p>
        </p:txBody>
      </p:sp>
      <p:sp>
        <p:nvSpPr>
          <p:cNvPr id="62470" name="Text Box 4"/>
          <p:cNvSpPr txBox="1">
            <a:spLocks noChangeArrowheads="1"/>
          </p:cNvSpPr>
          <p:nvPr/>
        </p:nvSpPr>
        <p:spPr bwMode="auto">
          <a:xfrm>
            <a:off x="6781800" y="4876800"/>
            <a:ext cx="1219200" cy="1562100"/>
          </a:xfrm>
          <a:prstGeom prst="rect">
            <a:avLst/>
          </a:prstGeom>
          <a:noFill/>
          <a:ln w="952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endParaRPr kumimoji="1" lang="en-US" altLang="zh-CN" sz="2400">
              <a:latin typeface="Times New Roman" panose="02020603050405020304" pitchFamily="18" charset="0"/>
              <a:ea typeface="黑体" panose="02010609060101010101" pitchFamily="49" charset="-122"/>
            </a:endParaRPr>
          </a:p>
          <a:p>
            <a:pPr eaLnBrk="1" hangingPunct="1">
              <a:spcBef>
                <a:spcPct val="50000"/>
              </a:spcBef>
              <a:buClrTx/>
              <a:buFontTx/>
              <a:buNone/>
            </a:pPr>
            <a:r>
              <a:rPr kumimoji="1" lang="zh-CN" altLang="en-US" sz="2400">
                <a:solidFill>
                  <a:schemeClr val="accent2"/>
                </a:solidFill>
                <a:latin typeface="Times New Roman" panose="02020603050405020304" pitchFamily="18" charset="0"/>
                <a:ea typeface="黑体" panose="02010609060101010101" pitchFamily="49" charset="-122"/>
              </a:rPr>
              <a:t>哈希表</a:t>
            </a:r>
            <a:endParaRPr kumimoji="1" lang="zh-CN" altLang="en-US" sz="2400">
              <a:latin typeface="Times New Roman" panose="02020603050405020304" pitchFamily="18" charset="0"/>
              <a:ea typeface="黑体" panose="02010609060101010101" pitchFamily="49" charset="-122"/>
            </a:endParaRPr>
          </a:p>
          <a:p>
            <a:pPr eaLnBrk="1" hangingPunct="1">
              <a:spcBef>
                <a:spcPct val="50000"/>
              </a:spcBef>
              <a:buClrTx/>
              <a:buFontTx/>
              <a:buNone/>
            </a:pPr>
            <a:endParaRPr kumimoji="1" lang="en-US" altLang="zh-CN" sz="2400">
              <a:latin typeface="Times New Roman" panose="02020603050405020304" pitchFamily="18" charset="0"/>
              <a:ea typeface="黑体" panose="02010609060101010101" pitchFamily="49" charset="-122"/>
            </a:endParaRPr>
          </a:p>
        </p:txBody>
      </p:sp>
      <p:sp>
        <p:nvSpPr>
          <p:cNvPr id="62471" name="Text Box 5"/>
          <p:cNvSpPr txBox="1">
            <a:spLocks noChangeArrowheads="1"/>
          </p:cNvSpPr>
          <p:nvPr/>
        </p:nvSpPr>
        <p:spPr bwMode="auto">
          <a:xfrm>
            <a:off x="6400800" y="4800600"/>
            <a:ext cx="38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a:solidFill>
                  <a:schemeClr val="accent2"/>
                </a:solidFill>
                <a:latin typeface="Times New Roman" panose="02020603050405020304" pitchFamily="18" charset="0"/>
                <a:ea typeface="黑体" panose="02010609060101010101" pitchFamily="49" charset="-122"/>
              </a:rPr>
              <a:t>b</a:t>
            </a:r>
            <a:endParaRPr kumimoji="1" lang="en-US" altLang="zh-CN" sz="2400">
              <a:latin typeface="Times New Roman" panose="02020603050405020304" pitchFamily="18" charset="0"/>
              <a:ea typeface="黑体" panose="02010609060101010101" pitchFamily="49" charset="-122"/>
            </a:endParaRPr>
          </a:p>
        </p:txBody>
      </p:sp>
      <p:sp>
        <p:nvSpPr>
          <p:cNvPr id="62472" name="Text Box 6"/>
          <p:cNvSpPr txBox="1">
            <a:spLocks noChangeArrowheads="1"/>
          </p:cNvSpPr>
          <p:nvPr/>
        </p:nvSpPr>
        <p:spPr bwMode="auto">
          <a:xfrm>
            <a:off x="5486400" y="6019800"/>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a:solidFill>
                  <a:schemeClr val="accent2"/>
                </a:solidFill>
                <a:latin typeface="Times New Roman" panose="02020603050405020304" pitchFamily="18" charset="0"/>
                <a:ea typeface="黑体" panose="02010609060101010101" pitchFamily="49" charset="-122"/>
              </a:rPr>
              <a:t>b+(m-1)L</a:t>
            </a:r>
            <a:endParaRPr kumimoji="1" lang="en-US" altLang="zh-CN" sz="2400">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a:t>BUPT SCST</a:t>
            </a:r>
            <a:endParaRPr lang="en-US" altLang="zh-CN"/>
          </a:p>
        </p:txBody>
      </p:sp>
      <p:sp>
        <p:nvSpPr>
          <p:cNvPr id="7" name="日期占位符 5"/>
          <p:cNvSpPr>
            <a:spLocks noGrp="1"/>
          </p:cNvSpPr>
          <p:nvPr>
            <p:ph type="dt" sz="quarter" idx="12"/>
          </p:nvPr>
        </p:nvSpPr>
        <p:spPr/>
        <p:txBody>
          <a:bodyPr/>
          <a:lstStyle/>
          <a:p>
            <a:pPr>
              <a:defRPr/>
            </a:pPr>
            <a:r>
              <a:rPr lang="en-US" altLang="zh-CN"/>
              <a:t>BUPT</a:t>
            </a:r>
            <a:endParaRPr lang="en-US" altLang="zh-CN"/>
          </a:p>
        </p:txBody>
      </p:sp>
      <p:sp>
        <p:nvSpPr>
          <p:cNvPr id="63492" name="Freeform 2"/>
          <p:cNvSpPr/>
          <p:nvPr/>
        </p:nvSpPr>
        <p:spPr bwMode="auto">
          <a:xfrm>
            <a:off x="3352800" y="5497513"/>
            <a:ext cx="882650" cy="446087"/>
          </a:xfrm>
          <a:custGeom>
            <a:avLst/>
            <a:gdLst>
              <a:gd name="T0" fmla="*/ 0 w 316"/>
              <a:gd name="T1" fmla="*/ 2147483646 h 233"/>
              <a:gd name="T2" fmla="*/ 2147483646 w 316"/>
              <a:gd name="T3" fmla="*/ 2147483646 h 233"/>
              <a:gd name="T4" fmla="*/ 2147483646 w 316"/>
              <a:gd name="T5" fmla="*/ 2147483646 h 233"/>
              <a:gd name="T6" fmla="*/ 2147483646 w 316"/>
              <a:gd name="T7" fmla="*/ 2147483646 h 233"/>
              <a:gd name="T8" fmla="*/ 2147483646 w 316"/>
              <a:gd name="T9" fmla="*/ 2147483646 h 233"/>
              <a:gd name="T10" fmla="*/ 2147483646 w 316"/>
              <a:gd name="T11" fmla="*/ 2147483646 h 233"/>
              <a:gd name="T12" fmla="*/ 2147483646 w 316"/>
              <a:gd name="T13" fmla="*/ 2147483646 h 233"/>
              <a:gd name="T14" fmla="*/ 0 w 316"/>
              <a:gd name="T15" fmla="*/ 2147483646 h 23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6" h="233">
                <a:moveTo>
                  <a:pt x="0" y="168"/>
                </a:moveTo>
                <a:cubicBezTo>
                  <a:pt x="2" y="141"/>
                  <a:pt x="0" y="114"/>
                  <a:pt x="7" y="88"/>
                </a:cubicBezTo>
                <a:cubicBezTo>
                  <a:pt x="29" y="13"/>
                  <a:pt x="124" y="27"/>
                  <a:pt x="181" y="22"/>
                </a:cubicBezTo>
                <a:cubicBezTo>
                  <a:pt x="251" y="0"/>
                  <a:pt x="210" y="7"/>
                  <a:pt x="305" y="15"/>
                </a:cubicBezTo>
                <a:cubicBezTo>
                  <a:pt x="303" y="47"/>
                  <a:pt x="316" y="194"/>
                  <a:pt x="254" y="212"/>
                </a:cubicBezTo>
                <a:cubicBezTo>
                  <a:pt x="230" y="219"/>
                  <a:pt x="205" y="217"/>
                  <a:pt x="181" y="219"/>
                </a:cubicBezTo>
                <a:cubicBezTo>
                  <a:pt x="134" y="230"/>
                  <a:pt x="127" y="233"/>
                  <a:pt x="72" y="226"/>
                </a:cubicBezTo>
                <a:cubicBezTo>
                  <a:pt x="29" y="199"/>
                  <a:pt x="49" y="168"/>
                  <a:pt x="0" y="168"/>
                </a:cubicBezTo>
                <a:close/>
              </a:path>
            </a:pathLst>
          </a:custGeom>
          <a:solidFill>
            <a:srgbClr val="FFFFFF"/>
          </a:solidFill>
          <a:ln w="28575" cap="flat" cmpd="sng">
            <a:solidFill>
              <a:schemeClr val="folHlink"/>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3493" name="Rectangle 3"/>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63494" name="Rectangle 4"/>
          <p:cNvSpPr>
            <a:spLocks noGrp="1" noChangeArrowheads="1"/>
          </p:cNvSpPr>
          <p:nvPr>
            <p:ph type="body" idx="1"/>
          </p:nvPr>
        </p:nvSpPr>
        <p:spPr>
          <a:xfrm>
            <a:off x="457200" y="1152525"/>
            <a:ext cx="8229600" cy="5444827"/>
          </a:xfrm>
        </p:spPr>
        <p:txBody>
          <a:bodyPr/>
          <a:lstStyle/>
          <a:p>
            <a:pPr eaLnBrk="1" hangingPunct="1">
              <a:lnSpc>
                <a:spcPct val="90000"/>
              </a:lnSpc>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哈希函数的基本构造方法</a:t>
            </a:r>
            <a:r>
              <a:rPr lang="en-US" altLang="zh-CN" sz="2400" b="1" dirty="0" smtClean="0">
                <a:solidFill>
                  <a:srgbClr val="CC66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构造原则：  算法简单，运算量小；</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均匀分布，减少冲突。</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b="1" dirty="0" smtClean="0">
                <a:solidFill>
                  <a:srgbClr val="CC6600"/>
                </a:solidFill>
                <a:ea typeface="华文楷体" panose="02010600040101010101" pitchFamily="2" charset="-122"/>
              </a:rPr>
              <a:t>[1. </a:t>
            </a:r>
            <a:r>
              <a:rPr lang="zh-CN" altLang="en-US" sz="2400" b="1" dirty="0" smtClean="0">
                <a:solidFill>
                  <a:srgbClr val="CC6600"/>
                </a:solidFill>
                <a:ea typeface="华文楷体" panose="02010600040101010101" pitchFamily="2" charset="-122"/>
              </a:rPr>
              <a:t>直接定址法</a:t>
            </a:r>
            <a:r>
              <a:rPr lang="en-US" altLang="zh-CN" sz="2400" b="1" dirty="0" smtClean="0">
                <a:solidFill>
                  <a:srgbClr val="CC66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H(key)=a </a:t>
            </a:r>
            <a:r>
              <a:rPr lang="en-US" altLang="zh-CN" sz="2400" dirty="0" smtClean="0">
                <a:ea typeface="华文楷体" panose="02010600040101010101" pitchFamily="2" charset="-122"/>
                <a:sym typeface="Symbol" panose="05050102010706020507" pitchFamily="18" charset="2"/>
              </a:rPr>
              <a:t>*key + b             a</a:t>
            </a:r>
            <a:r>
              <a:rPr lang="zh-CN" altLang="en-US"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sym typeface="Symbol" panose="05050102010706020507" pitchFamily="18" charset="2"/>
              </a:rPr>
              <a:t>b</a:t>
            </a:r>
            <a:r>
              <a:rPr lang="zh-CN" altLang="en-US" sz="2400" dirty="0" smtClean="0">
                <a:ea typeface="华文楷体" panose="02010600040101010101" pitchFamily="2" charset="-122"/>
                <a:sym typeface="Symbol" panose="05050102010706020507" pitchFamily="18" charset="2"/>
              </a:rPr>
              <a:t>为常数</a:t>
            </a:r>
            <a:endParaRPr lang="zh-CN" altLang="en-US" sz="2400" dirty="0" smtClean="0">
              <a:ea typeface="华文楷体" panose="02010600040101010101" pitchFamily="2" charset="-122"/>
              <a:sym typeface="Symbol" panose="05050102010706020507" pitchFamily="18" charset="2"/>
            </a:endParaRPr>
          </a:p>
          <a:p>
            <a:pPr eaLnBrk="1" hangingPunct="1">
              <a:lnSpc>
                <a:spcPct val="90000"/>
              </a:lnSpc>
              <a:buFont typeface="Wingdings" panose="05000000000000000000" pitchFamily="2" charset="2"/>
              <a:buNone/>
            </a:pPr>
            <a:r>
              <a:rPr lang="en-US" altLang="zh-CN" sz="2400" dirty="0" err="1" smtClean="0">
                <a:ea typeface="华文楷体" panose="02010600040101010101" pitchFamily="2" charset="-122"/>
                <a:sym typeface="Symbol" panose="05050102010706020507" pitchFamily="18" charset="2"/>
              </a:rPr>
              <a:t>e.g</a:t>
            </a:r>
            <a:r>
              <a:rPr lang="en-US" altLang="zh-CN" sz="2400" dirty="0" smtClean="0">
                <a:ea typeface="华文楷体" panose="02010600040101010101" pitchFamily="2" charset="-122"/>
                <a:sym typeface="Symbol" panose="05050102010706020507" pitchFamily="18" charset="2"/>
              </a:rPr>
              <a:t>: </a:t>
            </a:r>
            <a:r>
              <a:rPr lang="zh-CN" altLang="en-US" sz="2400" dirty="0" smtClean="0">
                <a:ea typeface="华文楷体" panose="02010600040101010101" pitchFamily="2" charset="-122"/>
                <a:sym typeface="Symbol" panose="05050102010706020507" pitchFamily="18" charset="2"/>
              </a:rPr>
              <a:t>令：</a:t>
            </a:r>
            <a:r>
              <a:rPr lang="en-US" altLang="zh-CN" sz="2400" dirty="0" smtClean="0">
                <a:ea typeface="华文楷体" panose="02010600040101010101" pitchFamily="2" charset="-122"/>
                <a:sym typeface="Symbol" panose="05050102010706020507" pitchFamily="18" charset="2"/>
              </a:rPr>
              <a:t>a</a:t>
            </a:r>
            <a:r>
              <a:rPr lang="zh-CN" altLang="en-US" sz="2400" dirty="0" smtClean="0">
                <a:ea typeface="华文楷体" panose="02010600040101010101" pitchFamily="2" charset="-122"/>
                <a:sym typeface="Symbol" panose="05050102010706020507" pitchFamily="18" charset="2"/>
              </a:rPr>
              <a:t>、</a:t>
            </a:r>
            <a:r>
              <a:rPr lang="en-US" altLang="zh-CN" sz="2400" dirty="0" smtClean="0">
                <a:ea typeface="华文楷体" panose="02010600040101010101" pitchFamily="2" charset="-122"/>
                <a:sym typeface="Symbol" panose="05050102010706020507" pitchFamily="18" charset="2"/>
              </a:rPr>
              <a:t>b</a:t>
            </a:r>
            <a:r>
              <a:rPr lang="zh-CN" altLang="en-US" sz="2400" dirty="0" smtClean="0">
                <a:ea typeface="华文楷体" panose="02010600040101010101" pitchFamily="2" charset="-122"/>
                <a:sym typeface="Symbol" panose="05050102010706020507" pitchFamily="18" charset="2"/>
              </a:rPr>
              <a:t>为</a:t>
            </a:r>
            <a:r>
              <a:rPr lang="en-US" altLang="zh-CN" sz="2400" dirty="0" smtClean="0">
                <a:ea typeface="华文楷体" panose="02010600040101010101" pitchFamily="2" charset="-122"/>
                <a:sym typeface="Symbol" panose="05050102010706020507" pitchFamily="18" charset="2"/>
              </a:rPr>
              <a:t>1</a:t>
            </a:r>
            <a:r>
              <a:rPr lang="zh-CN" altLang="en-US" sz="2400" dirty="0" smtClean="0">
                <a:ea typeface="华文楷体" panose="02010600040101010101" pitchFamily="2" charset="-122"/>
                <a:sym typeface="Symbol" panose="05050102010706020507" pitchFamily="18" charset="2"/>
              </a:rPr>
              <a:t>，有两个关键字</a:t>
            </a:r>
            <a:r>
              <a:rPr lang="en-US" altLang="zh-CN" sz="2400" dirty="0" smtClean="0">
                <a:ea typeface="华文楷体" panose="02010600040101010101" pitchFamily="2" charset="-122"/>
              </a:rPr>
              <a:t>k1, k2 </a:t>
            </a:r>
            <a:r>
              <a:rPr lang="zh-CN" altLang="zh-CN" sz="2400" dirty="0" smtClean="0">
                <a:ea typeface="华文楷体" panose="02010600040101010101" pitchFamily="2" charset="-122"/>
              </a:rPr>
              <a:t>值</a:t>
            </a:r>
            <a:r>
              <a:rPr lang="zh-CN" altLang="en-US" sz="2400" dirty="0" smtClean="0">
                <a:ea typeface="华文楷体" panose="02010600040101010101" pitchFamily="2" charset="-122"/>
              </a:rPr>
              <a:t>为</a:t>
            </a:r>
            <a:r>
              <a:rPr lang="zh-CN" altLang="zh-CN" sz="2400" dirty="0" smtClean="0">
                <a:ea typeface="华文楷体" panose="02010600040101010101" pitchFamily="2" charset="-122"/>
              </a:rPr>
              <a:t> 10 、1000；选10 、1000 作为存放地址。</a:t>
            </a:r>
            <a:endParaRPr lang="zh-CN" altLang="en-US" sz="2400" dirty="0" smtClean="0">
              <a:ea typeface="华文楷体" panose="02010600040101010101" pitchFamily="2" charset="-122"/>
              <a:sym typeface="Symbol" panose="05050102010706020507" pitchFamily="18" charset="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特点：计算简单，冲突最少。</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b="1" dirty="0" smtClean="0">
                <a:solidFill>
                  <a:srgbClr val="CC6600"/>
                </a:solidFill>
                <a:ea typeface="华文楷体" panose="02010600040101010101" pitchFamily="2" charset="-122"/>
              </a:rPr>
              <a:t>[2. </a:t>
            </a:r>
            <a:r>
              <a:rPr lang="zh-CN" altLang="en-US" sz="2400" b="1" dirty="0" smtClean="0">
                <a:solidFill>
                  <a:srgbClr val="CC6600"/>
                </a:solidFill>
                <a:ea typeface="华文楷体" panose="02010600040101010101" pitchFamily="2" charset="-122"/>
              </a:rPr>
              <a:t>数字分析法</a:t>
            </a: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基数转换法</a:t>
            </a:r>
            <a:r>
              <a:rPr lang="en-US" altLang="zh-CN" sz="2400" b="1" dirty="0" smtClean="0">
                <a:solidFill>
                  <a:srgbClr val="CC66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取关键字在某种进制下的若干数位作为哈希地址。</a:t>
            </a:r>
            <a:r>
              <a:rPr lang="zh-CN" altLang="en-US" sz="2400" dirty="0" smtClean="0">
                <a:solidFill>
                  <a:srgbClr val="C00000"/>
                </a:solidFill>
                <a:ea typeface="华文楷体" panose="02010600040101010101" pitchFamily="2" charset="-122"/>
              </a:rPr>
              <a:t>对于非数字关键字要先转成非负整数</a:t>
            </a:r>
            <a:r>
              <a:rPr lang="zh-CN" altLang="en-US" sz="2400" dirty="0" smtClean="0">
                <a:ea typeface="华文楷体" panose="02010600040101010101" pitchFamily="2" charset="-122"/>
              </a:rPr>
              <a:t>。</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err="1" smtClean="0">
                <a:ea typeface="华文楷体" panose="02010600040101010101" pitchFamily="2" charset="-122"/>
              </a:rPr>
              <a:t>e.g</a:t>
            </a:r>
            <a:r>
              <a:rPr lang="en-US" altLang="zh-CN" sz="2400" dirty="0" smtClean="0">
                <a:ea typeface="华文楷体" panose="02010600040101010101" pitchFamily="2" charset="-122"/>
              </a:rPr>
              <a:t>: key = 236076 </a:t>
            </a:r>
            <a:r>
              <a:rPr lang="zh-CN" altLang="en-US" sz="2400" dirty="0" smtClean="0">
                <a:ea typeface="华文楷体" panose="02010600040101010101" pitchFamily="2" charset="-122"/>
              </a:rPr>
              <a:t>基数为</a:t>
            </a:r>
            <a:r>
              <a:rPr lang="en-US" altLang="zh-CN" sz="2400" dirty="0" smtClean="0">
                <a:ea typeface="华文楷体" panose="02010600040101010101" pitchFamily="2" charset="-122"/>
              </a:rPr>
              <a:t>10</a:t>
            </a:r>
            <a:r>
              <a:rPr lang="zh-CN" altLang="en-US" sz="2400" dirty="0" smtClean="0">
                <a:ea typeface="华文楷体" panose="02010600040101010101" pitchFamily="2" charset="-122"/>
              </a:rPr>
              <a:t>，看成是 </a:t>
            </a:r>
            <a:r>
              <a:rPr lang="en-US" altLang="zh-CN" sz="2400" dirty="0" smtClean="0">
                <a:ea typeface="华文楷体" panose="02010600040101010101" pitchFamily="2" charset="-122"/>
              </a:rPr>
              <a:t>13 </a:t>
            </a:r>
            <a:r>
              <a:rPr lang="zh-CN" altLang="en-US" sz="2400" dirty="0" smtClean="0">
                <a:ea typeface="华文楷体" panose="02010600040101010101" pitchFamily="2" charset="-122"/>
              </a:rPr>
              <a:t>进制的。</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则：</a:t>
            </a:r>
            <a:r>
              <a:rPr lang="en-US" altLang="zh-CN" sz="2400" dirty="0" smtClean="0">
                <a:ea typeface="华文楷体" panose="02010600040101010101" pitchFamily="2" charset="-122"/>
              </a:rPr>
              <a:t>(236075)</a:t>
            </a:r>
            <a:r>
              <a:rPr lang="en-US" altLang="zh-CN" sz="2400" baseline="-25000" dirty="0" smtClean="0">
                <a:ea typeface="华文楷体" panose="02010600040101010101" pitchFamily="2" charset="-122"/>
              </a:rPr>
              <a:t>13</a:t>
            </a:r>
            <a:r>
              <a:rPr lang="en-US" altLang="zh-CN" sz="2400" dirty="0" smtClean="0">
                <a:ea typeface="华文楷体" panose="02010600040101010101" pitchFamily="2" charset="-122"/>
              </a:rPr>
              <a:t>  = 8  4154  7</a:t>
            </a:r>
            <a:r>
              <a:rPr lang="zh-CN" altLang="en-US" sz="2400" dirty="0" smtClean="0">
                <a:ea typeface="华文楷体" panose="02010600040101010101" pitchFamily="2" charset="-122"/>
              </a:rPr>
              <a:t>；选取  </a:t>
            </a:r>
            <a:r>
              <a:rPr lang="en-US" altLang="zh-CN" sz="2400" dirty="0" smtClean="0">
                <a:ea typeface="华文楷体" panose="02010600040101010101" pitchFamily="2" charset="-122"/>
              </a:rPr>
              <a:t>4154 </a:t>
            </a:r>
            <a:r>
              <a:rPr lang="zh-CN" altLang="en-US" sz="2400" dirty="0" smtClean="0">
                <a:ea typeface="华文楷体" panose="02010600040101010101" pitchFamily="2" charset="-122"/>
              </a:rPr>
              <a:t>作为散列地址</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假设 表长</a:t>
            </a:r>
            <a:r>
              <a:rPr lang="en-US" altLang="zh-CN" sz="2400" dirty="0" smtClean="0">
                <a:ea typeface="华文楷体" panose="02010600040101010101" pitchFamily="2" charset="-122"/>
              </a:rPr>
              <a:t>m =10000)</a:t>
            </a:r>
            <a:r>
              <a:rPr lang="zh-CN" altLang="en-US" dirty="0" smtClean="0">
                <a:ea typeface="华文楷体" panose="02010600040101010101" pitchFamily="2" charset="-122"/>
              </a:rPr>
              <a:t>。</a:t>
            </a:r>
            <a:endParaRPr lang="en-US" altLang="zh-CN" dirty="0" smtClean="0">
              <a:ea typeface="华文楷体" panose="02010600040101010101" pitchFamily="2" charset="-122"/>
            </a:endParaRPr>
          </a:p>
          <a:p>
            <a:pPr eaLnBrk="1" hangingPunct="1">
              <a:lnSpc>
                <a:spcPct val="90000"/>
              </a:lnSpc>
              <a:buFont typeface="Wingdings" panose="05000000000000000000" pitchFamily="2" charset="2"/>
              <a:buNone/>
            </a:pPr>
            <a:endParaRPr lang="zh-CN" altLang="en-US" sz="2400" dirty="0" smtClean="0">
              <a:ea typeface="华文楷体" panose="02010600040101010101" pitchFamily="2" charset="-122"/>
            </a:endParaRPr>
          </a:p>
        </p:txBody>
      </p:sp>
      <p:sp>
        <p:nvSpPr>
          <p:cNvPr id="63495" name="AutoShape 5"/>
          <p:cNvSpPr/>
          <p:nvPr/>
        </p:nvSpPr>
        <p:spPr bwMode="auto">
          <a:xfrm>
            <a:off x="1981200" y="1676400"/>
            <a:ext cx="228600" cy="685800"/>
          </a:xfrm>
          <a:prstGeom prst="leftBrace">
            <a:avLst>
              <a:gd name="adj1" fmla="val 25000"/>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pPr marL="0" indent="0">
              <a:buNone/>
            </a:pPr>
            <a:r>
              <a:rPr lang="zh-CN" altLang="en-US" sz="2400" dirty="0">
                <a:ea typeface="华文楷体" panose="02010600040101010101" pitchFamily="2" charset="-122"/>
              </a:rPr>
              <a:t>两种非数字</a:t>
            </a:r>
            <a:r>
              <a:rPr lang="zh-CN" altLang="en-US" sz="2400" dirty="0" smtClean="0">
                <a:ea typeface="华文楷体" panose="02010600040101010101" pitchFamily="2" charset="-122"/>
              </a:rPr>
              <a:t>关键字转换成非负整数的方法</a:t>
            </a:r>
            <a:endParaRPr lang="zh-CN" altLang="en-US" sz="2400" dirty="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
        <p:nvSpPr>
          <p:cNvPr id="7" name="文本框 6"/>
          <p:cNvSpPr txBox="1"/>
          <p:nvPr/>
        </p:nvSpPr>
        <p:spPr>
          <a:xfrm>
            <a:off x="179512" y="1682921"/>
            <a:ext cx="4140198" cy="4290405"/>
          </a:xfrm>
          <a:prstGeom prst="rect">
            <a:avLst/>
          </a:prstGeom>
          <a:noFill/>
          <a:ln>
            <a:solidFill>
              <a:schemeClr val="accent1"/>
            </a:solidFill>
          </a:ln>
        </p:spPr>
        <p:txBody>
          <a:bodyPr wrap="square" rtlCol="0">
            <a:spAutoFit/>
          </a:bodyPr>
          <a:lstStyle/>
          <a:p>
            <a:pPr>
              <a:spcBef>
                <a:spcPct val="20000"/>
              </a:spcBef>
              <a:buClr>
                <a:schemeClr val="hlink"/>
              </a:buClr>
            </a:pPr>
            <a:r>
              <a:rPr lang="zh-CN" altLang="en-US" sz="2200" dirty="0">
                <a:latin typeface="Times New Roman" panose="02020603050405020304" pitchFamily="18" charset="0"/>
                <a:ea typeface="华文楷体" panose="02010600040101010101" pitchFamily="2" charset="-122"/>
              </a:rPr>
              <a:t>方法一：把每个字符先转成唯一整数，再这些整数相加之和作为</a:t>
            </a:r>
            <a:r>
              <a:rPr lang="en-US" altLang="zh-CN" sz="2200" dirty="0" smtClean="0">
                <a:latin typeface="Times New Roman" panose="02020603050405020304" pitchFamily="18" charset="0"/>
                <a:ea typeface="华文楷体" panose="02010600040101010101" pitchFamily="2" charset="-122"/>
              </a:rPr>
              <a:t>hash</a:t>
            </a:r>
            <a:r>
              <a:rPr lang="zh-CN" altLang="en-US" sz="2200" dirty="0" smtClean="0">
                <a:latin typeface="Times New Roman" panose="02020603050405020304" pitchFamily="18" charset="0"/>
                <a:ea typeface="华文楷体" panose="02010600040101010101" pitchFamily="2" charset="-122"/>
              </a:rPr>
              <a:t>地址</a:t>
            </a:r>
            <a:r>
              <a:rPr lang="zh-CN" altLang="en-US" sz="2200" dirty="0">
                <a:latin typeface="Times New Roman" panose="02020603050405020304" pitchFamily="18" charset="0"/>
                <a:ea typeface="华文楷体" panose="02010600040101010101" pitchFamily="2" charset="-122"/>
              </a:rPr>
              <a:t>，每个字符对应整数</a:t>
            </a:r>
            <a:r>
              <a:rPr lang="en-US" altLang="zh-CN" sz="2200" dirty="0">
                <a:latin typeface="Times New Roman" panose="02020603050405020304" pitchFamily="18" charset="0"/>
                <a:ea typeface="华文楷体" panose="02010600040101010101" pitchFamily="2" charset="-122"/>
              </a:rPr>
              <a:t>0~255</a:t>
            </a:r>
            <a:r>
              <a:rPr lang="zh-CN" altLang="en-US" sz="2200" dirty="0">
                <a:latin typeface="Times New Roman" panose="02020603050405020304" pitchFamily="18" charset="0"/>
                <a:ea typeface="华文楷体" panose="02010600040101010101" pitchFamily="2" charset="-122"/>
              </a:rPr>
              <a:t>，函数返回值不超过</a:t>
            </a:r>
            <a:r>
              <a:rPr lang="en-US" altLang="zh-CN" sz="2200" dirty="0">
                <a:latin typeface="Times New Roman" panose="02020603050405020304" pitchFamily="18" charset="0"/>
                <a:ea typeface="华文楷体" panose="02010600040101010101" pitchFamily="2" charset="-122"/>
              </a:rPr>
              <a:t>8bit</a:t>
            </a:r>
            <a:r>
              <a:rPr lang="zh-CN" altLang="en-US" sz="2200" dirty="0" smtClean="0">
                <a:latin typeface="Times New Roman" panose="02020603050405020304" pitchFamily="18" charset="0"/>
                <a:ea typeface="华文楷体" panose="02010600040101010101" pitchFamily="2" charset="-122"/>
              </a:rPr>
              <a:t>。</a:t>
            </a:r>
            <a:endParaRPr lang="en-US" altLang="zh-CN" sz="2200" dirty="0" smtClean="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2200" dirty="0" smtClean="0">
                <a:latin typeface="Times New Roman" panose="02020603050405020304" pitchFamily="18" charset="0"/>
                <a:ea typeface="华文楷体" panose="02010600040101010101" pitchFamily="2" charset="-122"/>
              </a:rPr>
              <a:t>unsigned </a:t>
            </a:r>
            <a:r>
              <a:rPr lang="en-US" altLang="zh-CN" sz="2200" dirty="0" err="1">
                <a:latin typeface="Times New Roman" panose="02020603050405020304" pitchFamily="18" charset="0"/>
                <a:ea typeface="华文楷体" panose="02010600040101010101" pitchFamily="2" charset="-122"/>
              </a:rPr>
              <a:t>int</a:t>
            </a:r>
            <a:r>
              <a:rPr lang="en-US" altLang="zh-CN" sz="2200" dirty="0">
                <a:latin typeface="Times New Roman" panose="02020603050405020304" pitchFamily="18" charset="0"/>
                <a:ea typeface="华文楷体" panose="02010600040101010101" pitchFamily="2" charset="-122"/>
              </a:rPr>
              <a:t> </a:t>
            </a:r>
            <a:r>
              <a:rPr lang="en-US" altLang="zh-CN" sz="2200" dirty="0" err="1">
                <a:latin typeface="Times New Roman" panose="02020603050405020304" pitchFamily="18" charset="0"/>
                <a:ea typeface="华文楷体" panose="02010600040101010101" pitchFamily="2" charset="-122"/>
              </a:rPr>
              <a:t>StringtoInt</a:t>
            </a:r>
            <a:r>
              <a:rPr lang="en-US" altLang="zh-CN" sz="2200" dirty="0">
                <a:latin typeface="Times New Roman" panose="02020603050405020304" pitchFamily="18" charset="0"/>
                <a:ea typeface="华文楷体" panose="02010600040101010101" pitchFamily="2" charset="-122"/>
              </a:rPr>
              <a:t>(char *key)</a:t>
            </a:r>
            <a:endParaRPr lang="en-US" altLang="zh-CN" sz="22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2200" dirty="0">
                <a:latin typeface="Times New Roman" panose="02020603050405020304" pitchFamily="18" charset="0"/>
                <a:ea typeface="华文楷体" panose="02010600040101010101" pitchFamily="2" charset="-122"/>
              </a:rPr>
              <a:t>{</a:t>
            </a:r>
            <a:endParaRPr lang="en-US" altLang="zh-CN" sz="22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2200" dirty="0">
                <a:latin typeface="Times New Roman" panose="02020603050405020304" pitchFamily="18" charset="0"/>
                <a:ea typeface="华文楷体" panose="02010600040101010101" pitchFamily="2" charset="-122"/>
              </a:rPr>
              <a:t>    </a:t>
            </a:r>
            <a:r>
              <a:rPr lang="en-US" altLang="zh-CN" sz="2200" dirty="0" err="1">
                <a:latin typeface="Times New Roman" panose="02020603050405020304" pitchFamily="18" charset="0"/>
                <a:ea typeface="华文楷体" panose="02010600040101010101" pitchFamily="2" charset="-122"/>
              </a:rPr>
              <a:t>int</a:t>
            </a:r>
            <a:r>
              <a:rPr lang="en-US" altLang="zh-CN" sz="2200" dirty="0">
                <a:latin typeface="Times New Roman" panose="02020603050405020304" pitchFamily="18" charset="0"/>
                <a:ea typeface="华文楷体" panose="02010600040101010101" pitchFamily="2" charset="-122"/>
              </a:rPr>
              <a:t> number =0;</a:t>
            </a:r>
            <a:endParaRPr lang="en-US" altLang="zh-CN" sz="22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2200" dirty="0">
                <a:latin typeface="Times New Roman" panose="02020603050405020304" pitchFamily="18" charset="0"/>
                <a:ea typeface="华文楷体" panose="02010600040101010101" pitchFamily="2" charset="-122"/>
              </a:rPr>
              <a:t>    while(*key)</a:t>
            </a:r>
            <a:endParaRPr lang="en-US" altLang="zh-CN" sz="22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2200" dirty="0">
                <a:latin typeface="Times New Roman" panose="02020603050405020304" pitchFamily="18" charset="0"/>
                <a:ea typeface="华文楷体" panose="02010600040101010101" pitchFamily="2" charset="-122"/>
              </a:rPr>
              <a:t>        number +=*key++;</a:t>
            </a:r>
            <a:endParaRPr lang="en-US" altLang="zh-CN" sz="22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2200" dirty="0">
                <a:latin typeface="Times New Roman" panose="02020603050405020304" pitchFamily="18" charset="0"/>
                <a:ea typeface="华文楷体" panose="02010600040101010101" pitchFamily="2" charset="-122"/>
              </a:rPr>
              <a:t>    return number;</a:t>
            </a:r>
            <a:endParaRPr lang="en-US" altLang="zh-CN" sz="22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2200" dirty="0">
                <a:latin typeface="Times New Roman" panose="02020603050405020304" pitchFamily="18" charset="0"/>
                <a:ea typeface="华文楷体" panose="02010600040101010101" pitchFamily="2" charset="-122"/>
              </a:rPr>
              <a:t>}</a:t>
            </a:r>
            <a:endParaRPr lang="zh-CN" altLang="en-US" sz="2200" dirty="0">
              <a:latin typeface="Times New Roman" panose="02020603050405020304" pitchFamily="18" charset="0"/>
              <a:ea typeface="华文楷体" panose="02010600040101010101" pitchFamily="2" charset="-122"/>
            </a:endParaRPr>
          </a:p>
        </p:txBody>
      </p:sp>
      <p:sp>
        <p:nvSpPr>
          <p:cNvPr id="8" name="文本框 7"/>
          <p:cNvSpPr txBox="1"/>
          <p:nvPr/>
        </p:nvSpPr>
        <p:spPr>
          <a:xfrm>
            <a:off x="4600026" y="1682921"/>
            <a:ext cx="4367090" cy="4425827"/>
          </a:xfrm>
          <a:prstGeom prst="rect">
            <a:avLst/>
          </a:prstGeom>
          <a:noFill/>
          <a:ln>
            <a:solidFill>
              <a:schemeClr val="accent1"/>
            </a:solidFill>
          </a:ln>
        </p:spPr>
        <p:txBody>
          <a:bodyPr wrap="square" rtlCol="0">
            <a:spAutoFit/>
          </a:bodyPr>
          <a:lstStyle/>
          <a:p>
            <a:pPr>
              <a:spcBef>
                <a:spcPct val="20000"/>
              </a:spcBef>
              <a:buClr>
                <a:schemeClr val="hlink"/>
              </a:buClr>
            </a:pPr>
            <a:r>
              <a:rPr lang="zh-CN" altLang="en-US" sz="2200" dirty="0">
                <a:latin typeface="Times New Roman" panose="02020603050405020304" pitchFamily="18" charset="0"/>
                <a:ea typeface="华文楷体" panose="02010600040101010101" pitchFamily="2" charset="-122"/>
              </a:rPr>
              <a:t>方法二</a:t>
            </a:r>
            <a:r>
              <a:rPr lang="zh-CN" altLang="en-US" sz="2200" dirty="0" smtClean="0">
                <a:latin typeface="Times New Roman" panose="02020603050405020304" pitchFamily="18" charset="0"/>
                <a:ea typeface="华文楷体" panose="02010600040101010101" pitchFamily="2" charset="-122"/>
              </a:rPr>
              <a:t>：每</a:t>
            </a:r>
            <a:r>
              <a:rPr lang="zh-CN" altLang="en-US" sz="2200" dirty="0">
                <a:latin typeface="Times New Roman" panose="02020603050405020304" pitchFamily="18" charset="0"/>
                <a:ea typeface="华文楷体" panose="02010600040101010101" pitchFamily="2" charset="-122"/>
              </a:rPr>
              <a:t>隔一个字符左移</a:t>
            </a:r>
            <a:r>
              <a:rPr lang="en-US" altLang="zh-CN" sz="2200" dirty="0">
                <a:latin typeface="Times New Roman" panose="02020603050405020304" pitchFamily="18" charset="0"/>
                <a:ea typeface="华文楷体" panose="02010600040101010101" pitchFamily="2" charset="-122"/>
              </a:rPr>
              <a:t>8</a:t>
            </a:r>
            <a:r>
              <a:rPr lang="zh-CN" altLang="en-US" sz="2200" dirty="0" smtClean="0">
                <a:latin typeface="Times New Roman" panose="02020603050405020304" pitchFamily="18" charset="0"/>
                <a:ea typeface="华文楷体" panose="02010600040101010101" pitchFamily="2" charset="-122"/>
              </a:rPr>
              <a:t>位</a:t>
            </a:r>
            <a:r>
              <a:rPr lang="zh-CN" altLang="en-US" sz="2200" dirty="0">
                <a:latin typeface="Times New Roman" panose="02020603050405020304" pitchFamily="18" charset="0"/>
                <a:ea typeface="华文楷体" panose="02010600040101010101" pitchFamily="2" charset="-122"/>
              </a:rPr>
              <a:t>后</a:t>
            </a:r>
            <a:r>
              <a:rPr lang="zh-CN" altLang="en-US" sz="2200" dirty="0" smtClean="0">
                <a:latin typeface="Times New Roman" panose="02020603050405020304" pitchFamily="18" charset="0"/>
                <a:ea typeface="华文楷体" panose="02010600040101010101" pitchFamily="2" charset="-122"/>
              </a:rPr>
              <a:t>，与</a:t>
            </a:r>
            <a:r>
              <a:rPr lang="zh-CN" altLang="en-US" sz="2200" dirty="0">
                <a:latin typeface="Times New Roman" panose="02020603050405020304" pitchFamily="18" charset="0"/>
                <a:ea typeface="华文楷体" panose="02010600040101010101" pitchFamily="2" charset="-122"/>
              </a:rPr>
              <a:t>已得结果相加。</a:t>
            </a:r>
            <a:endParaRPr lang="en-US" altLang="zh-CN" sz="22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2200" dirty="0" smtClean="0">
                <a:latin typeface="Times New Roman" panose="02020603050405020304" pitchFamily="18" charset="0"/>
                <a:ea typeface="华文楷体" panose="02010600040101010101" pitchFamily="2" charset="-122"/>
              </a:rPr>
              <a:t>unsigned </a:t>
            </a:r>
            <a:r>
              <a:rPr lang="en-US" altLang="zh-CN" sz="2200" dirty="0" err="1">
                <a:latin typeface="Times New Roman" panose="02020603050405020304" pitchFamily="18" charset="0"/>
                <a:ea typeface="华文楷体" panose="02010600040101010101" pitchFamily="2" charset="-122"/>
              </a:rPr>
              <a:t>int</a:t>
            </a:r>
            <a:r>
              <a:rPr lang="en-US" altLang="zh-CN" sz="2200" dirty="0">
                <a:latin typeface="Times New Roman" panose="02020603050405020304" pitchFamily="18" charset="0"/>
                <a:ea typeface="华文楷体" panose="02010600040101010101" pitchFamily="2" charset="-122"/>
              </a:rPr>
              <a:t> </a:t>
            </a:r>
            <a:r>
              <a:rPr lang="en-US" altLang="zh-CN" sz="2200" dirty="0" err="1">
                <a:latin typeface="Times New Roman" panose="02020603050405020304" pitchFamily="18" charset="0"/>
                <a:ea typeface="华文楷体" panose="02010600040101010101" pitchFamily="2" charset="-122"/>
              </a:rPr>
              <a:t>StringtoInt</a:t>
            </a:r>
            <a:r>
              <a:rPr lang="en-US" altLang="zh-CN" sz="2200" dirty="0">
                <a:latin typeface="Times New Roman" panose="02020603050405020304" pitchFamily="18" charset="0"/>
                <a:ea typeface="华文楷体" panose="02010600040101010101" pitchFamily="2" charset="-122"/>
              </a:rPr>
              <a:t>(char *key)</a:t>
            </a:r>
            <a:endParaRPr lang="en-US" altLang="zh-CN" sz="22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2200" dirty="0">
                <a:latin typeface="Times New Roman" panose="02020603050405020304" pitchFamily="18" charset="0"/>
                <a:ea typeface="华文楷体" panose="02010600040101010101" pitchFamily="2" charset="-122"/>
              </a:rPr>
              <a:t>{</a:t>
            </a:r>
            <a:endParaRPr lang="en-US" altLang="zh-CN" sz="22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2200" dirty="0">
                <a:latin typeface="Times New Roman" panose="02020603050405020304" pitchFamily="18" charset="0"/>
                <a:ea typeface="华文楷体" panose="02010600040101010101" pitchFamily="2" charset="-122"/>
              </a:rPr>
              <a:t>    </a:t>
            </a:r>
            <a:r>
              <a:rPr lang="en-US" altLang="zh-CN" sz="2200" dirty="0" err="1">
                <a:latin typeface="Times New Roman" panose="02020603050405020304" pitchFamily="18" charset="0"/>
                <a:ea typeface="华文楷体" panose="02010600040101010101" pitchFamily="2" charset="-122"/>
              </a:rPr>
              <a:t>int</a:t>
            </a:r>
            <a:r>
              <a:rPr lang="en-US" altLang="zh-CN" sz="2200" dirty="0">
                <a:latin typeface="Times New Roman" panose="02020603050405020304" pitchFamily="18" charset="0"/>
                <a:ea typeface="华文楷体" panose="02010600040101010101" pitchFamily="2" charset="-122"/>
              </a:rPr>
              <a:t> number =0;</a:t>
            </a:r>
            <a:endParaRPr lang="en-US" altLang="zh-CN" sz="22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2200" dirty="0">
                <a:latin typeface="Times New Roman" panose="02020603050405020304" pitchFamily="18" charset="0"/>
                <a:ea typeface="华文楷体" panose="02010600040101010101" pitchFamily="2" charset="-122"/>
              </a:rPr>
              <a:t>    while(*key)</a:t>
            </a:r>
            <a:endParaRPr lang="en-US" altLang="zh-CN" sz="22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2200" dirty="0">
                <a:latin typeface="Times New Roman" panose="02020603050405020304" pitchFamily="18" charset="0"/>
                <a:ea typeface="华文楷体" panose="02010600040101010101" pitchFamily="2" charset="-122"/>
              </a:rPr>
              <a:t>        number +=*key</a:t>
            </a:r>
            <a:r>
              <a:rPr lang="en-US" altLang="zh-CN" sz="2200" dirty="0" smtClean="0">
                <a:latin typeface="Times New Roman" panose="02020603050405020304" pitchFamily="18" charset="0"/>
                <a:ea typeface="华文楷体" panose="02010600040101010101" pitchFamily="2" charset="-122"/>
              </a:rPr>
              <a:t>++;</a:t>
            </a:r>
            <a:endParaRPr lang="en-US" altLang="zh-CN" sz="2200" dirty="0" smtClean="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2200" dirty="0">
                <a:latin typeface="Times New Roman" panose="02020603050405020304" pitchFamily="18" charset="0"/>
                <a:ea typeface="华文楷体" panose="02010600040101010101" pitchFamily="2" charset="-122"/>
              </a:rPr>
              <a:t> </a:t>
            </a:r>
            <a:r>
              <a:rPr lang="en-US" altLang="zh-CN" sz="2200" dirty="0" smtClean="0">
                <a:latin typeface="Times New Roman" panose="02020603050405020304" pitchFamily="18" charset="0"/>
                <a:ea typeface="华文楷体" panose="02010600040101010101" pitchFamily="2" charset="-122"/>
              </a:rPr>
              <a:t>       if(*key) </a:t>
            </a:r>
            <a:endParaRPr lang="en-US" altLang="zh-CN" sz="2200" dirty="0" smtClean="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2200" dirty="0">
                <a:latin typeface="Times New Roman" panose="02020603050405020304" pitchFamily="18" charset="0"/>
                <a:ea typeface="华文楷体" panose="02010600040101010101" pitchFamily="2" charset="-122"/>
              </a:rPr>
              <a:t> </a:t>
            </a:r>
            <a:r>
              <a:rPr lang="en-US" altLang="zh-CN" sz="2200" dirty="0" smtClean="0">
                <a:latin typeface="Times New Roman" panose="02020603050405020304" pitchFamily="18" charset="0"/>
                <a:ea typeface="华文楷体" panose="02010600040101010101" pitchFamily="2" charset="-122"/>
              </a:rPr>
              <a:t>           number+=((</a:t>
            </a:r>
            <a:r>
              <a:rPr lang="en-US" altLang="zh-CN" sz="2200" dirty="0" err="1" smtClean="0">
                <a:latin typeface="Times New Roman" panose="02020603050405020304" pitchFamily="18" charset="0"/>
                <a:ea typeface="华文楷体" panose="02010600040101010101" pitchFamily="2" charset="-122"/>
              </a:rPr>
              <a:t>int</a:t>
            </a:r>
            <a:r>
              <a:rPr lang="en-US" altLang="zh-CN" sz="2200" dirty="0" smtClean="0">
                <a:latin typeface="Times New Roman" panose="02020603050405020304" pitchFamily="18" charset="0"/>
                <a:ea typeface="华文楷体" panose="02010600040101010101" pitchFamily="2" charset="-122"/>
              </a:rPr>
              <a:t>)*key++)&lt;&lt;8;</a:t>
            </a:r>
            <a:endParaRPr lang="en-US" altLang="zh-CN" sz="22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2200" dirty="0">
                <a:latin typeface="Times New Roman" panose="02020603050405020304" pitchFamily="18" charset="0"/>
                <a:ea typeface="华文楷体" panose="02010600040101010101" pitchFamily="2" charset="-122"/>
              </a:rPr>
              <a:t>    return number;</a:t>
            </a:r>
            <a:endParaRPr lang="en-US" altLang="zh-CN" sz="2200" dirty="0">
              <a:latin typeface="Times New Roman" panose="02020603050405020304" pitchFamily="18" charset="0"/>
              <a:ea typeface="华文楷体" panose="02010600040101010101" pitchFamily="2" charset="-122"/>
            </a:endParaRPr>
          </a:p>
          <a:p>
            <a:pPr>
              <a:spcBef>
                <a:spcPct val="20000"/>
              </a:spcBef>
              <a:buClr>
                <a:schemeClr val="hlink"/>
              </a:buClr>
            </a:pPr>
            <a:r>
              <a:rPr lang="en-US" altLang="zh-CN" sz="2200" dirty="0">
                <a:latin typeface="Times New Roman" panose="02020603050405020304" pitchFamily="18" charset="0"/>
                <a:ea typeface="华文楷体" panose="02010600040101010101" pitchFamily="2" charset="-122"/>
              </a:rPr>
              <a:t>}</a:t>
            </a:r>
            <a:endParaRPr lang="zh-CN" altLang="en-US" sz="22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页脚占位符 3"/>
          <p:cNvSpPr>
            <a:spLocks noGrp="1"/>
          </p:cNvSpPr>
          <p:nvPr>
            <p:ph type="ftr" sz="quarter" idx="10"/>
          </p:nvPr>
        </p:nvSpPr>
        <p:spPr/>
        <p:txBody>
          <a:bodyPr/>
          <a:lstStyle/>
          <a:p>
            <a:pPr>
              <a:defRPr/>
            </a:pPr>
            <a:r>
              <a:rPr lang="en-US" altLang="zh-CN"/>
              <a:t>BUPT SCST</a:t>
            </a:r>
            <a:endParaRPr lang="en-US" altLang="zh-CN"/>
          </a:p>
        </p:txBody>
      </p:sp>
      <p:sp>
        <p:nvSpPr>
          <p:cNvPr id="15" name="日期占位符 5"/>
          <p:cNvSpPr>
            <a:spLocks noGrp="1"/>
          </p:cNvSpPr>
          <p:nvPr>
            <p:ph type="dt" sz="quarter" idx="12"/>
          </p:nvPr>
        </p:nvSpPr>
        <p:spPr/>
        <p:txBody>
          <a:bodyPr/>
          <a:lstStyle/>
          <a:p>
            <a:pPr>
              <a:defRPr/>
            </a:pPr>
            <a:r>
              <a:rPr lang="en-US" altLang="zh-CN"/>
              <a:t>BUPT</a:t>
            </a:r>
            <a:endParaRPr lang="en-US" altLang="zh-CN"/>
          </a:p>
        </p:txBody>
      </p:sp>
      <p:sp>
        <p:nvSpPr>
          <p:cNvPr id="64516" name="Freeform 2"/>
          <p:cNvSpPr/>
          <p:nvPr/>
        </p:nvSpPr>
        <p:spPr bwMode="auto">
          <a:xfrm>
            <a:off x="3200400" y="2133600"/>
            <a:ext cx="381000" cy="304800"/>
          </a:xfrm>
          <a:custGeom>
            <a:avLst/>
            <a:gdLst>
              <a:gd name="T0" fmla="*/ 2147483646 w 192"/>
              <a:gd name="T1" fmla="*/ 2147483646 h 206"/>
              <a:gd name="T2" fmla="*/ 2147483646 w 192"/>
              <a:gd name="T3" fmla="*/ 2147483646 h 206"/>
              <a:gd name="T4" fmla="*/ 2147483646 w 192"/>
              <a:gd name="T5" fmla="*/ 2147483646 h 206"/>
              <a:gd name="T6" fmla="*/ 2147483646 w 192"/>
              <a:gd name="T7" fmla="*/ 2147483646 h 206"/>
              <a:gd name="T8" fmla="*/ 2147483646 w 192"/>
              <a:gd name="T9" fmla="*/ 2147483646 h 206"/>
              <a:gd name="T10" fmla="*/ 2147483646 w 192"/>
              <a:gd name="T11" fmla="*/ 2147483646 h 20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2" h="206">
                <a:moveTo>
                  <a:pt x="156" y="168"/>
                </a:moveTo>
                <a:cubicBezTo>
                  <a:pt x="146" y="0"/>
                  <a:pt x="192" y="46"/>
                  <a:pt x="61" y="30"/>
                </a:cubicBezTo>
                <a:cubicBezTo>
                  <a:pt x="51" y="29"/>
                  <a:pt x="42" y="25"/>
                  <a:pt x="32" y="23"/>
                </a:cubicBezTo>
                <a:cubicBezTo>
                  <a:pt x="15" y="75"/>
                  <a:pt x="0" y="103"/>
                  <a:pt x="25" y="168"/>
                </a:cubicBezTo>
                <a:cubicBezTo>
                  <a:pt x="31" y="184"/>
                  <a:pt x="68" y="197"/>
                  <a:pt x="68" y="197"/>
                </a:cubicBezTo>
                <a:cubicBezTo>
                  <a:pt x="144" y="189"/>
                  <a:pt x="118" y="206"/>
                  <a:pt x="156" y="168"/>
                </a:cubicBezTo>
                <a:close/>
              </a:path>
            </a:pathLst>
          </a:custGeom>
          <a:solidFill>
            <a:srgbClr val="FFFFFF"/>
          </a:solidFill>
          <a:ln w="28575" cap="flat" cmpd="sng">
            <a:solidFill>
              <a:schemeClr val="folHlink"/>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4517" name="Rectangle 3"/>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64518" name="Rectangle 4"/>
          <p:cNvSpPr>
            <a:spLocks noGrp="1" noChangeArrowheads="1"/>
          </p:cNvSpPr>
          <p:nvPr>
            <p:ph type="body" idx="1"/>
          </p:nvPr>
        </p:nvSpPr>
        <p:spPr>
          <a:xfrm>
            <a:off x="457200" y="1219200"/>
            <a:ext cx="8229600" cy="5248275"/>
          </a:xfrm>
        </p:spPr>
        <p:txBody>
          <a:bodyPr/>
          <a:lstStyle/>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[3. </a:t>
            </a:r>
            <a:r>
              <a:rPr lang="zh-CN" altLang="en-US" sz="2400" b="1" dirty="0" smtClean="0">
                <a:solidFill>
                  <a:srgbClr val="CC6600"/>
                </a:solidFill>
                <a:ea typeface="华文楷体" panose="02010600040101010101" pitchFamily="2" charset="-122"/>
              </a:rPr>
              <a:t>平方取中法</a:t>
            </a:r>
            <a:r>
              <a:rPr lang="en-US" altLang="zh-CN" sz="2400" b="1" dirty="0" smtClean="0">
                <a:solidFill>
                  <a:srgbClr val="CC66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取关键字平方后的中间几位作为哈希地址。</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kumimoji="1" lang="en-US" altLang="zh-CN" sz="2400" b="1" dirty="0" err="1" smtClean="0">
                <a:ea typeface="华文楷体" panose="02010600040101010101" pitchFamily="2" charset="-122"/>
              </a:rPr>
              <a:t>e.g</a:t>
            </a:r>
            <a:r>
              <a:rPr kumimoji="1" lang="en-US" altLang="zh-CN" sz="2400" b="1" dirty="0" smtClean="0">
                <a:ea typeface="华文楷体" panose="02010600040101010101" pitchFamily="2" charset="-122"/>
              </a:rPr>
              <a:t>: (4731)</a:t>
            </a:r>
            <a:r>
              <a:rPr kumimoji="1" lang="en-US" altLang="zh-CN" sz="2400" b="1" baseline="30000" dirty="0" smtClean="0">
                <a:ea typeface="华文楷体" panose="02010600040101010101" pitchFamily="2" charset="-122"/>
              </a:rPr>
              <a:t>2</a:t>
            </a:r>
            <a:r>
              <a:rPr kumimoji="1" lang="en-US" altLang="zh-CN" sz="2400" b="1" dirty="0" smtClean="0">
                <a:ea typeface="华文楷体" panose="02010600040101010101" pitchFamily="2" charset="-122"/>
              </a:rPr>
              <a:t>  = 223 82 361 </a:t>
            </a:r>
            <a:r>
              <a:rPr kumimoji="1" lang="zh-CN" altLang="en-US" sz="2400" b="1" dirty="0" smtClean="0">
                <a:ea typeface="华文楷体" panose="02010600040101010101" pitchFamily="2" charset="-122"/>
              </a:rPr>
              <a:t>；选取  </a:t>
            </a:r>
            <a:r>
              <a:rPr kumimoji="1" lang="en-US" altLang="zh-CN" sz="2400" b="1" dirty="0" smtClean="0">
                <a:ea typeface="华文楷体" panose="02010600040101010101" pitchFamily="2" charset="-122"/>
              </a:rPr>
              <a:t>82 </a:t>
            </a:r>
            <a:r>
              <a:rPr kumimoji="1" lang="zh-CN" altLang="en-US" sz="2400" b="1" dirty="0" smtClean="0">
                <a:ea typeface="华文楷体" panose="02010600040101010101" pitchFamily="2" charset="-122"/>
              </a:rPr>
              <a:t>（假设 </a:t>
            </a:r>
            <a:r>
              <a:rPr kumimoji="1" lang="en-US" altLang="zh-CN" sz="2400" b="1" dirty="0" smtClean="0">
                <a:ea typeface="华文楷体" panose="02010600040101010101" pitchFamily="2" charset="-122"/>
              </a:rPr>
              <a:t>m = 100</a:t>
            </a:r>
            <a:r>
              <a:rPr kumimoji="1" lang="zh-CN" altLang="en-US" sz="2400" b="1" dirty="0" smtClean="0">
                <a:ea typeface="华文楷体" panose="02010600040101010101" pitchFamily="2" charset="-122"/>
              </a:rPr>
              <a:t>）。</a:t>
            </a:r>
            <a:endParaRPr kumimoji="1" lang="zh-CN" altLang="en-US" sz="2400" b="1"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sym typeface="Symbol" panose="05050102010706020507" pitchFamily="18" charset="2"/>
              </a:rPr>
              <a:t>[4. </a:t>
            </a:r>
            <a:r>
              <a:rPr lang="zh-CN" altLang="en-US" sz="2400" b="1" dirty="0" smtClean="0">
                <a:solidFill>
                  <a:srgbClr val="CC6600"/>
                </a:solidFill>
                <a:ea typeface="华文楷体" panose="02010600040101010101" pitchFamily="2" charset="-122"/>
                <a:sym typeface="Symbol" panose="05050102010706020507" pitchFamily="18" charset="2"/>
              </a:rPr>
              <a:t>随机数法</a:t>
            </a:r>
            <a:r>
              <a:rPr lang="en-US" altLang="zh-CN" sz="2400" b="1" dirty="0" smtClean="0">
                <a:solidFill>
                  <a:srgbClr val="CC6600"/>
                </a:solidFill>
                <a:ea typeface="华文楷体" panose="02010600040101010101" pitchFamily="2" charset="-122"/>
                <a:sym typeface="Symbol" panose="05050102010706020507" pitchFamily="18" charset="2"/>
              </a:rPr>
              <a:t>]</a:t>
            </a:r>
            <a:r>
              <a:rPr lang="en-US" altLang="zh-CN" sz="2400" dirty="0" smtClean="0">
                <a:solidFill>
                  <a:srgbClr val="CC6600"/>
                </a:solidFill>
                <a:ea typeface="华文楷体" panose="02010600040101010101" pitchFamily="2" charset="-122"/>
                <a:sym typeface="Symbol" panose="05050102010706020507" pitchFamily="18" charset="2"/>
              </a:rPr>
              <a:t> </a:t>
            </a:r>
            <a:endParaRPr lang="en-US" altLang="zh-CN" sz="2400" dirty="0" smtClean="0">
              <a:solidFill>
                <a:srgbClr val="CC6600"/>
              </a:solidFill>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H(key) = random(key)</a:t>
            </a:r>
            <a:endParaRPr lang="en-US" altLang="zh-CN"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zh-CN" altLang="en-US" sz="2400" dirty="0" smtClean="0">
                <a:ea typeface="华文楷体" panose="02010600040101010101" pitchFamily="2" charset="-122"/>
                <a:sym typeface="Symbol" panose="05050102010706020507" pitchFamily="18" charset="2"/>
              </a:rPr>
              <a:t>特点：较适于关键字长度不等时的情况。</a:t>
            </a:r>
            <a:endParaRPr lang="zh-CN" altLang="en-US"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[5. </a:t>
            </a:r>
            <a:r>
              <a:rPr lang="zh-CN" altLang="en-US" sz="2400" b="1" dirty="0" smtClean="0">
                <a:solidFill>
                  <a:srgbClr val="CC6600"/>
                </a:solidFill>
                <a:ea typeface="华文楷体" panose="02010600040101010101" pitchFamily="2" charset="-122"/>
              </a:rPr>
              <a:t>折叠法</a:t>
            </a:r>
            <a:r>
              <a:rPr lang="en-US" altLang="zh-CN" sz="2400" b="1" dirty="0" smtClean="0">
                <a:solidFill>
                  <a:srgbClr val="CC6600"/>
                </a:solidFill>
                <a:ea typeface="华文楷体" panose="02010600040101010101" pitchFamily="2" charset="-122"/>
              </a:rPr>
              <a:t>]</a:t>
            </a:r>
            <a:endParaRPr lang="en-US" altLang="zh-CN" sz="2400" dirty="0" smtClean="0">
              <a:solidFill>
                <a:srgbClr val="CC6600"/>
              </a:solidFill>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将关键字分割成位数相同的几部分</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最后一部分的位数可以不同</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，然后取这几部分的叠加和</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舍去进位</a:t>
            </a:r>
            <a:r>
              <a:rPr lang="en-US" altLang="zh-CN" sz="2400" dirty="0" smtClean="0">
                <a:ea typeface="华文楷体" panose="02010600040101010101" pitchFamily="2" charset="-122"/>
              </a:rPr>
              <a:t>)</a:t>
            </a:r>
            <a:r>
              <a:rPr lang="zh-CN" altLang="en-US" sz="2400" dirty="0" smtClean="0">
                <a:ea typeface="华文楷体" panose="02010600040101010101" pitchFamily="2" charset="-122"/>
              </a:rPr>
              <a:t>作为哈希地址。</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kumimoji="1" lang="en-US" altLang="zh-CN" sz="2400" b="1" dirty="0" err="1" smtClean="0">
                <a:ea typeface="华文楷体" panose="02010600040101010101" pitchFamily="2" charset="-122"/>
              </a:rPr>
              <a:t>e.g</a:t>
            </a:r>
            <a:r>
              <a:rPr kumimoji="1" lang="en-US" altLang="zh-CN" sz="2400" b="1" dirty="0" smtClean="0">
                <a:ea typeface="华文楷体" panose="02010600040101010101" pitchFamily="2" charset="-122"/>
              </a:rPr>
              <a:t>: key = 381</a:t>
            </a:r>
            <a:r>
              <a:rPr kumimoji="1" lang="zh-CN" altLang="en-US" sz="2400" b="1" dirty="0" smtClean="0">
                <a:ea typeface="华文楷体" panose="02010600040101010101" pitchFamily="2" charset="-122"/>
              </a:rPr>
              <a:t>，</a:t>
            </a:r>
            <a:r>
              <a:rPr kumimoji="1" lang="en-US" altLang="zh-CN" sz="2400" b="1" dirty="0" smtClean="0">
                <a:ea typeface="华文楷体" panose="02010600040101010101" pitchFamily="2" charset="-122"/>
              </a:rPr>
              <a:t>412</a:t>
            </a:r>
            <a:r>
              <a:rPr kumimoji="1" lang="zh-CN" altLang="en-US" sz="2400" b="1" dirty="0" smtClean="0">
                <a:ea typeface="华文楷体" panose="02010600040101010101" pitchFamily="2" charset="-122"/>
              </a:rPr>
              <a:t>，</a:t>
            </a:r>
            <a:r>
              <a:rPr kumimoji="1" lang="en-US" altLang="zh-CN" sz="2400" b="1" dirty="0" smtClean="0">
                <a:ea typeface="华文楷体" panose="02010600040101010101" pitchFamily="2" charset="-122"/>
              </a:rPr>
              <a:t>975</a:t>
            </a:r>
            <a:endParaRPr kumimoji="1" lang="en-US" altLang="zh-CN" sz="2400" b="1" dirty="0" smtClean="0">
              <a:ea typeface="华文楷体" panose="02010600040101010101" pitchFamily="2" charset="-122"/>
            </a:endParaRPr>
          </a:p>
          <a:p>
            <a:pPr eaLnBrk="1" hangingPunct="1">
              <a:buFont typeface="Wingdings" panose="05000000000000000000" pitchFamily="2" charset="2"/>
              <a:buNone/>
            </a:pPr>
            <a:r>
              <a:rPr kumimoji="1" lang="zh-CN" altLang="en-US" sz="2400" b="1" dirty="0" smtClean="0">
                <a:ea typeface="华文楷体" panose="02010600040101010101" pitchFamily="2" charset="-122"/>
              </a:rPr>
              <a:t>选取  </a:t>
            </a:r>
            <a:r>
              <a:rPr kumimoji="1" lang="en-US" altLang="zh-CN" sz="2400" b="1" dirty="0" smtClean="0">
                <a:ea typeface="华文楷体" panose="02010600040101010101" pitchFamily="2" charset="-122"/>
              </a:rPr>
              <a:t>768 </a:t>
            </a:r>
            <a:r>
              <a:rPr kumimoji="1" lang="zh-CN" altLang="en-US" sz="2400" b="1" dirty="0" smtClean="0">
                <a:ea typeface="华文楷体" panose="02010600040101010101" pitchFamily="2" charset="-122"/>
              </a:rPr>
              <a:t>或 </a:t>
            </a:r>
            <a:r>
              <a:rPr kumimoji="1" lang="en-US" altLang="zh-CN" sz="2400" b="1" dirty="0" smtClean="0">
                <a:ea typeface="华文楷体" panose="02010600040101010101" pitchFamily="2" charset="-122"/>
              </a:rPr>
              <a:t>570 </a:t>
            </a:r>
            <a:r>
              <a:rPr kumimoji="1" lang="zh-CN" altLang="en-US" sz="2400" b="1" dirty="0" smtClean="0">
                <a:ea typeface="华文楷体" panose="02010600040101010101" pitchFamily="2" charset="-122"/>
              </a:rPr>
              <a:t>作为散列地</a:t>
            </a:r>
            <a:endParaRPr kumimoji="1" lang="zh-CN" altLang="en-US" sz="2400" b="1" dirty="0" smtClean="0">
              <a:ea typeface="华文楷体" panose="02010600040101010101" pitchFamily="2" charset="-122"/>
            </a:endParaRPr>
          </a:p>
          <a:p>
            <a:pPr eaLnBrk="1" hangingPunct="1">
              <a:buFont typeface="Wingdings" panose="05000000000000000000" pitchFamily="2" charset="2"/>
              <a:buNone/>
            </a:pPr>
            <a:r>
              <a:rPr kumimoji="1" lang="zh-CN" altLang="en-US" sz="2400" b="1" dirty="0" smtClean="0">
                <a:ea typeface="华文楷体" panose="02010600040101010101" pitchFamily="2" charset="-122"/>
              </a:rPr>
              <a:t>址（ 假设 </a:t>
            </a:r>
            <a:r>
              <a:rPr kumimoji="1" lang="en-US" altLang="zh-CN" sz="2400" b="1" dirty="0" smtClean="0">
                <a:ea typeface="华文楷体" panose="02010600040101010101" pitchFamily="2" charset="-122"/>
              </a:rPr>
              <a:t>m =1000 </a:t>
            </a:r>
            <a:r>
              <a:rPr kumimoji="1" lang="zh-CN" altLang="en-US" sz="2400" b="1" dirty="0" smtClean="0">
                <a:ea typeface="华文楷体" panose="02010600040101010101" pitchFamily="2" charset="-122"/>
              </a:rPr>
              <a:t>）。</a:t>
            </a:r>
            <a:endParaRPr kumimoji="1" lang="zh-CN" altLang="en-US" sz="2400" b="1" dirty="0" smtClean="0">
              <a:ea typeface="华文楷体" panose="02010600040101010101" pitchFamily="2" charset="-122"/>
            </a:endParaRPr>
          </a:p>
        </p:txBody>
      </p:sp>
      <p:sp>
        <p:nvSpPr>
          <p:cNvPr id="64519" name="Oval 5"/>
          <p:cNvSpPr>
            <a:spLocks noChangeArrowheads="1"/>
          </p:cNvSpPr>
          <p:nvPr/>
        </p:nvSpPr>
        <p:spPr bwMode="auto">
          <a:xfrm>
            <a:off x="5257800" y="6129338"/>
            <a:ext cx="457200" cy="228600"/>
          </a:xfrm>
          <a:prstGeom prst="ellipse">
            <a:avLst/>
          </a:prstGeom>
          <a:solidFill>
            <a:srgbClr val="FFFFFF"/>
          </a:solidFill>
          <a:ln w="38100">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64520" name="Oval 6"/>
          <p:cNvSpPr>
            <a:spLocks noChangeArrowheads="1"/>
          </p:cNvSpPr>
          <p:nvPr/>
        </p:nvSpPr>
        <p:spPr bwMode="auto">
          <a:xfrm>
            <a:off x="7543800" y="6205538"/>
            <a:ext cx="457200" cy="228600"/>
          </a:xfrm>
          <a:prstGeom prst="ellipse">
            <a:avLst/>
          </a:prstGeom>
          <a:solidFill>
            <a:srgbClr val="FFFFFF"/>
          </a:solidFill>
          <a:ln w="38100">
            <a:solidFill>
              <a:schemeClr val="fo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64521" name="Text Box 7"/>
          <p:cNvSpPr txBox="1">
            <a:spLocks noChangeArrowheads="1"/>
          </p:cNvSpPr>
          <p:nvPr/>
        </p:nvSpPr>
        <p:spPr bwMode="auto">
          <a:xfrm>
            <a:off x="5029200" y="5172075"/>
            <a:ext cx="762000" cy="1277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381</a:t>
            </a:r>
            <a:endParaRPr kumimoji="1" lang="en-US" altLang="zh-CN" sz="14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412</a:t>
            </a:r>
            <a:endParaRPr kumimoji="1" lang="en-US" altLang="zh-CN" sz="14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975</a:t>
            </a:r>
            <a:endParaRPr kumimoji="1" lang="en-US" altLang="zh-CN" sz="14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1  768</a:t>
            </a:r>
            <a:endParaRPr kumimoji="1" lang="en-US" altLang="zh-CN" sz="1400" b="1" dirty="0">
              <a:latin typeface="Times New Roman" panose="02020603050405020304" pitchFamily="18" charset="0"/>
              <a:ea typeface="华文楷体" panose="02010600040101010101" pitchFamily="2" charset="-122"/>
            </a:endParaRPr>
          </a:p>
        </p:txBody>
      </p:sp>
      <p:sp>
        <p:nvSpPr>
          <p:cNvPr id="64522" name="Text Box 8"/>
          <p:cNvSpPr txBox="1">
            <a:spLocks noChangeArrowheads="1"/>
          </p:cNvSpPr>
          <p:nvPr/>
        </p:nvSpPr>
        <p:spPr bwMode="auto">
          <a:xfrm>
            <a:off x="7315200" y="5214938"/>
            <a:ext cx="762000" cy="1277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975</a:t>
            </a:r>
            <a:endParaRPr kumimoji="1" lang="en-US" altLang="zh-CN" sz="14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214</a:t>
            </a:r>
            <a:endParaRPr kumimoji="1" lang="en-US" altLang="zh-CN" sz="14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381</a:t>
            </a:r>
            <a:endParaRPr kumimoji="1" lang="en-US" altLang="zh-CN" sz="1400" b="1" dirty="0">
              <a:latin typeface="Times New Roman" panose="02020603050405020304" pitchFamily="18" charset="0"/>
              <a:ea typeface="华文楷体" panose="02010600040101010101" pitchFamily="2" charset="-122"/>
            </a:endParaRPr>
          </a:p>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 1 570</a:t>
            </a:r>
            <a:endParaRPr kumimoji="1" lang="en-US" altLang="zh-CN" sz="1400" b="1" dirty="0">
              <a:latin typeface="Times New Roman" panose="02020603050405020304" pitchFamily="18" charset="0"/>
              <a:ea typeface="华文楷体" panose="02010600040101010101" pitchFamily="2" charset="-122"/>
            </a:endParaRPr>
          </a:p>
        </p:txBody>
      </p:sp>
      <p:sp>
        <p:nvSpPr>
          <p:cNvPr id="64523" name="Line 9"/>
          <p:cNvSpPr>
            <a:spLocks noChangeShapeType="1"/>
          </p:cNvSpPr>
          <p:nvPr/>
        </p:nvSpPr>
        <p:spPr bwMode="auto">
          <a:xfrm>
            <a:off x="5029200" y="6129338"/>
            <a:ext cx="68580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4524" name="Line 10"/>
          <p:cNvSpPr>
            <a:spLocks noChangeShapeType="1"/>
          </p:cNvSpPr>
          <p:nvPr/>
        </p:nvSpPr>
        <p:spPr bwMode="auto">
          <a:xfrm>
            <a:off x="7239000" y="6129338"/>
            <a:ext cx="76200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4525" name="Text Box 11"/>
          <p:cNvSpPr txBox="1">
            <a:spLocks noChangeArrowheads="1"/>
          </p:cNvSpPr>
          <p:nvPr/>
        </p:nvSpPr>
        <p:spPr bwMode="auto">
          <a:xfrm>
            <a:off x="4800600" y="5748338"/>
            <a:ext cx="381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a:t>
            </a:r>
            <a:endParaRPr kumimoji="1" lang="zh-CN" altLang="en-US" sz="1400" b="1" dirty="0">
              <a:latin typeface="Times New Roman" panose="02020603050405020304" pitchFamily="18" charset="0"/>
              <a:ea typeface="华文楷体" panose="02010600040101010101" pitchFamily="2" charset="-122"/>
            </a:endParaRPr>
          </a:p>
        </p:txBody>
      </p:sp>
      <p:sp>
        <p:nvSpPr>
          <p:cNvPr id="64526" name="Line 12"/>
          <p:cNvSpPr>
            <a:spLocks noChangeShapeType="1"/>
          </p:cNvSpPr>
          <p:nvPr/>
        </p:nvSpPr>
        <p:spPr bwMode="auto">
          <a:xfrm>
            <a:off x="4876800" y="6129338"/>
            <a:ext cx="106680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4527" name="Text Box 13"/>
          <p:cNvSpPr txBox="1">
            <a:spLocks noChangeArrowheads="1"/>
          </p:cNvSpPr>
          <p:nvPr/>
        </p:nvSpPr>
        <p:spPr bwMode="auto">
          <a:xfrm>
            <a:off x="7162800" y="5824538"/>
            <a:ext cx="3810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a:t>
            </a:r>
            <a:endParaRPr kumimoji="1" lang="zh-CN" altLang="en-US" sz="1400" b="1"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6554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65541"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[6. </a:t>
            </a:r>
            <a:r>
              <a:rPr lang="zh-CN" altLang="en-US" sz="2400" b="1" dirty="0" smtClean="0">
                <a:solidFill>
                  <a:srgbClr val="CC6600"/>
                </a:solidFill>
                <a:ea typeface="华文楷体" panose="02010600040101010101" pitchFamily="2" charset="-122"/>
              </a:rPr>
              <a:t>除留余数法</a:t>
            </a:r>
            <a:r>
              <a:rPr lang="en-US" altLang="zh-CN" sz="2400" b="1" dirty="0" smtClean="0">
                <a:solidFill>
                  <a:srgbClr val="CC6600"/>
                </a:solidFill>
                <a:ea typeface="华文楷体" panose="02010600040101010101" pitchFamily="2" charset="-122"/>
              </a:rPr>
              <a:t>]</a:t>
            </a:r>
            <a:endParaRPr lang="en-US" altLang="zh-CN" sz="2400" dirty="0" smtClean="0">
              <a:solidFill>
                <a:srgbClr val="CC6600"/>
              </a:solidFill>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H(key) = key MOD p     (</a:t>
            </a:r>
            <a:r>
              <a:rPr lang="en-US" altLang="zh-CN" sz="2400" dirty="0" err="1" smtClean="0">
                <a:ea typeface="华文楷体" panose="02010600040101010101" pitchFamily="2" charset="-122"/>
              </a:rPr>
              <a:t>p</a:t>
            </a:r>
            <a:r>
              <a:rPr lang="en-US" altLang="zh-CN" sz="2400" dirty="0" err="1" smtClean="0">
                <a:ea typeface="华文楷体" panose="02010600040101010101" pitchFamily="2" charset="-122"/>
                <a:sym typeface="Symbol" panose="05050102010706020507" pitchFamily="18" charset="2"/>
              </a:rPr>
              <a:t>m</a:t>
            </a:r>
            <a:r>
              <a:rPr lang="en-US" altLang="zh-CN" sz="2400" dirty="0" smtClean="0">
                <a:ea typeface="华文楷体" panose="02010600040101010101" pitchFamily="2" charset="-122"/>
                <a:sym typeface="Symbol" panose="05050102010706020507" pitchFamily="18" charset="2"/>
              </a:rPr>
              <a:t>)</a:t>
            </a:r>
            <a:endParaRPr lang="en-US" altLang="zh-CN"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m: </a:t>
            </a:r>
            <a:r>
              <a:rPr lang="zh-CN" altLang="en-US" sz="2400" dirty="0" smtClean="0">
                <a:ea typeface="华文楷体" panose="02010600040101010101" pitchFamily="2" charset="-122"/>
                <a:sym typeface="Symbol" panose="05050102010706020507" pitchFamily="18" charset="2"/>
              </a:rPr>
              <a:t>哈希表的表长；   </a:t>
            </a:r>
            <a:r>
              <a:rPr lang="en-US" altLang="zh-CN" sz="2400" dirty="0" smtClean="0">
                <a:ea typeface="华文楷体" panose="02010600040101010101" pitchFamily="2" charset="-122"/>
                <a:sym typeface="Symbol" panose="05050102010706020507" pitchFamily="18" charset="2"/>
              </a:rPr>
              <a:t>p: </a:t>
            </a:r>
            <a:r>
              <a:rPr lang="zh-CN" altLang="en-US" sz="2400" dirty="0" smtClean="0">
                <a:ea typeface="华文楷体" panose="02010600040101010101" pitchFamily="2" charset="-122"/>
                <a:sym typeface="Symbol" panose="05050102010706020507" pitchFamily="18" charset="2"/>
              </a:rPr>
              <a:t>最好为素数</a:t>
            </a:r>
            <a:endParaRPr lang="zh-CN" altLang="en-US"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zh-CN" altLang="en-US" sz="2400" dirty="0" smtClean="0">
                <a:ea typeface="华文楷体" panose="02010600040101010101" pitchFamily="2" charset="-122"/>
              </a:rPr>
              <a:t>最常用，余数总在 </a:t>
            </a:r>
            <a:r>
              <a:rPr lang="en-US" altLang="zh-CN" sz="2400" dirty="0" smtClean="0">
                <a:ea typeface="华文楷体" panose="02010600040101010101" pitchFamily="2" charset="-122"/>
              </a:rPr>
              <a:t>0 </a:t>
            </a: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p-1 </a:t>
            </a:r>
            <a:r>
              <a:rPr lang="zh-CN" altLang="zh-CN" sz="2400" dirty="0" smtClean="0">
                <a:ea typeface="华文楷体" panose="02010600040101010101" pitchFamily="2" charset="-122"/>
              </a:rPr>
              <a:t>之间。</a:t>
            </a:r>
            <a:r>
              <a:rPr lang="zh-CN" altLang="zh-CN" sz="2400" dirty="0" smtClean="0">
                <a:solidFill>
                  <a:schemeClr val="accent1"/>
                </a:solidFill>
                <a:ea typeface="华文楷体" panose="02010600040101010101" pitchFamily="2" charset="-122"/>
              </a:rPr>
              <a:t>通常p选 &lt; </a:t>
            </a:r>
            <a:r>
              <a:rPr lang="en-US" altLang="zh-CN" sz="2400" dirty="0" smtClean="0">
                <a:solidFill>
                  <a:schemeClr val="accent1"/>
                </a:solidFill>
                <a:ea typeface="华文楷体" panose="02010600040101010101" pitchFamily="2" charset="-122"/>
              </a:rPr>
              <a:t>m </a:t>
            </a:r>
            <a:r>
              <a:rPr lang="zh-CN" altLang="zh-CN" sz="2400" dirty="0" smtClean="0">
                <a:solidFill>
                  <a:schemeClr val="accent1"/>
                </a:solidFill>
                <a:ea typeface="华文楷体" panose="02010600040101010101" pitchFamily="2" charset="-122"/>
              </a:rPr>
              <a:t>的最大质数</a:t>
            </a:r>
            <a:r>
              <a:rPr lang="zh-CN" altLang="zh-CN" sz="2400" dirty="0" smtClean="0">
                <a:ea typeface="华文楷体" panose="02010600040101010101" pitchFamily="2" charset="-122"/>
              </a:rPr>
              <a:t>如：</a:t>
            </a:r>
            <a:r>
              <a:rPr lang="en-US" altLang="zh-CN" sz="2400" dirty="0" smtClean="0">
                <a:ea typeface="华文楷体" panose="02010600040101010101" pitchFamily="2" charset="-122"/>
              </a:rPr>
              <a:t>m = 1024, </a:t>
            </a:r>
            <a:r>
              <a:rPr lang="zh-CN" altLang="zh-CN" sz="2400" dirty="0" smtClean="0">
                <a:ea typeface="华文楷体" panose="02010600040101010101" pitchFamily="2" charset="-122"/>
              </a:rPr>
              <a:t>则 </a:t>
            </a:r>
            <a:r>
              <a:rPr lang="en-US" altLang="zh-CN" sz="2400" dirty="0" smtClean="0">
                <a:ea typeface="华文楷体" panose="02010600040101010101" pitchFamily="2" charset="-122"/>
              </a:rPr>
              <a:t>p = 1019</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dirty="0" err="1">
                <a:ea typeface="华文楷体" panose="02010600040101010101" pitchFamily="2" charset="-122"/>
              </a:rPr>
              <a:t>e.g</a:t>
            </a:r>
            <a:r>
              <a:rPr lang="en-US" altLang="zh-CN" sz="2400" dirty="0">
                <a:ea typeface="华文楷体" panose="02010600040101010101" pitchFamily="2" charset="-122"/>
              </a:rPr>
              <a:t>: </a:t>
            </a:r>
            <a:r>
              <a:rPr lang="zh-CN" altLang="en-US" sz="2400" dirty="0">
                <a:ea typeface="华文楷体" panose="02010600040101010101" pitchFamily="2" charset="-122"/>
              </a:rPr>
              <a:t>选取 </a:t>
            </a:r>
            <a:r>
              <a:rPr lang="en-US" altLang="zh-CN" sz="2400" dirty="0">
                <a:ea typeface="华文楷体" panose="02010600040101010101" pitchFamily="2" charset="-122"/>
              </a:rPr>
              <a:t>p </a:t>
            </a:r>
            <a:r>
              <a:rPr lang="zh-CN" altLang="en-US" sz="2400" dirty="0">
                <a:ea typeface="华文楷体" panose="02010600040101010101" pitchFamily="2" charset="-122"/>
              </a:rPr>
              <a:t>为质数的理由：</a:t>
            </a:r>
            <a:endParaRPr lang="zh-CN" altLang="en-US" sz="2400" dirty="0">
              <a:ea typeface="华文楷体" panose="02010600040101010101" pitchFamily="2" charset="-122"/>
            </a:endParaRPr>
          </a:p>
          <a:p>
            <a:pPr eaLnBrk="1" hangingPunct="1">
              <a:buFont typeface="Wingdings" panose="05000000000000000000" pitchFamily="2" charset="2"/>
              <a:buNone/>
            </a:pPr>
            <a:r>
              <a:rPr lang="zh-CN" altLang="en-US" sz="2400" dirty="0">
                <a:ea typeface="华文楷体" panose="02010600040101010101" pitchFamily="2" charset="-122"/>
              </a:rPr>
              <a:t>设 </a:t>
            </a:r>
            <a:r>
              <a:rPr lang="en-US" altLang="zh-CN" sz="2400" dirty="0">
                <a:ea typeface="华文楷体" panose="02010600040101010101" pitchFamily="2" charset="-122"/>
              </a:rPr>
              <a:t>key </a:t>
            </a:r>
            <a:r>
              <a:rPr lang="zh-CN" altLang="en-US" sz="2400" dirty="0">
                <a:ea typeface="华文楷体" panose="02010600040101010101" pitchFamily="2" charset="-122"/>
              </a:rPr>
              <a:t>值都为奇数，选 </a:t>
            </a:r>
            <a:r>
              <a:rPr lang="en-US" altLang="zh-CN" sz="2400" dirty="0">
                <a:ea typeface="华文楷体" panose="02010600040101010101" pitchFamily="2" charset="-122"/>
              </a:rPr>
              <a:t>p </a:t>
            </a:r>
            <a:r>
              <a:rPr lang="zh-CN" altLang="en-US" sz="2400" dirty="0">
                <a:ea typeface="华文楷体" panose="02010600040101010101" pitchFamily="2" charset="-122"/>
              </a:rPr>
              <a:t>为偶数；</a:t>
            </a:r>
            <a:endParaRPr lang="zh-CN" altLang="en-US" sz="2400" dirty="0">
              <a:ea typeface="华文楷体" panose="02010600040101010101" pitchFamily="2" charset="-122"/>
            </a:endParaRPr>
          </a:p>
          <a:p>
            <a:pPr eaLnBrk="1" hangingPunct="1">
              <a:buFont typeface="Wingdings" panose="05000000000000000000" pitchFamily="2" charset="2"/>
              <a:buNone/>
            </a:pPr>
            <a:r>
              <a:rPr lang="zh-CN" altLang="en-US" sz="2400" dirty="0">
                <a:ea typeface="华文楷体" panose="02010600040101010101" pitchFamily="2" charset="-122"/>
              </a:rPr>
              <a:t>则 </a:t>
            </a:r>
            <a:r>
              <a:rPr lang="en-US" altLang="zh-CN" sz="2400" dirty="0">
                <a:ea typeface="华文楷体" panose="02010600040101010101" pitchFamily="2" charset="-122"/>
              </a:rPr>
              <a:t>H(key) = key MOD p </a:t>
            </a:r>
            <a:r>
              <a:rPr lang="zh-CN" altLang="en-US" sz="2400" dirty="0">
                <a:ea typeface="华文楷体" panose="02010600040101010101" pitchFamily="2" charset="-122"/>
              </a:rPr>
              <a:t>，结果为奇数，	一半单元被浪费掉。</a:t>
            </a:r>
            <a:endParaRPr lang="zh-CN" altLang="en-US" sz="2400" dirty="0">
              <a:ea typeface="华文楷体" panose="02010600040101010101" pitchFamily="2" charset="-122"/>
            </a:endParaRPr>
          </a:p>
          <a:p>
            <a:pPr eaLnBrk="1" hangingPunct="1">
              <a:buFont typeface="Wingdings" panose="05000000000000000000" pitchFamily="2" charset="2"/>
              <a:buNone/>
            </a:pPr>
            <a:r>
              <a:rPr lang="zh-CN" altLang="en-US" sz="2400" dirty="0">
                <a:ea typeface="华文楷体" panose="02010600040101010101" pitchFamily="2" charset="-122"/>
              </a:rPr>
              <a:t> 设 </a:t>
            </a:r>
            <a:r>
              <a:rPr lang="en-US" altLang="zh-CN" sz="2400" dirty="0">
                <a:ea typeface="华文楷体" panose="02010600040101010101" pitchFamily="2" charset="-122"/>
              </a:rPr>
              <a:t>key </a:t>
            </a:r>
            <a:r>
              <a:rPr lang="zh-CN" altLang="en-US" sz="2400" dirty="0">
                <a:ea typeface="华文楷体" panose="02010600040101010101" pitchFamily="2" charset="-122"/>
              </a:rPr>
              <a:t>值都为 </a:t>
            </a:r>
            <a:r>
              <a:rPr lang="en-US" altLang="zh-CN" sz="2400" dirty="0">
                <a:ea typeface="华文楷体" panose="02010600040101010101" pitchFamily="2" charset="-122"/>
              </a:rPr>
              <a:t>5 </a:t>
            </a:r>
            <a:r>
              <a:rPr lang="zh-CN" altLang="en-US" sz="2400" dirty="0">
                <a:ea typeface="华文楷体" panose="02010600040101010101" pitchFamily="2" charset="-122"/>
              </a:rPr>
              <a:t>的倍数，选 </a:t>
            </a:r>
            <a:r>
              <a:rPr lang="en-US" altLang="zh-CN" sz="2400" dirty="0">
                <a:ea typeface="华文楷体" panose="02010600040101010101" pitchFamily="2" charset="-122"/>
              </a:rPr>
              <a:t>p </a:t>
            </a:r>
            <a:r>
              <a:rPr lang="zh-CN" altLang="en-US" sz="2400" dirty="0">
                <a:ea typeface="华文楷体" panose="02010600040101010101" pitchFamily="2" charset="-122"/>
              </a:rPr>
              <a:t>为 </a:t>
            </a:r>
            <a:r>
              <a:rPr lang="en-US" altLang="zh-CN" sz="2400" dirty="0">
                <a:ea typeface="华文楷体" panose="02010600040101010101" pitchFamily="2" charset="-122"/>
              </a:rPr>
              <a:t>95</a:t>
            </a:r>
            <a:r>
              <a:rPr lang="zh-CN" altLang="en-US" sz="2400" dirty="0">
                <a:ea typeface="华文楷体" panose="02010600040101010101" pitchFamily="2" charset="-122"/>
              </a:rPr>
              <a:t>；</a:t>
            </a:r>
            <a:endParaRPr lang="zh-CN" altLang="en-US" sz="2400" dirty="0">
              <a:ea typeface="华文楷体" panose="02010600040101010101" pitchFamily="2" charset="-122"/>
            </a:endParaRPr>
          </a:p>
          <a:p>
            <a:pPr eaLnBrk="1" hangingPunct="1">
              <a:buFont typeface="Wingdings" panose="05000000000000000000" pitchFamily="2" charset="2"/>
              <a:buNone/>
            </a:pPr>
            <a:r>
              <a:rPr lang="zh-CN" altLang="en-US" sz="2400" dirty="0">
                <a:ea typeface="华文楷体" panose="02010600040101010101" pitchFamily="2" charset="-122"/>
              </a:rPr>
              <a:t>则 </a:t>
            </a:r>
            <a:r>
              <a:rPr lang="en-US" altLang="zh-CN" sz="2400" dirty="0">
                <a:ea typeface="华文楷体" panose="02010600040101010101" pitchFamily="2" charset="-122"/>
              </a:rPr>
              <a:t>H(key) = key MOD p </a:t>
            </a:r>
            <a:r>
              <a:rPr lang="zh-CN" altLang="en-US" sz="2400" dirty="0">
                <a:ea typeface="华文楷体" panose="02010600040101010101" pitchFamily="2" charset="-122"/>
              </a:rPr>
              <a:t>，结果为：</a:t>
            </a:r>
            <a:r>
              <a:rPr lang="en-US" altLang="zh-CN" sz="2400" dirty="0">
                <a:ea typeface="华文楷体" panose="02010600040101010101" pitchFamily="2" charset="-122"/>
              </a:rPr>
              <a:t>0</a:t>
            </a:r>
            <a:r>
              <a:rPr lang="zh-CN" altLang="en-US" sz="2400" dirty="0">
                <a:ea typeface="华文楷体" panose="02010600040101010101" pitchFamily="2" charset="-122"/>
              </a:rPr>
              <a:t>、</a:t>
            </a:r>
            <a:r>
              <a:rPr lang="en-US" altLang="zh-CN" sz="2400" dirty="0">
                <a:ea typeface="华文楷体" panose="02010600040101010101" pitchFamily="2" charset="-122"/>
              </a:rPr>
              <a:t>5</a:t>
            </a:r>
            <a:r>
              <a:rPr lang="zh-CN" altLang="en-US" sz="2400" dirty="0">
                <a:ea typeface="华文楷体" panose="02010600040101010101" pitchFamily="2" charset="-122"/>
              </a:rPr>
              <a:t>、</a:t>
            </a:r>
            <a:r>
              <a:rPr lang="en-US" altLang="zh-CN" sz="2400" dirty="0">
                <a:ea typeface="华文楷体" panose="02010600040101010101" pitchFamily="2" charset="-122"/>
              </a:rPr>
              <a:t>10</a:t>
            </a:r>
            <a:r>
              <a:rPr lang="zh-CN" altLang="en-US" sz="2400" dirty="0">
                <a:ea typeface="华文楷体" panose="02010600040101010101" pitchFamily="2" charset="-122"/>
              </a:rPr>
              <a:t>、</a:t>
            </a:r>
            <a:r>
              <a:rPr lang="en-US" altLang="zh-CN" sz="2400" dirty="0">
                <a:ea typeface="华文楷体" panose="02010600040101010101" pitchFamily="2" charset="-122"/>
              </a:rPr>
              <a:t>15</a:t>
            </a:r>
            <a:r>
              <a:rPr lang="zh-CN" altLang="en-US" sz="2400" dirty="0">
                <a:ea typeface="华文楷体" panose="02010600040101010101" pitchFamily="2" charset="-122"/>
              </a:rPr>
              <a:t>、</a:t>
            </a:r>
            <a:r>
              <a:rPr lang="en-US" altLang="zh-CN" sz="2400" dirty="0">
                <a:ea typeface="华文楷体" panose="02010600040101010101" pitchFamily="2" charset="-122"/>
              </a:rPr>
              <a:t>…… 90</a:t>
            </a:r>
            <a:r>
              <a:rPr lang="zh-CN" altLang="en-US" sz="2400" dirty="0">
                <a:ea typeface="华文楷体" panose="02010600040101010101" pitchFamily="2" charset="-122"/>
              </a:rPr>
              <a:t>奇数。</a:t>
            </a:r>
            <a:r>
              <a:rPr lang="en-US" altLang="zh-CN" sz="2400" dirty="0">
                <a:ea typeface="华文楷体" panose="02010600040101010101" pitchFamily="2" charset="-122"/>
              </a:rPr>
              <a:t>4/5 </a:t>
            </a:r>
            <a:r>
              <a:rPr lang="zh-CN" altLang="en-US" sz="2400" dirty="0">
                <a:ea typeface="华文楷体" panose="02010600040101010101" pitchFamily="2" charset="-122"/>
              </a:rPr>
              <a:t>的单元被浪费掉。</a:t>
            </a:r>
            <a:endParaRPr lang="zh-CN" altLang="en-US" sz="2400" dirty="0">
              <a:ea typeface="华文楷体" panose="02010600040101010101" pitchFamily="2" charset="-122"/>
            </a:endParaRPr>
          </a:p>
          <a:p>
            <a:pPr eaLnBrk="1" hangingPunct="1">
              <a:buFont typeface="Wingdings" panose="05000000000000000000" pitchFamily="2" charset="2"/>
              <a:buNone/>
            </a:pPr>
            <a:endParaRPr kumimoji="1" lang="en-US" altLang="zh-CN" sz="2400" b="1"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pPr eaLnBrk="1" hangingPunct="1">
                  <a:buNone/>
                </a:pPr>
                <a:r>
                  <a:rPr lang="en-US" altLang="zh-CN" sz="2000" b="1" dirty="0" smtClean="0">
                    <a:solidFill>
                      <a:srgbClr val="CC6600"/>
                    </a:solidFill>
                    <a:ea typeface="华文楷体" panose="02010600040101010101" pitchFamily="2" charset="-122"/>
                  </a:rPr>
                  <a:t>[</a:t>
                </a:r>
                <a:r>
                  <a:rPr lang="zh-CN" altLang="en-US" sz="2000" b="1" dirty="0" smtClean="0">
                    <a:solidFill>
                      <a:srgbClr val="CC6600"/>
                    </a:solidFill>
                    <a:ea typeface="华文楷体" panose="02010600040101010101" pitchFamily="2" charset="-122"/>
                  </a:rPr>
                  <a:t>*安全</a:t>
                </a:r>
                <a:r>
                  <a:rPr lang="zh-CN" altLang="en-US" sz="2000" b="1" dirty="0">
                    <a:solidFill>
                      <a:srgbClr val="CC6600"/>
                    </a:solidFill>
                    <a:ea typeface="华文楷体" panose="02010600040101010101" pitchFamily="2" charset="-122"/>
                  </a:rPr>
                  <a:t>的哈希函数</a:t>
                </a:r>
                <a:r>
                  <a:rPr lang="en-US" altLang="zh-CN" sz="2000" b="1" dirty="0">
                    <a:solidFill>
                      <a:srgbClr val="CC6600"/>
                    </a:solidFill>
                    <a:ea typeface="华文楷体" panose="02010600040101010101" pitchFamily="2" charset="-122"/>
                  </a:rPr>
                  <a:t>]</a:t>
                </a:r>
                <a:endParaRPr lang="en-US" altLang="zh-CN" sz="2000" b="1" dirty="0">
                  <a:solidFill>
                    <a:srgbClr val="CC6600"/>
                  </a:solidFill>
                  <a:ea typeface="华文楷体" panose="02010600040101010101" pitchFamily="2" charset="-122"/>
                </a:endParaRPr>
              </a:p>
              <a:p>
                <a:pPr marL="0" indent="0">
                  <a:buNone/>
                </a:pPr>
                <a:r>
                  <a:rPr lang="zh-CN" altLang="en-US" sz="2000" dirty="0">
                    <a:ea typeface="华文楷体" panose="02010600040101010101" pitchFamily="2" charset="-122"/>
                  </a:rPr>
                  <a:t>哈希函数常用于计算机安全领域，之一是消息验证。消息</a:t>
                </a:r>
                <a:r>
                  <a:rPr lang="en-US" altLang="zh-CN" sz="2000" dirty="0">
                    <a:ea typeface="华文楷体" panose="02010600040101010101" pitchFamily="2" charset="-122"/>
                  </a:rPr>
                  <a:t>M</a:t>
                </a:r>
                <a:r>
                  <a:rPr lang="zh-CN" altLang="en-US" sz="2000" dirty="0">
                    <a:ea typeface="华文楷体" panose="02010600040101010101" pitchFamily="2" charset="-122"/>
                  </a:rPr>
                  <a:t>通过不安全通道从</a:t>
                </a:r>
                <a:r>
                  <a:rPr lang="en-US" altLang="zh-CN" sz="2000" dirty="0">
                    <a:ea typeface="华文楷体" panose="02010600040101010101" pitchFamily="2" charset="-122"/>
                  </a:rPr>
                  <a:t>A</a:t>
                </a:r>
                <a:r>
                  <a:rPr lang="zh-CN" altLang="en-US" sz="2000" dirty="0">
                    <a:ea typeface="华文楷体" panose="02010600040101010101" pitchFamily="2" charset="-122"/>
                  </a:rPr>
                  <a:t>传到</a:t>
                </a:r>
                <a:r>
                  <a:rPr lang="en-US" altLang="zh-CN" sz="2000" dirty="0">
                    <a:ea typeface="华文楷体" panose="02010600040101010101" pitchFamily="2" charset="-122"/>
                  </a:rPr>
                  <a:t>B</a:t>
                </a:r>
                <a:r>
                  <a:rPr lang="zh-CN" altLang="en-US" sz="2000" dirty="0">
                    <a:ea typeface="华文楷体" panose="02010600040101010101" pitchFamily="2" charset="-122"/>
                  </a:rPr>
                  <a:t>，希望</a:t>
                </a:r>
                <a:r>
                  <a:rPr lang="en-US" altLang="zh-CN" sz="2000" dirty="0">
                    <a:ea typeface="华文楷体" panose="02010600040101010101" pitchFamily="2" charset="-122"/>
                  </a:rPr>
                  <a:t>B</a:t>
                </a:r>
                <a:r>
                  <a:rPr lang="zh-CN" altLang="en-US" sz="2000" dirty="0">
                    <a:ea typeface="华文楷体" panose="02010600040101010101" pitchFamily="2" charset="-122"/>
                  </a:rPr>
                  <a:t>确信接收到的信息</a:t>
                </a:r>
                <a:r>
                  <a:rPr lang="zh-CN" altLang="en-US" sz="2000" dirty="0" smtClean="0">
                    <a:ea typeface="华文楷体" panose="02010600040101010101" pitchFamily="2" charset="-122"/>
                  </a:rPr>
                  <a:t>就是原始消息，而不是伪造的消息。</a:t>
                </a:r>
                <a:endParaRPr lang="en-US" altLang="zh-CN" sz="2000" dirty="0" smtClean="0">
                  <a:ea typeface="华文楷体" panose="02010600040101010101" pitchFamily="2" charset="-122"/>
                </a:endParaRPr>
              </a:p>
              <a:p>
                <a:pPr marL="0" indent="0">
                  <a:buNone/>
                </a:pPr>
                <a:r>
                  <a:rPr lang="zh-CN" altLang="en-US" sz="2000" dirty="0" smtClean="0">
                    <a:ea typeface="华文楷体" panose="02010600040101010101" pitchFamily="2" charset="-122"/>
                  </a:rPr>
                  <a:t>解决方法：</a:t>
                </a:r>
                <a:r>
                  <a:rPr lang="en-US" altLang="zh-CN" sz="2000" dirty="0" smtClean="0">
                    <a:ea typeface="华文楷体" panose="02010600040101010101" pitchFamily="2" charset="-122"/>
                  </a:rPr>
                  <a:t>A</a:t>
                </a:r>
                <a:r>
                  <a:rPr lang="zh-CN" altLang="en-US" sz="2000" dirty="0" smtClean="0">
                    <a:ea typeface="华文楷体" panose="02010600040101010101" pitchFamily="2" charset="-122"/>
                  </a:rPr>
                  <a:t>使用安全通道传输消息</a:t>
                </a:r>
                <a:r>
                  <a:rPr lang="en-US" altLang="zh-CN" sz="2000" dirty="0" smtClean="0">
                    <a:ea typeface="华文楷体" panose="02010600040101010101" pitchFamily="2" charset="-122"/>
                  </a:rPr>
                  <a:t>M</a:t>
                </a:r>
                <a:r>
                  <a:rPr lang="zh-CN" altLang="en-US" sz="2000" dirty="0" smtClean="0">
                    <a:ea typeface="华文楷体" panose="02010600040101010101" pitchFamily="2" charset="-122"/>
                  </a:rPr>
                  <a:t>的哈希值</a:t>
                </a:r>
                <a:r>
                  <a:rPr lang="en-US" altLang="zh-CN" sz="2000" dirty="0" smtClean="0">
                    <a:ea typeface="华文楷体" panose="02010600040101010101" pitchFamily="2" charset="-122"/>
                  </a:rPr>
                  <a:t>h(M)</a:t>
                </a:r>
                <a:r>
                  <a:rPr lang="zh-CN" altLang="en-US" sz="2000" dirty="0" smtClean="0">
                    <a:ea typeface="华文楷体" panose="02010600040101010101" pitchFamily="2" charset="-122"/>
                  </a:rPr>
                  <a:t>给</a:t>
                </a:r>
                <a:r>
                  <a:rPr lang="en-US" altLang="zh-CN" sz="2000" dirty="0" smtClean="0">
                    <a:ea typeface="华文楷体" panose="02010600040101010101" pitchFamily="2" charset="-122"/>
                  </a:rPr>
                  <a:t>B</a:t>
                </a:r>
                <a:r>
                  <a:rPr lang="zh-CN" altLang="en-US" sz="2000" dirty="0" smtClean="0">
                    <a:ea typeface="华文楷体" panose="02010600040101010101" pitchFamily="2" charset="-122"/>
                  </a:rPr>
                  <a:t>，仍然使用不安全通道传输消息</a:t>
                </a:r>
                <a:r>
                  <a:rPr lang="en-US" altLang="zh-CN" sz="2000" dirty="0" smtClean="0">
                    <a:ea typeface="华文楷体" panose="02010600040101010101" pitchFamily="2" charset="-122"/>
                  </a:rPr>
                  <a:t>M</a:t>
                </a:r>
                <a:r>
                  <a:rPr lang="zh-CN" altLang="en-US" sz="2000" dirty="0" smtClean="0">
                    <a:ea typeface="华文楷体" panose="02010600040101010101" pitchFamily="2" charset="-122"/>
                  </a:rPr>
                  <a:t>，</a:t>
                </a:r>
                <a:r>
                  <a:rPr lang="en-US" altLang="zh-CN" sz="2000" dirty="0" smtClean="0">
                    <a:ea typeface="华文楷体" panose="02010600040101010101" pitchFamily="2" charset="-122"/>
                  </a:rPr>
                  <a:t>B</a:t>
                </a:r>
                <a:r>
                  <a:rPr lang="zh-CN" altLang="en-US" sz="2000" dirty="0" smtClean="0">
                    <a:ea typeface="华文楷体" panose="02010600040101010101" pitchFamily="2" charset="-122"/>
                  </a:rPr>
                  <a:t>将收到的消息</a:t>
                </a:r>
                <a:r>
                  <a:rPr lang="en-US" altLang="zh-CN" sz="2000" dirty="0" smtClean="0">
                    <a:ea typeface="华文楷体" panose="02010600040101010101" pitchFamily="2" charset="-122"/>
                  </a:rPr>
                  <a:t>M’</a:t>
                </a:r>
                <a:r>
                  <a:rPr lang="zh-CN" altLang="en-US" sz="2000" dirty="0" smtClean="0">
                    <a:ea typeface="华文楷体" panose="02010600040101010101" pitchFamily="2" charset="-122"/>
                  </a:rPr>
                  <a:t>计算哈希值</a:t>
                </a:r>
                <a:r>
                  <a:rPr lang="en-US" altLang="zh-CN" sz="2000" dirty="0" smtClean="0">
                    <a:ea typeface="华文楷体" panose="02010600040101010101" pitchFamily="2" charset="-122"/>
                  </a:rPr>
                  <a:t>h(M’)</a:t>
                </a:r>
                <a:r>
                  <a:rPr lang="zh-CN" altLang="en-US" sz="2000" dirty="0" smtClean="0">
                    <a:ea typeface="华文楷体" panose="02010600040101010101" pitchFamily="2" charset="-122"/>
                  </a:rPr>
                  <a:t>，若</a:t>
                </a:r>
                <a:r>
                  <a:rPr lang="en-US" altLang="zh-CN" sz="2000" dirty="0" smtClean="0">
                    <a:ea typeface="华文楷体" panose="02010600040101010101" pitchFamily="2" charset="-122"/>
                  </a:rPr>
                  <a:t>h(M’)</a:t>
                </a:r>
                <a14:m>
                  <m:oMath xmlns:m="http://schemas.openxmlformats.org/officeDocument/2006/math">
                    <m:r>
                      <a:rPr lang="en-US" altLang="zh-CN" sz="2000" i="1" smtClean="0">
                        <a:latin typeface="Cambria Math" panose="02040503050406030204" pitchFamily="18" charset="0"/>
                        <a:ea typeface="Cambria Math" panose="02040503050406030204" pitchFamily="18" charset="0"/>
                      </a:rPr>
                      <m:t>≠</m:t>
                    </m:r>
                  </m:oMath>
                </a14:m>
                <a:r>
                  <a:rPr lang="en-US" altLang="zh-CN" sz="2000" dirty="0">
                    <a:ea typeface="华文楷体" panose="02010600040101010101" pitchFamily="2" charset="-122"/>
                  </a:rPr>
                  <a:t> h(M</a:t>
                </a:r>
                <a:r>
                  <a:rPr lang="en-US" altLang="zh-CN" sz="2000" dirty="0" smtClean="0">
                    <a:ea typeface="华文楷体" panose="02010600040101010101" pitchFamily="2" charset="-122"/>
                  </a:rPr>
                  <a:t>)</a:t>
                </a:r>
                <a:r>
                  <a:rPr lang="zh-CN" altLang="en-US" sz="2000" dirty="0" smtClean="0">
                    <a:ea typeface="华文楷体" panose="02010600040101010101" pitchFamily="2" charset="-122"/>
                  </a:rPr>
                  <a:t>，则为假消息。但</a:t>
                </a:r>
                <a:r>
                  <a:rPr lang="en-US" altLang="zh-CN" sz="2000" dirty="0" smtClean="0">
                    <a:ea typeface="华文楷体" panose="02010600040101010101" pitchFamily="2" charset="-122"/>
                  </a:rPr>
                  <a:t>M</a:t>
                </a:r>
                <a:r>
                  <a:rPr lang="zh-CN" altLang="en-US" sz="2000" dirty="0" smtClean="0">
                    <a:ea typeface="华文楷体" panose="02010600040101010101" pitchFamily="2" charset="-122"/>
                  </a:rPr>
                  <a:t>和</a:t>
                </a:r>
                <a:r>
                  <a:rPr lang="en-US" altLang="zh-CN" sz="2000" dirty="0">
                    <a:ea typeface="华文楷体" panose="02010600040101010101" pitchFamily="2" charset="-122"/>
                  </a:rPr>
                  <a:t>M</a:t>
                </a:r>
                <a:r>
                  <a:rPr lang="en-US" altLang="zh-CN" sz="2000" dirty="0" smtClean="0">
                    <a:ea typeface="华文楷体" panose="02010600040101010101" pitchFamily="2" charset="-122"/>
                  </a:rPr>
                  <a:t>’</a:t>
                </a:r>
                <a:r>
                  <a:rPr lang="zh-CN" altLang="en-US" sz="2000" dirty="0" smtClean="0">
                    <a:ea typeface="华文楷体" panose="02010600040101010101" pitchFamily="2" charset="-122"/>
                  </a:rPr>
                  <a:t>若为同义词也能使得</a:t>
                </a:r>
                <a:r>
                  <a:rPr lang="en-US" altLang="zh-CN" sz="2000" dirty="0">
                    <a:ea typeface="华文楷体" panose="02010600040101010101" pitchFamily="2" charset="-122"/>
                  </a:rPr>
                  <a:t>h(M</a:t>
                </a:r>
                <a:r>
                  <a:rPr lang="en-US" altLang="zh-CN" sz="2000" dirty="0" smtClean="0">
                    <a:ea typeface="华文楷体" panose="02010600040101010101" pitchFamily="2" charset="-122"/>
                  </a:rPr>
                  <a:t>’)</a:t>
                </a:r>
                <a14:m>
                  <m:oMath xmlns:m="http://schemas.openxmlformats.org/officeDocument/2006/math">
                    <m:r>
                      <a:rPr lang="en-US" altLang="zh-CN" sz="2000" i="1" dirty="0">
                        <a:latin typeface="Cambria Math" panose="02040503050406030204" pitchFamily="18" charset="0"/>
                        <a:ea typeface="华文楷体" panose="02010600040101010101" pitchFamily="2" charset="-122"/>
                      </a:rPr>
                      <m:t>=</m:t>
                    </m:r>
                  </m:oMath>
                </a14:m>
                <a:r>
                  <a:rPr lang="en-US" altLang="zh-CN" sz="2000" dirty="0" smtClean="0">
                    <a:ea typeface="华文楷体" panose="02010600040101010101" pitchFamily="2" charset="-122"/>
                  </a:rPr>
                  <a:t>h(M)</a:t>
                </a:r>
                <a:r>
                  <a:rPr lang="zh-CN" altLang="en-US" sz="2000" dirty="0" smtClean="0">
                    <a:ea typeface="华文楷体" panose="02010600040101010101" pitchFamily="2" charset="-122"/>
                  </a:rPr>
                  <a:t>，因此选用的哈希函数应该对于已知</a:t>
                </a:r>
                <a:r>
                  <a:rPr lang="en-US" altLang="zh-CN" sz="2000" dirty="0" smtClean="0">
                    <a:ea typeface="华文楷体" panose="02010600040101010101" pitchFamily="2" charset="-122"/>
                  </a:rPr>
                  <a:t>M</a:t>
                </a:r>
                <a:r>
                  <a:rPr lang="zh-CN" altLang="en-US" sz="2000" dirty="0" smtClean="0">
                    <a:ea typeface="华文楷体" panose="02010600040101010101" pitchFamily="2" charset="-122"/>
                  </a:rPr>
                  <a:t>和</a:t>
                </a:r>
                <a:r>
                  <a:rPr lang="en-US" altLang="zh-CN" sz="2000" dirty="0" smtClean="0">
                    <a:ea typeface="华文楷体" panose="02010600040101010101" pitchFamily="2" charset="-122"/>
                  </a:rPr>
                  <a:t>h</a:t>
                </a:r>
                <a:r>
                  <a:rPr lang="zh-CN" altLang="en-US" sz="2000" dirty="0" smtClean="0">
                    <a:ea typeface="华文楷体" panose="02010600040101010101" pitchFamily="2" charset="-122"/>
                  </a:rPr>
                  <a:t>的恶意用户很难获得</a:t>
                </a:r>
                <a:r>
                  <a:rPr lang="en-US" altLang="zh-CN" sz="2000" dirty="0" smtClean="0">
                    <a:ea typeface="华文楷体" panose="02010600040101010101" pitchFamily="2" charset="-122"/>
                  </a:rPr>
                  <a:t>M</a:t>
                </a:r>
                <a:r>
                  <a:rPr lang="zh-CN" altLang="en-US" sz="2000" dirty="0" smtClean="0">
                    <a:ea typeface="华文楷体" panose="02010600040101010101" pitchFamily="2" charset="-122"/>
                  </a:rPr>
                  <a:t>的一个同义词</a:t>
                </a:r>
                <a:r>
                  <a:rPr lang="en-US" altLang="zh-CN" sz="2000" dirty="0" smtClean="0">
                    <a:ea typeface="华文楷体" panose="02010600040101010101" pitchFamily="2" charset="-122"/>
                  </a:rPr>
                  <a:t>(</a:t>
                </a:r>
                <a:r>
                  <a:rPr lang="zh-CN" altLang="en-US" sz="2000" dirty="0" smtClean="0">
                    <a:ea typeface="华文楷体" panose="02010600040101010101" pitchFamily="2" charset="-122"/>
                  </a:rPr>
                  <a:t>弱抗冲突</a:t>
                </a:r>
                <a:r>
                  <a:rPr lang="en-US" altLang="zh-CN" sz="2000" dirty="0" smtClean="0">
                    <a:ea typeface="华文楷体" panose="02010600040101010101" pitchFamily="2" charset="-122"/>
                  </a:rPr>
                  <a:t>)</a:t>
                </a:r>
                <a:r>
                  <a:rPr lang="zh-CN" altLang="en-US" sz="2000" dirty="0" smtClean="0">
                    <a:ea typeface="华文楷体" panose="02010600040101010101" pitchFamily="2" charset="-122"/>
                  </a:rPr>
                  <a:t>。</a:t>
                </a:r>
                <a:endParaRPr lang="en-US" altLang="zh-CN" sz="2000" dirty="0" smtClean="0">
                  <a:ea typeface="华文楷体" panose="02010600040101010101" pitchFamily="2" charset="-122"/>
                </a:endParaRPr>
              </a:p>
              <a:p>
                <a:pPr marL="0" indent="0">
                  <a:buNone/>
                </a:pPr>
                <a:r>
                  <a:rPr lang="zh-CN" altLang="en-US" sz="2000" dirty="0" smtClean="0">
                    <a:ea typeface="华文楷体" panose="02010600040101010101" pitchFamily="2" charset="-122"/>
                  </a:rPr>
                  <a:t>安全哈希函数还应该具有的特性：</a:t>
                </a:r>
                <a:endParaRPr lang="en-US" altLang="zh-CN" sz="2000" dirty="0" smtClean="0">
                  <a:ea typeface="华文楷体" panose="02010600040101010101" pitchFamily="2" charset="-122"/>
                </a:endParaRPr>
              </a:p>
              <a:p>
                <a:pPr marL="0" indent="0">
                  <a:buNone/>
                </a:pPr>
                <a:r>
                  <a:rPr lang="zh-CN" altLang="en-US" sz="2000" dirty="0" smtClean="0">
                    <a:ea typeface="华文楷体" panose="02010600040101010101" pitchFamily="2" charset="-122"/>
                  </a:rPr>
                  <a:t>①单向特性：给定一个</a:t>
                </a:r>
                <a:r>
                  <a:rPr lang="en-US" altLang="zh-CN" sz="2000" dirty="0" smtClean="0">
                    <a:ea typeface="华文楷体" panose="02010600040101010101" pitchFamily="2" charset="-122"/>
                  </a:rPr>
                  <a:t>c</a:t>
                </a:r>
                <a:r>
                  <a:rPr lang="zh-CN" altLang="en-US" sz="2000" dirty="0" smtClean="0">
                    <a:ea typeface="华文楷体" panose="02010600040101010101" pitchFamily="2" charset="-122"/>
                  </a:rPr>
                  <a:t>，难以通过计算找到</a:t>
                </a:r>
                <a:r>
                  <a:rPr lang="en-US" altLang="zh-CN" sz="2000" dirty="0" smtClean="0">
                    <a:ea typeface="华文楷体" panose="02010600040101010101" pitchFamily="2" charset="-122"/>
                  </a:rPr>
                  <a:t>k</a:t>
                </a:r>
                <a:r>
                  <a:rPr lang="zh-CN" altLang="en-US" sz="2000" dirty="0" smtClean="0">
                    <a:ea typeface="华文楷体" panose="02010600040101010101" pitchFamily="2" charset="-122"/>
                  </a:rPr>
                  <a:t>，满足</a:t>
                </a:r>
                <a:r>
                  <a:rPr lang="en-US" altLang="zh-CN" sz="2000" dirty="0" smtClean="0">
                    <a:ea typeface="华文楷体" panose="02010600040101010101" pitchFamily="2" charset="-122"/>
                  </a:rPr>
                  <a:t>h(k)=c</a:t>
                </a:r>
                <a:r>
                  <a:rPr lang="zh-CN" altLang="en-US" sz="2000" dirty="0" smtClean="0">
                    <a:ea typeface="华文楷体" panose="02010600040101010101" pitchFamily="2" charset="-122"/>
                  </a:rPr>
                  <a:t>。</a:t>
                </a:r>
                <a:endParaRPr lang="en-US" altLang="zh-CN" sz="2000" dirty="0" smtClean="0">
                  <a:ea typeface="华文楷体" panose="02010600040101010101" pitchFamily="2" charset="-122"/>
                </a:endParaRPr>
              </a:p>
              <a:p>
                <a:pPr marL="0" indent="0">
                  <a:buNone/>
                </a:pPr>
                <a:r>
                  <a:rPr lang="zh-CN" altLang="en-US" sz="2000" dirty="0" smtClean="0">
                    <a:ea typeface="华文楷体" panose="02010600040101010101" pitchFamily="2" charset="-122"/>
                  </a:rPr>
                  <a:t>②强抗冲突：难以通过计算找到一对</a:t>
                </a:r>
                <a:r>
                  <a:rPr lang="en-US" altLang="zh-CN" sz="2000" dirty="0" smtClean="0">
                    <a:ea typeface="华文楷体" panose="02010600040101010101" pitchFamily="2" charset="-122"/>
                  </a:rPr>
                  <a:t>(</a:t>
                </a:r>
                <a:r>
                  <a:rPr lang="en-US" altLang="zh-CN" sz="2000" dirty="0" err="1" smtClean="0">
                    <a:ea typeface="华文楷体" panose="02010600040101010101" pitchFamily="2" charset="-122"/>
                  </a:rPr>
                  <a:t>x,y</a:t>
                </a:r>
                <a:r>
                  <a:rPr lang="en-US" altLang="zh-CN" sz="2000" dirty="0" smtClean="0">
                    <a:ea typeface="华文楷体" panose="02010600040101010101" pitchFamily="2" charset="-122"/>
                  </a:rPr>
                  <a:t>)</a:t>
                </a:r>
                <a:r>
                  <a:rPr lang="zh-CN" altLang="en-US" sz="2000" dirty="0" smtClean="0">
                    <a:ea typeface="华文楷体" panose="02010600040101010101" pitchFamily="2" charset="-122"/>
                  </a:rPr>
                  <a:t>，使得</a:t>
                </a:r>
                <a:r>
                  <a:rPr lang="en-US" altLang="zh-CN" sz="2000" dirty="0" smtClean="0">
                    <a:ea typeface="华文楷体" panose="02010600040101010101" pitchFamily="2" charset="-122"/>
                  </a:rPr>
                  <a:t>h(x)= h(y)</a:t>
                </a:r>
                <a:r>
                  <a:rPr lang="zh-CN" altLang="en-US" sz="2000" dirty="0" smtClean="0">
                    <a:ea typeface="华文楷体" panose="02010600040101010101" pitchFamily="2" charset="-122"/>
                  </a:rPr>
                  <a:t>。</a:t>
                </a:r>
                <a:endParaRPr lang="en-US" altLang="zh-CN" sz="2000" dirty="0" smtClean="0">
                  <a:ea typeface="华文楷体" panose="02010600040101010101" pitchFamily="2" charset="-122"/>
                </a:endParaRPr>
              </a:p>
              <a:p>
                <a:pPr marL="0" indent="0">
                  <a:buNone/>
                </a:pPr>
                <a:r>
                  <a:rPr lang="en-US" altLang="zh-CN" sz="2000" dirty="0" smtClean="0">
                    <a:latin typeface="宋体" panose="02010600030101010101" pitchFamily="2" charset="-122"/>
                    <a:ea typeface="宋体" panose="02010600030101010101" pitchFamily="2" charset="-122"/>
                  </a:rPr>
                  <a:t>③</a:t>
                </a:r>
                <a:r>
                  <a:rPr lang="en-US" altLang="zh-CN" sz="2000" dirty="0" smtClean="0">
                    <a:ea typeface="华文楷体" panose="02010600040101010101" pitchFamily="2" charset="-122"/>
                  </a:rPr>
                  <a:t>H</a:t>
                </a:r>
                <a:r>
                  <a:rPr lang="zh-CN" altLang="en-US" sz="2000" dirty="0" smtClean="0">
                    <a:ea typeface="华文楷体" panose="02010600040101010101" pitchFamily="2" charset="-122"/>
                  </a:rPr>
                  <a:t>可被应用与任何大小的一组数据。</a:t>
                </a:r>
                <a:endParaRPr lang="en-US" altLang="zh-CN" sz="2000" dirty="0" smtClean="0">
                  <a:ea typeface="华文楷体" panose="02010600040101010101" pitchFamily="2" charset="-122"/>
                </a:endParaRPr>
              </a:p>
              <a:p>
                <a:pPr marL="0" indent="0">
                  <a:buNone/>
                </a:pPr>
                <a:r>
                  <a:rPr lang="en-US" altLang="zh-CN" sz="2000" dirty="0" smtClean="0">
                    <a:latin typeface="宋体" panose="02010600030101010101" pitchFamily="2" charset="-122"/>
                    <a:ea typeface="宋体" panose="02010600030101010101" pitchFamily="2" charset="-122"/>
                  </a:rPr>
                  <a:t>④</a:t>
                </a:r>
                <a:r>
                  <a:rPr lang="en-US" altLang="zh-CN" sz="2000" dirty="0" smtClean="0">
                    <a:ea typeface="华文楷体" panose="02010600040101010101" pitchFamily="2" charset="-122"/>
                  </a:rPr>
                  <a:t>H</a:t>
                </a:r>
                <a:r>
                  <a:rPr lang="zh-CN" altLang="en-US" sz="2000" dirty="0" smtClean="0">
                    <a:ea typeface="华文楷体" panose="02010600040101010101" pitchFamily="2" charset="-122"/>
                  </a:rPr>
                  <a:t>能产生固定长度的</a:t>
                </a:r>
                <a:r>
                  <a:rPr lang="en-US" altLang="zh-CN" sz="2000" dirty="0" smtClean="0">
                    <a:ea typeface="华文楷体" panose="02010600040101010101" pitchFamily="2" charset="-122"/>
                  </a:rPr>
                  <a:t>hash</a:t>
                </a:r>
                <a:r>
                  <a:rPr lang="zh-CN" altLang="en-US" sz="2000" dirty="0" smtClean="0">
                    <a:ea typeface="华文楷体" panose="02010600040101010101" pitchFamily="2" charset="-122"/>
                  </a:rPr>
                  <a:t>码。</a:t>
                </a:r>
                <a:endParaRPr lang="en-US" altLang="zh-CN" sz="2000" dirty="0" smtClean="0">
                  <a:ea typeface="华文楷体" panose="02010600040101010101" pitchFamily="2" charset="-122"/>
                </a:endParaRPr>
              </a:p>
              <a:p>
                <a:pPr marL="0" indent="0">
                  <a:buNone/>
                </a:pPr>
                <a:r>
                  <a:rPr lang="zh-CN" altLang="en-US" sz="2000" dirty="0" smtClean="0">
                    <a:latin typeface="宋体" panose="02010600030101010101" pitchFamily="2" charset="-122"/>
                    <a:ea typeface="宋体" panose="02010600030101010101" pitchFamily="2" charset="-122"/>
                  </a:rPr>
                  <a:t>⑤</a:t>
                </a:r>
                <a:r>
                  <a:rPr lang="zh-CN" altLang="en-US" sz="2000" dirty="0" smtClean="0">
                    <a:ea typeface="华文楷体" panose="02010600040101010101" pitchFamily="2" charset="-122"/>
                  </a:rPr>
                  <a:t>对任意给定的</a:t>
                </a:r>
                <a:r>
                  <a:rPr lang="en-US" altLang="zh-CN" sz="2000" dirty="0" smtClean="0">
                    <a:ea typeface="华文楷体" panose="02010600040101010101" pitchFamily="2" charset="-122"/>
                  </a:rPr>
                  <a:t>k</a:t>
                </a:r>
                <a:r>
                  <a:rPr lang="zh-CN" altLang="en-US" sz="2000" dirty="0" smtClean="0">
                    <a:ea typeface="华文楷体" panose="02010600040101010101" pitchFamily="2" charset="-122"/>
                  </a:rPr>
                  <a:t>，</a:t>
                </a:r>
                <a:r>
                  <a:rPr lang="en-US" altLang="zh-CN" sz="2000" dirty="0">
                    <a:ea typeface="华文楷体" panose="02010600040101010101" pitchFamily="2" charset="-122"/>
                  </a:rPr>
                  <a:t>h(k</a:t>
                </a:r>
                <a:r>
                  <a:rPr lang="en-US" altLang="zh-CN" sz="2000" dirty="0" smtClean="0">
                    <a:ea typeface="华文楷体" panose="02010600040101010101" pitchFamily="2" charset="-122"/>
                  </a:rPr>
                  <a:t>)</a:t>
                </a:r>
                <a:r>
                  <a:rPr lang="zh-CN" altLang="en-US" sz="2000" dirty="0" smtClean="0">
                    <a:ea typeface="华文楷体" panose="02010600040101010101" pitchFamily="2" charset="-122"/>
                  </a:rPr>
                  <a:t>计算简单，容易实现。</a:t>
                </a:r>
                <a:endParaRPr lang="zh-CN" altLang="en-US" sz="2000" dirty="0">
                  <a:ea typeface="华文楷体" panose="02010600040101010101" pitchFamily="2" charset="-122"/>
                </a:endParaRPr>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a:stretch>
              </a:blipFill>
            </p:spPr>
            <p:txBody>
              <a:bodyPr/>
              <a:lstStyle/>
              <a:p>
                <a:r>
                  <a:rPr lang="zh-CN" altLang="en-US">
                    <a:noFill/>
                  </a:rPr>
                  <a:t> </a:t>
                </a:r>
              </a:p>
            </p:txBody>
          </p:sp>
        </mc:Fallback>
      </mc:AlternateContent>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eaLnBrk="1" hangingPunct="1">
              <a:buNone/>
            </a:pPr>
            <a:r>
              <a:rPr lang="en-US" altLang="zh-CN" sz="2000" b="1" dirty="0">
                <a:solidFill>
                  <a:srgbClr val="CC6600"/>
                </a:solidFill>
                <a:ea typeface="华文楷体" panose="02010600040101010101" pitchFamily="2" charset="-122"/>
              </a:rPr>
              <a:t>[</a:t>
            </a:r>
            <a:r>
              <a:rPr lang="zh-CN" altLang="en-US" sz="2000" b="1" dirty="0">
                <a:solidFill>
                  <a:srgbClr val="CC6600"/>
                </a:solidFill>
                <a:ea typeface="华文楷体" panose="02010600040101010101" pitchFamily="2" charset="-122"/>
              </a:rPr>
              <a:t>示例：</a:t>
            </a:r>
            <a:r>
              <a:rPr lang="en-US" altLang="zh-CN" sz="2000" b="1" dirty="0">
                <a:solidFill>
                  <a:srgbClr val="CC6600"/>
                </a:solidFill>
                <a:ea typeface="华文楷体" panose="02010600040101010101" pitchFamily="2" charset="-122"/>
              </a:rPr>
              <a:t>Secure Hash Algorithm SHA-1]</a:t>
            </a:r>
            <a:endParaRPr lang="en-US" altLang="zh-CN" sz="2000" b="1" dirty="0">
              <a:solidFill>
                <a:srgbClr val="CC6600"/>
              </a:solidFill>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
        <p:nvSpPr>
          <p:cNvPr id="6" name="文本框 5"/>
          <p:cNvSpPr txBox="1"/>
          <p:nvPr/>
        </p:nvSpPr>
        <p:spPr>
          <a:xfrm>
            <a:off x="308143" y="1503362"/>
            <a:ext cx="8527714" cy="2585323"/>
          </a:xfrm>
          <a:prstGeom prst="rect">
            <a:avLst/>
          </a:prstGeom>
          <a:noFill/>
          <a:ln>
            <a:solidFill>
              <a:schemeClr val="accent1"/>
            </a:solidFill>
          </a:ln>
        </p:spPr>
        <p:txBody>
          <a:bodyPr wrap="square" rtlCol="0">
            <a:spAutoFit/>
          </a:bodyPr>
          <a:lstStyle/>
          <a:p>
            <a:r>
              <a:rPr lang="en-US" altLang="zh-CN" dirty="0" smtClean="0">
                <a:latin typeface="Times New Roman" panose="02020603050405020304" pitchFamily="18" charset="0"/>
                <a:ea typeface="华文楷体" panose="02010600040101010101" pitchFamily="2" charset="-122"/>
              </a:rPr>
              <a:t>①</a:t>
            </a:r>
            <a:r>
              <a:rPr lang="zh-CN" altLang="en-US" dirty="0" smtClean="0">
                <a:latin typeface="Times New Roman" panose="02020603050405020304" pitchFamily="18" charset="0"/>
                <a:ea typeface="华文楷体" panose="02010600040101010101" pitchFamily="2" charset="-122"/>
              </a:rPr>
              <a:t>对输入信息进行预处理，如在末尾加一串</a:t>
            </a:r>
            <a:r>
              <a:rPr lang="en-US" altLang="zh-CN" dirty="0" smtClean="0">
                <a:latin typeface="Times New Roman" panose="02020603050405020304" pitchFamily="18" charset="0"/>
                <a:ea typeface="华文楷体" panose="02010600040101010101" pitchFamily="2" charset="-122"/>
              </a:rPr>
              <a:t>0</a:t>
            </a:r>
            <a:r>
              <a:rPr lang="zh-CN" altLang="en-US" dirty="0" smtClean="0">
                <a:latin typeface="Times New Roman" panose="02020603050405020304" pitchFamily="18" charset="0"/>
                <a:ea typeface="华文楷体" panose="02010600040101010101" pitchFamily="2" charset="-122"/>
              </a:rPr>
              <a:t>；使其长度表示为</a:t>
            </a:r>
            <a:r>
              <a:rPr lang="en-US" altLang="zh-CN" dirty="0" smtClean="0">
                <a:latin typeface="Times New Roman" panose="02020603050405020304" pitchFamily="18" charset="0"/>
                <a:ea typeface="华文楷体" panose="02010600040101010101" pitchFamily="2" charset="-122"/>
              </a:rPr>
              <a:t>q*512,q</a:t>
            </a:r>
            <a:r>
              <a:rPr lang="zh-CN" altLang="en-US" dirty="0" smtClean="0">
                <a:latin typeface="Times New Roman" panose="02020603050405020304" pitchFamily="18" charset="0"/>
                <a:ea typeface="华文楷体" panose="02010600040101010101" pitchFamily="2" charset="-122"/>
              </a:rPr>
              <a:t>为整数。</a:t>
            </a:r>
            <a:endParaRPr lang="en-US" altLang="zh-CN" dirty="0" smtClean="0">
              <a:latin typeface="Times New Roman" panose="02020603050405020304" pitchFamily="18" charset="0"/>
              <a:ea typeface="华文楷体" panose="02010600040101010101" pitchFamily="2" charset="-122"/>
            </a:endParaRPr>
          </a:p>
          <a:p>
            <a:r>
              <a:rPr lang="zh-CN" altLang="en-US" dirty="0" smtClean="0">
                <a:latin typeface="Times New Roman" panose="02020603050405020304" pitchFamily="18" charset="0"/>
                <a:ea typeface="华文楷体" panose="02010600040101010101" pitchFamily="2" charset="-122"/>
              </a:rPr>
              <a:t>②初始化</a:t>
            </a:r>
            <a:r>
              <a:rPr lang="en-US" altLang="zh-CN" dirty="0" smtClean="0">
                <a:latin typeface="Times New Roman" panose="02020603050405020304" pitchFamily="18" charset="0"/>
                <a:ea typeface="华文楷体" panose="02010600040101010101" pitchFamily="2" charset="-122"/>
              </a:rPr>
              <a:t>160</a:t>
            </a:r>
            <a:r>
              <a:rPr lang="zh-CN" altLang="en-US" dirty="0" smtClean="0">
                <a:latin typeface="Times New Roman" panose="02020603050405020304" pitchFamily="18" charset="0"/>
                <a:ea typeface="华文楷体" panose="02010600040101010101" pitchFamily="2" charset="-122"/>
              </a:rPr>
              <a:t>为的输出缓冲器</a:t>
            </a:r>
            <a:r>
              <a:rPr lang="en-US" altLang="zh-CN" dirty="0" smtClean="0">
                <a:latin typeface="Times New Roman" panose="02020603050405020304" pitchFamily="18" charset="0"/>
                <a:ea typeface="华文楷体" panose="02010600040101010101" pitchFamily="2" charset="-122"/>
              </a:rPr>
              <a:t>OB</a:t>
            </a:r>
            <a:r>
              <a:rPr lang="zh-CN" altLang="en-US" dirty="0" smtClean="0">
                <a:latin typeface="Times New Roman" panose="02020603050405020304" pitchFamily="18" charset="0"/>
                <a:ea typeface="华文楷体" panose="02010600040101010101" pitchFamily="2" charset="-122"/>
              </a:rPr>
              <a:t>，它由</a:t>
            </a:r>
            <a:r>
              <a:rPr lang="en-US" altLang="zh-CN" dirty="0" smtClean="0">
                <a:latin typeface="Times New Roman" panose="02020603050405020304" pitchFamily="18" charset="0"/>
                <a:ea typeface="华文楷体" panose="02010600040101010101" pitchFamily="2" charset="-122"/>
              </a:rPr>
              <a:t>5</a:t>
            </a:r>
            <a:r>
              <a:rPr lang="zh-CN" altLang="en-US" dirty="0" smtClean="0">
                <a:latin typeface="Times New Roman" panose="02020603050405020304" pitchFamily="18" charset="0"/>
                <a:ea typeface="华文楷体" panose="02010600040101010101" pitchFamily="2" charset="-122"/>
              </a:rPr>
              <a:t>个</a:t>
            </a:r>
            <a:r>
              <a:rPr lang="en-US" altLang="zh-CN" dirty="0" smtClean="0">
                <a:latin typeface="Times New Roman" panose="02020603050405020304" pitchFamily="18" charset="0"/>
                <a:ea typeface="华文楷体" panose="02010600040101010101" pitchFamily="2" charset="-122"/>
              </a:rPr>
              <a:t>32</a:t>
            </a:r>
            <a:r>
              <a:rPr lang="zh-CN" altLang="en-US" dirty="0" smtClean="0">
                <a:latin typeface="Times New Roman" panose="02020603050405020304" pitchFamily="18" charset="0"/>
                <a:ea typeface="华文楷体" panose="02010600040101010101" pitchFamily="2" charset="-122"/>
              </a:rPr>
              <a:t>为寄存器</a:t>
            </a:r>
            <a:r>
              <a:rPr lang="en-US" altLang="zh-CN" dirty="0" smtClean="0">
                <a:latin typeface="Times New Roman" panose="02020603050405020304" pitchFamily="18" charset="0"/>
                <a:ea typeface="华文楷体" panose="02010600040101010101" pitchFamily="2" charset="-122"/>
              </a:rPr>
              <a:t>ABCDE</a:t>
            </a:r>
            <a:r>
              <a:rPr lang="zh-CN" altLang="en-US" dirty="0" smtClean="0">
                <a:latin typeface="Times New Roman" panose="02020603050405020304" pitchFamily="18" charset="0"/>
                <a:ea typeface="华文楷体" panose="02010600040101010101" pitchFamily="2" charset="-122"/>
              </a:rPr>
              <a:t>组成，</a:t>
            </a:r>
            <a:r>
              <a:rPr lang="en-US" altLang="zh-CN" dirty="0" smtClean="0">
                <a:latin typeface="Times New Roman" panose="02020603050405020304" pitchFamily="18" charset="0"/>
                <a:ea typeface="华文楷体" panose="02010600040101010101" pitchFamily="2" charset="-122"/>
              </a:rPr>
              <a:t>A=67452301</a:t>
            </a:r>
            <a:r>
              <a:rPr lang="zh-CN" altLang="en-US" dirty="0" smtClean="0">
                <a:latin typeface="Times New Roman" panose="02020603050405020304" pitchFamily="18" charset="0"/>
                <a:ea typeface="华文楷体" panose="02010600040101010101" pitchFamily="2" charset="-122"/>
              </a:rPr>
              <a:t>，</a:t>
            </a:r>
            <a:r>
              <a:rPr lang="en-US" altLang="zh-CN" dirty="0" smtClean="0">
                <a:latin typeface="Times New Roman" panose="02020603050405020304" pitchFamily="18" charset="0"/>
                <a:ea typeface="华文楷体" panose="02010600040101010101" pitchFamily="2" charset="-122"/>
              </a:rPr>
              <a:t>B=efcdab89, C=98badcfe, D=10325476, E=c3d2e1f0</a:t>
            </a:r>
            <a:endParaRPr lang="en-US" altLang="zh-CN" dirty="0" smtClean="0">
              <a:latin typeface="Times New Roman" panose="02020603050405020304" pitchFamily="18" charset="0"/>
              <a:ea typeface="华文楷体" panose="02010600040101010101" pitchFamily="2" charset="-122"/>
            </a:endParaRPr>
          </a:p>
          <a:p>
            <a:r>
              <a:rPr lang="zh-CN" altLang="en-US" dirty="0" smtClean="0">
                <a:latin typeface="Times New Roman" panose="02020603050405020304" pitchFamily="18" charset="0"/>
                <a:ea typeface="华文楷体" panose="02010600040101010101" pitchFamily="2" charset="-122"/>
              </a:rPr>
              <a:t>③</a:t>
            </a:r>
            <a:r>
              <a:rPr lang="en-US" altLang="zh-CN" dirty="0" smtClean="0">
                <a:latin typeface="Times New Roman" panose="02020603050405020304" pitchFamily="18" charset="0"/>
                <a:ea typeface="华文楷体" panose="02010600040101010101" pitchFamily="2" charset="-122"/>
              </a:rPr>
              <a:t>for(</a:t>
            </a:r>
            <a:r>
              <a:rPr lang="en-US" altLang="zh-CN" dirty="0" err="1" smtClean="0">
                <a:latin typeface="Times New Roman" panose="02020603050405020304" pitchFamily="18" charset="0"/>
                <a:ea typeface="华文楷体" panose="02010600040101010101" pitchFamily="2" charset="-122"/>
              </a:rPr>
              <a:t>int</a:t>
            </a:r>
            <a:r>
              <a:rPr lang="en-US" altLang="zh-CN" dirty="0" smtClean="0">
                <a:latin typeface="Times New Roman" panose="02020603050405020304" pitchFamily="18" charset="0"/>
                <a:ea typeface="华文楷体" panose="02010600040101010101" pitchFamily="2" charset="-122"/>
              </a:rPr>
              <a:t> </a:t>
            </a:r>
            <a:r>
              <a:rPr lang="en-US" altLang="zh-CN" dirty="0" err="1" smtClean="0">
                <a:latin typeface="Times New Roman" panose="02020603050405020304" pitchFamily="18" charset="0"/>
                <a:ea typeface="华文楷体" panose="02010600040101010101" pitchFamily="2" charset="-122"/>
              </a:rPr>
              <a:t>i</a:t>
            </a:r>
            <a:r>
              <a:rPr lang="en-US" altLang="zh-CN" dirty="0" smtClean="0">
                <a:latin typeface="Times New Roman" panose="02020603050405020304" pitchFamily="18" charset="0"/>
                <a:ea typeface="华文楷体" panose="02010600040101010101" pitchFamily="2" charset="-122"/>
              </a:rPr>
              <a:t> = 1; </a:t>
            </a:r>
            <a:r>
              <a:rPr lang="en-US" altLang="zh-CN" dirty="0" err="1" smtClean="0">
                <a:latin typeface="Times New Roman" panose="02020603050405020304" pitchFamily="18" charset="0"/>
                <a:ea typeface="华文楷体" panose="02010600040101010101" pitchFamily="2" charset="-122"/>
              </a:rPr>
              <a:t>i</a:t>
            </a:r>
            <a:r>
              <a:rPr lang="en-US" altLang="zh-CN" dirty="0" smtClean="0">
                <a:latin typeface="Times New Roman" panose="02020603050405020304" pitchFamily="18" charset="0"/>
                <a:ea typeface="华文楷体" panose="02010600040101010101" pitchFamily="2" charset="-122"/>
              </a:rPr>
              <a:t>&lt;=q; </a:t>
            </a:r>
            <a:r>
              <a:rPr lang="en-US" altLang="zh-CN" dirty="0" err="1" smtClean="0">
                <a:latin typeface="Times New Roman" panose="02020603050405020304" pitchFamily="18" charset="0"/>
                <a:ea typeface="华文楷体" panose="02010600040101010101" pitchFamily="2" charset="-122"/>
              </a:rPr>
              <a:t>i</a:t>
            </a:r>
            <a:r>
              <a:rPr lang="en-US" altLang="zh-CN" dirty="0" smtClean="0">
                <a:latin typeface="Times New Roman" panose="02020603050405020304" pitchFamily="18" charset="0"/>
                <a:ea typeface="华文楷体" panose="02010600040101010101" pitchFamily="2" charset="-122"/>
              </a:rPr>
              <a:t>++){</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Bi = </a:t>
            </a:r>
            <a:r>
              <a:rPr lang="zh-CN" altLang="en-US" dirty="0" smtClean="0">
                <a:latin typeface="Times New Roman" panose="02020603050405020304" pitchFamily="18" charset="0"/>
                <a:ea typeface="华文楷体" panose="02010600040101010101" pitchFamily="2" charset="-122"/>
              </a:rPr>
              <a:t>输入信息的第</a:t>
            </a:r>
            <a:r>
              <a:rPr lang="en-US" altLang="zh-CN" dirty="0" err="1" smtClean="0">
                <a:latin typeface="Times New Roman" panose="02020603050405020304" pitchFamily="18" charset="0"/>
                <a:ea typeface="华文楷体" panose="02010600040101010101" pitchFamily="2" charset="-122"/>
              </a:rPr>
              <a:t>i</a:t>
            </a:r>
            <a:r>
              <a:rPr lang="zh-CN" altLang="en-US" dirty="0" smtClean="0">
                <a:latin typeface="Times New Roman" panose="02020603050405020304" pitchFamily="18" charset="0"/>
                <a:ea typeface="华文楷体" panose="02010600040101010101" pitchFamily="2" charset="-122"/>
              </a:rPr>
              <a:t>个</a:t>
            </a:r>
            <a:r>
              <a:rPr lang="en-US" altLang="zh-CN" dirty="0" smtClean="0">
                <a:latin typeface="Times New Roman" panose="02020603050405020304" pitchFamily="18" charset="0"/>
                <a:ea typeface="华文楷体" panose="02010600040101010101" pitchFamily="2" charset="-122"/>
              </a:rPr>
              <a:t>512</a:t>
            </a:r>
            <a:r>
              <a:rPr lang="zh-CN" altLang="en-US" dirty="0" smtClean="0">
                <a:latin typeface="Times New Roman" panose="02020603050405020304" pitchFamily="18" charset="0"/>
                <a:ea typeface="华文楷体" panose="02010600040101010101" pitchFamily="2" charset="-122"/>
              </a:rPr>
              <a:t>数据块</a:t>
            </a:r>
            <a:r>
              <a:rPr lang="en-US" altLang="zh-CN" dirty="0" smtClean="0">
                <a:latin typeface="Times New Roman" panose="02020603050405020304" pitchFamily="18" charset="0"/>
                <a:ea typeface="华文楷体" panose="02010600040101010101" pitchFamily="2" charset="-122"/>
              </a:rPr>
              <a:t>;</a:t>
            </a:r>
            <a:endParaRPr lang="en-US" altLang="zh-CN" dirty="0" smtClean="0">
              <a:latin typeface="Times New Roman" panose="02020603050405020304" pitchFamily="18" charset="0"/>
              <a:ea typeface="华文楷体" panose="02010600040101010101" pitchFamily="2" charset="-122"/>
            </a:endParaRPr>
          </a:p>
          <a:p>
            <a:r>
              <a:rPr lang="en-US" altLang="zh-CN" dirty="0">
                <a:latin typeface="Times New Roman" panose="02020603050405020304" pitchFamily="18" charset="0"/>
                <a:ea typeface="华文楷体" panose="02010600040101010101" pitchFamily="2" charset="-122"/>
              </a:rPr>
              <a:t> </a:t>
            </a:r>
            <a:r>
              <a:rPr lang="en-US" altLang="zh-CN" dirty="0" smtClean="0">
                <a:latin typeface="Times New Roman" panose="02020603050405020304" pitchFamily="18" charset="0"/>
                <a:ea typeface="华文楷体" panose="02010600040101010101" pitchFamily="2" charset="-122"/>
              </a:rPr>
              <a:t>   OB = F(</a:t>
            </a:r>
            <a:r>
              <a:rPr lang="en-US" altLang="zh-CN" dirty="0" err="1" smtClean="0">
                <a:latin typeface="Times New Roman" panose="02020603050405020304" pitchFamily="18" charset="0"/>
                <a:ea typeface="华文楷体" panose="02010600040101010101" pitchFamily="2" charset="-122"/>
              </a:rPr>
              <a:t>OB,Bi</a:t>
            </a:r>
            <a:r>
              <a:rPr lang="en-US" altLang="zh-CN" dirty="0" smtClean="0">
                <a:latin typeface="Times New Roman" panose="02020603050405020304" pitchFamily="18" charset="0"/>
                <a:ea typeface="华文楷体" panose="02010600040101010101" pitchFamily="2" charset="-122"/>
              </a:rPr>
              <a:t>);</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  }</a:t>
            </a:r>
            <a:endParaRPr lang="en-US" altLang="zh-CN" dirty="0" smtClean="0">
              <a:latin typeface="Times New Roman" panose="02020603050405020304" pitchFamily="18" charset="0"/>
              <a:ea typeface="华文楷体" panose="02010600040101010101" pitchFamily="2" charset="-122"/>
            </a:endParaRPr>
          </a:p>
          <a:p>
            <a:r>
              <a:rPr lang="en-US" altLang="zh-CN" dirty="0" smtClean="0">
                <a:latin typeface="Times New Roman" panose="02020603050405020304" pitchFamily="18" charset="0"/>
                <a:ea typeface="华文楷体" panose="02010600040101010101" pitchFamily="2" charset="-122"/>
              </a:rPr>
              <a:t>④</a:t>
            </a:r>
            <a:r>
              <a:rPr lang="zh-CN" altLang="en-US" dirty="0" smtClean="0">
                <a:latin typeface="Times New Roman" panose="02020603050405020304" pitchFamily="18" charset="0"/>
                <a:ea typeface="华文楷体" panose="02010600040101010101" pitchFamily="2" charset="-122"/>
              </a:rPr>
              <a:t>输出</a:t>
            </a:r>
            <a:r>
              <a:rPr lang="en-US" altLang="zh-CN" dirty="0" smtClean="0">
                <a:latin typeface="Times New Roman" panose="02020603050405020304" pitchFamily="18" charset="0"/>
                <a:ea typeface="华文楷体" panose="02010600040101010101" pitchFamily="2" charset="-122"/>
              </a:rPr>
              <a:t>OB;</a:t>
            </a:r>
            <a:endParaRPr lang="zh-CN" altLang="en-US" dirty="0">
              <a:latin typeface="Times New Roman" panose="02020603050405020304" pitchFamily="18" charset="0"/>
              <a:ea typeface="华文楷体" panose="02010600040101010101" pitchFamily="2" charset="-122"/>
            </a:endParaRPr>
          </a:p>
          <a:p>
            <a:endParaRPr lang="zh-CN" altLang="en-US" dirty="0"/>
          </a:p>
        </p:txBody>
      </p:sp>
      <p:pic>
        <p:nvPicPr>
          <p:cNvPr id="77826" name="Picture 2" descr="PPT - SHA (secure hash algorithm) PowerPoint Presentation, free ..."/>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05033" y="3283556"/>
            <a:ext cx="4589350" cy="3553806"/>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304799" y="4254856"/>
            <a:ext cx="4051177" cy="2554545"/>
          </a:xfrm>
          <a:prstGeom prst="rect">
            <a:avLst/>
          </a:prstGeom>
          <a:noFill/>
          <a:ln>
            <a:solidFill>
              <a:schemeClr val="accent1"/>
            </a:solidFill>
          </a:ln>
        </p:spPr>
        <p:txBody>
          <a:bodyPr wrap="square" rtlCol="0">
            <a:spAutoFit/>
          </a:bodyPr>
          <a:lstStyle/>
          <a:p>
            <a:r>
              <a:rPr lang="zh-CN" altLang="en-US" sz="1600" dirty="0">
                <a:latin typeface="Times New Roman" panose="02020603050405020304" pitchFamily="18" charset="0"/>
                <a:ea typeface="华文楷体" panose="02010600040101010101" pitchFamily="2" charset="-122"/>
              </a:rPr>
              <a:t>⊕是异或操作</a:t>
            </a:r>
            <a:endParaRPr lang="en-US" altLang="zh-CN" sz="1600" dirty="0">
              <a:latin typeface="Times New Roman" panose="02020603050405020304" pitchFamily="18" charset="0"/>
              <a:ea typeface="华文楷体" panose="02010600040101010101" pitchFamily="2" charset="-122"/>
            </a:endParaRPr>
          </a:p>
          <a:p>
            <a:r>
              <a:rPr lang="zh-CN" altLang="en-US" sz="1600" dirty="0" smtClean="0">
                <a:latin typeface="Times New Roman" panose="02020603050405020304" pitchFamily="18" charset="0"/>
                <a:ea typeface="华文楷体" panose="02010600040101010101" pitchFamily="2" charset="-122"/>
              </a:rPr>
              <a:t>假设</a:t>
            </a:r>
            <a:r>
              <a:rPr lang="en-US" altLang="zh-CN" sz="1600" dirty="0" smtClean="0">
                <a:latin typeface="Times New Roman" panose="02020603050405020304" pitchFamily="18" charset="0"/>
                <a:ea typeface="华文楷体" panose="02010600040101010101" pitchFamily="2" charset="-122"/>
              </a:rPr>
              <a:t>F=B</a:t>
            </a:r>
            <a:r>
              <a:rPr lang="zh-CN" altLang="en-US" sz="1600" dirty="0" smtClean="0">
                <a:latin typeface="Times New Roman" panose="02020603050405020304" pitchFamily="18" charset="0"/>
                <a:ea typeface="华文楷体" panose="02010600040101010101" pitchFamily="2" charset="-122"/>
              </a:rPr>
              <a:t>⊕</a:t>
            </a:r>
            <a:r>
              <a:rPr lang="en-US" altLang="zh-CN" sz="1600" dirty="0" smtClean="0">
                <a:latin typeface="Times New Roman" panose="02020603050405020304" pitchFamily="18" charset="0"/>
                <a:ea typeface="华文楷体" panose="02010600040101010101" pitchFamily="2" charset="-122"/>
              </a:rPr>
              <a:t>C</a:t>
            </a:r>
            <a:r>
              <a:rPr lang="zh-CN" altLang="en-US" sz="1600" dirty="0" smtClean="0">
                <a:latin typeface="Times New Roman" panose="02020603050405020304" pitchFamily="18" charset="0"/>
                <a:ea typeface="华文楷体" panose="02010600040101010101" pitchFamily="2" charset="-122"/>
              </a:rPr>
              <a:t>⊕</a:t>
            </a:r>
            <a:r>
              <a:rPr lang="en-US" altLang="zh-CN" sz="1600" dirty="0" smtClean="0">
                <a:latin typeface="Times New Roman" panose="02020603050405020304" pitchFamily="18" charset="0"/>
                <a:ea typeface="华文楷体" panose="02010600040101010101" pitchFamily="2" charset="-122"/>
              </a:rPr>
              <a:t>D,K0=5a827999</a:t>
            </a:r>
            <a:endParaRPr lang="en-US" altLang="zh-CN" sz="1600" dirty="0" smtClean="0">
              <a:latin typeface="Times New Roman" panose="02020603050405020304" pitchFamily="18" charset="0"/>
              <a:ea typeface="华文楷体" panose="02010600040101010101" pitchFamily="2" charset="-122"/>
            </a:endParaRPr>
          </a:p>
          <a:p>
            <a:r>
              <a:rPr lang="zh-CN" altLang="en-US" sz="1600" dirty="0" smtClean="0">
                <a:latin typeface="Times New Roman" panose="02020603050405020304" pitchFamily="18" charset="0"/>
                <a:ea typeface="华文楷体" panose="02010600040101010101" pitchFamily="2" charset="-122"/>
              </a:rPr>
              <a:t>通过计算更新寄存器</a:t>
            </a:r>
            <a:r>
              <a:rPr lang="en-US" altLang="zh-CN" sz="1600" dirty="0" smtClean="0">
                <a:latin typeface="Times New Roman" panose="02020603050405020304" pitchFamily="18" charset="0"/>
                <a:ea typeface="华文楷体" panose="02010600040101010101" pitchFamily="2" charset="-122"/>
              </a:rPr>
              <a:t>A-E</a:t>
            </a:r>
            <a:r>
              <a:rPr lang="zh-CN" altLang="en-US" sz="1600" dirty="0" smtClean="0">
                <a:latin typeface="Times New Roman" panose="02020603050405020304" pitchFamily="18" charset="0"/>
                <a:ea typeface="华文楷体" panose="02010600040101010101" pitchFamily="2" charset="-122"/>
              </a:rPr>
              <a:t>的值，有</a:t>
            </a:r>
            <a:r>
              <a:rPr lang="en-US" altLang="zh-CN" sz="1600" dirty="0" smtClean="0">
                <a:latin typeface="Times New Roman" panose="02020603050405020304" pitchFamily="18" charset="0"/>
                <a:ea typeface="华文楷体" panose="02010600040101010101" pitchFamily="2" charset="-122"/>
              </a:rPr>
              <a:t>B=67452301</a:t>
            </a:r>
            <a:r>
              <a:rPr lang="zh-CN" altLang="en-US" sz="1600" dirty="0" smtClean="0">
                <a:latin typeface="Times New Roman" panose="02020603050405020304" pitchFamily="18" charset="0"/>
                <a:ea typeface="华文楷体" panose="02010600040101010101" pitchFamily="2" charset="-122"/>
              </a:rPr>
              <a:t>，</a:t>
            </a:r>
            <a:r>
              <a:rPr lang="en-US" altLang="zh-CN" sz="1600" dirty="0" smtClean="0">
                <a:latin typeface="Times New Roman" panose="02020603050405020304" pitchFamily="18" charset="0"/>
                <a:ea typeface="华文楷体" panose="02010600040101010101" pitchFamily="2" charset="-122"/>
              </a:rPr>
              <a:t>D=98badcfe</a:t>
            </a:r>
            <a:r>
              <a:rPr lang="zh-CN" altLang="en-US" sz="1600" dirty="0" smtClean="0">
                <a:latin typeface="Times New Roman" panose="02020603050405020304" pitchFamily="18" charset="0"/>
                <a:ea typeface="华文楷体" panose="02010600040101010101" pitchFamily="2" charset="-122"/>
              </a:rPr>
              <a:t>，</a:t>
            </a:r>
            <a:r>
              <a:rPr lang="en-US" altLang="zh-CN" sz="1600" dirty="0" smtClean="0">
                <a:latin typeface="Times New Roman" panose="02020603050405020304" pitchFamily="18" charset="0"/>
                <a:ea typeface="华文楷体" panose="02010600040101010101" pitchFamily="2" charset="-122"/>
              </a:rPr>
              <a:t>E=10325476</a:t>
            </a:r>
            <a:r>
              <a:rPr lang="zh-CN" altLang="en-US" sz="1600" dirty="0" smtClean="0">
                <a:latin typeface="Times New Roman" panose="02020603050405020304" pitchFamily="18" charset="0"/>
                <a:ea typeface="华文楷体" panose="02010600040101010101" pitchFamily="2" charset="-122"/>
              </a:rPr>
              <a:t>。</a:t>
            </a:r>
            <a:r>
              <a:rPr lang="en-US" altLang="zh-CN" sz="1600" dirty="0" smtClean="0">
                <a:latin typeface="Times New Roman" panose="02020603050405020304" pitchFamily="18" charset="0"/>
                <a:ea typeface="华文楷体" panose="02010600040101010101" pitchFamily="2" charset="-122"/>
              </a:rPr>
              <a:t>C</a:t>
            </a:r>
            <a:r>
              <a:rPr lang="zh-CN" altLang="en-US" sz="1600" dirty="0" smtClean="0">
                <a:latin typeface="Times New Roman" panose="02020603050405020304" pitchFamily="18" charset="0"/>
                <a:ea typeface="华文楷体" panose="02010600040101010101" pitchFamily="2" charset="-122"/>
              </a:rPr>
              <a:t>由</a:t>
            </a:r>
            <a:r>
              <a:rPr lang="en-US" altLang="zh-CN" sz="1600" dirty="0" smtClean="0">
                <a:latin typeface="Times New Roman" panose="02020603050405020304" pitchFamily="18" charset="0"/>
                <a:ea typeface="华文楷体" panose="02010600040101010101" pitchFamily="2" charset="-122"/>
              </a:rPr>
              <a:t>B</a:t>
            </a:r>
            <a:r>
              <a:rPr lang="zh-CN" altLang="en-US" sz="1600" dirty="0" smtClean="0">
                <a:latin typeface="Times New Roman" panose="02020603050405020304" pitchFamily="18" charset="0"/>
                <a:ea typeface="华文楷体" panose="02010600040101010101" pitchFamily="2" charset="-122"/>
              </a:rPr>
              <a:t>循环右移</a:t>
            </a:r>
            <a:r>
              <a:rPr lang="en-US" altLang="zh-CN" sz="1600" dirty="0" smtClean="0">
                <a:latin typeface="Times New Roman" panose="02020603050405020304" pitchFamily="18" charset="0"/>
                <a:ea typeface="华文楷体" panose="02010600040101010101" pitchFamily="2" charset="-122"/>
              </a:rPr>
              <a:t>30</a:t>
            </a:r>
            <a:r>
              <a:rPr lang="zh-CN" altLang="en-US" sz="1600" dirty="0" smtClean="0">
                <a:latin typeface="Times New Roman" panose="02020603050405020304" pitchFamily="18" charset="0"/>
                <a:ea typeface="华文楷体" panose="02010600040101010101" pitchFamily="2" charset="-122"/>
              </a:rPr>
              <a:t>位得到，</a:t>
            </a:r>
            <a:r>
              <a:rPr lang="en-US" altLang="zh-CN" sz="1600" dirty="0" smtClean="0">
                <a:latin typeface="Times New Roman" panose="02020603050405020304" pitchFamily="18" charset="0"/>
                <a:ea typeface="华文楷体" panose="02010600040101010101" pitchFamily="2" charset="-122"/>
              </a:rPr>
              <a:t>B=11101111110011010101110001001,</a:t>
            </a:r>
            <a:endParaRPr lang="en-US" altLang="zh-CN" sz="1600" dirty="0" smtClean="0">
              <a:latin typeface="Times New Roman" panose="02020603050405020304" pitchFamily="18" charset="0"/>
              <a:ea typeface="华文楷体" panose="02010600040101010101" pitchFamily="2" charset="-122"/>
            </a:endParaRPr>
          </a:p>
          <a:p>
            <a:r>
              <a:rPr lang="en-US" altLang="zh-CN" sz="1600" dirty="0" smtClean="0">
                <a:latin typeface="Times New Roman" panose="02020603050405020304" pitchFamily="18" charset="0"/>
                <a:ea typeface="华文楷体" panose="02010600040101010101" pitchFamily="2" charset="-122"/>
              </a:rPr>
              <a:t>C=01111011111100110110101011100010=7b36ae2</a:t>
            </a:r>
            <a:r>
              <a:rPr lang="en-US" altLang="zh-CN" sz="1600" dirty="0">
                <a:latin typeface="Times New Roman" panose="02020603050405020304" pitchFamily="18" charset="0"/>
                <a:ea typeface="华文楷体" panose="02010600040101010101" pitchFamily="2" charset="-122"/>
              </a:rPr>
              <a:t>,</a:t>
            </a:r>
            <a:r>
              <a:rPr lang="zh-CN" altLang="en-US" sz="1600" dirty="0">
                <a:latin typeface="Times New Roman" panose="02020603050405020304" pitchFamily="18" charset="0"/>
                <a:ea typeface="华文楷体" panose="02010600040101010101" pitchFamily="2" charset="-122"/>
              </a:rPr>
              <a:t>将</a:t>
            </a:r>
            <a:r>
              <a:rPr lang="en-US" altLang="zh-CN" sz="1600" dirty="0">
                <a:latin typeface="Times New Roman" panose="02020603050405020304" pitchFamily="18" charset="0"/>
                <a:ea typeface="华文楷体" panose="02010600040101010101" pitchFamily="2" charset="-122"/>
              </a:rPr>
              <a:t>5</a:t>
            </a:r>
            <a:r>
              <a:rPr lang="zh-CN" altLang="en-US" sz="1600" dirty="0">
                <a:latin typeface="Times New Roman" panose="02020603050405020304" pitchFamily="18" charset="0"/>
                <a:ea typeface="华文楷体" panose="02010600040101010101" pitchFamily="2" charset="-122"/>
              </a:rPr>
              <a:t>个值相加得到</a:t>
            </a:r>
            <a:r>
              <a:rPr lang="en-US" altLang="zh-CN" sz="1600" dirty="0">
                <a:latin typeface="Times New Roman" panose="02020603050405020304" pitchFamily="18" charset="0"/>
                <a:ea typeface="华文楷体" panose="02010600040101010101" pitchFamily="2" charset="-122"/>
              </a:rPr>
              <a:t>A</a:t>
            </a:r>
            <a:r>
              <a:rPr lang="zh-CN" altLang="en-US" sz="1600" dirty="0">
                <a:latin typeface="Times New Roman" panose="02020603050405020304" pitchFamily="18" charset="0"/>
                <a:ea typeface="华文楷体" panose="02010600040101010101" pitchFamily="2" charset="-122"/>
              </a:rPr>
              <a:t>中新值，</a:t>
            </a:r>
            <a:r>
              <a:rPr lang="en-US" altLang="zh-CN" sz="1600" dirty="0">
                <a:latin typeface="Times New Roman" panose="02020603050405020304" pitchFamily="18" charset="0"/>
                <a:ea typeface="华文楷体" panose="02010600040101010101" pitchFamily="2" charset="-122"/>
              </a:rPr>
              <a:t>f(B,C,D)=B</a:t>
            </a:r>
            <a:r>
              <a:rPr lang="zh-CN" altLang="en-US" sz="1600" dirty="0">
                <a:latin typeface="Times New Roman" panose="02020603050405020304" pitchFamily="18" charset="0"/>
                <a:ea typeface="华文楷体" panose="02010600040101010101" pitchFamily="2" charset="-122"/>
              </a:rPr>
              <a:t>⊕</a:t>
            </a:r>
            <a:r>
              <a:rPr lang="en-US" altLang="zh-CN" sz="1600" dirty="0">
                <a:latin typeface="Times New Roman" panose="02020603050405020304" pitchFamily="18" charset="0"/>
                <a:ea typeface="华文楷体" panose="02010600040101010101" pitchFamily="2" charset="-122"/>
              </a:rPr>
              <a:t>C</a:t>
            </a:r>
            <a:r>
              <a:rPr lang="zh-CN" altLang="en-US" sz="1600" dirty="0">
                <a:latin typeface="Times New Roman" panose="02020603050405020304" pitchFamily="18" charset="0"/>
                <a:ea typeface="华文楷体" panose="02010600040101010101" pitchFamily="2" charset="-122"/>
              </a:rPr>
              <a:t>⊕</a:t>
            </a:r>
            <a:r>
              <a:rPr lang="en-US" altLang="zh-CN" sz="1600" dirty="0">
                <a:latin typeface="Times New Roman" panose="02020603050405020304" pitchFamily="18" charset="0"/>
                <a:ea typeface="华文楷体" panose="02010600040101010101" pitchFamily="2" charset="-122"/>
              </a:rPr>
              <a:t>D=67452301;s</a:t>
            </a:r>
            <a:r>
              <a:rPr lang="en-US" altLang="zh-CN" sz="1600" baseline="30000" dirty="0">
                <a:latin typeface="Times New Roman" panose="02020603050405020304" pitchFamily="18" charset="0"/>
                <a:ea typeface="华文楷体" panose="02010600040101010101" pitchFamily="2" charset="-122"/>
              </a:rPr>
              <a:t>5</a:t>
            </a:r>
            <a:r>
              <a:rPr lang="en-US" altLang="zh-CN" sz="1600" dirty="0">
                <a:latin typeface="Times New Roman" panose="02020603050405020304" pitchFamily="18" charset="0"/>
                <a:ea typeface="华文楷体" panose="02010600040101010101" pitchFamily="2" charset="-122"/>
              </a:rPr>
              <a:t>(A)=e8a4602c,</a:t>
            </a:r>
            <a:r>
              <a:rPr lang="zh-CN" altLang="en-US" sz="1600" dirty="0">
                <a:latin typeface="Times New Roman" panose="02020603050405020304" pitchFamily="18" charset="0"/>
                <a:ea typeface="华文楷体" panose="02010600040101010101" pitchFamily="2" charset="-122"/>
              </a:rPr>
              <a:t>相加取</a:t>
            </a:r>
            <a:r>
              <a:rPr lang="zh-CN" altLang="en-US" sz="1600" dirty="0" smtClean="0">
                <a:latin typeface="Times New Roman" panose="02020603050405020304" pitchFamily="18" charset="0"/>
                <a:ea typeface="华文楷体" panose="02010600040101010101" pitchFamily="2" charset="-122"/>
              </a:rPr>
              <a:t>模</a:t>
            </a:r>
            <a:r>
              <a:rPr lang="en-US" altLang="zh-CN" sz="1600" dirty="0" smtClean="0">
                <a:latin typeface="Times New Roman" panose="02020603050405020304" pitchFamily="18" charset="0"/>
                <a:ea typeface="华文楷体" panose="02010600040101010101" pitchFamily="2" charset="-122"/>
              </a:rPr>
              <a:t>2</a:t>
            </a:r>
            <a:r>
              <a:rPr lang="en-US" altLang="zh-CN" sz="1600" baseline="30000" dirty="0" smtClean="0">
                <a:latin typeface="Times New Roman" panose="02020603050405020304" pitchFamily="18" charset="0"/>
                <a:ea typeface="华文楷体" panose="02010600040101010101" pitchFamily="2" charset="-122"/>
              </a:rPr>
              <a:t>32</a:t>
            </a:r>
            <a:r>
              <a:rPr lang="zh-CN" altLang="en-US" sz="1600" dirty="0">
                <a:latin typeface="Times New Roman" panose="02020603050405020304" pitchFamily="18" charset="0"/>
                <a:ea typeface="华文楷体" panose="02010600040101010101" pitchFamily="2" charset="-122"/>
              </a:rPr>
              <a:t>得</a:t>
            </a:r>
            <a:r>
              <a:rPr lang="en-US" altLang="zh-CN" sz="1600" dirty="0" smtClean="0">
                <a:latin typeface="Times New Roman" panose="02020603050405020304" pitchFamily="18" charset="0"/>
                <a:ea typeface="华文楷体" panose="02010600040101010101" pitchFamily="2" charset="-122"/>
              </a:rPr>
              <a:t>6e3edeb6</a:t>
            </a:r>
            <a:endParaRPr lang="zh-CN" altLang="en-US" sz="16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页脚占位符 3"/>
          <p:cNvSpPr>
            <a:spLocks noGrp="1"/>
          </p:cNvSpPr>
          <p:nvPr>
            <p:ph type="ftr" sz="quarter" idx="10"/>
          </p:nvPr>
        </p:nvSpPr>
        <p:spPr/>
        <p:txBody>
          <a:bodyPr/>
          <a:lstStyle/>
          <a:p>
            <a:pPr>
              <a:defRPr/>
            </a:pPr>
            <a:r>
              <a:rPr lang="en-US" altLang="zh-CN"/>
              <a:t>BUPT SCST</a:t>
            </a:r>
            <a:endParaRPr lang="en-US" altLang="zh-CN"/>
          </a:p>
        </p:txBody>
      </p:sp>
      <p:sp>
        <p:nvSpPr>
          <p:cNvPr id="7" name="日期占位符 5"/>
          <p:cNvSpPr>
            <a:spLocks noGrp="1"/>
          </p:cNvSpPr>
          <p:nvPr>
            <p:ph type="dt" sz="quarter" idx="12"/>
          </p:nvPr>
        </p:nvSpPr>
        <p:spPr/>
        <p:txBody>
          <a:bodyPr/>
          <a:lstStyle/>
          <a:p>
            <a:pPr>
              <a:defRPr/>
            </a:pPr>
            <a:r>
              <a:rPr lang="en-US" altLang="zh-CN"/>
              <a:t>BUPT</a:t>
            </a:r>
            <a:endParaRPr lang="en-US" altLang="zh-CN"/>
          </a:p>
        </p:txBody>
      </p:sp>
      <p:sp>
        <p:nvSpPr>
          <p:cNvPr id="6656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66565"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处理冲突的常用方法</a:t>
            </a:r>
            <a:r>
              <a:rPr lang="en-US" altLang="zh-CN" sz="2400" b="1" dirty="0" smtClean="0">
                <a:solidFill>
                  <a:srgbClr val="CC66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rgbClr val="800000"/>
                </a:solidFill>
                <a:ea typeface="华文楷体" panose="02010600040101010101" pitchFamily="2" charset="-122"/>
              </a:rPr>
              <a:t>[1.  </a:t>
            </a:r>
            <a:r>
              <a:rPr lang="zh-CN" altLang="en-US" sz="2400" b="1" dirty="0" smtClean="0">
                <a:solidFill>
                  <a:srgbClr val="800000"/>
                </a:solidFill>
                <a:ea typeface="华文楷体" panose="02010600040101010101" pitchFamily="2" charset="-122"/>
              </a:rPr>
              <a:t>开放定址法 </a:t>
            </a:r>
            <a:r>
              <a:rPr lang="en-US" altLang="zh-CN" sz="2400" b="1" dirty="0" smtClean="0">
                <a:solidFill>
                  <a:srgbClr val="800000"/>
                </a:solidFill>
                <a:ea typeface="华文楷体" panose="02010600040101010101" pitchFamily="2" charset="-122"/>
              </a:rPr>
              <a:t>(</a:t>
            </a:r>
            <a:r>
              <a:rPr lang="zh-CN" altLang="en-US" sz="2400" b="1" dirty="0" smtClean="0">
                <a:solidFill>
                  <a:srgbClr val="800000"/>
                </a:solidFill>
                <a:ea typeface="华文楷体" panose="02010600040101010101" pitchFamily="2" charset="-122"/>
              </a:rPr>
              <a:t>空缺编址法</a:t>
            </a:r>
            <a:r>
              <a:rPr lang="en-US" altLang="zh-CN" sz="2400" b="1" dirty="0" smtClean="0">
                <a:solidFill>
                  <a:srgbClr val="800000"/>
                </a:solidFill>
                <a:ea typeface="华文楷体" panose="02010600040101010101" pitchFamily="2" charset="-122"/>
              </a:rPr>
              <a:t>)]</a:t>
            </a:r>
            <a:endParaRPr lang="en-US" altLang="zh-CN" sz="2400" b="1" dirty="0" smtClean="0">
              <a:solidFill>
                <a:srgbClr val="800000"/>
              </a:solidFill>
              <a:ea typeface="华文楷体" panose="02010600040101010101" pitchFamily="2" charset="-122"/>
            </a:endParaRPr>
          </a:p>
          <a:p>
            <a:pPr eaLnBrk="1" hangingPunct="1">
              <a:buFont typeface="Wingdings" panose="05000000000000000000" pitchFamily="2" charset="2"/>
              <a:buNone/>
            </a:pPr>
            <a:r>
              <a:rPr lang="en-US" altLang="zh-CN" sz="2400" b="1" dirty="0" smtClean="0">
                <a:ea typeface="华文楷体" panose="02010600040101010101" pitchFamily="2" charset="-122"/>
              </a:rPr>
              <a:t>H</a:t>
            </a:r>
            <a:r>
              <a:rPr lang="en-US" altLang="zh-CN" sz="2400" b="1" baseline="-25000" dirty="0" smtClean="0">
                <a:ea typeface="华文楷体" panose="02010600040101010101" pitchFamily="2" charset="-122"/>
              </a:rPr>
              <a:t>i</a:t>
            </a:r>
            <a:r>
              <a:rPr lang="en-US" altLang="zh-CN" sz="2400" b="1" dirty="0" smtClean="0">
                <a:ea typeface="华文楷体" panose="02010600040101010101" pitchFamily="2" charset="-122"/>
              </a:rPr>
              <a:t> = ( H(key)+d</a:t>
            </a:r>
            <a:r>
              <a:rPr lang="en-US" altLang="zh-CN" sz="2400" b="1" baseline="-25000" dirty="0" smtClean="0">
                <a:ea typeface="华文楷体" panose="02010600040101010101" pitchFamily="2" charset="-122"/>
              </a:rPr>
              <a:t>i</a:t>
            </a:r>
            <a:r>
              <a:rPr lang="en-US" altLang="zh-CN" sz="2400" b="1" dirty="0" smtClean="0">
                <a:ea typeface="华文楷体" panose="02010600040101010101" pitchFamily="2" charset="-122"/>
              </a:rPr>
              <a:t> ) MOD m</a:t>
            </a:r>
            <a:r>
              <a:rPr lang="en-US" altLang="zh-CN" sz="2400" dirty="0" smtClean="0">
                <a:ea typeface="华文楷体" panose="02010600040101010101" pitchFamily="2" charset="-122"/>
              </a:rPr>
              <a:t>            </a:t>
            </a:r>
            <a:r>
              <a:rPr lang="en-US" altLang="zh-CN" sz="2400" dirty="0" smtClean="0">
                <a:solidFill>
                  <a:schemeClr val="accent2"/>
                </a:solidFill>
                <a:ea typeface="华文楷体" panose="02010600040101010101" pitchFamily="2" charset="-122"/>
              </a:rPr>
              <a:t>0    H(key)     m-1</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=1,2, ..., k  (k</a:t>
            </a:r>
            <a:r>
              <a:rPr lang="en-US" altLang="zh-CN" sz="2400" dirty="0" smtClean="0">
                <a:ea typeface="华文楷体" panose="02010600040101010101" pitchFamily="2" charset="-122"/>
                <a:sym typeface="Symbol" panose="05050102010706020507" pitchFamily="18" charset="2"/>
              </a:rPr>
              <a:t>m-1)</a:t>
            </a:r>
            <a:endParaRPr lang="en-US" altLang="zh-CN"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m:</a:t>
            </a:r>
            <a:r>
              <a:rPr lang="zh-CN" altLang="zh-CN" sz="2400" dirty="0" smtClean="0">
                <a:ea typeface="华文楷体" panose="02010600040101010101" pitchFamily="2" charset="-122"/>
                <a:sym typeface="Symbol" panose="05050102010706020507" pitchFamily="18" charset="2"/>
              </a:rPr>
              <a:t>哈希表的表长； </a:t>
            </a:r>
            <a:r>
              <a:rPr lang="en-US" altLang="zh-CN" sz="2400" dirty="0" smtClean="0">
                <a:ea typeface="华文楷体" panose="02010600040101010101" pitchFamily="2" charset="-122"/>
              </a:rPr>
              <a:t>d</a:t>
            </a:r>
            <a:r>
              <a:rPr lang="en-US" altLang="zh-CN" sz="2400" baseline="-25000" dirty="0" smtClean="0">
                <a:ea typeface="华文楷体" panose="02010600040101010101" pitchFamily="2" charset="-122"/>
              </a:rPr>
              <a:t>i</a:t>
            </a:r>
            <a:r>
              <a:rPr lang="en-US" altLang="zh-CN" sz="2400" dirty="0" smtClean="0">
                <a:ea typeface="华文楷体" panose="02010600040101010101" pitchFamily="2" charset="-122"/>
                <a:sym typeface="Symbol" panose="05050102010706020507" pitchFamily="18" charset="2"/>
              </a:rPr>
              <a:t>:</a:t>
            </a:r>
            <a:r>
              <a:rPr lang="zh-CN" altLang="zh-CN" sz="2400" dirty="0" smtClean="0">
                <a:ea typeface="华文楷体" panose="02010600040101010101" pitchFamily="2" charset="-122"/>
                <a:sym typeface="Symbol" panose="05050102010706020507" pitchFamily="18" charset="2"/>
              </a:rPr>
              <a:t>增量序列</a:t>
            </a:r>
            <a:endParaRPr lang="zh-CN" altLang="en-US"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endParaRPr lang="zh-CN" altLang="en-US" sz="2400" b="1" dirty="0" smtClean="0">
              <a:solidFill>
                <a:srgbClr val="CC6600"/>
              </a:solidFill>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sym typeface="Symbol" panose="05050102010706020507" pitchFamily="18" charset="2"/>
              </a:rPr>
              <a:t>1)</a:t>
            </a:r>
            <a:r>
              <a:rPr lang="zh-CN" altLang="zh-CN" sz="2400" b="1" dirty="0" smtClean="0">
                <a:solidFill>
                  <a:srgbClr val="CC6600"/>
                </a:solidFill>
                <a:ea typeface="华文楷体" panose="02010600040101010101" pitchFamily="2" charset="-122"/>
                <a:sym typeface="Symbol" panose="05050102010706020507" pitchFamily="18" charset="2"/>
              </a:rPr>
              <a:t>线性探测再散列</a:t>
            </a:r>
            <a:r>
              <a:rPr lang="zh-CN" altLang="en-US" sz="2400" dirty="0" smtClean="0">
                <a:solidFill>
                  <a:srgbClr val="FF3300"/>
                </a:solidFill>
                <a:ea typeface="华文楷体" panose="02010600040101010101" pitchFamily="2" charset="-122"/>
                <a:sym typeface="Symbol" panose="05050102010706020507" pitchFamily="18" charset="2"/>
              </a:rPr>
              <a:t>     </a:t>
            </a:r>
            <a:r>
              <a:rPr lang="zh-CN" altLang="zh-CN" sz="2400" dirty="0" smtClean="0">
                <a:ea typeface="华文楷体" panose="02010600040101010101" pitchFamily="2" charset="-122"/>
                <a:sym typeface="Symbol" panose="05050102010706020507" pitchFamily="18" charset="2"/>
              </a:rPr>
              <a:t> </a:t>
            </a:r>
            <a:endParaRPr lang="zh-CN" altLang="en-US"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400" dirty="0" smtClean="0">
                <a:ea typeface="华文楷体" panose="02010600040101010101" pitchFamily="2" charset="-122"/>
              </a:rPr>
              <a:t>d</a:t>
            </a:r>
            <a:r>
              <a:rPr lang="en-US" altLang="zh-CN" sz="2400" baseline="-25000" dirty="0" smtClean="0">
                <a:ea typeface="华文楷体" panose="02010600040101010101" pitchFamily="2" charset="-122"/>
              </a:rPr>
              <a:t>i</a:t>
            </a:r>
            <a:r>
              <a:rPr lang="en-US" altLang="zh-CN" sz="2400" dirty="0" smtClean="0">
                <a:ea typeface="华文楷体" panose="02010600040101010101" pitchFamily="2" charset="-122"/>
                <a:sym typeface="Symbol" panose="05050102010706020507" pitchFamily="18" charset="2"/>
              </a:rPr>
              <a:t>= 1,2, ..., m-1</a:t>
            </a:r>
            <a:endParaRPr lang="en-US" altLang="zh-CN"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zh-CN" altLang="en-US" sz="2400" dirty="0" smtClean="0">
                <a:ea typeface="华文楷体" panose="02010600040101010101" pitchFamily="2" charset="-122"/>
                <a:sym typeface="Symbol" panose="05050102010706020507" pitchFamily="18" charset="2"/>
              </a:rPr>
              <a:t>缺陷：有聚集</a:t>
            </a:r>
            <a:r>
              <a:rPr lang="en-US" altLang="zh-CN" sz="2400" dirty="0" smtClean="0">
                <a:ea typeface="华文楷体" panose="02010600040101010101" pitchFamily="2" charset="-122"/>
                <a:sym typeface="Symbol" panose="05050102010706020507" pitchFamily="18" charset="2"/>
              </a:rPr>
              <a:t>(</a:t>
            </a:r>
            <a:r>
              <a:rPr lang="zh-CN" altLang="en-US" sz="2400" dirty="0" smtClean="0">
                <a:ea typeface="华文楷体" panose="02010600040101010101" pitchFamily="2" charset="-122"/>
                <a:sym typeface="Symbol" panose="05050102010706020507" pitchFamily="18" charset="2"/>
              </a:rPr>
              <a:t>堆积</a:t>
            </a:r>
            <a:r>
              <a:rPr lang="en-US" altLang="zh-CN" sz="2400" dirty="0" smtClean="0">
                <a:ea typeface="华文楷体" panose="02010600040101010101" pitchFamily="2" charset="-122"/>
                <a:sym typeface="Symbol" panose="05050102010706020507" pitchFamily="18" charset="2"/>
              </a:rPr>
              <a:t>)</a:t>
            </a:r>
            <a:r>
              <a:rPr lang="zh-CN" altLang="en-US" sz="2400" dirty="0" smtClean="0">
                <a:ea typeface="华文楷体" panose="02010600040101010101" pitchFamily="2" charset="-122"/>
                <a:sym typeface="Symbol" panose="05050102010706020507" pitchFamily="18" charset="2"/>
              </a:rPr>
              <a:t>现象</a:t>
            </a:r>
            <a:r>
              <a:rPr lang="en-US" altLang="zh-CN" sz="2400" dirty="0" smtClean="0">
                <a:ea typeface="华文楷体" panose="02010600040101010101" pitchFamily="2" charset="-122"/>
                <a:sym typeface="Symbol" panose="05050102010706020507" pitchFamily="18" charset="2"/>
              </a:rPr>
              <a:t>—</a:t>
            </a:r>
            <a:r>
              <a:rPr lang="zh-CN" altLang="en-US" sz="2400" dirty="0" smtClean="0">
                <a:ea typeface="华文楷体" panose="02010600040101010101" pitchFamily="2" charset="-122"/>
                <a:sym typeface="Symbol" panose="05050102010706020507" pitchFamily="18" charset="2"/>
              </a:rPr>
              <a:t>非同义词地址冲突。</a:t>
            </a:r>
            <a:endParaRPr lang="zh-CN" altLang="zh-CN"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endParaRPr lang="en-US" altLang="zh-CN" sz="2400" b="1" dirty="0" smtClean="0">
              <a:solidFill>
                <a:srgbClr val="800000"/>
              </a:solidFill>
              <a:ea typeface="华文楷体" panose="02010600040101010101" pitchFamily="2" charset="-122"/>
            </a:endParaRPr>
          </a:p>
        </p:txBody>
      </p:sp>
      <p:sp>
        <p:nvSpPr>
          <p:cNvPr id="66566" name="Rectangle 4"/>
          <p:cNvSpPr>
            <a:spLocks noChangeArrowheads="1"/>
          </p:cNvSpPr>
          <p:nvPr/>
        </p:nvSpPr>
        <p:spPr bwMode="auto">
          <a:xfrm>
            <a:off x="5105400" y="2514600"/>
            <a:ext cx="2209800" cy="304800"/>
          </a:xfrm>
          <a:prstGeom prst="rect">
            <a:avLst/>
          </a:prstGeom>
          <a:noFill/>
          <a:ln w="952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66567" name="Rectangle 5"/>
          <p:cNvSpPr>
            <a:spLocks noChangeArrowheads="1"/>
          </p:cNvSpPr>
          <p:nvPr/>
        </p:nvSpPr>
        <p:spPr bwMode="auto">
          <a:xfrm>
            <a:off x="5867400" y="2514600"/>
            <a:ext cx="228600" cy="304800"/>
          </a:xfrm>
          <a:prstGeom prst="rect">
            <a:avLst/>
          </a:prstGeom>
          <a:solidFill>
            <a:schemeClr val="accent1"/>
          </a:solidFill>
          <a:ln w="9525">
            <a:solidFill>
              <a:schemeClr val="accent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sp>
        <p:nvSpPr>
          <p:cNvPr id="67589" name="Rectangle 3"/>
          <p:cNvSpPr>
            <a:spLocks noGrp="1" noChangeArrowheads="1"/>
          </p:cNvSpPr>
          <p:nvPr>
            <p:ph idx="1"/>
          </p:nvPr>
        </p:nvSpPr>
        <p:spPr/>
        <p:txBody>
          <a:bodyPr/>
          <a:lstStyle/>
          <a:p>
            <a:pPr eaLnBrk="1" hangingPunct="1">
              <a:buFont typeface="Wingdings" panose="05000000000000000000" pitchFamily="2" charset="2"/>
              <a:buNone/>
            </a:pPr>
            <a:r>
              <a:rPr lang="en-US" altLang="zh-CN" sz="2400" dirty="0" err="1" smtClean="0">
                <a:ea typeface="华文楷体" panose="02010600040101010101" pitchFamily="2" charset="-122"/>
              </a:rPr>
              <a:t>e.g</a:t>
            </a: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假定采用的 </a:t>
            </a:r>
            <a:r>
              <a:rPr lang="en-US" altLang="zh-CN" sz="2400" dirty="0" smtClean="0">
                <a:ea typeface="华文楷体" panose="02010600040101010101" pitchFamily="2" charset="-122"/>
              </a:rPr>
              <a:t>hashing </a:t>
            </a:r>
            <a:r>
              <a:rPr lang="zh-CN" altLang="en-US" sz="2400" dirty="0" smtClean="0">
                <a:ea typeface="华文楷体" panose="02010600040101010101" pitchFamily="2" charset="-122"/>
              </a:rPr>
              <a:t>函数为：</a:t>
            </a:r>
            <a:r>
              <a:rPr lang="en-US" altLang="zh-CN" sz="2400" dirty="0" smtClean="0">
                <a:ea typeface="华文楷体" panose="02010600040101010101" pitchFamily="2" charset="-122"/>
              </a:rPr>
              <a:t>H(key) = key MOD 11 </a:t>
            </a:r>
            <a:r>
              <a:rPr lang="zh-CN" altLang="en-US" sz="2400" dirty="0" smtClean="0">
                <a:ea typeface="华文楷体" panose="02010600040101010101" pitchFamily="2" charset="-122"/>
              </a:rPr>
              <a:t>假定的关键字序列为：</a:t>
            </a:r>
            <a:r>
              <a:rPr lang="en-US" altLang="zh-CN" sz="2400" dirty="0" smtClean="0">
                <a:ea typeface="华文楷体" panose="02010600040101010101" pitchFamily="2" charset="-122"/>
              </a:rPr>
              <a:t>17</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60</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29</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38 …… </a:t>
            </a:r>
            <a:r>
              <a:rPr lang="zh-CN" altLang="en-US" sz="2400" dirty="0" smtClean="0">
                <a:ea typeface="华文楷体" panose="02010600040101010101" pitchFamily="2" charset="-122"/>
              </a:rPr>
              <a:t>；它们的散列过程为：</a:t>
            </a:r>
            <a:endParaRPr lang="zh-CN" altLang="en-US" sz="2400"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ea typeface="华文楷体" panose="02010600040101010101" pitchFamily="2" charset="-122"/>
              </a:rPr>
              <a:t>H(17) =  6</a:t>
            </a:r>
            <a:endParaRPr lang="en-US" altLang="zh-CN" sz="2400" b="1"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ea typeface="华文楷体" panose="02010600040101010101" pitchFamily="2" charset="-122"/>
              </a:rPr>
              <a:t>H(60) =  5</a:t>
            </a:r>
            <a:endParaRPr lang="en-US" altLang="zh-CN" sz="2400" b="1"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ea typeface="华文楷体" panose="02010600040101010101" pitchFamily="2" charset="-122"/>
              </a:rPr>
              <a:t>H(29) =  7 </a:t>
            </a:r>
            <a:endParaRPr lang="en-US" altLang="zh-CN" sz="2400" b="1" dirty="0" smtClean="0">
              <a:ea typeface="华文楷体" panose="02010600040101010101" pitchFamily="2" charset="-122"/>
            </a:endParaRPr>
          </a:p>
          <a:p>
            <a:pPr eaLnBrk="1" hangingPunct="1">
              <a:buFont typeface="Wingdings" panose="05000000000000000000" pitchFamily="2" charset="2"/>
              <a:buNone/>
            </a:pPr>
            <a:r>
              <a:rPr lang="en-US" altLang="zh-CN" sz="2400" b="1" dirty="0" smtClean="0">
                <a:solidFill>
                  <a:schemeClr val="accent1"/>
                </a:solidFill>
                <a:ea typeface="华文楷体" panose="02010600040101010101" pitchFamily="2" charset="-122"/>
              </a:rPr>
              <a:t>H(38) =  5</a:t>
            </a:r>
            <a:endParaRPr lang="en-US" altLang="zh-CN" sz="2400" b="1" dirty="0" smtClean="0">
              <a:solidFill>
                <a:schemeClr val="accent1"/>
              </a:solidFill>
              <a:ea typeface="华文楷体" panose="02010600040101010101" pitchFamily="2" charset="-122"/>
            </a:endParaRPr>
          </a:p>
        </p:txBody>
      </p:sp>
      <p:sp>
        <p:nvSpPr>
          <p:cNvPr id="44" name="页脚占位符 3"/>
          <p:cNvSpPr>
            <a:spLocks noGrp="1"/>
          </p:cNvSpPr>
          <p:nvPr>
            <p:ph type="ftr" sz="quarter" idx="10"/>
          </p:nvPr>
        </p:nvSpPr>
        <p:spPr/>
        <p:txBody>
          <a:bodyPr/>
          <a:lstStyle/>
          <a:p>
            <a:pPr>
              <a:defRPr/>
            </a:pPr>
            <a:r>
              <a:rPr lang="en-US" altLang="zh-CN"/>
              <a:t>BUPT SCST</a:t>
            </a:r>
            <a:endParaRPr lang="en-US" altLang="zh-CN"/>
          </a:p>
        </p:txBody>
      </p:sp>
      <p:sp>
        <p:nvSpPr>
          <p:cNvPr id="45" name="日期占位符 5"/>
          <p:cNvSpPr>
            <a:spLocks noGrp="1"/>
          </p:cNvSpPr>
          <p:nvPr>
            <p:ph type="dt" sz="half" idx="12"/>
          </p:nvPr>
        </p:nvSpPr>
        <p:spPr/>
        <p:txBody>
          <a:bodyPr/>
          <a:lstStyle/>
          <a:p>
            <a:pPr>
              <a:defRPr/>
            </a:pPr>
            <a:r>
              <a:rPr lang="en-US" altLang="zh-CN"/>
              <a:t>BUPT</a:t>
            </a:r>
            <a:endParaRPr lang="en-US" altLang="zh-CN"/>
          </a:p>
        </p:txBody>
      </p:sp>
      <p:grpSp>
        <p:nvGrpSpPr>
          <p:cNvPr id="67590" name="Group 4"/>
          <p:cNvGrpSpPr/>
          <p:nvPr/>
        </p:nvGrpSpPr>
        <p:grpSpPr bwMode="auto">
          <a:xfrm>
            <a:off x="3505200" y="3276600"/>
            <a:ext cx="2133600" cy="2895600"/>
            <a:chOff x="4320" y="1632"/>
            <a:chExt cx="1344" cy="1824"/>
          </a:xfrm>
        </p:grpSpPr>
        <p:sp>
          <p:nvSpPr>
            <p:cNvPr id="67607" name="Rectangle 5"/>
            <p:cNvSpPr>
              <a:spLocks noChangeArrowheads="1"/>
            </p:cNvSpPr>
            <p:nvPr/>
          </p:nvSpPr>
          <p:spPr bwMode="auto">
            <a:xfrm>
              <a:off x="4320" y="1824"/>
              <a:ext cx="1008" cy="1584"/>
            </a:xfrm>
            <a:prstGeom prst="rect">
              <a:avLst/>
            </a:prstGeom>
            <a:solidFill>
              <a:srgbClr val="FFFFFF"/>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67608" name="Line 6"/>
            <p:cNvSpPr>
              <a:spLocks noChangeShapeType="1"/>
            </p:cNvSpPr>
            <p:nvPr/>
          </p:nvSpPr>
          <p:spPr bwMode="auto">
            <a:xfrm>
              <a:off x="4320" y="1968"/>
              <a:ext cx="1008"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09" name="Line 7"/>
            <p:cNvSpPr>
              <a:spLocks noChangeShapeType="1"/>
            </p:cNvSpPr>
            <p:nvPr/>
          </p:nvSpPr>
          <p:spPr bwMode="auto">
            <a:xfrm>
              <a:off x="4320" y="2112"/>
              <a:ext cx="1008"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10" name="Line 8"/>
            <p:cNvSpPr>
              <a:spLocks noChangeShapeType="1"/>
            </p:cNvSpPr>
            <p:nvPr/>
          </p:nvSpPr>
          <p:spPr bwMode="auto">
            <a:xfrm>
              <a:off x="4320" y="2256"/>
              <a:ext cx="1008"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11" name="Line 9"/>
            <p:cNvSpPr>
              <a:spLocks noChangeShapeType="1"/>
            </p:cNvSpPr>
            <p:nvPr/>
          </p:nvSpPr>
          <p:spPr bwMode="auto">
            <a:xfrm>
              <a:off x="4320" y="2400"/>
              <a:ext cx="1008"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12" name="Line 10"/>
            <p:cNvSpPr>
              <a:spLocks noChangeShapeType="1"/>
            </p:cNvSpPr>
            <p:nvPr/>
          </p:nvSpPr>
          <p:spPr bwMode="auto">
            <a:xfrm>
              <a:off x="4320" y="2544"/>
              <a:ext cx="1008"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13" name="Line 11"/>
            <p:cNvSpPr>
              <a:spLocks noChangeShapeType="1"/>
            </p:cNvSpPr>
            <p:nvPr/>
          </p:nvSpPr>
          <p:spPr bwMode="auto">
            <a:xfrm>
              <a:off x="4320" y="2688"/>
              <a:ext cx="1008"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14" name="Line 12"/>
            <p:cNvSpPr>
              <a:spLocks noChangeShapeType="1"/>
            </p:cNvSpPr>
            <p:nvPr/>
          </p:nvSpPr>
          <p:spPr bwMode="auto">
            <a:xfrm>
              <a:off x="4320" y="2832"/>
              <a:ext cx="1008"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15" name="Line 13"/>
            <p:cNvSpPr>
              <a:spLocks noChangeShapeType="1"/>
            </p:cNvSpPr>
            <p:nvPr/>
          </p:nvSpPr>
          <p:spPr bwMode="auto">
            <a:xfrm>
              <a:off x="4320" y="2976"/>
              <a:ext cx="1008"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16" name="Line 14"/>
            <p:cNvSpPr>
              <a:spLocks noChangeShapeType="1"/>
            </p:cNvSpPr>
            <p:nvPr/>
          </p:nvSpPr>
          <p:spPr bwMode="auto">
            <a:xfrm>
              <a:off x="4320" y="3120"/>
              <a:ext cx="1008"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17" name="Line 15"/>
            <p:cNvSpPr>
              <a:spLocks noChangeShapeType="1"/>
            </p:cNvSpPr>
            <p:nvPr/>
          </p:nvSpPr>
          <p:spPr bwMode="auto">
            <a:xfrm>
              <a:off x="4320" y="3264"/>
              <a:ext cx="1008"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18" name="Text Box 16"/>
            <p:cNvSpPr txBox="1">
              <a:spLocks noChangeArrowheads="1"/>
            </p:cNvSpPr>
            <p:nvPr/>
          </p:nvSpPr>
          <p:spPr bwMode="auto">
            <a:xfrm>
              <a:off x="5328" y="1776"/>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0</a:t>
              </a:r>
              <a:endParaRPr kumimoji="1" lang="en-US" altLang="zh-CN" sz="1400" b="1" dirty="0">
                <a:latin typeface="Times New Roman" panose="02020603050405020304" pitchFamily="18" charset="0"/>
                <a:ea typeface="华文楷体" panose="02010600040101010101" pitchFamily="2" charset="-122"/>
              </a:endParaRPr>
            </a:p>
          </p:txBody>
        </p:sp>
        <p:sp>
          <p:nvSpPr>
            <p:cNvPr id="67619" name="Text Box 17"/>
            <p:cNvSpPr txBox="1">
              <a:spLocks noChangeArrowheads="1"/>
            </p:cNvSpPr>
            <p:nvPr/>
          </p:nvSpPr>
          <p:spPr bwMode="auto">
            <a:xfrm>
              <a:off x="5328" y="1968"/>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1</a:t>
              </a:r>
              <a:endParaRPr kumimoji="1" lang="en-US" altLang="zh-CN" sz="1400" b="1" dirty="0">
                <a:latin typeface="Times New Roman" panose="02020603050405020304" pitchFamily="18" charset="0"/>
                <a:ea typeface="华文楷体" panose="02010600040101010101" pitchFamily="2" charset="-122"/>
              </a:endParaRPr>
            </a:p>
          </p:txBody>
        </p:sp>
        <p:sp>
          <p:nvSpPr>
            <p:cNvPr id="67620" name="Text Box 18"/>
            <p:cNvSpPr txBox="1">
              <a:spLocks noChangeArrowheads="1"/>
            </p:cNvSpPr>
            <p:nvPr/>
          </p:nvSpPr>
          <p:spPr bwMode="auto">
            <a:xfrm>
              <a:off x="5328" y="2112"/>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2</a:t>
              </a:r>
              <a:endParaRPr kumimoji="1" lang="en-US" altLang="zh-CN" sz="1400" b="1" dirty="0">
                <a:latin typeface="Times New Roman" panose="02020603050405020304" pitchFamily="18" charset="0"/>
                <a:ea typeface="华文楷体" panose="02010600040101010101" pitchFamily="2" charset="-122"/>
              </a:endParaRPr>
            </a:p>
          </p:txBody>
        </p:sp>
        <p:sp>
          <p:nvSpPr>
            <p:cNvPr id="67621" name="Text Box 19"/>
            <p:cNvSpPr txBox="1">
              <a:spLocks noChangeArrowheads="1"/>
            </p:cNvSpPr>
            <p:nvPr/>
          </p:nvSpPr>
          <p:spPr bwMode="auto">
            <a:xfrm>
              <a:off x="5328" y="2256"/>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3</a:t>
              </a:r>
              <a:endParaRPr kumimoji="1" lang="en-US" altLang="zh-CN" sz="1400" b="1" dirty="0">
                <a:latin typeface="Times New Roman" panose="02020603050405020304" pitchFamily="18" charset="0"/>
                <a:ea typeface="华文楷体" panose="02010600040101010101" pitchFamily="2" charset="-122"/>
              </a:endParaRPr>
            </a:p>
          </p:txBody>
        </p:sp>
        <p:sp>
          <p:nvSpPr>
            <p:cNvPr id="67622" name="Text Box 20"/>
            <p:cNvSpPr txBox="1">
              <a:spLocks noChangeArrowheads="1"/>
            </p:cNvSpPr>
            <p:nvPr/>
          </p:nvSpPr>
          <p:spPr bwMode="auto">
            <a:xfrm>
              <a:off x="5328" y="2400"/>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4</a:t>
              </a:r>
              <a:endParaRPr kumimoji="1" lang="en-US" altLang="zh-CN" sz="1400" b="1" dirty="0">
                <a:latin typeface="Times New Roman" panose="02020603050405020304" pitchFamily="18" charset="0"/>
                <a:ea typeface="华文楷体" panose="02010600040101010101" pitchFamily="2" charset="-122"/>
              </a:endParaRPr>
            </a:p>
          </p:txBody>
        </p:sp>
        <p:sp>
          <p:nvSpPr>
            <p:cNvPr id="67623" name="Text Box 21"/>
            <p:cNvSpPr txBox="1">
              <a:spLocks noChangeArrowheads="1"/>
            </p:cNvSpPr>
            <p:nvPr/>
          </p:nvSpPr>
          <p:spPr bwMode="auto">
            <a:xfrm>
              <a:off x="5328" y="2544"/>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5</a:t>
              </a:r>
              <a:endParaRPr kumimoji="1" lang="en-US" altLang="zh-CN" sz="1400" b="1" dirty="0">
                <a:latin typeface="Times New Roman" panose="02020603050405020304" pitchFamily="18" charset="0"/>
                <a:ea typeface="华文楷体" panose="02010600040101010101" pitchFamily="2" charset="-122"/>
              </a:endParaRPr>
            </a:p>
          </p:txBody>
        </p:sp>
        <p:sp>
          <p:nvSpPr>
            <p:cNvPr id="67624" name="Text Box 22"/>
            <p:cNvSpPr txBox="1">
              <a:spLocks noChangeArrowheads="1"/>
            </p:cNvSpPr>
            <p:nvPr/>
          </p:nvSpPr>
          <p:spPr bwMode="auto">
            <a:xfrm>
              <a:off x="5328" y="2688"/>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6</a:t>
              </a:r>
              <a:endParaRPr kumimoji="1" lang="en-US" altLang="zh-CN" sz="1400" b="1" dirty="0">
                <a:latin typeface="Times New Roman" panose="02020603050405020304" pitchFamily="18" charset="0"/>
                <a:ea typeface="华文楷体" panose="02010600040101010101" pitchFamily="2" charset="-122"/>
              </a:endParaRPr>
            </a:p>
          </p:txBody>
        </p:sp>
        <p:sp>
          <p:nvSpPr>
            <p:cNvPr id="67625" name="Text Box 23"/>
            <p:cNvSpPr txBox="1">
              <a:spLocks noChangeArrowheads="1"/>
            </p:cNvSpPr>
            <p:nvPr/>
          </p:nvSpPr>
          <p:spPr bwMode="auto">
            <a:xfrm>
              <a:off x="5328" y="2832"/>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7</a:t>
              </a:r>
              <a:endParaRPr kumimoji="1" lang="en-US" altLang="zh-CN" sz="1400" b="1" dirty="0">
                <a:latin typeface="Times New Roman" panose="02020603050405020304" pitchFamily="18" charset="0"/>
                <a:ea typeface="华文楷体" panose="02010600040101010101" pitchFamily="2" charset="-122"/>
              </a:endParaRPr>
            </a:p>
          </p:txBody>
        </p:sp>
        <p:sp>
          <p:nvSpPr>
            <p:cNvPr id="67626" name="Text Box 24"/>
            <p:cNvSpPr txBox="1">
              <a:spLocks noChangeArrowheads="1"/>
            </p:cNvSpPr>
            <p:nvPr/>
          </p:nvSpPr>
          <p:spPr bwMode="auto">
            <a:xfrm>
              <a:off x="5328" y="2976"/>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8</a:t>
              </a:r>
              <a:endParaRPr kumimoji="1" lang="en-US" altLang="zh-CN" sz="1400" b="1" dirty="0">
                <a:latin typeface="Times New Roman" panose="02020603050405020304" pitchFamily="18" charset="0"/>
                <a:ea typeface="华文楷体" panose="02010600040101010101" pitchFamily="2" charset="-122"/>
              </a:endParaRPr>
            </a:p>
          </p:txBody>
        </p:sp>
        <p:sp>
          <p:nvSpPr>
            <p:cNvPr id="67627" name="Text Box 25"/>
            <p:cNvSpPr txBox="1">
              <a:spLocks noChangeArrowheads="1"/>
            </p:cNvSpPr>
            <p:nvPr/>
          </p:nvSpPr>
          <p:spPr bwMode="auto">
            <a:xfrm>
              <a:off x="5328" y="3120"/>
              <a:ext cx="19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9</a:t>
              </a:r>
              <a:endParaRPr kumimoji="1" lang="en-US" altLang="zh-CN" sz="1400" b="1" dirty="0">
                <a:latin typeface="Times New Roman" panose="02020603050405020304" pitchFamily="18" charset="0"/>
                <a:ea typeface="华文楷体" panose="02010600040101010101" pitchFamily="2" charset="-122"/>
              </a:endParaRPr>
            </a:p>
          </p:txBody>
        </p:sp>
        <p:sp>
          <p:nvSpPr>
            <p:cNvPr id="67628" name="Text Box 26"/>
            <p:cNvSpPr txBox="1">
              <a:spLocks noChangeArrowheads="1"/>
            </p:cNvSpPr>
            <p:nvPr/>
          </p:nvSpPr>
          <p:spPr bwMode="auto">
            <a:xfrm>
              <a:off x="5328" y="3264"/>
              <a:ext cx="33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10</a:t>
              </a:r>
              <a:endParaRPr kumimoji="1" lang="en-US" altLang="zh-CN" sz="1400" b="1" dirty="0">
                <a:latin typeface="Times New Roman" panose="02020603050405020304" pitchFamily="18" charset="0"/>
                <a:ea typeface="华文楷体" panose="02010600040101010101" pitchFamily="2" charset="-122"/>
              </a:endParaRPr>
            </a:p>
          </p:txBody>
        </p:sp>
        <p:sp>
          <p:nvSpPr>
            <p:cNvPr id="67629" name="Text Box 27"/>
            <p:cNvSpPr txBox="1">
              <a:spLocks noChangeArrowheads="1"/>
            </p:cNvSpPr>
            <p:nvPr/>
          </p:nvSpPr>
          <p:spPr bwMode="auto">
            <a:xfrm>
              <a:off x="4512" y="1632"/>
              <a:ext cx="100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Hashing </a:t>
              </a:r>
              <a:r>
                <a:rPr kumimoji="1" lang="zh-CN" altLang="zh-CN" sz="1400" b="1" dirty="0">
                  <a:latin typeface="Times New Roman" panose="02020603050405020304" pitchFamily="18" charset="0"/>
                  <a:ea typeface="华文楷体" panose="02010600040101010101" pitchFamily="2" charset="-122"/>
                </a:rPr>
                <a:t>表</a:t>
              </a:r>
              <a:endParaRPr kumimoji="1" lang="zh-CN" altLang="en-US" sz="1400" b="1" dirty="0">
                <a:latin typeface="Times New Roman" panose="02020603050405020304" pitchFamily="18" charset="0"/>
                <a:ea typeface="华文楷体" panose="02010600040101010101" pitchFamily="2" charset="-122"/>
              </a:endParaRPr>
            </a:p>
          </p:txBody>
        </p:sp>
      </p:grpSp>
      <p:sp>
        <p:nvSpPr>
          <p:cNvPr id="67591" name="Text Box 28"/>
          <p:cNvSpPr txBox="1">
            <a:spLocks noChangeArrowheads="1"/>
          </p:cNvSpPr>
          <p:nvPr/>
        </p:nvSpPr>
        <p:spPr bwMode="auto">
          <a:xfrm>
            <a:off x="3505200" y="4953000"/>
            <a:ext cx="1447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17</a:t>
            </a:r>
            <a:endParaRPr kumimoji="1" lang="en-US" altLang="zh-CN" sz="1400" b="1" dirty="0">
              <a:latin typeface="Times New Roman" panose="02020603050405020304" pitchFamily="18" charset="0"/>
              <a:ea typeface="华文楷体" panose="02010600040101010101" pitchFamily="2" charset="-122"/>
            </a:endParaRPr>
          </a:p>
        </p:txBody>
      </p:sp>
      <p:sp>
        <p:nvSpPr>
          <p:cNvPr id="67592" name="Text Box 29"/>
          <p:cNvSpPr txBox="1">
            <a:spLocks noChangeArrowheads="1"/>
          </p:cNvSpPr>
          <p:nvPr/>
        </p:nvSpPr>
        <p:spPr bwMode="auto">
          <a:xfrm>
            <a:off x="3505200" y="4724400"/>
            <a:ext cx="1447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60</a:t>
            </a:r>
            <a:endParaRPr kumimoji="1" lang="en-US" altLang="zh-CN" sz="1400" b="1" dirty="0">
              <a:latin typeface="Times New Roman" panose="02020603050405020304" pitchFamily="18" charset="0"/>
              <a:ea typeface="华文楷体" panose="02010600040101010101" pitchFamily="2" charset="-122"/>
            </a:endParaRPr>
          </a:p>
        </p:txBody>
      </p:sp>
      <p:sp>
        <p:nvSpPr>
          <p:cNvPr id="67593" name="Text Box 30"/>
          <p:cNvSpPr txBox="1">
            <a:spLocks noChangeArrowheads="1"/>
          </p:cNvSpPr>
          <p:nvPr/>
        </p:nvSpPr>
        <p:spPr bwMode="auto">
          <a:xfrm>
            <a:off x="3505200" y="5181600"/>
            <a:ext cx="1447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29</a:t>
            </a:r>
            <a:endParaRPr kumimoji="1" lang="en-US" altLang="zh-CN" sz="1400" b="1" dirty="0">
              <a:latin typeface="Times New Roman" panose="02020603050405020304" pitchFamily="18" charset="0"/>
              <a:ea typeface="华文楷体" panose="02010600040101010101" pitchFamily="2" charset="-122"/>
            </a:endParaRPr>
          </a:p>
        </p:txBody>
      </p:sp>
      <p:sp>
        <p:nvSpPr>
          <p:cNvPr id="67594" name="Text Box 31"/>
          <p:cNvSpPr txBox="1">
            <a:spLocks noChangeArrowheads="1"/>
          </p:cNvSpPr>
          <p:nvPr/>
        </p:nvSpPr>
        <p:spPr bwMode="auto">
          <a:xfrm>
            <a:off x="4114800" y="4724400"/>
            <a:ext cx="1447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solidFill>
                  <a:schemeClr val="folHlink"/>
                </a:solidFill>
                <a:latin typeface="Times New Roman" panose="02020603050405020304" pitchFamily="18" charset="0"/>
                <a:ea typeface="华文楷体" panose="02010600040101010101" pitchFamily="2" charset="-122"/>
              </a:rPr>
              <a:t>38</a:t>
            </a:r>
            <a:endParaRPr kumimoji="1" lang="en-US" altLang="zh-CN" sz="1400" b="1" dirty="0">
              <a:latin typeface="Times New Roman" panose="02020603050405020304" pitchFamily="18" charset="0"/>
              <a:ea typeface="华文楷体" panose="02010600040101010101" pitchFamily="2" charset="-122"/>
            </a:endParaRPr>
          </a:p>
        </p:txBody>
      </p:sp>
      <p:sp>
        <p:nvSpPr>
          <p:cNvPr id="67595" name="AutoShape 32"/>
          <p:cNvSpPr>
            <a:spLocks noChangeArrowheads="1"/>
          </p:cNvSpPr>
          <p:nvPr/>
        </p:nvSpPr>
        <p:spPr bwMode="auto">
          <a:xfrm rot="4945421">
            <a:off x="4209256" y="4706144"/>
            <a:ext cx="427038" cy="463550"/>
          </a:xfrm>
          <a:custGeom>
            <a:avLst/>
            <a:gdLst>
              <a:gd name="T0" fmla="*/ 78766111 w 21600"/>
              <a:gd name="T1" fmla="*/ 168101 h 21600"/>
              <a:gd name="T2" fmla="*/ 21258308 w 21600"/>
              <a:gd name="T3" fmla="*/ 115720622 h 21600"/>
              <a:gd name="T4" fmla="*/ 81107782 w 21600"/>
              <a:gd name="T5" fmla="*/ 53452058 h 21600"/>
              <a:gd name="T6" fmla="*/ 187778039 w 21600"/>
              <a:gd name="T7" fmla="*/ 106746165 h 21600"/>
              <a:gd name="T8" fmla="*/ 146049408 w 21600"/>
              <a:gd name="T9" fmla="*/ 160119462 h 21600"/>
              <a:gd name="T10" fmla="*/ 104321172 w 21600"/>
              <a:gd name="T11" fmla="*/ 106746165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cubicBezTo>
                  <a:pt x="5400" y="11002"/>
                  <a:pt x="5411" y="11204"/>
                  <a:pt x="5434" y="11405"/>
                </a:cubicBezTo>
                <a:lnTo>
                  <a:pt x="68" y="12011"/>
                </a:lnTo>
                <a:cubicBezTo>
                  <a:pt x="22" y="11609"/>
                  <a:pt x="0" y="11204"/>
                  <a:pt x="0" y="10800"/>
                </a:cubicBezTo>
                <a:cubicBezTo>
                  <a:pt x="0" y="4835"/>
                  <a:pt x="4835" y="0"/>
                  <a:pt x="10800" y="0"/>
                </a:cubicBezTo>
                <a:cubicBezTo>
                  <a:pt x="16764" y="0"/>
                  <a:pt x="21600" y="4835"/>
                  <a:pt x="21600" y="10800"/>
                </a:cubicBezTo>
                <a:lnTo>
                  <a:pt x="24300" y="10800"/>
                </a:lnTo>
                <a:lnTo>
                  <a:pt x="18900" y="16200"/>
                </a:lnTo>
                <a:lnTo>
                  <a:pt x="13500" y="10800"/>
                </a:lnTo>
                <a:lnTo>
                  <a:pt x="16200" y="10800"/>
                </a:lnTo>
                <a:close/>
              </a:path>
            </a:pathLst>
          </a:custGeom>
          <a:solidFill>
            <a:schemeClr val="accent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596" name="AutoShape 33"/>
          <p:cNvSpPr>
            <a:spLocks noChangeArrowheads="1"/>
          </p:cNvSpPr>
          <p:nvPr/>
        </p:nvSpPr>
        <p:spPr bwMode="auto">
          <a:xfrm rot="4945421">
            <a:off x="4437856" y="4934744"/>
            <a:ext cx="427038" cy="463550"/>
          </a:xfrm>
          <a:custGeom>
            <a:avLst/>
            <a:gdLst>
              <a:gd name="T0" fmla="*/ 78766111 w 21600"/>
              <a:gd name="T1" fmla="*/ 168101 h 21600"/>
              <a:gd name="T2" fmla="*/ 21258308 w 21600"/>
              <a:gd name="T3" fmla="*/ 115720622 h 21600"/>
              <a:gd name="T4" fmla="*/ 81107782 w 21600"/>
              <a:gd name="T5" fmla="*/ 53452058 h 21600"/>
              <a:gd name="T6" fmla="*/ 187778039 w 21600"/>
              <a:gd name="T7" fmla="*/ 106746165 h 21600"/>
              <a:gd name="T8" fmla="*/ 146049408 w 21600"/>
              <a:gd name="T9" fmla="*/ 160119462 h 21600"/>
              <a:gd name="T10" fmla="*/ 104321172 w 21600"/>
              <a:gd name="T11" fmla="*/ 106746165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cubicBezTo>
                  <a:pt x="5400" y="11002"/>
                  <a:pt x="5411" y="11204"/>
                  <a:pt x="5434" y="11405"/>
                </a:cubicBezTo>
                <a:lnTo>
                  <a:pt x="68" y="12011"/>
                </a:lnTo>
                <a:cubicBezTo>
                  <a:pt x="22" y="11609"/>
                  <a:pt x="0" y="11204"/>
                  <a:pt x="0" y="10800"/>
                </a:cubicBezTo>
                <a:cubicBezTo>
                  <a:pt x="0" y="4835"/>
                  <a:pt x="4835" y="0"/>
                  <a:pt x="10800" y="0"/>
                </a:cubicBezTo>
                <a:cubicBezTo>
                  <a:pt x="16764" y="0"/>
                  <a:pt x="21600" y="4835"/>
                  <a:pt x="21600" y="10800"/>
                </a:cubicBezTo>
                <a:lnTo>
                  <a:pt x="24300" y="10800"/>
                </a:lnTo>
                <a:lnTo>
                  <a:pt x="18900" y="16200"/>
                </a:lnTo>
                <a:lnTo>
                  <a:pt x="13500" y="10800"/>
                </a:lnTo>
                <a:lnTo>
                  <a:pt x="16200" y="10800"/>
                </a:lnTo>
                <a:close/>
              </a:path>
            </a:pathLst>
          </a:custGeom>
          <a:solidFill>
            <a:schemeClr val="accent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597" name="AutoShape 34"/>
          <p:cNvSpPr>
            <a:spLocks noChangeArrowheads="1"/>
          </p:cNvSpPr>
          <p:nvPr/>
        </p:nvSpPr>
        <p:spPr bwMode="auto">
          <a:xfrm rot="4945421">
            <a:off x="4736306" y="5193507"/>
            <a:ext cx="427037" cy="463550"/>
          </a:xfrm>
          <a:custGeom>
            <a:avLst/>
            <a:gdLst>
              <a:gd name="T0" fmla="*/ 78765749 w 21600"/>
              <a:gd name="T1" fmla="*/ 168101 h 21600"/>
              <a:gd name="T2" fmla="*/ 21258198 w 21600"/>
              <a:gd name="T3" fmla="*/ 115720622 h 21600"/>
              <a:gd name="T4" fmla="*/ 81106999 w 21600"/>
              <a:gd name="T5" fmla="*/ 53452058 h 21600"/>
              <a:gd name="T6" fmla="*/ 187776769 w 21600"/>
              <a:gd name="T7" fmla="*/ 106746165 h 21600"/>
              <a:gd name="T8" fmla="*/ 146048334 w 21600"/>
              <a:gd name="T9" fmla="*/ 160119462 h 21600"/>
              <a:gd name="T10" fmla="*/ 104320295 w 21600"/>
              <a:gd name="T11" fmla="*/ 106746165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cubicBezTo>
                  <a:pt x="5400" y="11002"/>
                  <a:pt x="5411" y="11204"/>
                  <a:pt x="5434" y="11405"/>
                </a:cubicBezTo>
                <a:lnTo>
                  <a:pt x="68" y="12011"/>
                </a:lnTo>
                <a:cubicBezTo>
                  <a:pt x="22" y="11609"/>
                  <a:pt x="0" y="11204"/>
                  <a:pt x="0" y="10800"/>
                </a:cubicBezTo>
                <a:cubicBezTo>
                  <a:pt x="0" y="4835"/>
                  <a:pt x="4835" y="0"/>
                  <a:pt x="10800" y="0"/>
                </a:cubicBezTo>
                <a:cubicBezTo>
                  <a:pt x="16764" y="0"/>
                  <a:pt x="21600" y="4835"/>
                  <a:pt x="21600" y="10800"/>
                </a:cubicBezTo>
                <a:lnTo>
                  <a:pt x="24300" y="10800"/>
                </a:lnTo>
                <a:lnTo>
                  <a:pt x="18900" y="16200"/>
                </a:lnTo>
                <a:lnTo>
                  <a:pt x="13500" y="10800"/>
                </a:lnTo>
                <a:lnTo>
                  <a:pt x="16200" y="10800"/>
                </a:lnTo>
                <a:close/>
              </a:path>
            </a:pathLst>
          </a:custGeom>
          <a:solidFill>
            <a:schemeClr val="accent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598" name="Text Box 35"/>
          <p:cNvSpPr txBox="1">
            <a:spLocks noChangeArrowheads="1"/>
          </p:cNvSpPr>
          <p:nvPr/>
        </p:nvSpPr>
        <p:spPr bwMode="auto">
          <a:xfrm>
            <a:off x="4114800" y="5410200"/>
            <a:ext cx="14478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38</a:t>
            </a:r>
            <a:endParaRPr kumimoji="1" lang="en-US" altLang="zh-CN" sz="1400" b="1" dirty="0">
              <a:latin typeface="Times New Roman" panose="02020603050405020304" pitchFamily="18" charset="0"/>
              <a:ea typeface="华文楷体" panose="02010600040101010101" pitchFamily="2" charset="-122"/>
            </a:endParaRPr>
          </a:p>
        </p:txBody>
      </p:sp>
      <p:sp>
        <p:nvSpPr>
          <p:cNvPr id="67599" name="Line 36"/>
          <p:cNvSpPr>
            <a:spLocks noChangeShapeType="1"/>
          </p:cNvSpPr>
          <p:nvPr/>
        </p:nvSpPr>
        <p:spPr bwMode="auto">
          <a:xfrm>
            <a:off x="1905000" y="2590800"/>
            <a:ext cx="1524000" cy="243840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00" name="Line 37"/>
          <p:cNvSpPr>
            <a:spLocks noChangeShapeType="1"/>
          </p:cNvSpPr>
          <p:nvPr/>
        </p:nvSpPr>
        <p:spPr bwMode="auto">
          <a:xfrm>
            <a:off x="1905000" y="3048000"/>
            <a:ext cx="1524000" cy="175260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01" name="Line 38"/>
          <p:cNvSpPr>
            <a:spLocks noChangeShapeType="1"/>
          </p:cNvSpPr>
          <p:nvPr/>
        </p:nvSpPr>
        <p:spPr bwMode="auto">
          <a:xfrm>
            <a:off x="1905000" y="3429000"/>
            <a:ext cx="1600200" cy="182880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02" name="Line 39"/>
          <p:cNvSpPr>
            <a:spLocks noChangeShapeType="1"/>
          </p:cNvSpPr>
          <p:nvPr/>
        </p:nvSpPr>
        <p:spPr bwMode="auto">
          <a:xfrm>
            <a:off x="1905000" y="3886200"/>
            <a:ext cx="2286000" cy="990600"/>
          </a:xfrm>
          <a:prstGeom prst="line">
            <a:avLst/>
          </a:prstGeom>
          <a:noFill/>
          <a:ln w="28575">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67603" name="Text Box 40"/>
          <p:cNvSpPr txBox="1">
            <a:spLocks noChangeArrowheads="1"/>
          </p:cNvSpPr>
          <p:nvPr/>
        </p:nvSpPr>
        <p:spPr bwMode="auto">
          <a:xfrm>
            <a:off x="5791200" y="2438400"/>
            <a:ext cx="2743200" cy="19236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50000"/>
              </a:lnSpc>
              <a:spcBef>
                <a:spcPct val="50000"/>
              </a:spcBef>
              <a:buClrTx/>
              <a:buFontTx/>
              <a:buNone/>
            </a:pPr>
            <a:endParaRPr kumimoji="1" lang="en-US" altLang="zh-CN" sz="1400" b="1" dirty="0">
              <a:latin typeface="Times New Roman" panose="02020603050405020304" pitchFamily="18" charset="0"/>
              <a:ea typeface="华文楷体" panose="02010600040101010101" pitchFamily="2" charset="-122"/>
            </a:endParaRPr>
          </a:p>
          <a:p>
            <a:pPr>
              <a:lnSpc>
                <a:spcPct val="50000"/>
              </a:lnSpc>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当散列 </a:t>
            </a:r>
            <a:r>
              <a:rPr kumimoji="1" lang="en-US" altLang="zh-CN" sz="1400" b="1" dirty="0">
                <a:latin typeface="Times New Roman" panose="02020603050405020304" pitchFamily="18" charset="0"/>
                <a:ea typeface="华文楷体" panose="02010600040101010101" pitchFamily="2" charset="-122"/>
              </a:rPr>
              <a:t>38 </a:t>
            </a:r>
            <a:r>
              <a:rPr kumimoji="1" lang="zh-CN" altLang="en-US" sz="1400" b="1" dirty="0">
                <a:latin typeface="Times New Roman" panose="02020603050405020304" pitchFamily="18" charset="0"/>
                <a:ea typeface="华文楷体" panose="02010600040101010101" pitchFamily="2" charset="-122"/>
              </a:rPr>
              <a:t>时发生冲突，</a:t>
            </a:r>
            <a:endParaRPr kumimoji="1" lang="zh-CN" altLang="en-US" sz="1400" b="1" dirty="0">
              <a:latin typeface="Times New Roman" panose="02020603050405020304" pitchFamily="18" charset="0"/>
              <a:ea typeface="华文楷体" panose="02010600040101010101" pitchFamily="2" charset="-122"/>
            </a:endParaRPr>
          </a:p>
          <a:p>
            <a:pPr>
              <a:lnSpc>
                <a:spcPct val="50000"/>
              </a:lnSpc>
              <a:spcBef>
                <a:spcPct val="50000"/>
              </a:spcBef>
              <a:buClrTx/>
              <a:buFontTx/>
              <a:buNone/>
            </a:pPr>
            <a:endParaRPr kumimoji="1" lang="zh-CN" altLang="en-US" sz="1400" b="1" dirty="0">
              <a:latin typeface="Times New Roman" panose="02020603050405020304" pitchFamily="18" charset="0"/>
              <a:ea typeface="华文楷体" panose="02010600040101010101" pitchFamily="2" charset="-122"/>
            </a:endParaRPr>
          </a:p>
          <a:p>
            <a:pPr>
              <a:lnSpc>
                <a:spcPct val="50000"/>
              </a:lnSpc>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同  </a:t>
            </a:r>
            <a:r>
              <a:rPr kumimoji="1" lang="en-US" altLang="zh-CN" sz="1400" b="1" dirty="0">
                <a:latin typeface="Times New Roman" panose="02020603050405020304" pitchFamily="18" charset="0"/>
                <a:ea typeface="华文楷体" panose="02010600040101010101" pitchFamily="2" charset="-122"/>
              </a:rPr>
              <a:t>60 </a:t>
            </a:r>
            <a:r>
              <a:rPr kumimoji="1" lang="zh-CN" altLang="en-US" sz="1400" b="1" dirty="0">
                <a:latin typeface="Times New Roman" panose="02020603050405020304" pitchFamily="18" charset="0"/>
                <a:ea typeface="华文楷体" panose="02010600040101010101" pitchFamily="2" charset="-122"/>
              </a:rPr>
              <a:t>争夺第 </a:t>
            </a:r>
            <a:r>
              <a:rPr kumimoji="1" lang="en-US" altLang="zh-CN" sz="1400" b="1" dirty="0">
                <a:latin typeface="Times New Roman" panose="02020603050405020304" pitchFamily="18" charset="0"/>
                <a:ea typeface="华文楷体" panose="02010600040101010101" pitchFamily="2" charset="-122"/>
              </a:rPr>
              <a:t>5 </a:t>
            </a:r>
            <a:r>
              <a:rPr kumimoji="1" lang="zh-CN" altLang="en-US" sz="1400" b="1" dirty="0">
                <a:latin typeface="Times New Roman" panose="02020603050405020304" pitchFamily="18" charset="0"/>
                <a:ea typeface="华文楷体" panose="02010600040101010101" pitchFamily="2" charset="-122"/>
              </a:rPr>
              <a:t>个单元</a:t>
            </a:r>
            <a:endParaRPr kumimoji="1" lang="zh-CN" altLang="en-US" sz="1400" b="1" dirty="0">
              <a:latin typeface="Times New Roman" panose="02020603050405020304" pitchFamily="18" charset="0"/>
              <a:ea typeface="华文楷体" panose="02010600040101010101" pitchFamily="2" charset="-122"/>
            </a:endParaRPr>
          </a:p>
          <a:p>
            <a:pPr>
              <a:lnSpc>
                <a:spcPct val="170000"/>
              </a:lnSpc>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解决办法 ：探测下一个	 空单元</a:t>
            </a:r>
            <a:endParaRPr kumimoji="1" lang="zh-CN" altLang="en-US" sz="1400" b="1" dirty="0">
              <a:latin typeface="Times New Roman" panose="02020603050405020304" pitchFamily="18" charset="0"/>
              <a:ea typeface="华文楷体" panose="02010600040101010101" pitchFamily="2" charset="-122"/>
            </a:endParaRPr>
          </a:p>
          <a:p>
            <a:pPr>
              <a:lnSpc>
                <a:spcPct val="90000"/>
              </a:lnSpc>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H</a:t>
            </a:r>
            <a:r>
              <a:rPr kumimoji="1" lang="en-US" altLang="zh-CN" sz="1400" b="1" baseline="-25000" dirty="0">
                <a:latin typeface="Times New Roman" panose="02020603050405020304" pitchFamily="18" charset="0"/>
                <a:ea typeface="华文楷体" panose="02010600040101010101" pitchFamily="2" charset="-122"/>
              </a:rPr>
              <a:t>i</a:t>
            </a:r>
            <a:r>
              <a:rPr kumimoji="1" lang="en-US" altLang="zh-CN" sz="1400" b="1" dirty="0">
                <a:latin typeface="Times New Roman" panose="02020603050405020304" pitchFamily="18" charset="0"/>
                <a:ea typeface="华文楷体" panose="02010600040101010101" pitchFamily="2" charset="-122"/>
              </a:rPr>
              <a:t> = ( H(key)+d</a:t>
            </a:r>
            <a:r>
              <a:rPr kumimoji="1" lang="en-US" altLang="zh-CN" sz="1400" b="1" baseline="-25000" dirty="0">
                <a:latin typeface="Times New Roman" panose="02020603050405020304" pitchFamily="18" charset="0"/>
                <a:ea typeface="华文楷体" panose="02010600040101010101" pitchFamily="2" charset="-122"/>
              </a:rPr>
              <a:t>i</a:t>
            </a:r>
            <a:r>
              <a:rPr kumimoji="1" lang="en-US" altLang="zh-CN" sz="1400" b="1" dirty="0">
                <a:latin typeface="Times New Roman" panose="02020603050405020304" pitchFamily="18" charset="0"/>
                <a:ea typeface="华文楷体" panose="02010600040101010101" pitchFamily="2" charset="-122"/>
              </a:rPr>
              <a:t>) MOD 11</a:t>
            </a:r>
            <a:endParaRPr kumimoji="1" lang="en-US" altLang="zh-CN" sz="1400" b="1" dirty="0">
              <a:latin typeface="Times New Roman" panose="02020603050405020304" pitchFamily="18" charset="0"/>
              <a:ea typeface="华文楷体" panose="02010600040101010101" pitchFamily="2" charset="-122"/>
            </a:endParaRPr>
          </a:p>
          <a:p>
            <a:pPr>
              <a:lnSpc>
                <a:spcPct val="90000"/>
              </a:lnSpc>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其中： </a:t>
            </a:r>
            <a:r>
              <a:rPr kumimoji="1" lang="en-US" altLang="zh-CN" sz="1400" b="1" dirty="0">
                <a:latin typeface="Times New Roman" panose="02020603050405020304" pitchFamily="18" charset="0"/>
                <a:ea typeface="华文楷体" panose="02010600040101010101" pitchFamily="2" charset="-122"/>
              </a:rPr>
              <a:t>d</a:t>
            </a:r>
            <a:r>
              <a:rPr kumimoji="1" lang="en-US" altLang="zh-CN" sz="1400" b="1" baseline="-25000" dirty="0">
                <a:latin typeface="Times New Roman" panose="02020603050405020304" pitchFamily="18" charset="0"/>
                <a:ea typeface="华文楷体" panose="02010600040101010101" pitchFamily="2" charset="-122"/>
              </a:rPr>
              <a:t>i </a:t>
            </a:r>
            <a:r>
              <a:rPr kumimoji="1" lang="zh-CN" altLang="zh-CN" sz="1400" b="1" dirty="0">
                <a:latin typeface="Times New Roman" panose="02020603050405020304" pitchFamily="18" charset="0"/>
                <a:ea typeface="华文楷体" panose="02010600040101010101" pitchFamily="2" charset="-122"/>
              </a:rPr>
              <a:t>为 1、2……10</a:t>
            </a:r>
            <a:endParaRPr kumimoji="1" lang="en-US" altLang="zh-CN" sz="1400" b="1" dirty="0">
              <a:latin typeface="Times New Roman" panose="02020603050405020304" pitchFamily="18" charset="0"/>
              <a:ea typeface="华文楷体" panose="02010600040101010101" pitchFamily="2" charset="-122"/>
            </a:endParaRPr>
          </a:p>
        </p:txBody>
      </p:sp>
      <p:sp>
        <p:nvSpPr>
          <p:cNvPr id="67604" name="Rectangle 41"/>
          <p:cNvSpPr>
            <a:spLocks noChangeArrowheads="1"/>
          </p:cNvSpPr>
          <p:nvPr/>
        </p:nvSpPr>
        <p:spPr bwMode="auto">
          <a:xfrm>
            <a:off x="0" y="4572000"/>
            <a:ext cx="2971800" cy="1846659"/>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folHlink"/>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850900" indent="5715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1">
              <a:spcBef>
                <a:spcPct val="50000"/>
              </a:spcBef>
              <a:buClrTx/>
              <a:buFontTx/>
              <a:buNone/>
            </a:pPr>
            <a:r>
              <a:rPr kumimoji="1" lang="zh-CN" altLang="en-US" sz="1600" b="1" dirty="0">
                <a:latin typeface="Times New Roman" panose="02020603050405020304" pitchFamily="18" charset="0"/>
                <a:ea typeface="华文楷体" panose="02010600040101010101" pitchFamily="2" charset="-122"/>
              </a:rPr>
              <a:t>冲突：</a:t>
            </a:r>
            <a:endParaRPr kumimoji="1" lang="zh-CN" altLang="en-US" sz="1600" b="1" dirty="0">
              <a:latin typeface="Times New Roman" panose="02020603050405020304" pitchFamily="18" charset="0"/>
              <a:ea typeface="华文楷体" panose="02010600040101010101" pitchFamily="2" charset="-122"/>
            </a:endParaRPr>
          </a:p>
          <a:p>
            <a:pPr lvl="1">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 </a:t>
            </a:r>
            <a:r>
              <a:rPr kumimoji="1" lang="zh-CN" altLang="zh-CN" sz="1400" b="1" dirty="0">
                <a:latin typeface="Times New Roman" panose="02020603050405020304" pitchFamily="18" charset="0"/>
                <a:ea typeface="华文楷体" panose="02010600040101010101" pitchFamily="2" charset="-122"/>
              </a:rPr>
              <a:t>初级冲突：不同关键字值的结点得到同一个散列地址。 二次聚集：同不同散列地址的结点争夺同一个单元。</a:t>
            </a:r>
            <a:endParaRPr kumimoji="1" lang="zh-CN" altLang="en-US" sz="1400" b="1" dirty="0">
              <a:latin typeface="Times New Roman" panose="02020603050405020304" pitchFamily="18" charset="0"/>
              <a:ea typeface="华文楷体" panose="02010600040101010101" pitchFamily="2" charset="-122"/>
            </a:endParaRPr>
          </a:p>
          <a:p>
            <a:pPr lvl="1">
              <a:spcBef>
                <a:spcPct val="50000"/>
              </a:spcBef>
              <a:buClrTx/>
              <a:buFontTx/>
              <a:buNone/>
            </a:pPr>
            <a:r>
              <a:rPr kumimoji="1" lang="zh-CN" altLang="zh-CN" sz="1400" b="1" dirty="0">
                <a:latin typeface="Times New Roman" panose="02020603050405020304" pitchFamily="18" charset="0"/>
                <a:ea typeface="华文楷体" panose="02010600040101010101" pitchFamily="2" charset="-122"/>
              </a:rPr>
              <a:t>结果：冲突加剧，最坏时可能达到 </a:t>
            </a:r>
            <a:r>
              <a:rPr kumimoji="1" lang="en-US" altLang="zh-CN" sz="1400" b="1" dirty="0">
                <a:solidFill>
                  <a:schemeClr val="accent2"/>
                </a:solidFill>
                <a:latin typeface="Times New Roman" panose="02020603050405020304" pitchFamily="18" charset="0"/>
                <a:ea typeface="华文楷体" panose="02010600040101010101" pitchFamily="2" charset="-122"/>
              </a:rPr>
              <a:t>O(n)</a:t>
            </a:r>
            <a:r>
              <a:rPr kumimoji="1" lang="zh-CN" altLang="zh-CN" sz="1400" b="1" dirty="0">
                <a:latin typeface="Times New Roman" panose="02020603050405020304" pitchFamily="18" charset="0"/>
                <a:ea typeface="华文楷体" panose="02010600040101010101" pitchFamily="2" charset="-122"/>
              </a:rPr>
              <a:t>级代价。</a:t>
            </a:r>
            <a:endParaRPr kumimoji="1" lang="zh-CN" altLang="en-US" sz="1400" b="1" dirty="0">
              <a:latin typeface="Times New Roman" panose="02020603050405020304" pitchFamily="18" charset="0"/>
              <a:ea typeface="华文楷体" panose="02010600040101010101" pitchFamily="2" charset="-122"/>
            </a:endParaRPr>
          </a:p>
        </p:txBody>
      </p:sp>
      <p:sp>
        <p:nvSpPr>
          <p:cNvPr id="86058" name="Text Box 42"/>
          <p:cNvSpPr txBox="1">
            <a:spLocks noChangeArrowheads="1"/>
          </p:cNvSpPr>
          <p:nvPr/>
        </p:nvSpPr>
        <p:spPr bwMode="auto">
          <a:xfrm>
            <a:off x="5599113" y="4419600"/>
            <a:ext cx="3240087" cy="1938992"/>
          </a:xfrm>
          <a:prstGeom prst="rect">
            <a:avLst/>
          </a:prstGeom>
          <a:solidFill>
            <a:srgbClr val="CCFFCC"/>
          </a:solidFill>
          <a:ln w="9525">
            <a:solidFill>
              <a:srgbClr val="3399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zh-CN" altLang="en-US" sz="2400" b="1" dirty="0">
                <a:solidFill>
                  <a:schemeClr val="accent2"/>
                </a:solidFill>
                <a:latin typeface="Times New Roman" panose="02020603050405020304" pitchFamily="18" charset="0"/>
                <a:ea typeface="华文楷体" panose="02010600040101010101" pitchFamily="2" charset="-122"/>
              </a:rPr>
              <a:t>思考</a:t>
            </a:r>
            <a:r>
              <a:rPr lang="zh-CN" altLang="en-US" sz="2400" dirty="0">
                <a:solidFill>
                  <a:schemeClr val="accent2"/>
                </a:solidFill>
                <a:latin typeface="Times New Roman" panose="02020603050405020304" pitchFamily="18" charset="0"/>
                <a:ea typeface="华文楷体" panose="02010600040101010101" pitchFamily="2" charset="-122"/>
              </a:rPr>
              <a:t>：假定有</a:t>
            </a:r>
            <a:r>
              <a:rPr lang="en-US" altLang="zh-CN" sz="2400" dirty="0">
                <a:solidFill>
                  <a:schemeClr val="accent2"/>
                </a:solidFill>
                <a:latin typeface="Times New Roman" panose="02020603050405020304" pitchFamily="18" charset="0"/>
                <a:ea typeface="华文楷体" panose="02010600040101010101" pitchFamily="2" charset="-122"/>
              </a:rPr>
              <a:t>k</a:t>
            </a:r>
            <a:r>
              <a:rPr lang="zh-CN" altLang="en-US" sz="2400" dirty="0">
                <a:solidFill>
                  <a:schemeClr val="accent2"/>
                </a:solidFill>
                <a:latin typeface="Times New Roman" panose="02020603050405020304" pitchFamily="18" charset="0"/>
                <a:ea typeface="华文楷体" panose="02010600040101010101" pitchFamily="2" charset="-122"/>
              </a:rPr>
              <a:t>个关键字互为同义词，若用线性探测再散列法把这</a:t>
            </a:r>
            <a:r>
              <a:rPr lang="en-US" altLang="zh-CN" sz="2400" dirty="0">
                <a:solidFill>
                  <a:schemeClr val="accent2"/>
                </a:solidFill>
                <a:latin typeface="Times New Roman" panose="02020603050405020304" pitchFamily="18" charset="0"/>
                <a:ea typeface="华文楷体" panose="02010600040101010101" pitchFamily="2" charset="-122"/>
              </a:rPr>
              <a:t>k</a:t>
            </a:r>
            <a:r>
              <a:rPr lang="zh-CN" altLang="en-US" sz="2400" dirty="0">
                <a:solidFill>
                  <a:schemeClr val="accent2"/>
                </a:solidFill>
                <a:latin typeface="Times New Roman" panose="02020603050405020304" pitchFamily="18" charset="0"/>
                <a:ea typeface="华文楷体" panose="02010600040101010101" pitchFamily="2" charset="-122"/>
              </a:rPr>
              <a:t>个关键字存入散列表中，至少要进行多少次探测</a:t>
            </a:r>
            <a:r>
              <a:rPr lang="zh-CN" altLang="en-US" sz="1800" dirty="0">
                <a:solidFill>
                  <a:schemeClr val="accent2"/>
                </a:solidFill>
                <a:latin typeface="Times New Roman" panose="02020603050405020304" pitchFamily="18" charset="0"/>
                <a:ea typeface="华文楷体" panose="02010600040101010101" pitchFamily="2" charset="-122"/>
              </a:rPr>
              <a:t>？</a:t>
            </a:r>
            <a:endParaRPr lang="zh-CN" altLang="en-US" sz="1800" dirty="0">
              <a:solidFill>
                <a:schemeClr val="accent2"/>
              </a:solidFill>
              <a:latin typeface="Times New Roman" panose="02020603050405020304" pitchFamily="18" charset="0"/>
              <a:ea typeface="华文楷体" panose="02010600040101010101" pitchFamily="2" charset="-122"/>
            </a:endParaRPr>
          </a:p>
        </p:txBody>
      </p:sp>
      <p:sp>
        <p:nvSpPr>
          <p:cNvPr id="86059" name="Text Box 43"/>
          <p:cNvSpPr txBox="1">
            <a:spLocks noChangeArrowheads="1"/>
          </p:cNvSpPr>
          <p:nvPr/>
        </p:nvSpPr>
        <p:spPr bwMode="auto">
          <a:xfrm>
            <a:off x="7223125" y="6284913"/>
            <a:ext cx="1041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zh-CN" sz="1800" b="1" dirty="0">
                <a:latin typeface="Times New Roman" panose="02020603050405020304" pitchFamily="18" charset="0"/>
                <a:ea typeface="华文楷体" panose="02010600040101010101" pitchFamily="2" charset="-122"/>
              </a:rPr>
              <a:t>k(k+1)/2</a:t>
            </a:r>
            <a:endParaRPr lang="en-US" altLang="zh-CN" sz="1800" b="1"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6058"/>
                                        </p:tgtEl>
                                        <p:attrNameLst>
                                          <p:attrName>style.visibility</p:attrName>
                                        </p:attrNameLst>
                                      </p:cBhvr>
                                      <p:to>
                                        <p:strVal val="visible"/>
                                      </p:to>
                                    </p:set>
                                    <p:animEffect transition="in" filter="checkerboard(across)">
                                      <p:cBhvr>
                                        <p:cTn id="7" dur="500"/>
                                        <p:tgtEl>
                                          <p:spTgt spid="8605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6059"/>
                                        </p:tgtEl>
                                        <p:attrNameLst>
                                          <p:attrName>style.visibility</p:attrName>
                                        </p:attrNameLst>
                                      </p:cBhvr>
                                      <p:to>
                                        <p:strVal val="visible"/>
                                      </p:to>
                                    </p:set>
                                    <p:animEffect transition="in" filter="box(in)">
                                      <p:cBhvr>
                                        <p:cTn id="12" dur="500"/>
                                        <p:tgtEl>
                                          <p:spTgt spid="860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58" grpId="0" animBg="1"/>
      <p:bldP spid="86059"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74750" y="1189036"/>
            <a:ext cx="8129698" cy="5592763"/>
          </a:xfrm>
          <a:ln>
            <a:solidFill>
              <a:schemeClr val="accent1"/>
            </a:solidFill>
          </a:ln>
        </p:spPr>
        <p:txBody>
          <a:bodyPr/>
          <a:lstStyle/>
          <a:p>
            <a:pPr marL="0" indent="0">
              <a:buNone/>
            </a:pPr>
            <a:r>
              <a:rPr lang="en-US" altLang="zh-CN" sz="1800" dirty="0" smtClean="0">
                <a:solidFill>
                  <a:srgbClr val="C00000"/>
                </a:solidFill>
                <a:ea typeface="华文楷体" panose="02010600040101010101" pitchFamily="2" charset="-122"/>
              </a:rPr>
              <a:t>[</a:t>
            </a:r>
            <a:r>
              <a:rPr lang="zh-CN" altLang="en-US" sz="1800" dirty="0" smtClean="0">
                <a:solidFill>
                  <a:srgbClr val="C00000"/>
                </a:solidFill>
                <a:ea typeface="华文楷体" panose="02010600040101010101" pitchFamily="2" charset="-122"/>
              </a:rPr>
              <a:t>线性探测再散列</a:t>
            </a:r>
            <a:r>
              <a:rPr lang="en-US" altLang="zh-CN" sz="1800" dirty="0" smtClean="0">
                <a:solidFill>
                  <a:srgbClr val="C00000"/>
                </a:solidFill>
                <a:ea typeface="华文楷体" panose="02010600040101010101" pitchFamily="2" charset="-122"/>
              </a:rPr>
              <a:t>-</a:t>
            </a:r>
            <a:r>
              <a:rPr lang="zh-CN" altLang="en-US" sz="1800" dirty="0" smtClean="0">
                <a:solidFill>
                  <a:srgbClr val="C00000"/>
                </a:solidFill>
                <a:ea typeface="华文楷体" panose="02010600040101010101" pitchFamily="2" charset="-122"/>
              </a:rPr>
              <a:t>查找算法</a:t>
            </a:r>
            <a:r>
              <a:rPr lang="en-US" altLang="zh-CN" sz="1800" dirty="0" smtClean="0">
                <a:solidFill>
                  <a:srgbClr val="C00000"/>
                </a:solidFill>
                <a:ea typeface="华文楷体" panose="02010600040101010101" pitchFamily="2" charset="-122"/>
              </a:rPr>
              <a:t>]</a:t>
            </a:r>
            <a:endParaRPr lang="en-US" altLang="zh-CN" sz="1800" dirty="0" smtClean="0">
              <a:solidFill>
                <a:srgbClr val="C00000"/>
              </a:solidFill>
              <a:ea typeface="华文楷体" panose="02010600040101010101" pitchFamily="2" charset="-122"/>
            </a:endParaRPr>
          </a:p>
          <a:p>
            <a:pPr marL="0" indent="0">
              <a:buNone/>
            </a:pPr>
            <a:r>
              <a:rPr lang="en-US" altLang="zh-CN" sz="1800" dirty="0" err="1" smtClean="0">
                <a:ea typeface="华文楷体" panose="02010600040101010101" pitchFamily="2" charset="-122"/>
              </a:rPr>
              <a:t>ElemType</a:t>
            </a:r>
            <a:r>
              <a:rPr lang="en-US" altLang="zh-CN" sz="1800" dirty="0" smtClean="0">
                <a:ea typeface="华文楷体" panose="02010600040101010101" pitchFamily="2" charset="-122"/>
              </a:rPr>
              <a:t> *Find(</a:t>
            </a:r>
            <a:r>
              <a:rPr lang="en-US" altLang="zh-CN" sz="1800" dirty="0" err="1" smtClean="0">
                <a:ea typeface="华文楷体" panose="02010600040101010101" pitchFamily="2" charset="-122"/>
              </a:rPr>
              <a:t>int</a:t>
            </a:r>
            <a:r>
              <a:rPr lang="en-US" altLang="zh-CN" sz="1800" dirty="0" smtClean="0">
                <a:ea typeface="华文楷体" panose="02010600040101010101" pitchFamily="2" charset="-122"/>
              </a:rPr>
              <a:t> k, </a:t>
            </a:r>
            <a:r>
              <a:rPr lang="en-US" altLang="zh-CN" sz="1800" dirty="0" err="1">
                <a:ea typeface="华文楷体" panose="02010600040101010101" pitchFamily="2" charset="-122"/>
              </a:rPr>
              <a:t>ElemType</a:t>
            </a:r>
            <a:r>
              <a:rPr lang="en-US" altLang="zh-CN" sz="1800" dirty="0">
                <a:ea typeface="华文楷体" panose="02010600040101010101" pitchFamily="2" charset="-122"/>
              </a:rPr>
              <a:t> </a:t>
            </a:r>
            <a:r>
              <a:rPr lang="en-US" altLang="zh-CN" sz="1800" dirty="0" err="1" smtClean="0">
                <a:ea typeface="华文楷体" panose="02010600040101010101" pitchFamily="2" charset="-122"/>
              </a:rPr>
              <a:t>ht</a:t>
            </a:r>
            <a:r>
              <a:rPr lang="en-US" altLang="zh-CN" sz="1800" dirty="0">
                <a:ea typeface="华文楷体" panose="02010600040101010101" pitchFamily="2" charset="-122"/>
              </a:rPr>
              <a:t>[], </a:t>
            </a:r>
            <a:r>
              <a:rPr lang="en-US" altLang="zh-CN" sz="1800" dirty="0" err="1">
                <a:ea typeface="华文楷体" panose="02010600040101010101" pitchFamily="2" charset="-122"/>
              </a:rPr>
              <a:t>int</a:t>
            </a:r>
            <a:r>
              <a:rPr lang="en-US" altLang="zh-CN" sz="1800" dirty="0">
                <a:ea typeface="华文楷体" panose="02010600040101010101" pitchFamily="2" charset="-122"/>
              </a:rPr>
              <a:t> m)//</a:t>
            </a:r>
            <a:r>
              <a:rPr lang="en-US" altLang="zh-CN" sz="1800" dirty="0" err="1">
                <a:ea typeface="华文楷体" panose="02010600040101010101" pitchFamily="2" charset="-122"/>
              </a:rPr>
              <a:t>ht</a:t>
            </a:r>
            <a:r>
              <a:rPr lang="zh-CN" altLang="en-US" sz="1800" dirty="0">
                <a:ea typeface="华文楷体" panose="02010600040101010101" pitchFamily="2" charset="-122"/>
              </a:rPr>
              <a:t>为哈希表，</a:t>
            </a:r>
            <a:r>
              <a:rPr lang="en-US" altLang="zh-CN" sz="1800" dirty="0">
                <a:ea typeface="华文楷体" panose="02010600040101010101" pitchFamily="2" charset="-122"/>
              </a:rPr>
              <a:t>m</a:t>
            </a:r>
            <a:r>
              <a:rPr lang="zh-CN" altLang="en-US" sz="1800" dirty="0">
                <a:ea typeface="华文楷体" panose="02010600040101010101" pitchFamily="2" charset="-122"/>
              </a:rPr>
              <a:t>为其</a:t>
            </a:r>
            <a:r>
              <a:rPr lang="zh-CN" altLang="en-US" sz="1800" dirty="0" smtClean="0">
                <a:ea typeface="华文楷体" panose="02010600040101010101" pitchFamily="2" charset="-122"/>
              </a:rPr>
              <a:t>长度</a:t>
            </a:r>
            <a:endParaRPr lang="en-US" altLang="zh-CN" sz="1800" dirty="0" smtClean="0">
              <a:ea typeface="华文楷体" panose="02010600040101010101" pitchFamily="2" charset="-122"/>
            </a:endParaRPr>
          </a:p>
          <a:p>
            <a:pPr marL="0" indent="0">
              <a:buNone/>
            </a:pP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int</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homeBucket</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currentBucket</a:t>
            </a: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homeBucket</a:t>
            </a:r>
            <a:r>
              <a:rPr lang="en-US" altLang="zh-CN" sz="1800" dirty="0" smtClean="0">
                <a:ea typeface="华文楷体" panose="02010600040101010101" pitchFamily="2" charset="-122"/>
              </a:rPr>
              <a:t> = </a:t>
            </a:r>
            <a:r>
              <a:rPr lang="en-US" altLang="zh-CN" sz="1800" b="1" dirty="0" smtClean="0">
                <a:solidFill>
                  <a:srgbClr val="C00000"/>
                </a:solidFill>
                <a:ea typeface="华文楷体" panose="02010600040101010101" pitchFamily="2" charset="-122"/>
              </a:rPr>
              <a:t>h</a:t>
            </a:r>
            <a:r>
              <a:rPr lang="en-US" altLang="zh-CN" sz="1800" dirty="0" smtClean="0">
                <a:ea typeface="华文楷体" panose="02010600040101010101" pitchFamily="2" charset="-122"/>
              </a:rPr>
              <a:t>(k);//h</a:t>
            </a:r>
            <a:r>
              <a:rPr lang="zh-CN" altLang="en-US" sz="1800" dirty="0" smtClean="0">
                <a:ea typeface="华文楷体" panose="02010600040101010101" pitchFamily="2" charset="-122"/>
              </a:rPr>
              <a:t>为哈希函数</a:t>
            </a:r>
            <a:endParaRPr lang="en-US" altLang="zh-CN" sz="1800" dirty="0" smtClean="0">
              <a:ea typeface="华文楷体" panose="02010600040101010101" pitchFamily="2" charset="-122"/>
            </a:endParaRPr>
          </a:p>
          <a:p>
            <a:pPr marL="0" indent="0">
              <a:buNone/>
            </a:pPr>
            <a:r>
              <a:rPr lang="en-US" altLang="zh-CN" sz="1800" dirty="0" smtClean="0">
                <a:ea typeface="华文楷体" panose="02010600040101010101" pitchFamily="2" charset="-122"/>
              </a:rPr>
              <a:t>    for (</a:t>
            </a:r>
            <a:r>
              <a:rPr lang="en-US" altLang="zh-CN" sz="1800" dirty="0" err="1" smtClean="0">
                <a:ea typeface="华文楷体" panose="02010600040101010101" pitchFamily="2" charset="-122"/>
              </a:rPr>
              <a:t>currentBucket</a:t>
            </a:r>
            <a:r>
              <a:rPr lang="en-US" altLang="zh-CN" sz="1800" dirty="0" smtClean="0">
                <a:ea typeface="华文楷体" panose="02010600040101010101" pitchFamily="2" charset="-122"/>
              </a:rPr>
              <a:t> = </a:t>
            </a:r>
            <a:r>
              <a:rPr lang="en-US" altLang="zh-CN" sz="1800" dirty="0" err="1" smtClean="0">
                <a:ea typeface="华文楷体" panose="02010600040101010101" pitchFamily="2" charset="-122"/>
              </a:rPr>
              <a:t>homeBucket</a:t>
            </a: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a:t>
            </a:r>
            <a:r>
              <a:rPr lang="en-US" altLang="zh-CN" sz="1800" dirty="0">
                <a:ea typeface="华文楷体" panose="02010600040101010101" pitchFamily="2" charset="-122"/>
              </a:rPr>
              <a:t> </a:t>
            </a:r>
            <a:r>
              <a:rPr lang="en-US" altLang="zh-CN" sz="1800" dirty="0" smtClean="0">
                <a:ea typeface="华文楷体" panose="02010600040101010101" pitchFamily="2" charset="-122"/>
              </a:rPr>
              <a:t>      </a:t>
            </a:r>
            <a:r>
              <a:rPr lang="en-US" altLang="zh-CN" sz="1800" dirty="0" err="1" smtClean="0">
                <a:solidFill>
                  <a:srgbClr val="FF0000"/>
                </a:solidFill>
                <a:ea typeface="华文楷体" panose="02010600040101010101" pitchFamily="2" charset="-122"/>
              </a:rPr>
              <a:t>ht</a:t>
            </a:r>
            <a:r>
              <a:rPr lang="en-US" altLang="zh-CN" sz="1800" dirty="0" smtClean="0">
                <a:solidFill>
                  <a:srgbClr val="FF0000"/>
                </a:solidFill>
                <a:ea typeface="华文楷体" panose="02010600040101010101" pitchFamily="2" charset="-122"/>
              </a:rPr>
              <a:t>[</a:t>
            </a:r>
            <a:r>
              <a:rPr lang="en-US" altLang="zh-CN" sz="1800" dirty="0" err="1" smtClean="0">
                <a:solidFill>
                  <a:srgbClr val="FF0000"/>
                </a:solidFill>
                <a:ea typeface="华文楷体" panose="02010600040101010101" pitchFamily="2" charset="-122"/>
              </a:rPr>
              <a:t>currentBucket</a:t>
            </a:r>
            <a:r>
              <a:rPr lang="en-US" altLang="zh-CN" sz="1800" dirty="0" smtClean="0">
                <a:solidFill>
                  <a:srgbClr val="FF0000"/>
                </a:solidFill>
                <a:ea typeface="华文楷体" panose="02010600040101010101" pitchFamily="2" charset="-122"/>
              </a:rPr>
              <a:t>] &amp;&amp;</a:t>
            </a:r>
            <a:r>
              <a:rPr lang="en-US" altLang="zh-CN" sz="1800" dirty="0">
                <a:solidFill>
                  <a:srgbClr val="FF0000"/>
                </a:solidFill>
                <a:ea typeface="华文楷体" panose="02010600040101010101" pitchFamily="2" charset="-122"/>
              </a:rPr>
              <a:t> </a:t>
            </a:r>
            <a:r>
              <a:rPr lang="en-US" altLang="zh-CN" sz="1800" dirty="0" err="1" smtClean="0">
                <a:solidFill>
                  <a:srgbClr val="FF0000"/>
                </a:solidFill>
                <a:ea typeface="华文楷体" panose="02010600040101010101" pitchFamily="2" charset="-122"/>
              </a:rPr>
              <a:t>ht</a:t>
            </a:r>
            <a:r>
              <a:rPr lang="en-US" altLang="zh-CN" sz="1800" dirty="0" smtClean="0">
                <a:solidFill>
                  <a:srgbClr val="FF0000"/>
                </a:solidFill>
                <a:ea typeface="华文楷体" panose="02010600040101010101" pitchFamily="2" charset="-122"/>
              </a:rPr>
              <a:t>[</a:t>
            </a:r>
            <a:r>
              <a:rPr lang="en-US" altLang="zh-CN" sz="1800" dirty="0" err="1" smtClean="0">
                <a:solidFill>
                  <a:srgbClr val="FF0000"/>
                </a:solidFill>
                <a:ea typeface="华文楷体" panose="02010600040101010101" pitchFamily="2" charset="-122"/>
              </a:rPr>
              <a:t>currentBucket</a:t>
            </a:r>
            <a:r>
              <a:rPr lang="en-US" altLang="zh-CN" sz="1800" dirty="0" smtClean="0">
                <a:solidFill>
                  <a:srgbClr val="FF0000"/>
                </a:solidFill>
                <a:ea typeface="华文楷体" panose="02010600040101010101" pitchFamily="2" charset="-122"/>
              </a:rPr>
              <a:t>]</a:t>
            </a:r>
            <a:r>
              <a:rPr lang="en-US" altLang="zh-CN" sz="1800" dirty="0">
                <a:solidFill>
                  <a:srgbClr val="FF0000"/>
                </a:solidFill>
                <a:ea typeface="华文楷体" panose="02010600040101010101" pitchFamily="2" charset="-122"/>
              </a:rPr>
              <a:t>.</a:t>
            </a:r>
            <a:r>
              <a:rPr lang="en-US" altLang="zh-CN" sz="1800" dirty="0" smtClean="0">
                <a:solidFill>
                  <a:srgbClr val="FF0000"/>
                </a:solidFill>
                <a:ea typeface="华文楷体" panose="02010600040101010101" pitchFamily="2" charset="-122"/>
              </a:rPr>
              <a:t>key </a:t>
            </a:r>
            <a:r>
              <a:rPr lang="en-US" altLang="zh-CN" sz="1800" dirty="0">
                <a:solidFill>
                  <a:srgbClr val="FF0000"/>
                </a:solidFill>
                <a:ea typeface="华文楷体" panose="02010600040101010101" pitchFamily="2" charset="-122"/>
              </a:rPr>
              <a:t>!</a:t>
            </a:r>
            <a:r>
              <a:rPr lang="en-US" altLang="zh-CN" sz="1800" dirty="0" smtClean="0">
                <a:solidFill>
                  <a:srgbClr val="FF0000"/>
                </a:solidFill>
                <a:ea typeface="华文楷体" panose="02010600040101010101" pitchFamily="2" charset="-122"/>
              </a:rPr>
              <a:t>= k</a:t>
            </a: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marL="0" indent="0">
              <a:buNone/>
            </a:pP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currentBucket</a:t>
            </a:r>
            <a:r>
              <a:rPr lang="en-US" altLang="zh-CN" sz="1800" dirty="0" smtClean="0">
                <a:ea typeface="华文楷体" panose="02010600040101010101" pitchFamily="2" charset="-122"/>
              </a:rPr>
              <a:t> = (</a:t>
            </a:r>
            <a:r>
              <a:rPr lang="en-US" altLang="zh-CN" sz="1800" dirty="0" err="1" smtClean="0">
                <a:ea typeface="华文楷体" panose="02010600040101010101" pitchFamily="2" charset="-122"/>
              </a:rPr>
              <a:t>currentBucket</a:t>
            </a:r>
            <a:r>
              <a:rPr lang="en-US" altLang="zh-CN" sz="1800" dirty="0" smtClean="0">
                <a:ea typeface="华文楷体" panose="02010600040101010101" pitchFamily="2" charset="-122"/>
              </a:rPr>
              <a:t> + 1) % m;//</a:t>
            </a:r>
            <a:r>
              <a:rPr lang="zh-CN" altLang="en-US" sz="1800" dirty="0" smtClean="0">
                <a:ea typeface="华文楷体" panose="02010600040101010101" pitchFamily="2" charset="-122"/>
              </a:rPr>
              <a:t>线性探测再散列</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if (</a:t>
            </a:r>
            <a:r>
              <a:rPr lang="en-US" altLang="zh-CN" sz="1800" dirty="0" err="1" smtClean="0">
                <a:ea typeface="华文楷体" panose="02010600040101010101" pitchFamily="2" charset="-122"/>
              </a:rPr>
              <a:t>currentBucket</a:t>
            </a:r>
            <a:r>
              <a:rPr lang="en-US" altLang="zh-CN" sz="1800" dirty="0" smtClean="0">
                <a:ea typeface="华文楷体" panose="02010600040101010101" pitchFamily="2" charset="-122"/>
              </a:rPr>
              <a:t> == </a:t>
            </a:r>
            <a:r>
              <a:rPr lang="en-US" altLang="zh-CN" sz="1800" dirty="0" err="1" smtClean="0">
                <a:ea typeface="华文楷体" panose="02010600040101010101" pitchFamily="2" charset="-122"/>
              </a:rPr>
              <a:t>homeBucket</a:t>
            </a: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return NULL;//</a:t>
            </a:r>
            <a:r>
              <a:rPr lang="zh-CN" altLang="en-US" sz="1800" dirty="0" smtClean="0">
                <a:ea typeface="华文楷体" panose="02010600040101010101" pitchFamily="2" charset="-122"/>
              </a:rPr>
              <a:t>回到起点，不存在关键字为</a:t>
            </a:r>
            <a:r>
              <a:rPr lang="en-US" altLang="zh-CN" sz="1800" dirty="0" smtClean="0">
                <a:ea typeface="华文楷体" panose="02010600040101010101" pitchFamily="2" charset="-122"/>
              </a:rPr>
              <a:t>k</a:t>
            </a:r>
            <a:r>
              <a:rPr lang="zh-CN" altLang="en-US" sz="1800" dirty="0" smtClean="0">
                <a:ea typeface="华文楷体" panose="02010600040101010101" pitchFamily="2" charset="-122"/>
              </a:rPr>
              <a:t>的记录，查找失败；</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if (</a:t>
            </a:r>
            <a:r>
              <a:rPr lang="en-US" altLang="zh-CN" sz="1800" dirty="0" err="1">
                <a:ea typeface="华文楷体" panose="02010600040101010101" pitchFamily="2" charset="-122"/>
              </a:rPr>
              <a:t>ht</a:t>
            </a:r>
            <a:r>
              <a:rPr lang="en-US" altLang="zh-CN" sz="1800" dirty="0">
                <a:ea typeface="华文楷体" panose="02010600040101010101" pitchFamily="2" charset="-122"/>
              </a:rPr>
              <a:t>[</a:t>
            </a:r>
            <a:r>
              <a:rPr lang="en-US" altLang="zh-CN" sz="1800" dirty="0" err="1">
                <a:ea typeface="华文楷体" panose="02010600040101010101" pitchFamily="2" charset="-122"/>
              </a:rPr>
              <a:t>currentBucket</a:t>
            </a:r>
            <a:r>
              <a:rPr lang="en-US" altLang="zh-CN" sz="1800" dirty="0" smtClean="0">
                <a:ea typeface="华文楷体" panose="02010600040101010101" pitchFamily="2" charset="-122"/>
              </a:rPr>
              <a:t>]-&gt;key == k)</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return </a:t>
            </a:r>
            <a:r>
              <a:rPr lang="en-US" altLang="zh-CN" sz="1800" dirty="0" err="1" smtClean="0">
                <a:ea typeface="华文楷体" panose="02010600040101010101" pitchFamily="2" charset="-122"/>
              </a:rPr>
              <a:t>ht</a:t>
            </a:r>
            <a:r>
              <a:rPr lang="en-US" altLang="zh-CN" sz="1800" dirty="0" smtClean="0">
                <a:ea typeface="华文楷体" panose="02010600040101010101" pitchFamily="2" charset="-122"/>
              </a:rPr>
              <a:t>[</a:t>
            </a:r>
            <a:r>
              <a:rPr lang="en-US" altLang="zh-CN" sz="1800" dirty="0" err="1" smtClean="0">
                <a:ea typeface="华文楷体" panose="02010600040101010101" pitchFamily="2" charset="-122"/>
              </a:rPr>
              <a:t>currentBucket</a:t>
            </a: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return NULL;//</a:t>
            </a:r>
            <a:r>
              <a:rPr lang="zh-CN" altLang="en-US" sz="1800" dirty="0" smtClean="0">
                <a:ea typeface="华文楷体" panose="02010600040101010101" pitchFamily="2" charset="-122"/>
              </a:rPr>
              <a:t>找到空槽位，查找失败</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a:t>
            </a:r>
            <a:endParaRPr lang="zh-CN" altLang="en-US" sz="1800" dirty="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1152526"/>
            <a:ext cx="8321040" cy="5308600"/>
          </a:xfrm>
          <a:ln>
            <a:solidFill>
              <a:schemeClr val="accent1"/>
            </a:solidFill>
          </a:ln>
        </p:spPr>
        <p:txBody>
          <a:bodyPr/>
          <a:lstStyle/>
          <a:p>
            <a:pPr marL="0" indent="0">
              <a:buNone/>
            </a:pPr>
            <a:r>
              <a:rPr lang="en-US" altLang="zh-CN" sz="1800" dirty="0">
                <a:solidFill>
                  <a:srgbClr val="C00000"/>
                </a:solidFill>
                <a:ea typeface="华文楷体" panose="02010600040101010101" pitchFamily="2" charset="-122"/>
              </a:rPr>
              <a:t>[</a:t>
            </a:r>
            <a:r>
              <a:rPr lang="zh-CN" altLang="en-US" sz="1800" dirty="0">
                <a:solidFill>
                  <a:srgbClr val="C00000"/>
                </a:solidFill>
                <a:ea typeface="华文楷体" panose="02010600040101010101" pitchFamily="2" charset="-122"/>
              </a:rPr>
              <a:t>线性探测再散列</a:t>
            </a:r>
            <a:r>
              <a:rPr lang="en-US" altLang="zh-CN" sz="1800" dirty="0" smtClean="0">
                <a:solidFill>
                  <a:srgbClr val="C00000"/>
                </a:solidFill>
                <a:ea typeface="华文楷体" panose="02010600040101010101" pitchFamily="2" charset="-122"/>
              </a:rPr>
              <a:t>-</a:t>
            </a:r>
            <a:r>
              <a:rPr lang="zh-CN" altLang="en-US" sz="1800" dirty="0" smtClean="0">
                <a:solidFill>
                  <a:srgbClr val="C00000"/>
                </a:solidFill>
                <a:ea typeface="华文楷体" panose="02010600040101010101" pitchFamily="2" charset="-122"/>
              </a:rPr>
              <a:t>插入算法</a:t>
            </a:r>
            <a:r>
              <a:rPr lang="en-US" altLang="zh-CN" sz="1800" dirty="0">
                <a:solidFill>
                  <a:srgbClr val="C00000"/>
                </a:solidFill>
                <a:ea typeface="华文楷体" panose="02010600040101010101" pitchFamily="2" charset="-122"/>
              </a:rPr>
              <a:t>]</a:t>
            </a:r>
            <a:endParaRPr lang="en-US" altLang="zh-CN" sz="1800" dirty="0">
              <a:solidFill>
                <a:srgbClr val="C00000"/>
              </a:solidFill>
              <a:ea typeface="华文楷体" panose="02010600040101010101" pitchFamily="2" charset="-122"/>
            </a:endParaRPr>
          </a:p>
          <a:p>
            <a:pPr marL="0" indent="0">
              <a:buNone/>
            </a:pPr>
            <a:r>
              <a:rPr lang="en-US" altLang="zh-CN" sz="1800" dirty="0" smtClean="0">
                <a:ea typeface="华文楷体" panose="02010600040101010101" pitchFamily="2" charset="-122"/>
              </a:rPr>
              <a:t>void Insert(</a:t>
            </a:r>
            <a:r>
              <a:rPr lang="en-US" altLang="zh-CN" sz="1800" dirty="0" err="1" smtClean="0">
                <a:ea typeface="华文楷体" panose="02010600040101010101" pitchFamily="2" charset="-122"/>
              </a:rPr>
              <a:t>ElemType</a:t>
            </a:r>
            <a:r>
              <a:rPr lang="en-US" altLang="zh-CN" sz="1800" dirty="0" smtClean="0">
                <a:ea typeface="华文楷体" panose="02010600040101010101" pitchFamily="2" charset="-122"/>
              </a:rPr>
              <a:t> data, </a:t>
            </a:r>
            <a:r>
              <a:rPr lang="en-US" altLang="zh-CN" sz="1800" dirty="0" err="1" smtClean="0">
                <a:ea typeface="华文楷体" panose="02010600040101010101" pitchFamily="2" charset="-122"/>
              </a:rPr>
              <a:t>ElemType</a:t>
            </a:r>
            <a:r>
              <a:rPr lang="en-US" altLang="zh-CN" sz="1800" dirty="0" smtClean="0">
                <a:ea typeface="华文楷体" panose="02010600040101010101" pitchFamily="2" charset="-122"/>
              </a:rPr>
              <a:t> &amp;</a:t>
            </a:r>
            <a:r>
              <a:rPr lang="en-US" altLang="zh-CN" sz="1800" dirty="0" err="1" smtClean="0">
                <a:ea typeface="华文楷体" panose="02010600040101010101" pitchFamily="2" charset="-122"/>
              </a:rPr>
              <a:t>ht</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int</a:t>
            </a:r>
            <a:r>
              <a:rPr lang="en-US" altLang="zh-CN" sz="1800" dirty="0" smtClean="0">
                <a:ea typeface="华文楷体" panose="02010600040101010101" pitchFamily="2" charset="-122"/>
              </a:rPr>
              <a:t> m)//</a:t>
            </a:r>
            <a:r>
              <a:rPr lang="en-US" altLang="zh-CN" sz="1800" dirty="0" err="1" smtClean="0">
                <a:ea typeface="华文楷体" panose="02010600040101010101" pitchFamily="2" charset="-122"/>
              </a:rPr>
              <a:t>ht</a:t>
            </a:r>
            <a:r>
              <a:rPr lang="zh-CN" altLang="en-US" sz="1800" dirty="0" smtClean="0">
                <a:ea typeface="华文楷体" panose="02010600040101010101" pitchFamily="2" charset="-122"/>
              </a:rPr>
              <a:t>为哈希表，</a:t>
            </a:r>
            <a:r>
              <a:rPr lang="en-US" altLang="zh-CN" sz="1800" dirty="0" smtClean="0">
                <a:ea typeface="华文楷体" panose="02010600040101010101" pitchFamily="2" charset="-122"/>
              </a:rPr>
              <a:t>m</a:t>
            </a:r>
            <a:r>
              <a:rPr lang="zh-CN" altLang="en-US" sz="1800" dirty="0" smtClean="0">
                <a:ea typeface="华文楷体" panose="02010600040101010101" pitchFamily="2" charset="-122"/>
              </a:rPr>
              <a:t>为其长度</a:t>
            </a:r>
            <a:endParaRPr lang="en-US" altLang="zh-CN" sz="1800" dirty="0" smtClean="0">
              <a:ea typeface="华文楷体" panose="02010600040101010101" pitchFamily="2" charset="-122"/>
            </a:endParaRPr>
          </a:p>
          <a:p>
            <a:pPr marL="0" indent="0">
              <a:buNone/>
            </a:pP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KeyType</a:t>
            </a:r>
            <a:r>
              <a:rPr lang="en-US" altLang="zh-CN" sz="1800" dirty="0" smtClean="0">
                <a:ea typeface="华文楷体" panose="02010600040101010101" pitchFamily="2" charset="-122"/>
              </a:rPr>
              <a:t> k = </a:t>
            </a:r>
            <a:r>
              <a:rPr lang="en-US" altLang="zh-CN" sz="1800" dirty="0" err="1" smtClean="0">
                <a:ea typeface="华文楷体" panose="02010600040101010101" pitchFamily="2" charset="-122"/>
              </a:rPr>
              <a:t>data.key</a:t>
            </a: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a:t>
            </a:r>
            <a:r>
              <a:rPr lang="en-US" altLang="zh-CN" sz="1800" dirty="0" err="1">
                <a:ea typeface="华文楷体" panose="02010600040101010101" pitchFamily="2" charset="-122"/>
              </a:rPr>
              <a:t>int</a:t>
            </a:r>
            <a:r>
              <a:rPr lang="en-US" altLang="zh-CN" sz="1800" dirty="0">
                <a:ea typeface="华文楷体" panose="02010600040101010101" pitchFamily="2" charset="-122"/>
              </a:rPr>
              <a:t> </a:t>
            </a:r>
            <a:r>
              <a:rPr lang="en-US" altLang="zh-CN" sz="1800" dirty="0" err="1">
                <a:ea typeface="华文楷体" panose="02010600040101010101" pitchFamily="2" charset="-122"/>
              </a:rPr>
              <a:t>homeBucket</a:t>
            </a:r>
            <a:r>
              <a:rPr lang="en-US" altLang="zh-CN" sz="1800" dirty="0">
                <a:ea typeface="华文楷体" panose="02010600040101010101" pitchFamily="2" charset="-122"/>
              </a:rPr>
              <a:t>, </a:t>
            </a:r>
            <a:r>
              <a:rPr lang="en-US" altLang="zh-CN" sz="1800" dirty="0" err="1">
                <a:ea typeface="华文楷体" panose="02010600040101010101" pitchFamily="2" charset="-122"/>
              </a:rPr>
              <a:t>currentBucket</a:t>
            </a:r>
            <a:r>
              <a:rPr lang="en-US" altLang="zh-CN" sz="1800" dirty="0">
                <a:ea typeface="华文楷体" panose="02010600040101010101" pitchFamily="2" charset="-122"/>
              </a:rPr>
              <a:t>;</a:t>
            </a:r>
            <a:endParaRPr lang="en-US" altLang="zh-CN" sz="1800" dirty="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err="1">
                <a:ea typeface="华文楷体" panose="02010600040101010101" pitchFamily="2" charset="-122"/>
              </a:rPr>
              <a:t>homeBucket</a:t>
            </a:r>
            <a:r>
              <a:rPr lang="en-US" altLang="zh-CN" sz="1800" dirty="0">
                <a:ea typeface="华文楷体" panose="02010600040101010101" pitchFamily="2" charset="-122"/>
              </a:rPr>
              <a:t> = </a:t>
            </a:r>
            <a:r>
              <a:rPr lang="en-US" altLang="zh-CN" sz="1800" b="1" dirty="0">
                <a:solidFill>
                  <a:srgbClr val="C00000"/>
                </a:solidFill>
                <a:ea typeface="华文楷体" panose="02010600040101010101" pitchFamily="2" charset="-122"/>
              </a:rPr>
              <a:t>h</a:t>
            </a:r>
            <a:r>
              <a:rPr lang="en-US" altLang="zh-CN" sz="1800" dirty="0">
                <a:ea typeface="华文楷体" panose="02010600040101010101" pitchFamily="2" charset="-122"/>
              </a:rPr>
              <a:t>(k);//h</a:t>
            </a:r>
            <a:r>
              <a:rPr lang="zh-CN" altLang="en-US" sz="1800" dirty="0">
                <a:ea typeface="华文楷体" panose="02010600040101010101" pitchFamily="2" charset="-122"/>
              </a:rPr>
              <a:t>为哈希</a:t>
            </a:r>
            <a:r>
              <a:rPr lang="zh-CN" altLang="en-US" sz="1800" dirty="0" smtClean="0">
                <a:ea typeface="华文楷体" panose="02010600040101010101" pitchFamily="2" charset="-122"/>
              </a:rPr>
              <a:t>函数</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currentBucket</a:t>
            </a:r>
            <a:r>
              <a:rPr lang="en-US" altLang="zh-CN" sz="1800" dirty="0" smtClean="0">
                <a:ea typeface="华文楷体" panose="02010600040101010101" pitchFamily="2" charset="-122"/>
              </a:rPr>
              <a:t> = </a:t>
            </a:r>
            <a:r>
              <a:rPr lang="en-US" altLang="zh-CN" sz="1800" dirty="0" err="1" smtClean="0">
                <a:ea typeface="华文楷体" panose="02010600040101010101" pitchFamily="2" charset="-122"/>
              </a:rPr>
              <a:t>homeBucket</a:t>
            </a:r>
            <a:r>
              <a:rPr lang="en-US" altLang="zh-CN" sz="1800" dirty="0">
                <a:ea typeface="华文楷体" panose="02010600040101010101" pitchFamily="2" charset="-122"/>
              </a:rPr>
              <a:t>;</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while( </a:t>
            </a:r>
            <a:r>
              <a:rPr lang="en-US" altLang="zh-CN" sz="1800" dirty="0" err="1" smtClean="0">
                <a:ea typeface="华文楷体" panose="02010600040101010101" pitchFamily="2" charset="-122"/>
              </a:rPr>
              <a:t>ht</a:t>
            </a:r>
            <a:r>
              <a:rPr lang="en-US" altLang="zh-CN" sz="1800" dirty="0" smtClean="0">
                <a:ea typeface="华文楷体" panose="02010600040101010101" pitchFamily="2" charset="-122"/>
              </a:rPr>
              <a:t>[</a:t>
            </a:r>
            <a:r>
              <a:rPr lang="en-US" altLang="zh-CN" sz="1800" dirty="0" err="1">
                <a:ea typeface="华文楷体" panose="02010600040101010101" pitchFamily="2" charset="-122"/>
              </a:rPr>
              <a:t>currentBucket</a:t>
            </a:r>
            <a:r>
              <a:rPr lang="en-US" altLang="zh-CN" sz="1800" dirty="0" smtClean="0">
                <a:ea typeface="华文楷体" panose="02010600040101010101" pitchFamily="2" charset="-122"/>
              </a:rPr>
              <a:t>] ) //</a:t>
            </a:r>
            <a:r>
              <a:rPr lang="en-US" altLang="zh-CN" sz="1800" dirty="0" err="1" smtClean="0">
                <a:ea typeface="华文楷体" panose="02010600040101010101" pitchFamily="2" charset="-122"/>
              </a:rPr>
              <a:t>ht</a:t>
            </a:r>
            <a:r>
              <a:rPr lang="en-US" altLang="zh-CN" sz="1800" dirty="0" smtClean="0">
                <a:ea typeface="华文楷体" panose="02010600040101010101" pitchFamily="2" charset="-122"/>
              </a:rPr>
              <a:t>[</a:t>
            </a:r>
            <a:r>
              <a:rPr lang="en-US" altLang="zh-CN" sz="1800" dirty="0" err="1">
                <a:ea typeface="华文楷体" panose="02010600040101010101" pitchFamily="2" charset="-122"/>
              </a:rPr>
              <a:t>currentBucket</a:t>
            </a:r>
            <a:r>
              <a:rPr lang="en-US" altLang="zh-CN" sz="1800" dirty="0" smtClean="0">
                <a:ea typeface="华文楷体" panose="02010600040101010101" pitchFamily="2" charset="-122"/>
              </a:rPr>
              <a:t>]</a:t>
            </a:r>
            <a:r>
              <a:rPr lang="zh-CN" altLang="en-US" sz="1800" dirty="0" smtClean="0">
                <a:ea typeface="华文楷体" panose="02010600040101010101" pitchFamily="2" charset="-122"/>
              </a:rPr>
              <a:t>不为空</a:t>
            </a:r>
            <a:endParaRPr lang="en-US" altLang="zh-CN" sz="1800" dirty="0" smtClean="0">
              <a:ea typeface="华文楷体" panose="02010600040101010101" pitchFamily="2" charset="-122"/>
            </a:endParaRPr>
          </a:p>
          <a:p>
            <a:pPr marL="0" indent="0">
              <a:buNone/>
            </a:pPr>
            <a:r>
              <a:rPr lang="en-US" altLang="zh-CN" sz="1800" dirty="0" smtClean="0">
                <a:ea typeface="华文楷体" panose="02010600040101010101" pitchFamily="2" charset="-122"/>
              </a:rPr>
              <a:t>    {    </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a:t>
            </a:r>
            <a:r>
              <a:rPr lang="en-US" altLang="zh-CN" sz="1800" dirty="0" err="1">
                <a:ea typeface="华文楷体" panose="02010600040101010101" pitchFamily="2" charset="-122"/>
              </a:rPr>
              <a:t>currentBucket</a:t>
            </a:r>
            <a:r>
              <a:rPr lang="en-US" altLang="zh-CN" sz="1800" dirty="0" smtClean="0">
                <a:ea typeface="华文楷体" panose="02010600040101010101" pitchFamily="2" charset="-122"/>
              </a:rPr>
              <a:t> = (</a:t>
            </a:r>
            <a:r>
              <a:rPr lang="en-US" altLang="zh-CN" sz="1800" dirty="0" err="1" smtClean="0">
                <a:ea typeface="华文楷体" panose="02010600040101010101" pitchFamily="2" charset="-122"/>
              </a:rPr>
              <a:t>currentBucket</a:t>
            </a:r>
            <a:r>
              <a:rPr lang="en-US" altLang="zh-CN" sz="1800" dirty="0" smtClean="0">
                <a:ea typeface="华文楷体" panose="02010600040101010101" pitchFamily="2" charset="-122"/>
              </a:rPr>
              <a:t> + 1)%m;  //</a:t>
            </a:r>
            <a:r>
              <a:rPr lang="zh-CN" altLang="en-US" sz="1800" dirty="0" smtClean="0">
                <a:ea typeface="华文楷体" panose="02010600040101010101" pitchFamily="2" charset="-122"/>
              </a:rPr>
              <a:t>线性探测再散列</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if(</a:t>
            </a:r>
            <a:r>
              <a:rPr lang="en-US" altLang="zh-CN" sz="1800" dirty="0" err="1" smtClean="0">
                <a:ea typeface="华文楷体" panose="02010600040101010101" pitchFamily="2" charset="-122"/>
              </a:rPr>
              <a:t>currentBucket</a:t>
            </a:r>
            <a:r>
              <a:rPr lang="en-US" altLang="zh-CN" sz="1800" dirty="0" smtClean="0">
                <a:ea typeface="华文楷体" panose="02010600040101010101" pitchFamily="2" charset="-122"/>
              </a:rPr>
              <a:t> = </a:t>
            </a:r>
            <a:r>
              <a:rPr lang="en-US" altLang="zh-CN" sz="1800" dirty="0" err="1">
                <a:ea typeface="华文楷体" panose="02010600040101010101" pitchFamily="2" charset="-122"/>
              </a:rPr>
              <a:t>homeBucket</a:t>
            </a: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FatalError</a:t>
            </a:r>
            <a:r>
              <a:rPr lang="en-US" altLang="zh-CN" sz="1800" dirty="0" smtClean="0">
                <a:ea typeface="华文楷体" panose="02010600040101010101" pitchFamily="2" charset="-122"/>
              </a:rPr>
              <a:t>(“Space is Full!!”); //</a:t>
            </a:r>
            <a:r>
              <a:rPr lang="zh-CN" altLang="en-US" sz="1800" dirty="0" smtClean="0">
                <a:ea typeface="华文楷体" panose="02010600040101010101" pitchFamily="2" charset="-122"/>
              </a:rPr>
              <a:t>空间满，退出</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marL="0" indent="0">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ht</a:t>
            </a:r>
            <a:r>
              <a:rPr lang="en-US" altLang="zh-CN" sz="1800" dirty="0" smtClean="0">
                <a:ea typeface="华文楷体" panose="02010600040101010101" pitchFamily="2" charset="-122"/>
              </a:rPr>
              <a:t>[</a:t>
            </a:r>
            <a:r>
              <a:rPr lang="en-US" altLang="zh-CN" sz="1800" dirty="0" err="1">
                <a:ea typeface="华文楷体" panose="02010600040101010101" pitchFamily="2" charset="-122"/>
              </a:rPr>
              <a:t>currentBucket</a:t>
            </a:r>
            <a:r>
              <a:rPr lang="en-US" altLang="zh-CN" sz="1800" dirty="0" smtClean="0">
                <a:ea typeface="华文楷体" panose="02010600040101010101" pitchFamily="2" charset="-122"/>
              </a:rPr>
              <a:t>] = data;</a:t>
            </a:r>
            <a:endParaRPr lang="en-US" altLang="zh-CN" sz="1800" dirty="0" smtClean="0">
              <a:ea typeface="华文楷体" panose="02010600040101010101" pitchFamily="2" charset="-122"/>
            </a:endParaRPr>
          </a:p>
          <a:p>
            <a:pPr marL="0" indent="0">
              <a:buNone/>
            </a:pPr>
            <a:r>
              <a:rPr lang="en-US" altLang="zh-CN" sz="1800" dirty="0" smtClean="0">
                <a:ea typeface="华文楷体" panose="02010600040101010101" pitchFamily="2" charset="-122"/>
              </a:rPr>
              <a:t>}</a:t>
            </a:r>
            <a:endParaRPr lang="zh-CN" altLang="en-US" sz="1800" dirty="0"/>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half"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6861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68613" name="Rectangle 3"/>
          <p:cNvSpPr>
            <a:spLocks noGrp="1" noChangeArrowheads="1"/>
          </p:cNvSpPr>
          <p:nvPr>
            <p:ph type="body" idx="1"/>
          </p:nvPr>
        </p:nvSpPr>
        <p:spPr/>
        <p:txBody>
          <a:bodyPr/>
          <a:lstStyle/>
          <a:p>
            <a:pPr eaLnBrk="1" hangingPunct="1">
              <a:lnSpc>
                <a:spcPct val="80000"/>
              </a:lnSpc>
              <a:buFont typeface="Wingdings" panose="05000000000000000000" pitchFamily="2" charset="2"/>
              <a:buNone/>
            </a:pPr>
            <a:r>
              <a:rPr lang="en-US" altLang="zh-CN" sz="2400" b="1" dirty="0" smtClean="0">
                <a:solidFill>
                  <a:srgbClr val="CC6600"/>
                </a:solidFill>
                <a:ea typeface="华文楷体" panose="02010600040101010101" pitchFamily="2" charset="-122"/>
                <a:sym typeface="Symbol" panose="05050102010706020507" pitchFamily="18" charset="2"/>
              </a:rPr>
              <a:t>2)</a:t>
            </a:r>
            <a:r>
              <a:rPr lang="zh-CN" altLang="zh-CN" sz="2400" b="1" dirty="0" smtClean="0">
                <a:solidFill>
                  <a:srgbClr val="CC6600"/>
                </a:solidFill>
                <a:ea typeface="华文楷体" panose="02010600040101010101" pitchFamily="2" charset="-122"/>
                <a:sym typeface="Symbol" panose="05050102010706020507" pitchFamily="18" charset="2"/>
              </a:rPr>
              <a:t>二次探测再散列</a:t>
            </a:r>
            <a:r>
              <a:rPr lang="zh-CN" altLang="en-US" sz="2400" b="1" dirty="0" smtClean="0">
                <a:solidFill>
                  <a:srgbClr val="CC6600"/>
                </a:solidFill>
                <a:ea typeface="华文楷体" panose="02010600040101010101" pitchFamily="2" charset="-122"/>
                <a:sym typeface="Symbol" panose="05050102010706020507" pitchFamily="18" charset="2"/>
              </a:rPr>
              <a:t>     </a:t>
            </a:r>
            <a:r>
              <a:rPr lang="zh-CN" altLang="zh-CN" sz="2400" dirty="0" smtClean="0">
                <a:ea typeface="华文楷体" panose="02010600040101010101" pitchFamily="2" charset="-122"/>
                <a:sym typeface="Symbol" panose="05050102010706020507" pitchFamily="18" charset="2"/>
              </a:rPr>
              <a:t> </a:t>
            </a:r>
            <a:endParaRPr lang="zh-CN" altLang="en-US" sz="24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d</a:t>
            </a:r>
            <a:r>
              <a:rPr lang="en-US" altLang="zh-CN" sz="2400" baseline="-25000" dirty="0" smtClean="0">
                <a:ea typeface="华文楷体" panose="02010600040101010101" pitchFamily="2" charset="-122"/>
              </a:rPr>
              <a:t>i</a:t>
            </a:r>
            <a:r>
              <a:rPr lang="en-US" altLang="zh-CN" sz="2400" dirty="0" smtClean="0">
                <a:ea typeface="华文楷体" panose="02010600040101010101" pitchFamily="2" charset="-122"/>
                <a:sym typeface="Symbol" panose="05050102010706020507" pitchFamily="18" charset="2"/>
              </a:rPr>
              <a:t>= 1</a:t>
            </a:r>
            <a:r>
              <a:rPr lang="en-US" altLang="zh-CN" sz="2400" baseline="30000" dirty="0" smtClean="0">
                <a:ea typeface="华文楷体" panose="02010600040101010101" pitchFamily="2" charset="-122"/>
                <a:sym typeface="Symbol" panose="05050102010706020507" pitchFamily="18" charset="2"/>
              </a:rPr>
              <a:t>2</a:t>
            </a:r>
            <a:r>
              <a:rPr lang="en-US" altLang="zh-CN" sz="2400" dirty="0" smtClean="0">
                <a:ea typeface="华文楷体" panose="02010600040101010101" pitchFamily="2" charset="-122"/>
                <a:sym typeface="Symbol" panose="05050102010706020507" pitchFamily="18" charset="2"/>
              </a:rPr>
              <a:t>, -1</a:t>
            </a:r>
            <a:r>
              <a:rPr lang="en-US" altLang="zh-CN" sz="2400" baseline="30000" dirty="0" smtClean="0">
                <a:ea typeface="华文楷体" panose="02010600040101010101" pitchFamily="2" charset="-122"/>
                <a:sym typeface="Symbol" panose="05050102010706020507" pitchFamily="18" charset="2"/>
              </a:rPr>
              <a:t>2</a:t>
            </a:r>
            <a:r>
              <a:rPr lang="en-US" altLang="zh-CN" sz="2400" dirty="0" smtClean="0">
                <a:ea typeface="华文楷体" panose="02010600040101010101" pitchFamily="2" charset="-122"/>
                <a:sym typeface="Symbol" panose="05050102010706020507" pitchFamily="18" charset="2"/>
              </a:rPr>
              <a:t>, 2</a:t>
            </a:r>
            <a:r>
              <a:rPr lang="en-US" altLang="zh-CN" sz="2400" baseline="30000" dirty="0" smtClean="0">
                <a:ea typeface="华文楷体" panose="02010600040101010101" pitchFamily="2" charset="-122"/>
                <a:sym typeface="Symbol" panose="05050102010706020507" pitchFamily="18" charset="2"/>
              </a:rPr>
              <a:t>2</a:t>
            </a:r>
            <a:r>
              <a:rPr lang="en-US" altLang="zh-CN" sz="2400" dirty="0" smtClean="0">
                <a:ea typeface="华文楷体" panose="02010600040101010101" pitchFamily="2" charset="-122"/>
                <a:sym typeface="Symbol" panose="05050102010706020507" pitchFamily="18" charset="2"/>
              </a:rPr>
              <a:t>, -2</a:t>
            </a:r>
            <a:r>
              <a:rPr lang="en-US" altLang="zh-CN" sz="2400" baseline="30000" dirty="0" smtClean="0">
                <a:ea typeface="华文楷体" panose="02010600040101010101" pitchFamily="2" charset="-122"/>
                <a:sym typeface="Symbol" panose="05050102010706020507" pitchFamily="18" charset="2"/>
              </a:rPr>
              <a:t>2</a:t>
            </a:r>
            <a:r>
              <a:rPr lang="en-US" altLang="zh-CN" sz="2400" dirty="0" smtClean="0">
                <a:ea typeface="华文楷体" panose="02010600040101010101" pitchFamily="2" charset="-122"/>
                <a:sym typeface="Symbol" panose="05050102010706020507" pitchFamily="18" charset="2"/>
              </a:rPr>
              <a:t>, 3</a:t>
            </a:r>
            <a:r>
              <a:rPr lang="en-US" altLang="zh-CN" sz="2400" baseline="30000" dirty="0" smtClean="0">
                <a:ea typeface="华文楷体" panose="02010600040101010101" pitchFamily="2" charset="-122"/>
                <a:sym typeface="Symbol" panose="05050102010706020507" pitchFamily="18" charset="2"/>
              </a:rPr>
              <a:t>2</a:t>
            </a:r>
            <a:r>
              <a:rPr lang="en-US" altLang="zh-CN" sz="2400" dirty="0" smtClean="0">
                <a:ea typeface="华文楷体" panose="02010600040101010101" pitchFamily="2" charset="-122"/>
                <a:sym typeface="Symbol" panose="05050102010706020507" pitchFamily="18" charset="2"/>
              </a:rPr>
              <a:t>,...,k</a:t>
            </a:r>
            <a:r>
              <a:rPr lang="en-US" altLang="zh-CN" sz="2400" baseline="30000" dirty="0" smtClean="0">
                <a:ea typeface="华文楷体" panose="02010600040101010101" pitchFamily="2" charset="-122"/>
                <a:sym typeface="Symbol" panose="05050102010706020507" pitchFamily="18" charset="2"/>
              </a:rPr>
              <a:t>2</a:t>
            </a:r>
            <a:endParaRPr lang="en-US" altLang="zh-CN" sz="2400" baseline="300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400" baseline="30000" dirty="0" smtClean="0">
                <a:ea typeface="华文楷体" panose="02010600040101010101" pitchFamily="2" charset="-122"/>
                <a:sym typeface="Symbol" panose="05050102010706020507" pitchFamily="18" charset="2"/>
              </a:rPr>
              <a:t> </a:t>
            </a:r>
            <a:r>
              <a:rPr lang="en-US" altLang="zh-CN" sz="2400" dirty="0" smtClean="0">
                <a:ea typeface="华文楷体" panose="02010600040101010101" pitchFamily="2" charset="-122"/>
                <a:sym typeface="Symbol" panose="05050102010706020507" pitchFamily="18" charset="2"/>
              </a:rPr>
              <a:t>k  m/2</a:t>
            </a:r>
            <a:endParaRPr lang="en-US" altLang="zh-CN" sz="24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sym typeface="Symbol" panose="05050102010706020507" pitchFamily="18" charset="2"/>
              </a:rPr>
              <a:t>缺陷：不易探查到整个散列空间。</a:t>
            </a:r>
            <a:endParaRPr lang="zh-CN" altLang="en-US" sz="24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400" b="1" dirty="0" smtClean="0">
                <a:solidFill>
                  <a:srgbClr val="CC6600"/>
                </a:solidFill>
                <a:ea typeface="华文楷体" panose="02010600040101010101" pitchFamily="2" charset="-122"/>
                <a:sym typeface="Symbol" panose="05050102010706020507" pitchFamily="18" charset="2"/>
              </a:rPr>
              <a:t>3)</a:t>
            </a:r>
            <a:r>
              <a:rPr lang="zh-CN" altLang="zh-CN" sz="2400" b="1" dirty="0" smtClean="0">
                <a:solidFill>
                  <a:srgbClr val="CC6600"/>
                </a:solidFill>
                <a:ea typeface="华文楷体" panose="02010600040101010101" pitchFamily="2" charset="-122"/>
                <a:sym typeface="Symbol" panose="05050102010706020507" pitchFamily="18" charset="2"/>
              </a:rPr>
              <a:t>伪随机探测再散列</a:t>
            </a:r>
            <a:r>
              <a:rPr lang="zh-CN" altLang="en-US" sz="2400" b="1" dirty="0" smtClean="0">
                <a:solidFill>
                  <a:srgbClr val="CC6600"/>
                </a:solidFill>
                <a:ea typeface="华文楷体" panose="02010600040101010101" pitchFamily="2" charset="-122"/>
                <a:sym typeface="Symbol" panose="05050102010706020507" pitchFamily="18" charset="2"/>
              </a:rPr>
              <a:t>  </a:t>
            </a:r>
            <a:endParaRPr lang="zh-CN" altLang="en-US" sz="2400" b="1" dirty="0" smtClean="0">
              <a:solidFill>
                <a:srgbClr val="CC6600"/>
              </a:solidFill>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d</a:t>
            </a:r>
            <a:r>
              <a:rPr lang="en-US" altLang="zh-CN" sz="2400" baseline="-25000" dirty="0" smtClean="0">
                <a:ea typeface="华文楷体" panose="02010600040101010101" pitchFamily="2" charset="-122"/>
              </a:rPr>
              <a:t>i</a:t>
            </a:r>
            <a:r>
              <a:rPr lang="en-US" altLang="zh-CN" sz="2400" dirty="0" smtClean="0">
                <a:ea typeface="华文楷体" panose="02010600040101010101" pitchFamily="2" charset="-122"/>
                <a:sym typeface="Symbol" panose="05050102010706020507" pitchFamily="18" charset="2"/>
              </a:rPr>
              <a:t> = </a:t>
            </a:r>
            <a:r>
              <a:rPr lang="zh-CN" altLang="zh-CN" sz="2400" dirty="0" smtClean="0">
                <a:ea typeface="华文楷体" panose="02010600040101010101" pitchFamily="2" charset="-122"/>
                <a:sym typeface="Symbol" panose="05050102010706020507" pitchFamily="18" charset="2"/>
              </a:rPr>
              <a:t>伪随机数序列</a:t>
            </a:r>
            <a:endParaRPr lang="zh-CN" altLang="en-US" sz="24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400" b="1" dirty="0" smtClean="0">
                <a:solidFill>
                  <a:srgbClr val="CC6600"/>
                </a:solidFill>
                <a:ea typeface="华文楷体" panose="02010600040101010101" pitchFamily="2" charset="-122"/>
              </a:rPr>
              <a:t>4) </a:t>
            </a:r>
            <a:r>
              <a:rPr lang="zh-CN" altLang="en-US" sz="2400" b="1" dirty="0" smtClean="0">
                <a:solidFill>
                  <a:srgbClr val="CC6600"/>
                </a:solidFill>
                <a:ea typeface="华文楷体" panose="02010600040101010101" pitchFamily="2" charset="-122"/>
              </a:rPr>
              <a:t>双重散列函数探查法   </a:t>
            </a:r>
            <a:r>
              <a:rPr lang="zh-CN" altLang="en-US" sz="2400" dirty="0" smtClean="0">
                <a:ea typeface="华文楷体" panose="02010600040101010101" pitchFamily="2" charset="-122"/>
              </a:rPr>
              <a:t> </a:t>
            </a:r>
            <a:endParaRPr lang="zh-CN" altLang="en-US" sz="2400" dirty="0" smtClean="0">
              <a:ea typeface="华文楷体" panose="02010600040101010101" pitchFamily="2" charset="-12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rPr>
              <a:t>d</a:t>
            </a:r>
            <a:r>
              <a:rPr lang="en-US" altLang="zh-CN" sz="2400" baseline="-25000" dirty="0" smtClean="0">
                <a:ea typeface="华文楷体" panose="02010600040101010101" pitchFamily="2" charset="-122"/>
              </a:rPr>
              <a:t>i</a:t>
            </a:r>
            <a:r>
              <a:rPr lang="en-US" altLang="zh-CN" sz="2400" dirty="0" smtClean="0">
                <a:ea typeface="华文楷体" panose="02010600040101010101" pitchFamily="2" charset="-122"/>
                <a:sym typeface="Symbol" panose="05050102010706020507" pitchFamily="18" charset="2"/>
              </a:rPr>
              <a:t>= </a:t>
            </a:r>
            <a:r>
              <a:rPr lang="en-US" altLang="zh-CN" sz="2400" dirty="0" err="1" smtClean="0">
                <a:ea typeface="华文楷体" panose="02010600040101010101" pitchFamily="2" charset="-122"/>
              </a:rPr>
              <a:t>i</a:t>
            </a:r>
            <a:r>
              <a:rPr lang="en-US" altLang="zh-CN" sz="2400" dirty="0" smtClean="0">
                <a:ea typeface="华文楷体" panose="02010600040101010101" pitchFamily="2" charset="-122"/>
              </a:rPr>
              <a:t>*h1(key)      0</a:t>
            </a:r>
            <a:r>
              <a:rPr lang="en-US" altLang="zh-CN" sz="2400" dirty="0" smtClean="0">
                <a:ea typeface="华文楷体" panose="02010600040101010101" pitchFamily="2" charset="-122"/>
                <a:sym typeface="Symbol" panose="05050102010706020507" pitchFamily="18" charset="2"/>
              </a:rPr>
              <a:t>&lt; </a:t>
            </a:r>
            <a:r>
              <a:rPr lang="en-US" altLang="zh-CN" sz="2400" dirty="0" err="1" smtClean="0">
                <a:ea typeface="华文楷体" panose="02010600040101010101" pitchFamily="2" charset="-122"/>
                <a:sym typeface="Symbol" panose="05050102010706020507" pitchFamily="18" charset="2"/>
              </a:rPr>
              <a:t>i</a:t>
            </a:r>
            <a:r>
              <a:rPr lang="en-US" altLang="zh-CN" sz="2400" dirty="0" smtClean="0">
                <a:ea typeface="华文楷体" panose="02010600040101010101" pitchFamily="2" charset="-122"/>
                <a:sym typeface="Symbol" panose="05050102010706020507" pitchFamily="18" charset="2"/>
              </a:rPr>
              <a:t> m- 1</a:t>
            </a:r>
            <a:endParaRPr lang="en-US" altLang="zh-CN" sz="24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sym typeface="Symbol" panose="05050102010706020507" pitchFamily="18" charset="2"/>
              </a:rPr>
              <a:t>要求：</a:t>
            </a:r>
            <a:r>
              <a:rPr lang="en-US" altLang="zh-CN" sz="2400" dirty="0" smtClean="0">
                <a:ea typeface="华文楷体" panose="02010600040101010101" pitchFamily="2" charset="-122"/>
                <a:sym typeface="Symbol" panose="05050102010706020507" pitchFamily="18" charset="2"/>
              </a:rPr>
              <a:t>h1(key)</a:t>
            </a:r>
            <a:r>
              <a:rPr lang="zh-CN" altLang="zh-CN" sz="2400" dirty="0" smtClean="0">
                <a:ea typeface="华文楷体" panose="02010600040101010101" pitchFamily="2" charset="-122"/>
                <a:sym typeface="Symbol" panose="05050102010706020507" pitchFamily="18" charset="2"/>
              </a:rPr>
              <a:t>的值与</a:t>
            </a:r>
            <a:r>
              <a:rPr lang="en-US" altLang="zh-CN" sz="2400" dirty="0" smtClean="0">
                <a:ea typeface="华文楷体" panose="02010600040101010101" pitchFamily="2" charset="-122"/>
                <a:sym typeface="Symbol" panose="05050102010706020507" pitchFamily="18" charset="2"/>
              </a:rPr>
              <a:t>m</a:t>
            </a:r>
            <a:r>
              <a:rPr lang="zh-CN" altLang="en-US" sz="2400" dirty="0" smtClean="0">
                <a:ea typeface="华文楷体" panose="02010600040101010101" pitchFamily="2" charset="-122"/>
                <a:sym typeface="Symbol" panose="05050102010706020507" pitchFamily="18" charset="2"/>
              </a:rPr>
              <a:t>互素。</a:t>
            </a:r>
            <a:endParaRPr lang="zh-CN" altLang="en-US" sz="24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sym typeface="Symbol" panose="05050102010706020507" pitchFamily="18" charset="2"/>
              </a:rPr>
              <a:t> </a:t>
            </a:r>
            <a:r>
              <a:rPr lang="en-US" altLang="zh-CN" sz="2400" dirty="0" smtClean="0">
                <a:ea typeface="华文楷体" panose="02010600040101010101" pitchFamily="2" charset="-122"/>
                <a:sym typeface="Symbol" panose="05050102010706020507" pitchFamily="18" charset="2"/>
              </a:rPr>
              <a:t>m</a:t>
            </a:r>
            <a:r>
              <a:rPr lang="zh-CN" altLang="en-US" sz="2400" dirty="0" smtClean="0">
                <a:ea typeface="华文楷体" panose="02010600040101010101" pitchFamily="2" charset="-122"/>
                <a:sym typeface="Symbol" panose="05050102010706020507" pitchFamily="18" charset="2"/>
              </a:rPr>
              <a:t>为素数时， </a:t>
            </a:r>
            <a:r>
              <a:rPr lang="en-US" altLang="zh-CN" sz="2400" dirty="0" smtClean="0">
                <a:ea typeface="华文楷体" panose="02010600040101010101" pitchFamily="2" charset="-122"/>
                <a:sym typeface="Symbol" panose="05050102010706020507" pitchFamily="18" charset="2"/>
              </a:rPr>
              <a:t>h1(key)</a:t>
            </a:r>
            <a:r>
              <a:rPr lang="zh-CN" altLang="en-US" sz="2400" dirty="0" smtClean="0">
                <a:ea typeface="华文楷体" panose="02010600040101010101" pitchFamily="2" charset="-122"/>
                <a:sym typeface="Symbol" panose="05050102010706020507" pitchFamily="18" charset="2"/>
              </a:rPr>
              <a:t>可取</a:t>
            </a:r>
            <a:r>
              <a:rPr lang="en-US" altLang="zh-CN" sz="2400" dirty="0" smtClean="0">
                <a:ea typeface="华文楷体" panose="02010600040101010101" pitchFamily="2" charset="-122"/>
                <a:sym typeface="Symbol" panose="05050102010706020507" pitchFamily="18" charset="2"/>
              </a:rPr>
              <a:t>1</a:t>
            </a:r>
            <a:r>
              <a:rPr lang="zh-CN" altLang="en-US" sz="2400" dirty="0" smtClean="0">
                <a:ea typeface="华文楷体" panose="02010600040101010101" pitchFamily="2" charset="-122"/>
                <a:sym typeface="Symbol" panose="05050102010706020507" pitchFamily="18" charset="2"/>
              </a:rPr>
              <a:t>到</a:t>
            </a:r>
            <a:r>
              <a:rPr lang="en-US" altLang="zh-CN" sz="2400" dirty="0" smtClean="0">
                <a:ea typeface="华文楷体" panose="02010600040101010101" pitchFamily="2" charset="-122"/>
                <a:sym typeface="Symbol" panose="05050102010706020507" pitchFamily="18" charset="2"/>
              </a:rPr>
              <a:t>m-1</a:t>
            </a:r>
            <a:r>
              <a:rPr lang="zh-CN" altLang="en-US" sz="2400" dirty="0" smtClean="0">
                <a:ea typeface="华文楷体" panose="02010600040101010101" pitchFamily="2" charset="-122"/>
                <a:sym typeface="Symbol" panose="05050102010706020507" pitchFamily="18" charset="2"/>
              </a:rPr>
              <a:t>之间的任何数，</a:t>
            </a:r>
            <a:endParaRPr lang="zh-CN" altLang="en-US" sz="24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zh-CN" altLang="en-US" sz="2400" dirty="0" smtClean="0">
                <a:ea typeface="华文楷体" panose="02010600040101010101" pitchFamily="2" charset="-122"/>
                <a:sym typeface="Symbol" panose="05050102010706020507" pitchFamily="18" charset="2"/>
              </a:rPr>
              <a:t>建议：</a:t>
            </a:r>
            <a:endParaRPr lang="zh-CN" altLang="en-US" sz="24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h1(key)=key mod (m-2) +1</a:t>
            </a:r>
            <a:endParaRPr lang="en-US" altLang="zh-CN" sz="24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m</a:t>
            </a:r>
            <a:r>
              <a:rPr lang="zh-CN" altLang="en-US" sz="2400" dirty="0" smtClean="0">
                <a:ea typeface="华文楷体" panose="02010600040101010101" pitchFamily="2" charset="-122"/>
                <a:sym typeface="Symbol" panose="05050102010706020507" pitchFamily="18" charset="2"/>
              </a:rPr>
              <a:t>为</a:t>
            </a:r>
            <a:r>
              <a:rPr lang="en-US" altLang="zh-CN" sz="2400" dirty="0" smtClean="0">
                <a:ea typeface="华文楷体" panose="02010600040101010101" pitchFamily="2" charset="-122"/>
                <a:sym typeface="Symbol" panose="05050102010706020507" pitchFamily="18" charset="2"/>
              </a:rPr>
              <a:t>2</a:t>
            </a:r>
            <a:r>
              <a:rPr lang="zh-CN" altLang="en-US" sz="2400" dirty="0" smtClean="0">
                <a:ea typeface="华文楷体" panose="02010600040101010101" pitchFamily="2" charset="-122"/>
                <a:sym typeface="Symbol" panose="05050102010706020507" pitchFamily="18" charset="2"/>
              </a:rPr>
              <a:t>的方幂时， </a:t>
            </a:r>
            <a:r>
              <a:rPr lang="en-US" altLang="zh-CN" sz="2400" dirty="0" smtClean="0">
                <a:ea typeface="华文楷体" panose="02010600040101010101" pitchFamily="2" charset="-122"/>
                <a:sym typeface="Symbol" panose="05050102010706020507" pitchFamily="18" charset="2"/>
              </a:rPr>
              <a:t>h1(key)</a:t>
            </a:r>
            <a:r>
              <a:rPr lang="zh-CN" altLang="en-US" sz="2400" dirty="0" smtClean="0">
                <a:ea typeface="华文楷体" panose="02010600040101010101" pitchFamily="2" charset="-122"/>
                <a:sym typeface="Symbol" panose="05050102010706020507" pitchFamily="18" charset="2"/>
              </a:rPr>
              <a:t>可取</a:t>
            </a:r>
            <a:r>
              <a:rPr lang="en-US" altLang="zh-CN" sz="2400" dirty="0" smtClean="0">
                <a:ea typeface="华文楷体" panose="02010600040101010101" pitchFamily="2" charset="-122"/>
                <a:sym typeface="Symbol" panose="05050102010706020507" pitchFamily="18" charset="2"/>
              </a:rPr>
              <a:t>1</a:t>
            </a:r>
            <a:r>
              <a:rPr lang="zh-CN" altLang="en-US" sz="2400" dirty="0" smtClean="0">
                <a:ea typeface="华文楷体" panose="02010600040101010101" pitchFamily="2" charset="-122"/>
                <a:sym typeface="Symbol" panose="05050102010706020507" pitchFamily="18" charset="2"/>
              </a:rPr>
              <a:t>到</a:t>
            </a:r>
            <a:r>
              <a:rPr lang="en-US" altLang="zh-CN" sz="2400" dirty="0" smtClean="0">
                <a:ea typeface="华文楷体" panose="02010600040101010101" pitchFamily="2" charset="-122"/>
                <a:sym typeface="Symbol" panose="05050102010706020507" pitchFamily="18" charset="2"/>
              </a:rPr>
              <a:t>m-1</a:t>
            </a:r>
            <a:r>
              <a:rPr lang="zh-CN" altLang="en-US" sz="2400" dirty="0" smtClean="0">
                <a:ea typeface="华文楷体" panose="02010600040101010101" pitchFamily="2" charset="-122"/>
                <a:sym typeface="Symbol" panose="05050102010706020507" pitchFamily="18" charset="2"/>
              </a:rPr>
              <a:t>之间的任何奇数</a:t>
            </a:r>
            <a:endParaRPr lang="zh-CN" altLang="en-US" sz="2400" dirty="0" smtClean="0">
              <a:ea typeface="华文楷体" panose="02010600040101010101" pitchFamily="2" charset="-122"/>
              <a:sym typeface="Symbol" panose="05050102010706020507" pitchFamily="18" charset="2"/>
            </a:endParaRPr>
          </a:p>
          <a:p>
            <a:pPr eaLnBrk="1" hangingPunct="1">
              <a:lnSpc>
                <a:spcPct val="80000"/>
              </a:lnSpc>
              <a:buFont typeface="Wingdings" panose="05000000000000000000" pitchFamily="2" charset="2"/>
              <a:buNone/>
            </a:pPr>
            <a:r>
              <a:rPr lang="zh-CN" altLang="en-US" sz="2400" b="1" dirty="0" smtClean="0">
                <a:solidFill>
                  <a:schemeClr val="accent2"/>
                </a:solidFill>
                <a:ea typeface="楷体_GB2312" pitchFamily="49" charset="-122"/>
              </a:rPr>
              <a:t>注意：开放定址法不宜执行删除操作</a:t>
            </a:r>
            <a:endParaRPr lang="zh-CN" altLang="en-US" sz="1800" b="1" dirty="0" smtClean="0">
              <a:ea typeface="华文楷体" panose="02010600040101010101" pitchFamily="2" charset="-122"/>
              <a:sym typeface="Symbol" panose="05050102010706020507" pitchFamily="18" charset="2"/>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6963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69637" name="Rectangle 3"/>
          <p:cNvSpPr>
            <a:spLocks noGrp="1" noChangeArrowheads="1"/>
          </p:cNvSpPr>
          <p:nvPr>
            <p:ph type="body" idx="1"/>
          </p:nvPr>
        </p:nvSpPr>
        <p:spPr/>
        <p:txBody>
          <a:bodyPr/>
          <a:lstStyle/>
          <a:p>
            <a:pPr eaLnBrk="1" hangingPunct="1">
              <a:buFont typeface="Wingdings" panose="05000000000000000000" pitchFamily="2" charset="2"/>
              <a:buNone/>
            </a:pPr>
            <a:endParaRPr lang="en-US" altLang="zh-CN" sz="2400" b="1" dirty="0" smtClean="0">
              <a:solidFill>
                <a:srgbClr val="800000"/>
              </a:solidFill>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400" b="1" dirty="0" smtClean="0">
                <a:solidFill>
                  <a:srgbClr val="800000"/>
                </a:solidFill>
                <a:ea typeface="华文楷体" panose="02010600040101010101" pitchFamily="2" charset="-122"/>
                <a:sym typeface="Symbol" panose="05050102010706020507" pitchFamily="18" charset="2"/>
              </a:rPr>
              <a:t>[2. </a:t>
            </a:r>
            <a:r>
              <a:rPr lang="zh-CN" altLang="zh-CN" sz="2400" b="1" dirty="0" smtClean="0">
                <a:solidFill>
                  <a:srgbClr val="800000"/>
                </a:solidFill>
                <a:ea typeface="华文楷体" panose="02010600040101010101" pitchFamily="2" charset="-122"/>
                <a:sym typeface="Symbol" panose="05050102010706020507" pitchFamily="18" charset="2"/>
              </a:rPr>
              <a:t>再哈希法</a:t>
            </a:r>
            <a:r>
              <a:rPr lang="en-US" altLang="zh-CN" sz="2400" b="1" dirty="0" smtClean="0">
                <a:solidFill>
                  <a:srgbClr val="800000"/>
                </a:solidFill>
                <a:ea typeface="华文楷体" panose="02010600040101010101" pitchFamily="2" charset="-122"/>
                <a:sym typeface="Symbol" panose="05050102010706020507" pitchFamily="18" charset="2"/>
              </a:rPr>
              <a:t>]</a:t>
            </a:r>
            <a:endParaRPr lang="zh-CN" altLang="zh-CN" sz="2400" dirty="0" smtClean="0">
              <a:solidFill>
                <a:srgbClr val="800000"/>
              </a:solidFill>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400" b="1" dirty="0" smtClean="0">
                <a:ea typeface="华文楷体" panose="02010600040101010101" pitchFamily="2" charset="-122"/>
              </a:rPr>
              <a:t>H</a:t>
            </a:r>
            <a:r>
              <a:rPr lang="en-US" altLang="zh-CN" sz="2400" b="1" baseline="-25000" dirty="0" smtClean="0">
                <a:ea typeface="华文楷体" panose="02010600040101010101" pitchFamily="2" charset="-122"/>
              </a:rPr>
              <a:t>i</a:t>
            </a:r>
            <a:r>
              <a:rPr lang="en-US" altLang="zh-CN" sz="2400" b="1" dirty="0" smtClean="0">
                <a:ea typeface="华文楷体" panose="02010600040101010101" pitchFamily="2" charset="-122"/>
              </a:rPr>
              <a:t> </a:t>
            </a:r>
            <a:r>
              <a:rPr lang="en-US" altLang="zh-CN" sz="2400" b="1" dirty="0" smtClean="0">
                <a:ea typeface="华文楷体" panose="02010600040101010101" pitchFamily="2" charset="-122"/>
                <a:sym typeface="Symbol" panose="05050102010706020507" pitchFamily="18" charset="2"/>
              </a:rPr>
              <a:t>= </a:t>
            </a:r>
            <a:r>
              <a:rPr lang="en-US" altLang="zh-CN" sz="2400" b="1" dirty="0" err="1" smtClean="0">
                <a:ea typeface="华文楷体" panose="02010600040101010101" pitchFamily="2" charset="-122"/>
                <a:sym typeface="Symbol" panose="05050102010706020507" pitchFamily="18" charset="2"/>
              </a:rPr>
              <a:t>R</a:t>
            </a:r>
            <a:r>
              <a:rPr lang="en-US" altLang="zh-CN" sz="2400" b="1" dirty="0" err="1" smtClean="0">
                <a:ea typeface="华文楷体" panose="02010600040101010101" pitchFamily="2" charset="-122"/>
              </a:rPr>
              <a:t>H</a:t>
            </a:r>
            <a:r>
              <a:rPr lang="en-US" altLang="zh-CN" sz="2400" b="1" baseline="-25000" dirty="0" err="1" smtClean="0">
                <a:ea typeface="华文楷体" panose="02010600040101010101" pitchFamily="2" charset="-122"/>
              </a:rPr>
              <a:t>i</a:t>
            </a:r>
            <a:r>
              <a:rPr lang="en-US" altLang="zh-CN" sz="2400" b="1" dirty="0" smtClean="0">
                <a:ea typeface="华文楷体" panose="02010600040101010101" pitchFamily="2" charset="-122"/>
                <a:sym typeface="Symbol" panose="05050102010706020507" pitchFamily="18" charset="2"/>
              </a:rPr>
              <a:t>(key)</a:t>
            </a:r>
            <a:r>
              <a:rPr lang="en-US" altLang="zh-CN" sz="2400" dirty="0" smtClean="0">
                <a:ea typeface="华文楷体" panose="02010600040101010101" pitchFamily="2" charset="-122"/>
                <a:sym typeface="Symbol" panose="05050102010706020507" pitchFamily="18" charset="2"/>
              </a:rPr>
              <a:t>           </a:t>
            </a:r>
            <a:r>
              <a:rPr lang="en-US" altLang="zh-CN" sz="2400" dirty="0" err="1" smtClean="0">
                <a:ea typeface="华文楷体" panose="02010600040101010101" pitchFamily="2" charset="-122"/>
                <a:sym typeface="Symbol" panose="05050102010706020507" pitchFamily="18" charset="2"/>
              </a:rPr>
              <a:t>i</a:t>
            </a:r>
            <a:r>
              <a:rPr lang="en-US" altLang="zh-CN" sz="2400" dirty="0" smtClean="0">
                <a:ea typeface="华文楷体" panose="02010600040101010101" pitchFamily="2" charset="-122"/>
                <a:sym typeface="Symbol" panose="05050102010706020507" pitchFamily="18" charset="2"/>
              </a:rPr>
              <a:t>=1,2,  ... , k</a:t>
            </a:r>
            <a:endParaRPr lang="en-US" altLang="zh-CN"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zh-CN" altLang="en-US" sz="2400" dirty="0" smtClean="0">
                <a:ea typeface="华文楷体" panose="02010600040101010101" pitchFamily="2" charset="-122"/>
                <a:sym typeface="Symbol" panose="05050102010706020507" pitchFamily="18" charset="2"/>
              </a:rPr>
              <a:t>出现冲突时，采用多个 </a:t>
            </a:r>
            <a:r>
              <a:rPr lang="en-US" altLang="zh-CN" sz="2400" dirty="0" smtClean="0">
                <a:ea typeface="华文楷体" panose="02010600040101010101" pitchFamily="2" charset="-122"/>
                <a:sym typeface="Symbol" panose="05050102010706020507" pitchFamily="18" charset="2"/>
              </a:rPr>
              <a:t>hashing </a:t>
            </a:r>
            <a:r>
              <a:rPr lang="zh-CN" altLang="en-US" sz="2400" dirty="0" smtClean="0">
                <a:ea typeface="华文楷体" panose="02010600040101010101" pitchFamily="2" charset="-122"/>
                <a:sym typeface="Symbol" panose="05050102010706020507" pitchFamily="18" charset="2"/>
              </a:rPr>
              <a:t>函数计算散列地址，直到找到空单元为止。</a:t>
            </a:r>
            <a:endParaRPr lang="zh-CN" altLang="en-US"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zh-CN" altLang="en-US" sz="2400" dirty="0" smtClean="0">
                <a:ea typeface="华文楷体" panose="02010600040101010101" pitchFamily="2" charset="-122"/>
                <a:sym typeface="Symbol" panose="05050102010706020507" pitchFamily="18" charset="2"/>
              </a:rPr>
              <a:t>如：</a:t>
            </a:r>
            <a:r>
              <a:rPr lang="en-US" altLang="zh-CN" sz="2400" dirty="0" smtClean="0">
                <a:ea typeface="华文楷体" panose="02010600040101010101" pitchFamily="2" charset="-122"/>
                <a:sym typeface="Symbol" panose="05050102010706020507" pitchFamily="18" charset="2"/>
              </a:rPr>
              <a:t>H</a:t>
            </a:r>
            <a:r>
              <a:rPr lang="en-US" altLang="zh-CN" sz="2400" baseline="-25000" dirty="0" smtClean="0">
                <a:ea typeface="华文楷体" panose="02010600040101010101" pitchFamily="2" charset="-122"/>
                <a:sym typeface="Symbol" panose="05050102010706020507" pitchFamily="18" charset="2"/>
              </a:rPr>
              <a:t>1</a:t>
            </a:r>
            <a:r>
              <a:rPr lang="en-US" altLang="zh-CN" sz="2400" dirty="0" smtClean="0">
                <a:ea typeface="华文楷体" panose="02010600040101010101" pitchFamily="2" charset="-122"/>
                <a:sym typeface="Symbol" panose="05050102010706020507" pitchFamily="18" charset="2"/>
              </a:rPr>
              <a:t>(key) = key MOD 11</a:t>
            </a:r>
            <a:endParaRPr lang="en-US" altLang="zh-CN"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H</a:t>
            </a:r>
            <a:r>
              <a:rPr lang="en-US" altLang="zh-CN" sz="2400" baseline="-25000" dirty="0" smtClean="0">
                <a:ea typeface="华文楷体" panose="02010600040101010101" pitchFamily="2" charset="-122"/>
                <a:sym typeface="Symbol" panose="05050102010706020507" pitchFamily="18" charset="2"/>
              </a:rPr>
              <a:t>2</a:t>
            </a:r>
            <a:r>
              <a:rPr lang="en-US" altLang="zh-CN" sz="2400" dirty="0" smtClean="0">
                <a:ea typeface="华文楷体" panose="02010600040101010101" pitchFamily="2" charset="-122"/>
                <a:sym typeface="Symbol" panose="05050102010706020507" pitchFamily="18" charset="2"/>
              </a:rPr>
              <a:t>(key) = (key+ MOD 9) </a:t>
            </a:r>
            <a:r>
              <a:rPr lang="zh-CN" altLang="en-US" sz="2400" dirty="0" smtClean="0">
                <a:ea typeface="华文楷体" panose="02010600040101010101" pitchFamily="2" charset="-122"/>
                <a:sym typeface="Symbol" panose="05050102010706020507" pitchFamily="18" charset="2"/>
              </a:rPr>
              <a:t>＋ </a:t>
            </a:r>
            <a:r>
              <a:rPr lang="en-US" altLang="zh-CN" sz="2400" dirty="0" smtClean="0">
                <a:ea typeface="华文楷体" panose="02010600040101010101" pitchFamily="2" charset="-122"/>
                <a:sym typeface="Symbol" panose="05050102010706020507" pitchFamily="18" charset="2"/>
              </a:rPr>
              <a:t>1</a:t>
            </a:r>
            <a:endParaRPr lang="en-US" altLang="zh-CN"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H</a:t>
            </a:r>
            <a:r>
              <a:rPr lang="en-US" altLang="zh-CN" sz="2400" baseline="-25000" dirty="0" smtClean="0">
                <a:ea typeface="华文楷体" panose="02010600040101010101" pitchFamily="2" charset="-122"/>
                <a:sym typeface="Symbol" panose="05050102010706020507" pitchFamily="18" charset="2"/>
              </a:rPr>
              <a:t>3</a:t>
            </a:r>
            <a:r>
              <a:rPr lang="en-US" altLang="zh-CN" sz="2400" dirty="0" smtClean="0">
                <a:ea typeface="华文楷体" panose="02010600040101010101" pitchFamily="2" charset="-122"/>
                <a:sym typeface="Symbol" panose="05050102010706020507" pitchFamily="18" charset="2"/>
              </a:rPr>
              <a:t>(key)= ……..</a:t>
            </a:r>
            <a:endParaRPr lang="en-US" altLang="zh-CN"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a:t>
            </a:r>
            <a:endParaRPr lang="en-US" altLang="zh-CN"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H</a:t>
            </a:r>
            <a:r>
              <a:rPr lang="en-US" altLang="zh-CN" sz="2400" baseline="-25000" dirty="0" smtClean="0">
                <a:ea typeface="华文楷体" panose="02010600040101010101" pitchFamily="2" charset="-122"/>
                <a:sym typeface="Symbol" panose="05050102010706020507" pitchFamily="18" charset="2"/>
              </a:rPr>
              <a:t>10</a:t>
            </a:r>
            <a:r>
              <a:rPr lang="en-US" altLang="zh-CN" sz="2400" dirty="0" smtClean="0">
                <a:ea typeface="华文楷体" panose="02010600040101010101" pitchFamily="2" charset="-122"/>
                <a:sym typeface="Symbol" panose="05050102010706020507" pitchFamily="18" charset="2"/>
              </a:rPr>
              <a:t>(key)=……….</a:t>
            </a:r>
            <a:endParaRPr lang="en-US" altLang="zh-CN" sz="2400" dirty="0" smtClean="0">
              <a:ea typeface="华文楷体" panose="02010600040101010101" pitchFamily="2" charset="-122"/>
              <a:sym typeface="Symbol" panose="05050102010706020507" pitchFamily="18" charset="2"/>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页脚占位符 3"/>
          <p:cNvSpPr>
            <a:spLocks noGrp="1"/>
          </p:cNvSpPr>
          <p:nvPr>
            <p:ph type="ftr" sz="quarter" idx="10"/>
          </p:nvPr>
        </p:nvSpPr>
        <p:spPr/>
        <p:txBody>
          <a:bodyPr/>
          <a:lstStyle/>
          <a:p>
            <a:pPr>
              <a:defRPr/>
            </a:pPr>
            <a:r>
              <a:rPr lang="en-US" altLang="zh-CN"/>
              <a:t>BUPT SCST</a:t>
            </a:r>
            <a:endParaRPr lang="en-US" altLang="zh-CN"/>
          </a:p>
        </p:txBody>
      </p:sp>
      <p:sp>
        <p:nvSpPr>
          <p:cNvPr id="66" name="日期占位符 5"/>
          <p:cNvSpPr>
            <a:spLocks noGrp="1"/>
          </p:cNvSpPr>
          <p:nvPr>
            <p:ph type="dt" sz="quarter" idx="12"/>
          </p:nvPr>
        </p:nvSpPr>
        <p:spPr/>
        <p:txBody>
          <a:bodyPr/>
          <a:lstStyle/>
          <a:p>
            <a:pPr>
              <a:defRPr/>
            </a:pPr>
            <a:r>
              <a:rPr lang="en-US" altLang="zh-CN"/>
              <a:t>BUPT</a:t>
            </a:r>
            <a:endParaRPr lang="en-US" altLang="zh-CN"/>
          </a:p>
        </p:txBody>
      </p:sp>
      <p:sp>
        <p:nvSpPr>
          <p:cNvPr id="7066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0661"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800000"/>
                </a:solidFill>
                <a:ea typeface="华文楷体" panose="02010600040101010101" pitchFamily="2" charset="-122"/>
              </a:rPr>
              <a:t>[3. </a:t>
            </a:r>
            <a:r>
              <a:rPr lang="zh-CN" altLang="en-US" sz="2400" b="1" dirty="0" smtClean="0">
                <a:solidFill>
                  <a:srgbClr val="800000"/>
                </a:solidFill>
                <a:ea typeface="华文楷体" panose="02010600040101010101" pitchFamily="2" charset="-122"/>
              </a:rPr>
              <a:t>链地址法</a:t>
            </a:r>
            <a:r>
              <a:rPr lang="en-US" altLang="zh-CN" sz="2400" b="1" dirty="0" smtClean="0">
                <a:solidFill>
                  <a:srgbClr val="800000"/>
                </a:solidFill>
                <a:ea typeface="华文楷体" panose="02010600040101010101" pitchFamily="2" charset="-122"/>
              </a:rPr>
              <a:t>]</a:t>
            </a:r>
            <a:endParaRPr lang="en-US" altLang="zh-CN" sz="2400" dirty="0" smtClean="0">
              <a:solidFill>
                <a:srgbClr val="800000"/>
              </a:solidFill>
              <a:ea typeface="华文楷体" panose="02010600040101010101" pitchFamily="2" charset="-122"/>
            </a:endParaRPr>
          </a:p>
          <a:p>
            <a:pPr eaLnBrk="1" hangingPunct="1">
              <a:buFont typeface="Wingdings" panose="05000000000000000000" pitchFamily="2" charset="2"/>
              <a:buNone/>
            </a:pPr>
            <a:r>
              <a:rPr lang="zh-CN" altLang="en-US" sz="2400" dirty="0" smtClean="0">
                <a:ea typeface="华文楷体" panose="02010600040101010101" pitchFamily="2" charset="-122"/>
              </a:rPr>
              <a:t>为每个哈希地址建立一个单链表，存储所有具有同义词的记录。</a:t>
            </a:r>
            <a:endParaRPr lang="zh-CN" altLang="en-US" sz="2400" dirty="0" smtClean="0">
              <a:ea typeface="华文楷体" panose="02010600040101010101" pitchFamily="2" charset="-122"/>
            </a:endParaRPr>
          </a:p>
        </p:txBody>
      </p:sp>
      <p:sp>
        <p:nvSpPr>
          <p:cNvPr id="70662" name="Text Box 4"/>
          <p:cNvSpPr txBox="1">
            <a:spLocks noChangeArrowheads="1"/>
          </p:cNvSpPr>
          <p:nvPr/>
        </p:nvSpPr>
        <p:spPr bwMode="auto">
          <a:xfrm>
            <a:off x="566738" y="4891088"/>
            <a:ext cx="57626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10</a:t>
            </a:r>
            <a:endParaRPr kumimoji="1" lang="en-US" altLang="zh-CN" sz="1400" b="1" dirty="0">
              <a:latin typeface="Times New Roman" panose="02020603050405020304" pitchFamily="18" charset="0"/>
              <a:ea typeface="华文楷体" panose="02010600040101010101" pitchFamily="2" charset="-122"/>
            </a:endParaRPr>
          </a:p>
        </p:txBody>
      </p:sp>
      <p:grpSp>
        <p:nvGrpSpPr>
          <p:cNvPr id="70663" name="Group 5"/>
          <p:cNvGrpSpPr/>
          <p:nvPr/>
        </p:nvGrpSpPr>
        <p:grpSpPr bwMode="auto">
          <a:xfrm>
            <a:off x="685800" y="2590800"/>
            <a:ext cx="6781800" cy="2528888"/>
            <a:chOff x="336" y="1383"/>
            <a:chExt cx="4272" cy="1593"/>
          </a:xfrm>
        </p:grpSpPr>
        <p:sp>
          <p:nvSpPr>
            <p:cNvPr id="70665" name="Rectangle 6"/>
            <p:cNvSpPr>
              <a:spLocks noChangeArrowheads="1"/>
            </p:cNvSpPr>
            <p:nvPr/>
          </p:nvSpPr>
          <p:spPr bwMode="auto">
            <a:xfrm>
              <a:off x="490" y="1430"/>
              <a:ext cx="288" cy="1542"/>
            </a:xfrm>
            <a:prstGeom prst="rect">
              <a:avLst/>
            </a:prstGeom>
            <a:solidFill>
              <a:srgbClr val="FFFFFF"/>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0666" name="Line 7"/>
            <p:cNvSpPr>
              <a:spLocks noChangeShapeType="1"/>
            </p:cNvSpPr>
            <p:nvPr/>
          </p:nvSpPr>
          <p:spPr bwMode="auto">
            <a:xfrm>
              <a:off x="490" y="1570"/>
              <a:ext cx="288"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0667" name="Line 8"/>
            <p:cNvSpPr>
              <a:spLocks noChangeShapeType="1"/>
            </p:cNvSpPr>
            <p:nvPr/>
          </p:nvSpPr>
          <p:spPr bwMode="auto">
            <a:xfrm>
              <a:off x="490" y="1710"/>
              <a:ext cx="288"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0668" name="Line 9"/>
            <p:cNvSpPr>
              <a:spLocks noChangeShapeType="1"/>
            </p:cNvSpPr>
            <p:nvPr/>
          </p:nvSpPr>
          <p:spPr bwMode="auto">
            <a:xfrm>
              <a:off x="490" y="1851"/>
              <a:ext cx="288"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0669" name="Line 10"/>
            <p:cNvSpPr>
              <a:spLocks noChangeShapeType="1"/>
            </p:cNvSpPr>
            <p:nvPr/>
          </p:nvSpPr>
          <p:spPr bwMode="auto">
            <a:xfrm>
              <a:off x="490" y="1991"/>
              <a:ext cx="288"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0670" name="Line 11"/>
            <p:cNvSpPr>
              <a:spLocks noChangeShapeType="1"/>
            </p:cNvSpPr>
            <p:nvPr/>
          </p:nvSpPr>
          <p:spPr bwMode="auto">
            <a:xfrm>
              <a:off x="490" y="2131"/>
              <a:ext cx="288"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0671" name="Line 12"/>
            <p:cNvSpPr>
              <a:spLocks noChangeShapeType="1"/>
            </p:cNvSpPr>
            <p:nvPr/>
          </p:nvSpPr>
          <p:spPr bwMode="auto">
            <a:xfrm>
              <a:off x="490" y="2271"/>
              <a:ext cx="288"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0672" name="Line 13"/>
            <p:cNvSpPr>
              <a:spLocks noChangeShapeType="1"/>
            </p:cNvSpPr>
            <p:nvPr/>
          </p:nvSpPr>
          <p:spPr bwMode="auto">
            <a:xfrm>
              <a:off x="490" y="2411"/>
              <a:ext cx="288"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0673" name="Line 14"/>
            <p:cNvSpPr>
              <a:spLocks noChangeShapeType="1"/>
            </p:cNvSpPr>
            <p:nvPr/>
          </p:nvSpPr>
          <p:spPr bwMode="auto">
            <a:xfrm>
              <a:off x="490" y="2551"/>
              <a:ext cx="288"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0674" name="Line 15"/>
            <p:cNvSpPr>
              <a:spLocks noChangeShapeType="1"/>
            </p:cNvSpPr>
            <p:nvPr/>
          </p:nvSpPr>
          <p:spPr bwMode="auto">
            <a:xfrm>
              <a:off x="490" y="2692"/>
              <a:ext cx="288"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0675" name="Line 16"/>
            <p:cNvSpPr>
              <a:spLocks noChangeShapeType="1"/>
            </p:cNvSpPr>
            <p:nvPr/>
          </p:nvSpPr>
          <p:spPr bwMode="auto">
            <a:xfrm>
              <a:off x="490" y="2832"/>
              <a:ext cx="288"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0676" name="Text Box 17"/>
            <p:cNvSpPr txBox="1">
              <a:spLocks noChangeArrowheads="1"/>
            </p:cNvSpPr>
            <p:nvPr/>
          </p:nvSpPr>
          <p:spPr bwMode="auto">
            <a:xfrm>
              <a:off x="336" y="1383"/>
              <a:ext cx="11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0</a:t>
              </a:r>
              <a:endParaRPr kumimoji="1" lang="en-US" altLang="zh-CN" sz="1400" b="1" dirty="0">
                <a:latin typeface="Times New Roman" panose="02020603050405020304" pitchFamily="18" charset="0"/>
                <a:ea typeface="华文楷体" panose="02010600040101010101" pitchFamily="2" charset="-122"/>
              </a:endParaRPr>
            </a:p>
          </p:txBody>
        </p:sp>
        <p:sp>
          <p:nvSpPr>
            <p:cNvPr id="70677" name="Text Box 18"/>
            <p:cNvSpPr txBox="1">
              <a:spLocks noChangeArrowheads="1"/>
            </p:cNvSpPr>
            <p:nvPr/>
          </p:nvSpPr>
          <p:spPr bwMode="auto">
            <a:xfrm>
              <a:off x="336" y="1570"/>
              <a:ext cx="11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1</a:t>
              </a:r>
              <a:endParaRPr kumimoji="1" lang="en-US" altLang="zh-CN" sz="1400" b="1" dirty="0">
                <a:latin typeface="Times New Roman" panose="02020603050405020304" pitchFamily="18" charset="0"/>
                <a:ea typeface="华文楷体" panose="02010600040101010101" pitchFamily="2" charset="-122"/>
              </a:endParaRPr>
            </a:p>
          </p:txBody>
        </p:sp>
        <p:sp>
          <p:nvSpPr>
            <p:cNvPr id="70678" name="Text Box 19"/>
            <p:cNvSpPr txBox="1">
              <a:spLocks noChangeArrowheads="1"/>
            </p:cNvSpPr>
            <p:nvPr/>
          </p:nvSpPr>
          <p:spPr bwMode="auto">
            <a:xfrm>
              <a:off x="336" y="1710"/>
              <a:ext cx="11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2</a:t>
              </a:r>
              <a:endParaRPr kumimoji="1" lang="en-US" altLang="zh-CN" sz="1400" b="1" dirty="0">
                <a:latin typeface="Times New Roman" panose="02020603050405020304" pitchFamily="18" charset="0"/>
                <a:ea typeface="华文楷体" panose="02010600040101010101" pitchFamily="2" charset="-122"/>
              </a:endParaRPr>
            </a:p>
          </p:txBody>
        </p:sp>
        <p:sp>
          <p:nvSpPr>
            <p:cNvPr id="70679" name="Text Box 20"/>
            <p:cNvSpPr txBox="1">
              <a:spLocks noChangeArrowheads="1"/>
            </p:cNvSpPr>
            <p:nvPr/>
          </p:nvSpPr>
          <p:spPr bwMode="auto">
            <a:xfrm>
              <a:off x="336" y="1851"/>
              <a:ext cx="11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3</a:t>
              </a:r>
              <a:endParaRPr kumimoji="1" lang="en-US" altLang="zh-CN" sz="1400" b="1" dirty="0">
                <a:latin typeface="Times New Roman" panose="02020603050405020304" pitchFamily="18" charset="0"/>
                <a:ea typeface="华文楷体" panose="02010600040101010101" pitchFamily="2" charset="-122"/>
              </a:endParaRPr>
            </a:p>
          </p:txBody>
        </p:sp>
        <p:sp>
          <p:nvSpPr>
            <p:cNvPr id="70680" name="Text Box 21"/>
            <p:cNvSpPr txBox="1">
              <a:spLocks noChangeArrowheads="1"/>
            </p:cNvSpPr>
            <p:nvPr/>
          </p:nvSpPr>
          <p:spPr bwMode="auto">
            <a:xfrm>
              <a:off x="336" y="1991"/>
              <a:ext cx="11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4</a:t>
              </a:r>
              <a:endParaRPr kumimoji="1" lang="en-US" altLang="zh-CN" sz="1400" b="1" dirty="0">
                <a:latin typeface="Times New Roman" panose="02020603050405020304" pitchFamily="18" charset="0"/>
                <a:ea typeface="华文楷体" panose="02010600040101010101" pitchFamily="2" charset="-122"/>
              </a:endParaRPr>
            </a:p>
          </p:txBody>
        </p:sp>
        <p:sp>
          <p:nvSpPr>
            <p:cNvPr id="70681" name="Text Box 22"/>
            <p:cNvSpPr txBox="1">
              <a:spLocks noChangeArrowheads="1"/>
            </p:cNvSpPr>
            <p:nvPr/>
          </p:nvSpPr>
          <p:spPr bwMode="auto">
            <a:xfrm>
              <a:off x="336" y="2131"/>
              <a:ext cx="11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5</a:t>
              </a:r>
              <a:endParaRPr kumimoji="1" lang="en-US" altLang="zh-CN" sz="1400" b="1" dirty="0">
                <a:latin typeface="Times New Roman" panose="02020603050405020304" pitchFamily="18" charset="0"/>
                <a:ea typeface="华文楷体" panose="02010600040101010101" pitchFamily="2" charset="-122"/>
              </a:endParaRPr>
            </a:p>
          </p:txBody>
        </p:sp>
        <p:sp>
          <p:nvSpPr>
            <p:cNvPr id="70682" name="Text Box 23"/>
            <p:cNvSpPr txBox="1">
              <a:spLocks noChangeArrowheads="1"/>
            </p:cNvSpPr>
            <p:nvPr/>
          </p:nvSpPr>
          <p:spPr bwMode="auto">
            <a:xfrm>
              <a:off x="336" y="2271"/>
              <a:ext cx="11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6</a:t>
              </a:r>
              <a:endParaRPr kumimoji="1" lang="en-US" altLang="zh-CN" sz="1400" b="1" dirty="0">
                <a:latin typeface="Times New Roman" panose="02020603050405020304" pitchFamily="18" charset="0"/>
                <a:ea typeface="华文楷体" panose="02010600040101010101" pitchFamily="2" charset="-122"/>
              </a:endParaRPr>
            </a:p>
          </p:txBody>
        </p:sp>
        <p:sp>
          <p:nvSpPr>
            <p:cNvPr id="70683" name="Text Box 24"/>
            <p:cNvSpPr txBox="1">
              <a:spLocks noChangeArrowheads="1"/>
            </p:cNvSpPr>
            <p:nvPr/>
          </p:nvSpPr>
          <p:spPr bwMode="auto">
            <a:xfrm>
              <a:off x="336" y="2411"/>
              <a:ext cx="11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7</a:t>
              </a:r>
              <a:endParaRPr kumimoji="1" lang="en-US" altLang="zh-CN" sz="1400" b="1" dirty="0">
                <a:latin typeface="Times New Roman" panose="02020603050405020304" pitchFamily="18" charset="0"/>
                <a:ea typeface="华文楷体" panose="02010600040101010101" pitchFamily="2" charset="-122"/>
              </a:endParaRPr>
            </a:p>
          </p:txBody>
        </p:sp>
        <p:sp>
          <p:nvSpPr>
            <p:cNvPr id="70684" name="Text Box 25"/>
            <p:cNvSpPr txBox="1">
              <a:spLocks noChangeArrowheads="1"/>
            </p:cNvSpPr>
            <p:nvPr/>
          </p:nvSpPr>
          <p:spPr bwMode="auto">
            <a:xfrm>
              <a:off x="336" y="2552"/>
              <a:ext cx="11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8</a:t>
              </a:r>
              <a:endParaRPr kumimoji="1" lang="en-US" altLang="zh-CN" sz="1400" b="1" dirty="0">
                <a:latin typeface="Times New Roman" panose="02020603050405020304" pitchFamily="18" charset="0"/>
                <a:ea typeface="华文楷体" panose="02010600040101010101" pitchFamily="2" charset="-122"/>
              </a:endParaRPr>
            </a:p>
          </p:txBody>
        </p:sp>
        <p:sp>
          <p:nvSpPr>
            <p:cNvPr id="70685" name="Text Box 26"/>
            <p:cNvSpPr txBox="1">
              <a:spLocks noChangeArrowheads="1"/>
            </p:cNvSpPr>
            <p:nvPr/>
          </p:nvSpPr>
          <p:spPr bwMode="auto">
            <a:xfrm>
              <a:off x="336" y="2692"/>
              <a:ext cx="11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9</a:t>
              </a:r>
              <a:endParaRPr kumimoji="1" lang="en-US" altLang="zh-CN" sz="1400" b="1" dirty="0">
                <a:latin typeface="Times New Roman" panose="02020603050405020304" pitchFamily="18" charset="0"/>
                <a:ea typeface="华文楷体" panose="02010600040101010101" pitchFamily="2" charset="-122"/>
              </a:endParaRPr>
            </a:p>
          </p:txBody>
        </p:sp>
        <p:sp>
          <p:nvSpPr>
            <p:cNvPr id="70686" name="Text Box 27"/>
            <p:cNvSpPr txBox="1">
              <a:spLocks noChangeArrowheads="1"/>
            </p:cNvSpPr>
            <p:nvPr/>
          </p:nvSpPr>
          <p:spPr bwMode="auto">
            <a:xfrm>
              <a:off x="528" y="1392"/>
              <a:ext cx="192"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0687" name="Text Box 28"/>
            <p:cNvSpPr txBox="1">
              <a:spLocks noChangeArrowheads="1"/>
            </p:cNvSpPr>
            <p:nvPr/>
          </p:nvSpPr>
          <p:spPr bwMode="auto">
            <a:xfrm>
              <a:off x="528" y="1699"/>
              <a:ext cx="192"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0688" name="Text Box 29"/>
            <p:cNvSpPr txBox="1">
              <a:spLocks noChangeArrowheads="1"/>
            </p:cNvSpPr>
            <p:nvPr/>
          </p:nvSpPr>
          <p:spPr bwMode="auto">
            <a:xfrm>
              <a:off x="528" y="1824"/>
              <a:ext cx="192"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0689" name="Text Box 30"/>
            <p:cNvSpPr txBox="1">
              <a:spLocks noChangeArrowheads="1"/>
            </p:cNvSpPr>
            <p:nvPr/>
          </p:nvSpPr>
          <p:spPr bwMode="auto">
            <a:xfrm>
              <a:off x="528" y="1987"/>
              <a:ext cx="192"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0690" name="Text Box 31"/>
            <p:cNvSpPr txBox="1">
              <a:spLocks noChangeArrowheads="1"/>
            </p:cNvSpPr>
            <p:nvPr/>
          </p:nvSpPr>
          <p:spPr bwMode="auto">
            <a:xfrm>
              <a:off x="528" y="2256"/>
              <a:ext cx="192"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0691" name="Text Box 32"/>
            <p:cNvSpPr txBox="1">
              <a:spLocks noChangeArrowheads="1"/>
            </p:cNvSpPr>
            <p:nvPr/>
          </p:nvSpPr>
          <p:spPr bwMode="auto">
            <a:xfrm>
              <a:off x="528" y="2400"/>
              <a:ext cx="192"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0692" name="Text Box 33"/>
            <p:cNvSpPr txBox="1">
              <a:spLocks noChangeArrowheads="1"/>
            </p:cNvSpPr>
            <p:nvPr/>
          </p:nvSpPr>
          <p:spPr bwMode="auto">
            <a:xfrm>
              <a:off x="528" y="2515"/>
              <a:ext cx="192"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0693" name="Text Box 34"/>
            <p:cNvSpPr txBox="1">
              <a:spLocks noChangeArrowheads="1"/>
            </p:cNvSpPr>
            <p:nvPr/>
          </p:nvSpPr>
          <p:spPr bwMode="auto">
            <a:xfrm>
              <a:off x="528" y="2659"/>
              <a:ext cx="192"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0694" name="Text Box 35"/>
            <p:cNvSpPr txBox="1">
              <a:spLocks noChangeArrowheads="1"/>
            </p:cNvSpPr>
            <p:nvPr/>
          </p:nvSpPr>
          <p:spPr bwMode="auto">
            <a:xfrm>
              <a:off x="528" y="2803"/>
              <a:ext cx="192"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0695" name="Rectangle 36"/>
            <p:cNvSpPr>
              <a:spLocks noChangeArrowheads="1"/>
            </p:cNvSpPr>
            <p:nvPr/>
          </p:nvSpPr>
          <p:spPr bwMode="auto">
            <a:xfrm>
              <a:off x="912" y="1536"/>
              <a:ext cx="528" cy="192"/>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0696" name="Line 37"/>
            <p:cNvSpPr>
              <a:spLocks noChangeShapeType="1"/>
            </p:cNvSpPr>
            <p:nvPr/>
          </p:nvSpPr>
          <p:spPr bwMode="auto">
            <a:xfrm>
              <a:off x="1200" y="1536"/>
              <a:ext cx="0" cy="19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0697" name="Text Box 38"/>
            <p:cNvSpPr txBox="1">
              <a:spLocks noChangeArrowheads="1"/>
            </p:cNvSpPr>
            <p:nvPr/>
          </p:nvSpPr>
          <p:spPr bwMode="auto">
            <a:xfrm>
              <a:off x="912" y="1536"/>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K</a:t>
              </a:r>
              <a:r>
                <a:rPr kumimoji="1" lang="en-US" altLang="zh-CN" sz="1400" b="1" baseline="-25000" dirty="0">
                  <a:latin typeface="Times New Roman" panose="02020603050405020304" pitchFamily="18" charset="0"/>
                  <a:ea typeface="华文楷体" panose="02010600040101010101" pitchFamily="2" charset="-122"/>
                </a:rPr>
                <a:t>1</a:t>
              </a:r>
              <a:endParaRPr kumimoji="1" lang="en-US" altLang="zh-CN" sz="1400" b="1" dirty="0">
                <a:latin typeface="Times New Roman" panose="02020603050405020304" pitchFamily="18" charset="0"/>
                <a:ea typeface="华文楷体" panose="02010600040101010101" pitchFamily="2" charset="-122"/>
              </a:endParaRPr>
            </a:p>
          </p:txBody>
        </p:sp>
        <p:sp>
          <p:nvSpPr>
            <p:cNvPr id="70698" name="Rectangle 39"/>
            <p:cNvSpPr>
              <a:spLocks noChangeArrowheads="1"/>
            </p:cNvSpPr>
            <p:nvPr/>
          </p:nvSpPr>
          <p:spPr bwMode="auto">
            <a:xfrm>
              <a:off x="1680" y="1536"/>
              <a:ext cx="528" cy="192"/>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0699" name="Line 40"/>
            <p:cNvSpPr>
              <a:spLocks noChangeShapeType="1"/>
            </p:cNvSpPr>
            <p:nvPr/>
          </p:nvSpPr>
          <p:spPr bwMode="auto">
            <a:xfrm>
              <a:off x="1968" y="1536"/>
              <a:ext cx="0" cy="19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0700" name="Text Box 41"/>
            <p:cNvSpPr txBox="1">
              <a:spLocks noChangeArrowheads="1"/>
            </p:cNvSpPr>
            <p:nvPr/>
          </p:nvSpPr>
          <p:spPr bwMode="auto">
            <a:xfrm>
              <a:off x="1680" y="1536"/>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K</a:t>
              </a:r>
              <a:r>
                <a:rPr kumimoji="1" lang="en-US" altLang="zh-CN" sz="1400" b="1" baseline="-25000" dirty="0">
                  <a:latin typeface="Times New Roman" panose="02020603050405020304" pitchFamily="18" charset="0"/>
                  <a:ea typeface="华文楷体" panose="02010600040101010101" pitchFamily="2" charset="-122"/>
                </a:rPr>
                <a:t>2</a:t>
              </a:r>
              <a:endParaRPr kumimoji="1" lang="en-US" altLang="zh-CN" sz="1400" b="1" dirty="0">
                <a:latin typeface="Times New Roman" panose="02020603050405020304" pitchFamily="18" charset="0"/>
                <a:ea typeface="华文楷体" panose="02010600040101010101" pitchFamily="2" charset="-122"/>
              </a:endParaRPr>
            </a:p>
          </p:txBody>
        </p:sp>
        <p:sp>
          <p:nvSpPr>
            <p:cNvPr id="70701" name="Rectangle 42"/>
            <p:cNvSpPr>
              <a:spLocks noChangeArrowheads="1"/>
            </p:cNvSpPr>
            <p:nvPr/>
          </p:nvSpPr>
          <p:spPr bwMode="auto">
            <a:xfrm>
              <a:off x="2400" y="1536"/>
              <a:ext cx="528" cy="192"/>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0702" name="Line 43"/>
            <p:cNvSpPr>
              <a:spLocks noChangeShapeType="1"/>
            </p:cNvSpPr>
            <p:nvPr/>
          </p:nvSpPr>
          <p:spPr bwMode="auto">
            <a:xfrm>
              <a:off x="2688" y="1536"/>
              <a:ext cx="0" cy="19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0703" name="Text Box 44"/>
            <p:cNvSpPr txBox="1">
              <a:spLocks noChangeArrowheads="1"/>
            </p:cNvSpPr>
            <p:nvPr/>
          </p:nvSpPr>
          <p:spPr bwMode="auto">
            <a:xfrm>
              <a:off x="2400" y="1536"/>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K</a:t>
              </a:r>
              <a:r>
                <a:rPr kumimoji="1" lang="en-US" altLang="zh-CN" sz="1400" b="1" baseline="-25000" dirty="0">
                  <a:latin typeface="Times New Roman" panose="02020603050405020304" pitchFamily="18" charset="0"/>
                  <a:ea typeface="华文楷体" panose="02010600040101010101" pitchFamily="2" charset="-122"/>
                </a:rPr>
                <a:t>3</a:t>
              </a:r>
              <a:endParaRPr kumimoji="1" lang="en-US" altLang="zh-CN" sz="1400" b="1" dirty="0">
                <a:latin typeface="Times New Roman" panose="02020603050405020304" pitchFamily="18" charset="0"/>
                <a:ea typeface="华文楷体" panose="02010600040101010101" pitchFamily="2" charset="-122"/>
              </a:endParaRPr>
            </a:p>
          </p:txBody>
        </p:sp>
        <p:sp>
          <p:nvSpPr>
            <p:cNvPr id="70704" name="Text Box 45"/>
            <p:cNvSpPr txBox="1">
              <a:spLocks noChangeArrowheads="1"/>
            </p:cNvSpPr>
            <p:nvPr/>
          </p:nvSpPr>
          <p:spPr bwMode="auto">
            <a:xfrm>
              <a:off x="2688" y="1536"/>
              <a:ext cx="192"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0705" name="Line 46"/>
            <p:cNvSpPr>
              <a:spLocks noChangeShapeType="1"/>
            </p:cNvSpPr>
            <p:nvPr/>
          </p:nvSpPr>
          <p:spPr bwMode="auto">
            <a:xfrm>
              <a:off x="624" y="1632"/>
              <a:ext cx="288" cy="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0706" name="Line 47"/>
            <p:cNvSpPr>
              <a:spLocks noChangeShapeType="1"/>
            </p:cNvSpPr>
            <p:nvPr/>
          </p:nvSpPr>
          <p:spPr bwMode="auto">
            <a:xfrm>
              <a:off x="1296" y="1632"/>
              <a:ext cx="384" cy="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0707" name="Line 48"/>
            <p:cNvSpPr>
              <a:spLocks noChangeShapeType="1"/>
            </p:cNvSpPr>
            <p:nvPr/>
          </p:nvSpPr>
          <p:spPr bwMode="auto">
            <a:xfrm>
              <a:off x="2112" y="1632"/>
              <a:ext cx="288" cy="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0708" name="Rectangle 49"/>
            <p:cNvSpPr>
              <a:spLocks noChangeArrowheads="1"/>
            </p:cNvSpPr>
            <p:nvPr/>
          </p:nvSpPr>
          <p:spPr bwMode="auto">
            <a:xfrm>
              <a:off x="960" y="2112"/>
              <a:ext cx="528" cy="192"/>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0709" name="Line 50"/>
            <p:cNvSpPr>
              <a:spLocks noChangeShapeType="1"/>
            </p:cNvSpPr>
            <p:nvPr/>
          </p:nvSpPr>
          <p:spPr bwMode="auto">
            <a:xfrm>
              <a:off x="1248" y="2112"/>
              <a:ext cx="0" cy="19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0710" name="Text Box 51"/>
            <p:cNvSpPr txBox="1">
              <a:spLocks noChangeArrowheads="1"/>
            </p:cNvSpPr>
            <p:nvPr/>
          </p:nvSpPr>
          <p:spPr bwMode="auto">
            <a:xfrm>
              <a:off x="960" y="2112"/>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K</a:t>
              </a:r>
              <a:r>
                <a:rPr kumimoji="1" lang="en-US" altLang="zh-CN" sz="1400" b="1" baseline="-25000" dirty="0">
                  <a:latin typeface="Times New Roman" panose="02020603050405020304" pitchFamily="18" charset="0"/>
                  <a:ea typeface="华文楷体" panose="02010600040101010101" pitchFamily="2" charset="-122"/>
                </a:rPr>
                <a:t>4</a:t>
              </a:r>
              <a:endParaRPr kumimoji="1" lang="en-US" altLang="zh-CN" sz="1400" b="1" dirty="0">
                <a:latin typeface="Times New Roman" panose="02020603050405020304" pitchFamily="18" charset="0"/>
                <a:ea typeface="华文楷体" panose="02010600040101010101" pitchFamily="2" charset="-122"/>
              </a:endParaRPr>
            </a:p>
          </p:txBody>
        </p:sp>
        <p:sp>
          <p:nvSpPr>
            <p:cNvPr id="70711" name="Rectangle 52"/>
            <p:cNvSpPr>
              <a:spLocks noChangeArrowheads="1"/>
            </p:cNvSpPr>
            <p:nvPr/>
          </p:nvSpPr>
          <p:spPr bwMode="auto">
            <a:xfrm>
              <a:off x="1728" y="2112"/>
              <a:ext cx="528" cy="192"/>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0712" name="Line 53"/>
            <p:cNvSpPr>
              <a:spLocks noChangeShapeType="1"/>
            </p:cNvSpPr>
            <p:nvPr/>
          </p:nvSpPr>
          <p:spPr bwMode="auto">
            <a:xfrm>
              <a:off x="2016" y="2112"/>
              <a:ext cx="0" cy="19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0713" name="Text Box 54"/>
            <p:cNvSpPr txBox="1">
              <a:spLocks noChangeArrowheads="1"/>
            </p:cNvSpPr>
            <p:nvPr/>
          </p:nvSpPr>
          <p:spPr bwMode="auto">
            <a:xfrm>
              <a:off x="1728" y="2112"/>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K</a:t>
              </a:r>
              <a:r>
                <a:rPr kumimoji="1" lang="en-US" altLang="zh-CN" sz="1400" b="1" baseline="-25000" dirty="0">
                  <a:latin typeface="Times New Roman" panose="02020603050405020304" pitchFamily="18" charset="0"/>
                  <a:ea typeface="华文楷体" panose="02010600040101010101" pitchFamily="2" charset="-122"/>
                </a:rPr>
                <a:t>5</a:t>
              </a:r>
              <a:endParaRPr kumimoji="1" lang="en-US" altLang="zh-CN" sz="1400" b="1" dirty="0">
                <a:latin typeface="Times New Roman" panose="02020603050405020304" pitchFamily="18" charset="0"/>
                <a:ea typeface="华文楷体" panose="02010600040101010101" pitchFamily="2" charset="-122"/>
              </a:endParaRPr>
            </a:p>
          </p:txBody>
        </p:sp>
        <p:sp>
          <p:nvSpPr>
            <p:cNvPr id="70714" name="Rectangle 55"/>
            <p:cNvSpPr>
              <a:spLocks noChangeArrowheads="1"/>
            </p:cNvSpPr>
            <p:nvPr/>
          </p:nvSpPr>
          <p:spPr bwMode="auto">
            <a:xfrm>
              <a:off x="2448" y="2112"/>
              <a:ext cx="528" cy="192"/>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0715" name="Line 56"/>
            <p:cNvSpPr>
              <a:spLocks noChangeShapeType="1"/>
            </p:cNvSpPr>
            <p:nvPr/>
          </p:nvSpPr>
          <p:spPr bwMode="auto">
            <a:xfrm>
              <a:off x="2736" y="2112"/>
              <a:ext cx="0" cy="19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0716" name="Text Box 57"/>
            <p:cNvSpPr txBox="1">
              <a:spLocks noChangeArrowheads="1"/>
            </p:cNvSpPr>
            <p:nvPr/>
          </p:nvSpPr>
          <p:spPr bwMode="auto">
            <a:xfrm>
              <a:off x="2448" y="2112"/>
              <a:ext cx="2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K</a:t>
              </a:r>
              <a:r>
                <a:rPr kumimoji="1" lang="en-US" altLang="zh-CN" sz="1400" b="1" baseline="-25000" dirty="0">
                  <a:latin typeface="Times New Roman" panose="02020603050405020304" pitchFamily="18" charset="0"/>
                  <a:ea typeface="华文楷体" panose="02010600040101010101" pitchFamily="2" charset="-122"/>
                </a:rPr>
                <a:t>6</a:t>
              </a:r>
              <a:endParaRPr kumimoji="1" lang="en-US" altLang="zh-CN" sz="1400" b="1" dirty="0">
                <a:latin typeface="Times New Roman" panose="02020603050405020304" pitchFamily="18" charset="0"/>
                <a:ea typeface="华文楷体" panose="02010600040101010101" pitchFamily="2" charset="-122"/>
              </a:endParaRPr>
            </a:p>
          </p:txBody>
        </p:sp>
        <p:sp>
          <p:nvSpPr>
            <p:cNvPr id="70717" name="Text Box 58"/>
            <p:cNvSpPr txBox="1">
              <a:spLocks noChangeArrowheads="1"/>
            </p:cNvSpPr>
            <p:nvPr/>
          </p:nvSpPr>
          <p:spPr bwMode="auto">
            <a:xfrm>
              <a:off x="2736" y="2112"/>
              <a:ext cx="192"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0718" name="Line 59"/>
            <p:cNvSpPr>
              <a:spLocks noChangeShapeType="1"/>
            </p:cNvSpPr>
            <p:nvPr/>
          </p:nvSpPr>
          <p:spPr bwMode="auto">
            <a:xfrm>
              <a:off x="672" y="2208"/>
              <a:ext cx="288" cy="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0719" name="Line 60"/>
            <p:cNvSpPr>
              <a:spLocks noChangeShapeType="1"/>
            </p:cNvSpPr>
            <p:nvPr/>
          </p:nvSpPr>
          <p:spPr bwMode="auto">
            <a:xfrm>
              <a:off x="1344" y="2208"/>
              <a:ext cx="384" cy="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0720" name="Line 61"/>
            <p:cNvSpPr>
              <a:spLocks noChangeShapeType="1"/>
            </p:cNvSpPr>
            <p:nvPr/>
          </p:nvSpPr>
          <p:spPr bwMode="auto">
            <a:xfrm>
              <a:off x="2160" y="2208"/>
              <a:ext cx="288" cy="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0721" name="Text Box 62"/>
            <p:cNvSpPr txBox="1">
              <a:spLocks noChangeArrowheads="1"/>
            </p:cNvSpPr>
            <p:nvPr/>
          </p:nvSpPr>
          <p:spPr bwMode="auto">
            <a:xfrm>
              <a:off x="3120" y="1536"/>
              <a:ext cx="14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同义链，同一散列地址。</a:t>
              </a:r>
              <a:endParaRPr kumimoji="1" lang="zh-CN" altLang="en-US" sz="1400" b="1" dirty="0">
                <a:latin typeface="Times New Roman" panose="02020603050405020304" pitchFamily="18" charset="0"/>
                <a:ea typeface="华文楷体" panose="02010600040101010101" pitchFamily="2" charset="-122"/>
              </a:endParaRPr>
            </a:p>
          </p:txBody>
        </p:sp>
        <p:sp>
          <p:nvSpPr>
            <p:cNvPr id="70722" name="Text Box 63"/>
            <p:cNvSpPr txBox="1">
              <a:spLocks noChangeArrowheads="1"/>
            </p:cNvSpPr>
            <p:nvPr/>
          </p:nvSpPr>
          <p:spPr bwMode="auto">
            <a:xfrm>
              <a:off x="3120" y="2112"/>
              <a:ext cx="148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同义链，同一散列地址。</a:t>
              </a:r>
              <a:endParaRPr kumimoji="1" lang="zh-CN" altLang="en-US" sz="1400" b="1" dirty="0">
                <a:latin typeface="Times New Roman" panose="02020603050405020304" pitchFamily="18" charset="0"/>
                <a:ea typeface="华文楷体" panose="02010600040101010101" pitchFamily="2" charset="-122"/>
              </a:endParaRPr>
            </a:p>
          </p:txBody>
        </p:sp>
      </p:grpSp>
      <p:sp>
        <p:nvSpPr>
          <p:cNvPr id="70664" name="Text Box 64"/>
          <p:cNvSpPr txBox="1">
            <a:spLocks noChangeArrowheads="1"/>
          </p:cNvSpPr>
          <p:nvPr/>
        </p:nvSpPr>
        <p:spPr bwMode="auto">
          <a:xfrm>
            <a:off x="1568450" y="4572000"/>
            <a:ext cx="752481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1" eaLnBrk="1" hangingPunct="1">
              <a:spcBef>
                <a:spcPct val="0"/>
              </a:spcBef>
              <a:buClrTx/>
              <a:buFontTx/>
              <a:buChar char="•"/>
            </a:pPr>
            <a:r>
              <a:rPr kumimoji="1" lang="zh-CN" altLang="en-US" sz="2400" dirty="0">
                <a:latin typeface="Times New Roman" panose="02020603050405020304" pitchFamily="18" charset="0"/>
                <a:ea typeface="华文楷体" panose="02010600040101010101" pitchFamily="2" charset="-122"/>
              </a:rPr>
              <a:t>冲突处理简单，无堆积现象，平均查找长度较短；</a:t>
            </a:r>
            <a:endParaRPr kumimoji="1" lang="zh-CN" altLang="en-US" sz="2400" dirty="0">
              <a:latin typeface="Times New Roman" panose="02020603050405020304" pitchFamily="18" charset="0"/>
              <a:ea typeface="华文楷体" panose="02010600040101010101" pitchFamily="2" charset="-122"/>
            </a:endParaRPr>
          </a:p>
          <a:p>
            <a:pPr lvl="1" eaLnBrk="1" hangingPunct="1">
              <a:spcBef>
                <a:spcPct val="0"/>
              </a:spcBef>
              <a:buClrTx/>
              <a:buFontTx/>
              <a:buChar char="•"/>
            </a:pPr>
            <a:r>
              <a:rPr kumimoji="1" lang="zh-CN" altLang="en-US" sz="2400" dirty="0">
                <a:latin typeface="Times New Roman" panose="02020603050405020304" pitchFamily="18" charset="0"/>
                <a:ea typeface="华文楷体" panose="02010600040101010101" pitchFamily="2" charset="-122"/>
              </a:rPr>
              <a:t>较适合于事先无法确定表长的情况；</a:t>
            </a:r>
            <a:endParaRPr kumimoji="1" lang="zh-CN" altLang="en-US" sz="2400" dirty="0">
              <a:latin typeface="Times New Roman" panose="02020603050405020304" pitchFamily="18" charset="0"/>
              <a:ea typeface="华文楷体" panose="02010600040101010101" pitchFamily="2" charset="-122"/>
            </a:endParaRPr>
          </a:p>
          <a:p>
            <a:pPr lvl="1" eaLnBrk="1" hangingPunct="1">
              <a:spcBef>
                <a:spcPct val="0"/>
              </a:spcBef>
              <a:buClrTx/>
              <a:buFontTx/>
              <a:buChar char="•"/>
            </a:pPr>
            <a:r>
              <a:rPr kumimoji="1" lang="zh-CN" altLang="en-US" sz="2400" dirty="0">
                <a:latin typeface="Times New Roman" panose="02020603050405020304" pitchFamily="18" charset="0"/>
                <a:ea typeface="华文楷体" panose="02010600040101010101" pitchFamily="2" charset="-122"/>
              </a:rPr>
              <a:t>可取</a:t>
            </a:r>
            <a:r>
              <a:rPr kumimoji="1" lang="zh-CN" altLang="en-US" sz="2400" dirty="0">
                <a:solidFill>
                  <a:schemeClr val="accent2"/>
                </a:solidFill>
                <a:latin typeface="Times New Roman" panose="02020603050405020304" pitchFamily="18" charset="0"/>
                <a:ea typeface="华文楷体" panose="02010600040101010101" pitchFamily="2" charset="-122"/>
                <a:sym typeface="Symbol" panose="05050102010706020507" pitchFamily="18" charset="2"/>
              </a:rPr>
              <a:t></a:t>
            </a:r>
            <a:r>
              <a:rPr kumimoji="1" lang="en-US" altLang="zh-CN" sz="2400" dirty="0">
                <a:solidFill>
                  <a:schemeClr val="accent2"/>
                </a:solidFill>
                <a:latin typeface="Times New Roman" panose="02020603050405020304" pitchFamily="18" charset="0"/>
                <a:ea typeface="华文楷体" panose="02010600040101010101" pitchFamily="2" charset="-122"/>
                <a:sym typeface="Symbol" panose="05050102010706020507" pitchFamily="18" charset="2"/>
              </a:rPr>
              <a:t>1</a:t>
            </a:r>
            <a:r>
              <a:rPr kumimoji="1" lang="zh-CN" altLang="en-US" sz="2400" dirty="0">
                <a:latin typeface="Times New Roman" panose="02020603050405020304" pitchFamily="18" charset="0"/>
                <a:ea typeface="华文楷体" panose="02010600040101010101" pitchFamily="2" charset="-122"/>
                <a:sym typeface="Symbol" panose="05050102010706020507" pitchFamily="18" charset="2"/>
              </a:rPr>
              <a:t>，当结点信息规模较大时，节省空间</a:t>
            </a:r>
            <a:endParaRPr kumimoji="1" lang="zh-CN" altLang="en-US" sz="2400" dirty="0">
              <a:latin typeface="Times New Roman" panose="02020603050405020304" pitchFamily="18" charset="0"/>
              <a:ea typeface="华文楷体" panose="02010600040101010101" pitchFamily="2" charset="-122"/>
              <a:sym typeface="Symbol" panose="05050102010706020507" pitchFamily="18" charset="2"/>
            </a:endParaRPr>
          </a:p>
          <a:p>
            <a:pPr lvl="1" eaLnBrk="1" hangingPunct="1">
              <a:spcBef>
                <a:spcPct val="0"/>
              </a:spcBef>
              <a:buClrTx/>
              <a:buFontTx/>
              <a:buChar char="•"/>
            </a:pPr>
            <a:r>
              <a:rPr kumimoji="1" lang="zh-CN" altLang="en-US" sz="2400" dirty="0">
                <a:latin typeface="Times New Roman" panose="02020603050405020304" pitchFamily="18" charset="0"/>
                <a:ea typeface="华文楷体" panose="02010600040101010101" pitchFamily="2" charset="-122"/>
                <a:sym typeface="Symbol" panose="05050102010706020507" pitchFamily="18" charset="2"/>
              </a:rPr>
              <a:t>删除结点的操作易于实现</a:t>
            </a:r>
            <a:endParaRPr kumimoji="1" lang="zh-CN" altLang="en-US" sz="2400" dirty="0">
              <a:latin typeface="Times New Roman" panose="02020603050405020304" pitchFamily="18" charset="0"/>
              <a:ea typeface="华文楷体" panose="02010600040101010101" pitchFamily="2" charset="-122"/>
              <a:sym typeface="Symbol" panose="05050102010706020507" pitchFamily="18" charset="2"/>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p:txBody>
          <a:bodyPr/>
          <a:lstStyle/>
          <a:p>
            <a:endParaRPr lang="zh-CN" altLang="en-US" dirty="0" smtClean="0">
              <a:ea typeface="华文楷体" panose="02010600040101010101" pitchFamily="2" charset="-122"/>
            </a:endParaRPr>
          </a:p>
        </p:txBody>
      </p:sp>
      <p:sp>
        <p:nvSpPr>
          <p:cNvPr id="71683" name="内容占位符 2"/>
          <p:cNvSpPr>
            <a:spLocks noGrp="1"/>
          </p:cNvSpPr>
          <p:nvPr>
            <p:ph idx="1"/>
          </p:nvPr>
        </p:nvSpPr>
        <p:spPr>
          <a:xfrm>
            <a:off x="457200" y="1152525"/>
            <a:ext cx="8229600" cy="5629275"/>
          </a:xfrm>
          <a:ln>
            <a:solidFill>
              <a:schemeClr val="accent1"/>
            </a:solidFill>
          </a:ln>
        </p:spPr>
        <p:txBody>
          <a:bodyPr/>
          <a:lstStyle/>
          <a:p>
            <a:pPr marL="0" indent="0">
              <a:buNone/>
            </a:pPr>
            <a:r>
              <a:rPr lang="en-US" altLang="zh-CN" sz="1800" b="1" dirty="0" smtClean="0">
                <a:solidFill>
                  <a:srgbClr val="800000"/>
                </a:solidFill>
                <a:ea typeface="华文楷体" panose="02010600040101010101" pitchFamily="2" charset="-122"/>
              </a:rPr>
              <a:t>【</a:t>
            </a:r>
            <a:r>
              <a:rPr lang="zh-CN" altLang="en-US" sz="1800" b="1" dirty="0" smtClean="0">
                <a:solidFill>
                  <a:srgbClr val="800000"/>
                </a:solidFill>
                <a:ea typeface="华文楷体" panose="02010600040101010101" pitchFamily="2" charset="-122"/>
              </a:rPr>
              <a:t>链地址法数据结构定义</a:t>
            </a:r>
            <a:r>
              <a:rPr lang="en-US" altLang="zh-CN" sz="1800" b="1" dirty="0" smtClean="0">
                <a:solidFill>
                  <a:srgbClr val="800000"/>
                </a:solidFill>
                <a:ea typeface="华文楷体" panose="02010600040101010101" pitchFamily="2" charset="-122"/>
              </a:rPr>
              <a:t>】</a:t>
            </a:r>
            <a:endParaRPr lang="en-US" altLang="zh-CN" sz="1800" b="1" dirty="0" smtClean="0">
              <a:solidFill>
                <a:srgbClr val="800000"/>
              </a:solidFill>
              <a:ea typeface="华文楷体" panose="02010600040101010101" pitchFamily="2" charset="-122"/>
            </a:endParaRPr>
          </a:p>
          <a:p>
            <a:pPr>
              <a:buFont typeface="Wingdings" panose="05000000000000000000" pitchFamily="2" charset="2"/>
              <a:buNone/>
            </a:pPr>
            <a:r>
              <a:rPr lang="en-US" altLang="zh-CN" sz="1800" dirty="0" err="1" smtClean="0">
                <a:ea typeface="华文楷体" panose="02010600040101010101" pitchFamily="2" charset="-122"/>
              </a:rPr>
              <a:t>typedef</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struct</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ListNode</a:t>
            </a:r>
            <a:r>
              <a:rPr lang="en-US" altLang="zh-CN" sz="1800" dirty="0" smtClean="0">
                <a:ea typeface="华文楷体" panose="02010600040101010101" pitchFamily="2" charset="-122"/>
              </a:rPr>
              <a:t> *Position;</a:t>
            </a:r>
            <a:endParaRPr lang="en-US" altLang="zh-CN" sz="1800" dirty="0" smtClean="0">
              <a:ea typeface="华文楷体" panose="02010600040101010101" pitchFamily="2" charset="-122"/>
            </a:endParaRPr>
          </a:p>
          <a:p>
            <a:pPr>
              <a:buFont typeface="Wingdings" panose="05000000000000000000" pitchFamily="2" charset="2"/>
              <a:buNone/>
            </a:pPr>
            <a:r>
              <a:rPr lang="en-US" altLang="zh-CN" sz="1800" dirty="0" err="1" smtClean="0">
                <a:ea typeface="华文楷体" panose="02010600040101010101" pitchFamily="2" charset="-122"/>
              </a:rPr>
              <a:t>typedef</a:t>
            </a:r>
            <a:r>
              <a:rPr lang="en-US" altLang="zh-CN" sz="1800" dirty="0" smtClean="0">
                <a:ea typeface="华文楷体" panose="02010600040101010101" pitchFamily="2" charset="-122"/>
              </a:rPr>
              <a:t> Position List;</a:t>
            </a:r>
            <a:endParaRPr lang="en-US" altLang="zh-CN" sz="1800" dirty="0" smtClean="0">
              <a:ea typeface="华文楷体" panose="02010600040101010101" pitchFamily="2" charset="-122"/>
            </a:endParaRPr>
          </a:p>
          <a:p>
            <a:pPr>
              <a:buFont typeface="Wingdings" panose="05000000000000000000" pitchFamily="2" charset="2"/>
              <a:buNone/>
            </a:pPr>
            <a:r>
              <a:rPr lang="en-US" altLang="zh-CN" sz="1800" dirty="0" err="1" smtClean="0">
                <a:ea typeface="华文楷体" panose="02010600040101010101" pitchFamily="2" charset="-122"/>
              </a:rPr>
              <a:t>struct</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ListNode</a:t>
            </a: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a:buFont typeface="Wingdings" panose="05000000000000000000" pitchFamily="2" charset="2"/>
              <a:buNone/>
            </a:pP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ElemType</a:t>
            </a:r>
            <a:r>
              <a:rPr lang="en-US" altLang="zh-CN" sz="1800" dirty="0" smtClean="0">
                <a:ea typeface="华文楷体" panose="02010600040101010101" pitchFamily="2" charset="-122"/>
              </a:rPr>
              <a:t> data;</a:t>
            </a:r>
            <a:endParaRPr lang="en-US" altLang="zh-CN" sz="1800" dirty="0" smtClean="0">
              <a:ea typeface="华文楷体" panose="02010600040101010101" pitchFamily="2" charset="-122"/>
            </a:endParaRPr>
          </a:p>
          <a:p>
            <a:pPr>
              <a:buFont typeface="Wingdings" panose="05000000000000000000" pitchFamily="2" charset="2"/>
              <a:buNone/>
            </a:pPr>
            <a:r>
              <a:rPr lang="en-US" altLang="zh-CN" sz="1800" dirty="0" smtClean="0">
                <a:ea typeface="华文楷体" panose="02010600040101010101" pitchFamily="2" charset="-122"/>
              </a:rPr>
              <a:t>	 Position next;</a:t>
            </a:r>
            <a:endParaRPr lang="en-US" altLang="zh-CN" sz="1800" dirty="0" smtClean="0">
              <a:ea typeface="华文楷体" panose="02010600040101010101" pitchFamily="2" charset="-122"/>
            </a:endParaRPr>
          </a:p>
          <a:p>
            <a:pPr>
              <a:buFont typeface="Wingdings" panose="05000000000000000000" pitchFamily="2" charset="2"/>
              <a:buNone/>
            </a:pP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a:buFont typeface="Wingdings" panose="05000000000000000000" pitchFamily="2" charset="2"/>
              <a:buNone/>
            </a:pPr>
            <a:r>
              <a:rPr lang="en-US" altLang="zh-CN" sz="1800" dirty="0" err="1" smtClean="0">
                <a:ea typeface="华文楷体" panose="02010600040101010101" pitchFamily="2" charset="-122"/>
              </a:rPr>
              <a:t>typedef</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struct</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HashTbl</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HashTable</a:t>
            </a: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a:buFont typeface="Wingdings" panose="05000000000000000000" pitchFamily="2" charset="2"/>
              <a:buNone/>
            </a:pPr>
            <a:r>
              <a:rPr lang="en-US" altLang="zh-CN" sz="1800" dirty="0" err="1" smtClean="0">
                <a:ea typeface="华文楷体" panose="02010600040101010101" pitchFamily="2" charset="-122"/>
              </a:rPr>
              <a:t>Struct</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HashTbl</a:t>
            </a:r>
            <a:r>
              <a:rPr lang="en-US" altLang="zh-CN" sz="1800" dirty="0" smtClean="0">
                <a:ea typeface="华文楷体" panose="02010600040101010101" pitchFamily="2" charset="-122"/>
              </a:rPr>
              <a:t> {</a:t>
            </a:r>
            <a:endParaRPr lang="en-US" altLang="zh-CN" sz="1800" dirty="0" smtClean="0">
              <a:ea typeface="华文楷体" panose="02010600040101010101" pitchFamily="2" charset="-122"/>
            </a:endParaRPr>
          </a:p>
          <a:p>
            <a:pPr>
              <a:buFont typeface="Wingdings" panose="05000000000000000000" pitchFamily="2" charset="2"/>
              <a:buNone/>
            </a:pP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int</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TableSize</a:t>
            </a: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a:buFont typeface="Wingdings" panose="05000000000000000000" pitchFamily="2" charset="2"/>
              <a:buNone/>
            </a:pPr>
            <a:r>
              <a:rPr lang="en-US" altLang="zh-CN" sz="1800" dirty="0" smtClean="0">
                <a:ea typeface="华文楷体" panose="02010600040101010101" pitchFamily="2" charset="-122"/>
              </a:rPr>
              <a:t>	List * </a:t>
            </a:r>
            <a:r>
              <a:rPr lang="en-US" altLang="zh-CN" sz="1800" dirty="0" err="1" smtClean="0">
                <a:ea typeface="华文楷体" panose="02010600040101010101" pitchFamily="2" charset="-122"/>
              </a:rPr>
              <a:t>thelists</a:t>
            </a:r>
            <a:r>
              <a:rPr lang="en-US" altLang="zh-CN" sz="1800" dirty="0" smtClean="0">
                <a:ea typeface="华文楷体" panose="02010600040101010101" pitchFamily="2" charset="-122"/>
              </a:rPr>
              <a:t>; //</a:t>
            </a:r>
            <a:r>
              <a:rPr lang="zh-CN" altLang="en-US" sz="1800" dirty="0" smtClean="0">
                <a:ea typeface="华文楷体" panose="02010600040101010101" pitchFamily="2" charset="-122"/>
              </a:rPr>
              <a:t>数组，初始化时分配空间</a:t>
            </a:r>
            <a:endParaRPr lang="en-US" altLang="zh-CN" sz="1800" dirty="0" smtClean="0">
              <a:ea typeface="华文楷体" panose="02010600040101010101" pitchFamily="2" charset="-122"/>
            </a:endParaRPr>
          </a:p>
          <a:p>
            <a:pPr>
              <a:buFont typeface="Wingdings" panose="05000000000000000000" pitchFamily="2" charset="2"/>
              <a:buNone/>
            </a:pP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a:buNone/>
            </a:pPr>
            <a:r>
              <a:rPr lang="en-US" altLang="zh-CN" sz="1800" dirty="0" err="1" smtClean="0">
                <a:ea typeface="华文楷体" panose="02010600040101010101" pitchFamily="2" charset="-122"/>
              </a:rPr>
              <a:t>HashTable</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InitializeTable</a:t>
            </a:r>
            <a:r>
              <a:rPr lang="en-US" altLang="zh-CN" sz="1800" dirty="0" smtClean="0">
                <a:ea typeface="华文楷体" panose="02010600040101010101" pitchFamily="2" charset="-122"/>
              </a:rPr>
              <a:t>(</a:t>
            </a:r>
            <a:r>
              <a:rPr lang="en-US" altLang="zh-CN" sz="1800" dirty="0" err="1" smtClean="0">
                <a:ea typeface="华文楷体" panose="02010600040101010101" pitchFamily="2" charset="-122"/>
              </a:rPr>
              <a:t>int</a:t>
            </a:r>
            <a:r>
              <a:rPr lang="en-US" altLang="zh-CN" sz="1800" dirty="0" smtClean="0">
                <a:ea typeface="华文楷体" panose="02010600040101010101" pitchFamily="2" charset="-122"/>
              </a:rPr>
              <a:t> </a:t>
            </a:r>
            <a:r>
              <a:rPr lang="en-US" altLang="zh-CN" sz="1800" dirty="0" err="1" smtClean="0">
                <a:ea typeface="华文楷体" panose="02010600040101010101" pitchFamily="2" charset="-122"/>
              </a:rPr>
              <a:t>TableSize</a:t>
            </a:r>
            <a:r>
              <a:rPr lang="en-US" altLang="zh-CN" sz="1800" dirty="0" smtClean="0">
                <a:ea typeface="华文楷体" panose="02010600040101010101" pitchFamily="2" charset="-122"/>
              </a:rPr>
              <a:t>);//</a:t>
            </a:r>
            <a:r>
              <a:rPr lang="zh-CN" altLang="en-US" sz="1800" dirty="0" smtClean="0">
                <a:ea typeface="华文楷体" panose="02010600040101010101" pitchFamily="2" charset="-122"/>
              </a:rPr>
              <a:t>初始化</a:t>
            </a:r>
            <a:r>
              <a:rPr lang="zh-CN" altLang="en-US" sz="1800" dirty="0">
                <a:ea typeface="华文楷体" panose="02010600040101010101" pitchFamily="2" charset="-122"/>
              </a:rPr>
              <a:t>链地址</a:t>
            </a:r>
            <a:r>
              <a:rPr lang="zh-CN" altLang="en-US" sz="1800" dirty="0" smtClean="0">
                <a:ea typeface="华文楷体" panose="02010600040101010101" pitchFamily="2" charset="-122"/>
              </a:rPr>
              <a:t>法哈希表</a:t>
            </a:r>
            <a:endParaRPr lang="en-US" altLang="zh-CN" sz="1800" dirty="0" smtClean="0">
              <a:ea typeface="华文楷体" panose="02010600040101010101" pitchFamily="2" charset="-122"/>
            </a:endParaRPr>
          </a:p>
          <a:p>
            <a:pPr>
              <a:buNone/>
            </a:pPr>
            <a:r>
              <a:rPr lang="en-US" altLang="zh-CN" sz="1800" dirty="0" smtClean="0">
                <a:ea typeface="华文楷体" panose="02010600040101010101" pitchFamily="2" charset="-122"/>
              </a:rPr>
              <a:t>void </a:t>
            </a:r>
            <a:r>
              <a:rPr lang="en-US" altLang="zh-CN" sz="1800" dirty="0" err="1" smtClean="0">
                <a:ea typeface="华文楷体" panose="02010600040101010101" pitchFamily="2" charset="-122"/>
              </a:rPr>
              <a:t>DestroyTable</a:t>
            </a:r>
            <a:r>
              <a:rPr lang="en-US" altLang="zh-CN" sz="1800" dirty="0" smtClean="0">
                <a:ea typeface="华文楷体" panose="02010600040101010101" pitchFamily="2" charset="-122"/>
              </a:rPr>
              <a:t>(</a:t>
            </a:r>
            <a:r>
              <a:rPr lang="en-US" altLang="zh-CN" sz="1800" dirty="0" err="1" smtClean="0">
                <a:ea typeface="华文楷体" panose="02010600040101010101" pitchFamily="2" charset="-122"/>
              </a:rPr>
              <a:t>HashTable</a:t>
            </a:r>
            <a:r>
              <a:rPr lang="en-US" altLang="zh-CN" sz="1800" dirty="0" smtClean="0">
                <a:ea typeface="华文楷体" panose="02010600040101010101" pitchFamily="2" charset="-122"/>
              </a:rPr>
              <a:t> H)</a:t>
            </a:r>
            <a:r>
              <a:rPr lang="zh-CN" altLang="en-US" sz="1800" dirty="0" smtClean="0">
                <a:ea typeface="华文楷体" panose="02010600040101010101" pitchFamily="2" charset="-122"/>
              </a:rPr>
              <a:t>；</a:t>
            </a:r>
            <a:r>
              <a:rPr lang="en-US" altLang="zh-CN" sz="1800" dirty="0" smtClean="0">
                <a:ea typeface="华文楷体" panose="02010600040101010101" pitchFamily="2" charset="-122"/>
              </a:rPr>
              <a:t>//</a:t>
            </a:r>
            <a:r>
              <a:rPr lang="zh-CN" altLang="en-US" sz="1800" dirty="0" smtClean="0">
                <a:ea typeface="华文楷体" panose="02010600040101010101" pitchFamily="2" charset="-122"/>
              </a:rPr>
              <a:t>销毁链地址法哈希表</a:t>
            </a:r>
            <a:endParaRPr lang="en-US" altLang="zh-CN" sz="1800" dirty="0" smtClean="0">
              <a:ea typeface="华文楷体" panose="02010600040101010101" pitchFamily="2" charset="-122"/>
            </a:endParaRPr>
          </a:p>
          <a:p>
            <a:pPr>
              <a:buNone/>
            </a:pPr>
            <a:r>
              <a:rPr lang="en-US" altLang="zh-CN" sz="1800" dirty="0" smtClean="0">
                <a:ea typeface="华文楷体" panose="02010600040101010101" pitchFamily="2" charset="-122"/>
              </a:rPr>
              <a:t>Position Find(</a:t>
            </a:r>
            <a:r>
              <a:rPr lang="en-US" altLang="zh-CN" sz="1800" dirty="0" err="1" smtClean="0">
                <a:ea typeface="华文楷体" panose="02010600040101010101" pitchFamily="2" charset="-122"/>
              </a:rPr>
              <a:t>ElemType</a:t>
            </a:r>
            <a:r>
              <a:rPr lang="en-US" altLang="zh-CN" sz="1800" dirty="0" smtClean="0">
                <a:ea typeface="华文楷体" panose="02010600040101010101" pitchFamily="2" charset="-122"/>
              </a:rPr>
              <a:t> key, </a:t>
            </a:r>
            <a:r>
              <a:rPr lang="en-US" altLang="zh-CN" sz="1800" dirty="0" err="1">
                <a:ea typeface="华文楷体" panose="02010600040101010101" pitchFamily="2" charset="-122"/>
              </a:rPr>
              <a:t>HashTable</a:t>
            </a:r>
            <a:r>
              <a:rPr lang="en-US" altLang="zh-CN" sz="1800" dirty="0">
                <a:ea typeface="华文楷体" panose="02010600040101010101" pitchFamily="2" charset="-122"/>
              </a:rPr>
              <a:t> H</a:t>
            </a:r>
            <a:r>
              <a:rPr lang="en-US" altLang="zh-CN" sz="1800" dirty="0" smtClean="0">
                <a:ea typeface="华文楷体" panose="02010600040101010101" pitchFamily="2" charset="-122"/>
              </a:rPr>
              <a:t>);  //</a:t>
            </a:r>
            <a:r>
              <a:rPr lang="zh-CN" altLang="en-US" sz="1800" dirty="0" smtClean="0">
                <a:ea typeface="华文楷体" panose="02010600040101010101" pitchFamily="2" charset="-122"/>
              </a:rPr>
              <a:t>查找</a:t>
            </a:r>
            <a:endParaRPr lang="en-US" altLang="zh-CN" sz="1800" dirty="0" smtClean="0">
              <a:ea typeface="华文楷体" panose="02010600040101010101" pitchFamily="2" charset="-122"/>
            </a:endParaRPr>
          </a:p>
          <a:p>
            <a:pPr>
              <a:buNone/>
            </a:pPr>
            <a:r>
              <a:rPr lang="en-US" altLang="zh-CN" sz="1800" dirty="0" smtClean="0">
                <a:ea typeface="华文楷体" panose="02010600040101010101" pitchFamily="2" charset="-122"/>
              </a:rPr>
              <a:t>void Insert(</a:t>
            </a:r>
            <a:r>
              <a:rPr lang="en-US" altLang="zh-CN" sz="1800" dirty="0" err="1" smtClean="0">
                <a:ea typeface="华文楷体" panose="02010600040101010101" pitchFamily="2" charset="-122"/>
              </a:rPr>
              <a:t>ElemType</a:t>
            </a:r>
            <a:r>
              <a:rPr lang="en-US" altLang="zh-CN" sz="1800" dirty="0" smtClean="0">
                <a:ea typeface="华文楷体" panose="02010600040101010101" pitchFamily="2" charset="-122"/>
              </a:rPr>
              <a:t> key, </a:t>
            </a:r>
            <a:r>
              <a:rPr lang="en-US" altLang="zh-CN" sz="1800" dirty="0" err="1">
                <a:ea typeface="华文楷体" panose="02010600040101010101" pitchFamily="2" charset="-122"/>
              </a:rPr>
              <a:t>HashTable</a:t>
            </a:r>
            <a:r>
              <a:rPr lang="en-US" altLang="zh-CN" sz="1800" dirty="0">
                <a:ea typeface="华文楷体" panose="02010600040101010101" pitchFamily="2" charset="-122"/>
              </a:rPr>
              <a:t> </a:t>
            </a:r>
            <a:r>
              <a:rPr lang="en-US" altLang="zh-CN" sz="1800" dirty="0" smtClean="0">
                <a:ea typeface="华文楷体" panose="02010600040101010101" pitchFamily="2" charset="-122"/>
              </a:rPr>
              <a:t>&amp;H);   //</a:t>
            </a:r>
            <a:r>
              <a:rPr lang="zh-CN" altLang="en-US" sz="1800" dirty="0" smtClean="0">
                <a:ea typeface="华文楷体" panose="02010600040101010101" pitchFamily="2" charset="-122"/>
              </a:rPr>
              <a:t>插入</a:t>
            </a:r>
            <a:endParaRPr lang="en-US" altLang="zh-CN" sz="1800" dirty="0" smtClean="0">
              <a:ea typeface="华文楷体" panose="02010600040101010101" pitchFamily="2" charset="-122"/>
            </a:endParaRPr>
          </a:p>
          <a:p>
            <a:pPr>
              <a:buNone/>
            </a:pPr>
            <a:r>
              <a:rPr lang="en-US" altLang="zh-CN" sz="1800" dirty="0" err="1" smtClean="0">
                <a:ea typeface="华文楷体" panose="02010600040101010101" pitchFamily="2" charset="-122"/>
              </a:rPr>
              <a:t>ElemType</a:t>
            </a:r>
            <a:r>
              <a:rPr lang="en-US" altLang="zh-CN" sz="1800" dirty="0" smtClean="0">
                <a:ea typeface="华文楷体" panose="02010600040101010101" pitchFamily="2" charset="-122"/>
              </a:rPr>
              <a:t> Retrieve(Position P);   //</a:t>
            </a:r>
            <a:r>
              <a:rPr lang="zh-CN" altLang="en-US" sz="1800" dirty="0" smtClean="0">
                <a:ea typeface="华文楷体" panose="02010600040101010101" pitchFamily="2" charset="-122"/>
              </a:rPr>
              <a:t>获取关键字</a:t>
            </a:r>
            <a:endParaRPr lang="en-US" altLang="zh-CN" sz="1800" dirty="0" smtClean="0">
              <a:ea typeface="华文楷体" panose="02010600040101010101" pitchFamily="2" charset="-122"/>
            </a:endParaRPr>
          </a:p>
          <a:p>
            <a:pPr>
              <a:buNone/>
            </a:pPr>
            <a:endParaRPr lang="zh-CN" altLang="en-US" sz="1800" dirty="0" smtClean="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dirty="0" smtClean="0"/>
              <a:t>BUPT SCST</a:t>
            </a:r>
            <a:endParaRPr lang="en-US" altLang="zh-CN" dirty="0"/>
          </a:p>
        </p:txBody>
      </p:sp>
      <p:sp>
        <p:nvSpPr>
          <p:cNvPr id="5" name="日期占位符 4"/>
          <p:cNvSpPr>
            <a:spLocks noGrp="1"/>
          </p:cNvSpPr>
          <p:nvPr>
            <p:ph type="dt" sz="quarter" idx="12"/>
          </p:nvPr>
        </p:nvSpPr>
        <p:spPr/>
        <p:txBody>
          <a:bodyPr/>
          <a:lstStyle/>
          <a:p>
            <a:pPr>
              <a:defRPr/>
            </a:pPr>
            <a:r>
              <a:rPr lang="en-US" altLang="zh-CN" smtClean="0"/>
              <a:t>BUPT</a:t>
            </a:r>
            <a:endParaRPr lang="en-US" altLang="zh-CN"/>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p:txBody>
          <a:bodyPr/>
          <a:lstStyle/>
          <a:p>
            <a:endParaRPr lang="zh-CN" altLang="en-US" dirty="0" smtClean="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quarter" idx="12"/>
          </p:nvPr>
        </p:nvSpPr>
        <p:spPr/>
        <p:txBody>
          <a:bodyPr/>
          <a:lstStyle/>
          <a:p>
            <a:pPr>
              <a:defRPr/>
            </a:pPr>
            <a:r>
              <a:rPr lang="en-US" altLang="zh-CN" dirty="0" smtClean="0"/>
              <a:t>BUPT</a:t>
            </a:r>
            <a:endParaRPr lang="en-US" altLang="zh-CN" dirty="0"/>
          </a:p>
        </p:txBody>
      </p:sp>
      <p:sp>
        <p:nvSpPr>
          <p:cNvPr id="2" name="内容占位符 1"/>
          <p:cNvSpPr>
            <a:spLocks noGrp="1"/>
          </p:cNvSpPr>
          <p:nvPr>
            <p:ph idx="1"/>
          </p:nvPr>
        </p:nvSpPr>
        <p:spPr>
          <a:xfrm>
            <a:off x="457200" y="1152525"/>
            <a:ext cx="8015288" cy="5629275"/>
          </a:xfrm>
          <a:ln>
            <a:solidFill>
              <a:schemeClr val="accent1"/>
            </a:solidFill>
          </a:ln>
        </p:spPr>
        <p:txBody>
          <a:bodyPr/>
          <a:lstStyle/>
          <a:p>
            <a:pPr marL="0" indent="0">
              <a:buNone/>
            </a:pPr>
            <a:r>
              <a:rPr lang="en-US" altLang="zh-CN" sz="1700" dirty="0" smtClean="0">
                <a:solidFill>
                  <a:srgbClr val="C00000"/>
                </a:solidFill>
                <a:ea typeface="华文楷体" panose="02010600040101010101" pitchFamily="2" charset="-122"/>
              </a:rPr>
              <a:t>[</a:t>
            </a:r>
            <a:r>
              <a:rPr lang="zh-CN" altLang="en-US" sz="1700" dirty="0" smtClean="0">
                <a:solidFill>
                  <a:srgbClr val="C00000"/>
                </a:solidFill>
                <a:ea typeface="华文楷体" panose="02010600040101010101" pitchFamily="2" charset="-122"/>
              </a:rPr>
              <a:t>链地址法</a:t>
            </a:r>
            <a:r>
              <a:rPr lang="en-US" altLang="zh-CN" sz="1700" dirty="0" smtClean="0">
                <a:solidFill>
                  <a:srgbClr val="C00000"/>
                </a:solidFill>
                <a:ea typeface="华文楷体" panose="02010600040101010101" pitchFamily="2" charset="-122"/>
              </a:rPr>
              <a:t>-</a:t>
            </a:r>
            <a:r>
              <a:rPr lang="zh-CN" altLang="en-US" sz="1700" dirty="0" smtClean="0">
                <a:solidFill>
                  <a:srgbClr val="C00000"/>
                </a:solidFill>
                <a:ea typeface="华文楷体" panose="02010600040101010101" pitchFamily="2" charset="-122"/>
              </a:rPr>
              <a:t>初始化算法</a:t>
            </a:r>
            <a:r>
              <a:rPr lang="en-US" altLang="zh-CN" sz="1700" dirty="0" smtClean="0">
                <a:solidFill>
                  <a:srgbClr val="C00000"/>
                </a:solidFill>
                <a:ea typeface="华文楷体" panose="02010600040101010101" pitchFamily="2" charset="-122"/>
              </a:rPr>
              <a:t>]</a:t>
            </a:r>
            <a:endParaRPr lang="en-US" altLang="zh-CN" sz="1700" dirty="0" smtClean="0">
              <a:solidFill>
                <a:srgbClr val="C00000"/>
              </a:solidFill>
              <a:ea typeface="华文楷体" panose="02010600040101010101" pitchFamily="2" charset="-122"/>
            </a:endParaRPr>
          </a:p>
          <a:p>
            <a:pPr marL="0" indent="0">
              <a:buNone/>
            </a:pPr>
            <a:r>
              <a:rPr lang="en-US" altLang="zh-CN" sz="1700" dirty="0" err="1" smtClean="0">
                <a:ea typeface="华文楷体" panose="02010600040101010101" pitchFamily="2" charset="-122"/>
              </a:rPr>
              <a:t>HashTable</a:t>
            </a:r>
            <a:r>
              <a:rPr lang="en-US" altLang="zh-CN" sz="1700" dirty="0" smtClean="0">
                <a:ea typeface="华文楷体" panose="02010600040101010101" pitchFamily="2" charset="-122"/>
              </a:rPr>
              <a:t> </a:t>
            </a:r>
            <a:r>
              <a:rPr lang="en-US" altLang="zh-CN" sz="1700" dirty="0" err="1" smtClean="0">
                <a:ea typeface="华文楷体" panose="02010600040101010101" pitchFamily="2" charset="-122"/>
              </a:rPr>
              <a:t>InitializeTable</a:t>
            </a:r>
            <a:r>
              <a:rPr lang="en-US" altLang="zh-CN" sz="1700" dirty="0" smtClean="0">
                <a:ea typeface="华文楷体" panose="02010600040101010101" pitchFamily="2" charset="-122"/>
              </a:rPr>
              <a:t>( </a:t>
            </a:r>
            <a:r>
              <a:rPr lang="en-US" altLang="zh-CN" sz="1700" dirty="0" err="1" smtClean="0">
                <a:ea typeface="华文楷体" panose="02010600040101010101" pitchFamily="2" charset="-122"/>
              </a:rPr>
              <a:t>int</a:t>
            </a:r>
            <a:r>
              <a:rPr lang="en-US" altLang="zh-CN" sz="1700" dirty="0" smtClean="0">
                <a:ea typeface="华文楷体" panose="02010600040101010101" pitchFamily="2" charset="-122"/>
              </a:rPr>
              <a:t> </a:t>
            </a:r>
            <a:r>
              <a:rPr lang="en-US" altLang="zh-CN" sz="1700" dirty="0" err="1" smtClean="0">
                <a:ea typeface="华文楷体" panose="02010600040101010101" pitchFamily="2" charset="-122"/>
              </a:rPr>
              <a:t>TableSize</a:t>
            </a:r>
            <a:r>
              <a:rPr lang="en-US" altLang="zh-CN" sz="1700" dirty="0" smtClean="0">
                <a:ea typeface="华文楷体" panose="02010600040101010101" pitchFamily="2" charset="-122"/>
              </a:rPr>
              <a:t> )</a:t>
            </a:r>
            <a:endParaRPr lang="en-US" altLang="zh-CN" sz="1700" dirty="0" smtClean="0">
              <a:ea typeface="华文楷体" panose="02010600040101010101" pitchFamily="2" charset="-122"/>
            </a:endParaRPr>
          </a:p>
          <a:p>
            <a:pPr marL="0" indent="0">
              <a:buNone/>
            </a:pPr>
            <a:r>
              <a:rPr lang="en-US" altLang="zh-CN" sz="1700" dirty="0" smtClean="0">
                <a:ea typeface="华文楷体" panose="02010600040101010101" pitchFamily="2" charset="-122"/>
              </a:rPr>
              <a:t>{</a:t>
            </a:r>
            <a:endParaRPr lang="en-US" altLang="zh-CN" sz="1700" dirty="0" smtClean="0">
              <a:ea typeface="华文楷体" panose="02010600040101010101" pitchFamily="2" charset="-122"/>
            </a:endParaRPr>
          </a:p>
          <a:p>
            <a:pPr marL="0" indent="0">
              <a:buNone/>
            </a:pPr>
            <a:r>
              <a:rPr lang="en-US" altLang="zh-CN" sz="1700" dirty="0">
                <a:ea typeface="华文楷体" panose="02010600040101010101" pitchFamily="2" charset="-122"/>
              </a:rPr>
              <a:t> </a:t>
            </a:r>
            <a:r>
              <a:rPr lang="en-US" altLang="zh-CN" sz="1700" dirty="0" smtClean="0">
                <a:ea typeface="华文楷体" panose="02010600040101010101" pitchFamily="2" charset="-122"/>
              </a:rPr>
              <a:t>   </a:t>
            </a:r>
            <a:r>
              <a:rPr lang="en-US" altLang="zh-CN" sz="1700" dirty="0" err="1" smtClean="0">
                <a:ea typeface="华文楷体" panose="02010600040101010101" pitchFamily="2" charset="-122"/>
              </a:rPr>
              <a:t>HashTable</a:t>
            </a:r>
            <a:r>
              <a:rPr lang="en-US" altLang="zh-CN" sz="1700" dirty="0" smtClean="0">
                <a:ea typeface="华文楷体" panose="02010600040101010101" pitchFamily="2" charset="-122"/>
              </a:rPr>
              <a:t> H; </a:t>
            </a:r>
            <a:r>
              <a:rPr lang="en-US" altLang="zh-CN" sz="1700" dirty="0" err="1" smtClean="0">
                <a:ea typeface="华文楷体" panose="02010600040101010101" pitchFamily="2" charset="-122"/>
              </a:rPr>
              <a:t>int</a:t>
            </a:r>
            <a:r>
              <a:rPr lang="en-US" altLang="zh-CN" sz="1700" dirty="0" smtClean="0">
                <a:ea typeface="华文楷体" panose="02010600040101010101" pitchFamily="2" charset="-122"/>
              </a:rPr>
              <a:t> </a:t>
            </a:r>
            <a:r>
              <a:rPr lang="en-US" altLang="zh-CN" sz="1700" dirty="0" err="1" smtClean="0">
                <a:ea typeface="华文楷体" panose="02010600040101010101" pitchFamily="2" charset="-122"/>
              </a:rPr>
              <a:t>i</a:t>
            </a:r>
            <a:r>
              <a:rPr lang="en-US" altLang="zh-CN" sz="1700" dirty="0" smtClean="0">
                <a:ea typeface="华文楷体" panose="02010600040101010101" pitchFamily="2" charset="-122"/>
              </a:rPr>
              <a:t>;</a:t>
            </a:r>
            <a:endParaRPr lang="en-US" altLang="zh-CN" sz="1700" dirty="0" smtClean="0">
              <a:ea typeface="华文楷体" panose="02010600040101010101" pitchFamily="2" charset="-122"/>
            </a:endParaRPr>
          </a:p>
          <a:p>
            <a:pPr marL="0" indent="0">
              <a:buNone/>
            </a:pPr>
            <a:r>
              <a:rPr lang="en-US" altLang="zh-CN" sz="1700" dirty="0">
                <a:ea typeface="华文楷体" panose="02010600040101010101" pitchFamily="2" charset="-122"/>
              </a:rPr>
              <a:t> </a:t>
            </a:r>
            <a:r>
              <a:rPr lang="en-US" altLang="zh-CN" sz="1700" dirty="0" smtClean="0">
                <a:ea typeface="华文楷体" panose="02010600040101010101" pitchFamily="2" charset="-122"/>
              </a:rPr>
              <a:t>   if (</a:t>
            </a:r>
            <a:r>
              <a:rPr lang="en-US" altLang="zh-CN" sz="1700" dirty="0" err="1" smtClean="0">
                <a:ea typeface="华文楷体" panose="02010600040101010101" pitchFamily="2" charset="-122"/>
              </a:rPr>
              <a:t>TableSize</a:t>
            </a:r>
            <a:r>
              <a:rPr lang="en-US" altLang="zh-CN" sz="1700" dirty="0" smtClean="0">
                <a:ea typeface="华文楷体" panose="02010600040101010101" pitchFamily="2" charset="-122"/>
              </a:rPr>
              <a:t> &lt; </a:t>
            </a:r>
            <a:r>
              <a:rPr lang="en-US" altLang="zh-CN" sz="1700" dirty="0" err="1" smtClean="0">
                <a:ea typeface="华文楷体" panose="02010600040101010101" pitchFamily="2" charset="-122"/>
              </a:rPr>
              <a:t>MinTableSize</a:t>
            </a:r>
            <a:r>
              <a:rPr lang="en-US" altLang="zh-CN" sz="1700" dirty="0" smtClean="0">
                <a:ea typeface="华文楷体" panose="02010600040101010101" pitchFamily="2" charset="-122"/>
              </a:rPr>
              <a:t>)  return NULL; //</a:t>
            </a:r>
            <a:r>
              <a:rPr lang="zh-CN" altLang="en-US" sz="1700" dirty="0" smtClean="0">
                <a:ea typeface="华文楷体" panose="02010600040101010101" pitchFamily="2" charset="-122"/>
              </a:rPr>
              <a:t>表太小，退出</a:t>
            </a:r>
            <a:endParaRPr lang="en-US" altLang="zh-CN" sz="1700" dirty="0" smtClean="0">
              <a:ea typeface="华文楷体" panose="02010600040101010101" pitchFamily="2" charset="-122"/>
            </a:endParaRPr>
          </a:p>
          <a:p>
            <a:pPr marL="0" indent="0">
              <a:buNone/>
            </a:pPr>
            <a:r>
              <a:rPr lang="en-US" altLang="zh-CN" sz="1700" dirty="0">
                <a:ea typeface="华文楷体" panose="02010600040101010101" pitchFamily="2" charset="-122"/>
              </a:rPr>
              <a:t> </a:t>
            </a:r>
            <a:r>
              <a:rPr lang="en-US" altLang="zh-CN" sz="1700" dirty="0" smtClean="0">
                <a:ea typeface="华文楷体" panose="02010600040101010101" pitchFamily="2" charset="-122"/>
              </a:rPr>
              <a:t>   H = </a:t>
            </a:r>
            <a:r>
              <a:rPr lang="en-US" altLang="zh-CN" sz="1700" dirty="0" err="1" smtClean="0">
                <a:ea typeface="华文楷体" panose="02010600040101010101" pitchFamily="2" charset="-122"/>
              </a:rPr>
              <a:t>malloc</a:t>
            </a:r>
            <a:r>
              <a:rPr lang="en-US" altLang="zh-CN" sz="1700" dirty="0" smtClean="0">
                <a:ea typeface="华文楷体" panose="02010600040101010101" pitchFamily="2" charset="-122"/>
              </a:rPr>
              <a:t>(</a:t>
            </a:r>
            <a:r>
              <a:rPr lang="en-US" altLang="zh-CN" sz="1700" dirty="0" err="1" smtClean="0">
                <a:ea typeface="华文楷体" panose="02010600040101010101" pitchFamily="2" charset="-122"/>
              </a:rPr>
              <a:t>sizeof</a:t>
            </a:r>
            <a:r>
              <a:rPr lang="en-US" altLang="zh-CN" sz="1700" dirty="0" smtClean="0">
                <a:ea typeface="华文楷体" panose="02010600040101010101" pitchFamily="2" charset="-122"/>
              </a:rPr>
              <a:t> (</a:t>
            </a:r>
            <a:r>
              <a:rPr lang="en-US" altLang="zh-CN" sz="1700" dirty="0" err="1" smtClean="0">
                <a:ea typeface="华文楷体" panose="02010600040101010101" pitchFamily="2" charset="-122"/>
              </a:rPr>
              <a:t>struct</a:t>
            </a:r>
            <a:r>
              <a:rPr lang="en-US" altLang="zh-CN" sz="1700" dirty="0" smtClean="0">
                <a:ea typeface="华文楷体" panose="02010600040101010101" pitchFamily="2" charset="-122"/>
              </a:rPr>
              <a:t> </a:t>
            </a:r>
            <a:r>
              <a:rPr lang="en-US" altLang="zh-CN" sz="1700" dirty="0" err="1" smtClean="0">
                <a:ea typeface="华文楷体" panose="02010600040101010101" pitchFamily="2" charset="-122"/>
              </a:rPr>
              <a:t>HashTbl</a:t>
            </a:r>
            <a:r>
              <a:rPr lang="en-US" altLang="zh-CN" sz="1700" dirty="0" smtClean="0">
                <a:ea typeface="华文楷体" panose="02010600040101010101" pitchFamily="2" charset="-122"/>
              </a:rPr>
              <a:t>)); //</a:t>
            </a:r>
            <a:r>
              <a:rPr lang="zh-CN" altLang="en-US" sz="1700" dirty="0" smtClean="0">
                <a:ea typeface="华文楷体" panose="02010600040101010101" pitchFamily="2" charset="-122"/>
              </a:rPr>
              <a:t>分配一个表结构</a:t>
            </a:r>
            <a:endParaRPr lang="en-US" altLang="zh-CN" sz="1700" dirty="0" smtClean="0">
              <a:ea typeface="华文楷体" panose="02010600040101010101" pitchFamily="2" charset="-122"/>
            </a:endParaRPr>
          </a:p>
          <a:p>
            <a:pPr marL="0" indent="0">
              <a:buNone/>
            </a:pPr>
            <a:r>
              <a:rPr lang="en-US" altLang="zh-CN" sz="1700" dirty="0" smtClean="0">
                <a:ea typeface="华文楷体" panose="02010600040101010101" pitchFamily="2" charset="-122"/>
              </a:rPr>
              <a:t>    if (H==NULL)   </a:t>
            </a:r>
            <a:r>
              <a:rPr lang="en-US" altLang="zh-CN" sz="1700" dirty="0" err="1" smtClean="0">
                <a:ea typeface="华文楷体" panose="02010600040101010101" pitchFamily="2" charset="-122"/>
              </a:rPr>
              <a:t>FatalError</a:t>
            </a:r>
            <a:r>
              <a:rPr lang="en-US" altLang="zh-CN" sz="1700" dirty="0" smtClean="0">
                <a:ea typeface="华文楷体" panose="02010600040101010101" pitchFamily="2" charset="-122"/>
              </a:rPr>
              <a:t>(“Out of Space!!”); //</a:t>
            </a:r>
            <a:r>
              <a:rPr lang="zh-CN" altLang="en-US" sz="1700" dirty="0" smtClean="0">
                <a:ea typeface="华文楷体" panose="02010600040101010101" pitchFamily="2" charset="-122"/>
              </a:rPr>
              <a:t>分配失败退出</a:t>
            </a:r>
            <a:endParaRPr lang="en-US" altLang="zh-CN" sz="1700" dirty="0" smtClean="0">
              <a:ea typeface="华文楷体" panose="02010600040101010101" pitchFamily="2" charset="-122"/>
            </a:endParaRPr>
          </a:p>
          <a:p>
            <a:pPr marL="0" indent="0">
              <a:buNone/>
            </a:pPr>
            <a:r>
              <a:rPr lang="en-US" altLang="zh-CN" sz="1700" dirty="0">
                <a:ea typeface="华文楷体" panose="02010600040101010101" pitchFamily="2" charset="-122"/>
              </a:rPr>
              <a:t> </a:t>
            </a:r>
            <a:r>
              <a:rPr lang="en-US" altLang="zh-CN" sz="1700" dirty="0" smtClean="0">
                <a:ea typeface="华文楷体" panose="02010600040101010101" pitchFamily="2" charset="-122"/>
              </a:rPr>
              <a:t>   H-&gt;</a:t>
            </a:r>
            <a:r>
              <a:rPr lang="en-US" altLang="zh-CN" sz="1700" dirty="0" err="1" smtClean="0">
                <a:ea typeface="华文楷体" panose="02010600040101010101" pitchFamily="2" charset="-122"/>
              </a:rPr>
              <a:t>TableSize</a:t>
            </a:r>
            <a:r>
              <a:rPr lang="en-US" altLang="zh-CN" sz="1700" dirty="0" smtClean="0">
                <a:ea typeface="华文楷体" panose="02010600040101010101" pitchFamily="2" charset="-122"/>
              </a:rPr>
              <a:t> = </a:t>
            </a:r>
            <a:r>
              <a:rPr lang="en-US" altLang="zh-CN" sz="1700" dirty="0" err="1" smtClean="0">
                <a:ea typeface="华文楷体" panose="02010600040101010101" pitchFamily="2" charset="-122"/>
              </a:rPr>
              <a:t>TableSize</a:t>
            </a:r>
            <a:r>
              <a:rPr lang="en-US" altLang="zh-CN" sz="1700" dirty="0" smtClean="0">
                <a:ea typeface="华文楷体" panose="02010600040101010101" pitchFamily="2" charset="-122"/>
              </a:rPr>
              <a:t>;</a:t>
            </a:r>
            <a:endParaRPr lang="en-US" altLang="zh-CN" sz="1700" dirty="0" smtClean="0">
              <a:ea typeface="华文楷体" panose="02010600040101010101" pitchFamily="2" charset="-122"/>
            </a:endParaRPr>
          </a:p>
          <a:p>
            <a:pPr marL="0" indent="0">
              <a:buNone/>
            </a:pPr>
            <a:r>
              <a:rPr lang="en-US" altLang="zh-CN" sz="1700" dirty="0">
                <a:ea typeface="华文楷体" panose="02010600040101010101" pitchFamily="2" charset="-122"/>
              </a:rPr>
              <a:t> </a:t>
            </a:r>
            <a:r>
              <a:rPr lang="en-US" altLang="zh-CN" sz="1700" dirty="0" smtClean="0">
                <a:ea typeface="华文楷体" panose="02010600040101010101" pitchFamily="2" charset="-122"/>
              </a:rPr>
              <a:t>   H-&gt;</a:t>
            </a:r>
            <a:r>
              <a:rPr lang="en-US" altLang="zh-CN" sz="1700" dirty="0" err="1" smtClean="0">
                <a:ea typeface="华文楷体" panose="02010600040101010101" pitchFamily="2" charset="-122"/>
              </a:rPr>
              <a:t>TheLists</a:t>
            </a:r>
            <a:r>
              <a:rPr lang="en-US" altLang="zh-CN" sz="1700" dirty="0" smtClean="0">
                <a:ea typeface="华文楷体" panose="02010600040101010101" pitchFamily="2" charset="-122"/>
              </a:rPr>
              <a:t> = </a:t>
            </a:r>
            <a:r>
              <a:rPr lang="en-US" altLang="zh-CN" sz="1700" dirty="0" err="1" smtClean="0">
                <a:ea typeface="华文楷体" panose="02010600040101010101" pitchFamily="2" charset="-122"/>
              </a:rPr>
              <a:t>maloc</a:t>
            </a:r>
            <a:r>
              <a:rPr lang="en-US" altLang="zh-CN" sz="1700" dirty="0" smtClean="0">
                <a:ea typeface="华文楷体" panose="02010600040101010101" pitchFamily="2" charset="-122"/>
              </a:rPr>
              <a:t>(</a:t>
            </a:r>
            <a:r>
              <a:rPr lang="en-US" altLang="zh-CN" sz="1700" dirty="0" err="1" smtClean="0">
                <a:ea typeface="华文楷体" panose="02010600040101010101" pitchFamily="2" charset="-122"/>
              </a:rPr>
              <a:t>sizeof</a:t>
            </a:r>
            <a:r>
              <a:rPr lang="en-US" altLang="zh-CN" sz="1700" dirty="0" smtClean="0">
                <a:ea typeface="华文楷体" panose="02010600040101010101" pitchFamily="2" charset="-122"/>
              </a:rPr>
              <a:t>(list)*</a:t>
            </a:r>
            <a:r>
              <a:rPr lang="en-US" altLang="zh-CN" sz="1700" dirty="0">
                <a:ea typeface="华文楷体" panose="02010600040101010101" pitchFamily="2" charset="-122"/>
              </a:rPr>
              <a:t> H-&gt;</a:t>
            </a:r>
            <a:r>
              <a:rPr lang="en-US" altLang="zh-CN" sz="1700" dirty="0" err="1">
                <a:ea typeface="华文楷体" panose="02010600040101010101" pitchFamily="2" charset="-122"/>
              </a:rPr>
              <a:t>TableSize</a:t>
            </a:r>
            <a:r>
              <a:rPr lang="en-US" altLang="zh-CN" sz="1700" dirty="0">
                <a:ea typeface="华文楷体" panose="02010600040101010101" pitchFamily="2" charset="-122"/>
              </a:rPr>
              <a:t> </a:t>
            </a:r>
            <a:r>
              <a:rPr lang="en-US" altLang="zh-CN" sz="1700" dirty="0" smtClean="0">
                <a:ea typeface="华文楷体" panose="02010600040101010101" pitchFamily="2" charset="-122"/>
              </a:rPr>
              <a:t>); //</a:t>
            </a:r>
            <a:r>
              <a:rPr lang="zh-CN" altLang="en-US" sz="1700" dirty="0" smtClean="0">
                <a:ea typeface="华文楷体" panose="02010600040101010101" pitchFamily="2" charset="-122"/>
              </a:rPr>
              <a:t>分配指针数组空间</a:t>
            </a:r>
            <a:endParaRPr lang="en-US" altLang="zh-CN" sz="1700" dirty="0" smtClean="0">
              <a:ea typeface="华文楷体" panose="02010600040101010101" pitchFamily="2" charset="-122"/>
            </a:endParaRPr>
          </a:p>
          <a:p>
            <a:pPr marL="0" indent="0">
              <a:buNone/>
            </a:pPr>
            <a:r>
              <a:rPr lang="en-US" altLang="zh-CN" sz="1700" dirty="0" smtClean="0">
                <a:ea typeface="华文楷体" panose="02010600040101010101" pitchFamily="2" charset="-122"/>
              </a:rPr>
              <a:t>    if (</a:t>
            </a:r>
            <a:r>
              <a:rPr lang="en-US" altLang="zh-CN" sz="1700" dirty="0">
                <a:ea typeface="华文楷体" panose="02010600040101010101" pitchFamily="2" charset="-122"/>
              </a:rPr>
              <a:t>H-&gt;</a:t>
            </a:r>
            <a:r>
              <a:rPr lang="en-US" altLang="zh-CN" sz="1700" dirty="0" err="1">
                <a:ea typeface="华文楷体" panose="02010600040101010101" pitchFamily="2" charset="-122"/>
              </a:rPr>
              <a:t>TheLists</a:t>
            </a:r>
            <a:r>
              <a:rPr lang="en-US" altLang="zh-CN" sz="1700" dirty="0">
                <a:ea typeface="华文楷体" panose="02010600040101010101" pitchFamily="2" charset="-122"/>
              </a:rPr>
              <a:t> </a:t>
            </a:r>
            <a:r>
              <a:rPr lang="en-US" altLang="zh-CN" sz="1700" dirty="0" smtClean="0">
                <a:ea typeface="华文楷体" panose="02010600040101010101" pitchFamily="2" charset="-122"/>
              </a:rPr>
              <a:t>== NULL) </a:t>
            </a:r>
            <a:r>
              <a:rPr lang="en-US" altLang="zh-CN" sz="1700" dirty="0" err="1">
                <a:ea typeface="华文楷体" panose="02010600040101010101" pitchFamily="2" charset="-122"/>
              </a:rPr>
              <a:t>FatalError</a:t>
            </a:r>
            <a:r>
              <a:rPr lang="en-US" altLang="zh-CN" sz="1700" dirty="0">
                <a:ea typeface="华文楷体" panose="02010600040101010101" pitchFamily="2" charset="-122"/>
              </a:rPr>
              <a:t>(“Out of Space!!”); </a:t>
            </a:r>
            <a:endParaRPr lang="en-US" altLang="zh-CN" sz="1700" dirty="0" smtClean="0">
              <a:ea typeface="华文楷体" panose="02010600040101010101" pitchFamily="2" charset="-122"/>
            </a:endParaRPr>
          </a:p>
          <a:p>
            <a:pPr marL="0" indent="0">
              <a:buNone/>
            </a:pPr>
            <a:r>
              <a:rPr lang="en-US" altLang="zh-CN" sz="1700" dirty="0">
                <a:ea typeface="华文楷体" panose="02010600040101010101" pitchFamily="2" charset="-122"/>
              </a:rPr>
              <a:t> </a:t>
            </a:r>
            <a:r>
              <a:rPr lang="en-US" altLang="zh-CN" sz="1700" dirty="0" smtClean="0">
                <a:ea typeface="华文楷体" panose="02010600040101010101" pitchFamily="2" charset="-122"/>
              </a:rPr>
              <a:t>   </a:t>
            </a:r>
            <a:r>
              <a:rPr lang="en-US" altLang="zh-CN" sz="1700" dirty="0" smtClean="0">
                <a:solidFill>
                  <a:srgbClr val="00B050"/>
                </a:solidFill>
                <a:ea typeface="华文楷体" panose="02010600040101010101" pitchFamily="2" charset="-122"/>
              </a:rPr>
              <a:t>for (</a:t>
            </a:r>
            <a:r>
              <a:rPr lang="en-US" altLang="zh-CN" sz="1700" dirty="0" err="1" smtClean="0">
                <a:solidFill>
                  <a:srgbClr val="00B050"/>
                </a:solidFill>
                <a:ea typeface="华文楷体" panose="02010600040101010101" pitchFamily="2" charset="-122"/>
              </a:rPr>
              <a:t>i</a:t>
            </a:r>
            <a:r>
              <a:rPr lang="en-US" altLang="zh-CN" sz="1700" dirty="0" smtClean="0">
                <a:solidFill>
                  <a:srgbClr val="00B050"/>
                </a:solidFill>
                <a:ea typeface="华文楷体" panose="02010600040101010101" pitchFamily="2" charset="-122"/>
              </a:rPr>
              <a:t> = 0; </a:t>
            </a:r>
            <a:r>
              <a:rPr lang="en-US" altLang="zh-CN" sz="1700" dirty="0" err="1" smtClean="0">
                <a:solidFill>
                  <a:srgbClr val="00B050"/>
                </a:solidFill>
                <a:ea typeface="华文楷体" panose="02010600040101010101" pitchFamily="2" charset="-122"/>
              </a:rPr>
              <a:t>i</a:t>
            </a:r>
            <a:r>
              <a:rPr lang="en-US" altLang="zh-CN" sz="1700" dirty="0" smtClean="0">
                <a:solidFill>
                  <a:srgbClr val="00B050"/>
                </a:solidFill>
                <a:ea typeface="华文楷体" panose="02010600040101010101" pitchFamily="2" charset="-122"/>
              </a:rPr>
              <a:t> &lt; H-&gt;</a:t>
            </a:r>
            <a:r>
              <a:rPr lang="en-US" altLang="zh-CN" sz="1700" dirty="0" err="1" smtClean="0">
                <a:solidFill>
                  <a:srgbClr val="00B050"/>
                </a:solidFill>
                <a:ea typeface="华文楷体" panose="02010600040101010101" pitchFamily="2" charset="-122"/>
              </a:rPr>
              <a:t>TableSize</a:t>
            </a:r>
            <a:r>
              <a:rPr lang="en-US" altLang="zh-CN" sz="1700" dirty="0" smtClean="0">
                <a:solidFill>
                  <a:srgbClr val="00B050"/>
                </a:solidFill>
                <a:ea typeface="华文楷体" panose="02010600040101010101" pitchFamily="2" charset="-122"/>
              </a:rPr>
              <a:t>; </a:t>
            </a:r>
            <a:r>
              <a:rPr lang="en-US" altLang="zh-CN" sz="1700" dirty="0" err="1" smtClean="0">
                <a:solidFill>
                  <a:srgbClr val="00B050"/>
                </a:solidFill>
                <a:ea typeface="华文楷体" panose="02010600040101010101" pitchFamily="2" charset="-122"/>
              </a:rPr>
              <a:t>i</a:t>
            </a:r>
            <a:r>
              <a:rPr lang="en-US" altLang="zh-CN" sz="1700" dirty="0" smtClean="0">
                <a:solidFill>
                  <a:srgbClr val="00B050"/>
                </a:solidFill>
                <a:ea typeface="华文楷体" panose="02010600040101010101" pitchFamily="2" charset="-122"/>
              </a:rPr>
              <a:t>++) //</a:t>
            </a:r>
            <a:r>
              <a:rPr lang="zh-CN" altLang="en-US" sz="1700" dirty="0" smtClean="0">
                <a:solidFill>
                  <a:srgbClr val="FF0000"/>
                </a:solidFill>
                <a:ea typeface="华文楷体" panose="02010600040101010101" pitchFamily="2" charset="-122"/>
              </a:rPr>
              <a:t>可选项，为所有</a:t>
            </a:r>
            <a:r>
              <a:rPr lang="zh-CN" altLang="en-US" sz="1700" dirty="0">
                <a:solidFill>
                  <a:srgbClr val="FF0000"/>
                </a:solidFill>
                <a:ea typeface="华文楷体" panose="02010600040101010101" pitchFamily="2" charset="-122"/>
              </a:rPr>
              <a:t>单</a:t>
            </a:r>
            <a:r>
              <a:rPr lang="zh-CN" altLang="en-US" sz="1700" dirty="0" smtClean="0">
                <a:solidFill>
                  <a:srgbClr val="FF0000"/>
                </a:solidFill>
                <a:ea typeface="华文楷体" panose="02010600040101010101" pitchFamily="2" charset="-122"/>
              </a:rPr>
              <a:t>链表分配头结点</a:t>
            </a:r>
            <a:endParaRPr lang="en-US" altLang="zh-CN" sz="1700" dirty="0" smtClean="0">
              <a:solidFill>
                <a:srgbClr val="FF0000"/>
              </a:solidFill>
              <a:ea typeface="华文楷体" panose="02010600040101010101" pitchFamily="2" charset="-122"/>
            </a:endParaRPr>
          </a:p>
          <a:p>
            <a:pPr marL="0" indent="0">
              <a:buNone/>
            </a:pPr>
            <a:r>
              <a:rPr lang="en-US" altLang="zh-CN" sz="1700" dirty="0">
                <a:solidFill>
                  <a:srgbClr val="00B050"/>
                </a:solidFill>
                <a:ea typeface="华文楷体" panose="02010600040101010101" pitchFamily="2" charset="-122"/>
              </a:rPr>
              <a:t> </a:t>
            </a:r>
            <a:r>
              <a:rPr lang="en-US" altLang="zh-CN" sz="1700" dirty="0" smtClean="0">
                <a:solidFill>
                  <a:srgbClr val="00B050"/>
                </a:solidFill>
                <a:ea typeface="华文楷体" panose="02010600040101010101" pitchFamily="2" charset="-122"/>
              </a:rPr>
              <a:t>   {</a:t>
            </a:r>
            <a:endParaRPr lang="en-US" altLang="zh-CN" sz="1700" dirty="0" smtClean="0">
              <a:solidFill>
                <a:srgbClr val="00B050"/>
              </a:solidFill>
              <a:ea typeface="华文楷体" panose="02010600040101010101" pitchFamily="2" charset="-122"/>
            </a:endParaRPr>
          </a:p>
          <a:p>
            <a:pPr marL="0" indent="0">
              <a:buNone/>
            </a:pPr>
            <a:r>
              <a:rPr lang="en-US" altLang="zh-CN" sz="1700" dirty="0">
                <a:solidFill>
                  <a:srgbClr val="00B050"/>
                </a:solidFill>
                <a:ea typeface="华文楷体" panose="02010600040101010101" pitchFamily="2" charset="-122"/>
              </a:rPr>
              <a:t> </a:t>
            </a:r>
            <a:r>
              <a:rPr lang="en-US" altLang="zh-CN" sz="1700" dirty="0" smtClean="0">
                <a:solidFill>
                  <a:srgbClr val="00B050"/>
                </a:solidFill>
                <a:ea typeface="华文楷体" panose="02010600040101010101" pitchFamily="2" charset="-122"/>
              </a:rPr>
              <a:t>       H-</a:t>
            </a:r>
            <a:r>
              <a:rPr lang="en-US" altLang="zh-CN" sz="1700" dirty="0">
                <a:solidFill>
                  <a:srgbClr val="00B050"/>
                </a:solidFill>
                <a:ea typeface="华文楷体" panose="02010600040101010101" pitchFamily="2" charset="-122"/>
              </a:rPr>
              <a:t>&gt;</a:t>
            </a:r>
            <a:r>
              <a:rPr lang="en-US" altLang="zh-CN" sz="1700" dirty="0" err="1" smtClean="0">
                <a:solidFill>
                  <a:srgbClr val="00B050"/>
                </a:solidFill>
                <a:ea typeface="华文楷体" panose="02010600040101010101" pitchFamily="2" charset="-122"/>
              </a:rPr>
              <a:t>TheLists</a:t>
            </a:r>
            <a:r>
              <a:rPr lang="en-US" altLang="zh-CN" sz="1700" dirty="0" smtClean="0">
                <a:solidFill>
                  <a:srgbClr val="00B050"/>
                </a:solidFill>
                <a:ea typeface="华文楷体" panose="02010600040101010101" pitchFamily="2" charset="-122"/>
              </a:rPr>
              <a:t>[</a:t>
            </a:r>
            <a:r>
              <a:rPr lang="en-US" altLang="zh-CN" sz="1700" dirty="0" err="1" smtClean="0">
                <a:solidFill>
                  <a:srgbClr val="00B050"/>
                </a:solidFill>
                <a:ea typeface="华文楷体" panose="02010600040101010101" pitchFamily="2" charset="-122"/>
              </a:rPr>
              <a:t>i</a:t>
            </a:r>
            <a:r>
              <a:rPr lang="en-US" altLang="zh-CN" sz="1700" dirty="0" smtClean="0">
                <a:solidFill>
                  <a:srgbClr val="00B050"/>
                </a:solidFill>
                <a:ea typeface="华文楷体" panose="02010600040101010101" pitchFamily="2" charset="-122"/>
              </a:rPr>
              <a:t>] = </a:t>
            </a:r>
            <a:r>
              <a:rPr lang="en-US" altLang="zh-CN" sz="1700" dirty="0" err="1" smtClean="0">
                <a:solidFill>
                  <a:srgbClr val="00B050"/>
                </a:solidFill>
                <a:ea typeface="华文楷体" panose="02010600040101010101" pitchFamily="2" charset="-122"/>
              </a:rPr>
              <a:t>malloc</a:t>
            </a:r>
            <a:r>
              <a:rPr lang="en-US" altLang="zh-CN" sz="1700" dirty="0" smtClean="0">
                <a:solidFill>
                  <a:srgbClr val="00B050"/>
                </a:solidFill>
                <a:ea typeface="华文楷体" panose="02010600040101010101" pitchFamily="2" charset="-122"/>
              </a:rPr>
              <a:t>(</a:t>
            </a:r>
            <a:r>
              <a:rPr lang="en-US" altLang="zh-CN" sz="1700" dirty="0" err="1" smtClean="0">
                <a:solidFill>
                  <a:srgbClr val="00B050"/>
                </a:solidFill>
                <a:ea typeface="华文楷体" panose="02010600040101010101" pitchFamily="2" charset="-122"/>
              </a:rPr>
              <a:t>sizeof</a:t>
            </a:r>
            <a:r>
              <a:rPr lang="en-US" altLang="zh-CN" sz="1700" dirty="0" smtClean="0">
                <a:solidFill>
                  <a:srgbClr val="00B050"/>
                </a:solidFill>
                <a:ea typeface="华文楷体" panose="02010600040101010101" pitchFamily="2" charset="-122"/>
              </a:rPr>
              <a:t>(</a:t>
            </a:r>
            <a:r>
              <a:rPr lang="en-US" altLang="zh-CN" sz="1700" dirty="0" err="1" smtClean="0">
                <a:solidFill>
                  <a:srgbClr val="00B050"/>
                </a:solidFill>
                <a:ea typeface="华文楷体" panose="02010600040101010101" pitchFamily="2" charset="-122"/>
              </a:rPr>
              <a:t>struct</a:t>
            </a:r>
            <a:r>
              <a:rPr lang="en-US" altLang="zh-CN" sz="1700" dirty="0" smtClean="0">
                <a:solidFill>
                  <a:srgbClr val="00B050"/>
                </a:solidFill>
                <a:ea typeface="华文楷体" panose="02010600040101010101" pitchFamily="2" charset="-122"/>
              </a:rPr>
              <a:t> </a:t>
            </a:r>
            <a:r>
              <a:rPr lang="en-US" altLang="zh-CN" sz="1700" dirty="0" err="1" smtClean="0">
                <a:solidFill>
                  <a:srgbClr val="00B050"/>
                </a:solidFill>
                <a:ea typeface="华文楷体" panose="02010600040101010101" pitchFamily="2" charset="-122"/>
              </a:rPr>
              <a:t>ListNode</a:t>
            </a:r>
            <a:r>
              <a:rPr lang="en-US" altLang="zh-CN" sz="1700" dirty="0" smtClean="0">
                <a:solidFill>
                  <a:srgbClr val="00B050"/>
                </a:solidFill>
                <a:ea typeface="华文楷体" panose="02010600040101010101" pitchFamily="2" charset="-122"/>
              </a:rPr>
              <a:t>));</a:t>
            </a:r>
            <a:endParaRPr lang="en-US" altLang="zh-CN" sz="1700" dirty="0" smtClean="0">
              <a:solidFill>
                <a:srgbClr val="00B050"/>
              </a:solidFill>
              <a:ea typeface="华文楷体" panose="02010600040101010101" pitchFamily="2" charset="-122"/>
            </a:endParaRPr>
          </a:p>
          <a:p>
            <a:pPr marL="0" indent="0">
              <a:buNone/>
            </a:pPr>
            <a:r>
              <a:rPr lang="en-US" altLang="zh-CN" sz="1700" dirty="0">
                <a:solidFill>
                  <a:srgbClr val="00B050"/>
                </a:solidFill>
                <a:ea typeface="华文楷体" panose="02010600040101010101" pitchFamily="2" charset="-122"/>
              </a:rPr>
              <a:t> </a:t>
            </a:r>
            <a:r>
              <a:rPr lang="en-US" altLang="zh-CN" sz="1700" dirty="0" smtClean="0">
                <a:solidFill>
                  <a:srgbClr val="00B050"/>
                </a:solidFill>
                <a:ea typeface="华文楷体" panose="02010600040101010101" pitchFamily="2" charset="-122"/>
              </a:rPr>
              <a:t>       if (</a:t>
            </a:r>
            <a:r>
              <a:rPr lang="en-US" altLang="zh-CN" sz="1700" dirty="0">
                <a:solidFill>
                  <a:srgbClr val="00B050"/>
                </a:solidFill>
                <a:ea typeface="华文楷体" panose="02010600040101010101" pitchFamily="2" charset="-122"/>
              </a:rPr>
              <a:t>H-&gt;</a:t>
            </a:r>
            <a:r>
              <a:rPr lang="en-US" altLang="zh-CN" sz="1700" dirty="0" err="1">
                <a:solidFill>
                  <a:srgbClr val="00B050"/>
                </a:solidFill>
                <a:ea typeface="华文楷体" panose="02010600040101010101" pitchFamily="2" charset="-122"/>
              </a:rPr>
              <a:t>TheLists</a:t>
            </a:r>
            <a:r>
              <a:rPr lang="en-US" altLang="zh-CN" sz="1700" dirty="0">
                <a:solidFill>
                  <a:srgbClr val="00B050"/>
                </a:solidFill>
                <a:ea typeface="华文楷体" panose="02010600040101010101" pitchFamily="2" charset="-122"/>
              </a:rPr>
              <a:t>[</a:t>
            </a:r>
            <a:r>
              <a:rPr lang="en-US" altLang="zh-CN" sz="1700" dirty="0" err="1">
                <a:solidFill>
                  <a:srgbClr val="00B050"/>
                </a:solidFill>
                <a:ea typeface="华文楷体" panose="02010600040101010101" pitchFamily="2" charset="-122"/>
              </a:rPr>
              <a:t>i</a:t>
            </a:r>
            <a:r>
              <a:rPr lang="en-US" altLang="zh-CN" sz="1700" dirty="0">
                <a:solidFill>
                  <a:srgbClr val="00B050"/>
                </a:solidFill>
                <a:ea typeface="华文楷体" panose="02010600040101010101" pitchFamily="2" charset="-122"/>
              </a:rPr>
              <a:t>] </a:t>
            </a:r>
            <a:r>
              <a:rPr lang="en-US" altLang="zh-CN" sz="1700" dirty="0" smtClean="0">
                <a:solidFill>
                  <a:srgbClr val="00B050"/>
                </a:solidFill>
                <a:ea typeface="华文楷体" panose="02010600040101010101" pitchFamily="2" charset="-122"/>
              </a:rPr>
              <a:t> ==NULL)  </a:t>
            </a:r>
            <a:r>
              <a:rPr lang="en-US" altLang="zh-CN" sz="1700" dirty="0">
                <a:solidFill>
                  <a:srgbClr val="00B050"/>
                </a:solidFill>
                <a:ea typeface="华文楷体" panose="02010600040101010101" pitchFamily="2" charset="-122"/>
              </a:rPr>
              <a:t> </a:t>
            </a:r>
            <a:r>
              <a:rPr lang="en-US" altLang="zh-CN" sz="1700" dirty="0" smtClean="0">
                <a:solidFill>
                  <a:srgbClr val="00B050"/>
                </a:solidFill>
                <a:ea typeface="华文楷体" panose="02010600040101010101" pitchFamily="2" charset="-122"/>
              </a:rPr>
              <a:t> </a:t>
            </a:r>
            <a:r>
              <a:rPr lang="en-US" altLang="zh-CN" sz="1700" dirty="0" err="1">
                <a:solidFill>
                  <a:srgbClr val="00B050"/>
                </a:solidFill>
                <a:ea typeface="华文楷体" panose="02010600040101010101" pitchFamily="2" charset="-122"/>
              </a:rPr>
              <a:t>FatalError</a:t>
            </a:r>
            <a:r>
              <a:rPr lang="en-US" altLang="zh-CN" sz="1700" dirty="0">
                <a:solidFill>
                  <a:srgbClr val="00B050"/>
                </a:solidFill>
                <a:ea typeface="华文楷体" panose="02010600040101010101" pitchFamily="2" charset="-122"/>
              </a:rPr>
              <a:t>(“Out of Space!!”); </a:t>
            </a:r>
            <a:endParaRPr lang="en-US" altLang="zh-CN" sz="1700" dirty="0" smtClean="0">
              <a:solidFill>
                <a:srgbClr val="00B050"/>
              </a:solidFill>
              <a:ea typeface="华文楷体" panose="02010600040101010101" pitchFamily="2" charset="-122"/>
            </a:endParaRPr>
          </a:p>
          <a:p>
            <a:pPr marL="0" indent="0">
              <a:buNone/>
            </a:pPr>
            <a:r>
              <a:rPr lang="en-US" altLang="zh-CN" sz="1700" dirty="0">
                <a:solidFill>
                  <a:srgbClr val="00B050"/>
                </a:solidFill>
                <a:ea typeface="华文楷体" panose="02010600040101010101" pitchFamily="2" charset="-122"/>
              </a:rPr>
              <a:t> </a:t>
            </a:r>
            <a:r>
              <a:rPr lang="en-US" altLang="zh-CN" sz="1700" dirty="0" smtClean="0">
                <a:solidFill>
                  <a:srgbClr val="00B050"/>
                </a:solidFill>
                <a:ea typeface="华文楷体" panose="02010600040101010101" pitchFamily="2" charset="-122"/>
              </a:rPr>
              <a:t>       else   H-</a:t>
            </a:r>
            <a:r>
              <a:rPr lang="en-US" altLang="zh-CN" sz="1700" dirty="0">
                <a:solidFill>
                  <a:srgbClr val="00B050"/>
                </a:solidFill>
                <a:ea typeface="华文楷体" panose="02010600040101010101" pitchFamily="2" charset="-122"/>
              </a:rPr>
              <a:t>&gt;</a:t>
            </a:r>
            <a:r>
              <a:rPr lang="en-US" altLang="zh-CN" sz="1700" dirty="0" err="1">
                <a:solidFill>
                  <a:srgbClr val="00B050"/>
                </a:solidFill>
                <a:ea typeface="华文楷体" panose="02010600040101010101" pitchFamily="2" charset="-122"/>
              </a:rPr>
              <a:t>TheLists</a:t>
            </a:r>
            <a:r>
              <a:rPr lang="en-US" altLang="zh-CN" sz="1700" dirty="0">
                <a:solidFill>
                  <a:srgbClr val="00B050"/>
                </a:solidFill>
                <a:ea typeface="华文楷体" panose="02010600040101010101" pitchFamily="2" charset="-122"/>
              </a:rPr>
              <a:t>[</a:t>
            </a:r>
            <a:r>
              <a:rPr lang="en-US" altLang="zh-CN" sz="1700" dirty="0" err="1">
                <a:solidFill>
                  <a:srgbClr val="00B050"/>
                </a:solidFill>
                <a:ea typeface="华文楷体" panose="02010600040101010101" pitchFamily="2" charset="-122"/>
              </a:rPr>
              <a:t>i</a:t>
            </a:r>
            <a:r>
              <a:rPr lang="en-US" altLang="zh-CN" sz="1700" dirty="0" smtClean="0">
                <a:solidFill>
                  <a:srgbClr val="00B050"/>
                </a:solidFill>
                <a:ea typeface="华文楷体" panose="02010600040101010101" pitchFamily="2" charset="-122"/>
              </a:rPr>
              <a:t>]-&gt;next = NULL;</a:t>
            </a:r>
            <a:endParaRPr lang="en-US" altLang="zh-CN" sz="1700" dirty="0" smtClean="0">
              <a:solidFill>
                <a:srgbClr val="00B050"/>
              </a:solidFill>
              <a:ea typeface="华文楷体" panose="02010600040101010101" pitchFamily="2" charset="-122"/>
            </a:endParaRPr>
          </a:p>
          <a:p>
            <a:pPr marL="0" indent="0">
              <a:buNone/>
            </a:pPr>
            <a:r>
              <a:rPr lang="en-US" altLang="zh-CN" sz="1700" dirty="0">
                <a:solidFill>
                  <a:srgbClr val="00B050"/>
                </a:solidFill>
                <a:ea typeface="华文楷体" panose="02010600040101010101" pitchFamily="2" charset="-122"/>
              </a:rPr>
              <a:t> </a:t>
            </a:r>
            <a:r>
              <a:rPr lang="en-US" altLang="zh-CN" sz="1700" dirty="0" smtClean="0">
                <a:solidFill>
                  <a:srgbClr val="00B050"/>
                </a:solidFill>
                <a:ea typeface="华文楷体" panose="02010600040101010101" pitchFamily="2" charset="-122"/>
              </a:rPr>
              <a:t>   }</a:t>
            </a:r>
            <a:endParaRPr lang="en-US" altLang="zh-CN" sz="1700" dirty="0" smtClean="0">
              <a:solidFill>
                <a:srgbClr val="00B050"/>
              </a:solidFill>
              <a:ea typeface="华文楷体" panose="02010600040101010101" pitchFamily="2" charset="-122"/>
            </a:endParaRPr>
          </a:p>
          <a:p>
            <a:pPr marL="0" indent="0">
              <a:buNone/>
            </a:pPr>
            <a:r>
              <a:rPr lang="en-US" altLang="zh-CN" sz="1700" dirty="0" smtClean="0">
                <a:ea typeface="华文楷体" panose="02010600040101010101" pitchFamily="2" charset="-122"/>
              </a:rPr>
              <a:t>    return H;</a:t>
            </a:r>
            <a:endParaRPr lang="en-US" altLang="zh-CN" sz="1700" dirty="0" smtClean="0">
              <a:ea typeface="华文楷体" panose="02010600040101010101" pitchFamily="2" charset="-122"/>
            </a:endParaRPr>
          </a:p>
          <a:p>
            <a:pPr marL="0" indent="0">
              <a:buNone/>
            </a:pPr>
            <a:r>
              <a:rPr lang="en-US" altLang="zh-CN" sz="1700" dirty="0">
                <a:ea typeface="华文楷体" panose="02010600040101010101" pitchFamily="2" charset="-122"/>
              </a:rPr>
              <a:t>}</a:t>
            </a:r>
            <a:endParaRPr lang="en-US" altLang="zh-CN" sz="17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a:lstStyle/>
          <a:p>
            <a:endParaRPr lang="zh-CN" altLang="en-US" dirty="0" smtClean="0">
              <a:ea typeface="华文楷体" panose="02010600040101010101" pitchFamily="2" charset="-122"/>
            </a:endParaRPr>
          </a:p>
        </p:txBody>
      </p:sp>
      <p:sp>
        <p:nvSpPr>
          <p:cNvPr id="72707" name="内容占位符 2"/>
          <p:cNvSpPr>
            <a:spLocks noGrp="1"/>
          </p:cNvSpPr>
          <p:nvPr>
            <p:ph idx="1"/>
          </p:nvPr>
        </p:nvSpPr>
        <p:spPr>
          <a:xfrm>
            <a:off x="36452" y="1107616"/>
            <a:ext cx="4175508" cy="5573255"/>
          </a:xfrm>
          <a:ln>
            <a:solidFill>
              <a:schemeClr val="accent1"/>
            </a:solidFill>
          </a:ln>
        </p:spPr>
        <p:txBody>
          <a:bodyPr/>
          <a:lstStyle/>
          <a:p>
            <a:pPr marL="0" indent="0">
              <a:buNone/>
            </a:pPr>
            <a:r>
              <a:rPr lang="en-US" altLang="zh-CN" sz="1800" dirty="0">
                <a:solidFill>
                  <a:srgbClr val="C00000"/>
                </a:solidFill>
                <a:ea typeface="华文楷体" panose="02010600040101010101" pitchFamily="2" charset="-122"/>
              </a:rPr>
              <a:t>[</a:t>
            </a:r>
            <a:r>
              <a:rPr lang="zh-CN" altLang="en-US" sz="1800" dirty="0" smtClean="0">
                <a:solidFill>
                  <a:srgbClr val="C00000"/>
                </a:solidFill>
                <a:ea typeface="华文楷体" panose="02010600040101010101" pitchFamily="2" charset="-122"/>
              </a:rPr>
              <a:t>查找算法</a:t>
            </a:r>
            <a:r>
              <a:rPr lang="en-US" altLang="zh-CN" sz="1800" dirty="0" smtClean="0">
                <a:solidFill>
                  <a:srgbClr val="C00000"/>
                </a:solidFill>
                <a:ea typeface="华文楷体" panose="02010600040101010101" pitchFamily="2" charset="-122"/>
              </a:rPr>
              <a:t>]</a:t>
            </a:r>
            <a:r>
              <a:rPr lang="en-US" altLang="zh-CN" sz="1800" dirty="0" smtClean="0">
                <a:ea typeface="华文楷体" panose="02010600040101010101" pitchFamily="2" charset="-122"/>
              </a:rPr>
              <a:t>(</a:t>
            </a:r>
            <a:r>
              <a:rPr lang="zh-CN" altLang="en-US" sz="1800" dirty="0" smtClean="0">
                <a:ea typeface="华文楷体" panose="02010600040101010101" pitchFamily="2" charset="-122"/>
              </a:rPr>
              <a:t>假设哈希函数为</a:t>
            </a:r>
            <a:r>
              <a:rPr lang="en-US" altLang="zh-CN" sz="1800" b="1" dirty="0" smtClean="0">
                <a:solidFill>
                  <a:srgbClr val="FF0000"/>
                </a:solidFill>
                <a:ea typeface="华文楷体" panose="02010600040101010101" pitchFamily="2" charset="-122"/>
              </a:rPr>
              <a:t>h</a:t>
            </a: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a:buNone/>
            </a:pPr>
            <a:r>
              <a:rPr lang="en-US" altLang="zh-CN" sz="1800" dirty="0" smtClean="0">
                <a:ea typeface="华文楷体" panose="02010600040101010101" pitchFamily="2" charset="-122"/>
              </a:rPr>
              <a:t>Position Find(</a:t>
            </a:r>
            <a:r>
              <a:rPr lang="en-US" altLang="zh-CN" sz="1800" dirty="0" err="1" smtClean="0">
                <a:ea typeface="华文楷体" panose="02010600040101010101" pitchFamily="2" charset="-122"/>
              </a:rPr>
              <a:t>KeyType</a:t>
            </a:r>
            <a:r>
              <a:rPr lang="en-US" altLang="zh-CN" sz="1800" dirty="0" smtClean="0">
                <a:ea typeface="华文楷体" panose="02010600040101010101" pitchFamily="2" charset="-122"/>
              </a:rPr>
              <a:t> key, </a:t>
            </a:r>
            <a:r>
              <a:rPr lang="en-US" altLang="zh-CN" sz="1800" dirty="0" err="1" smtClean="0">
                <a:ea typeface="华文楷体" panose="02010600040101010101" pitchFamily="2" charset="-122"/>
              </a:rPr>
              <a:t>HashTable</a:t>
            </a:r>
            <a:r>
              <a:rPr lang="en-US" altLang="zh-CN" sz="1800" dirty="0" smtClean="0">
                <a:ea typeface="华文楷体" panose="02010600040101010101" pitchFamily="2" charset="-122"/>
              </a:rPr>
              <a:t> H)</a:t>
            </a:r>
            <a:endParaRPr lang="en-US" altLang="zh-CN" sz="1800" dirty="0" smtClean="0">
              <a:ea typeface="华文楷体" panose="02010600040101010101" pitchFamily="2" charset="-122"/>
            </a:endParaRPr>
          </a:p>
          <a:p>
            <a:pPr>
              <a:buFont typeface="Wingdings" panose="05000000000000000000" pitchFamily="2" charset="2"/>
              <a:buNone/>
            </a:pPr>
            <a:r>
              <a:rPr lang="en-US" altLang="zh-CN" sz="1800" dirty="0" smtClean="0">
                <a:ea typeface="华文楷体" panose="02010600040101010101" pitchFamily="2" charset="-122"/>
              </a:rPr>
              <a:t>{</a:t>
            </a:r>
            <a:endParaRPr lang="en-US" altLang="zh-CN" sz="1800" dirty="0" smtClean="0">
              <a:ea typeface="华文楷体" panose="02010600040101010101" pitchFamily="2" charset="-122"/>
            </a:endParaRPr>
          </a:p>
          <a:p>
            <a:pPr>
              <a:buFont typeface="Wingdings" panose="05000000000000000000" pitchFamily="2" charset="2"/>
              <a:buNone/>
            </a:pPr>
            <a:r>
              <a:rPr lang="en-US" altLang="zh-CN" sz="1800" dirty="0" smtClean="0">
                <a:ea typeface="华文楷体" panose="02010600040101010101" pitchFamily="2" charset="-122"/>
              </a:rPr>
              <a:t>	Position P; List L;</a:t>
            </a:r>
            <a:endParaRPr lang="en-US" altLang="zh-CN" sz="1800" dirty="0" smtClean="0">
              <a:ea typeface="华文楷体" panose="02010600040101010101" pitchFamily="2" charset="-122"/>
            </a:endParaRPr>
          </a:p>
          <a:p>
            <a:pPr>
              <a:buFont typeface="Wingdings" panose="05000000000000000000" pitchFamily="2" charset="2"/>
              <a:buNone/>
            </a:pPr>
            <a:r>
              <a:rPr lang="en-US" altLang="zh-CN" sz="1800" dirty="0" smtClean="0">
                <a:ea typeface="华文楷体" panose="02010600040101010101" pitchFamily="2" charset="-122"/>
              </a:rPr>
              <a:t>	L = H-&gt;</a:t>
            </a:r>
            <a:r>
              <a:rPr lang="en-US" altLang="zh-CN" sz="1800" dirty="0" err="1" smtClean="0">
                <a:ea typeface="华文楷体" panose="02010600040101010101" pitchFamily="2" charset="-122"/>
              </a:rPr>
              <a:t>TheLists</a:t>
            </a:r>
            <a:r>
              <a:rPr lang="en-US" altLang="zh-CN" sz="1800" dirty="0" smtClean="0">
                <a:ea typeface="华文楷体" panose="02010600040101010101" pitchFamily="2" charset="-122"/>
              </a:rPr>
              <a:t>[</a:t>
            </a:r>
            <a:r>
              <a:rPr lang="en-US" altLang="zh-CN" sz="1800" b="1" dirty="0" smtClean="0">
                <a:solidFill>
                  <a:srgbClr val="FF0000"/>
                </a:solidFill>
                <a:ea typeface="华文楷体" panose="02010600040101010101" pitchFamily="2" charset="-122"/>
              </a:rPr>
              <a:t>h</a:t>
            </a:r>
            <a:r>
              <a:rPr lang="en-US" altLang="zh-CN" sz="1800" dirty="0" smtClean="0">
                <a:ea typeface="华文楷体" panose="02010600040101010101" pitchFamily="2" charset="-122"/>
              </a:rPr>
              <a:t>(key)];</a:t>
            </a:r>
            <a:endParaRPr lang="en-US" altLang="zh-CN" sz="1800" dirty="0" smtClean="0">
              <a:ea typeface="华文楷体" panose="02010600040101010101" pitchFamily="2" charset="-122"/>
            </a:endParaRPr>
          </a:p>
          <a:p>
            <a:pPr>
              <a:buFont typeface="Wingdings" panose="05000000000000000000" pitchFamily="2" charset="2"/>
              <a:buNone/>
            </a:pPr>
            <a:r>
              <a:rPr lang="en-US" altLang="zh-CN" sz="1800" dirty="0" smtClean="0">
                <a:ea typeface="华文楷体" panose="02010600040101010101" pitchFamily="2" charset="-122"/>
              </a:rPr>
              <a:t>	P = L-&gt;next;</a:t>
            </a:r>
            <a:endParaRPr lang="en-US" altLang="zh-CN" sz="1800" dirty="0" smtClean="0">
              <a:ea typeface="华文楷体" panose="02010600040101010101" pitchFamily="2" charset="-122"/>
            </a:endParaRPr>
          </a:p>
          <a:p>
            <a:pPr>
              <a:buFont typeface="Wingdings" panose="05000000000000000000" pitchFamily="2" charset="2"/>
              <a:buNone/>
            </a:pPr>
            <a:r>
              <a:rPr lang="en-US" altLang="zh-CN" sz="1800" dirty="0" smtClean="0">
                <a:ea typeface="华文楷体" panose="02010600040101010101" pitchFamily="2" charset="-122"/>
              </a:rPr>
              <a:t>	while (P!=NULL &amp;&amp; </a:t>
            </a:r>
            <a:endParaRPr lang="en-US" altLang="zh-CN" sz="1800" dirty="0" smtClean="0">
              <a:ea typeface="华文楷体" panose="02010600040101010101" pitchFamily="2" charset="-122"/>
            </a:endParaRPr>
          </a:p>
          <a:p>
            <a:pPr>
              <a:buFont typeface="Wingdings" panose="05000000000000000000" pitchFamily="2" charset="2"/>
              <a:buNone/>
            </a:pPr>
            <a:r>
              <a:rPr lang="en-US" altLang="zh-CN" sz="1800" dirty="0">
                <a:ea typeface="华文楷体" panose="02010600040101010101" pitchFamily="2" charset="-122"/>
              </a:rPr>
              <a:t> </a:t>
            </a:r>
            <a:r>
              <a:rPr lang="en-US" altLang="zh-CN" sz="1800" dirty="0" smtClean="0">
                <a:ea typeface="华文楷体" panose="02010600040101010101" pitchFamily="2" charset="-122"/>
              </a:rPr>
              <a:t>     P-&gt;</a:t>
            </a:r>
            <a:r>
              <a:rPr lang="en-US" altLang="zh-CN" sz="1800" dirty="0" err="1" smtClean="0">
                <a:ea typeface="华文楷体" panose="02010600040101010101" pitchFamily="2" charset="-122"/>
              </a:rPr>
              <a:t>data.key</a:t>
            </a:r>
            <a:r>
              <a:rPr lang="en-US" altLang="zh-CN" sz="1800" dirty="0" smtClean="0">
                <a:ea typeface="华文楷体" panose="02010600040101010101" pitchFamily="2" charset="-122"/>
              </a:rPr>
              <a:t> != key)</a:t>
            </a:r>
            <a:endParaRPr lang="en-US" altLang="zh-CN" sz="1800" dirty="0" smtClean="0">
              <a:ea typeface="华文楷体" panose="02010600040101010101" pitchFamily="2" charset="-122"/>
            </a:endParaRPr>
          </a:p>
          <a:p>
            <a:pPr>
              <a:buFont typeface="Wingdings" panose="05000000000000000000" pitchFamily="2" charset="2"/>
              <a:buNone/>
            </a:pPr>
            <a:r>
              <a:rPr lang="en-US" altLang="zh-CN" sz="1800" dirty="0" smtClean="0">
                <a:ea typeface="华文楷体" panose="02010600040101010101" pitchFamily="2" charset="-122"/>
              </a:rPr>
              <a:t>		P = P-&gt;next;</a:t>
            </a:r>
            <a:endParaRPr lang="en-US" altLang="zh-CN" sz="1800" dirty="0" smtClean="0">
              <a:ea typeface="华文楷体" panose="02010600040101010101" pitchFamily="2" charset="-122"/>
            </a:endParaRPr>
          </a:p>
          <a:p>
            <a:pPr>
              <a:buFont typeface="Wingdings" panose="05000000000000000000" pitchFamily="2" charset="2"/>
              <a:buNone/>
            </a:pPr>
            <a:r>
              <a:rPr lang="en-US" altLang="zh-CN" sz="1800" dirty="0" smtClean="0">
                <a:ea typeface="华文楷体" panose="02010600040101010101" pitchFamily="2" charset="-122"/>
              </a:rPr>
              <a:t>	return P;</a:t>
            </a:r>
            <a:endParaRPr lang="en-US" altLang="zh-CN" sz="1800" dirty="0" smtClean="0">
              <a:ea typeface="华文楷体" panose="02010600040101010101" pitchFamily="2" charset="-122"/>
            </a:endParaRPr>
          </a:p>
          <a:p>
            <a:pPr>
              <a:buFont typeface="Wingdings" panose="05000000000000000000" pitchFamily="2" charset="2"/>
              <a:buNone/>
            </a:pPr>
            <a:r>
              <a:rPr lang="en-US" altLang="zh-CN" sz="1800" dirty="0" smtClean="0">
                <a:ea typeface="华文楷体" panose="02010600040101010101" pitchFamily="2" charset="-122"/>
              </a:rPr>
              <a:t>}</a:t>
            </a:r>
            <a:endParaRPr lang="zh-CN" altLang="en-US" sz="1800" dirty="0" smtClean="0">
              <a:ea typeface="华文楷体" panose="02010600040101010101" pitchFamily="2" charset="-122"/>
            </a:endParaRPr>
          </a:p>
        </p:txBody>
      </p:sp>
      <p:sp>
        <p:nvSpPr>
          <p:cNvPr id="4" name="页脚占位符 3"/>
          <p:cNvSpPr>
            <a:spLocks noGrp="1"/>
          </p:cNvSpPr>
          <p:nvPr>
            <p:ph type="ftr" sz="quarter" idx="10"/>
          </p:nvPr>
        </p:nvSpPr>
        <p:spPr/>
        <p:txBody>
          <a:bodyPr/>
          <a:lstStyle/>
          <a:p>
            <a:pPr>
              <a:defRPr/>
            </a:pPr>
            <a:r>
              <a:rPr lang="en-US" altLang="zh-CN" smtClean="0"/>
              <a:t>BUPT SCST</a:t>
            </a:r>
            <a:endParaRPr lang="en-US" altLang="zh-CN"/>
          </a:p>
        </p:txBody>
      </p:sp>
      <p:sp>
        <p:nvSpPr>
          <p:cNvPr id="5" name="日期占位符 4"/>
          <p:cNvSpPr>
            <a:spLocks noGrp="1"/>
          </p:cNvSpPr>
          <p:nvPr>
            <p:ph type="dt" sz="quarter" idx="12"/>
          </p:nvPr>
        </p:nvSpPr>
        <p:spPr/>
        <p:txBody>
          <a:bodyPr/>
          <a:lstStyle/>
          <a:p>
            <a:pPr>
              <a:defRPr/>
            </a:pPr>
            <a:r>
              <a:rPr lang="en-US" altLang="zh-CN" smtClean="0"/>
              <a:t>BUPT</a:t>
            </a:r>
            <a:endParaRPr lang="en-US" altLang="zh-CN"/>
          </a:p>
        </p:txBody>
      </p:sp>
      <p:sp>
        <p:nvSpPr>
          <p:cNvPr id="6" name="内容占位符 2"/>
          <p:cNvSpPr txBox="1"/>
          <p:nvPr/>
        </p:nvSpPr>
        <p:spPr bwMode="auto">
          <a:xfrm>
            <a:off x="4355976" y="1107616"/>
            <a:ext cx="4788023" cy="5592763"/>
          </a:xfrm>
          <a:prstGeom prst="rect">
            <a:avLst/>
          </a:prstGeom>
          <a:noFill/>
          <a:ln>
            <a:solidFill>
              <a:schemeClr val="accent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3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20000"/>
              </a:spcBef>
              <a:spcAft>
                <a:spcPct val="0"/>
              </a:spcAft>
              <a:buClr>
                <a:schemeClr val="tx1"/>
              </a:buClr>
              <a:buChar char="•"/>
              <a:defRPr sz="24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altLang="zh-CN" sz="1700" dirty="0" smtClean="0">
                <a:solidFill>
                  <a:srgbClr val="C00000"/>
                </a:solidFill>
                <a:ea typeface="华文楷体" panose="02010600040101010101" pitchFamily="2" charset="-122"/>
              </a:rPr>
              <a:t>[</a:t>
            </a:r>
            <a:r>
              <a:rPr lang="zh-CN" altLang="en-US" sz="1700" dirty="0" smtClean="0">
                <a:solidFill>
                  <a:srgbClr val="C00000"/>
                </a:solidFill>
                <a:ea typeface="华文楷体" panose="02010600040101010101" pitchFamily="2" charset="-122"/>
              </a:rPr>
              <a:t>插入算法</a:t>
            </a:r>
            <a:r>
              <a:rPr lang="en-US" altLang="zh-CN" sz="1700" dirty="0" smtClean="0">
                <a:solidFill>
                  <a:srgbClr val="C00000"/>
                </a:solidFill>
                <a:ea typeface="华文楷体" panose="02010600040101010101" pitchFamily="2" charset="-122"/>
              </a:rPr>
              <a:t>]</a:t>
            </a:r>
            <a:endParaRPr lang="en-US" altLang="zh-CN" sz="1700" dirty="0" smtClean="0">
              <a:solidFill>
                <a:srgbClr val="C00000"/>
              </a:solidFill>
              <a:ea typeface="华文楷体" panose="02010600040101010101" pitchFamily="2" charset="-122"/>
            </a:endParaRPr>
          </a:p>
          <a:p>
            <a:pPr>
              <a:buFont typeface="Wingdings" panose="05000000000000000000" pitchFamily="2" charset="2"/>
              <a:buNone/>
            </a:pPr>
            <a:r>
              <a:rPr lang="en-US" altLang="zh-CN" sz="1700" dirty="0" smtClean="0">
                <a:ea typeface="华文楷体" panose="02010600040101010101" pitchFamily="2" charset="-122"/>
              </a:rPr>
              <a:t>Void Insert(</a:t>
            </a:r>
            <a:r>
              <a:rPr lang="en-US" altLang="zh-CN" sz="1700" dirty="0" err="1" smtClean="0">
                <a:ea typeface="华文楷体" panose="02010600040101010101" pitchFamily="2" charset="-122"/>
              </a:rPr>
              <a:t>ElemType</a:t>
            </a:r>
            <a:r>
              <a:rPr lang="en-US" altLang="zh-CN" sz="1700" dirty="0" smtClean="0">
                <a:ea typeface="华文楷体" panose="02010600040101010101" pitchFamily="2" charset="-122"/>
              </a:rPr>
              <a:t> data, </a:t>
            </a:r>
            <a:r>
              <a:rPr lang="en-US" altLang="zh-CN" sz="1700" dirty="0" err="1" smtClean="0">
                <a:ea typeface="华文楷体" panose="02010600040101010101" pitchFamily="2" charset="-122"/>
              </a:rPr>
              <a:t>HashTable</a:t>
            </a:r>
            <a:r>
              <a:rPr lang="en-US" altLang="zh-CN" sz="1700" dirty="0" smtClean="0">
                <a:ea typeface="华文楷体" panose="02010600040101010101" pitchFamily="2" charset="-122"/>
              </a:rPr>
              <a:t> &amp;H)</a:t>
            </a:r>
            <a:endParaRPr lang="en-US" altLang="zh-CN" sz="1700" dirty="0" smtClean="0">
              <a:ea typeface="华文楷体" panose="02010600040101010101" pitchFamily="2" charset="-122"/>
            </a:endParaRPr>
          </a:p>
          <a:p>
            <a:pPr>
              <a:buFont typeface="Wingdings" panose="05000000000000000000" pitchFamily="2" charset="2"/>
              <a:buNone/>
            </a:pPr>
            <a:r>
              <a:rPr lang="en-US" altLang="zh-CN" sz="1700" dirty="0" smtClean="0">
                <a:ea typeface="华文楷体" panose="02010600040101010101" pitchFamily="2" charset="-122"/>
              </a:rPr>
              <a:t>{</a:t>
            </a:r>
            <a:endParaRPr lang="en-US" altLang="zh-CN" sz="1700" dirty="0" smtClean="0">
              <a:ea typeface="华文楷体" panose="02010600040101010101" pitchFamily="2" charset="-122"/>
            </a:endParaRPr>
          </a:p>
          <a:p>
            <a:pPr>
              <a:buFont typeface="Wingdings" panose="05000000000000000000" pitchFamily="2" charset="2"/>
              <a:buNone/>
            </a:pPr>
            <a:r>
              <a:rPr lang="en-US" altLang="zh-CN" sz="1700" dirty="0" smtClean="0">
                <a:ea typeface="华文楷体" panose="02010600040101010101" pitchFamily="2" charset="-122"/>
              </a:rPr>
              <a:t>	position </a:t>
            </a:r>
            <a:r>
              <a:rPr lang="en-US" altLang="zh-CN" sz="1700" dirty="0" err="1" smtClean="0">
                <a:ea typeface="华文楷体" panose="02010600040101010101" pitchFamily="2" charset="-122"/>
              </a:rPr>
              <a:t>Pos</a:t>
            </a:r>
            <a:r>
              <a:rPr lang="en-US" altLang="zh-CN" sz="1700" dirty="0" smtClean="0">
                <a:ea typeface="华文楷体" panose="02010600040101010101" pitchFamily="2" charset="-122"/>
              </a:rPr>
              <a:t>, New;</a:t>
            </a:r>
            <a:endParaRPr lang="en-US" altLang="zh-CN" sz="1700" dirty="0" smtClean="0">
              <a:ea typeface="华文楷体" panose="02010600040101010101" pitchFamily="2" charset="-122"/>
            </a:endParaRPr>
          </a:p>
          <a:p>
            <a:pPr>
              <a:buFont typeface="Wingdings" panose="05000000000000000000" pitchFamily="2" charset="2"/>
              <a:buNone/>
            </a:pPr>
            <a:r>
              <a:rPr lang="en-US" altLang="zh-CN" sz="1700" dirty="0" smtClean="0">
                <a:ea typeface="华文楷体" panose="02010600040101010101" pitchFamily="2" charset="-122"/>
              </a:rPr>
              <a:t>	</a:t>
            </a:r>
            <a:r>
              <a:rPr lang="en-US" altLang="zh-CN" sz="1700" dirty="0" err="1" smtClean="0">
                <a:ea typeface="华文楷体" panose="02010600040101010101" pitchFamily="2" charset="-122"/>
              </a:rPr>
              <a:t>Pos</a:t>
            </a:r>
            <a:r>
              <a:rPr lang="en-US" altLang="zh-CN" sz="1700" dirty="0" smtClean="0">
                <a:ea typeface="华文楷体" panose="02010600040101010101" pitchFamily="2" charset="-122"/>
              </a:rPr>
              <a:t> = Find(</a:t>
            </a:r>
            <a:r>
              <a:rPr lang="en-US" altLang="zh-CN" sz="1700" dirty="0" err="1" smtClean="0">
                <a:ea typeface="华文楷体" panose="02010600040101010101" pitchFamily="2" charset="-122"/>
              </a:rPr>
              <a:t>data.key</a:t>
            </a:r>
            <a:r>
              <a:rPr lang="en-US" altLang="zh-CN" sz="1700" dirty="0" smtClean="0">
                <a:ea typeface="华文楷体" panose="02010600040101010101" pitchFamily="2" charset="-122"/>
              </a:rPr>
              <a:t> ,H);</a:t>
            </a:r>
            <a:endParaRPr lang="en-US" altLang="zh-CN" sz="1700" dirty="0" smtClean="0">
              <a:ea typeface="华文楷体" panose="02010600040101010101" pitchFamily="2" charset="-122"/>
            </a:endParaRPr>
          </a:p>
          <a:p>
            <a:pPr>
              <a:buFont typeface="Wingdings" panose="05000000000000000000" pitchFamily="2" charset="2"/>
              <a:buNone/>
            </a:pPr>
            <a:r>
              <a:rPr lang="en-US" altLang="zh-CN" sz="1700" dirty="0" smtClean="0">
                <a:ea typeface="华文楷体" panose="02010600040101010101" pitchFamily="2" charset="-122"/>
              </a:rPr>
              <a:t>	if (</a:t>
            </a:r>
            <a:r>
              <a:rPr lang="en-US" altLang="zh-CN" sz="1700" dirty="0" err="1" smtClean="0">
                <a:ea typeface="华文楷体" panose="02010600040101010101" pitchFamily="2" charset="-122"/>
              </a:rPr>
              <a:t>Pos</a:t>
            </a:r>
            <a:r>
              <a:rPr lang="en-US" altLang="zh-CN" sz="1700" dirty="0" smtClean="0">
                <a:ea typeface="华文楷体" panose="02010600040101010101" pitchFamily="2" charset="-122"/>
              </a:rPr>
              <a:t> == NULL)</a:t>
            </a:r>
            <a:endParaRPr lang="en-US" altLang="zh-CN" sz="1700" dirty="0" smtClean="0">
              <a:ea typeface="华文楷体" panose="02010600040101010101" pitchFamily="2" charset="-122"/>
            </a:endParaRPr>
          </a:p>
          <a:p>
            <a:pPr>
              <a:buFont typeface="Wingdings" panose="05000000000000000000" pitchFamily="2" charset="2"/>
              <a:buNone/>
            </a:pPr>
            <a:r>
              <a:rPr lang="en-US" altLang="zh-CN" sz="1700" dirty="0" smtClean="0">
                <a:ea typeface="华文楷体" panose="02010600040101010101" pitchFamily="2" charset="-122"/>
              </a:rPr>
              <a:t>	{</a:t>
            </a:r>
            <a:endParaRPr lang="en-US" altLang="zh-CN" sz="1700" dirty="0" smtClean="0">
              <a:ea typeface="华文楷体" panose="02010600040101010101" pitchFamily="2" charset="-122"/>
            </a:endParaRPr>
          </a:p>
          <a:p>
            <a:pPr>
              <a:buFont typeface="Wingdings" panose="05000000000000000000" pitchFamily="2" charset="2"/>
              <a:buNone/>
            </a:pPr>
            <a:r>
              <a:rPr lang="en-US" altLang="zh-CN" sz="1700" dirty="0" smtClean="0">
                <a:ea typeface="华文楷体" panose="02010600040101010101" pitchFamily="2" charset="-122"/>
              </a:rPr>
              <a:t>	    New = </a:t>
            </a:r>
            <a:r>
              <a:rPr lang="en-US" altLang="zh-CN" sz="1700" dirty="0" err="1" smtClean="0">
                <a:ea typeface="华文楷体" panose="02010600040101010101" pitchFamily="2" charset="-122"/>
              </a:rPr>
              <a:t>malloc</a:t>
            </a:r>
            <a:r>
              <a:rPr lang="en-US" altLang="zh-CN" sz="1700" dirty="0" smtClean="0">
                <a:ea typeface="华文楷体" panose="02010600040101010101" pitchFamily="2" charset="-122"/>
              </a:rPr>
              <a:t>(</a:t>
            </a:r>
            <a:r>
              <a:rPr lang="en-US" altLang="zh-CN" sz="1700" dirty="0" err="1" smtClean="0">
                <a:ea typeface="华文楷体" panose="02010600040101010101" pitchFamily="2" charset="-122"/>
              </a:rPr>
              <a:t>sizeof</a:t>
            </a:r>
            <a:r>
              <a:rPr lang="en-US" altLang="zh-CN" sz="1700" dirty="0" smtClean="0">
                <a:ea typeface="华文楷体" panose="02010600040101010101" pitchFamily="2" charset="-122"/>
              </a:rPr>
              <a:t>(</a:t>
            </a:r>
            <a:r>
              <a:rPr lang="en-US" altLang="zh-CN" sz="1700" dirty="0" err="1" smtClean="0">
                <a:ea typeface="华文楷体" panose="02010600040101010101" pitchFamily="2" charset="-122"/>
              </a:rPr>
              <a:t>struct</a:t>
            </a:r>
            <a:r>
              <a:rPr lang="en-US" altLang="zh-CN" sz="1700" dirty="0" smtClean="0">
                <a:ea typeface="华文楷体" panose="02010600040101010101" pitchFamily="2" charset="-122"/>
              </a:rPr>
              <a:t> </a:t>
            </a:r>
            <a:r>
              <a:rPr lang="en-US" altLang="zh-CN" sz="1700" dirty="0" err="1" smtClean="0">
                <a:ea typeface="华文楷体" panose="02010600040101010101" pitchFamily="2" charset="-122"/>
              </a:rPr>
              <a:t>ListNode</a:t>
            </a:r>
            <a:r>
              <a:rPr lang="en-US" altLang="zh-CN" sz="1700" dirty="0" smtClean="0">
                <a:ea typeface="华文楷体" panose="02010600040101010101" pitchFamily="2" charset="-122"/>
              </a:rPr>
              <a:t>))</a:t>
            </a:r>
            <a:endParaRPr lang="en-US" altLang="zh-CN" sz="1700" dirty="0" smtClean="0">
              <a:ea typeface="华文楷体" panose="02010600040101010101" pitchFamily="2" charset="-122"/>
            </a:endParaRPr>
          </a:p>
          <a:p>
            <a:pPr>
              <a:buFont typeface="Wingdings" panose="05000000000000000000" pitchFamily="2" charset="2"/>
              <a:buNone/>
            </a:pPr>
            <a:r>
              <a:rPr lang="en-US" altLang="zh-CN" sz="1700" dirty="0" smtClean="0">
                <a:ea typeface="华文楷体" panose="02010600040101010101" pitchFamily="2" charset="-122"/>
              </a:rPr>
              <a:t>	    if(New == NULL) </a:t>
            </a:r>
            <a:r>
              <a:rPr lang="en-US" altLang="zh-CN" sz="1700" dirty="0" err="1" smtClean="0">
                <a:ea typeface="华文楷体" panose="02010600040101010101" pitchFamily="2" charset="-122"/>
              </a:rPr>
              <a:t>FataError</a:t>
            </a:r>
            <a:r>
              <a:rPr lang="en-US" altLang="zh-CN" sz="1700" dirty="0" smtClean="0">
                <a:ea typeface="华文楷体" panose="02010600040101010101" pitchFamily="2" charset="-122"/>
              </a:rPr>
              <a:t>(“out of space!”);</a:t>
            </a:r>
            <a:endParaRPr lang="en-US" altLang="zh-CN" sz="1700" dirty="0" smtClean="0">
              <a:ea typeface="华文楷体" panose="02010600040101010101" pitchFamily="2" charset="-122"/>
            </a:endParaRPr>
          </a:p>
          <a:p>
            <a:pPr>
              <a:buFont typeface="Wingdings" panose="05000000000000000000" pitchFamily="2" charset="2"/>
              <a:buNone/>
            </a:pPr>
            <a:r>
              <a:rPr lang="en-US" altLang="zh-CN" sz="1700" dirty="0" smtClean="0">
                <a:ea typeface="华文楷体" panose="02010600040101010101" pitchFamily="2" charset="-122"/>
              </a:rPr>
              <a:t>	    else//</a:t>
            </a:r>
            <a:r>
              <a:rPr lang="zh-CN" altLang="en-US" sz="1700" dirty="0" smtClean="0">
                <a:ea typeface="华文楷体" panose="02010600040101010101" pitchFamily="2" charset="-122"/>
              </a:rPr>
              <a:t>头插法</a:t>
            </a:r>
            <a:endParaRPr lang="en-US" altLang="zh-CN" sz="1700" dirty="0" smtClean="0">
              <a:ea typeface="华文楷体" panose="02010600040101010101" pitchFamily="2" charset="-122"/>
            </a:endParaRPr>
          </a:p>
          <a:p>
            <a:pPr>
              <a:buFont typeface="Wingdings" panose="05000000000000000000" pitchFamily="2" charset="2"/>
              <a:buNone/>
            </a:pPr>
            <a:r>
              <a:rPr lang="en-US" altLang="zh-CN" sz="1700" dirty="0" smtClean="0">
                <a:ea typeface="华文楷体" panose="02010600040101010101" pitchFamily="2" charset="-122"/>
              </a:rPr>
              <a:t>	   {</a:t>
            </a:r>
            <a:endParaRPr lang="en-US" altLang="zh-CN" sz="1700" dirty="0" smtClean="0">
              <a:ea typeface="华文楷体" panose="02010600040101010101" pitchFamily="2" charset="-122"/>
            </a:endParaRPr>
          </a:p>
          <a:p>
            <a:pPr>
              <a:buFont typeface="Wingdings" panose="05000000000000000000" pitchFamily="2" charset="2"/>
              <a:buNone/>
            </a:pPr>
            <a:r>
              <a:rPr lang="en-US" altLang="zh-CN" sz="1700" dirty="0">
                <a:ea typeface="华文楷体" panose="02010600040101010101" pitchFamily="2" charset="-122"/>
              </a:rPr>
              <a:t> </a:t>
            </a:r>
            <a:r>
              <a:rPr lang="en-US" altLang="zh-CN" sz="1700" dirty="0" smtClean="0">
                <a:ea typeface="华文楷体" panose="02010600040101010101" pitchFamily="2" charset="-122"/>
              </a:rPr>
              <a:t>             L = H-&gt;</a:t>
            </a:r>
            <a:r>
              <a:rPr lang="en-US" altLang="zh-CN" sz="1700" dirty="0" err="1" smtClean="0">
                <a:ea typeface="华文楷体" panose="02010600040101010101" pitchFamily="2" charset="-122"/>
              </a:rPr>
              <a:t>TheLists</a:t>
            </a:r>
            <a:r>
              <a:rPr lang="en-US" altLang="zh-CN" sz="1700" dirty="0" smtClean="0">
                <a:ea typeface="华文楷体" panose="02010600040101010101" pitchFamily="2" charset="-122"/>
              </a:rPr>
              <a:t>[</a:t>
            </a:r>
            <a:r>
              <a:rPr lang="en-US" altLang="zh-CN" sz="1700" b="1" dirty="0" smtClean="0">
                <a:solidFill>
                  <a:srgbClr val="FF0000"/>
                </a:solidFill>
                <a:ea typeface="华文楷体" panose="02010600040101010101" pitchFamily="2" charset="-122"/>
              </a:rPr>
              <a:t>h</a:t>
            </a:r>
            <a:r>
              <a:rPr lang="en-US" altLang="zh-CN" sz="1700" dirty="0" smtClean="0">
                <a:ea typeface="华文楷体" panose="02010600040101010101" pitchFamily="2" charset="-122"/>
              </a:rPr>
              <a:t>(</a:t>
            </a:r>
            <a:r>
              <a:rPr lang="en-US" altLang="zh-CN" sz="1700" dirty="0" err="1" smtClean="0">
                <a:ea typeface="华文楷体" panose="02010600040101010101" pitchFamily="2" charset="-122"/>
              </a:rPr>
              <a:t>data.key</a:t>
            </a:r>
            <a:r>
              <a:rPr lang="en-US" altLang="zh-CN" sz="1700" dirty="0" smtClean="0">
                <a:ea typeface="华文楷体" panose="02010600040101010101" pitchFamily="2" charset="-122"/>
              </a:rPr>
              <a:t>)]; </a:t>
            </a:r>
            <a:endParaRPr lang="en-US" altLang="zh-CN" sz="1700" dirty="0" smtClean="0">
              <a:ea typeface="华文楷体" panose="02010600040101010101" pitchFamily="2" charset="-122"/>
            </a:endParaRPr>
          </a:p>
          <a:p>
            <a:pPr>
              <a:buFont typeface="Wingdings" panose="05000000000000000000" pitchFamily="2" charset="2"/>
              <a:buNone/>
            </a:pPr>
            <a:r>
              <a:rPr lang="en-US" altLang="zh-CN" sz="1700" dirty="0" smtClean="0">
                <a:ea typeface="华文楷体" panose="02010600040101010101" pitchFamily="2" charset="-122"/>
              </a:rPr>
              <a:t>	</a:t>
            </a:r>
            <a:r>
              <a:rPr lang="en-US" altLang="zh-CN" sz="1700" dirty="0">
                <a:ea typeface="华文楷体" panose="02010600040101010101" pitchFamily="2" charset="-122"/>
              </a:rPr>
              <a:t> </a:t>
            </a:r>
            <a:r>
              <a:rPr lang="en-US" altLang="zh-CN" sz="1700" dirty="0" smtClean="0">
                <a:ea typeface="华文楷体" panose="02010600040101010101" pitchFamily="2" charset="-122"/>
              </a:rPr>
              <a:t>       New-&gt;next = L-&gt;next;</a:t>
            </a:r>
            <a:endParaRPr lang="en-US" altLang="zh-CN" sz="1700" dirty="0" smtClean="0">
              <a:ea typeface="华文楷体" panose="02010600040101010101" pitchFamily="2" charset="-122"/>
            </a:endParaRPr>
          </a:p>
          <a:p>
            <a:pPr>
              <a:buFont typeface="Wingdings" panose="05000000000000000000" pitchFamily="2" charset="2"/>
              <a:buNone/>
            </a:pPr>
            <a:r>
              <a:rPr lang="en-US" altLang="zh-CN" sz="1700" dirty="0" smtClean="0">
                <a:ea typeface="华文楷体" panose="02010600040101010101" pitchFamily="2" charset="-122"/>
              </a:rPr>
              <a:t>	</a:t>
            </a:r>
            <a:r>
              <a:rPr lang="en-US" altLang="zh-CN" sz="1700" dirty="0">
                <a:ea typeface="华文楷体" panose="02010600040101010101" pitchFamily="2" charset="-122"/>
              </a:rPr>
              <a:t> </a:t>
            </a:r>
            <a:r>
              <a:rPr lang="en-US" altLang="zh-CN" sz="1700" dirty="0" smtClean="0">
                <a:ea typeface="华文楷体" panose="02010600040101010101" pitchFamily="2" charset="-122"/>
              </a:rPr>
              <a:t>       New-&gt;data = data;</a:t>
            </a:r>
            <a:endParaRPr lang="en-US" altLang="zh-CN" sz="1700" dirty="0" smtClean="0">
              <a:ea typeface="华文楷体" panose="02010600040101010101" pitchFamily="2" charset="-122"/>
            </a:endParaRPr>
          </a:p>
          <a:p>
            <a:pPr>
              <a:buFont typeface="Wingdings" panose="05000000000000000000" pitchFamily="2" charset="2"/>
              <a:buNone/>
            </a:pPr>
            <a:r>
              <a:rPr lang="en-US" altLang="zh-CN" sz="1700" dirty="0" smtClean="0">
                <a:ea typeface="华文楷体" panose="02010600040101010101" pitchFamily="2" charset="-122"/>
              </a:rPr>
              <a:t>	</a:t>
            </a:r>
            <a:r>
              <a:rPr lang="en-US" altLang="zh-CN" sz="1700" dirty="0">
                <a:ea typeface="华文楷体" panose="02010600040101010101" pitchFamily="2" charset="-122"/>
              </a:rPr>
              <a:t> </a:t>
            </a:r>
            <a:r>
              <a:rPr lang="en-US" altLang="zh-CN" sz="1700" dirty="0" smtClean="0">
                <a:ea typeface="华文楷体" panose="02010600040101010101" pitchFamily="2" charset="-122"/>
              </a:rPr>
              <a:t>       L-&gt;next = New;</a:t>
            </a:r>
            <a:endParaRPr lang="en-US" altLang="zh-CN" sz="1700" dirty="0" smtClean="0">
              <a:ea typeface="华文楷体" panose="02010600040101010101" pitchFamily="2" charset="-122"/>
            </a:endParaRPr>
          </a:p>
          <a:p>
            <a:pPr>
              <a:buFont typeface="Wingdings" panose="05000000000000000000" pitchFamily="2" charset="2"/>
              <a:buNone/>
            </a:pPr>
            <a:r>
              <a:rPr lang="en-US" altLang="zh-CN" sz="1700" dirty="0" smtClean="0">
                <a:ea typeface="华文楷体" panose="02010600040101010101" pitchFamily="2" charset="-122"/>
              </a:rPr>
              <a:t>	    }</a:t>
            </a:r>
            <a:endParaRPr lang="en-US" altLang="zh-CN" sz="1700" dirty="0" smtClean="0">
              <a:ea typeface="华文楷体" panose="02010600040101010101" pitchFamily="2" charset="-122"/>
            </a:endParaRPr>
          </a:p>
          <a:p>
            <a:pPr>
              <a:buFont typeface="Wingdings" panose="05000000000000000000" pitchFamily="2" charset="2"/>
              <a:buNone/>
            </a:pPr>
            <a:r>
              <a:rPr lang="en-US" altLang="zh-CN" sz="1700" dirty="0" smtClean="0">
                <a:ea typeface="华文楷体" panose="02010600040101010101" pitchFamily="2" charset="-122"/>
              </a:rPr>
              <a:t>	}</a:t>
            </a:r>
            <a:endParaRPr lang="en-US" altLang="zh-CN" sz="1700" dirty="0" smtClean="0">
              <a:ea typeface="华文楷体" panose="02010600040101010101" pitchFamily="2" charset="-122"/>
            </a:endParaRPr>
          </a:p>
          <a:p>
            <a:pPr>
              <a:buFont typeface="Wingdings" panose="05000000000000000000" pitchFamily="2" charset="2"/>
              <a:buNone/>
            </a:pPr>
            <a:r>
              <a:rPr lang="en-US" altLang="zh-CN" sz="1700" dirty="0" smtClean="0">
                <a:ea typeface="华文楷体" panose="02010600040101010101" pitchFamily="2" charset="-122"/>
              </a:rPr>
              <a:t>}</a:t>
            </a:r>
            <a:endParaRPr lang="zh-CN" altLang="en-US" sz="17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页脚占位符 3"/>
          <p:cNvSpPr>
            <a:spLocks noGrp="1"/>
          </p:cNvSpPr>
          <p:nvPr>
            <p:ph type="ftr" sz="quarter" idx="10"/>
          </p:nvPr>
        </p:nvSpPr>
        <p:spPr/>
        <p:txBody>
          <a:bodyPr/>
          <a:lstStyle/>
          <a:p>
            <a:pPr>
              <a:defRPr/>
            </a:pPr>
            <a:r>
              <a:rPr lang="en-US" altLang="zh-CN"/>
              <a:t>BUPT SCST</a:t>
            </a:r>
            <a:endParaRPr lang="en-US" altLang="zh-CN"/>
          </a:p>
        </p:txBody>
      </p:sp>
      <p:sp>
        <p:nvSpPr>
          <p:cNvPr id="73" name="日期占位符 5"/>
          <p:cNvSpPr>
            <a:spLocks noGrp="1"/>
          </p:cNvSpPr>
          <p:nvPr>
            <p:ph type="dt" sz="quarter" idx="12"/>
          </p:nvPr>
        </p:nvSpPr>
        <p:spPr/>
        <p:txBody>
          <a:bodyPr/>
          <a:lstStyle/>
          <a:p>
            <a:pPr>
              <a:defRPr/>
            </a:pPr>
            <a:r>
              <a:rPr lang="en-US" altLang="zh-CN"/>
              <a:t>BUPT</a:t>
            </a:r>
            <a:endParaRPr lang="en-US" altLang="zh-CN"/>
          </a:p>
        </p:txBody>
      </p:sp>
      <p:sp>
        <p:nvSpPr>
          <p:cNvPr id="7475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4757"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800000"/>
                </a:solidFill>
                <a:ea typeface="华文楷体" panose="02010600040101010101" pitchFamily="2" charset="-122"/>
              </a:rPr>
              <a:t>[4. </a:t>
            </a:r>
            <a:r>
              <a:rPr lang="zh-CN" altLang="en-US" sz="2400" b="1" dirty="0" smtClean="0">
                <a:solidFill>
                  <a:srgbClr val="800000"/>
                </a:solidFill>
                <a:ea typeface="华文楷体" panose="02010600040101010101" pitchFamily="2" charset="-122"/>
              </a:rPr>
              <a:t>建立公共溢出区</a:t>
            </a:r>
            <a:r>
              <a:rPr lang="en-US" altLang="zh-CN" sz="2400" b="1" dirty="0" smtClean="0">
                <a:solidFill>
                  <a:srgbClr val="800000"/>
                </a:solidFill>
                <a:ea typeface="华文楷体" panose="02010600040101010101" pitchFamily="2" charset="-122"/>
              </a:rPr>
              <a:t>]</a:t>
            </a:r>
            <a:endParaRPr lang="en-US" altLang="zh-CN" sz="2400" b="1" dirty="0" smtClean="0">
              <a:solidFill>
                <a:srgbClr val="800000"/>
              </a:solidFill>
              <a:ea typeface="华文楷体" panose="02010600040101010101" pitchFamily="2" charset="-122"/>
            </a:endParaRPr>
          </a:p>
          <a:p>
            <a:pPr eaLnBrk="1" hangingPunct="1">
              <a:buFont typeface="Wingdings" panose="05000000000000000000" pitchFamily="2" charset="2"/>
              <a:buNone/>
            </a:pPr>
            <a:r>
              <a:rPr kumimoji="1" lang="zh-CN" altLang="en-US" sz="2400" dirty="0" smtClean="0">
                <a:ea typeface="华文楷体" panose="02010600040101010101" pitchFamily="2" charset="-122"/>
              </a:rPr>
              <a:t>将发生冲突的结点都存放在一个公共溢出区内。通常用于组织存在于外存设备上的数据文件。</a:t>
            </a:r>
            <a:r>
              <a:rPr kumimoji="1" lang="en-US" altLang="zh-CN" sz="2400" dirty="0" smtClean="0">
                <a:ea typeface="华文楷体" panose="02010600040101010101" pitchFamily="2" charset="-122"/>
              </a:rPr>
              <a:t>hash</a:t>
            </a:r>
            <a:r>
              <a:rPr kumimoji="1" lang="zh-CN" altLang="en-US" sz="2400" dirty="0" smtClean="0">
                <a:ea typeface="华文楷体" panose="02010600040101010101" pitchFamily="2" charset="-122"/>
              </a:rPr>
              <a:t>表</a:t>
            </a:r>
            <a:r>
              <a:rPr kumimoji="1" lang="en-US" altLang="zh-CN" sz="2400" dirty="0" smtClean="0">
                <a:ea typeface="华文楷体" panose="02010600040101010101" pitchFamily="2" charset="-122"/>
              </a:rPr>
              <a:t>(</a:t>
            </a:r>
            <a:r>
              <a:rPr kumimoji="1" lang="zh-CN" altLang="en-US" sz="2400" dirty="0" smtClean="0">
                <a:ea typeface="华文楷体" panose="02010600040101010101" pitchFamily="2" charset="-122"/>
              </a:rPr>
              <a:t>基本区</a:t>
            </a:r>
            <a:r>
              <a:rPr kumimoji="1" lang="en-US" altLang="zh-CN" sz="2400" dirty="0" smtClean="0">
                <a:ea typeface="华文楷体" panose="02010600040101010101" pitchFamily="2" charset="-122"/>
              </a:rPr>
              <a:t>)</a:t>
            </a:r>
            <a:r>
              <a:rPr kumimoji="1" lang="zh-CN" altLang="en-US" sz="2400" dirty="0" smtClean="0">
                <a:ea typeface="华文楷体" panose="02010600040101010101" pitchFamily="2" charset="-122"/>
              </a:rPr>
              <a:t>只存放一个记录。发生冲突的记录都存放在公共溢出区内。</a:t>
            </a:r>
            <a:endParaRPr kumimoji="1" lang="zh-CN" altLang="en-US" sz="2400" dirty="0" smtClean="0">
              <a:ea typeface="华文楷体" panose="02010600040101010101" pitchFamily="2" charset="-122"/>
            </a:endParaRPr>
          </a:p>
        </p:txBody>
      </p:sp>
      <p:sp>
        <p:nvSpPr>
          <p:cNvPr id="74758" name="Rectangle 4"/>
          <p:cNvSpPr>
            <a:spLocks noChangeArrowheads="1"/>
          </p:cNvSpPr>
          <p:nvPr/>
        </p:nvSpPr>
        <p:spPr bwMode="auto">
          <a:xfrm>
            <a:off x="2438400" y="3429000"/>
            <a:ext cx="1019175" cy="2514600"/>
          </a:xfrm>
          <a:prstGeom prst="rect">
            <a:avLst/>
          </a:prstGeom>
          <a:solidFill>
            <a:srgbClr val="FFFFFF"/>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4759" name="Line 5"/>
          <p:cNvSpPr>
            <a:spLocks noChangeShapeType="1"/>
          </p:cNvSpPr>
          <p:nvPr/>
        </p:nvSpPr>
        <p:spPr bwMode="auto">
          <a:xfrm>
            <a:off x="2438400" y="3657600"/>
            <a:ext cx="1019175" cy="158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760" name="Line 6"/>
          <p:cNvSpPr>
            <a:spLocks noChangeShapeType="1"/>
          </p:cNvSpPr>
          <p:nvPr/>
        </p:nvSpPr>
        <p:spPr bwMode="auto">
          <a:xfrm>
            <a:off x="2438400" y="3886200"/>
            <a:ext cx="1019175" cy="158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761" name="Line 7"/>
          <p:cNvSpPr>
            <a:spLocks noChangeShapeType="1"/>
          </p:cNvSpPr>
          <p:nvPr/>
        </p:nvSpPr>
        <p:spPr bwMode="auto">
          <a:xfrm>
            <a:off x="2438400" y="4116388"/>
            <a:ext cx="1019175" cy="158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762" name="Line 8"/>
          <p:cNvSpPr>
            <a:spLocks noChangeShapeType="1"/>
          </p:cNvSpPr>
          <p:nvPr/>
        </p:nvSpPr>
        <p:spPr bwMode="auto">
          <a:xfrm>
            <a:off x="2438400" y="4343400"/>
            <a:ext cx="1019175" cy="158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763" name="Line 9"/>
          <p:cNvSpPr>
            <a:spLocks noChangeShapeType="1"/>
          </p:cNvSpPr>
          <p:nvPr/>
        </p:nvSpPr>
        <p:spPr bwMode="auto">
          <a:xfrm>
            <a:off x="2438400" y="4572000"/>
            <a:ext cx="1019175" cy="158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764" name="Line 10"/>
          <p:cNvSpPr>
            <a:spLocks noChangeShapeType="1"/>
          </p:cNvSpPr>
          <p:nvPr/>
        </p:nvSpPr>
        <p:spPr bwMode="auto">
          <a:xfrm>
            <a:off x="2438400" y="4800600"/>
            <a:ext cx="1019175" cy="158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765" name="Line 11"/>
          <p:cNvSpPr>
            <a:spLocks noChangeShapeType="1"/>
          </p:cNvSpPr>
          <p:nvPr/>
        </p:nvSpPr>
        <p:spPr bwMode="auto">
          <a:xfrm>
            <a:off x="2438400" y="5029200"/>
            <a:ext cx="1019175" cy="158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766" name="Line 12"/>
          <p:cNvSpPr>
            <a:spLocks noChangeShapeType="1"/>
          </p:cNvSpPr>
          <p:nvPr/>
        </p:nvSpPr>
        <p:spPr bwMode="auto">
          <a:xfrm>
            <a:off x="2438400" y="5256213"/>
            <a:ext cx="1019175" cy="158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767" name="Line 13"/>
          <p:cNvSpPr>
            <a:spLocks noChangeShapeType="1"/>
          </p:cNvSpPr>
          <p:nvPr/>
        </p:nvSpPr>
        <p:spPr bwMode="auto">
          <a:xfrm>
            <a:off x="2438400" y="5486400"/>
            <a:ext cx="1019175" cy="158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768" name="Line 14"/>
          <p:cNvSpPr>
            <a:spLocks noChangeShapeType="1"/>
          </p:cNvSpPr>
          <p:nvPr/>
        </p:nvSpPr>
        <p:spPr bwMode="auto">
          <a:xfrm>
            <a:off x="2438400" y="5715000"/>
            <a:ext cx="1019175" cy="158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769" name="Text Box 15"/>
          <p:cNvSpPr txBox="1">
            <a:spLocks noChangeArrowheads="1"/>
          </p:cNvSpPr>
          <p:nvPr/>
        </p:nvSpPr>
        <p:spPr bwMode="auto">
          <a:xfrm>
            <a:off x="2170113" y="3352800"/>
            <a:ext cx="41116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0</a:t>
            </a:r>
            <a:endParaRPr kumimoji="1" lang="en-US" altLang="zh-CN" sz="1400" b="1" dirty="0">
              <a:latin typeface="Times New Roman" panose="02020603050405020304" pitchFamily="18" charset="0"/>
              <a:ea typeface="华文楷体" panose="02010600040101010101" pitchFamily="2" charset="-122"/>
            </a:endParaRPr>
          </a:p>
        </p:txBody>
      </p:sp>
      <p:sp>
        <p:nvSpPr>
          <p:cNvPr id="74770" name="Text Box 16"/>
          <p:cNvSpPr txBox="1">
            <a:spLocks noChangeArrowheads="1"/>
          </p:cNvSpPr>
          <p:nvPr/>
        </p:nvSpPr>
        <p:spPr bwMode="auto">
          <a:xfrm>
            <a:off x="2170113" y="3657600"/>
            <a:ext cx="41116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1</a:t>
            </a:r>
            <a:endParaRPr kumimoji="1" lang="en-US" altLang="zh-CN" sz="1400" b="1" dirty="0">
              <a:latin typeface="Times New Roman" panose="02020603050405020304" pitchFamily="18" charset="0"/>
              <a:ea typeface="华文楷体" panose="02010600040101010101" pitchFamily="2" charset="-122"/>
            </a:endParaRPr>
          </a:p>
        </p:txBody>
      </p:sp>
      <p:sp>
        <p:nvSpPr>
          <p:cNvPr id="74771" name="Text Box 17"/>
          <p:cNvSpPr txBox="1">
            <a:spLocks noChangeArrowheads="1"/>
          </p:cNvSpPr>
          <p:nvPr/>
        </p:nvSpPr>
        <p:spPr bwMode="auto">
          <a:xfrm>
            <a:off x="2170113" y="3886200"/>
            <a:ext cx="41116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2</a:t>
            </a:r>
            <a:endParaRPr kumimoji="1" lang="en-US" altLang="zh-CN" sz="1400" b="1" dirty="0">
              <a:latin typeface="Times New Roman" panose="02020603050405020304" pitchFamily="18" charset="0"/>
              <a:ea typeface="华文楷体" panose="02010600040101010101" pitchFamily="2" charset="-122"/>
            </a:endParaRPr>
          </a:p>
        </p:txBody>
      </p:sp>
      <p:sp>
        <p:nvSpPr>
          <p:cNvPr id="74772" name="Text Box 18"/>
          <p:cNvSpPr txBox="1">
            <a:spLocks noChangeArrowheads="1"/>
          </p:cNvSpPr>
          <p:nvPr/>
        </p:nvSpPr>
        <p:spPr bwMode="auto">
          <a:xfrm>
            <a:off x="2170113" y="4116388"/>
            <a:ext cx="41116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3</a:t>
            </a:r>
            <a:endParaRPr kumimoji="1" lang="en-US" altLang="zh-CN" sz="1400" b="1" dirty="0">
              <a:latin typeface="Times New Roman" panose="02020603050405020304" pitchFamily="18" charset="0"/>
              <a:ea typeface="华文楷体" panose="02010600040101010101" pitchFamily="2" charset="-122"/>
            </a:endParaRPr>
          </a:p>
        </p:txBody>
      </p:sp>
      <p:sp>
        <p:nvSpPr>
          <p:cNvPr id="74773" name="Text Box 19"/>
          <p:cNvSpPr txBox="1">
            <a:spLocks noChangeArrowheads="1"/>
          </p:cNvSpPr>
          <p:nvPr/>
        </p:nvSpPr>
        <p:spPr bwMode="auto">
          <a:xfrm>
            <a:off x="2170113" y="4344988"/>
            <a:ext cx="41116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4</a:t>
            </a:r>
            <a:endParaRPr kumimoji="1" lang="en-US" altLang="zh-CN" sz="1400" b="1" dirty="0">
              <a:latin typeface="Times New Roman" panose="02020603050405020304" pitchFamily="18" charset="0"/>
              <a:ea typeface="华文楷体" panose="02010600040101010101" pitchFamily="2" charset="-122"/>
            </a:endParaRPr>
          </a:p>
        </p:txBody>
      </p:sp>
      <p:sp>
        <p:nvSpPr>
          <p:cNvPr id="74774" name="Text Box 20"/>
          <p:cNvSpPr txBox="1">
            <a:spLocks noChangeArrowheads="1"/>
          </p:cNvSpPr>
          <p:nvPr/>
        </p:nvSpPr>
        <p:spPr bwMode="auto">
          <a:xfrm>
            <a:off x="2170113" y="4572000"/>
            <a:ext cx="41116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5</a:t>
            </a:r>
            <a:endParaRPr kumimoji="1" lang="en-US" altLang="zh-CN" sz="1400" b="1" dirty="0">
              <a:latin typeface="Times New Roman" panose="02020603050405020304" pitchFamily="18" charset="0"/>
              <a:ea typeface="华文楷体" panose="02010600040101010101" pitchFamily="2" charset="-122"/>
            </a:endParaRPr>
          </a:p>
        </p:txBody>
      </p:sp>
      <p:sp>
        <p:nvSpPr>
          <p:cNvPr id="74775" name="Text Box 21"/>
          <p:cNvSpPr txBox="1">
            <a:spLocks noChangeArrowheads="1"/>
          </p:cNvSpPr>
          <p:nvPr/>
        </p:nvSpPr>
        <p:spPr bwMode="auto">
          <a:xfrm>
            <a:off x="2170113" y="4800600"/>
            <a:ext cx="41116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6</a:t>
            </a:r>
            <a:endParaRPr kumimoji="1" lang="en-US" altLang="zh-CN" sz="1400" b="1" dirty="0">
              <a:latin typeface="Times New Roman" panose="02020603050405020304" pitchFamily="18" charset="0"/>
              <a:ea typeface="华文楷体" panose="02010600040101010101" pitchFamily="2" charset="-122"/>
            </a:endParaRPr>
          </a:p>
        </p:txBody>
      </p:sp>
      <p:sp>
        <p:nvSpPr>
          <p:cNvPr id="74776" name="Text Box 22"/>
          <p:cNvSpPr txBox="1">
            <a:spLocks noChangeArrowheads="1"/>
          </p:cNvSpPr>
          <p:nvPr/>
        </p:nvSpPr>
        <p:spPr bwMode="auto">
          <a:xfrm>
            <a:off x="2170113" y="5030788"/>
            <a:ext cx="41116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7</a:t>
            </a:r>
            <a:endParaRPr kumimoji="1" lang="en-US" altLang="zh-CN" sz="1400" b="1" dirty="0">
              <a:latin typeface="Times New Roman" panose="02020603050405020304" pitchFamily="18" charset="0"/>
              <a:ea typeface="华文楷体" panose="02010600040101010101" pitchFamily="2" charset="-122"/>
            </a:endParaRPr>
          </a:p>
        </p:txBody>
      </p:sp>
      <p:sp>
        <p:nvSpPr>
          <p:cNvPr id="74777" name="Text Box 23"/>
          <p:cNvSpPr txBox="1">
            <a:spLocks noChangeArrowheads="1"/>
          </p:cNvSpPr>
          <p:nvPr/>
        </p:nvSpPr>
        <p:spPr bwMode="auto">
          <a:xfrm>
            <a:off x="2170113" y="5257800"/>
            <a:ext cx="41116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8</a:t>
            </a:r>
            <a:endParaRPr kumimoji="1" lang="en-US" altLang="zh-CN" sz="1400" b="1" dirty="0">
              <a:latin typeface="Times New Roman" panose="02020603050405020304" pitchFamily="18" charset="0"/>
              <a:ea typeface="华文楷体" panose="02010600040101010101" pitchFamily="2" charset="-122"/>
            </a:endParaRPr>
          </a:p>
        </p:txBody>
      </p:sp>
      <p:sp>
        <p:nvSpPr>
          <p:cNvPr id="74778" name="Text Box 24"/>
          <p:cNvSpPr txBox="1">
            <a:spLocks noChangeArrowheads="1"/>
          </p:cNvSpPr>
          <p:nvPr/>
        </p:nvSpPr>
        <p:spPr bwMode="auto">
          <a:xfrm>
            <a:off x="2170113" y="5487988"/>
            <a:ext cx="411162"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9</a:t>
            </a:r>
            <a:endParaRPr kumimoji="1" lang="en-US" altLang="zh-CN" sz="1400" b="1" dirty="0">
              <a:latin typeface="Times New Roman" panose="02020603050405020304" pitchFamily="18" charset="0"/>
              <a:ea typeface="华文楷体" panose="02010600040101010101" pitchFamily="2" charset="-122"/>
            </a:endParaRPr>
          </a:p>
        </p:txBody>
      </p:sp>
      <p:sp>
        <p:nvSpPr>
          <p:cNvPr id="74779" name="Text Box 25"/>
          <p:cNvSpPr txBox="1">
            <a:spLocks noChangeArrowheads="1"/>
          </p:cNvSpPr>
          <p:nvPr/>
        </p:nvSpPr>
        <p:spPr bwMode="auto">
          <a:xfrm>
            <a:off x="2068513" y="5715000"/>
            <a:ext cx="1284287"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10</a:t>
            </a:r>
            <a:endParaRPr kumimoji="1" lang="en-US" altLang="zh-CN" sz="1400" b="1" dirty="0">
              <a:latin typeface="Times New Roman" panose="02020603050405020304" pitchFamily="18" charset="0"/>
              <a:ea typeface="华文楷体" panose="02010600040101010101" pitchFamily="2" charset="-122"/>
            </a:endParaRPr>
          </a:p>
        </p:txBody>
      </p:sp>
      <p:sp>
        <p:nvSpPr>
          <p:cNvPr id="74780" name="Text Box 26"/>
          <p:cNvSpPr txBox="1">
            <a:spLocks noChangeArrowheads="1"/>
          </p:cNvSpPr>
          <p:nvPr/>
        </p:nvSpPr>
        <p:spPr bwMode="auto">
          <a:xfrm>
            <a:off x="2895600" y="3382963"/>
            <a:ext cx="67945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4781" name="Text Box 27"/>
          <p:cNvSpPr txBox="1">
            <a:spLocks noChangeArrowheads="1"/>
          </p:cNvSpPr>
          <p:nvPr/>
        </p:nvSpPr>
        <p:spPr bwMode="auto">
          <a:xfrm>
            <a:off x="2901950" y="3867150"/>
            <a:ext cx="67945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4782" name="Text Box 28"/>
          <p:cNvSpPr txBox="1">
            <a:spLocks noChangeArrowheads="1"/>
          </p:cNvSpPr>
          <p:nvPr/>
        </p:nvSpPr>
        <p:spPr bwMode="auto">
          <a:xfrm>
            <a:off x="2901950" y="4071938"/>
            <a:ext cx="67945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4783" name="Text Box 29"/>
          <p:cNvSpPr txBox="1">
            <a:spLocks noChangeArrowheads="1"/>
          </p:cNvSpPr>
          <p:nvPr/>
        </p:nvSpPr>
        <p:spPr bwMode="auto">
          <a:xfrm>
            <a:off x="2901950" y="4337050"/>
            <a:ext cx="67945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4784" name="Text Box 30"/>
          <p:cNvSpPr txBox="1">
            <a:spLocks noChangeArrowheads="1"/>
          </p:cNvSpPr>
          <p:nvPr/>
        </p:nvSpPr>
        <p:spPr bwMode="auto">
          <a:xfrm>
            <a:off x="2895600" y="4775200"/>
            <a:ext cx="67945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4785" name="Text Box 31"/>
          <p:cNvSpPr txBox="1">
            <a:spLocks noChangeArrowheads="1"/>
          </p:cNvSpPr>
          <p:nvPr/>
        </p:nvSpPr>
        <p:spPr bwMode="auto">
          <a:xfrm>
            <a:off x="2901950" y="5010150"/>
            <a:ext cx="67945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4786" name="Text Box 32"/>
          <p:cNvSpPr txBox="1">
            <a:spLocks noChangeArrowheads="1"/>
          </p:cNvSpPr>
          <p:nvPr/>
        </p:nvSpPr>
        <p:spPr bwMode="auto">
          <a:xfrm>
            <a:off x="2901950" y="5197475"/>
            <a:ext cx="67945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4787" name="Text Box 33"/>
          <p:cNvSpPr txBox="1">
            <a:spLocks noChangeArrowheads="1"/>
          </p:cNvSpPr>
          <p:nvPr/>
        </p:nvSpPr>
        <p:spPr bwMode="auto">
          <a:xfrm>
            <a:off x="2901950" y="5432425"/>
            <a:ext cx="67945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4788" name="Text Box 34"/>
          <p:cNvSpPr txBox="1">
            <a:spLocks noChangeArrowheads="1"/>
          </p:cNvSpPr>
          <p:nvPr/>
        </p:nvSpPr>
        <p:spPr bwMode="auto">
          <a:xfrm>
            <a:off x="2895600" y="5667375"/>
            <a:ext cx="67945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4789" name="Line 35"/>
          <p:cNvSpPr>
            <a:spLocks noChangeShapeType="1"/>
          </p:cNvSpPr>
          <p:nvPr/>
        </p:nvSpPr>
        <p:spPr bwMode="auto">
          <a:xfrm>
            <a:off x="2895600" y="3429000"/>
            <a:ext cx="1588" cy="25146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790" name="Text Box 36"/>
          <p:cNvSpPr txBox="1">
            <a:spLocks noChangeArrowheads="1"/>
          </p:cNvSpPr>
          <p:nvPr/>
        </p:nvSpPr>
        <p:spPr bwMode="auto">
          <a:xfrm>
            <a:off x="2438400" y="35814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K</a:t>
            </a:r>
            <a:r>
              <a:rPr kumimoji="1" lang="en-US" altLang="zh-CN" sz="1400" b="1" baseline="-25000" dirty="0">
                <a:latin typeface="Times New Roman" panose="02020603050405020304" pitchFamily="18" charset="0"/>
                <a:ea typeface="华文楷体" panose="02010600040101010101" pitchFamily="2" charset="-122"/>
              </a:rPr>
              <a:t>1</a:t>
            </a:r>
            <a:endParaRPr kumimoji="1" lang="en-US" altLang="zh-CN" sz="1400" b="1" dirty="0">
              <a:latin typeface="Times New Roman" panose="02020603050405020304" pitchFamily="18" charset="0"/>
              <a:ea typeface="华文楷体" panose="02010600040101010101" pitchFamily="2" charset="-122"/>
            </a:endParaRPr>
          </a:p>
        </p:txBody>
      </p:sp>
      <p:sp>
        <p:nvSpPr>
          <p:cNvPr id="74791" name="Text Box 37"/>
          <p:cNvSpPr txBox="1">
            <a:spLocks noChangeArrowheads="1"/>
          </p:cNvSpPr>
          <p:nvPr/>
        </p:nvSpPr>
        <p:spPr bwMode="auto">
          <a:xfrm>
            <a:off x="4267200" y="33528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K</a:t>
            </a:r>
            <a:r>
              <a:rPr kumimoji="1" lang="en-US" altLang="zh-CN" sz="1400" b="1" baseline="-25000" dirty="0">
                <a:latin typeface="Times New Roman" panose="02020603050405020304" pitchFamily="18" charset="0"/>
                <a:ea typeface="华文楷体" panose="02010600040101010101" pitchFamily="2" charset="-122"/>
              </a:rPr>
              <a:t>2</a:t>
            </a:r>
            <a:endParaRPr kumimoji="1" lang="en-US" altLang="zh-CN" sz="1400" b="1" dirty="0">
              <a:latin typeface="Times New Roman" panose="02020603050405020304" pitchFamily="18" charset="0"/>
              <a:ea typeface="华文楷体" panose="02010600040101010101" pitchFamily="2" charset="-122"/>
            </a:endParaRPr>
          </a:p>
        </p:txBody>
      </p:sp>
      <p:sp>
        <p:nvSpPr>
          <p:cNvPr id="74792" name="Text Box 38"/>
          <p:cNvSpPr txBox="1">
            <a:spLocks noChangeArrowheads="1"/>
          </p:cNvSpPr>
          <p:nvPr/>
        </p:nvSpPr>
        <p:spPr bwMode="auto">
          <a:xfrm>
            <a:off x="4267200" y="35814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K</a:t>
            </a:r>
            <a:r>
              <a:rPr kumimoji="1" lang="en-US" altLang="zh-CN" sz="1400" b="1" baseline="-25000" dirty="0">
                <a:latin typeface="Times New Roman" panose="02020603050405020304" pitchFamily="18" charset="0"/>
                <a:ea typeface="华文楷体" panose="02010600040101010101" pitchFamily="2" charset="-122"/>
              </a:rPr>
              <a:t>3</a:t>
            </a:r>
            <a:endParaRPr kumimoji="1" lang="en-US" altLang="zh-CN" sz="1400" b="1" dirty="0">
              <a:latin typeface="Times New Roman" panose="02020603050405020304" pitchFamily="18" charset="0"/>
              <a:ea typeface="华文楷体" panose="02010600040101010101" pitchFamily="2" charset="-122"/>
            </a:endParaRPr>
          </a:p>
        </p:txBody>
      </p:sp>
      <p:sp>
        <p:nvSpPr>
          <p:cNvPr id="74793" name="Text Box 39"/>
          <p:cNvSpPr txBox="1">
            <a:spLocks noChangeArrowheads="1"/>
          </p:cNvSpPr>
          <p:nvPr/>
        </p:nvSpPr>
        <p:spPr bwMode="auto">
          <a:xfrm>
            <a:off x="2438400" y="44958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K</a:t>
            </a:r>
            <a:r>
              <a:rPr kumimoji="1" lang="en-US" altLang="zh-CN" sz="1400" b="1" baseline="-25000" dirty="0">
                <a:latin typeface="Times New Roman" panose="02020603050405020304" pitchFamily="18" charset="0"/>
                <a:ea typeface="华文楷体" panose="02010600040101010101" pitchFamily="2" charset="-122"/>
              </a:rPr>
              <a:t>4</a:t>
            </a:r>
            <a:endParaRPr kumimoji="1" lang="en-US" altLang="zh-CN" sz="1400" b="1" dirty="0">
              <a:latin typeface="Times New Roman" panose="02020603050405020304" pitchFamily="18" charset="0"/>
              <a:ea typeface="华文楷体" panose="02010600040101010101" pitchFamily="2" charset="-122"/>
            </a:endParaRPr>
          </a:p>
        </p:txBody>
      </p:sp>
      <p:sp>
        <p:nvSpPr>
          <p:cNvPr id="74794" name="Text Box 40"/>
          <p:cNvSpPr txBox="1">
            <a:spLocks noChangeArrowheads="1"/>
          </p:cNvSpPr>
          <p:nvPr/>
        </p:nvSpPr>
        <p:spPr bwMode="auto">
          <a:xfrm>
            <a:off x="4267200" y="38862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K</a:t>
            </a:r>
            <a:r>
              <a:rPr kumimoji="1" lang="en-US" altLang="zh-CN" sz="1400" b="1" baseline="-25000" dirty="0">
                <a:latin typeface="Times New Roman" panose="02020603050405020304" pitchFamily="18" charset="0"/>
                <a:ea typeface="华文楷体" panose="02010600040101010101" pitchFamily="2" charset="-122"/>
              </a:rPr>
              <a:t>5</a:t>
            </a:r>
            <a:endParaRPr kumimoji="1" lang="en-US" altLang="zh-CN" sz="1400" b="1" dirty="0">
              <a:latin typeface="Times New Roman" panose="02020603050405020304" pitchFamily="18" charset="0"/>
              <a:ea typeface="华文楷体" panose="02010600040101010101" pitchFamily="2" charset="-122"/>
            </a:endParaRPr>
          </a:p>
        </p:txBody>
      </p:sp>
      <p:sp>
        <p:nvSpPr>
          <p:cNvPr id="74795" name="Rectangle 41"/>
          <p:cNvSpPr>
            <a:spLocks noChangeArrowheads="1"/>
          </p:cNvSpPr>
          <p:nvPr/>
        </p:nvSpPr>
        <p:spPr bwMode="auto">
          <a:xfrm>
            <a:off x="4267200" y="3429000"/>
            <a:ext cx="1019175" cy="2514600"/>
          </a:xfrm>
          <a:prstGeom prst="rect">
            <a:avLst/>
          </a:prstGeom>
          <a:solidFill>
            <a:srgbClr val="FFFFFF"/>
          </a:solidFill>
          <a:ln w="19050">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4796" name="Line 42"/>
          <p:cNvSpPr>
            <a:spLocks noChangeShapeType="1"/>
          </p:cNvSpPr>
          <p:nvPr/>
        </p:nvSpPr>
        <p:spPr bwMode="auto">
          <a:xfrm>
            <a:off x="4267200" y="3657600"/>
            <a:ext cx="1019175" cy="158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797" name="Line 43"/>
          <p:cNvSpPr>
            <a:spLocks noChangeShapeType="1"/>
          </p:cNvSpPr>
          <p:nvPr/>
        </p:nvSpPr>
        <p:spPr bwMode="auto">
          <a:xfrm>
            <a:off x="4267200" y="3886200"/>
            <a:ext cx="1019175" cy="158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798" name="Line 44"/>
          <p:cNvSpPr>
            <a:spLocks noChangeShapeType="1"/>
          </p:cNvSpPr>
          <p:nvPr/>
        </p:nvSpPr>
        <p:spPr bwMode="auto">
          <a:xfrm>
            <a:off x="4267200" y="4116388"/>
            <a:ext cx="1019175" cy="158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799" name="Line 45"/>
          <p:cNvSpPr>
            <a:spLocks noChangeShapeType="1"/>
          </p:cNvSpPr>
          <p:nvPr/>
        </p:nvSpPr>
        <p:spPr bwMode="auto">
          <a:xfrm>
            <a:off x="4267200" y="4343400"/>
            <a:ext cx="1019175" cy="158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800" name="Line 46"/>
          <p:cNvSpPr>
            <a:spLocks noChangeShapeType="1"/>
          </p:cNvSpPr>
          <p:nvPr/>
        </p:nvSpPr>
        <p:spPr bwMode="auto">
          <a:xfrm>
            <a:off x="4267200" y="4572000"/>
            <a:ext cx="1019175" cy="158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801" name="Line 47"/>
          <p:cNvSpPr>
            <a:spLocks noChangeShapeType="1"/>
          </p:cNvSpPr>
          <p:nvPr/>
        </p:nvSpPr>
        <p:spPr bwMode="auto">
          <a:xfrm>
            <a:off x="4267200" y="4800600"/>
            <a:ext cx="1019175" cy="158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802" name="Line 48"/>
          <p:cNvSpPr>
            <a:spLocks noChangeShapeType="1"/>
          </p:cNvSpPr>
          <p:nvPr/>
        </p:nvSpPr>
        <p:spPr bwMode="auto">
          <a:xfrm>
            <a:off x="4267200" y="5029200"/>
            <a:ext cx="1019175" cy="158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803" name="Line 49"/>
          <p:cNvSpPr>
            <a:spLocks noChangeShapeType="1"/>
          </p:cNvSpPr>
          <p:nvPr/>
        </p:nvSpPr>
        <p:spPr bwMode="auto">
          <a:xfrm>
            <a:off x="4267200" y="5256213"/>
            <a:ext cx="1019175" cy="158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804" name="Line 50"/>
          <p:cNvSpPr>
            <a:spLocks noChangeShapeType="1"/>
          </p:cNvSpPr>
          <p:nvPr/>
        </p:nvSpPr>
        <p:spPr bwMode="auto">
          <a:xfrm>
            <a:off x="4267200" y="5486400"/>
            <a:ext cx="1019175" cy="158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805" name="Line 51"/>
          <p:cNvSpPr>
            <a:spLocks noChangeShapeType="1"/>
          </p:cNvSpPr>
          <p:nvPr/>
        </p:nvSpPr>
        <p:spPr bwMode="auto">
          <a:xfrm>
            <a:off x="4267200" y="5715000"/>
            <a:ext cx="1019175" cy="1588"/>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806" name="Text Box 52"/>
          <p:cNvSpPr txBox="1">
            <a:spLocks noChangeArrowheads="1"/>
          </p:cNvSpPr>
          <p:nvPr/>
        </p:nvSpPr>
        <p:spPr bwMode="auto">
          <a:xfrm>
            <a:off x="4724400" y="4572000"/>
            <a:ext cx="67945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4807" name="Text Box 53"/>
          <p:cNvSpPr txBox="1">
            <a:spLocks noChangeArrowheads="1"/>
          </p:cNvSpPr>
          <p:nvPr/>
        </p:nvSpPr>
        <p:spPr bwMode="auto">
          <a:xfrm>
            <a:off x="4724400" y="3657600"/>
            <a:ext cx="67945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4808" name="Text Box 54"/>
          <p:cNvSpPr txBox="1">
            <a:spLocks noChangeArrowheads="1"/>
          </p:cNvSpPr>
          <p:nvPr/>
        </p:nvSpPr>
        <p:spPr bwMode="auto">
          <a:xfrm>
            <a:off x="4730750" y="4071938"/>
            <a:ext cx="679450" cy="274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4809" name="Text Box 55"/>
          <p:cNvSpPr txBox="1">
            <a:spLocks noChangeArrowheads="1"/>
          </p:cNvSpPr>
          <p:nvPr/>
        </p:nvSpPr>
        <p:spPr bwMode="auto">
          <a:xfrm>
            <a:off x="4730750" y="4337050"/>
            <a:ext cx="67945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4810" name="Text Box 56"/>
          <p:cNvSpPr txBox="1">
            <a:spLocks noChangeArrowheads="1"/>
          </p:cNvSpPr>
          <p:nvPr/>
        </p:nvSpPr>
        <p:spPr bwMode="auto">
          <a:xfrm>
            <a:off x="4724400" y="4775200"/>
            <a:ext cx="67945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4811" name="Text Box 57"/>
          <p:cNvSpPr txBox="1">
            <a:spLocks noChangeArrowheads="1"/>
          </p:cNvSpPr>
          <p:nvPr/>
        </p:nvSpPr>
        <p:spPr bwMode="auto">
          <a:xfrm>
            <a:off x="4730750" y="5010150"/>
            <a:ext cx="67945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4812" name="Text Box 58"/>
          <p:cNvSpPr txBox="1">
            <a:spLocks noChangeArrowheads="1"/>
          </p:cNvSpPr>
          <p:nvPr/>
        </p:nvSpPr>
        <p:spPr bwMode="auto">
          <a:xfrm>
            <a:off x="4730750" y="5197475"/>
            <a:ext cx="67945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4813" name="Text Box 59"/>
          <p:cNvSpPr txBox="1">
            <a:spLocks noChangeArrowheads="1"/>
          </p:cNvSpPr>
          <p:nvPr/>
        </p:nvSpPr>
        <p:spPr bwMode="auto">
          <a:xfrm>
            <a:off x="4730750" y="5432425"/>
            <a:ext cx="67945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4814" name="Text Box 60"/>
          <p:cNvSpPr txBox="1">
            <a:spLocks noChangeArrowheads="1"/>
          </p:cNvSpPr>
          <p:nvPr/>
        </p:nvSpPr>
        <p:spPr bwMode="auto">
          <a:xfrm>
            <a:off x="4724400" y="5667375"/>
            <a:ext cx="679450"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200" b="1" dirty="0">
                <a:latin typeface="Times New Roman" panose="02020603050405020304" pitchFamily="18" charset="0"/>
                <a:ea typeface="华文楷体" panose="02010600040101010101" pitchFamily="2" charset="-122"/>
              </a:rPr>
              <a:t>∧</a:t>
            </a:r>
            <a:endParaRPr kumimoji="1" lang="en-US" altLang="zh-CN" sz="1400" b="1" dirty="0">
              <a:latin typeface="Times New Roman" panose="02020603050405020304" pitchFamily="18" charset="0"/>
              <a:ea typeface="华文楷体" panose="02010600040101010101" pitchFamily="2" charset="-122"/>
            </a:endParaRPr>
          </a:p>
        </p:txBody>
      </p:sp>
      <p:sp>
        <p:nvSpPr>
          <p:cNvPr id="74815" name="Line 61"/>
          <p:cNvSpPr>
            <a:spLocks noChangeShapeType="1"/>
          </p:cNvSpPr>
          <p:nvPr/>
        </p:nvSpPr>
        <p:spPr bwMode="auto">
          <a:xfrm>
            <a:off x="4724400" y="3429000"/>
            <a:ext cx="1588" cy="25146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816" name="Text Box 62"/>
          <p:cNvSpPr txBox="1">
            <a:spLocks noChangeArrowheads="1"/>
          </p:cNvSpPr>
          <p:nvPr/>
        </p:nvSpPr>
        <p:spPr bwMode="auto">
          <a:xfrm>
            <a:off x="4267200" y="33528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K</a:t>
            </a:r>
            <a:r>
              <a:rPr kumimoji="1" lang="en-US" altLang="zh-CN" sz="1400" b="1" baseline="-25000" dirty="0">
                <a:latin typeface="Times New Roman" panose="02020603050405020304" pitchFamily="18" charset="0"/>
                <a:ea typeface="华文楷体" panose="02010600040101010101" pitchFamily="2" charset="-122"/>
              </a:rPr>
              <a:t>2</a:t>
            </a:r>
            <a:endParaRPr kumimoji="1" lang="en-US" altLang="zh-CN" sz="1400" b="1" dirty="0">
              <a:latin typeface="Times New Roman" panose="02020603050405020304" pitchFamily="18" charset="0"/>
              <a:ea typeface="华文楷体" panose="02010600040101010101" pitchFamily="2" charset="-122"/>
            </a:endParaRPr>
          </a:p>
        </p:txBody>
      </p:sp>
      <p:sp>
        <p:nvSpPr>
          <p:cNvPr id="74817" name="Text Box 63"/>
          <p:cNvSpPr txBox="1">
            <a:spLocks noChangeArrowheads="1"/>
          </p:cNvSpPr>
          <p:nvPr/>
        </p:nvSpPr>
        <p:spPr bwMode="auto">
          <a:xfrm>
            <a:off x="4267200" y="35814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K</a:t>
            </a:r>
            <a:r>
              <a:rPr kumimoji="1" lang="en-US" altLang="zh-CN" sz="1400" b="1" baseline="-25000" dirty="0">
                <a:latin typeface="Times New Roman" panose="02020603050405020304" pitchFamily="18" charset="0"/>
                <a:ea typeface="华文楷体" panose="02010600040101010101" pitchFamily="2" charset="-122"/>
              </a:rPr>
              <a:t>3</a:t>
            </a:r>
            <a:endParaRPr kumimoji="1" lang="en-US" altLang="zh-CN" sz="1400" b="1" dirty="0">
              <a:latin typeface="Times New Roman" panose="02020603050405020304" pitchFamily="18" charset="0"/>
              <a:ea typeface="华文楷体" panose="02010600040101010101" pitchFamily="2" charset="-122"/>
            </a:endParaRPr>
          </a:p>
        </p:txBody>
      </p:sp>
      <p:sp>
        <p:nvSpPr>
          <p:cNvPr id="74818" name="Text Box 64"/>
          <p:cNvSpPr txBox="1">
            <a:spLocks noChangeArrowheads="1"/>
          </p:cNvSpPr>
          <p:nvPr/>
        </p:nvSpPr>
        <p:spPr bwMode="auto">
          <a:xfrm>
            <a:off x="4267200" y="38100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K</a:t>
            </a:r>
            <a:r>
              <a:rPr kumimoji="1" lang="en-US" altLang="zh-CN" sz="1400" b="1" baseline="-25000" dirty="0">
                <a:latin typeface="Times New Roman" panose="02020603050405020304" pitchFamily="18" charset="0"/>
                <a:ea typeface="华文楷体" panose="02010600040101010101" pitchFamily="2" charset="-122"/>
              </a:rPr>
              <a:t>5</a:t>
            </a:r>
            <a:endParaRPr kumimoji="1" lang="en-US" altLang="zh-CN" sz="1400" b="1" dirty="0">
              <a:latin typeface="Times New Roman" panose="02020603050405020304" pitchFamily="18" charset="0"/>
              <a:ea typeface="华文楷体" panose="02010600040101010101" pitchFamily="2" charset="-122"/>
            </a:endParaRPr>
          </a:p>
        </p:txBody>
      </p:sp>
      <p:sp>
        <p:nvSpPr>
          <p:cNvPr id="74819" name="Text Box 65"/>
          <p:cNvSpPr txBox="1">
            <a:spLocks noChangeArrowheads="1"/>
          </p:cNvSpPr>
          <p:nvPr/>
        </p:nvSpPr>
        <p:spPr bwMode="auto">
          <a:xfrm>
            <a:off x="4267200" y="4038600"/>
            <a:ext cx="4572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en-US" altLang="zh-CN" sz="1400" b="1" dirty="0">
                <a:latin typeface="Times New Roman" panose="02020603050405020304" pitchFamily="18" charset="0"/>
                <a:ea typeface="华文楷体" panose="02010600040101010101" pitchFamily="2" charset="-122"/>
              </a:rPr>
              <a:t>K</a:t>
            </a:r>
            <a:r>
              <a:rPr kumimoji="1" lang="en-US" altLang="zh-CN" sz="1400" b="1" baseline="-25000" dirty="0">
                <a:latin typeface="Times New Roman" panose="02020603050405020304" pitchFamily="18" charset="0"/>
                <a:ea typeface="华文楷体" panose="02010600040101010101" pitchFamily="2" charset="-122"/>
              </a:rPr>
              <a:t>6</a:t>
            </a:r>
            <a:endParaRPr kumimoji="1" lang="en-US" altLang="zh-CN" sz="1400" b="1" dirty="0">
              <a:latin typeface="Times New Roman" panose="02020603050405020304" pitchFamily="18" charset="0"/>
              <a:ea typeface="华文楷体" panose="02010600040101010101" pitchFamily="2" charset="-122"/>
            </a:endParaRPr>
          </a:p>
        </p:txBody>
      </p:sp>
      <p:sp>
        <p:nvSpPr>
          <p:cNvPr id="74820" name="Line 66"/>
          <p:cNvSpPr>
            <a:spLocks noChangeShapeType="1"/>
          </p:cNvSpPr>
          <p:nvPr/>
        </p:nvSpPr>
        <p:spPr bwMode="auto">
          <a:xfrm flipV="1">
            <a:off x="3352800" y="3505200"/>
            <a:ext cx="914400" cy="30480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821" name="Line 67"/>
          <p:cNvSpPr>
            <a:spLocks noChangeShapeType="1"/>
          </p:cNvSpPr>
          <p:nvPr/>
        </p:nvSpPr>
        <p:spPr bwMode="auto">
          <a:xfrm flipV="1">
            <a:off x="3352800" y="4038600"/>
            <a:ext cx="914400" cy="68580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822" name="AutoShape 68"/>
          <p:cNvSpPr>
            <a:spLocks noChangeArrowheads="1"/>
          </p:cNvSpPr>
          <p:nvPr/>
        </p:nvSpPr>
        <p:spPr bwMode="auto">
          <a:xfrm rot="4945421">
            <a:off x="5047456" y="3410744"/>
            <a:ext cx="427038" cy="463550"/>
          </a:xfrm>
          <a:custGeom>
            <a:avLst/>
            <a:gdLst>
              <a:gd name="T0" fmla="*/ 78766111 w 21600"/>
              <a:gd name="T1" fmla="*/ 168101 h 21600"/>
              <a:gd name="T2" fmla="*/ 21258308 w 21600"/>
              <a:gd name="T3" fmla="*/ 115720622 h 21600"/>
              <a:gd name="T4" fmla="*/ 81107782 w 21600"/>
              <a:gd name="T5" fmla="*/ 53452058 h 21600"/>
              <a:gd name="T6" fmla="*/ 187778039 w 21600"/>
              <a:gd name="T7" fmla="*/ 106746165 h 21600"/>
              <a:gd name="T8" fmla="*/ 146049408 w 21600"/>
              <a:gd name="T9" fmla="*/ 160119462 h 21600"/>
              <a:gd name="T10" fmla="*/ 104321172 w 21600"/>
              <a:gd name="T11" fmla="*/ 106746165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cubicBezTo>
                  <a:pt x="5400" y="11002"/>
                  <a:pt x="5411" y="11204"/>
                  <a:pt x="5434" y="11405"/>
                </a:cubicBezTo>
                <a:lnTo>
                  <a:pt x="68" y="12011"/>
                </a:lnTo>
                <a:cubicBezTo>
                  <a:pt x="22" y="11609"/>
                  <a:pt x="0" y="11204"/>
                  <a:pt x="0" y="10800"/>
                </a:cubicBezTo>
                <a:cubicBezTo>
                  <a:pt x="0" y="4835"/>
                  <a:pt x="4835" y="0"/>
                  <a:pt x="10800" y="0"/>
                </a:cubicBezTo>
                <a:cubicBezTo>
                  <a:pt x="16764" y="0"/>
                  <a:pt x="21600" y="4835"/>
                  <a:pt x="21600" y="10800"/>
                </a:cubicBezTo>
                <a:lnTo>
                  <a:pt x="24300" y="10800"/>
                </a:lnTo>
                <a:lnTo>
                  <a:pt x="18900" y="16200"/>
                </a:lnTo>
                <a:lnTo>
                  <a:pt x="13500" y="10800"/>
                </a:lnTo>
                <a:lnTo>
                  <a:pt x="16200" y="10800"/>
                </a:lnTo>
                <a:close/>
              </a:path>
            </a:pathLst>
          </a:custGeom>
          <a:solidFill>
            <a:schemeClr val="accent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823" name="AutoShape 69"/>
          <p:cNvSpPr>
            <a:spLocks noChangeArrowheads="1"/>
          </p:cNvSpPr>
          <p:nvPr/>
        </p:nvSpPr>
        <p:spPr bwMode="auto">
          <a:xfrm rot="4945421">
            <a:off x="4895056" y="3867944"/>
            <a:ext cx="427038" cy="463550"/>
          </a:xfrm>
          <a:custGeom>
            <a:avLst/>
            <a:gdLst>
              <a:gd name="T0" fmla="*/ 78766111 w 21600"/>
              <a:gd name="T1" fmla="*/ 168101 h 21600"/>
              <a:gd name="T2" fmla="*/ 21258308 w 21600"/>
              <a:gd name="T3" fmla="*/ 115720622 h 21600"/>
              <a:gd name="T4" fmla="*/ 81107782 w 21600"/>
              <a:gd name="T5" fmla="*/ 53452058 h 21600"/>
              <a:gd name="T6" fmla="*/ 187778039 w 21600"/>
              <a:gd name="T7" fmla="*/ 106746165 h 21600"/>
              <a:gd name="T8" fmla="*/ 146049408 w 21600"/>
              <a:gd name="T9" fmla="*/ 160119462 h 21600"/>
              <a:gd name="T10" fmla="*/ 104321172 w 21600"/>
              <a:gd name="T11" fmla="*/ 106746165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200" y="10800"/>
                </a:moveTo>
                <a:cubicBezTo>
                  <a:pt x="16200" y="7817"/>
                  <a:pt x="13782" y="5400"/>
                  <a:pt x="10800" y="5400"/>
                </a:cubicBezTo>
                <a:cubicBezTo>
                  <a:pt x="7817" y="5400"/>
                  <a:pt x="5400" y="7817"/>
                  <a:pt x="5400" y="10800"/>
                </a:cubicBezTo>
                <a:cubicBezTo>
                  <a:pt x="5400" y="11002"/>
                  <a:pt x="5411" y="11204"/>
                  <a:pt x="5434" y="11405"/>
                </a:cubicBezTo>
                <a:lnTo>
                  <a:pt x="68" y="12011"/>
                </a:lnTo>
                <a:cubicBezTo>
                  <a:pt x="22" y="11609"/>
                  <a:pt x="0" y="11204"/>
                  <a:pt x="0" y="10800"/>
                </a:cubicBezTo>
                <a:cubicBezTo>
                  <a:pt x="0" y="4835"/>
                  <a:pt x="4835" y="0"/>
                  <a:pt x="10800" y="0"/>
                </a:cubicBezTo>
                <a:cubicBezTo>
                  <a:pt x="16764" y="0"/>
                  <a:pt x="21600" y="4835"/>
                  <a:pt x="21600" y="10800"/>
                </a:cubicBezTo>
                <a:lnTo>
                  <a:pt x="24300" y="10800"/>
                </a:lnTo>
                <a:lnTo>
                  <a:pt x="18900" y="16200"/>
                </a:lnTo>
                <a:lnTo>
                  <a:pt x="13500" y="10800"/>
                </a:lnTo>
                <a:lnTo>
                  <a:pt x="16200" y="10800"/>
                </a:lnTo>
                <a:close/>
              </a:path>
            </a:pathLst>
          </a:custGeom>
          <a:solidFill>
            <a:schemeClr val="accent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endParaRPr lang="zh-CN" altLang="en-US" dirty="0">
              <a:latin typeface="Times New Roman" panose="02020603050405020304" pitchFamily="18" charset="0"/>
              <a:ea typeface="华文楷体" panose="02010600040101010101" pitchFamily="2" charset="-122"/>
            </a:endParaRPr>
          </a:p>
        </p:txBody>
      </p:sp>
      <p:sp>
        <p:nvSpPr>
          <p:cNvPr id="74824" name="Text Box 70"/>
          <p:cNvSpPr txBox="1">
            <a:spLocks noChangeArrowheads="1"/>
          </p:cNvSpPr>
          <p:nvPr/>
        </p:nvSpPr>
        <p:spPr bwMode="auto">
          <a:xfrm>
            <a:off x="2133600" y="3048000"/>
            <a:ext cx="16764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基本区（</a:t>
            </a:r>
            <a:r>
              <a:rPr kumimoji="1" lang="en-US" altLang="zh-CN" sz="1400" b="1" dirty="0">
                <a:latin typeface="Times New Roman" panose="02020603050405020304" pitchFamily="18" charset="0"/>
                <a:ea typeface="华文楷体" panose="02010600040101010101" pitchFamily="2" charset="-122"/>
              </a:rPr>
              <a:t>hash</a:t>
            </a:r>
            <a:r>
              <a:rPr kumimoji="1" lang="zh-CN" altLang="en-US" sz="1400" b="1" dirty="0">
                <a:latin typeface="Times New Roman" panose="02020603050405020304" pitchFamily="18" charset="0"/>
                <a:ea typeface="华文楷体" panose="02010600040101010101" pitchFamily="2" charset="-122"/>
              </a:rPr>
              <a:t>表）</a:t>
            </a:r>
            <a:endParaRPr kumimoji="1" lang="zh-CN" altLang="en-US" sz="1400" b="1" dirty="0">
              <a:latin typeface="Times New Roman" panose="02020603050405020304" pitchFamily="18" charset="0"/>
              <a:ea typeface="华文楷体" panose="02010600040101010101" pitchFamily="2" charset="-122"/>
            </a:endParaRPr>
          </a:p>
        </p:txBody>
      </p:sp>
      <p:sp>
        <p:nvSpPr>
          <p:cNvPr id="74825" name="Text Box 71"/>
          <p:cNvSpPr txBox="1">
            <a:spLocks noChangeArrowheads="1"/>
          </p:cNvSpPr>
          <p:nvPr/>
        </p:nvSpPr>
        <p:spPr bwMode="auto">
          <a:xfrm>
            <a:off x="4191000" y="3048000"/>
            <a:ext cx="16764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FontTx/>
              <a:buNone/>
            </a:pPr>
            <a:r>
              <a:rPr kumimoji="1" lang="zh-CN" altLang="en-US" sz="1400" b="1" dirty="0">
                <a:latin typeface="Times New Roman" panose="02020603050405020304" pitchFamily="18" charset="0"/>
                <a:ea typeface="华文楷体" panose="02010600040101010101" pitchFamily="2" charset="-122"/>
              </a:rPr>
              <a:t>公共溢出区</a:t>
            </a:r>
            <a:endParaRPr kumimoji="1" lang="zh-CN" altLang="en-US" sz="1400" b="1" dirty="0">
              <a:latin typeface="Times New Roman" panose="02020603050405020304" pitchFamily="18" charset="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页脚占位符 3"/>
          <p:cNvSpPr>
            <a:spLocks noGrp="1"/>
          </p:cNvSpPr>
          <p:nvPr>
            <p:ph type="ftr" sz="quarter" idx="10"/>
          </p:nvPr>
        </p:nvSpPr>
        <p:spPr/>
        <p:txBody>
          <a:bodyPr/>
          <a:lstStyle/>
          <a:p>
            <a:pPr>
              <a:defRPr/>
            </a:pPr>
            <a:r>
              <a:rPr lang="en-US" altLang="zh-CN"/>
              <a:t>BUPT SCST</a:t>
            </a:r>
            <a:endParaRPr lang="en-US" altLang="zh-CN"/>
          </a:p>
        </p:txBody>
      </p:sp>
      <p:sp>
        <p:nvSpPr>
          <p:cNvPr id="21" name="日期占位符 5"/>
          <p:cNvSpPr>
            <a:spLocks noGrp="1"/>
          </p:cNvSpPr>
          <p:nvPr>
            <p:ph type="dt" sz="quarter" idx="12"/>
          </p:nvPr>
        </p:nvSpPr>
        <p:spPr/>
        <p:txBody>
          <a:bodyPr/>
          <a:lstStyle/>
          <a:p>
            <a:pPr>
              <a:defRPr/>
            </a:pPr>
            <a:r>
              <a:rPr lang="en-US" altLang="zh-CN"/>
              <a:t>BUPT</a:t>
            </a:r>
            <a:endParaRPr lang="en-US" altLang="zh-CN"/>
          </a:p>
        </p:txBody>
      </p:sp>
      <p:sp>
        <p:nvSpPr>
          <p:cNvPr id="75780"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5781"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哈希表的查找及其分析</a:t>
            </a:r>
            <a:r>
              <a:rPr lang="en-US" altLang="zh-CN" sz="2400" b="1" dirty="0" smtClean="0">
                <a:solidFill>
                  <a:srgbClr val="CC66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a:p>
            <a:pPr eaLnBrk="1" hangingPunct="1">
              <a:buFont typeface="Wingdings" panose="05000000000000000000" pitchFamily="2" charset="2"/>
              <a:buNone/>
            </a:pPr>
            <a:r>
              <a:rPr lang="zh-CN" altLang="en-US" sz="2400" b="1" dirty="0" smtClean="0">
                <a:ea typeface="华文楷体" panose="02010600040101010101" pitchFamily="2" charset="-122"/>
              </a:rPr>
              <a:t>查找方法同 </a:t>
            </a:r>
            <a:r>
              <a:rPr lang="en-US" altLang="zh-CN" sz="2400" b="1" dirty="0" smtClean="0">
                <a:ea typeface="华文楷体" panose="02010600040101010101" pitchFamily="2" charset="-122"/>
              </a:rPr>
              <a:t>hashing </a:t>
            </a:r>
            <a:r>
              <a:rPr lang="zh-CN" altLang="en-US" sz="2400" b="1" dirty="0" smtClean="0">
                <a:ea typeface="华文楷体" panose="02010600040101010101" pitchFamily="2" charset="-122"/>
              </a:rPr>
              <a:t>函数的产生办法。</a:t>
            </a:r>
            <a:endParaRPr lang="zh-CN" altLang="en-US" sz="2400" b="1" dirty="0" smtClean="0">
              <a:ea typeface="华文楷体" panose="02010600040101010101" pitchFamily="2" charset="-122"/>
            </a:endParaRPr>
          </a:p>
          <a:p>
            <a:pPr eaLnBrk="1" hangingPunct="1">
              <a:buFont typeface="Wingdings" panose="05000000000000000000" pitchFamily="2" charset="2"/>
              <a:buNone/>
            </a:pPr>
            <a:r>
              <a:rPr lang="zh-CN" altLang="en-US" sz="2400" dirty="0" smtClean="0">
                <a:solidFill>
                  <a:schemeClr val="accent2"/>
                </a:solidFill>
                <a:ea typeface="华文楷体" panose="02010600040101010101" pitchFamily="2" charset="-122"/>
              </a:rPr>
              <a:t>例</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key      =  </a:t>
            </a:r>
            <a:r>
              <a:rPr lang="en-US" altLang="zh-CN" sz="2400" dirty="0" err="1" smtClean="0">
                <a:ea typeface="华文楷体" panose="02010600040101010101" pitchFamily="2" charset="-122"/>
              </a:rPr>
              <a:t>en</a:t>
            </a:r>
            <a:r>
              <a:rPr lang="en-US" altLang="zh-CN" sz="2400" dirty="0" smtClean="0">
                <a:ea typeface="华文楷体" panose="02010600040101010101" pitchFamily="2" charset="-122"/>
              </a:rPr>
              <a:t>    to  </a:t>
            </a:r>
            <a:r>
              <a:rPr lang="en-US" altLang="zh-CN" sz="2400" dirty="0" err="1" smtClean="0">
                <a:ea typeface="华文楷体" panose="02010600040101010101" pitchFamily="2" charset="-122"/>
              </a:rPr>
              <a:t>tre</a:t>
            </a:r>
            <a:r>
              <a:rPr lang="en-US" altLang="zh-CN" sz="2400" dirty="0" smtClean="0">
                <a:ea typeface="华文楷体" panose="02010600040101010101" pitchFamily="2" charset="-122"/>
              </a:rPr>
              <a:t>   fire   fem   </a:t>
            </a:r>
            <a:r>
              <a:rPr lang="en-US" altLang="zh-CN" sz="2400" dirty="0" err="1" smtClean="0">
                <a:ea typeface="华文楷体" panose="02010600040101010101" pitchFamily="2" charset="-122"/>
              </a:rPr>
              <a:t>seks</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syv</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H(key) =   2     0    3      0      4        8       1</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解决冲突方法：</a:t>
            </a:r>
            <a:r>
              <a:rPr lang="zh-CN" altLang="zh-CN" sz="2400" dirty="0" smtClean="0">
                <a:ea typeface="华文楷体" panose="02010600040101010101" pitchFamily="2" charset="-122"/>
                <a:sym typeface="Symbol" panose="05050102010706020507" pitchFamily="18" charset="2"/>
              </a:rPr>
              <a:t>线性探测再散列</a:t>
            </a:r>
            <a:endParaRPr lang="zh-CN" altLang="zh-CN"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zh-CN" altLang="zh-CN" sz="2400" dirty="0" smtClean="0">
                <a:ea typeface="华文楷体" panose="02010600040101010101" pitchFamily="2" charset="-122"/>
                <a:sym typeface="Symbol" panose="05050102010706020507" pitchFamily="18" charset="2"/>
              </a:rPr>
              <a:t>       </a:t>
            </a:r>
            <a:r>
              <a:rPr lang="en-US" altLang="zh-CN" sz="2400" dirty="0" smtClean="0">
                <a:ea typeface="华文楷体" panose="02010600040101010101" pitchFamily="2" charset="-122"/>
                <a:sym typeface="Symbol" panose="05050102010706020507" pitchFamily="18" charset="2"/>
              </a:rPr>
              <a:t> </a:t>
            </a:r>
            <a:r>
              <a:rPr lang="zh-CN" altLang="zh-CN" sz="2400" dirty="0" smtClean="0">
                <a:ea typeface="华文楷体" panose="02010600040101010101" pitchFamily="2" charset="-122"/>
                <a:sym typeface="Symbol" panose="05050102010706020507" pitchFamily="18" charset="2"/>
              </a:rPr>
              <a:t> 0  </a:t>
            </a:r>
            <a:r>
              <a:rPr lang="en-US" altLang="zh-CN" sz="2400" dirty="0" smtClean="0">
                <a:ea typeface="华文楷体" panose="02010600040101010101" pitchFamily="2" charset="-122"/>
                <a:sym typeface="Symbol" panose="05050102010706020507" pitchFamily="18" charset="2"/>
              </a:rPr>
              <a:t>   </a:t>
            </a:r>
            <a:r>
              <a:rPr lang="zh-CN" altLang="zh-CN" sz="2400" dirty="0" smtClean="0">
                <a:ea typeface="华文楷体" panose="02010600040101010101" pitchFamily="2" charset="-122"/>
                <a:sym typeface="Symbol" panose="05050102010706020507" pitchFamily="18" charset="2"/>
              </a:rPr>
              <a:t>  1     </a:t>
            </a:r>
            <a:r>
              <a:rPr lang="en-US" altLang="zh-CN" sz="2400" dirty="0" smtClean="0">
                <a:ea typeface="华文楷体" panose="02010600040101010101" pitchFamily="2" charset="-122"/>
                <a:sym typeface="Symbol" panose="05050102010706020507" pitchFamily="18" charset="2"/>
              </a:rPr>
              <a:t> </a:t>
            </a:r>
            <a:r>
              <a:rPr lang="zh-CN" altLang="zh-CN" sz="2400" dirty="0" smtClean="0">
                <a:ea typeface="华文楷体" panose="02010600040101010101" pitchFamily="2" charset="-122"/>
                <a:sym typeface="Symbol" panose="05050102010706020507" pitchFamily="18" charset="2"/>
              </a:rPr>
              <a:t> 2     </a:t>
            </a:r>
            <a:r>
              <a:rPr lang="en-US" altLang="zh-CN" sz="2400" dirty="0" smtClean="0">
                <a:ea typeface="华文楷体" panose="02010600040101010101" pitchFamily="2" charset="-122"/>
                <a:sym typeface="Symbol" panose="05050102010706020507" pitchFamily="18" charset="2"/>
              </a:rPr>
              <a:t> </a:t>
            </a:r>
            <a:r>
              <a:rPr lang="zh-CN" altLang="zh-CN" sz="2400" dirty="0" smtClean="0">
                <a:ea typeface="华文楷体" panose="02010600040101010101" pitchFamily="2" charset="-122"/>
                <a:sym typeface="Symbol" panose="05050102010706020507" pitchFamily="18" charset="2"/>
              </a:rPr>
              <a:t>3      </a:t>
            </a:r>
            <a:r>
              <a:rPr lang="en-US" altLang="zh-CN" sz="2400" dirty="0" smtClean="0">
                <a:ea typeface="华文楷体" panose="02010600040101010101" pitchFamily="2" charset="-122"/>
                <a:sym typeface="Symbol" panose="05050102010706020507" pitchFamily="18" charset="2"/>
              </a:rPr>
              <a:t> </a:t>
            </a:r>
            <a:r>
              <a:rPr lang="zh-CN" altLang="zh-CN" sz="2400" dirty="0" smtClean="0">
                <a:ea typeface="华文楷体" panose="02010600040101010101" pitchFamily="2" charset="-122"/>
                <a:sym typeface="Symbol" panose="05050102010706020507" pitchFamily="18" charset="2"/>
              </a:rPr>
              <a:t>4     </a:t>
            </a:r>
            <a:r>
              <a:rPr lang="en-US" altLang="zh-CN" sz="2400" dirty="0" smtClean="0">
                <a:ea typeface="华文楷体" panose="02010600040101010101" pitchFamily="2" charset="-122"/>
                <a:sym typeface="Symbol" panose="05050102010706020507" pitchFamily="18" charset="2"/>
              </a:rPr>
              <a:t>   </a:t>
            </a:r>
            <a:r>
              <a:rPr lang="zh-CN" altLang="zh-CN" sz="2400" dirty="0" smtClean="0">
                <a:ea typeface="华文楷体" panose="02010600040101010101" pitchFamily="2" charset="-122"/>
                <a:sym typeface="Symbol" panose="05050102010706020507" pitchFamily="18" charset="2"/>
              </a:rPr>
              <a:t>5  </a:t>
            </a:r>
            <a:r>
              <a:rPr lang="en-US" altLang="zh-CN" sz="2400" dirty="0" smtClean="0">
                <a:ea typeface="华文楷体" panose="02010600040101010101" pitchFamily="2" charset="-122"/>
                <a:sym typeface="Symbol" panose="05050102010706020507" pitchFamily="18" charset="2"/>
              </a:rPr>
              <a:t>    </a:t>
            </a:r>
            <a:r>
              <a:rPr lang="zh-CN" altLang="zh-CN" sz="2400" dirty="0" smtClean="0">
                <a:ea typeface="华文楷体" panose="02010600040101010101" pitchFamily="2" charset="-122"/>
                <a:sym typeface="Symbol" panose="05050102010706020507" pitchFamily="18" charset="2"/>
              </a:rPr>
              <a:t>6     7     8</a:t>
            </a:r>
            <a:endParaRPr lang="zh-CN" altLang="zh-CN"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zh-CN" altLang="zh-CN" sz="2400" dirty="0" smtClean="0">
                <a:ea typeface="华文楷体" panose="02010600040101010101" pitchFamily="2" charset="-122"/>
                <a:sym typeface="Symbol" panose="05050102010706020507" pitchFamily="18" charset="2"/>
              </a:rPr>
              <a:t>            </a:t>
            </a:r>
            <a:endParaRPr lang="en-US" altLang="zh-CN"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a:t>
            </a:r>
            <a:endParaRPr lang="en-US" altLang="zh-CN"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ASL</a:t>
            </a:r>
            <a:r>
              <a:rPr lang="en-US" altLang="zh-CN" sz="2400" baseline="-25000" dirty="0" smtClean="0">
                <a:ea typeface="华文楷体" panose="02010600040101010101" pitchFamily="2" charset="-122"/>
                <a:sym typeface="Symbol" panose="05050102010706020507" pitchFamily="18" charset="2"/>
              </a:rPr>
              <a:t>s</a:t>
            </a:r>
            <a:r>
              <a:rPr lang="en-US" altLang="zh-CN" sz="2400" dirty="0" smtClean="0">
                <a:ea typeface="华文楷体" panose="02010600040101010101" pitchFamily="2" charset="-122"/>
                <a:sym typeface="Symbol" panose="05050102010706020507" pitchFamily="18" charset="2"/>
              </a:rPr>
              <a:t>= (1+1+1+2+1+1+5)/7 =12/7 </a:t>
            </a:r>
            <a:endParaRPr lang="en-US" altLang="zh-CN"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400" dirty="0" smtClean="0">
                <a:ea typeface="华文楷体" panose="02010600040101010101" pitchFamily="2" charset="-122"/>
                <a:sym typeface="Symbol" panose="05050102010706020507" pitchFamily="18" charset="2"/>
              </a:rPr>
              <a:t>     </a:t>
            </a:r>
            <a:r>
              <a:rPr lang="en-US" altLang="zh-CN" sz="2400" dirty="0" err="1" smtClean="0">
                <a:ea typeface="华文楷体" panose="02010600040101010101" pitchFamily="2" charset="-122"/>
                <a:sym typeface="Symbol" panose="05050102010706020507" pitchFamily="18" charset="2"/>
              </a:rPr>
              <a:t>ASL</a:t>
            </a:r>
            <a:r>
              <a:rPr lang="en-US" altLang="zh-CN" sz="2400" baseline="-25000" dirty="0" err="1" smtClean="0">
                <a:ea typeface="华文楷体" panose="02010600040101010101" pitchFamily="2" charset="-122"/>
                <a:sym typeface="Symbol" panose="05050102010706020507" pitchFamily="18" charset="2"/>
              </a:rPr>
              <a:t>f</a:t>
            </a:r>
            <a:r>
              <a:rPr lang="en-US" altLang="zh-CN" sz="2400" baseline="-25000" dirty="0" smtClean="0">
                <a:ea typeface="华文楷体" panose="02010600040101010101" pitchFamily="2" charset="-122"/>
                <a:sym typeface="Symbol" panose="05050102010706020507" pitchFamily="18" charset="2"/>
              </a:rPr>
              <a:t> </a:t>
            </a:r>
            <a:r>
              <a:rPr lang="en-US" altLang="zh-CN" sz="2400" dirty="0" smtClean="0">
                <a:ea typeface="华文楷体" panose="02010600040101010101" pitchFamily="2" charset="-122"/>
                <a:sym typeface="Symbol" panose="05050102010706020507" pitchFamily="18" charset="2"/>
              </a:rPr>
              <a:t>= (7+6+5+4+3+2+1+1+8)/9=37/9 </a:t>
            </a:r>
            <a:endParaRPr lang="en-US" altLang="zh-CN"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400" dirty="0" smtClean="0">
                <a:ea typeface="华文楷体" panose="02010600040101010101" pitchFamily="2" charset="-122"/>
                <a:cs typeface="Times New Roman" panose="02020603050405020304" pitchFamily="18" charset="0"/>
                <a:sym typeface="Symbol" panose="05050102010706020507" pitchFamily="18" charset="2"/>
              </a:rPr>
              <a:t>        </a:t>
            </a:r>
            <a:r>
              <a:rPr lang="el-GR" altLang="zh-CN" sz="2400" dirty="0" smtClean="0">
                <a:cs typeface="Times New Roman" panose="02020603050405020304" pitchFamily="18" charset="0"/>
                <a:sym typeface="Symbol" panose="05050102010706020507" pitchFamily="18" charset="2"/>
              </a:rPr>
              <a:t>α</a:t>
            </a:r>
            <a:r>
              <a:rPr lang="en-US" altLang="zh-CN" sz="2400" dirty="0" smtClean="0">
                <a:ea typeface="华文楷体" panose="02010600040101010101" pitchFamily="2" charset="-122"/>
                <a:sym typeface="Symbol" panose="05050102010706020507" pitchFamily="18" charset="2"/>
              </a:rPr>
              <a:t>   = 7/9</a:t>
            </a:r>
            <a:endParaRPr lang="zh-CN" altLang="el-GR" sz="24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endParaRPr lang="en-US" altLang="zh-CN" sz="2400" b="1" dirty="0" smtClean="0">
              <a:ea typeface="华文楷体" panose="02010600040101010101" pitchFamily="2" charset="-122"/>
            </a:endParaRPr>
          </a:p>
        </p:txBody>
      </p:sp>
      <p:sp>
        <p:nvSpPr>
          <p:cNvPr id="75782" name="Rectangle 4"/>
          <p:cNvSpPr>
            <a:spLocks noChangeArrowheads="1"/>
          </p:cNvSpPr>
          <p:nvPr/>
        </p:nvSpPr>
        <p:spPr bwMode="auto">
          <a:xfrm>
            <a:off x="1066800" y="3733800"/>
            <a:ext cx="6019800" cy="6096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5783" name="Line 5"/>
          <p:cNvSpPr>
            <a:spLocks noChangeShapeType="1"/>
          </p:cNvSpPr>
          <p:nvPr/>
        </p:nvSpPr>
        <p:spPr bwMode="auto">
          <a:xfrm>
            <a:off x="1600200" y="37338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5784" name="Line 6"/>
          <p:cNvSpPr>
            <a:spLocks noChangeShapeType="1"/>
          </p:cNvSpPr>
          <p:nvPr/>
        </p:nvSpPr>
        <p:spPr bwMode="auto">
          <a:xfrm>
            <a:off x="2362200" y="37338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5785" name="Line 7"/>
          <p:cNvSpPr>
            <a:spLocks noChangeShapeType="1"/>
          </p:cNvSpPr>
          <p:nvPr/>
        </p:nvSpPr>
        <p:spPr bwMode="auto">
          <a:xfrm>
            <a:off x="2971800" y="37338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5786" name="Line 8"/>
          <p:cNvSpPr>
            <a:spLocks noChangeShapeType="1"/>
          </p:cNvSpPr>
          <p:nvPr/>
        </p:nvSpPr>
        <p:spPr bwMode="auto">
          <a:xfrm>
            <a:off x="3733800" y="37338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5787" name="Line 9"/>
          <p:cNvSpPr>
            <a:spLocks noChangeShapeType="1"/>
          </p:cNvSpPr>
          <p:nvPr/>
        </p:nvSpPr>
        <p:spPr bwMode="auto">
          <a:xfrm>
            <a:off x="4495800" y="37338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5788" name="Line 10"/>
          <p:cNvSpPr>
            <a:spLocks noChangeShapeType="1"/>
          </p:cNvSpPr>
          <p:nvPr/>
        </p:nvSpPr>
        <p:spPr bwMode="auto">
          <a:xfrm>
            <a:off x="5181600" y="37338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5789" name="Line 11"/>
          <p:cNvSpPr>
            <a:spLocks noChangeShapeType="1"/>
          </p:cNvSpPr>
          <p:nvPr/>
        </p:nvSpPr>
        <p:spPr bwMode="auto">
          <a:xfrm>
            <a:off x="5638800" y="37338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5790" name="Line 12"/>
          <p:cNvSpPr>
            <a:spLocks noChangeShapeType="1"/>
          </p:cNvSpPr>
          <p:nvPr/>
        </p:nvSpPr>
        <p:spPr bwMode="auto">
          <a:xfrm>
            <a:off x="6172200" y="3733800"/>
            <a:ext cx="0" cy="609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91149" name="Text Box 13"/>
          <p:cNvSpPr txBox="1">
            <a:spLocks noChangeArrowheads="1"/>
          </p:cNvSpPr>
          <p:nvPr/>
        </p:nvSpPr>
        <p:spPr bwMode="auto">
          <a:xfrm>
            <a:off x="2362200" y="38100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a:latin typeface="Times New Roman" panose="02020603050405020304" pitchFamily="18" charset="0"/>
                <a:ea typeface="黑体" panose="02010609060101010101" pitchFamily="49" charset="-122"/>
              </a:rPr>
              <a:t>en</a:t>
            </a:r>
            <a:endParaRPr kumimoji="1" lang="en-US" altLang="zh-CN" sz="2400">
              <a:latin typeface="Times New Roman" panose="02020603050405020304" pitchFamily="18" charset="0"/>
              <a:ea typeface="黑体" panose="02010609060101010101" pitchFamily="49" charset="-122"/>
            </a:endParaRPr>
          </a:p>
        </p:txBody>
      </p:sp>
      <p:sp>
        <p:nvSpPr>
          <p:cNvPr id="91150" name="Text Box 14"/>
          <p:cNvSpPr txBox="1">
            <a:spLocks noChangeArrowheads="1"/>
          </p:cNvSpPr>
          <p:nvPr/>
        </p:nvSpPr>
        <p:spPr bwMode="auto">
          <a:xfrm>
            <a:off x="1066800" y="38100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a:latin typeface="Times New Roman" panose="02020603050405020304" pitchFamily="18" charset="0"/>
                <a:ea typeface="黑体" panose="02010609060101010101" pitchFamily="49" charset="-122"/>
              </a:rPr>
              <a:t>to</a:t>
            </a:r>
            <a:endParaRPr kumimoji="1" lang="en-US" altLang="zh-CN" sz="2400">
              <a:latin typeface="Times New Roman" panose="02020603050405020304" pitchFamily="18" charset="0"/>
              <a:ea typeface="黑体" panose="02010609060101010101" pitchFamily="49" charset="-122"/>
            </a:endParaRPr>
          </a:p>
        </p:txBody>
      </p:sp>
      <p:sp>
        <p:nvSpPr>
          <p:cNvPr id="91151" name="Text Box 15"/>
          <p:cNvSpPr txBox="1">
            <a:spLocks noChangeArrowheads="1"/>
          </p:cNvSpPr>
          <p:nvPr/>
        </p:nvSpPr>
        <p:spPr bwMode="auto">
          <a:xfrm>
            <a:off x="3048000" y="381000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a:latin typeface="Times New Roman" panose="02020603050405020304" pitchFamily="18" charset="0"/>
                <a:ea typeface="黑体" panose="02010609060101010101" pitchFamily="49" charset="-122"/>
              </a:rPr>
              <a:t>tre</a:t>
            </a:r>
            <a:endParaRPr kumimoji="1" lang="en-US" altLang="zh-CN" sz="2400">
              <a:latin typeface="Times New Roman" panose="02020603050405020304" pitchFamily="18" charset="0"/>
              <a:ea typeface="黑体" panose="02010609060101010101" pitchFamily="49" charset="-122"/>
            </a:endParaRPr>
          </a:p>
        </p:txBody>
      </p:sp>
      <p:sp>
        <p:nvSpPr>
          <p:cNvPr id="91152" name="Text Box 16"/>
          <p:cNvSpPr txBox="1">
            <a:spLocks noChangeArrowheads="1"/>
          </p:cNvSpPr>
          <p:nvPr/>
        </p:nvSpPr>
        <p:spPr bwMode="auto">
          <a:xfrm>
            <a:off x="1600200" y="38100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a:latin typeface="Times New Roman" panose="02020603050405020304" pitchFamily="18" charset="0"/>
                <a:ea typeface="黑体" panose="02010609060101010101" pitchFamily="49" charset="-122"/>
              </a:rPr>
              <a:t>fire</a:t>
            </a:r>
            <a:endParaRPr kumimoji="1" lang="en-US" altLang="zh-CN" sz="2400">
              <a:latin typeface="Times New Roman" panose="02020603050405020304" pitchFamily="18" charset="0"/>
              <a:ea typeface="黑体" panose="02010609060101010101" pitchFamily="49" charset="-122"/>
            </a:endParaRPr>
          </a:p>
        </p:txBody>
      </p:sp>
      <p:sp>
        <p:nvSpPr>
          <p:cNvPr id="91153" name="Text Box 17"/>
          <p:cNvSpPr txBox="1">
            <a:spLocks noChangeArrowheads="1"/>
          </p:cNvSpPr>
          <p:nvPr/>
        </p:nvSpPr>
        <p:spPr bwMode="auto">
          <a:xfrm>
            <a:off x="3733800" y="3810000"/>
            <a:ext cx="76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a:latin typeface="Times New Roman" panose="02020603050405020304" pitchFamily="18" charset="0"/>
                <a:ea typeface="黑体" panose="02010609060101010101" pitchFamily="49" charset="-122"/>
              </a:rPr>
              <a:t>fem</a:t>
            </a:r>
            <a:endParaRPr kumimoji="1" lang="en-US" altLang="zh-CN" sz="2400">
              <a:latin typeface="Times New Roman" panose="02020603050405020304" pitchFamily="18" charset="0"/>
              <a:ea typeface="黑体" panose="02010609060101010101" pitchFamily="49" charset="-122"/>
            </a:endParaRPr>
          </a:p>
        </p:txBody>
      </p:sp>
      <p:sp>
        <p:nvSpPr>
          <p:cNvPr id="91154" name="Text Box 18"/>
          <p:cNvSpPr txBox="1">
            <a:spLocks noChangeArrowheads="1"/>
          </p:cNvSpPr>
          <p:nvPr/>
        </p:nvSpPr>
        <p:spPr bwMode="auto">
          <a:xfrm>
            <a:off x="6172200" y="381000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a:latin typeface="Times New Roman" panose="02020603050405020304" pitchFamily="18" charset="0"/>
                <a:ea typeface="黑体" panose="02010609060101010101" pitchFamily="49" charset="-122"/>
              </a:rPr>
              <a:t>seks</a:t>
            </a:r>
            <a:endParaRPr kumimoji="1" lang="en-US" altLang="zh-CN" sz="2400">
              <a:latin typeface="Times New Roman" panose="02020603050405020304" pitchFamily="18" charset="0"/>
              <a:ea typeface="黑体" panose="02010609060101010101" pitchFamily="49" charset="-122"/>
            </a:endParaRPr>
          </a:p>
        </p:txBody>
      </p:sp>
      <p:sp>
        <p:nvSpPr>
          <p:cNvPr id="91155" name="Text Box 19"/>
          <p:cNvSpPr txBox="1">
            <a:spLocks noChangeArrowheads="1"/>
          </p:cNvSpPr>
          <p:nvPr/>
        </p:nvSpPr>
        <p:spPr bwMode="auto">
          <a:xfrm>
            <a:off x="4495800" y="38100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FontTx/>
              <a:buNone/>
            </a:pPr>
            <a:r>
              <a:rPr kumimoji="1" lang="en-US" altLang="zh-CN" sz="2400">
                <a:latin typeface="Times New Roman" panose="02020603050405020304" pitchFamily="18" charset="0"/>
                <a:ea typeface="黑体" panose="02010609060101010101" pitchFamily="49" charset="-122"/>
              </a:rPr>
              <a:t>syv</a:t>
            </a:r>
            <a:endParaRPr kumimoji="1" lang="en-US" altLang="zh-CN" sz="2400">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1149">
                                            <p:txEl>
                                              <p:pRg st="0" end="0"/>
                                            </p:txEl>
                                          </p:spTgt>
                                        </p:tgtEl>
                                        <p:attrNameLst>
                                          <p:attrName>style.visibility</p:attrName>
                                        </p:attrNameLst>
                                      </p:cBhvr>
                                      <p:to>
                                        <p:strVal val="visible"/>
                                      </p:to>
                                    </p:set>
                                    <p:anim calcmode="lin" valueType="num">
                                      <p:cBhvr additive="base">
                                        <p:cTn id="7" dur="500" fill="hold"/>
                                        <p:tgtEl>
                                          <p:spTgt spid="9114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114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LASER.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91150">
                                            <p:txEl>
                                              <p:pRg st="0" end="0"/>
                                            </p:txEl>
                                          </p:spTgt>
                                        </p:tgtEl>
                                        <p:attrNameLst>
                                          <p:attrName>style.visibility</p:attrName>
                                        </p:attrNameLst>
                                      </p:cBhvr>
                                      <p:to>
                                        <p:strVal val="visible"/>
                                      </p:to>
                                    </p:set>
                                    <p:anim calcmode="lin" valueType="num">
                                      <p:cBhvr additive="base">
                                        <p:cTn id="13" dur="500" fill="hold"/>
                                        <p:tgtEl>
                                          <p:spTgt spid="91150">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9115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91151">
                                            <p:txEl>
                                              <p:pRg st="0" end="0"/>
                                            </p:txEl>
                                          </p:spTgt>
                                        </p:tgtEl>
                                        <p:attrNameLst>
                                          <p:attrName>style.visibility</p:attrName>
                                        </p:attrNameLst>
                                      </p:cBhvr>
                                      <p:to>
                                        <p:strVal val="visible"/>
                                      </p:to>
                                    </p:set>
                                    <p:anim calcmode="lin" valueType="num">
                                      <p:cBhvr additive="base">
                                        <p:cTn id="19" dur="500" fill="hold"/>
                                        <p:tgtEl>
                                          <p:spTgt spid="91151">
                                            <p:txEl>
                                              <p:pRg st="0" end="0"/>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911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91152">
                                            <p:txEl>
                                              <p:pRg st="0" end="0"/>
                                            </p:txEl>
                                          </p:spTgt>
                                        </p:tgtEl>
                                        <p:attrNameLst>
                                          <p:attrName>style.visibility</p:attrName>
                                        </p:attrNameLst>
                                      </p:cBhvr>
                                      <p:to>
                                        <p:strVal val="visible"/>
                                      </p:to>
                                    </p:set>
                                    <p:anim calcmode="lin" valueType="num">
                                      <p:cBhvr additive="base">
                                        <p:cTn id="25" dur="500" fill="hold"/>
                                        <p:tgtEl>
                                          <p:spTgt spid="91152">
                                            <p:txEl>
                                              <p:pRg st="0" end="0"/>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9115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91153">
                                            <p:txEl>
                                              <p:pRg st="0" end="0"/>
                                            </p:txEl>
                                          </p:spTgt>
                                        </p:tgtEl>
                                        <p:attrNameLst>
                                          <p:attrName>style.visibility</p:attrName>
                                        </p:attrNameLst>
                                      </p:cBhvr>
                                      <p:to>
                                        <p:strVal val="visible"/>
                                      </p:to>
                                    </p:set>
                                    <p:anim calcmode="lin" valueType="num">
                                      <p:cBhvr additive="base">
                                        <p:cTn id="31" dur="500" fill="hold"/>
                                        <p:tgtEl>
                                          <p:spTgt spid="91153">
                                            <p:txEl>
                                              <p:pRg st="0" end="0"/>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9115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91154">
                                            <p:txEl>
                                              <p:pRg st="0" end="0"/>
                                            </p:txEl>
                                          </p:spTgt>
                                        </p:tgtEl>
                                        <p:attrNameLst>
                                          <p:attrName>style.visibility</p:attrName>
                                        </p:attrNameLst>
                                      </p:cBhvr>
                                      <p:to>
                                        <p:strVal val="visible"/>
                                      </p:to>
                                    </p:set>
                                    <p:anim calcmode="lin" valueType="num">
                                      <p:cBhvr additive="base">
                                        <p:cTn id="37" dur="500" fill="hold"/>
                                        <p:tgtEl>
                                          <p:spTgt spid="91154">
                                            <p:txEl>
                                              <p:pRg st="0" end="0"/>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9115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91155">
                                            <p:txEl>
                                              <p:pRg st="0" end="0"/>
                                            </p:txEl>
                                          </p:spTgt>
                                        </p:tgtEl>
                                        <p:attrNameLst>
                                          <p:attrName>style.visibility</p:attrName>
                                        </p:attrNameLst>
                                      </p:cBhvr>
                                      <p:to>
                                        <p:strVal val="visible"/>
                                      </p:to>
                                    </p:set>
                                    <p:anim calcmode="lin" valueType="num">
                                      <p:cBhvr additive="base">
                                        <p:cTn id="43" dur="500" fill="hold"/>
                                        <p:tgtEl>
                                          <p:spTgt spid="91155">
                                            <p:txEl>
                                              <p:pRg st="0" end="0"/>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9115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9" grpId="0" autoUpdateAnimBg="0" build="p"/>
      <p:bldP spid="91150" grpId="0" autoUpdateAnimBg="0" build="p"/>
      <p:bldP spid="91151" grpId="0" autoUpdateAnimBg="0" build="p"/>
      <p:bldP spid="91152" grpId="0" autoUpdateAnimBg="0" build="p"/>
      <p:bldP spid="91153" grpId="0" autoUpdateAnimBg="0" build="p"/>
      <p:bldP spid="91154" grpId="0" autoUpdateAnimBg="0" build="p"/>
      <p:bldP spid="91155" grpId="0" autoUpdateAnimBg="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页脚占位符 5"/>
          <p:cNvSpPr>
            <a:spLocks noGrp="1"/>
          </p:cNvSpPr>
          <p:nvPr>
            <p:ph type="ftr" sz="quarter" idx="10"/>
          </p:nvPr>
        </p:nvSpPr>
        <p:spPr/>
        <p:txBody>
          <a:bodyPr/>
          <a:lstStyle/>
          <a:p>
            <a:pPr>
              <a:defRPr/>
            </a:pPr>
            <a:r>
              <a:rPr lang="en-US" altLang="zh-CN"/>
              <a:t>BUPT SCST</a:t>
            </a:r>
            <a:endParaRPr lang="en-US" altLang="zh-CN"/>
          </a:p>
        </p:txBody>
      </p:sp>
      <p:sp>
        <p:nvSpPr>
          <p:cNvPr id="18" name="日期占位符 7"/>
          <p:cNvSpPr>
            <a:spLocks noGrp="1"/>
          </p:cNvSpPr>
          <p:nvPr>
            <p:ph type="dt" sz="quarter" idx="12"/>
          </p:nvPr>
        </p:nvSpPr>
        <p:spPr/>
        <p:txBody>
          <a:bodyPr/>
          <a:lstStyle/>
          <a:p>
            <a:pPr>
              <a:defRPr/>
            </a:pPr>
            <a:r>
              <a:rPr lang="en-US" altLang="zh-CN"/>
              <a:t>BUPT</a:t>
            </a:r>
            <a:endParaRPr lang="en-US" altLang="zh-CN"/>
          </a:p>
        </p:txBody>
      </p:sp>
      <p:sp>
        <p:nvSpPr>
          <p:cNvPr id="76804"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6805" name="Rectangle 3"/>
          <p:cNvSpPr>
            <a:spLocks noGrp="1" noChangeArrowheads="1"/>
          </p:cNvSpPr>
          <p:nvPr>
            <p:ph type="body" sz="half" idx="1"/>
          </p:nvPr>
        </p:nvSpPr>
        <p:spPr>
          <a:xfrm>
            <a:off x="457200" y="1152525"/>
            <a:ext cx="8001000" cy="5248275"/>
          </a:xfrm>
        </p:spPr>
        <p:txBody>
          <a:bodyPr/>
          <a:lstStyle/>
          <a:p>
            <a:pPr eaLnBrk="1" hangingPunct="1">
              <a:buFont typeface="Wingdings" panose="05000000000000000000" pitchFamily="2" charset="2"/>
              <a:buNone/>
            </a:pPr>
            <a:r>
              <a:rPr lang="en-US" altLang="zh-CN" sz="2400" b="1" dirty="0" smtClean="0">
                <a:solidFill>
                  <a:srgbClr val="CC6600"/>
                </a:solidFill>
                <a:ea typeface="华文楷体" panose="02010600040101010101" pitchFamily="2" charset="-122"/>
              </a:rPr>
              <a:t>[</a:t>
            </a:r>
            <a:r>
              <a:rPr lang="zh-CN" altLang="en-US" sz="2400" b="1" dirty="0" smtClean="0">
                <a:solidFill>
                  <a:srgbClr val="CC6600"/>
                </a:solidFill>
                <a:ea typeface="华文楷体" panose="02010600040101010101" pitchFamily="2" charset="-122"/>
              </a:rPr>
              <a:t>平均查找长度与哈希表的装填因子的关系</a:t>
            </a:r>
            <a:r>
              <a:rPr lang="en-US" altLang="zh-CN" sz="2400" b="1" dirty="0" smtClean="0">
                <a:solidFill>
                  <a:srgbClr val="CC6600"/>
                </a:solidFill>
                <a:ea typeface="华文楷体" panose="02010600040101010101" pitchFamily="2" charset="-122"/>
              </a:rPr>
              <a:t>]</a:t>
            </a:r>
            <a:endParaRPr lang="en-US" altLang="zh-CN" sz="2400" b="1" dirty="0" smtClean="0">
              <a:solidFill>
                <a:srgbClr val="CC6600"/>
              </a:solidFill>
              <a:ea typeface="华文楷体" panose="02010600040101010101" pitchFamily="2" charset="-122"/>
            </a:endParaRPr>
          </a:p>
          <a:p>
            <a:pPr eaLnBrk="1" hangingPunct="1">
              <a:buFont typeface="Wingdings" panose="05000000000000000000" pitchFamily="2" charset="2"/>
              <a:buNone/>
            </a:pPr>
            <a:endParaRPr lang="en-US" altLang="zh-CN" sz="2400" dirty="0" smtClean="0">
              <a:solidFill>
                <a:srgbClr val="CC6600"/>
              </a:solidFill>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endParaRPr lang="en-US" altLang="zh-CN" sz="2400" dirty="0" smtClean="0">
              <a:ea typeface="华文楷体" panose="02010600040101010101" pitchFamily="2" charset="-122"/>
            </a:endParaRPr>
          </a:p>
          <a:p>
            <a:pPr eaLnBrk="1" hangingPunct="1">
              <a:buFont typeface="Wingdings" panose="05000000000000000000" pitchFamily="2" charset="2"/>
              <a:buNone/>
            </a:pPr>
            <a:r>
              <a:rPr lang="en-US" altLang="zh-CN" sz="2400" dirty="0" smtClean="0">
                <a:ea typeface="华文楷体" panose="02010600040101010101" pitchFamily="2" charset="-122"/>
              </a:rPr>
              <a:t>          </a:t>
            </a:r>
            <a:r>
              <a:rPr lang="zh-CN" altLang="en-US" sz="2400" dirty="0" smtClean="0">
                <a:ea typeface="华文楷体" panose="02010600040101010101" pitchFamily="2" charset="-122"/>
              </a:rPr>
              <a:t>在一般情况下，</a:t>
            </a:r>
            <a:r>
              <a:rPr lang="zh-CN" altLang="en-US" sz="2400" dirty="0" smtClean="0">
                <a:ea typeface="华文楷体" panose="02010600040101010101" pitchFamily="2" charset="-122"/>
                <a:sym typeface="Symbol" panose="05050102010706020507" pitchFamily="18" charset="2"/>
              </a:rPr>
              <a:t>，冲突的可能性，</a:t>
            </a:r>
            <a:r>
              <a:rPr lang="en-US" altLang="zh-CN" sz="2400" dirty="0" smtClean="0">
                <a:ea typeface="华文楷体" panose="02010600040101010101" pitchFamily="2" charset="-122"/>
                <a:sym typeface="Symbol" panose="05050102010706020507" pitchFamily="18" charset="2"/>
              </a:rPr>
              <a:t>ASL</a:t>
            </a:r>
            <a:r>
              <a:rPr lang="zh-CN" altLang="en-US" sz="2400" dirty="0" smtClean="0">
                <a:ea typeface="华文楷体" panose="02010600040101010101" pitchFamily="2" charset="-122"/>
                <a:sym typeface="Symbol" panose="05050102010706020507" pitchFamily="18" charset="2"/>
              </a:rPr>
              <a:t>，但空间的浪费。</a:t>
            </a:r>
            <a:endParaRPr lang="zh-CN" altLang="en-US" sz="28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zh-CN" altLang="en-US" sz="2800" dirty="0" smtClean="0">
                <a:ea typeface="华文楷体" panose="02010600040101010101" pitchFamily="2" charset="-122"/>
                <a:sym typeface="Symbol" panose="05050102010706020507" pitchFamily="18" charset="2"/>
              </a:rPr>
              <a:t>                                        成功</a:t>
            </a:r>
            <a:r>
              <a:rPr lang="en-US" altLang="zh-CN" sz="2800" dirty="0" smtClean="0">
                <a:ea typeface="华文楷体" panose="02010600040101010101" pitchFamily="2" charset="-122"/>
                <a:sym typeface="Symbol" panose="05050102010706020507" pitchFamily="18" charset="2"/>
              </a:rPr>
              <a:t>ASL          </a:t>
            </a:r>
            <a:r>
              <a:rPr lang="zh-CN" altLang="en-US" sz="2800" dirty="0" smtClean="0">
                <a:ea typeface="华文楷体" panose="02010600040101010101" pitchFamily="2" charset="-122"/>
                <a:sym typeface="Symbol" panose="05050102010706020507" pitchFamily="18" charset="2"/>
              </a:rPr>
              <a:t>失败</a:t>
            </a:r>
            <a:r>
              <a:rPr lang="en-US" altLang="zh-CN" sz="2800" dirty="0" smtClean="0">
                <a:ea typeface="华文楷体" panose="02010600040101010101" pitchFamily="2" charset="-122"/>
                <a:sym typeface="Symbol" panose="05050102010706020507" pitchFamily="18" charset="2"/>
              </a:rPr>
              <a:t>ASL</a:t>
            </a:r>
            <a:endParaRPr lang="en-US" altLang="zh-CN" sz="28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en-US" altLang="zh-CN" sz="2800" dirty="0" smtClean="0">
                <a:ea typeface="华文楷体" panose="02010600040101010101" pitchFamily="2" charset="-122"/>
                <a:sym typeface="Symbol" panose="05050102010706020507" pitchFamily="18" charset="2"/>
              </a:rPr>
              <a:t>    </a:t>
            </a:r>
            <a:r>
              <a:rPr lang="zh-CN" altLang="en-US" sz="2800" dirty="0" smtClean="0">
                <a:ea typeface="华文楷体" panose="02010600040101010101" pitchFamily="2" charset="-122"/>
                <a:sym typeface="Symbol" panose="05050102010706020507" pitchFamily="18" charset="2"/>
              </a:rPr>
              <a:t>线性探测再散列</a:t>
            </a:r>
            <a:endParaRPr lang="zh-CN" altLang="en-US" sz="28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zh-CN" altLang="en-US" sz="2800" dirty="0" smtClean="0">
                <a:ea typeface="华文楷体" panose="02010600040101010101" pitchFamily="2" charset="-122"/>
                <a:sym typeface="Symbol" panose="05050102010706020507" pitchFamily="18" charset="2"/>
              </a:rPr>
              <a:t>    </a:t>
            </a:r>
            <a:endParaRPr lang="zh-CN" altLang="en-US" sz="28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zh-CN" altLang="en-US" sz="2800" dirty="0" smtClean="0">
                <a:ea typeface="华文楷体" panose="02010600040101010101" pitchFamily="2" charset="-122"/>
                <a:sym typeface="Symbol" panose="05050102010706020507" pitchFamily="18" charset="2"/>
              </a:rPr>
              <a:t>    伪随机探测再散列</a:t>
            </a:r>
            <a:endParaRPr lang="zh-CN" altLang="en-US" sz="28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endParaRPr lang="zh-CN" altLang="en-US" sz="28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r>
              <a:rPr lang="zh-CN" altLang="en-US" sz="2800" dirty="0" smtClean="0">
                <a:ea typeface="华文楷体" panose="02010600040101010101" pitchFamily="2" charset="-122"/>
                <a:sym typeface="Symbol" panose="05050102010706020507" pitchFamily="18" charset="2"/>
              </a:rPr>
              <a:t>    链地址法</a:t>
            </a:r>
            <a:endParaRPr lang="zh-CN" altLang="en-US" sz="2800" dirty="0" smtClean="0">
              <a:ea typeface="华文楷体" panose="02010600040101010101" pitchFamily="2" charset="-122"/>
              <a:sym typeface="Symbol" panose="05050102010706020507" pitchFamily="18" charset="2"/>
            </a:endParaRPr>
          </a:p>
          <a:p>
            <a:pPr eaLnBrk="1" hangingPunct="1">
              <a:buFont typeface="Wingdings" panose="05000000000000000000" pitchFamily="2" charset="2"/>
              <a:buNone/>
            </a:pPr>
            <a:endParaRPr lang="en-US" altLang="zh-CN" sz="2800" dirty="0" smtClean="0">
              <a:ea typeface="华文楷体" panose="02010600040101010101" pitchFamily="2" charset="-122"/>
            </a:endParaRPr>
          </a:p>
        </p:txBody>
      </p:sp>
      <p:graphicFrame>
        <p:nvGraphicFramePr>
          <p:cNvPr id="76806" name="Object 4"/>
          <p:cNvGraphicFramePr>
            <a:graphicFrameLocks noGrp="1" noChangeAspect="1"/>
          </p:cNvGraphicFramePr>
          <p:nvPr>
            <p:ph sz="quarter" idx="2"/>
          </p:nvPr>
        </p:nvGraphicFramePr>
        <p:xfrm>
          <a:off x="2438400" y="1524000"/>
          <a:ext cx="3276600" cy="893763"/>
        </p:xfrm>
        <a:graphic>
          <a:graphicData uri="http://schemas.openxmlformats.org/presentationml/2006/ole">
            <mc:AlternateContent xmlns:mc="http://schemas.openxmlformats.org/markup-compatibility/2006">
              <mc:Choice xmlns:v="urn:schemas-microsoft-com:vml" Requires="v">
                <p:oleObj spid="_x0000_s77596" name="公式" r:id="rId1" imgW="1536700" imgH="419100" progId="Equation.3">
                  <p:embed/>
                </p:oleObj>
              </mc:Choice>
              <mc:Fallback>
                <p:oleObj name="公式" r:id="rId1" imgW="1536700" imgH="4191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524000"/>
                        <a:ext cx="3276600" cy="893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07" name="Rectangle 5"/>
          <p:cNvSpPr>
            <a:spLocks noChangeArrowheads="1"/>
          </p:cNvSpPr>
          <p:nvPr/>
        </p:nvSpPr>
        <p:spPr bwMode="auto">
          <a:xfrm>
            <a:off x="838200" y="3276600"/>
            <a:ext cx="7543800" cy="312420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zh-CN" altLang="en-US" sz="1800" dirty="0">
              <a:latin typeface="Times New Roman" panose="02020603050405020304" pitchFamily="18" charset="0"/>
              <a:ea typeface="华文楷体" panose="02010600040101010101" pitchFamily="2" charset="-122"/>
            </a:endParaRPr>
          </a:p>
        </p:txBody>
      </p:sp>
      <p:sp>
        <p:nvSpPr>
          <p:cNvPr id="76808" name="Line 6"/>
          <p:cNvSpPr>
            <a:spLocks noChangeShapeType="1"/>
          </p:cNvSpPr>
          <p:nvPr/>
        </p:nvSpPr>
        <p:spPr bwMode="auto">
          <a:xfrm>
            <a:off x="838200" y="3810000"/>
            <a:ext cx="7543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6809" name="Line 7"/>
          <p:cNvSpPr>
            <a:spLocks noChangeShapeType="1"/>
          </p:cNvSpPr>
          <p:nvPr/>
        </p:nvSpPr>
        <p:spPr bwMode="auto">
          <a:xfrm>
            <a:off x="838200" y="4724400"/>
            <a:ext cx="7543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6810" name="Line 8"/>
          <p:cNvSpPr>
            <a:spLocks noChangeShapeType="1"/>
          </p:cNvSpPr>
          <p:nvPr/>
        </p:nvSpPr>
        <p:spPr bwMode="auto">
          <a:xfrm>
            <a:off x="838200" y="5715000"/>
            <a:ext cx="7543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6811" name="Line 9"/>
          <p:cNvSpPr>
            <a:spLocks noChangeShapeType="1"/>
          </p:cNvSpPr>
          <p:nvPr/>
        </p:nvSpPr>
        <p:spPr bwMode="auto">
          <a:xfrm>
            <a:off x="4038600" y="3276600"/>
            <a:ext cx="0" cy="3124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sp>
        <p:nvSpPr>
          <p:cNvPr id="76812" name="Line 10"/>
          <p:cNvSpPr>
            <a:spLocks noChangeShapeType="1"/>
          </p:cNvSpPr>
          <p:nvPr/>
        </p:nvSpPr>
        <p:spPr bwMode="auto">
          <a:xfrm>
            <a:off x="6248400" y="3276600"/>
            <a:ext cx="0" cy="31242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latin typeface="Times New Roman" panose="02020603050405020304" pitchFamily="18" charset="0"/>
              <a:ea typeface="华文楷体" panose="02010600040101010101" pitchFamily="2" charset="-122"/>
            </a:endParaRPr>
          </a:p>
        </p:txBody>
      </p:sp>
      <p:graphicFrame>
        <p:nvGraphicFramePr>
          <p:cNvPr id="76813" name="Object 11"/>
          <p:cNvGraphicFramePr>
            <a:graphicFrameLocks noChangeAspect="1"/>
          </p:cNvGraphicFramePr>
          <p:nvPr/>
        </p:nvGraphicFramePr>
        <p:xfrm>
          <a:off x="6324600" y="3962400"/>
          <a:ext cx="2057400" cy="896938"/>
        </p:xfrm>
        <a:graphic>
          <a:graphicData uri="http://schemas.openxmlformats.org/presentationml/2006/ole">
            <mc:AlternateContent xmlns:mc="http://schemas.openxmlformats.org/markup-compatibility/2006">
              <mc:Choice xmlns:v="urn:schemas-microsoft-com:vml" Requires="v">
                <p:oleObj spid="_x0000_s77597" name="公式" r:id="rId3" imgW="1002665" imgH="584200" progId="Equation.3">
                  <p:embed/>
                </p:oleObj>
              </mc:Choice>
              <mc:Fallback>
                <p:oleObj name="公式" r:id="rId3" imgW="1002665" imgH="5842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3962400"/>
                        <a:ext cx="2057400" cy="896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14" name="Object 12"/>
          <p:cNvGraphicFramePr>
            <a:graphicFrameLocks noChangeAspect="1"/>
          </p:cNvGraphicFramePr>
          <p:nvPr/>
        </p:nvGraphicFramePr>
        <p:xfrm>
          <a:off x="4267200" y="4800600"/>
          <a:ext cx="1752600" cy="784225"/>
        </p:xfrm>
        <a:graphic>
          <a:graphicData uri="http://schemas.openxmlformats.org/presentationml/2006/ole">
            <mc:AlternateContent xmlns:mc="http://schemas.openxmlformats.org/markup-compatibility/2006">
              <mc:Choice xmlns:v="urn:schemas-microsoft-com:vml" Requires="v">
                <p:oleObj spid="_x0000_s77598" name="公式" r:id="rId5" imgW="799465" imgH="393700" progId="Equation.3">
                  <p:embed/>
                </p:oleObj>
              </mc:Choice>
              <mc:Fallback>
                <p:oleObj name="公式" r:id="rId5" imgW="799465" imgH="393700"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67200" y="4800600"/>
                        <a:ext cx="1752600" cy="784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15" name="Object 13"/>
          <p:cNvGraphicFramePr>
            <a:graphicFrameLocks noChangeAspect="1"/>
          </p:cNvGraphicFramePr>
          <p:nvPr/>
        </p:nvGraphicFramePr>
        <p:xfrm>
          <a:off x="6400800" y="4800600"/>
          <a:ext cx="1444625" cy="762000"/>
        </p:xfrm>
        <a:graphic>
          <a:graphicData uri="http://schemas.openxmlformats.org/presentationml/2006/ole">
            <mc:AlternateContent xmlns:mc="http://schemas.openxmlformats.org/markup-compatibility/2006">
              <mc:Choice xmlns:v="urn:schemas-microsoft-com:vml" Requires="v">
                <p:oleObj spid="_x0000_s77599" name="公式" r:id="rId7" imgW="355600" imgH="393065" progId="Equation.3">
                  <p:embed/>
                </p:oleObj>
              </mc:Choice>
              <mc:Fallback>
                <p:oleObj name="公式" r:id="rId7" imgW="355600" imgH="393065"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00800" y="4800600"/>
                        <a:ext cx="1444625"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16" name="Object 14"/>
          <p:cNvGraphicFramePr>
            <a:graphicFrameLocks noChangeAspect="1"/>
          </p:cNvGraphicFramePr>
          <p:nvPr/>
        </p:nvGraphicFramePr>
        <p:xfrm>
          <a:off x="4343400" y="5715000"/>
          <a:ext cx="1066800" cy="685800"/>
        </p:xfrm>
        <a:graphic>
          <a:graphicData uri="http://schemas.openxmlformats.org/presentationml/2006/ole">
            <mc:AlternateContent xmlns:mc="http://schemas.openxmlformats.org/markup-compatibility/2006">
              <mc:Choice xmlns:v="urn:schemas-microsoft-com:vml" Requires="v">
                <p:oleObj spid="_x0000_s77600" name="公式" r:id="rId9" imgW="355600" imgH="393065" progId="Equation.3">
                  <p:embed/>
                </p:oleObj>
              </mc:Choice>
              <mc:Fallback>
                <p:oleObj name="公式" r:id="rId9" imgW="355600" imgH="393065" progId="Equation.3">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43400" y="5715000"/>
                        <a:ext cx="10668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17" name="Object 15"/>
          <p:cNvGraphicFramePr>
            <a:graphicFrameLocks noChangeAspect="1"/>
          </p:cNvGraphicFramePr>
          <p:nvPr/>
        </p:nvGraphicFramePr>
        <p:xfrm>
          <a:off x="6400800" y="5791200"/>
          <a:ext cx="1447800" cy="609600"/>
        </p:xfrm>
        <a:graphic>
          <a:graphicData uri="http://schemas.openxmlformats.org/presentationml/2006/ole">
            <mc:AlternateContent xmlns:mc="http://schemas.openxmlformats.org/markup-compatibility/2006">
              <mc:Choice xmlns:v="urn:schemas-microsoft-com:vml" Requires="v">
                <p:oleObj spid="_x0000_s77601" name="Equation" r:id="rId11" imgW="495300" imgH="279400" progId="Equation.DSMT4">
                  <p:embed/>
                </p:oleObj>
              </mc:Choice>
              <mc:Fallback>
                <p:oleObj name="Equation" r:id="rId11" imgW="495300" imgH="279400" progId="Equation.DSMT4">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00800" y="5791200"/>
                        <a:ext cx="14478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18" name="Object 16"/>
          <p:cNvGraphicFramePr>
            <a:graphicFrameLocks noGrp="1" noChangeAspect="1"/>
          </p:cNvGraphicFramePr>
          <p:nvPr>
            <p:ph sz="quarter" idx="3"/>
          </p:nvPr>
        </p:nvGraphicFramePr>
        <p:xfrm>
          <a:off x="4419600" y="3883025"/>
          <a:ext cx="1371600" cy="709613"/>
        </p:xfrm>
        <a:graphic>
          <a:graphicData uri="http://schemas.openxmlformats.org/presentationml/2006/ole">
            <mc:AlternateContent xmlns:mc="http://schemas.openxmlformats.org/markup-compatibility/2006">
              <mc:Choice xmlns:v="urn:schemas-microsoft-com:vml" Requires="v">
                <p:oleObj spid="_x0000_s77602" name="Equation" r:id="rId13" imgW="761365" imgH="393700" progId="Equation.DSMT4">
                  <p:embed/>
                </p:oleObj>
              </mc:Choice>
              <mc:Fallback>
                <p:oleObj name="Equation" r:id="rId13" imgW="761365" imgH="393700" progId="Equation.DSMT4">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19600" y="3883025"/>
                        <a:ext cx="1371600" cy="709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77828" name="Rectangle 2"/>
          <p:cNvSpPr>
            <a:spLocks noGrp="1" noChangeArrowheads="1"/>
          </p:cNvSpPr>
          <p:nvPr>
            <p:ph type="title"/>
          </p:nvPr>
        </p:nvSpPr>
        <p:spPr/>
        <p:txBody>
          <a:bodyPr/>
          <a:lstStyle/>
          <a:p>
            <a:pPr eaLnBrk="1" hangingPunct="1"/>
            <a:r>
              <a:rPr lang="zh-CN" altLang="en-US" sz="2800" dirty="0" smtClean="0">
                <a:ea typeface="华文楷体" panose="02010600040101010101" pitchFamily="2" charset="-122"/>
              </a:rPr>
              <a:t>作业</a:t>
            </a:r>
            <a:endParaRPr lang="zh-CN" altLang="en-US" sz="2800" dirty="0" smtClean="0">
              <a:ea typeface="华文楷体" panose="02010600040101010101" pitchFamily="2" charset="-122"/>
            </a:endParaRPr>
          </a:p>
        </p:txBody>
      </p:sp>
      <p:sp>
        <p:nvSpPr>
          <p:cNvPr id="77829"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1. </a:t>
            </a:r>
            <a:r>
              <a:rPr lang="zh-CN" altLang="en-US" sz="2400" dirty="0" smtClean="0">
                <a:ea typeface="华文楷体" panose="02010600040101010101" pitchFamily="2" charset="-122"/>
              </a:rPr>
              <a:t>包括</a:t>
            </a:r>
            <a:r>
              <a:rPr lang="en-US" altLang="zh-CN" sz="2400" dirty="0" smtClean="0">
                <a:ea typeface="华文楷体" panose="02010600040101010101" pitchFamily="2" charset="-122"/>
              </a:rPr>
              <a:t>n</a:t>
            </a:r>
            <a:r>
              <a:rPr lang="zh-CN" altLang="en-US" sz="2400" dirty="0" smtClean="0">
                <a:ea typeface="华文楷体" panose="02010600040101010101" pitchFamily="2" charset="-122"/>
              </a:rPr>
              <a:t>个关键码的</a:t>
            </a:r>
            <a:r>
              <a:rPr lang="en-US" altLang="zh-CN" sz="2400" dirty="0" smtClean="0">
                <a:ea typeface="华文楷体" panose="02010600040101010101" pitchFamily="2" charset="-122"/>
              </a:rPr>
              <a:t>m</a:t>
            </a:r>
            <a:r>
              <a:rPr lang="zh-CN" altLang="en-US" sz="2400" dirty="0" smtClean="0">
                <a:ea typeface="华文楷体" panose="02010600040101010101" pitchFamily="2" charset="-122"/>
              </a:rPr>
              <a:t>阶</a:t>
            </a:r>
            <a:r>
              <a:rPr lang="en-US" altLang="zh-CN" sz="2400" dirty="0" smtClean="0">
                <a:ea typeface="华文楷体" panose="02010600040101010101" pitchFamily="2" charset="-122"/>
              </a:rPr>
              <a:t>B-</a:t>
            </a:r>
            <a:r>
              <a:rPr lang="zh-CN" altLang="en-US" sz="2400" dirty="0" smtClean="0">
                <a:ea typeface="华文楷体" panose="02010600040101010101" pitchFamily="2" charset="-122"/>
              </a:rPr>
              <a:t>树在一次检索中最多涉及多少个结点？（要求写出推导过程。）</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2. </a:t>
            </a:r>
            <a:r>
              <a:rPr lang="zh-CN" altLang="en-US" sz="2400" dirty="0" smtClean="0">
                <a:ea typeface="华文楷体" panose="02010600040101010101" pitchFamily="2" charset="-122"/>
              </a:rPr>
              <a:t>试从空树开始，</a:t>
            </a:r>
            <a:r>
              <a:rPr lang="zh-CN" altLang="zh-CN" sz="2400" dirty="0" smtClean="0">
                <a:ea typeface="华文楷体" panose="02010600040101010101" pitchFamily="2" charset="-122"/>
              </a:rPr>
              <a:t>画出按以下次序向3阶</a:t>
            </a:r>
            <a:r>
              <a:rPr lang="en-US" altLang="zh-CN" sz="2400" dirty="0" smtClean="0">
                <a:ea typeface="华文楷体" panose="02010600040101010101" pitchFamily="2" charset="-122"/>
              </a:rPr>
              <a:t>B-</a:t>
            </a:r>
            <a:r>
              <a:rPr lang="zh-CN" altLang="zh-CN" sz="2400" dirty="0" smtClean="0">
                <a:ea typeface="华文楷体" panose="02010600040101010101" pitchFamily="2" charset="-122"/>
              </a:rPr>
              <a:t>树中插入关键码的建树过程：20，30，50，52，60，68，70。如果此后删除50和68，画出每一步执行后</a:t>
            </a:r>
            <a:r>
              <a:rPr lang="en-US" altLang="zh-CN" sz="2400" dirty="0" smtClean="0">
                <a:ea typeface="华文楷体" panose="02010600040101010101" pitchFamily="2" charset="-122"/>
              </a:rPr>
              <a:t>B-</a:t>
            </a:r>
            <a:r>
              <a:rPr lang="zh-CN" altLang="zh-CN" sz="2400" dirty="0" smtClean="0">
                <a:ea typeface="华文楷体" panose="02010600040101010101" pitchFamily="2" charset="-122"/>
              </a:rPr>
              <a:t>树的状态。</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3. </a:t>
            </a:r>
            <a:r>
              <a:rPr lang="zh-CN" altLang="en-US" sz="2400" dirty="0" smtClean="0">
                <a:ea typeface="华文楷体" panose="02010600040101010101" pitchFamily="2" charset="-122"/>
              </a:rPr>
              <a:t>已知二叉树排序树中某结点指针</a:t>
            </a:r>
            <a:r>
              <a:rPr lang="en-US" altLang="zh-CN" sz="2400" dirty="0" smtClean="0">
                <a:ea typeface="华文楷体" panose="02010600040101010101" pitchFamily="2" charset="-122"/>
              </a:rPr>
              <a:t>p,</a:t>
            </a:r>
            <a:r>
              <a:rPr lang="zh-CN" altLang="en-US" sz="2400" dirty="0" smtClean="0">
                <a:ea typeface="华文楷体" panose="02010600040101010101" pitchFamily="2" charset="-122"/>
              </a:rPr>
              <a:t>其双亲结点指针为</a:t>
            </a:r>
            <a:r>
              <a:rPr lang="en-US" altLang="zh-CN" sz="2400" dirty="0" err="1" smtClean="0">
                <a:ea typeface="华文楷体" panose="02010600040101010101" pitchFamily="2" charset="-122"/>
              </a:rPr>
              <a:t>fp,p</a:t>
            </a:r>
            <a:r>
              <a:rPr lang="zh-CN" altLang="en-US" sz="2400" dirty="0" smtClean="0">
                <a:ea typeface="华文楷体" panose="02010600040101010101" pitchFamily="2" charset="-122"/>
              </a:rPr>
              <a:t>为</a:t>
            </a:r>
            <a:r>
              <a:rPr lang="en-US" altLang="zh-CN" sz="2400" dirty="0" err="1" smtClean="0">
                <a:ea typeface="华文楷体" panose="02010600040101010101" pitchFamily="2" charset="-122"/>
              </a:rPr>
              <a:t>fp</a:t>
            </a:r>
            <a:r>
              <a:rPr lang="zh-CN" altLang="en-US" sz="2400" dirty="0" smtClean="0">
                <a:ea typeface="华文楷体" panose="02010600040101010101" pitchFamily="2" charset="-122"/>
              </a:rPr>
              <a:t>的左孩子，试编写算法，删除</a:t>
            </a:r>
            <a:r>
              <a:rPr lang="en-US" altLang="zh-CN" sz="2400" dirty="0" smtClean="0">
                <a:ea typeface="华文楷体" panose="02010600040101010101" pitchFamily="2" charset="-122"/>
              </a:rPr>
              <a:t>p</a:t>
            </a:r>
            <a:r>
              <a:rPr lang="zh-CN" altLang="en-US" sz="2400" dirty="0" smtClean="0">
                <a:ea typeface="华文楷体" panose="02010600040101010101" pitchFamily="2" charset="-122"/>
              </a:rPr>
              <a:t>所指结点。 </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b="1" dirty="0" err="1" smtClean="0">
                <a:ea typeface="华文楷体" panose="02010600040101010101" pitchFamily="2" charset="-122"/>
              </a:rPr>
              <a:t>typedef</a:t>
            </a:r>
            <a:r>
              <a:rPr lang="en-US" altLang="zh-CN" sz="2400" dirty="0" smtClean="0">
                <a:ea typeface="华文楷体" panose="02010600040101010101" pitchFamily="2" charset="-122"/>
              </a:rPr>
              <a:t>  </a:t>
            </a:r>
            <a:r>
              <a:rPr lang="en-US" altLang="zh-CN" sz="2400" b="1" dirty="0" err="1" smtClean="0">
                <a:ea typeface="华文楷体" panose="02010600040101010101" pitchFamily="2" charset="-122"/>
              </a:rPr>
              <a:t>struct</a:t>
            </a:r>
            <a:r>
              <a:rPr lang="en-US" altLang="zh-CN" sz="2400" dirty="0" smtClean="0">
                <a:ea typeface="华文楷体" panose="02010600040101010101" pitchFamily="2" charset="-122"/>
              </a:rPr>
              <a:t>  node</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a:t>
            </a:r>
            <a:r>
              <a:rPr lang="en-US" altLang="zh-CN" sz="2400" b="1" dirty="0" err="1" smtClean="0">
                <a:ea typeface="华文楷体" panose="02010600040101010101" pitchFamily="2" charset="-122"/>
              </a:rPr>
              <a:t>int</a:t>
            </a:r>
            <a:r>
              <a:rPr lang="en-US" altLang="zh-CN" sz="2400" b="1" dirty="0" smtClean="0">
                <a:ea typeface="华文楷体" panose="02010600040101010101" pitchFamily="2" charset="-122"/>
              </a:rPr>
              <a:t>  </a:t>
            </a:r>
            <a:r>
              <a:rPr lang="en-US" altLang="zh-CN" sz="2400" dirty="0" smtClean="0">
                <a:ea typeface="华文楷体" panose="02010600040101010101" pitchFamily="2" charset="-122"/>
              </a:rPr>
              <a:t> data</a:t>
            </a:r>
            <a:r>
              <a:rPr lang="zh-CN" altLang="en-US" sz="2400" dirty="0" smtClean="0">
                <a:ea typeface="华文楷体" panose="02010600040101010101" pitchFamily="2" charset="-122"/>
              </a:rPr>
              <a:t>； </a:t>
            </a:r>
            <a:r>
              <a:rPr lang="en-US" altLang="zh-CN" sz="2400" b="1" dirty="0" err="1" smtClean="0">
                <a:ea typeface="华文楷体" panose="02010600040101010101" pitchFamily="2" charset="-122"/>
              </a:rPr>
              <a:t>struct</a:t>
            </a:r>
            <a:r>
              <a:rPr lang="en-US" altLang="zh-CN" sz="2400" dirty="0" smtClean="0">
                <a:ea typeface="华文楷体" panose="02010600040101010101" pitchFamily="2" charset="-122"/>
              </a:rPr>
              <a:t>  node *left</a:t>
            </a:r>
            <a:r>
              <a:rPr lang="zh-CN" altLang="en-US" sz="2400" dirty="0" smtClean="0">
                <a:ea typeface="华文楷体" panose="02010600040101010101" pitchFamily="2" charset="-122"/>
              </a:rPr>
              <a:t>，*</a:t>
            </a:r>
            <a:r>
              <a:rPr lang="en-US" altLang="zh-CN" sz="2400" dirty="0" smtClean="0">
                <a:ea typeface="华文楷体" panose="02010600040101010101" pitchFamily="2" charset="-122"/>
              </a:rPr>
              <a:t>right;</a:t>
            </a:r>
            <a:endParaRPr lang="en-US" altLang="zh-CN" sz="2400" dirty="0" smtClean="0">
              <a:ea typeface="华文楷体" panose="02010600040101010101" pitchFamily="2" charset="-122"/>
            </a:endParaRPr>
          </a:p>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a:t>
            </a:r>
            <a:r>
              <a:rPr lang="en-US" altLang="zh-CN" sz="2400" dirty="0" err="1" smtClean="0">
                <a:ea typeface="华文楷体" panose="02010600040101010101" pitchFamily="2" charset="-122"/>
              </a:rPr>
              <a:t>BiTNode</a:t>
            </a:r>
            <a:r>
              <a:rPr lang="zh-CN" altLang="en-US" sz="2400" dirty="0" smtClean="0">
                <a:ea typeface="华文楷体" panose="02010600040101010101" pitchFamily="2" charset="-122"/>
              </a:rPr>
              <a:t>，*</a:t>
            </a:r>
            <a:r>
              <a:rPr lang="en-US" altLang="zh-CN" sz="2400" dirty="0" err="1" smtClean="0">
                <a:ea typeface="华文楷体" panose="02010600040101010101" pitchFamily="2" charset="-122"/>
              </a:rPr>
              <a:t>BiTree</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en-US" altLang="zh-CN" sz="2400" b="1" dirty="0" smtClean="0">
                <a:ea typeface="华文楷体" panose="02010600040101010101" pitchFamily="2" charset="-122"/>
              </a:rPr>
              <a:t>void</a:t>
            </a:r>
            <a:r>
              <a:rPr lang="en-US" altLang="zh-CN" sz="2400" dirty="0" smtClean="0">
                <a:ea typeface="华文楷体" panose="02010600040101010101" pitchFamily="2" charset="-122"/>
              </a:rPr>
              <a:t> Delete(</a:t>
            </a:r>
            <a:r>
              <a:rPr lang="en-US" altLang="zh-CN" sz="2400" dirty="0" err="1" smtClean="0">
                <a:ea typeface="华文楷体" panose="02010600040101010101" pitchFamily="2" charset="-122"/>
              </a:rPr>
              <a:t>BiTree</a:t>
            </a:r>
            <a:r>
              <a:rPr lang="en-US" altLang="zh-CN" sz="2400" dirty="0" smtClean="0">
                <a:ea typeface="华文楷体" panose="02010600040101010101" pitchFamily="2" charset="-122"/>
              </a:rPr>
              <a:t> &amp;root, </a:t>
            </a:r>
            <a:r>
              <a:rPr lang="en-US" altLang="zh-CN" sz="2400" dirty="0" err="1" smtClean="0">
                <a:ea typeface="华文楷体" panose="02010600040101010101" pitchFamily="2" charset="-122"/>
              </a:rPr>
              <a:t>BiTree</a:t>
            </a:r>
            <a:r>
              <a:rPr lang="en-US" altLang="zh-CN" sz="2400" dirty="0" smtClean="0">
                <a:ea typeface="华文楷体" panose="02010600040101010101" pitchFamily="2" charset="-122"/>
              </a:rPr>
              <a:t> p, </a:t>
            </a:r>
            <a:r>
              <a:rPr lang="en-US" altLang="zh-CN" sz="2400" dirty="0" err="1" smtClean="0">
                <a:ea typeface="华文楷体" panose="02010600040101010101" pitchFamily="2" charset="-122"/>
              </a:rPr>
              <a:t>BiTree</a:t>
            </a:r>
            <a:r>
              <a:rPr lang="en-US" altLang="zh-CN" sz="2400" dirty="0" smtClean="0">
                <a:ea typeface="华文楷体" panose="02010600040101010101" pitchFamily="2" charset="-122"/>
              </a:rPr>
              <a:t> </a:t>
            </a:r>
            <a:r>
              <a:rPr lang="en-US" altLang="zh-CN" sz="2400" dirty="0" err="1" smtClean="0">
                <a:ea typeface="华文楷体" panose="02010600040101010101" pitchFamily="2" charset="-122"/>
              </a:rPr>
              <a:t>fp</a:t>
            </a:r>
            <a:r>
              <a:rPr lang="en-US" altLang="zh-CN" sz="2400" dirty="0" smtClean="0">
                <a:ea typeface="华文楷体" panose="02010600040101010101" pitchFamily="2" charset="-122"/>
              </a:rPr>
              <a:t>);</a:t>
            </a:r>
            <a:endParaRPr lang="en-US" altLang="zh-CN" sz="24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78852"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8853" name="Rectangle 3"/>
          <p:cNvSpPr>
            <a:spLocks noGrp="1" noChangeArrowheads="1"/>
          </p:cNvSpPr>
          <p:nvPr>
            <p:ph type="body" idx="1"/>
          </p:nvPr>
        </p:nvSpPr>
        <p:spPr>
          <a:xfrm>
            <a:off x="457200" y="1152525"/>
            <a:ext cx="8229600" cy="5705475"/>
          </a:xfrm>
        </p:spPr>
        <p:txBody>
          <a:bodyPr/>
          <a:lstStyle/>
          <a:p>
            <a:pPr eaLnBrk="1" hangingPunct="1">
              <a:buFont typeface="Wingdings" panose="05000000000000000000" pitchFamily="2" charset="2"/>
              <a:buNone/>
            </a:pPr>
            <a:r>
              <a:rPr lang="en-US" altLang="zh-CN" sz="2000" dirty="0" smtClean="0">
                <a:ea typeface="华文楷体" panose="02010600040101010101" pitchFamily="2" charset="-122"/>
              </a:rPr>
              <a:t>4. </a:t>
            </a:r>
            <a:r>
              <a:rPr lang="zh-CN" altLang="en-US" sz="2000" dirty="0" smtClean="0">
                <a:ea typeface="华文楷体" panose="02010600040101010101" pitchFamily="2" charset="-122"/>
              </a:rPr>
              <a:t>试画出从空树开始，由字符序列</a:t>
            </a:r>
            <a:r>
              <a:rPr lang="en-US" altLang="zh-CN" sz="2000" dirty="0" smtClean="0">
                <a:ea typeface="华文楷体" panose="02010600040101010101" pitchFamily="2" charset="-122"/>
              </a:rPr>
              <a:t>(</a:t>
            </a:r>
            <a:r>
              <a:rPr lang="en-US" altLang="zh-CN" sz="2000" dirty="0" err="1" smtClean="0">
                <a:ea typeface="华文楷体" panose="02010600040101010101" pitchFamily="2" charset="-122"/>
              </a:rPr>
              <a:t>t,d,e,s,u,g,b,j,a,k,r,i</a:t>
            </a:r>
            <a:r>
              <a:rPr lang="en-US" altLang="zh-CN" sz="2000" dirty="0" smtClean="0">
                <a:ea typeface="华文楷体" panose="02010600040101010101" pitchFamily="2" charset="-122"/>
              </a:rPr>
              <a:t>)</a:t>
            </a:r>
            <a:r>
              <a:rPr lang="zh-CN" altLang="en-US" sz="2000" dirty="0" smtClean="0">
                <a:ea typeface="华文楷体" panose="02010600040101010101" pitchFamily="2" charset="-122"/>
              </a:rPr>
              <a:t>构成的二叉平衡树，并为每一次的平衡处理指明旋转类型。</a:t>
            </a:r>
            <a:endParaRPr lang="zh-CN" altLang="en-US" sz="2000" dirty="0" smtClean="0">
              <a:ea typeface="华文楷体" panose="02010600040101010101" pitchFamily="2" charset="-122"/>
            </a:endParaRPr>
          </a:p>
          <a:p>
            <a:pPr eaLnBrk="1" hangingPunct="1">
              <a:buFont typeface="Wingdings" panose="05000000000000000000" pitchFamily="2" charset="2"/>
              <a:buNone/>
            </a:pPr>
            <a:endParaRPr lang="zh-CN" altLang="en-US" sz="2000" dirty="0" smtClean="0">
              <a:ea typeface="华文楷体" panose="02010600040101010101" pitchFamily="2" charset="-122"/>
            </a:endParaRPr>
          </a:p>
          <a:p>
            <a:pPr eaLnBrk="1" hangingPunct="1">
              <a:buFont typeface="Wingdings" panose="05000000000000000000" pitchFamily="2" charset="2"/>
              <a:buNone/>
            </a:pPr>
            <a:r>
              <a:rPr lang="zh-CN" altLang="en-US" sz="2000" dirty="0" smtClean="0">
                <a:ea typeface="华文楷体" panose="02010600040101010101" pitchFamily="2" charset="-122"/>
              </a:rPr>
              <a:t> </a:t>
            </a:r>
            <a:r>
              <a:rPr lang="en-US" altLang="zh-CN" sz="2000" dirty="0" smtClean="0">
                <a:ea typeface="华文楷体" panose="02010600040101010101" pitchFamily="2" charset="-122"/>
              </a:rPr>
              <a:t>5. </a:t>
            </a:r>
            <a:r>
              <a:rPr lang="zh-CN" altLang="en-US" sz="2000" dirty="0" smtClean="0">
                <a:ea typeface="华文楷体" panose="02010600040101010101" pitchFamily="2" charset="-122"/>
              </a:rPr>
              <a:t>已知含</a:t>
            </a:r>
            <a:r>
              <a:rPr lang="en-US" altLang="zh-CN" sz="2000" dirty="0" smtClean="0">
                <a:ea typeface="华文楷体" panose="02010600040101010101" pitchFamily="2" charset="-122"/>
              </a:rPr>
              <a:t>12</a:t>
            </a:r>
            <a:r>
              <a:rPr lang="zh-CN" altLang="en-US" sz="2000" dirty="0" smtClean="0">
                <a:ea typeface="华文楷体" panose="02010600040101010101" pitchFamily="2" charset="-122"/>
              </a:rPr>
              <a:t>个关键字的有序表及其相应权值为：</a:t>
            </a:r>
            <a:endParaRPr lang="zh-CN" altLang="en-US" sz="2000" dirty="0" smtClean="0">
              <a:ea typeface="华文楷体" panose="02010600040101010101" pitchFamily="2" charset="-122"/>
            </a:endParaRPr>
          </a:p>
          <a:p>
            <a:pPr eaLnBrk="1" hangingPunct="1">
              <a:buFont typeface="Wingdings" panose="05000000000000000000" pitchFamily="2" charset="2"/>
              <a:buNone/>
            </a:pPr>
            <a:r>
              <a:rPr lang="zh-CN" altLang="en-US" sz="2000" dirty="0" smtClean="0">
                <a:ea typeface="华文楷体" panose="02010600040101010101" pitchFamily="2" charset="-122"/>
              </a:rPr>
              <a:t>                   </a:t>
            </a:r>
            <a:r>
              <a:rPr lang="en-US" altLang="zh-CN" sz="2000" dirty="0" smtClean="0">
                <a:ea typeface="华文楷体" panose="02010600040101010101" pitchFamily="2" charset="-122"/>
              </a:rPr>
              <a:t>1    2    3    4    5   6   7    8   9   10   11   12</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      </a:t>
            </a:r>
            <a:r>
              <a:rPr lang="zh-CN" altLang="en-US" sz="2000" dirty="0" smtClean="0">
                <a:ea typeface="华文楷体" panose="02010600040101010101" pitchFamily="2" charset="-122"/>
              </a:rPr>
              <a:t>关键字  </a:t>
            </a:r>
            <a:r>
              <a:rPr lang="en-US" altLang="zh-CN" sz="2000" dirty="0" smtClean="0">
                <a:ea typeface="华文楷体" panose="02010600040101010101" pitchFamily="2" charset="-122"/>
              </a:rPr>
              <a:t>A   B    C   D    E   F   G   H   I    J     K     L</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        </a:t>
            </a:r>
            <a:r>
              <a:rPr lang="zh-CN" altLang="en-US" sz="2000" dirty="0" smtClean="0">
                <a:ea typeface="华文楷体" panose="02010600040101010101" pitchFamily="2" charset="-122"/>
              </a:rPr>
              <a:t>权值   </a:t>
            </a:r>
            <a:r>
              <a:rPr lang="en-US" altLang="zh-CN" sz="2000" dirty="0" smtClean="0">
                <a:ea typeface="华文楷体" panose="02010600040101010101" pitchFamily="2" charset="-122"/>
              </a:rPr>
              <a:t>4    6    3    4    9   3   2    6   1    5     3     4</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(1)</a:t>
            </a:r>
            <a:r>
              <a:rPr lang="zh-CN" altLang="en-US" sz="2000" dirty="0" smtClean="0">
                <a:ea typeface="华文楷体" panose="02010600040101010101" pitchFamily="2" charset="-122"/>
              </a:rPr>
              <a:t>画出对以上有序表进行折半查找的判定树，求折半查找时查找成功的平均查找长度</a:t>
            </a:r>
            <a:r>
              <a:rPr lang="en-US" altLang="zh-CN" sz="2000" dirty="0" smtClean="0">
                <a:ea typeface="华文楷体" panose="02010600040101010101" pitchFamily="2" charset="-122"/>
              </a:rPr>
              <a:t>ASL</a:t>
            </a:r>
            <a:r>
              <a:rPr lang="zh-CN" altLang="en-US" sz="2000" dirty="0" smtClean="0">
                <a:ea typeface="华文楷体" panose="02010600040101010101" pitchFamily="2" charset="-122"/>
              </a:rPr>
              <a:t>。</a:t>
            </a:r>
            <a:endParaRPr lang="zh-CN" altLang="en-US" sz="2000" dirty="0" smtClean="0">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(2)</a:t>
            </a:r>
            <a:r>
              <a:rPr lang="zh-CN" altLang="en-US" sz="2000" dirty="0" smtClean="0">
                <a:ea typeface="华文楷体" panose="02010600040101010101" pitchFamily="2" charset="-122"/>
              </a:rPr>
              <a:t>若为等概率查找，求折半查找时查找成功的平均查找长度</a:t>
            </a:r>
            <a:r>
              <a:rPr lang="en-US" altLang="zh-CN" sz="2000" dirty="0" smtClean="0">
                <a:ea typeface="华文楷体" panose="02010600040101010101" pitchFamily="2" charset="-122"/>
              </a:rPr>
              <a:t>ASL</a:t>
            </a:r>
            <a:r>
              <a:rPr lang="zh-CN" altLang="en-US" sz="2000" dirty="0" smtClean="0">
                <a:ea typeface="华文楷体" panose="02010600040101010101" pitchFamily="2" charset="-122"/>
              </a:rPr>
              <a:t>。</a:t>
            </a:r>
            <a:endParaRPr lang="zh-CN" altLang="en-US" sz="2000" dirty="0" smtClean="0">
              <a:ea typeface="华文楷体" panose="02010600040101010101" pitchFamily="2" charset="-122"/>
            </a:endParaRPr>
          </a:p>
          <a:p>
            <a:pPr eaLnBrk="1" hangingPunct="1">
              <a:buFont typeface="Wingdings" panose="05000000000000000000" pitchFamily="2" charset="2"/>
              <a:buNone/>
            </a:pPr>
            <a:endParaRPr lang="zh-CN" altLang="en-US" sz="2000" dirty="0" smtClean="0">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6. </a:t>
            </a:r>
            <a:r>
              <a:rPr lang="zh-CN" altLang="en-US" sz="2000" dirty="0" smtClean="0">
                <a:ea typeface="华文楷体" panose="02010600040101010101" pitchFamily="2" charset="-122"/>
              </a:rPr>
              <a:t>假设一棵平衡二叉树的每个结点都标明了平衡因子</a:t>
            </a:r>
            <a:r>
              <a:rPr lang="en-US" altLang="zh-CN" sz="2000" dirty="0" smtClean="0">
                <a:ea typeface="华文楷体" panose="02010600040101010101" pitchFamily="2" charset="-122"/>
              </a:rPr>
              <a:t>bf,</a:t>
            </a:r>
            <a:r>
              <a:rPr lang="zh-CN" altLang="en-US" sz="2000" dirty="0" smtClean="0">
                <a:ea typeface="华文楷体" panose="02010600040101010101" pitchFamily="2" charset="-122"/>
              </a:rPr>
              <a:t>试设计一个算法，利用</a:t>
            </a:r>
            <a:r>
              <a:rPr lang="en-US" altLang="zh-CN" sz="2000" dirty="0" smtClean="0">
                <a:ea typeface="华文楷体" panose="02010600040101010101" pitchFamily="2" charset="-122"/>
              </a:rPr>
              <a:t>bf</a:t>
            </a:r>
            <a:r>
              <a:rPr lang="zh-CN" altLang="en-US" sz="2000" dirty="0" smtClean="0">
                <a:ea typeface="华文楷体" panose="02010600040101010101" pitchFamily="2" charset="-122"/>
              </a:rPr>
              <a:t>值求平衡二叉树的高度。 </a:t>
            </a:r>
            <a:r>
              <a:rPr lang="en-US" altLang="zh-CN" sz="2000" b="1" dirty="0" err="1" smtClean="0">
                <a:ea typeface="华文楷体" panose="02010600040101010101" pitchFamily="2" charset="-122"/>
              </a:rPr>
              <a:t>int</a:t>
            </a:r>
            <a:r>
              <a:rPr lang="en-US" altLang="zh-CN" sz="2000" b="1" dirty="0" smtClean="0">
                <a:ea typeface="华文楷体" panose="02010600040101010101" pitchFamily="2" charset="-122"/>
              </a:rPr>
              <a:t>   Height (</a:t>
            </a:r>
            <a:r>
              <a:rPr lang="en-US" altLang="zh-CN" sz="2000" b="1" dirty="0" err="1" smtClean="0">
                <a:ea typeface="华文楷体" panose="02010600040101010101" pitchFamily="2" charset="-122"/>
              </a:rPr>
              <a:t>BSTree</a:t>
            </a:r>
            <a:r>
              <a:rPr lang="en-US" altLang="zh-CN" sz="2000" b="1" dirty="0" smtClean="0">
                <a:ea typeface="华文楷体" panose="02010600040101010101" pitchFamily="2" charset="-122"/>
              </a:rPr>
              <a:t> t)</a:t>
            </a:r>
            <a:r>
              <a:rPr lang="en-US" altLang="zh-CN" sz="2000" dirty="0" smtClean="0">
                <a:ea typeface="华文楷体" panose="02010600040101010101" pitchFamily="2" charset="-122"/>
              </a:rPr>
              <a:t> </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en-US" altLang="zh-CN" sz="2000" b="1" dirty="0" err="1" smtClean="0">
                <a:ea typeface="华文楷体" panose="02010600040101010101" pitchFamily="2" charset="-122"/>
              </a:rPr>
              <a:t>typedef</a:t>
            </a:r>
            <a:r>
              <a:rPr lang="en-US" altLang="zh-CN" sz="2000" dirty="0" smtClean="0">
                <a:ea typeface="华文楷体" panose="02010600040101010101" pitchFamily="2" charset="-122"/>
              </a:rPr>
              <a:t>  </a:t>
            </a:r>
            <a:r>
              <a:rPr lang="en-US" altLang="zh-CN" sz="2000" b="1" dirty="0" err="1" smtClean="0">
                <a:ea typeface="华文楷体" panose="02010600040101010101" pitchFamily="2" charset="-122"/>
              </a:rPr>
              <a:t>struct</a:t>
            </a:r>
            <a:r>
              <a:rPr lang="en-US" altLang="zh-CN" sz="2000" dirty="0" smtClean="0">
                <a:ea typeface="华文楷体" panose="02010600040101010101" pitchFamily="2" charset="-122"/>
              </a:rPr>
              <a:t>  node</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a:t>
            </a:r>
            <a:r>
              <a:rPr lang="en-US" altLang="zh-CN" sz="2000" b="1" dirty="0" err="1" smtClean="0">
                <a:ea typeface="华文楷体" panose="02010600040101010101" pitchFamily="2" charset="-122"/>
              </a:rPr>
              <a:t>int</a:t>
            </a:r>
            <a:r>
              <a:rPr lang="en-US" altLang="zh-CN" sz="2000" b="1" dirty="0" smtClean="0">
                <a:ea typeface="华文楷体" panose="02010600040101010101" pitchFamily="2" charset="-122"/>
              </a:rPr>
              <a:t>  </a:t>
            </a:r>
            <a:r>
              <a:rPr lang="en-US" altLang="zh-CN" sz="2000" dirty="0" smtClean="0">
                <a:ea typeface="华文楷体" panose="02010600040101010101" pitchFamily="2" charset="-122"/>
              </a:rPr>
              <a:t> data</a:t>
            </a:r>
            <a:r>
              <a:rPr lang="zh-CN" altLang="en-US" sz="2000" dirty="0" smtClean="0">
                <a:ea typeface="华文楷体" panose="02010600040101010101" pitchFamily="2" charset="-122"/>
              </a:rPr>
              <a:t>； </a:t>
            </a:r>
            <a:r>
              <a:rPr lang="en-US" altLang="zh-CN" sz="2000" b="1" dirty="0" err="1" smtClean="0">
                <a:ea typeface="华文楷体" panose="02010600040101010101" pitchFamily="2" charset="-122"/>
              </a:rPr>
              <a:t>struct</a:t>
            </a:r>
            <a:r>
              <a:rPr lang="en-US" altLang="zh-CN" sz="2000" dirty="0" smtClean="0">
                <a:ea typeface="华文楷体" panose="02010600040101010101" pitchFamily="2" charset="-122"/>
              </a:rPr>
              <a:t>  node *left</a:t>
            </a:r>
            <a:r>
              <a:rPr lang="zh-CN" altLang="en-US" sz="2000" dirty="0" smtClean="0">
                <a:ea typeface="华文楷体" panose="02010600040101010101" pitchFamily="2" charset="-122"/>
              </a:rPr>
              <a:t>，*</a:t>
            </a:r>
            <a:r>
              <a:rPr lang="en-US" altLang="zh-CN" sz="2000" dirty="0" smtClean="0">
                <a:ea typeface="华文楷体" panose="02010600040101010101" pitchFamily="2" charset="-122"/>
              </a:rPr>
              <a:t>right;</a:t>
            </a:r>
            <a:endParaRPr lang="en-US" altLang="zh-CN" sz="2000" dirty="0" smtClean="0">
              <a:ea typeface="华文楷体" panose="02010600040101010101" pitchFamily="2" charset="-122"/>
            </a:endParaRPr>
          </a:p>
          <a:p>
            <a:pPr eaLnBrk="1" hangingPunct="1">
              <a:buFont typeface="Wingdings" panose="05000000000000000000" pitchFamily="2" charset="2"/>
              <a:buNone/>
            </a:pPr>
            <a:r>
              <a:rPr lang="en-US" altLang="zh-CN" sz="2000" dirty="0" smtClean="0">
                <a:ea typeface="华文楷体" panose="02010600040101010101" pitchFamily="2" charset="-122"/>
              </a:rPr>
              <a:t>}</a:t>
            </a:r>
            <a:r>
              <a:rPr lang="en-US" altLang="zh-CN" sz="2000" dirty="0" err="1" smtClean="0">
                <a:ea typeface="华文楷体" panose="02010600040101010101" pitchFamily="2" charset="-122"/>
              </a:rPr>
              <a:t>BiTNode</a:t>
            </a:r>
            <a:r>
              <a:rPr lang="zh-CN" altLang="en-US" sz="2000" dirty="0" smtClean="0">
                <a:ea typeface="华文楷体" panose="02010600040101010101" pitchFamily="2" charset="-122"/>
              </a:rPr>
              <a:t>，*</a:t>
            </a:r>
            <a:r>
              <a:rPr lang="en-US" altLang="zh-CN" sz="2000" dirty="0" err="1" smtClean="0">
                <a:ea typeface="华文楷体" panose="02010600040101010101" pitchFamily="2" charset="-122"/>
              </a:rPr>
              <a:t>BSTree</a:t>
            </a:r>
            <a:r>
              <a:rPr lang="zh-CN" altLang="en-US" sz="2000" dirty="0" smtClean="0">
                <a:ea typeface="华文楷体" panose="02010600040101010101" pitchFamily="2" charset="-122"/>
              </a:rPr>
              <a:t>；</a:t>
            </a:r>
            <a:endParaRPr lang="zh-CN" altLang="en-US" sz="2000" dirty="0" smtClean="0">
              <a:ea typeface="华文楷体" panose="02010600040101010101" pitchFamily="2" charset="-122"/>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BUPT SCST</a:t>
            </a:r>
            <a:endParaRPr lang="en-US" altLang="zh-CN"/>
          </a:p>
        </p:txBody>
      </p:sp>
      <p:sp>
        <p:nvSpPr>
          <p:cNvPr id="5" name="日期占位符 5"/>
          <p:cNvSpPr>
            <a:spLocks noGrp="1"/>
          </p:cNvSpPr>
          <p:nvPr>
            <p:ph type="dt" sz="quarter" idx="12"/>
          </p:nvPr>
        </p:nvSpPr>
        <p:spPr/>
        <p:txBody>
          <a:bodyPr/>
          <a:lstStyle/>
          <a:p>
            <a:pPr>
              <a:defRPr/>
            </a:pPr>
            <a:r>
              <a:rPr lang="en-US" altLang="zh-CN"/>
              <a:t>BUPT</a:t>
            </a:r>
            <a:endParaRPr lang="en-US" altLang="zh-CN"/>
          </a:p>
        </p:txBody>
      </p:sp>
      <p:sp>
        <p:nvSpPr>
          <p:cNvPr id="79876" name="Rectangle 2"/>
          <p:cNvSpPr>
            <a:spLocks noGrp="1" noChangeArrowheads="1"/>
          </p:cNvSpPr>
          <p:nvPr>
            <p:ph type="title"/>
          </p:nvPr>
        </p:nvSpPr>
        <p:spPr/>
        <p:txBody>
          <a:bodyPr/>
          <a:lstStyle/>
          <a:p>
            <a:pPr eaLnBrk="1" hangingPunct="1"/>
            <a:endParaRPr lang="zh-CN" altLang="zh-CN" dirty="0" smtClean="0">
              <a:ea typeface="华文楷体" panose="02010600040101010101" pitchFamily="2" charset="-122"/>
            </a:endParaRPr>
          </a:p>
        </p:txBody>
      </p:sp>
      <p:sp>
        <p:nvSpPr>
          <p:cNvPr id="79877"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400" dirty="0" smtClean="0">
                <a:ea typeface="华文楷体" panose="02010600040101010101" pitchFamily="2" charset="-122"/>
              </a:rPr>
              <a:t>7. </a:t>
            </a:r>
            <a:r>
              <a:rPr lang="zh-CN" altLang="en-US" sz="2400" dirty="0" smtClean="0">
                <a:ea typeface="华文楷体" panose="02010600040101010101" pitchFamily="2" charset="-122"/>
              </a:rPr>
              <a:t>选取哈希函数</a:t>
            </a:r>
            <a:r>
              <a:rPr lang="en-US" altLang="zh-CN" sz="2400" dirty="0" smtClean="0">
                <a:ea typeface="华文楷体" panose="02010600040101010101" pitchFamily="2" charset="-122"/>
              </a:rPr>
              <a:t>H(k)=(3k) MOD 11</a:t>
            </a:r>
            <a:r>
              <a:rPr lang="zh-CN" altLang="en-US" sz="2400" dirty="0" smtClean="0">
                <a:ea typeface="华文楷体" panose="02010600040101010101" pitchFamily="2" charset="-122"/>
              </a:rPr>
              <a:t>。</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1) </a:t>
            </a:r>
            <a:r>
              <a:rPr lang="zh-CN" altLang="en-US" sz="2400" dirty="0" smtClean="0">
                <a:ea typeface="华文楷体" panose="02010600040101010101" pitchFamily="2" charset="-122"/>
              </a:rPr>
              <a:t>用线性探测开放定址法处理冲突，</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a:t>
            </a:r>
            <a:r>
              <a:rPr lang="en-US" altLang="zh-CN" sz="2400" dirty="0" smtClean="0">
                <a:ea typeface="华文楷体" panose="02010600040101010101" pitchFamily="2" charset="-122"/>
              </a:rPr>
              <a:t>2) </a:t>
            </a:r>
            <a:r>
              <a:rPr lang="zh-CN" altLang="en-US" sz="2400" dirty="0" smtClean="0">
                <a:ea typeface="华文楷体" panose="02010600040101010101" pitchFamily="2" charset="-122"/>
              </a:rPr>
              <a:t>用链地址法处理冲突</a:t>
            </a:r>
            <a:endParaRPr lang="zh-CN" altLang="en-US" sz="2400" dirty="0" smtClean="0">
              <a:ea typeface="华文楷体" panose="02010600040101010101" pitchFamily="2" charset="-122"/>
            </a:endParaRPr>
          </a:p>
          <a:p>
            <a:pPr eaLnBrk="1" hangingPunct="1">
              <a:lnSpc>
                <a:spcPct val="90000"/>
              </a:lnSpc>
              <a:buFont typeface="Wingdings" panose="05000000000000000000" pitchFamily="2" charset="2"/>
              <a:buNone/>
            </a:pPr>
            <a:r>
              <a:rPr lang="zh-CN" altLang="en-US" sz="2400" dirty="0" smtClean="0">
                <a:ea typeface="华文楷体" panose="02010600040101010101" pitchFamily="2" charset="-122"/>
              </a:rPr>
              <a:t>     试在</a:t>
            </a:r>
            <a:r>
              <a:rPr lang="en-US" altLang="zh-CN" sz="2400" dirty="0" smtClean="0">
                <a:ea typeface="华文楷体" panose="02010600040101010101" pitchFamily="2" charset="-122"/>
              </a:rPr>
              <a:t>0~10</a:t>
            </a:r>
            <a:r>
              <a:rPr lang="zh-CN" altLang="en-US" sz="2400" dirty="0" smtClean="0">
                <a:ea typeface="华文楷体" panose="02010600040101010101" pitchFamily="2" charset="-122"/>
              </a:rPr>
              <a:t>的散列地址空间中对关键字序列</a:t>
            </a:r>
            <a:r>
              <a:rPr lang="en-US" altLang="zh-CN" sz="2400" dirty="0" smtClean="0">
                <a:ea typeface="华文楷体" panose="02010600040101010101" pitchFamily="2" charset="-122"/>
              </a:rPr>
              <a:t>(22, 41, 53, 46, 30, 13, 01, 67)</a:t>
            </a:r>
            <a:r>
              <a:rPr lang="zh-CN" altLang="en-US" sz="2400" dirty="0" smtClean="0">
                <a:ea typeface="华文楷体" panose="02010600040101010101" pitchFamily="2" charset="-122"/>
              </a:rPr>
              <a:t>造哈希表，并求等概率情况下查找成功时的平均查找长度和不成功时的平均查找长度以及装填因子</a:t>
            </a:r>
            <a:r>
              <a:rPr lang="zh-CN" altLang="en-US" sz="2400" dirty="0" smtClean="0">
                <a:ea typeface="华文楷体" panose="02010600040101010101" pitchFamily="2" charset="-122"/>
                <a:sym typeface="Symbol" panose="05050102010706020507" pitchFamily="18" charset="2"/>
              </a:rPr>
              <a:t>。</a:t>
            </a:r>
            <a:endParaRPr lang="zh-CN" altLang="en-US" sz="2400" dirty="0" smtClean="0">
              <a:ea typeface="华文楷体" panose="02010600040101010101" pitchFamily="2" charset="-122"/>
              <a:sym typeface="Symbol" panose="05050102010706020507" pitchFamily="18" charset="2"/>
            </a:endParaRPr>
          </a:p>
        </p:txBody>
      </p:sp>
    </p:spTree>
  </p:cSld>
  <p:clrMapOvr>
    <a:masterClrMapping/>
  </p:clrMapOvr>
</p:sld>
</file>

<file path=ppt/theme/theme1.xml><?xml version="1.0" encoding="utf-8"?>
<a:theme xmlns:a="http://schemas.openxmlformats.org/drawingml/2006/main" name="国外精美的的PPT模板及图标之二">
  <a:themeElements>
    <a:clrScheme name="国外精美的的PPT模板及图标之二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国外精美的的PPT模板及图标之二">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22225" cap="flat" cmpd="sng" algn="ctr">
          <a:solidFill>
            <a:schemeClr val="accent1"/>
          </a:solidFill>
          <a:prstDash val="solid"/>
          <a:round/>
          <a:headEnd type="none" w="med" len="med"/>
          <a:tailEnd type="triangl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22225" cap="flat" cmpd="sng" algn="ctr">
          <a:solidFill>
            <a:schemeClr val="accent1"/>
          </a:solidFill>
          <a:prstDash val="solid"/>
          <a:round/>
          <a:headEnd type="none" w="med" len="med"/>
          <a:tailEnd type="triangl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国外精美的的PPT模板及图标之二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国外精美的的PPT模板及图标之二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国外精美的的PPT模板及图标之二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 Template</Template>
  <TotalTime>0</TotalTime>
  <Words>25811</Words>
  <Application>WPS 演示</Application>
  <PresentationFormat>全屏显示(4:3)</PresentationFormat>
  <Paragraphs>2791</Paragraphs>
  <Slides>82</Slides>
  <Notes>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17</vt:i4>
      </vt:variant>
      <vt:variant>
        <vt:lpstr>幻灯片标题</vt:lpstr>
      </vt:variant>
      <vt:variant>
        <vt:i4>82</vt:i4>
      </vt:variant>
    </vt:vector>
  </HeadingPairs>
  <TitlesOfParts>
    <vt:vector size="114" baseType="lpstr">
      <vt:lpstr>Arial</vt:lpstr>
      <vt:lpstr>宋体</vt:lpstr>
      <vt:lpstr>Wingdings</vt:lpstr>
      <vt:lpstr>Times New Roman</vt:lpstr>
      <vt:lpstr>华文楷体</vt:lpstr>
      <vt:lpstr>Verdana</vt:lpstr>
      <vt:lpstr>Symbol</vt:lpstr>
      <vt:lpstr>Cambria Math</vt:lpstr>
      <vt:lpstr>楷体_GB2312</vt:lpstr>
      <vt:lpstr>新宋体</vt:lpstr>
      <vt:lpstr>微软雅黑</vt:lpstr>
      <vt:lpstr>Arial Unicode MS</vt:lpstr>
      <vt:lpstr>Calibri</vt:lpstr>
      <vt:lpstr>黑体</vt:lpstr>
      <vt:lpstr>国外精美的的PPT模板及图标之二</vt:lpstr>
      <vt:lpstr>Equation.DSMT4</vt:lpstr>
      <vt:lpstr>Equation.3</vt:lpstr>
      <vt:lpstr>Equation.3</vt:lpstr>
      <vt:lpstr>Equation.3</vt:lpstr>
      <vt:lpstr>Equation.3</vt:lpstr>
      <vt:lpstr>Equation.3</vt:lpstr>
      <vt:lpstr>Equation.3</vt:lpstr>
      <vt:lpstr>Equation.DSMT4</vt:lpstr>
      <vt:lpstr>Equation.DSMT4</vt:lpstr>
      <vt:lpstr>Equation.3</vt:lpstr>
      <vt:lpstr>Equation.3</vt:lpstr>
      <vt:lpstr>Equation.3</vt:lpstr>
      <vt:lpstr>Equation.DSMT4</vt:lpstr>
      <vt:lpstr>Equation.DSMT4</vt:lpstr>
      <vt:lpstr>Equation.3</vt:lpstr>
      <vt:lpstr>Equation.3</vt:lpstr>
      <vt:lpstr>Equation.3</vt:lpstr>
      <vt:lpstr>第八章   查找</vt:lpstr>
      <vt:lpstr>8.1 基本概念与术语</vt:lpstr>
      <vt:lpstr>PowerPoint 演示文稿</vt:lpstr>
      <vt:lpstr>PowerPoint 演示文稿</vt:lpstr>
      <vt:lpstr>8.2 顺序表的查找 快插入慢查找</vt:lpstr>
      <vt:lpstr>PowerPoint 演示文稿</vt:lpstr>
      <vt:lpstr>8.3 二分查找 慢插入快查找</vt:lpstr>
      <vt:lpstr>PowerPoint 演示文稿</vt:lpstr>
      <vt:lpstr>PowerPoint 演示文稿</vt:lpstr>
      <vt:lpstr>8.4 静态树表的查找</vt:lpstr>
      <vt:lpstr>PowerPoint 演示文稿</vt:lpstr>
      <vt:lpstr>PowerPoint 演示文稿</vt:lpstr>
      <vt:lpstr>PowerPoint 演示文稿</vt:lpstr>
      <vt:lpstr>PowerPoint 演示文稿</vt:lpstr>
      <vt:lpstr>8.5 分块查找</vt:lpstr>
      <vt:lpstr>PowerPoint 演示文稿</vt:lpstr>
      <vt:lpstr>8.6 二叉排序树BST(二叉查找/搜索树)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8.7 平衡二叉树(AVL树)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vt:lpstr>
      <vt:lpstr>PowerPoint 演示文稿</vt:lpstr>
      <vt:lpstr>PowerPoint 演示文稿</vt:lpstr>
      <vt:lpstr>PowerPoint 演示文稿</vt:lpstr>
      <vt:lpstr>8.7 B树与B +树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8.8 哈希表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作业</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第八章       查找</dc:title>
  <dc:creator>User</dc:creator>
  <cp:lastModifiedBy>岁月无声</cp:lastModifiedBy>
  <cp:revision>254</cp:revision>
  <dcterms:created xsi:type="dcterms:W3CDTF">2009-10-29T03:02:00Z</dcterms:created>
  <dcterms:modified xsi:type="dcterms:W3CDTF">2025-06-05T14:37:55Z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07EE56879B91442CAD8B62C4FD015EE9_12</vt:lpwstr>
  </property>
  <property fmtid="{D5CDD505-2E9C-101B-9397-08002B2CF9AE}" pid="3" name="KSOProductBuildVer">
    <vt:lpwstr>2052-12.1.0.20305</vt:lpwstr>
  </property>
</Properties>
</file>