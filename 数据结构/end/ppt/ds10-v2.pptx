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sldIdLst>
    <p:sldId id="315" r:id="rId2"/>
    <p:sldId id="279" r:id="rId3"/>
    <p:sldId id="281" r:id="rId4"/>
    <p:sldId id="321" r:id="rId5"/>
    <p:sldId id="280" r:id="rId6"/>
    <p:sldId id="282" r:id="rId7"/>
    <p:sldId id="283" r:id="rId8"/>
    <p:sldId id="285" r:id="rId9"/>
    <p:sldId id="284" r:id="rId10"/>
    <p:sldId id="286" r:id="rId11"/>
    <p:sldId id="317" r:id="rId12"/>
    <p:sldId id="287" r:id="rId13"/>
    <p:sldId id="318" r:id="rId14"/>
    <p:sldId id="319" r:id="rId15"/>
    <p:sldId id="325" r:id="rId16"/>
    <p:sldId id="324" r:id="rId17"/>
    <p:sldId id="292" r:id="rId18"/>
    <p:sldId id="295" r:id="rId19"/>
    <p:sldId id="314" r:id="rId20"/>
    <p:sldId id="296" r:id="rId21"/>
    <p:sldId id="297" r:id="rId22"/>
    <p:sldId id="326" r:id="rId23"/>
    <p:sldId id="298" r:id="rId24"/>
    <p:sldId id="320" r:id="rId25"/>
    <p:sldId id="299" r:id="rId26"/>
    <p:sldId id="301" r:id="rId27"/>
    <p:sldId id="323" r:id="rId28"/>
    <p:sldId id="302" r:id="rId29"/>
    <p:sldId id="300" r:id="rId30"/>
    <p:sldId id="305" r:id="rId31"/>
    <p:sldId id="308" r:id="rId32"/>
    <p:sldId id="309" r:id="rId33"/>
    <p:sldId id="312" r:id="rId34"/>
    <p:sldId id="311" r:id="rId35"/>
    <p:sldId id="313" r:id="rId36"/>
    <p:sldId id="303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FCC66"/>
    <a:srgbClr val="CC6600"/>
    <a:srgbClr val="993300"/>
    <a:srgbClr val="FF00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29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notesViewPr>
    <p:cSldViewPr>
      <p:cViewPr varScale="1">
        <p:scale>
          <a:sx n="25" d="100"/>
          <a:sy n="25" d="100"/>
        </p:scale>
        <p:origin x="-126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 smtClean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 smtClean="0"/>
              <a:t>单击此处编辑母版文本样式</a:t>
            </a:r>
          </a:p>
          <a:p>
            <a:pPr lvl="1"/>
            <a:r>
              <a:rPr lang="zh-CN" altLang="en-US" noProof="0" dirty="0" smtClean="0"/>
              <a:t>第二级</a:t>
            </a:r>
          </a:p>
          <a:p>
            <a:pPr lvl="2"/>
            <a:r>
              <a:rPr lang="zh-CN" altLang="en-US" noProof="0" dirty="0" smtClean="0"/>
              <a:t>第三级</a:t>
            </a:r>
          </a:p>
          <a:p>
            <a:pPr lvl="3"/>
            <a:r>
              <a:rPr lang="zh-CN" altLang="en-US" noProof="0" dirty="0" smtClean="0"/>
              <a:t>第四级</a:t>
            </a:r>
          </a:p>
          <a:p>
            <a:pPr lvl="4"/>
            <a:r>
              <a:rPr lang="zh-CN" altLang="en-US" noProof="0" dirty="0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 smtClean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F63CC4B0-6D55-4601-9407-FD0E701689A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6611938"/>
            <a:ext cx="914400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6238" y="228600"/>
            <a:ext cx="1147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BUPT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371600" y="5867400"/>
            <a:ext cx="65532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868863"/>
            <a:ext cx="9144000" cy="720725"/>
          </a:xfr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tx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ko-KR" noProof="0" smtClean="0"/>
              <a:t>Click to edit Master title</a:t>
            </a:r>
            <a:br>
              <a:rPr lang="en-US" altLang="ko-KR" noProof="0" smtClean="0"/>
            </a:br>
            <a:r>
              <a:rPr lang="en-US" altLang="ko-KR" noProof="0" smtClean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321193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E579E-7CF2-409C-B801-0154705CE6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601595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0D870-2B64-414B-96E2-8073B1E6FC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423461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39C33-07E0-472E-9236-AEC9A7E2BD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29563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085D5-1EEF-429A-BA27-503EF5895C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333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214D3-F2E0-49A1-BFE5-4991B91DEC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1089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74854-509D-421F-BEE3-C1FF5EF866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7465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DE86C-5463-4B40-A003-7D59DC6CA4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6615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F69D6-52C3-4026-929B-08C05A4C06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23013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AB768-F6E7-4758-9A7A-CF3A232067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65029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6E987-F41C-40E8-A148-EEDAB067C1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568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1275" y="6461125"/>
            <a:ext cx="49117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21438"/>
            <a:ext cx="79216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smtClean="0"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B437F610-5197-410B-8344-BB966B425FB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000" dirty="0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9512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>
                <a:solidFill>
                  <a:schemeClr val="bg1"/>
                </a:solidFill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a typeface="华文楷体" panose="02010600040101010101" pitchFamily="2" charset="-122"/>
              </a:rPr>
              <a:t>第十章  外部排序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71800" y="5949280"/>
            <a:ext cx="3504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计算机学院        杨震</a:t>
            </a: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37D5D4-71D4-4890-9E31-7BFF601BA941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3025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外部排序的应用对象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</a:p>
          <a:p>
            <a:pPr lvl="1" eaLnBrk="1" hangingPunct="1"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保存在外存储器上的信息量很大的数据记录文件，不可能一次性读入内存。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外排序与内排序的差别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内部排序充分利用内存可以随机存取的特点，如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希尔排序中，相隔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的记录关键字可作比较；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堆排序中，完全二叉树中的父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R[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与子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R[2i]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R[2i+1]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可比；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快速排序中，需正向和逆向访问记录序列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外存信息的定位和存取受其物理特性的限制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外部排序的实现手段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在排序过程中，进行多次内外存之间的数据交换</a:t>
            </a:r>
          </a:p>
        </p:txBody>
      </p:sp>
      <p:sp>
        <p:nvSpPr>
          <p:cNvPr id="5126" name="AutoShape 5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632460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4EF233-1F8F-4638-B529-9DD4576A9F7B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1  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磁带信息的存取</a:t>
            </a:r>
            <a:endParaRPr lang="zh-CN" altLang="en-US" sz="2400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属于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顺序存取设备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，只适用于存储顺序文件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工作原理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磁带不是连续运转设备，而是启停设备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I/O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操作以块为单位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    ……       1K~8KB/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块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IBG(</a:t>
            </a:r>
            <a:r>
              <a:rPr lang="zh-CN" altLang="zh-CN" sz="2000" dirty="0" smtClean="0">
                <a:ea typeface="华文楷体" panose="02010600040101010101" pitchFamily="2" charset="-122"/>
              </a:rPr>
              <a:t>块间隙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6150" name="Line 4"/>
          <p:cNvSpPr>
            <a:spLocks noChangeShapeType="1"/>
          </p:cNvSpPr>
          <p:nvPr/>
        </p:nvSpPr>
        <p:spPr bwMode="auto">
          <a:xfrm>
            <a:off x="1676400" y="3276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1" name="Line 5"/>
          <p:cNvSpPr>
            <a:spLocks noChangeShapeType="1"/>
          </p:cNvSpPr>
          <p:nvPr/>
        </p:nvSpPr>
        <p:spPr bwMode="auto">
          <a:xfrm>
            <a:off x="1752600" y="37338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2" name="Line 6"/>
          <p:cNvSpPr>
            <a:spLocks noChangeShapeType="1"/>
          </p:cNvSpPr>
          <p:nvPr/>
        </p:nvSpPr>
        <p:spPr bwMode="auto">
          <a:xfrm>
            <a:off x="30480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3" name="Line 7"/>
          <p:cNvSpPr>
            <a:spLocks noChangeShapeType="1"/>
          </p:cNvSpPr>
          <p:nvPr/>
        </p:nvSpPr>
        <p:spPr bwMode="auto">
          <a:xfrm>
            <a:off x="3200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4" name="Line 8"/>
          <p:cNvSpPr>
            <a:spLocks noChangeShapeType="1"/>
          </p:cNvSpPr>
          <p:nvPr/>
        </p:nvSpPr>
        <p:spPr bwMode="auto">
          <a:xfrm>
            <a:off x="41910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5" name="Line 9"/>
          <p:cNvSpPr>
            <a:spLocks noChangeShapeType="1"/>
          </p:cNvSpPr>
          <p:nvPr/>
        </p:nvSpPr>
        <p:spPr bwMode="auto">
          <a:xfrm>
            <a:off x="4343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6" name="Line 10"/>
          <p:cNvSpPr>
            <a:spLocks noChangeShapeType="1"/>
          </p:cNvSpPr>
          <p:nvPr/>
        </p:nvSpPr>
        <p:spPr bwMode="auto">
          <a:xfrm>
            <a:off x="52578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7" name="Line 11"/>
          <p:cNvSpPr>
            <a:spLocks noChangeShapeType="1"/>
          </p:cNvSpPr>
          <p:nvPr/>
        </p:nvSpPr>
        <p:spPr bwMode="auto">
          <a:xfrm>
            <a:off x="2057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外部信息的存取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71512" y="4593273"/>
            <a:ext cx="759214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读写一块信息的时间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I/O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= t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+ </a:t>
            </a:r>
            <a:r>
              <a:rPr lang="en-US" altLang="zh-CN" sz="24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nt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w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t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：用于磁头定位在物理块起始位置的时间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lang="en-US" altLang="zh-CN" sz="24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w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：传输一个字符的时间</a:t>
            </a:r>
          </a:p>
          <a:p>
            <a:endParaRPr lang="zh-CN" altLang="en-US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F4344D-D227-427E-98F7-0390A0EE9648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7174" name="Oval 4"/>
          <p:cNvSpPr>
            <a:spLocks noChangeArrowheads="1"/>
          </p:cNvSpPr>
          <p:nvPr/>
        </p:nvSpPr>
        <p:spPr bwMode="auto">
          <a:xfrm>
            <a:off x="1187450" y="2022475"/>
            <a:ext cx="2133600" cy="1905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kumimoji="1" lang="en-US" altLang="zh-CN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5" name="Oval 5"/>
          <p:cNvSpPr>
            <a:spLocks noChangeArrowheads="1"/>
          </p:cNvSpPr>
          <p:nvPr/>
        </p:nvSpPr>
        <p:spPr bwMode="auto">
          <a:xfrm>
            <a:off x="4768850" y="2022475"/>
            <a:ext cx="2133600" cy="1905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kumimoji="1" lang="en-US" altLang="zh-CN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6" name="Line 6"/>
          <p:cNvSpPr>
            <a:spLocks noChangeShapeType="1"/>
          </p:cNvSpPr>
          <p:nvPr/>
        </p:nvSpPr>
        <p:spPr bwMode="auto">
          <a:xfrm flipV="1">
            <a:off x="2330450" y="2022475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7" name="AutoShape 7"/>
          <p:cNvSpPr>
            <a:spLocks noChangeArrowheads="1"/>
          </p:cNvSpPr>
          <p:nvPr/>
        </p:nvSpPr>
        <p:spPr bwMode="auto">
          <a:xfrm>
            <a:off x="2787650" y="1641475"/>
            <a:ext cx="2286000" cy="152400"/>
          </a:xfrm>
          <a:prstGeom prst="rightArrow">
            <a:avLst>
              <a:gd name="adj1" fmla="val 50000"/>
              <a:gd name="adj2" fmla="val 375000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8" name="AutoShape 8"/>
          <p:cNvSpPr>
            <a:spLocks noChangeArrowheads="1"/>
          </p:cNvSpPr>
          <p:nvPr/>
        </p:nvSpPr>
        <p:spPr bwMode="auto">
          <a:xfrm>
            <a:off x="3549650" y="2251075"/>
            <a:ext cx="76200" cy="1295400"/>
          </a:xfrm>
          <a:prstGeom prst="upArrow">
            <a:avLst>
              <a:gd name="adj1" fmla="val 50000"/>
              <a:gd name="adj2" fmla="val 425000"/>
            </a:avLst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9" name="AutoShape 9"/>
          <p:cNvSpPr>
            <a:spLocks noChangeArrowheads="1"/>
          </p:cNvSpPr>
          <p:nvPr/>
        </p:nvSpPr>
        <p:spPr bwMode="auto">
          <a:xfrm>
            <a:off x="4235450" y="2251075"/>
            <a:ext cx="76200" cy="1295400"/>
          </a:xfrm>
          <a:prstGeom prst="upArrow">
            <a:avLst>
              <a:gd name="adj1" fmla="val 50000"/>
              <a:gd name="adj2" fmla="val 425000"/>
            </a:avLst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0" name="Freeform 10"/>
          <p:cNvSpPr>
            <a:spLocks/>
          </p:cNvSpPr>
          <p:nvPr/>
        </p:nvSpPr>
        <p:spPr bwMode="auto">
          <a:xfrm>
            <a:off x="3362325" y="2174875"/>
            <a:ext cx="415925" cy="122238"/>
          </a:xfrm>
          <a:custGeom>
            <a:avLst/>
            <a:gdLst>
              <a:gd name="T0" fmla="*/ 0 w 262"/>
              <a:gd name="T1" fmla="*/ 87313 h 77"/>
              <a:gd name="T2" fmla="*/ 101600 w 262"/>
              <a:gd name="T3" fmla="*/ 31750 h 77"/>
              <a:gd name="T4" fmla="*/ 415925 w 262"/>
              <a:gd name="T5" fmla="*/ 122238 h 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2" h="77">
                <a:moveTo>
                  <a:pt x="0" y="55"/>
                </a:moveTo>
                <a:cubicBezTo>
                  <a:pt x="21" y="41"/>
                  <a:pt x="43" y="34"/>
                  <a:pt x="64" y="20"/>
                </a:cubicBezTo>
                <a:cubicBezTo>
                  <a:pt x="227" y="28"/>
                  <a:pt x="185" y="0"/>
                  <a:pt x="262" y="77"/>
                </a:cubicBezTo>
              </a:path>
            </a:pathLst>
          </a:custGeom>
          <a:noFill/>
          <a:ln w="5715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1" name="Freeform 11"/>
          <p:cNvSpPr>
            <a:spLocks/>
          </p:cNvSpPr>
          <p:nvPr/>
        </p:nvSpPr>
        <p:spPr bwMode="auto">
          <a:xfrm>
            <a:off x="4083050" y="2174875"/>
            <a:ext cx="415925" cy="122238"/>
          </a:xfrm>
          <a:custGeom>
            <a:avLst/>
            <a:gdLst>
              <a:gd name="T0" fmla="*/ 0 w 262"/>
              <a:gd name="T1" fmla="*/ 87313 h 77"/>
              <a:gd name="T2" fmla="*/ 101600 w 262"/>
              <a:gd name="T3" fmla="*/ 31750 h 77"/>
              <a:gd name="T4" fmla="*/ 415925 w 262"/>
              <a:gd name="T5" fmla="*/ 122238 h 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2" h="77">
                <a:moveTo>
                  <a:pt x="0" y="55"/>
                </a:moveTo>
                <a:cubicBezTo>
                  <a:pt x="21" y="41"/>
                  <a:pt x="43" y="34"/>
                  <a:pt x="64" y="20"/>
                </a:cubicBezTo>
                <a:cubicBezTo>
                  <a:pt x="227" y="28"/>
                  <a:pt x="185" y="0"/>
                  <a:pt x="262" y="77"/>
                </a:cubicBezTo>
              </a:path>
            </a:pathLst>
          </a:custGeom>
          <a:noFill/>
          <a:ln w="5715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2" name="Text Box 12"/>
          <p:cNvSpPr txBox="1">
            <a:spLocks noChangeArrowheads="1"/>
          </p:cNvSpPr>
          <p:nvPr/>
        </p:nvSpPr>
        <p:spPr bwMode="auto">
          <a:xfrm>
            <a:off x="3092450" y="1412875"/>
            <a:ext cx="1295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磁带机走向</a:t>
            </a:r>
            <a:endParaRPr kumimoji="1" lang="zh-CN" altLang="en-US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3" name="Text Box 13"/>
          <p:cNvSpPr txBox="1">
            <a:spLocks noChangeArrowheads="1"/>
          </p:cNvSpPr>
          <p:nvPr/>
        </p:nvSpPr>
        <p:spPr bwMode="auto">
          <a:xfrm>
            <a:off x="3549650" y="2327275"/>
            <a:ext cx="457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读出头</a:t>
            </a:r>
            <a:endParaRPr kumimoji="1" lang="zh-CN" altLang="en-US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4" name="Text Box 14"/>
          <p:cNvSpPr txBox="1">
            <a:spLocks noChangeArrowheads="1"/>
          </p:cNvSpPr>
          <p:nvPr/>
        </p:nvSpPr>
        <p:spPr bwMode="auto">
          <a:xfrm>
            <a:off x="4235450" y="2327275"/>
            <a:ext cx="457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写入头</a:t>
            </a:r>
          </a:p>
        </p:txBody>
      </p:sp>
      <p:sp>
        <p:nvSpPr>
          <p:cNvPr id="7185" name="Text Box 15"/>
          <p:cNvSpPr txBox="1">
            <a:spLocks noChangeArrowheads="1"/>
          </p:cNvSpPr>
          <p:nvPr/>
        </p:nvSpPr>
        <p:spPr bwMode="auto">
          <a:xfrm>
            <a:off x="1492250" y="2708275"/>
            <a:ext cx="457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原始盘</a:t>
            </a:r>
          </a:p>
        </p:txBody>
      </p:sp>
      <p:sp>
        <p:nvSpPr>
          <p:cNvPr id="7186" name="Text Box 16"/>
          <p:cNvSpPr txBox="1">
            <a:spLocks noChangeArrowheads="1"/>
          </p:cNvSpPr>
          <p:nvPr/>
        </p:nvSpPr>
        <p:spPr bwMode="auto">
          <a:xfrm>
            <a:off x="6064250" y="2632075"/>
            <a:ext cx="457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接收盘</a:t>
            </a:r>
          </a:p>
        </p:txBody>
      </p:sp>
      <p:sp>
        <p:nvSpPr>
          <p:cNvPr id="7187" name="Line 17"/>
          <p:cNvSpPr>
            <a:spLocks noChangeShapeType="1"/>
          </p:cNvSpPr>
          <p:nvPr/>
        </p:nvSpPr>
        <p:spPr bwMode="auto">
          <a:xfrm>
            <a:off x="1295400" y="4724400"/>
            <a:ext cx="6248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8" name="Line 18"/>
          <p:cNvSpPr>
            <a:spLocks noChangeShapeType="1"/>
          </p:cNvSpPr>
          <p:nvPr/>
        </p:nvSpPr>
        <p:spPr bwMode="auto">
          <a:xfrm>
            <a:off x="1447800" y="5181600"/>
            <a:ext cx="6248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89" name="Freeform 19"/>
          <p:cNvSpPr>
            <a:spLocks/>
          </p:cNvSpPr>
          <p:nvPr/>
        </p:nvSpPr>
        <p:spPr bwMode="auto">
          <a:xfrm>
            <a:off x="1300163" y="4730750"/>
            <a:ext cx="146050" cy="460375"/>
          </a:xfrm>
          <a:custGeom>
            <a:avLst/>
            <a:gdLst>
              <a:gd name="T0" fmla="*/ 0 w 92"/>
              <a:gd name="T1" fmla="*/ 0 h 290"/>
              <a:gd name="T2" fmla="*/ 77788 w 92"/>
              <a:gd name="T3" fmla="*/ 90488 h 290"/>
              <a:gd name="T4" fmla="*/ 100013 w 92"/>
              <a:gd name="T5" fmla="*/ 123825 h 290"/>
              <a:gd name="T6" fmla="*/ 122238 w 92"/>
              <a:gd name="T7" fmla="*/ 190500 h 290"/>
              <a:gd name="T8" fmla="*/ 111125 w 92"/>
              <a:gd name="T9" fmla="*/ 234950 h 290"/>
              <a:gd name="T10" fmla="*/ 88900 w 92"/>
              <a:gd name="T11" fmla="*/ 303213 h 290"/>
              <a:gd name="T12" fmla="*/ 100013 w 92"/>
              <a:gd name="T13" fmla="*/ 414338 h 290"/>
              <a:gd name="T14" fmla="*/ 146050 w 92"/>
              <a:gd name="T15" fmla="*/ 460375 h 29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2" h="290">
                <a:moveTo>
                  <a:pt x="0" y="0"/>
                </a:moveTo>
                <a:cubicBezTo>
                  <a:pt x="33" y="50"/>
                  <a:pt x="14" y="34"/>
                  <a:pt x="49" y="57"/>
                </a:cubicBezTo>
                <a:cubicBezTo>
                  <a:pt x="54" y="64"/>
                  <a:pt x="60" y="70"/>
                  <a:pt x="63" y="78"/>
                </a:cubicBezTo>
                <a:cubicBezTo>
                  <a:pt x="69" y="91"/>
                  <a:pt x="77" y="120"/>
                  <a:pt x="77" y="120"/>
                </a:cubicBezTo>
                <a:cubicBezTo>
                  <a:pt x="75" y="129"/>
                  <a:pt x="73" y="139"/>
                  <a:pt x="70" y="148"/>
                </a:cubicBezTo>
                <a:cubicBezTo>
                  <a:pt x="66" y="162"/>
                  <a:pt x="56" y="191"/>
                  <a:pt x="56" y="191"/>
                </a:cubicBezTo>
                <a:cubicBezTo>
                  <a:pt x="58" y="214"/>
                  <a:pt x="57" y="238"/>
                  <a:pt x="63" y="261"/>
                </a:cubicBezTo>
                <a:cubicBezTo>
                  <a:pt x="66" y="274"/>
                  <a:pt x="92" y="290"/>
                  <a:pt x="92" y="290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0" name="Freeform 20"/>
          <p:cNvSpPr>
            <a:spLocks/>
          </p:cNvSpPr>
          <p:nvPr/>
        </p:nvSpPr>
        <p:spPr bwMode="auto">
          <a:xfrm>
            <a:off x="7543800" y="4724400"/>
            <a:ext cx="146050" cy="460375"/>
          </a:xfrm>
          <a:custGeom>
            <a:avLst/>
            <a:gdLst>
              <a:gd name="T0" fmla="*/ 0 w 92"/>
              <a:gd name="T1" fmla="*/ 0 h 290"/>
              <a:gd name="T2" fmla="*/ 77788 w 92"/>
              <a:gd name="T3" fmla="*/ 90488 h 290"/>
              <a:gd name="T4" fmla="*/ 100013 w 92"/>
              <a:gd name="T5" fmla="*/ 123825 h 290"/>
              <a:gd name="T6" fmla="*/ 122238 w 92"/>
              <a:gd name="T7" fmla="*/ 190500 h 290"/>
              <a:gd name="T8" fmla="*/ 111125 w 92"/>
              <a:gd name="T9" fmla="*/ 234950 h 290"/>
              <a:gd name="T10" fmla="*/ 88900 w 92"/>
              <a:gd name="T11" fmla="*/ 303213 h 290"/>
              <a:gd name="T12" fmla="*/ 100013 w 92"/>
              <a:gd name="T13" fmla="*/ 414338 h 290"/>
              <a:gd name="T14" fmla="*/ 146050 w 92"/>
              <a:gd name="T15" fmla="*/ 460375 h 29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2" h="290">
                <a:moveTo>
                  <a:pt x="0" y="0"/>
                </a:moveTo>
                <a:cubicBezTo>
                  <a:pt x="33" y="50"/>
                  <a:pt x="14" y="34"/>
                  <a:pt x="49" y="57"/>
                </a:cubicBezTo>
                <a:cubicBezTo>
                  <a:pt x="54" y="64"/>
                  <a:pt x="60" y="70"/>
                  <a:pt x="63" y="78"/>
                </a:cubicBezTo>
                <a:cubicBezTo>
                  <a:pt x="69" y="91"/>
                  <a:pt x="77" y="120"/>
                  <a:pt x="77" y="120"/>
                </a:cubicBezTo>
                <a:cubicBezTo>
                  <a:pt x="75" y="129"/>
                  <a:pt x="73" y="139"/>
                  <a:pt x="70" y="148"/>
                </a:cubicBezTo>
                <a:cubicBezTo>
                  <a:pt x="66" y="162"/>
                  <a:pt x="56" y="191"/>
                  <a:pt x="56" y="191"/>
                </a:cubicBezTo>
                <a:cubicBezTo>
                  <a:pt x="58" y="214"/>
                  <a:pt x="57" y="238"/>
                  <a:pt x="63" y="261"/>
                </a:cubicBezTo>
                <a:cubicBezTo>
                  <a:pt x="66" y="274"/>
                  <a:pt x="92" y="290"/>
                  <a:pt x="92" y="290"/>
                </a:cubicBez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1" name="Rectangle 21"/>
          <p:cNvSpPr>
            <a:spLocks noChangeArrowheads="1"/>
          </p:cNvSpPr>
          <p:nvPr/>
        </p:nvSpPr>
        <p:spPr bwMode="auto">
          <a:xfrm>
            <a:off x="2438400" y="4724400"/>
            <a:ext cx="3810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2" name="Rectangle 22"/>
          <p:cNvSpPr>
            <a:spLocks noChangeArrowheads="1"/>
          </p:cNvSpPr>
          <p:nvPr/>
        </p:nvSpPr>
        <p:spPr bwMode="auto">
          <a:xfrm>
            <a:off x="3810000" y="4724400"/>
            <a:ext cx="3810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3" name="Rectangle 23"/>
          <p:cNvSpPr>
            <a:spLocks noChangeArrowheads="1"/>
          </p:cNvSpPr>
          <p:nvPr/>
        </p:nvSpPr>
        <p:spPr bwMode="auto">
          <a:xfrm>
            <a:off x="5257800" y="4724400"/>
            <a:ext cx="3810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4" name="Text Box 24"/>
          <p:cNvSpPr txBox="1">
            <a:spLocks noChangeArrowheads="1"/>
          </p:cNvSpPr>
          <p:nvPr/>
        </p:nvSpPr>
        <p:spPr bwMode="auto">
          <a:xfrm>
            <a:off x="2819400" y="47244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记录  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5" name="Text Box 25"/>
          <p:cNvSpPr txBox="1">
            <a:spLocks noChangeArrowheads="1"/>
          </p:cNvSpPr>
          <p:nvPr/>
        </p:nvSpPr>
        <p:spPr bwMode="auto">
          <a:xfrm>
            <a:off x="5638800" y="47244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记录  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endParaRPr kumimoji="1" lang="en-US" altLang="zh-CN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6" name="Text Box 26"/>
          <p:cNvSpPr txBox="1">
            <a:spLocks noChangeArrowheads="1"/>
          </p:cNvSpPr>
          <p:nvPr/>
        </p:nvSpPr>
        <p:spPr bwMode="auto">
          <a:xfrm>
            <a:off x="4191000" y="47244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记录  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1" lang="en-US" altLang="zh-CN" sz="1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97" name="Rectangle 27"/>
          <p:cNvSpPr>
            <a:spLocks noChangeArrowheads="1"/>
          </p:cNvSpPr>
          <p:nvPr/>
        </p:nvSpPr>
        <p:spPr bwMode="auto">
          <a:xfrm>
            <a:off x="6629400" y="4724400"/>
            <a:ext cx="3810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9BBF52-5039-4A8C-98A1-9789ABD0227D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81075"/>
            <a:ext cx="7848600" cy="533400"/>
          </a:xfrm>
        </p:spPr>
        <p:txBody>
          <a:bodyPr/>
          <a:lstStyle/>
          <a:p>
            <a:pPr algn="l" eaLnBrk="1" hangingPunct="1"/>
            <a:r>
              <a:rPr lang="en-US" altLang="zh-CN" sz="2400" dirty="0" smtClean="0">
                <a:solidFill>
                  <a:srgbClr val="8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2  </a:t>
            </a:r>
            <a:r>
              <a:rPr lang="zh-CN" altLang="en-US" sz="2400" dirty="0" smtClean="0">
                <a:solidFill>
                  <a:srgbClr val="8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磁盘信息的存取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6050"/>
            <a:ext cx="662305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属于</a:t>
            </a:r>
            <a:r>
              <a:rPr lang="zh-CN" altLang="en-US" sz="20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直接存取设备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，适用于各类存储形式的文件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工作原理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磁盘可以是单片的，或有若干个盘片组成盘组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磁道：盘片上的同心圆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柱面：各盘面上半径相同的磁道合在一起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扇区：每个磁道等分为若干扇区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块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读取信息的过程：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柱面号   移动磁头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盘面号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磁道号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选定所用磁头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扇区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块号   磁盘一直高速旋转，磁头等待开始位置</a:t>
            </a:r>
          </a:p>
        </p:txBody>
      </p:sp>
      <p:sp>
        <p:nvSpPr>
          <p:cNvPr id="8199" name="AutoShape 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632460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0" name="AutoShape 5"/>
          <p:cNvSpPr>
            <a:spLocks noChangeArrowheads="1"/>
          </p:cNvSpPr>
          <p:nvPr/>
        </p:nvSpPr>
        <p:spPr bwMode="auto">
          <a:xfrm>
            <a:off x="6634163" y="3008313"/>
            <a:ext cx="2249487" cy="1066800"/>
          </a:xfrm>
          <a:custGeom>
            <a:avLst/>
            <a:gdLst>
              <a:gd name="T0" fmla="*/ 1124744 w 21600"/>
              <a:gd name="T1" fmla="*/ 0 h 21600"/>
              <a:gd name="T2" fmla="*/ 329404 w 21600"/>
              <a:gd name="T3" fmla="*/ 156217 h 21600"/>
              <a:gd name="T4" fmla="*/ 0 w 21600"/>
              <a:gd name="T5" fmla="*/ 533400 h 21600"/>
              <a:gd name="T6" fmla="*/ 329404 w 21600"/>
              <a:gd name="T7" fmla="*/ 910583 h 21600"/>
              <a:gd name="T8" fmla="*/ 1124744 w 21600"/>
              <a:gd name="T9" fmla="*/ 1066800 h 21600"/>
              <a:gd name="T10" fmla="*/ 1920083 w 21600"/>
              <a:gd name="T11" fmla="*/ 910583 h 21600"/>
              <a:gd name="T12" fmla="*/ 2249487 w 21600"/>
              <a:gd name="T13" fmla="*/ 533400 h 21600"/>
              <a:gd name="T14" fmla="*/ 1920083 w 21600"/>
              <a:gd name="T15" fmla="*/ 15621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91" y="10800"/>
                </a:moveTo>
                <a:cubicBezTo>
                  <a:pt x="1491" y="15941"/>
                  <a:pt x="5659" y="20109"/>
                  <a:pt x="10800" y="20109"/>
                </a:cubicBezTo>
                <a:cubicBezTo>
                  <a:pt x="15941" y="20109"/>
                  <a:pt x="20109" y="15941"/>
                  <a:pt x="20109" y="10800"/>
                </a:cubicBezTo>
                <a:cubicBezTo>
                  <a:pt x="20109" y="5659"/>
                  <a:pt x="15941" y="1491"/>
                  <a:pt x="10800" y="1491"/>
                </a:cubicBezTo>
                <a:cubicBezTo>
                  <a:pt x="5659" y="1491"/>
                  <a:pt x="1491" y="5659"/>
                  <a:pt x="1491" y="10800"/>
                </a:cubicBezTo>
                <a:close/>
              </a:path>
            </a:pathLst>
          </a:custGeom>
          <a:solidFill>
            <a:srgbClr val="FAFD00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1" name="AutoShape 6"/>
          <p:cNvSpPr>
            <a:spLocks noChangeArrowheads="1"/>
          </p:cNvSpPr>
          <p:nvPr/>
        </p:nvSpPr>
        <p:spPr bwMode="auto">
          <a:xfrm>
            <a:off x="6670675" y="2246313"/>
            <a:ext cx="2249488" cy="1066800"/>
          </a:xfrm>
          <a:custGeom>
            <a:avLst/>
            <a:gdLst>
              <a:gd name="T0" fmla="*/ 1124744 w 21600"/>
              <a:gd name="T1" fmla="*/ 0 h 21600"/>
              <a:gd name="T2" fmla="*/ 329404 w 21600"/>
              <a:gd name="T3" fmla="*/ 156217 h 21600"/>
              <a:gd name="T4" fmla="*/ 0 w 21600"/>
              <a:gd name="T5" fmla="*/ 533400 h 21600"/>
              <a:gd name="T6" fmla="*/ 329404 w 21600"/>
              <a:gd name="T7" fmla="*/ 910583 h 21600"/>
              <a:gd name="T8" fmla="*/ 1124744 w 21600"/>
              <a:gd name="T9" fmla="*/ 1066800 h 21600"/>
              <a:gd name="T10" fmla="*/ 1920084 w 21600"/>
              <a:gd name="T11" fmla="*/ 910583 h 21600"/>
              <a:gd name="T12" fmla="*/ 2249488 w 21600"/>
              <a:gd name="T13" fmla="*/ 533400 h 21600"/>
              <a:gd name="T14" fmla="*/ 1920084 w 21600"/>
              <a:gd name="T15" fmla="*/ 15621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91" y="10800"/>
                </a:moveTo>
                <a:cubicBezTo>
                  <a:pt x="1491" y="15941"/>
                  <a:pt x="5659" y="20109"/>
                  <a:pt x="10800" y="20109"/>
                </a:cubicBezTo>
                <a:cubicBezTo>
                  <a:pt x="15941" y="20109"/>
                  <a:pt x="20109" y="15941"/>
                  <a:pt x="20109" y="10800"/>
                </a:cubicBezTo>
                <a:cubicBezTo>
                  <a:pt x="20109" y="5659"/>
                  <a:pt x="15941" y="1491"/>
                  <a:pt x="10800" y="1491"/>
                </a:cubicBezTo>
                <a:cubicBezTo>
                  <a:pt x="5659" y="1491"/>
                  <a:pt x="1491" y="5659"/>
                  <a:pt x="1491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2" name="Line 7"/>
          <p:cNvSpPr>
            <a:spLocks noChangeShapeType="1"/>
          </p:cNvSpPr>
          <p:nvPr/>
        </p:nvSpPr>
        <p:spPr bwMode="auto">
          <a:xfrm flipH="1">
            <a:off x="7661275" y="3236913"/>
            <a:ext cx="1588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3" name="Line 8"/>
          <p:cNvSpPr>
            <a:spLocks noChangeShapeType="1"/>
          </p:cNvSpPr>
          <p:nvPr/>
        </p:nvSpPr>
        <p:spPr bwMode="auto">
          <a:xfrm flipH="1">
            <a:off x="7966075" y="3236913"/>
            <a:ext cx="1588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4" name="Line 9"/>
          <p:cNvSpPr>
            <a:spLocks noChangeShapeType="1"/>
          </p:cNvSpPr>
          <p:nvPr/>
        </p:nvSpPr>
        <p:spPr bwMode="auto">
          <a:xfrm flipH="1">
            <a:off x="7813675" y="3236913"/>
            <a:ext cx="1588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5" name="Line 10"/>
          <p:cNvSpPr>
            <a:spLocks noChangeShapeType="1"/>
          </p:cNvSpPr>
          <p:nvPr/>
        </p:nvSpPr>
        <p:spPr bwMode="auto">
          <a:xfrm flipH="1">
            <a:off x="7508875" y="3236913"/>
            <a:ext cx="1588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6" name="AutoShape 11"/>
          <p:cNvSpPr>
            <a:spLocks noChangeArrowheads="1"/>
          </p:cNvSpPr>
          <p:nvPr/>
        </p:nvSpPr>
        <p:spPr bwMode="auto">
          <a:xfrm>
            <a:off x="6634163" y="1865313"/>
            <a:ext cx="2249487" cy="1066800"/>
          </a:xfrm>
          <a:custGeom>
            <a:avLst/>
            <a:gdLst>
              <a:gd name="T0" fmla="*/ 1124744 w 21600"/>
              <a:gd name="T1" fmla="*/ 0 h 21600"/>
              <a:gd name="T2" fmla="*/ 329404 w 21600"/>
              <a:gd name="T3" fmla="*/ 156217 h 21600"/>
              <a:gd name="T4" fmla="*/ 0 w 21600"/>
              <a:gd name="T5" fmla="*/ 533400 h 21600"/>
              <a:gd name="T6" fmla="*/ 329404 w 21600"/>
              <a:gd name="T7" fmla="*/ 910583 h 21600"/>
              <a:gd name="T8" fmla="*/ 1124744 w 21600"/>
              <a:gd name="T9" fmla="*/ 1066800 h 21600"/>
              <a:gd name="T10" fmla="*/ 1920083 w 21600"/>
              <a:gd name="T11" fmla="*/ 910583 h 21600"/>
              <a:gd name="T12" fmla="*/ 2249487 w 21600"/>
              <a:gd name="T13" fmla="*/ 533400 h 21600"/>
              <a:gd name="T14" fmla="*/ 1920083 w 21600"/>
              <a:gd name="T15" fmla="*/ 15621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91" y="10800"/>
                </a:moveTo>
                <a:cubicBezTo>
                  <a:pt x="1491" y="15941"/>
                  <a:pt x="5659" y="20109"/>
                  <a:pt x="10800" y="20109"/>
                </a:cubicBezTo>
                <a:cubicBezTo>
                  <a:pt x="15941" y="20109"/>
                  <a:pt x="20109" y="15941"/>
                  <a:pt x="20109" y="10800"/>
                </a:cubicBezTo>
                <a:cubicBezTo>
                  <a:pt x="20109" y="5659"/>
                  <a:pt x="15941" y="1491"/>
                  <a:pt x="10800" y="1491"/>
                </a:cubicBezTo>
                <a:cubicBezTo>
                  <a:pt x="5659" y="1491"/>
                  <a:pt x="1491" y="5659"/>
                  <a:pt x="1491" y="10800"/>
                </a:cubicBezTo>
                <a:close/>
              </a:path>
            </a:pathLst>
          </a:custGeom>
          <a:solidFill>
            <a:srgbClr val="F95AB7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7" name="Line 12"/>
          <p:cNvSpPr>
            <a:spLocks noChangeShapeType="1"/>
          </p:cNvSpPr>
          <p:nvPr/>
        </p:nvSpPr>
        <p:spPr bwMode="auto">
          <a:xfrm flipH="1">
            <a:off x="7624763" y="2855913"/>
            <a:ext cx="1587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8" name="AutoShape 13"/>
          <p:cNvSpPr>
            <a:spLocks noChangeArrowheads="1"/>
          </p:cNvSpPr>
          <p:nvPr/>
        </p:nvSpPr>
        <p:spPr bwMode="auto">
          <a:xfrm>
            <a:off x="7472363" y="2017713"/>
            <a:ext cx="609600" cy="304800"/>
          </a:xfrm>
          <a:custGeom>
            <a:avLst/>
            <a:gdLst>
              <a:gd name="T0" fmla="*/ 240397 w 21600"/>
              <a:gd name="T1" fmla="*/ 3429 h 21600"/>
              <a:gd name="T2" fmla="*/ 60142 w 21600"/>
              <a:gd name="T3" fmla="*/ 152400 h 21600"/>
              <a:gd name="T4" fmla="*/ 265797 w 21600"/>
              <a:gd name="T5" fmla="*/ 62230 h 21600"/>
              <a:gd name="T6" fmla="*/ 651764 w 21600"/>
              <a:gd name="T7" fmla="*/ 73716 h 21600"/>
              <a:gd name="T8" fmla="*/ 583946 w 21600"/>
              <a:gd name="T9" fmla="*/ 163971 h 21600"/>
              <a:gd name="T10" fmla="*/ 403408 w 21600"/>
              <a:gd name="T11" fmla="*/ 130034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753" y="8100"/>
                </a:moveTo>
                <a:cubicBezTo>
                  <a:pt x="15693" y="5763"/>
                  <a:pt x="13365" y="4263"/>
                  <a:pt x="10800" y="4263"/>
                </a:cubicBezTo>
                <a:cubicBezTo>
                  <a:pt x="7189" y="4263"/>
                  <a:pt x="4263" y="7189"/>
                  <a:pt x="4263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5038" y="0"/>
                  <a:pt x="18885" y="2479"/>
                  <a:pt x="20635" y="6339"/>
                </a:cubicBezTo>
                <a:lnTo>
                  <a:pt x="23094" y="5224"/>
                </a:lnTo>
                <a:lnTo>
                  <a:pt x="20691" y="11620"/>
                </a:lnTo>
                <a:lnTo>
                  <a:pt x="14294" y="9215"/>
                </a:lnTo>
                <a:lnTo>
                  <a:pt x="16753" y="8100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09" name="Line 14"/>
          <p:cNvSpPr>
            <a:spLocks noChangeShapeType="1"/>
          </p:cNvSpPr>
          <p:nvPr/>
        </p:nvSpPr>
        <p:spPr bwMode="auto">
          <a:xfrm flipH="1">
            <a:off x="7929563" y="2855913"/>
            <a:ext cx="1587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0" name="Line 15"/>
          <p:cNvSpPr>
            <a:spLocks noChangeShapeType="1"/>
          </p:cNvSpPr>
          <p:nvPr/>
        </p:nvSpPr>
        <p:spPr bwMode="auto">
          <a:xfrm flipH="1">
            <a:off x="7777163" y="2855913"/>
            <a:ext cx="1587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1" name="Line 16"/>
          <p:cNvSpPr>
            <a:spLocks noChangeShapeType="1"/>
          </p:cNvSpPr>
          <p:nvPr/>
        </p:nvSpPr>
        <p:spPr bwMode="auto">
          <a:xfrm flipH="1">
            <a:off x="7472363" y="2855913"/>
            <a:ext cx="1587" cy="650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2" name="Line 17"/>
          <p:cNvSpPr>
            <a:spLocks noChangeShapeType="1"/>
          </p:cNvSpPr>
          <p:nvPr/>
        </p:nvSpPr>
        <p:spPr bwMode="auto">
          <a:xfrm>
            <a:off x="7777163" y="1484313"/>
            <a:ext cx="0" cy="1143000"/>
          </a:xfrm>
          <a:prstGeom prst="line">
            <a:avLst/>
          </a:prstGeom>
          <a:noFill/>
          <a:ln w="76200">
            <a:solidFill>
              <a:srgbClr val="618FF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3" name="Line 18"/>
          <p:cNvSpPr>
            <a:spLocks noChangeShapeType="1"/>
          </p:cNvSpPr>
          <p:nvPr/>
        </p:nvSpPr>
        <p:spPr bwMode="auto">
          <a:xfrm>
            <a:off x="7737475" y="3541713"/>
            <a:ext cx="0" cy="1371600"/>
          </a:xfrm>
          <a:prstGeom prst="line">
            <a:avLst/>
          </a:prstGeom>
          <a:noFill/>
          <a:ln w="76200">
            <a:solidFill>
              <a:srgbClr val="618FF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4" name="Line 19"/>
          <p:cNvSpPr>
            <a:spLocks noChangeShapeType="1"/>
          </p:cNvSpPr>
          <p:nvPr/>
        </p:nvSpPr>
        <p:spPr bwMode="auto">
          <a:xfrm>
            <a:off x="9109075" y="1712913"/>
            <a:ext cx="0" cy="2667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5" name="Line 20"/>
          <p:cNvSpPr>
            <a:spLocks noChangeShapeType="1"/>
          </p:cNvSpPr>
          <p:nvPr/>
        </p:nvSpPr>
        <p:spPr bwMode="auto">
          <a:xfrm>
            <a:off x="8728075" y="3236913"/>
            <a:ext cx="381000" cy="0"/>
          </a:xfrm>
          <a:prstGeom prst="line">
            <a:avLst/>
          </a:prstGeom>
          <a:noFill/>
          <a:ln w="76200">
            <a:solidFill>
              <a:srgbClr val="618FF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6" name="Line 21"/>
          <p:cNvSpPr>
            <a:spLocks noChangeShapeType="1"/>
          </p:cNvSpPr>
          <p:nvPr/>
        </p:nvSpPr>
        <p:spPr bwMode="auto">
          <a:xfrm>
            <a:off x="8728075" y="3084513"/>
            <a:ext cx="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7" name="Line 22"/>
          <p:cNvSpPr>
            <a:spLocks noChangeShapeType="1"/>
          </p:cNvSpPr>
          <p:nvPr/>
        </p:nvSpPr>
        <p:spPr bwMode="auto">
          <a:xfrm>
            <a:off x="8728075" y="2779713"/>
            <a:ext cx="381000" cy="0"/>
          </a:xfrm>
          <a:prstGeom prst="line">
            <a:avLst/>
          </a:prstGeom>
          <a:noFill/>
          <a:ln w="76200">
            <a:solidFill>
              <a:srgbClr val="618FF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218" name="Line 23"/>
          <p:cNvSpPr>
            <a:spLocks noChangeShapeType="1"/>
          </p:cNvSpPr>
          <p:nvPr/>
        </p:nvSpPr>
        <p:spPr bwMode="auto">
          <a:xfrm>
            <a:off x="8728075" y="2627313"/>
            <a:ext cx="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0632" y="5022760"/>
            <a:ext cx="530004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读写一块信息的时间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0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I/O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= </a:t>
            </a:r>
            <a:r>
              <a:rPr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0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seek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+ </a:t>
            </a:r>
            <a:r>
              <a:rPr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0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la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+ </a:t>
            </a:r>
            <a:r>
              <a:rPr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nt</a:t>
            </a:r>
            <a:r>
              <a:rPr lang="en-US" altLang="zh-CN" sz="20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w</a:t>
            </a:r>
            <a:endParaRPr lang="en-US" altLang="zh-CN" sz="20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0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seek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：磁头定位到磁道的时间</a:t>
            </a:r>
            <a:endParaRPr lang="en-US" altLang="zh-CN" sz="20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0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la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zh-CN" altLang="en-US" sz="20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等待时间</a:t>
            </a:r>
            <a:endParaRPr lang="en-US" altLang="zh-CN" sz="2000" b="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000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w</a:t>
            </a:r>
            <a:r>
              <a:rPr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：传输一个字符的</a:t>
            </a:r>
            <a:r>
              <a:rPr lang="zh-CN" altLang="en-US" sz="20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DF9F4A-D6CC-4A98-BA5D-48C91403FBFE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15888"/>
            <a:ext cx="7848600" cy="838200"/>
          </a:xfrm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外部排序的基本方法</a:t>
            </a:r>
            <a:r>
              <a:rPr lang="en-US" altLang="zh-CN" sz="2800" dirty="0" smtClean="0">
                <a:ea typeface="华文楷体" panose="02010600040101010101" pitchFamily="2" charset="-122"/>
              </a:rPr>
              <a:t>—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归并排序法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步骤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1) </a:t>
            </a:r>
            <a:r>
              <a:rPr lang="zh-CN" altLang="en-US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生成若干初始归并串</a:t>
            </a:r>
            <a:r>
              <a:rPr lang="en-US" altLang="zh-CN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顺串</a:t>
            </a:r>
            <a:r>
              <a:rPr lang="en-US" altLang="zh-CN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文件予处理</a:t>
            </a:r>
            <a:r>
              <a:rPr lang="en-US" altLang="zh-CN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)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把含有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个记录的文件，按内存缓冲区大小分成若干长度为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的子文件</a:t>
            </a:r>
            <a:r>
              <a:rPr lang="en-US" altLang="zh-CN" sz="2400" dirty="0" smtClean="0">
                <a:ea typeface="华文楷体" panose="02010600040101010101" pitchFamily="2" charset="-122"/>
              </a:rPr>
              <a:t>/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段；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分别调入内存用有效的内排序方法排序后送回外存；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2) </a:t>
            </a:r>
            <a:r>
              <a:rPr lang="zh-CN" altLang="en-US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多路合并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对初始归并串逐趟合并，直至最后在外存上得到整个有序文件为止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A3CD81-43F7-4C9B-9C26-189553E01901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2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085365"/>
            <a:ext cx="80010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某文件共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10000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个记录，设每个物理块可以容纳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200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个记录，内存缓冲区可以容纳</a:t>
            </a:r>
            <a:r>
              <a:rPr lang="en-US" altLang="zh-CN" sz="2400" dirty="0" smtClean="0">
                <a:ea typeface="华文楷体" panose="02010600040101010101" pitchFamily="2" charset="-122"/>
              </a:rPr>
              <a:t>5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个物理块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经过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次内排序后得到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个初始归并段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R1~R10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2)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采用两路归并，需四趟可以得到排好序的文件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R1   R2   R3   R4   R5   R6   R7   R8   R9   R10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2000       2000       2000        2000        2000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4000                      4000                 2000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外排序总时间：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8000                                  2000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内排序：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10t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IS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                                    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10000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I/O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操作：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100t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IO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排序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+(100+80+80+100)</a:t>
            </a:r>
            <a:r>
              <a:rPr lang="en-US" altLang="zh-CN" sz="24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IO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归并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)=460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IO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内部归并：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(10000+8000+8000+10000)</a:t>
            </a:r>
            <a:r>
              <a:rPr lang="en-US" altLang="zh-CN" sz="24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mg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=46000 </a:t>
            </a:r>
            <a:r>
              <a:rPr lang="en-US" altLang="zh-CN" sz="24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mg</a:t>
            </a:r>
            <a:endParaRPr lang="en-US" altLang="zh-CN" sz="2400" baseline="-250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</p:txBody>
      </p:sp>
      <p:sp>
        <p:nvSpPr>
          <p:cNvPr id="10246" name="Line 4"/>
          <p:cNvSpPr>
            <a:spLocks noChangeShapeType="1"/>
          </p:cNvSpPr>
          <p:nvPr/>
        </p:nvSpPr>
        <p:spPr bwMode="auto">
          <a:xfrm>
            <a:off x="1619250" y="3128392"/>
            <a:ext cx="1524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7" name="Line 5"/>
          <p:cNvSpPr>
            <a:spLocks noChangeShapeType="1"/>
          </p:cNvSpPr>
          <p:nvPr/>
        </p:nvSpPr>
        <p:spPr bwMode="auto">
          <a:xfrm flipH="1">
            <a:off x="1912144" y="3092158"/>
            <a:ext cx="1524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8" name="Line 6"/>
          <p:cNvSpPr>
            <a:spLocks noChangeShapeType="1"/>
          </p:cNvSpPr>
          <p:nvPr/>
        </p:nvSpPr>
        <p:spPr bwMode="auto">
          <a:xfrm>
            <a:off x="2695575" y="3098800"/>
            <a:ext cx="2286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9" name="Line 7"/>
          <p:cNvSpPr>
            <a:spLocks noChangeShapeType="1"/>
          </p:cNvSpPr>
          <p:nvPr/>
        </p:nvSpPr>
        <p:spPr bwMode="auto">
          <a:xfrm flipH="1">
            <a:off x="3133725" y="3092158"/>
            <a:ext cx="762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0" name="Line 8"/>
          <p:cNvSpPr>
            <a:spLocks noChangeShapeType="1"/>
          </p:cNvSpPr>
          <p:nvPr/>
        </p:nvSpPr>
        <p:spPr bwMode="auto">
          <a:xfrm>
            <a:off x="3906837" y="3084942"/>
            <a:ext cx="1524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1" name="Line 9"/>
          <p:cNvSpPr>
            <a:spLocks noChangeShapeType="1"/>
          </p:cNvSpPr>
          <p:nvPr/>
        </p:nvSpPr>
        <p:spPr bwMode="auto">
          <a:xfrm flipH="1">
            <a:off x="4224337" y="3101571"/>
            <a:ext cx="1524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2" name="Line 10"/>
          <p:cNvSpPr>
            <a:spLocks noChangeShapeType="1"/>
          </p:cNvSpPr>
          <p:nvPr/>
        </p:nvSpPr>
        <p:spPr bwMode="auto">
          <a:xfrm>
            <a:off x="4997449" y="3090851"/>
            <a:ext cx="15240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3" name="Line 11"/>
          <p:cNvSpPr>
            <a:spLocks noChangeShapeType="1"/>
          </p:cNvSpPr>
          <p:nvPr/>
        </p:nvSpPr>
        <p:spPr bwMode="auto">
          <a:xfrm flipH="1">
            <a:off x="5416550" y="3106980"/>
            <a:ext cx="1524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4" name="Line 12"/>
          <p:cNvSpPr>
            <a:spLocks noChangeShapeType="1"/>
          </p:cNvSpPr>
          <p:nvPr/>
        </p:nvSpPr>
        <p:spPr bwMode="auto">
          <a:xfrm>
            <a:off x="6215791" y="3098338"/>
            <a:ext cx="15240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5" name="Line 13"/>
          <p:cNvSpPr>
            <a:spLocks noChangeShapeType="1"/>
          </p:cNvSpPr>
          <p:nvPr/>
        </p:nvSpPr>
        <p:spPr bwMode="auto">
          <a:xfrm flipH="1">
            <a:off x="6666887" y="3129277"/>
            <a:ext cx="762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6" name="Line 14"/>
          <p:cNvSpPr>
            <a:spLocks noChangeShapeType="1"/>
          </p:cNvSpPr>
          <p:nvPr/>
        </p:nvSpPr>
        <p:spPr bwMode="auto">
          <a:xfrm>
            <a:off x="2064544" y="3566160"/>
            <a:ext cx="1524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7" name="Line 15"/>
          <p:cNvSpPr>
            <a:spLocks noChangeShapeType="1"/>
          </p:cNvSpPr>
          <p:nvPr/>
        </p:nvSpPr>
        <p:spPr bwMode="auto">
          <a:xfrm flipH="1">
            <a:off x="2481734" y="3528842"/>
            <a:ext cx="3048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8" name="Line 16"/>
          <p:cNvSpPr>
            <a:spLocks noChangeShapeType="1"/>
          </p:cNvSpPr>
          <p:nvPr/>
        </p:nvSpPr>
        <p:spPr bwMode="auto">
          <a:xfrm>
            <a:off x="4306123" y="3563124"/>
            <a:ext cx="304800" cy="152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9" name="Line 17"/>
          <p:cNvSpPr>
            <a:spLocks noChangeShapeType="1"/>
          </p:cNvSpPr>
          <p:nvPr/>
        </p:nvSpPr>
        <p:spPr bwMode="auto">
          <a:xfrm flipH="1">
            <a:off x="4841889" y="3568931"/>
            <a:ext cx="381000" cy="152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0" name="Line 18"/>
          <p:cNvSpPr>
            <a:spLocks noChangeShapeType="1"/>
          </p:cNvSpPr>
          <p:nvPr/>
        </p:nvSpPr>
        <p:spPr bwMode="auto">
          <a:xfrm>
            <a:off x="6666887" y="3566160"/>
            <a:ext cx="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1" name="Line 19"/>
          <p:cNvSpPr>
            <a:spLocks noChangeShapeType="1"/>
          </p:cNvSpPr>
          <p:nvPr/>
        </p:nvSpPr>
        <p:spPr bwMode="auto">
          <a:xfrm>
            <a:off x="2720340" y="3962209"/>
            <a:ext cx="6858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2" name="Line 20"/>
          <p:cNvSpPr>
            <a:spLocks noChangeShapeType="1"/>
          </p:cNvSpPr>
          <p:nvPr/>
        </p:nvSpPr>
        <p:spPr bwMode="auto">
          <a:xfrm flipH="1">
            <a:off x="3696523" y="3886009"/>
            <a:ext cx="76200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3" name="Line 22"/>
          <p:cNvSpPr>
            <a:spLocks noChangeShapeType="1"/>
          </p:cNvSpPr>
          <p:nvPr/>
        </p:nvSpPr>
        <p:spPr bwMode="auto">
          <a:xfrm>
            <a:off x="6746839" y="3967163"/>
            <a:ext cx="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4" name="Line 23"/>
          <p:cNvSpPr>
            <a:spLocks noChangeShapeType="1"/>
          </p:cNvSpPr>
          <p:nvPr/>
        </p:nvSpPr>
        <p:spPr bwMode="auto">
          <a:xfrm>
            <a:off x="4039018" y="4335607"/>
            <a:ext cx="1143000" cy="381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5" name="Line 24"/>
          <p:cNvSpPr>
            <a:spLocks noChangeShapeType="1"/>
          </p:cNvSpPr>
          <p:nvPr/>
        </p:nvSpPr>
        <p:spPr bwMode="auto">
          <a:xfrm flipH="1">
            <a:off x="5940152" y="4395329"/>
            <a:ext cx="9906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6" name="AutoShape 25"/>
          <p:cNvSpPr>
            <a:spLocks/>
          </p:cNvSpPr>
          <p:nvPr/>
        </p:nvSpPr>
        <p:spPr bwMode="auto">
          <a:xfrm>
            <a:off x="683568" y="4725144"/>
            <a:ext cx="154632" cy="1066800"/>
          </a:xfrm>
          <a:prstGeom prst="leftBrace">
            <a:avLst>
              <a:gd name="adj1" fmla="val 116667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55123-6F6F-496E-BDF0-FC152988F055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328738"/>
            <a:ext cx="8458200" cy="300037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提高外排序效率的途径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9705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减少合并趟数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s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，以减少</a:t>
            </a:r>
            <a:r>
              <a:rPr lang="en-US" altLang="zh-CN" sz="2400" dirty="0" smtClean="0">
                <a:ea typeface="华文楷体" panose="02010600040101010101" pitchFamily="2" charset="-122"/>
              </a:rPr>
              <a:t>I/O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次数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s =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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log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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扩大初始归并段长度，从而减少初始归并段个数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进行多路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(k</a:t>
            </a:r>
            <a:r>
              <a:rPr lang="zh-CN" altLang="zh-CN" sz="2400" dirty="0" smtClean="0">
                <a:ea typeface="华文楷体" panose="02010600040101010101" pitchFamily="2" charset="-122"/>
              </a:rPr>
              <a:t>路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归并</a:t>
            </a:r>
          </a:p>
        </p:txBody>
      </p:sp>
      <p:sp>
        <p:nvSpPr>
          <p:cNvPr id="11271" name="AutoShape 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632460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FCA0C5-412D-4428-B559-E5E1119B3904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2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7772400" cy="609600"/>
          </a:xfrm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多路</a:t>
            </a:r>
            <a:r>
              <a:rPr lang="en-US" altLang="zh-CN" sz="2800" dirty="0" smtClean="0">
                <a:ea typeface="华文楷体" panose="02010600040101010101" pitchFamily="2" charset="-122"/>
              </a:rPr>
              <a:t>(k</a:t>
            </a:r>
            <a:r>
              <a:rPr lang="zh-CN" altLang="zh-CN" sz="2800" dirty="0" smtClean="0">
                <a:ea typeface="华文楷体" panose="02010600040101010101" pitchFamily="2" charset="-122"/>
              </a:rPr>
              <a:t>路</a:t>
            </a:r>
            <a:r>
              <a:rPr lang="en-US" altLang="zh-CN" sz="2800" dirty="0" smtClean="0">
                <a:ea typeface="华文楷体" panose="02010600040101010101" pitchFamily="2" charset="-122"/>
              </a:rPr>
              <a:t>)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平衡归并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058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通过简单比较进行归并存在的问题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设记录总数为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，初始归并段的个数为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从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个记录中选择一个关键字最小的记录时的比较次数为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则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趟内部归并总的比较次数为：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C=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sc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(n-1)= 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log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</a:t>
            </a:r>
            <a:r>
              <a:rPr lang="en-US" altLang="zh-CN" sz="2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c (n-1)= log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m/ log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k</a:t>
            </a:r>
            <a:r>
              <a:rPr lang="en-US" altLang="zh-CN" sz="2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c (n-1)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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s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，可减少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I/O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次数；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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c=(k-1) 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，归并效率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解决矛盾的方法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——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利用“败者树”选关键字最小的记录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此时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c= log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则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C= log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m(n-1)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，与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无关</a:t>
            </a:r>
          </a:p>
        </p:txBody>
      </p:sp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304800" y="3505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矛盾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 flipV="1">
            <a:off x="1066800" y="3505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1066800" y="38100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>
            <a:off x="5791200" y="3733800"/>
            <a:ext cx="0" cy="762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5791200" y="3733800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6096000" y="3733800"/>
            <a:ext cx="0" cy="762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6400800" y="3733800"/>
            <a:ext cx="0" cy="762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6400800" y="3733800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6705600" y="3733800"/>
            <a:ext cx="0" cy="762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7543800" y="3733800"/>
            <a:ext cx="0" cy="762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7543800" y="3733800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7848600" y="3733800"/>
            <a:ext cx="0" cy="762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6858000" y="3962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5791200" y="4419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     2  ……   k</a:t>
            </a: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A74E33-81B3-4319-A18F-685BE2ACB050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8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187450"/>
            <a:ext cx="8458200" cy="225425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胜者树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树形选择排序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)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的缺陷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153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楷体_GB2312" charset="-122"/>
                <a:ea typeface="楷体_GB2312" charset="-122"/>
              </a:rPr>
              <a:t>  7</a:t>
            </a:r>
            <a:r>
              <a:rPr lang="zh-CN" altLang="en-US" sz="2400" dirty="0" smtClean="0">
                <a:latin typeface="楷体_GB2312" charset="-122"/>
                <a:ea typeface="楷体_GB2312" charset="-122"/>
              </a:rPr>
              <a:t>路合并胜者树                  重构后的胜者树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重构胜者树时，从根结点至新补入记录的叶结点的路径上的所有结点都必须更新。</a:t>
            </a: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6096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14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26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0" name="Rectangle 5"/>
          <p:cNvSpPr>
            <a:spLocks noChangeArrowheads="1"/>
          </p:cNvSpPr>
          <p:nvPr/>
        </p:nvSpPr>
        <p:spPr bwMode="auto">
          <a:xfrm>
            <a:off x="10668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1" name="Rectangle 6"/>
          <p:cNvSpPr>
            <a:spLocks noChangeArrowheads="1"/>
          </p:cNvSpPr>
          <p:nvPr/>
        </p:nvSpPr>
        <p:spPr bwMode="auto">
          <a:xfrm>
            <a:off x="15240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2" name="Rectangle 7"/>
          <p:cNvSpPr>
            <a:spLocks noChangeArrowheads="1"/>
          </p:cNvSpPr>
          <p:nvPr/>
        </p:nvSpPr>
        <p:spPr bwMode="auto">
          <a:xfrm>
            <a:off x="19812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15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25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3" name="Rectangle 8"/>
          <p:cNvSpPr>
            <a:spLocks noChangeArrowheads="1"/>
          </p:cNvSpPr>
          <p:nvPr/>
        </p:nvSpPr>
        <p:spPr bwMode="auto">
          <a:xfrm>
            <a:off x="24384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16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50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4" name="Rectangle 9"/>
          <p:cNvSpPr>
            <a:spLocks noChangeArrowheads="1"/>
          </p:cNvSpPr>
          <p:nvPr/>
        </p:nvSpPr>
        <p:spPr bwMode="auto">
          <a:xfrm>
            <a:off x="28956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17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18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5" name="Rectangle 10"/>
          <p:cNvSpPr>
            <a:spLocks noChangeArrowheads="1"/>
          </p:cNvSpPr>
          <p:nvPr/>
        </p:nvSpPr>
        <p:spPr bwMode="auto">
          <a:xfrm>
            <a:off x="35814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92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97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6" name="Rectangle 12"/>
          <p:cNvSpPr>
            <a:spLocks noChangeArrowheads="1"/>
          </p:cNvSpPr>
          <p:nvPr/>
        </p:nvSpPr>
        <p:spPr bwMode="auto">
          <a:xfrm>
            <a:off x="47244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14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26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7" name="Rectangle 13"/>
          <p:cNvSpPr>
            <a:spLocks noChangeArrowheads="1"/>
          </p:cNvSpPr>
          <p:nvPr/>
        </p:nvSpPr>
        <p:spPr bwMode="auto">
          <a:xfrm>
            <a:off x="51816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22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8" name="Rectangle 14"/>
          <p:cNvSpPr>
            <a:spLocks noChangeArrowheads="1"/>
          </p:cNvSpPr>
          <p:nvPr/>
        </p:nvSpPr>
        <p:spPr bwMode="auto">
          <a:xfrm>
            <a:off x="56388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29" name="Rectangle 15"/>
          <p:cNvSpPr>
            <a:spLocks noChangeArrowheads="1"/>
          </p:cNvSpPr>
          <p:nvPr/>
        </p:nvSpPr>
        <p:spPr bwMode="auto">
          <a:xfrm>
            <a:off x="6096000" y="3419477"/>
            <a:ext cx="381000" cy="175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15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25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30" name="Rectangle 16"/>
          <p:cNvSpPr>
            <a:spLocks noChangeArrowheads="1"/>
          </p:cNvSpPr>
          <p:nvPr/>
        </p:nvSpPr>
        <p:spPr bwMode="auto">
          <a:xfrm>
            <a:off x="65532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16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50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31" name="Rectangle 17"/>
          <p:cNvSpPr>
            <a:spLocks noChangeArrowheads="1"/>
          </p:cNvSpPr>
          <p:nvPr/>
        </p:nvSpPr>
        <p:spPr bwMode="auto">
          <a:xfrm>
            <a:off x="70104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17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18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32" name="Rectangle 18"/>
          <p:cNvSpPr>
            <a:spLocks noChangeArrowheads="1"/>
          </p:cNvSpPr>
          <p:nvPr/>
        </p:nvSpPr>
        <p:spPr bwMode="auto">
          <a:xfrm>
            <a:off x="7620000" y="3424238"/>
            <a:ext cx="381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90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92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97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33" name="Rectangle 20"/>
          <p:cNvSpPr>
            <a:spLocks noChangeArrowheads="1"/>
          </p:cNvSpPr>
          <p:nvPr/>
        </p:nvSpPr>
        <p:spPr bwMode="auto">
          <a:xfrm>
            <a:off x="6096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34" name="Rectangle 21"/>
          <p:cNvSpPr>
            <a:spLocks noChangeArrowheads="1"/>
          </p:cNvSpPr>
          <p:nvPr/>
        </p:nvSpPr>
        <p:spPr bwMode="auto">
          <a:xfrm>
            <a:off x="65532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35" name="Rectangle 22"/>
          <p:cNvSpPr>
            <a:spLocks noChangeArrowheads="1"/>
          </p:cNvSpPr>
          <p:nvPr/>
        </p:nvSpPr>
        <p:spPr bwMode="auto">
          <a:xfrm>
            <a:off x="15240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36" name="Rectangle 23"/>
          <p:cNvSpPr>
            <a:spLocks noChangeArrowheads="1"/>
          </p:cNvSpPr>
          <p:nvPr/>
        </p:nvSpPr>
        <p:spPr bwMode="auto">
          <a:xfrm>
            <a:off x="19812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37" name="Rectangle 24"/>
          <p:cNvSpPr>
            <a:spLocks noChangeArrowheads="1"/>
          </p:cNvSpPr>
          <p:nvPr/>
        </p:nvSpPr>
        <p:spPr bwMode="auto">
          <a:xfrm>
            <a:off x="24384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38" name="Rectangle 25"/>
          <p:cNvSpPr>
            <a:spLocks noChangeArrowheads="1"/>
          </p:cNvSpPr>
          <p:nvPr/>
        </p:nvSpPr>
        <p:spPr bwMode="auto">
          <a:xfrm>
            <a:off x="28956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39" name="Rectangle 26"/>
          <p:cNvSpPr>
            <a:spLocks noChangeArrowheads="1"/>
          </p:cNvSpPr>
          <p:nvPr/>
        </p:nvSpPr>
        <p:spPr bwMode="auto">
          <a:xfrm>
            <a:off x="3581400" y="25860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0" name="Rectangle 28"/>
          <p:cNvSpPr>
            <a:spLocks noChangeArrowheads="1"/>
          </p:cNvSpPr>
          <p:nvPr/>
        </p:nvSpPr>
        <p:spPr bwMode="auto">
          <a:xfrm>
            <a:off x="47244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>
            <a:off x="51816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2" name="Rectangle 30"/>
          <p:cNvSpPr>
            <a:spLocks noChangeArrowheads="1"/>
          </p:cNvSpPr>
          <p:nvPr/>
        </p:nvSpPr>
        <p:spPr bwMode="auto">
          <a:xfrm>
            <a:off x="56388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60960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4" name="Rectangle 32"/>
          <p:cNvSpPr>
            <a:spLocks noChangeArrowheads="1"/>
          </p:cNvSpPr>
          <p:nvPr/>
        </p:nvSpPr>
        <p:spPr bwMode="auto">
          <a:xfrm>
            <a:off x="10668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7010400" y="30432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6" name="Rectangle 34"/>
          <p:cNvSpPr>
            <a:spLocks noChangeArrowheads="1"/>
          </p:cNvSpPr>
          <p:nvPr/>
        </p:nvSpPr>
        <p:spPr bwMode="auto">
          <a:xfrm>
            <a:off x="7620000" y="2586038"/>
            <a:ext cx="3810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7" name="Line 36"/>
          <p:cNvSpPr>
            <a:spLocks noChangeShapeType="1"/>
          </p:cNvSpPr>
          <p:nvPr/>
        </p:nvSpPr>
        <p:spPr bwMode="auto">
          <a:xfrm flipV="1">
            <a:off x="7620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8" name="Line 37"/>
          <p:cNvSpPr>
            <a:spLocks noChangeShapeType="1"/>
          </p:cNvSpPr>
          <p:nvPr/>
        </p:nvSpPr>
        <p:spPr bwMode="auto">
          <a:xfrm flipH="1" flipV="1">
            <a:off x="10668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49" name="Line 38"/>
          <p:cNvSpPr>
            <a:spLocks noChangeShapeType="1"/>
          </p:cNvSpPr>
          <p:nvPr/>
        </p:nvSpPr>
        <p:spPr bwMode="auto">
          <a:xfrm flipH="1">
            <a:off x="16764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0" name="Line 40"/>
          <p:cNvSpPr>
            <a:spLocks noChangeShapeType="1"/>
          </p:cNvSpPr>
          <p:nvPr/>
        </p:nvSpPr>
        <p:spPr bwMode="auto">
          <a:xfrm>
            <a:off x="1979613" y="2728913"/>
            <a:ext cx="153987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1" name="Line 41"/>
          <p:cNvSpPr>
            <a:spLocks noChangeShapeType="1"/>
          </p:cNvSpPr>
          <p:nvPr/>
        </p:nvSpPr>
        <p:spPr bwMode="auto">
          <a:xfrm flipH="1">
            <a:off x="2667000" y="2738438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2" name="Line 42"/>
          <p:cNvSpPr>
            <a:spLocks noChangeShapeType="1"/>
          </p:cNvSpPr>
          <p:nvPr/>
        </p:nvSpPr>
        <p:spPr bwMode="auto">
          <a:xfrm>
            <a:off x="29718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3" name="Line 45"/>
          <p:cNvSpPr>
            <a:spLocks noChangeShapeType="1"/>
          </p:cNvSpPr>
          <p:nvPr/>
        </p:nvSpPr>
        <p:spPr bwMode="auto">
          <a:xfrm flipV="1">
            <a:off x="1066800" y="2357438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4" name="Line 46"/>
          <p:cNvSpPr>
            <a:spLocks noChangeShapeType="1"/>
          </p:cNvSpPr>
          <p:nvPr/>
        </p:nvSpPr>
        <p:spPr bwMode="auto">
          <a:xfrm>
            <a:off x="1676400" y="235743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5" name="Line 47"/>
          <p:cNvSpPr>
            <a:spLocks noChangeShapeType="1"/>
          </p:cNvSpPr>
          <p:nvPr/>
        </p:nvSpPr>
        <p:spPr bwMode="auto">
          <a:xfrm flipH="1">
            <a:off x="2895600" y="235743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6" name="Line 48"/>
          <p:cNvSpPr>
            <a:spLocks noChangeShapeType="1"/>
          </p:cNvSpPr>
          <p:nvPr/>
        </p:nvSpPr>
        <p:spPr bwMode="auto">
          <a:xfrm>
            <a:off x="3352800" y="2357438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7" name="Line 49"/>
          <p:cNvSpPr>
            <a:spLocks noChangeShapeType="1"/>
          </p:cNvSpPr>
          <p:nvPr/>
        </p:nvSpPr>
        <p:spPr bwMode="auto">
          <a:xfrm flipH="1">
            <a:off x="1676400" y="1900238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8" name="Line 50"/>
          <p:cNvSpPr>
            <a:spLocks noChangeShapeType="1"/>
          </p:cNvSpPr>
          <p:nvPr/>
        </p:nvSpPr>
        <p:spPr bwMode="auto">
          <a:xfrm>
            <a:off x="2514600" y="1900238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59" name="Line 51"/>
          <p:cNvSpPr>
            <a:spLocks noChangeShapeType="1"/>
          </p:cNvSpPr>
          <p:nvPr/>
        </p:nvSpPr>
        <p:spPr bwMode="auto">
          <a:xfrm flipV="1">
            <a:off x="49530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0" name="Line 52"/>
          <p:cNvSpPr>
            <a:spLocks noChangeShapeType="1"/>
          </p:cNvSpPr>
          <p:nvPr/>
        </p:nvSpPr>
        <p:spPr bwMode="auto">
          <a:xfrm>
            <a:off x="52578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1" name="Line 53"/>
          <p:cNvSpPr>
            <a:spLocks noChangeShapeType="1"/>
          </p:cNvSpPr>
          <p:nvPr/>
        </p:nvSpPr>
        <p:spPr bwMode="auto">
          <a:xfrm flipH="1">
            <a:off x="5791200" y="2814638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2" name="Line 54"/>
          <p:cNvSpPr>
            <a:spLocks noChangeShapeType="1"/>
          </p:cNvSpPr>
          <p:nvPr/>
        </p:nvSpPr>
        <p:spPr bwMode="auto">
          <a:xfrm>
            <a:off x="6172200" y="273843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3" name="Line 55"/>
          <p:cNvSpPr>
            <a:spLocks noChangeShapeType="1"/>
          </p:cNvSpPr>
          <p:nvPr/>
        </p:nvSpPr>
        <p:spPr bwMode="auto">
          <a:xfrm flipH="1">
            <a:off x="6705600" y="2814638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4" name="Line 56"/>
          <p:cNvSpPr>
            <a:spLocks noChangeShapeType="1"/>
          </p:cNvSpPr>
          <p:nvPr/>
        </p:nvSpPr>
        <p:spPr bwMode="auto">
          <a:xfrm>
            <a:off x="7010400" y="281463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5" name="Line 59"/>
          <p:cNvSpPr>
            <a:spLocks noChangeShapeType="1"/>
          </p:cNvSpPr>
          <p:nvPr/>
        </p:nvSpPr>
        <p:spPr bwMode="auto">
          <a:xfrm flipH="1">
            <a:off x="5257800" y="2357438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6" name="Line 60"/>
          <p:cNvSpPr>
            <a:spLocks noChangeShapeType="1"/>
          </p:cNvSpPr>
          <p:nvPr/>
        </p:nvSpPr>
        <p:spPr bwMode="auto">
          <a:xfrm>
            <a:off x="5791200" y="235743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7" name="Line 61"/>
          <p:cNvSpPr>
            <a:spLocks noChangeShapeType="1"/>
          </p:cNvSpPr>
          <p:nvPr/>
        </p:nvSpPr>
        <p:spPr bwMode="auto">
          <a:xfrm flipH="1">
            <a:off x="6934200" y="2357438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8" name="Line 62"/>
          <p:cNvSpPr>
            <a:spLocks noChangeShapeType="1"/>
          </p:cNvSpPr>
          <p:nvPr/>
        </p:nvSpPr>
        <p:spPr bwMode="auto">
          <a:xfrm>
            <a:off x="7467600" y="2357438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69" name="Line 63"/>
          <p:cNvSpPr>
            <a:spLocks noChangeShapeType="1"/>
          </p:cNvSpPr>
          <p:nvPr/>
        </p:nvSpPr>
        <p:spPr bwMode="auto">
          <a:xfrm flipH="1">
            <a:off x="5791200" y="1900238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70" name="Line 64"/>
          <p:cNvSpPr>
            <a:spLocks noChangeShapeType="1"/>
          </p:cNvSpPr>
          <p:nvPr/>
        </p:nvSpPr>
        <p:spPr bwMode="auto">
          <a:xfrm>
            <a:off x="6629400" y="1900238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71" name="AutoShape 65"/>
          <p:cNvSpPr>
            <a:spLocks noChangeArrowheads="1"/>
          </p:cNvSpPr>
          <p:nvPr/>
        </p:nvSpPr>
        <p:spPr bwMode="auto">
          <a:xfrm>
            <a:off x="685800" y="1900238"/>
            <a:ext cx="228600" cy="609600"/>
          </a:xfrm>
          <a:prstGeom prst="upArrow">
            <a:avLst>
              <a:gd name="adj1" fmla="val 50000"/>
              <a:gd name="adj2" fmla="val 66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72" name="Text Box 66"/>
          <p:cNvSpPr txBox="1">
            <a:spLocks noChangeArrowheads="1"/>
          </p:cNvSpPr>
          <p:nvPr/>
        </p:nvSpPr>
        <p:spPr bwMode="auto">
          <a:xfrm>
            <a:off x="2201863" y="16764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3373" name="Text Box 67"/>
          <p:cNvSpPr txBox="1">
            <a:spLocks noChangeArrowheads="1"/>
          </p:cNvSpPr>
          <p:nvPr/>
        </p:nvSpPr>
        <p:spPr bwMode="auto">
          <a:xfrm>
            <a:off x="1409700" y="21082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3374" name="Text Box 68"/>
          <p:cNvSpPr txBox="1">
            <a:spLocks noChangeArrowheads="1"/>
          </p:cNvSpPr>
          <p:nvPr/>
        </p:nvSpPr>
        <p:spPr bwMode="auto">
          <a:xfrm>
            <a:off x="3065463" y="21082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75" name="Text Box 69"/>
          <p:cNvSpPr txBox="1">
            <a:spLocks noChangeArrowheads="1"/>
          </p:cNvSpPr>
          <p:nvPr/>
        </p:nvSpPr>
        <p:spPr bwMode="auto">
          <a:xfrm>
            <a:off x="827088" y="24669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</p:txBody>
      </p:sp>
      <p:sp>
        <p:nvSpPr>
          <p:cNvPr id="13376" name="Text Box 70"/>
          <p:cNvSpPr txBox="1">
            <a:spLocks noChangeArrowheads="1"/>
          </p:cNvSpPr>
          <p:nvPr/>
        </p:nvSpPr>
        <p:spPr bwMode="auto">
          <a:xfrm>
            <a:off x="1770063" y="24669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3377" name="Text Box 71"/>
          <p:cNvSpPr txBox="1">
            <a:spLocks noChangeArrowheads="1"/>
          </p:cNvSpPr>
          <p:nvPr/>
        </p:nvSpPr>
        <p:spPr bwMode="auto">
          <a:xfrm>
            <a:off x="2705100" y="24669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78" name="Text Box 72"/>
          <p:cNvSpPr txBox="1">
            <a:spLocks noChangeArrowheads="1"/>
          </p:cNvSpPr>
          <p:nvPr/>
        </p:nvSpPr>
        <p:spPr bwMode="auto">
          <a:xfrm>
            <a:off x="3563938" y="249237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90</a:t>
            </a:r>
          </a:p>
        </p:txBody>
      </p:sp>
      <p:sp>
        <p:nvSpPr>
          <p:cNvPr id="13379" name="Text Box 73"/>
          <p:cNvSpPr txBox="1">
            <a:spLocks noChangeArrowheads="1"/>
          </p:cNvSpPr>
          <p:nvPr/>
        </p:nvSpPr>
        <p:spPr bwMode="auto">
          <a:xfrm>
            <a:off x="539750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3380" name="Text Box 74"/>
          <p:cNvSpPr txBox="1">
            <a:spLocks noChangeArrowheads="1"/>
          </p:cNvSpPr>
          <p:nvPr/>
        </p:nvSpPr>
        <p:spPr bwMode="auto">
          <a:xfrm>
            <a:off x="1042988" y="29718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</p:txBody>
      </p:sp>
      <p:sp>
        <p:nvSpPr>
          <p:cNvPr id="13381" name="Text Box 75"/>
          <p:cNvSpPr txBox="1">
            <a:spLocks noChangeArrowheads="1"/>
          </p:cNvSpPr>
          <p:nvPr/>
        </p:nvSpPr>
        <p:spPr bwMode="auto">
          <a:xfrm>
            <a:off x="1476375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20</a:t>
            </a:r>
          </a:p>
        </p:txBody>
      </p:sp>
      <p:sp>
        <p:nvSpPr>
          <p:cNvPr id="13382" name="Text Box 76"/>
          <p:cNvSpPr txBox="1">
            <a:spLocks noChangeArrowheads="1"/>
          </p:cNvSpPr>
          <p:nvPr/>
        </p:nvSpPr>
        <p:spPr bwMode="auto">
          <a:xfrm>
            <a:off x="1979613" y="29718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3383" name="Text Box 77"/>
          <p:cNvSpPr txBox="1">
            <a:spLocks noChangeArrowheads="1"/>
          </p:cNvSpPr>
          <p:nvPr/>
        </p:nvSpPr>
        <p:spPr bwMode="auto">
          <a:xfrm>
            <a:off x="2417763" y="29718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84" name="Text Box 78"/>
          <p:cNvSpPr txBox="1">
            <a:spLocks noChangeArrowheads="1"/>
          </p:cNvSpPr>
          <p:nvPr/>
        </p:nvSpPr>
        <p:spPr bwMode="auto">
          <a:xfrm>
            <a:off x="2843213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3385" name="Text Box 80"/>
          <p:cNvSpPr txBox="1">
            <a:spLocks noChangeArrowheads="1"/>
          </p:cNvSpPr>
          <p:nvPr/>
        </p:nvSpPr>
        <p:spPr bwMode="auto">
          <a:xfrm>
            <a:off x="1023938" y="3357563"/>
            <a:ext cx="4924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22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</a:p>
        </p:txBody>
      </p:sp>
      <p:sp>
        <p:nvSpPr>
          <p:cNvPr id="13386" name="Text Box 82"/>
          <p:cNvSpPr txBox="1">
            <a:spLocks noChangeArrowheads="1"/>
          </p:cNvSpPr>
          <p:nvPr/>
        </p:nvSpPr>
        <p:spPr bwMode="auto">
          <a:xfrm>
            <a:off x="6351588" y="164782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87" name="Text Box 83"/>
          <p:cNvSpPr txBox="1">
            <a:spLocks noChangeArrowheads="1"/>
          </p:cNvSpPr>
          <p:nvPr/>
        </p:nvSpPr>
        <p:spPr bwMode="auto">
          <a:xfrm>
            <a:off x="7164388" y="20351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88" name="Text Box 84"/>
          <p:cNvSpPr txBox="1">
            <a:spLocks noChangeArrowheads="1"/>
          </p:cNvSpPr>
          <p:nvPr/>
        </p:nvSpPr>
        <p:spPr bwMode="auto">
          <a:xfrm>
            <a:off x="6738938" y="24669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89" name="Text Box 85"/>
          <p:cNvSpPr txBox="1">
            <a:spLocks noChangeArrowheads="1"/>
          </p:cNvSpPr>
          <p:nvPr/>
        </p:nvSpPr>
        <p:spPr bwMode="auto">
          <a:xfrm>
            <a:off x="6594475" y="29718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13390" name="Text Box 86"/>
          <p:cNvSpPr txBox="1">
            <a:spLocks noChangeArrowheads="1"/>
          </p:cNvSpPr>
          <p:nvPr/>
        </p:nvSpPr>
        <p:spPr bwMode="auto">
          <a:xfrm>
            <a:off x="5513388" y="20351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</p:txBody>
      </p:sp>
      <p:sp>
        <p:nvSpPr>
          <p:cNvPr id="13391" name="Text Box 87"/>
          <p:cNvSpPr txBox="1">
            <a:spLocks noChangeArrowheads="1"/>
          </p:cNvSpPr>
          <p:nvPr/>
        </p:nvSpPr>
        <p:spPr bwMode="auto">
          <a:xfrm>
            <a:off x="5003800" y="246697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</p:txBody>
      </p:sp>
      <p:sp>
        <p:nvSpPr>
          <p:cNvPr id="13392" name="Text Box 88"/>
          <p:cNvSpPr txBox="1">
            <a:spLocks noChangeArrowheads="1"/>
          </p:cNvSpPr>
          <p:nvPr/>
        </p:nvSpPr>
        <p:spPr bwMode="auto">
          <a:xfrm>
            <a:off x="4643438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3393" name="Text Box 89"/>
          <p:cNvSpPr txBox="1">
            <a:spLocks noChangeArrowheads="1"/>
          </p:cNvSpPr>
          <p:nvPr/>
        </p:nvSpPr>
        <p:spPr bwMode="auto">
          <a:xfrm>
            <a:off x="5226050" y="29718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</a:p>
        </p:txBody>
      </p:sp>
      <p:sp>
        <p:nvSpPr>
          <p:cNvPr id="13394" name="Text Box 90"/>
          <p:cNvSpPr txBox="1">
            <a:spLocks noChangeArrowheads="1"/>
          </p:cNvSpPr>
          <p:nvPr/>
        </p:nvSpPr>
        <p:spPr bwMode="auto">
          <a:xfrm>
            <a:off x="5724525" y="249237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15</a:t>
            </a:r>
          </a:p>
        </p:txBody>
      </p:sp>
      <p:sp>
        <p:nvSpPr>
          <p:cNvPr id="13395" name="Text Box 91"/>
          <p:cNvSpPr txBox="1">
            <a:spLocks noChangeArrowheads="1"/>
          </p:cNvSpPr>
          <p:nvPr/>
        </p:nvSpPr>
        <p:spPr bwMode="auto">
          <a:xfrm>
            <a:off x="5580063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20</a:t>
            </a:r>
          </a:p>
        </p:txBody>
      </p:sp>
      <p:sp>
        <p:nvSpPr>
          <p:cNvPr id="13396" name="Text Box 92"/>
          <p:cNvSpPr txBox="1">
            <a:spLocks noChangeArrowheads="1"/>
          </p:cNvSpPr>
          <p:nvPr/>
        </p:nvSpPr>
        <p:spPr bwMode="auto">
          <a:xfrm>
            <a:off x="6011863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15</a:t>
            </a:r>
          </a:p>
        </p:txBody>
      </p:sp>
      <p:sp>
        <p:nvSpPr>
          <p:cNvPr id="13397" name="Text Box 93"/>
          <p:cNvSpPr txBox="1">
            <a:spLocks noChangeArrowheads="1"/>
          </p:cNvSpPr>
          <p:nvPr/>
        </p:nvSpPr>
        <p:spPr bwMode="auto">
          <a:xfrm>
            <a:off x="6948488" y="2971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3398" name="Text Box 94"/>
          <p:cNvSpPr txBox="1">
            <a:spLocks noChangeArrowheads="1"/>
          </p:cNvSpPr>
          <p:nvPr/>
        </p:nvSpPr>
        <p:spPr bwMode="auto">
          <a:xfrm>
            <a:off x="7577138" y="25400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94020D-1D5C-4DD6-8CB1-F1C2468B7D65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pic>
        <p:nvPicPr>
          <p:cNvPr id="1434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25538"/>
            <a:ext cx="77057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 Box 5"/>
          <p:cNvSpPr txBox="1">
            <a:spLocks noChangeArrowheads="1"/>
          </p:cNvSpPr>
          <p:nvPr/>
        </p:nvSpPr>
        <p:spPr bwMode="auto">
          <a:xfrm>
            <a:off x="698500" y="5775325"/>
            <a:ext cx="74174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败者树的特点：记录</a:t>
            </a:r>
            <a:r>
              <a:rPr kumimoji="1" lang="zh-CN" altLang="en-US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败者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编号</a:t>
            </a:r>
            <a:r>
              <a:rPr kumimoji="1" lang="zh-CN" altLang="en-US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胜者参加下一轮比赛  </a:t>
            </a:r>
          </a:p>
          <a:p>
            <a:pPr eaLnBrk="1" hangingPunct="1"/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败者树的优点：重构时修改结点较少。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8B1F1D-EDA4-4CE4-ADB9-4EDFA349A8EF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00150"/>
            <a:ext cx="8153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数据结构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依据：败者树为完全二叉树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主：</a:t>
            </a:r>
            <a:r>
              <a:rPr lang="en-US" altLang="zh-CN" sz="24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b[0.. k]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b[0.. k-1]——k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个叶结点       ，存放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个输入归并段中当前参加归并的记录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b[k]——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虚拟记录，该关键字取可能的最小值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minkey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辅：</a:t>
            </a:r>
            <a:r>
              <a:rPr lang="en-US" altLang="zh-CN" sz="24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ls[0.. k-1]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——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不含叶结点的败者树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存放最后胜出的</a:t>
            </a:r>
            <a:r>
              <a:rPr lang="zh-CN" altLang="en-US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编号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（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ls[0]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）以及所记录的</a:t>
            </a:r>
            <a:r>
              <a:rPr lang="zh-CN" altLang="en-US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败者编号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处理步骤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1)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建败者树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ls[0.. k-1]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2)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重复直至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路归并完毕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2.1)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b[ls[0]]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写至输出归并段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2.2)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补充记录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某归并段变空时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补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，调整败者树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4267200" y="2044700"/>
            <a:ext cx="304800" cy="304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63CEC39-F3CA-4223-9D5B-8AE8B80D293D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3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6389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                                    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                       5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2                                               0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1                        3                           6              90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                                                         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0</a:t>
            </a:r>
            <a:endParaRPr lang="en-US" altLang="zh-CN" sz="2400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10           9          20            6            8         12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          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1             2           3             4           5           6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调整败者树的方法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: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将新补充的结点与其双亲结点比较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败者留在该双亲结点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胜者继续向上直至树根的双亲</a:t>
            </a:r>
          </a:p>
        </p:txBody>
      </p:sp>
      <p:sp>
        <p:nvSpPr>
          <p:cNvPr id="16390" name="Rectangle 37"/>
          <p:cNvSpPr>
            <a:spLocks noChangeArrowheads="1"/>
          </p:cNvSpPr>
          <p:nvPr/>
        </p:nvSpPr>
        <p:spPr bwMode="auto">
          <a:xfrm>
            <a:off x="1447800" y="4005263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1" name="Rectangle 38"/>
          <p:cNvSpPr>
            <a:spLocks noChangeArrowheads="1"/>
          </p:cNvSpPr>
          <p:nvPr/>
        </p:nvSpPr>
        <p:spPr bwMode="auto">
          <a:xfrm>
            <a:off x="2555875" y="4076700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2" name="Rectangle 39"/>
          <p:cNvSpPr>
            <a:spLocks noChangeArrowheads="1"/>
          </p:cNvSpPr>
          <p:nvPr/>
        </p:nvSpPr>
        <p:spPr bwMode="auto">
          <a:xfrm>
            <a:off x="3492500" y="4076700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3" name="Rectangle 40"/>
          <p:cNvSpPr>
            <a:spLocks noChangeArrowheads="1"/>
          </p:cNvSpPr>
          <p:nvPr/>
        </p:nvSpPr>
        <p:spPr bwMode="auto">
          <a:xfrm>
            <a:off x="4724400" y="41243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4" name="Rectangle 41"/>
          <p:cNvSpPr>
            <a:spLocks noChangeArrowheads="1"/>
          </p:cNvSpPr>
          <p:nvPr/>
        </p:nvSpPr>
        <p:spPr bwMode="auto">
          <a:xfrm>
            <a:off x="5694363" y="4076700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5" name="Rectangle 42"/>
          <p:cNvSpPr>
            <a:spLocks noChangeArrowheads="1"/>
          </p:cNvSpPr>
          <p:nvPr/>
        </p:nvSpPr>
        <p:spPr bwMode="auto">
          <a:xfrm>
            <a:off x="6659563" y="4076700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6" name="Rectangle 43"/>
          <p:cNvSpPr>
            <a:spLocks noChangeArrowheads="1"/>
          </p:cNvSpPr>
          <p:nvPr/>
        </p:nvSpPr>
        <p:spPr bwMode="auto">
          <a:xfrm>
            <a:off x="7667625" y="3213100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7" name="Line 44"/>
          <p:cNvSpPr>
            <a:spLocks noChangeShapeType="1"/>
          </p:cNvSpPr>
          <p:nvPr/>
        </p:nvSpPr>
        <p:spPr bwMode="auto">
          <a:xfrm flipV="1">
            <a:off x="1752600" y="33909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8" name="Line 45"/>
          <p:cNvSpPr>
            <a:spLocks noChangeShapeType="1"/>
          </p:cNvSpPr>
          <p:nvPr/>
        </p:nvSpPr>
        <p:spPr bwMode="auto">
          <a:xfrm flipH="1" flipV="1">
            <a:off x="2484438" y="3500438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9" name="Line 46"/>
          <p:cNvSpPr>
            <a:spLocks noChangeShapeType="1"/>
          </p:cNvSpPr>
          <p:nvPr/>
        </p:nvSpPr>
        <p:spPr bwMode="auto">
          <a:xfrm flipV="1">
            <a:off x="3886200" y="3500438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0" name="Line 47"/>
          <p:cNvSpPr>
            <a:spLocks noChangeShapeType="1"/>
          </p:cNvSpPr>
          <p:nvPr/>
        </p:nvSpPr>
        <p:spPr bwMode="auto">
          <a:xfrm flipH="1" flipV="1">
            <a:off x="4427538" y="3500438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1" name="Line 48"/>
          <p:cNvSpPr>
            <a:spLocks noChangeShapeType="1"/>
          </p:cNvSpPr>
          <p:nvPr/>
        </p:nvSpPr>
        <p:spPr bwMode="auto">
          <a:xfrm flipV="1">
            <a:off x="6096000" y="3500438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2" name="Line 49"/>
          <p:cNvSpPr>
            <a:spLocks noChangeShapeType="1"/>
          </p:cNvSpPr>
          <p:nvPr/>
        </p:nvSpPr>
        <p:spPr bwMode="auto">
          <a:xfrm flipH="1" flipV="1">
            <a:off x="6659563" y="3500438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3" name="Line 50"/>
          <p:cNvSpPr>
            <a:spLocks noChangeShapeType="1"/>
          </p:cNvSpPr>
          <p:nvPr/>
        </p:nvSpPr>
        <p:spPr bwMode="auto">
          <a:xfrm flipV="1">
            <a:off x="2484438" y="2708275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4" name="Line 51"/>
          <p:cNvSpPr>
            <a:spLocks noChangeShapeType="1"/>
          </p:cNvSpPr>
          <p:nvPr/>
        </p:nvSpPr>
        <p:spPr bwMode="auto">
          <a:xfrm flipH="1" flipV="1">
            <a:off x="3598863" y="2674938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5" name="Line 52"/>
          <p:cNvSpPr>
            <a:spLocks noChangeShapeType="1"/>
          </p:cNvSpPr>
          <p:nvPr/>
        </p:nvSpPr>
        <p:spPr bwMode="auto">
          <a:xfrm flipV="1">
            <a:off x="6705600" y="270827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6" name="Line 53"/>
          <p:cNvSpPr>
            <a:spLocks noChangeShapeType="1"/>
          </p:cNvSpPr>
          <p:nvPr/>
        </p:nvSpPr>
        <p:spPr bwMode="auto">
          <a:xfrm flipH="1" flipV="1">
            <a:off x="7354888" y="2636838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7" name="Line 54"/>
          <p:cNvSpPr>
            <a:spLocks noChangeShapeType="1"/>
          </p:cNvSpPr>
          <p:nvPr/>
        </p:nvSpPr>
        <p:spPr bwMode="auto">
          <a:xfrm flipV="1">
            <a:off x="3581400" y="1752600"/>
            <a:ext cx="1524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8" name="Line 55"/>
          <p:cNvSpPr>
            <a:spLocks noChangeShapeType="1"/>
          </p:cNvSpPr>
          <p:nvPr/>
        </p:nvSpPr>
        <p:spPr bwMode="auto">
          <a:xfrm>
            <a:off x="5638800" y="16764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9" name="Line 56"/>
          <p:cNvSpPr>
            <a:spLocks noChangeShapeType="1"/>
          </p:cNvSpPr>
          <p:nvPr/>
        </p:nvSpPr>
        <p:spPr bwMode="auto">
          <a:xfrm flipV="1">
            <a:off x="5478463" y="10668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4681" name="Text Box 57"/>
          <p:cNvSpPr txBox="1">
            <a:spLocks noChangeArrowheads="1"/>
          </p:cNvSpPr>
          <p:nvPr/>
        </p:nvSpPr>
        <p:spPr bwMode="auto">
          <a:xfrm>
            <a:off x="914400" y="1027113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以在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b[4]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补充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15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为例</a:t>
            </a:r>
            <a:endParaRPr kumimoji="1" lang="zh-CN" altLang="en-US" sz="28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4682" name="Text Box 58"/>
          <p:cNvSpPr txBox="1">
            <a:spLocks noChangeArrowheads="1"/>
          </p:cNvSpPr>
          <p:nvPr/>
        </p:nvSpPr>
        <p:spPr bwMode="auto">
          <a:xfrm>
            <a:off x="4716463" y="4114800"/>
            <a:ext cx="6096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15</a:t>
            </a:r>
          </a:p>
        </p:txBody>
      </p:sp>
      <p:sp>
        <p:nvSpPr>
          <p:cNvPr id="154683" name="Text Box 59"/>
          <p:cNvSpPr txBox="1">
            <a:spLocks noChangeArrowheads="1"/>
          </p:cNvSpPr>
          <p:nvPr/>
        </p:nvSpPr>
        <p:spPr bwMode="auto">
          <a:xfrm>
            <a:off x="4548057" y="3156758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  <a:r>
              <a:rPr kumimoji="1"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</a:t>
            </a: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比较</a:t>
            </a:r>
            <a:endParaRPr kumimoji="1" lang="zh-CN" altLang="en-US" sz="2400" b="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4684" name="Text Box 60"/>
          <p:cNvSpPr txBox="1">
            <a:spLocks noChangeArrowheads="1"/>
          </p:cNvSpPr>
          <p:nvPr/>
        </p:nvSpPr>
        <p:spPr bwMode="auto">
          <a:xfrm>
            <a:off x="3748881" y="238125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  <a:r>
              <a:rPr kumimoji="1"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</a:t>
            </a: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比较</a:t>
            </a:r>
          </a:p>
        </p:txBody>
      </p:sp>
      <p:sp>
        <p:nvSpPr>
          <p:cNvPr id="154685" name="Text Box 61"/>
          <p:cNvSpPr txBox="1">
            <a:spLocks noChangeArrowheads="1"/>
          </p:cNvSpPr>
          <p:nvPr/>
        </p:nvSpPr>
        <p:spPr bwMode="auto">
          <a:xfrm>
            <a:off x="3352800" y="2362200"/>
            <a:ext cx="304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4686" name="Text Box 62"/>
          <p:cNvSpPr txBox="1">
            <a:spLocks noChangeArrowheads="1"/>
          </p:cNvSpPr>
          <p:nvPr/>
        </p:nvSpPr>
        <p:spPr bwMode="auto">
          <a:xfrm>
            <a:off x="5734079" y="1197394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</a:t>
            </a:r>
            <a:r>
              <a:rPr kumimoji="1"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  <a:r>
              <a:rPr kumimoji="1"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比较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4687" name="Text Box 63"/>
          <p:cNvSpPr txBox="1">
            <a:spLocks noChangeArrowheads="1"/>
          </p:cNvSpPr>
          <p:nvPr/>
        </p:nvSpPr>
        <p:spPr bwMode="auto">
          <a:xfrm>
            <a:off x="5181600" y="1371600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16417" name="Text Box 64"/>
          <p:cNvSpPr txBox="1">
            <a:spLocks noChangeArrowheads="1"/>
          </p:cNvSpPr>
          <p:nvPr/>
        </p:nvSpPr>
        <p:spPr bwMode="auto">
          <a:xfrm>
            <a:off x="2590800" y="1676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4689" name="Text Box 65"/>
          <p:cNvSpPr txBox="1">
            <a:spLocks noChangeArrowheads="1"/>
          </p:cNvSpPr>
          <p:nvPr/>
        </p:nvSpPr>
        <p:spPr bwMode="auto">
          <a:xfrm>
            <a:off x="6084888" y="838200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4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4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4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81" grpId="0" build="p" autoUpdateAnimBg="0"/>
      <p:bldP spid="154682" grpId="0" animBg="1" autoUpdateAnimBg="0"/>
      <p:bldP spid="154683" grpId="0" build="p" autoUpdateAnimBg="0"/>
      <p:bldP spid="154684" grpId="0" build="p" autoUpdateAnimBg="0"/>
      <p:bldP spid="154685" grpId="0" animBg="1" autoUpdateAnimBg="0"/>
      <p:bldP spid="154686" grpId="0" build="p" autoUpdateAnimBg="0"/>
      <p:bldP spid="154687" grpId="0" animBg="1" autoUpdateAnimBg="0"/>
      <p:bldP spid="15468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74514D-7F03-4CB3-BF14-2C589CE2C4DC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5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139826"/>
            <a:ext cx="8229600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774700" y="1044619"/>
            <a:ext cx="77724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               </a:t>
            </a:r>
            <a:r>
              <a:rPr lang="en-US" altLang="zh-CN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                 </a:t>
            </a:r>
            <a:r>
              <a:rPr lang="en-US" altLang="zh-CN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</a:t>
            </a:r>
            <a:r>
              <a:rPr lang="en-US" altLang="zh-CN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                                           </a:t>
            </a:r>
            <a:r>
              <a:rPr lang="en-US" altLang="zh-CN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              </a:t>
            </a:r>
            <a:r>
              <a:rPr lang="en-US" altLang="zh-CN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                       </a:t>
            </a:r>
            <a:r>
              <a:rPr lang="en-US" altLang="zh-CN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90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                                                    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400" dirty="0" smtClean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10       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9           20        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6       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8         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12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1            2            3          </a:t>
            </a:r>
            <a:r>
              <a:rPr lang="en-US" altLang="zh-CN" sz="2400" dirty="0" smtClean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        </a:t>
            </a:r>
            <a:r>
              <a:rPr lang="en-US" altLang="zh-CN" sz="2400" dirty="0" smtClean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          </a:t>
            </a:r>
            <a:r>
              <a:rPr lang="en-US" altLang="zh-CN" sz="2400" dirty="0" smtClean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b="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[k-</a:t>
            </a:r>
            <a:r>
              <a:rPr lang="zh-CN" altLang="en-US" sz="2400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路归并对内存的要求</a:t>
            </a:r>
            <a:r>
              <a:rPr lang="en-US" altLang="zh-CN" sz="2400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6" name="Text Box 5"/>
          <p:cNvSpPr txBox="1">
            <a:spLocks noChangeArrowheads="1"/>
          </p:cNvSpPr>
          <p:nvPr/>
        </p:nvSpPr>
        <p:spPr bwMode="auto">
          <a:xfrm>
            <a:off x="3189288" y="4365625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建败者树的过程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7" name="Text Box 6"/>
          <p:cNvSpPr txBox="1">
            <a:spLocks noChangeArrowheads="1"/>
          </p:cNvSpPr>
          <p:nvPr/>
        </p:nvSpPr>
        <p:spPr bwMode="auto">
          <a:xfrm>
            <a:off x="7918450" y="43402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8" name="Text Box 7"/>
          <p:cNvSpPr txBox="1">
            <a:spLocks noChangeArrowheads="1"/>
          </p:cNvSpPr>
          <p:nvPr/>
        </p:nvSpPr>
        <p:spPr bwMode="auto">
          <a:xfrm>
            <a:off x="7842250" y="3883025"/>
            <a:ext cx="762000" cy="4667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-1</a:t>
            </a:r>
          </a:p>
        </p:txBody>
      </p:sp>
      <p:sp>
        <p:nvSpPr>
          <p:cNvPr id="17419" name="Line 8"/>
          <p:cNvSpPr>
            <a:spLocks noChangeShapeType="1"/>
          </p:cNvSpPr>
          <p:nvPr/>
        </p:nvSpPr>
        <p:spPr bwMode="auto">
          <a:xfrm flipV="1">
            <a:off x="1517650" y="3044825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0" name="Line 9"/>
          <p:cNvSpPr>
            <a:spLocks noChangeShapeType="1"/>
          </p:cNvSpPr>
          <p:nvPr/>
        </p:nvSpPr>
        <p:spPr bwMode="auto">
          <a:xfrm>
            <a:off x="2432050" y="3145157"/>
            <a:ext cx="196850" cy="3074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1" name="Line 10"/>
          <p:cNvSpPr>
            <a:spLocks noChangeShapeType="1"/>
          </p:cNvSpPr>
          <p:nvPr/>
        </p:nvSpPr>
        <p:spPr bwMode="auto">
          <a:xfrm flipV="1">
            <a:off x="3727450" y="2968625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2" name="Line 11"/>
          <p:cNvSpPr>
            <a:spLocks noChangeShapeType="1"/>
          </p:cNvSpPr>
          <p:nvPr/>
        </p:nvSpPr>
        <p:spPr bwMode="auto">
          <a:xfrm>
            <a:off x="4489450" y="312102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3" name="Line 12"/>
          <p:cNvSpPr>
            <a:spLocks noChangeShapeType="1"/>
          </p:cNvSpPr>
          <p:nvPr/>
        </p:nvSpPr>
        <p:spPr bwMode="auto">
          <a:xfrm>
            <a:off x="6775450" y="3121025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4" name="Line 13"/>
          <p:cNvSpPr>
            <a:spLocks noChangeShapeType="1"/>
          </p:cNvSpPr>
          <p:nvPr/>
        </p:nvSpPr>
        <p:spPr bwMode="auto">
          <a:xfrm flipV="1">
            <a:off x="2432050" y="2282825"/>
            <a:ext cx="914400" cy="4676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5" name="Line 14"/>
          <p:cNvSpPr>
            <a:spLocks noChangeShapeType="1"/>
          </p:cNvSpPr>
          <p:nvPr/>
        </p:nvSpPr>
        <p:spPr bwMode="auto">
          <a:xfrm>
            <a:off x="3498850" y="2282824"/>
            <a:ext cx="71755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6" name="Line 15"/>
          <p:cNvSpPr>
            <a:spLocks noChangeShapeType="1"/>
          </p:cNvSpPr>
          <p:nvPr/>
        </p:nvSpPr>
        <p:spPr bwMode="auto">
          <a:xfrm flipV="1">
            <a:off x="6650182" y="2206624"/>
            <a:ext cx="582468" cy="545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7" name="Line 16"/>
          <p:cNvSpPr>
            <a:spLocks noChangeShapeType="1"/>
          </p:cNvSpPr>
          <p:nvPr/>
        </p:nvSpPr>
        <p:spPr bwMode="auto">
          <a:xfrm>
            <a:off x="7461250" y="2282825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8" name="Line 17"/>
          <p:cNvSpPr>
            <a:spLocks noChangeShapeType="1"/>
          </p:cNvSpPr>
          <p:nvPr/>
        </p:nvSpPr>
        <p:spPr bwMode="auto">
          <a:xfrm flipV="1">
            <a:off x="3575050" y="1444625"/>
            <a:ext cx="1447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9" name="Line 18"/>
          <p:cNvSpPr>
            <a:spLocks noChangeShapeType="1"/>
          </p:cNvSpPr>
          <p:nvPr/>
        </p:nvSpPr>
        <p:spPr bwMode="auto">
          <a:xfrm>
            <a:off x="5480050" y="1444625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0" name="Line 19"/>
          <p:cNvSpPr>
            <a:spLocks noChangeShapeType="1"/>
          </p:cNvSpPr>
          <p:nvPr/>
        </p:nvSpPr>
        <p:spPr bwMode="auto">
          <a:xfrm flipV="1">
            <a:off x="5403850" y="1063625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1" name="Text Box 20"/>
          <p:cNvSpPr txBox="1">
            <a:spLocks noChangeArrowheads="1"/>
          </p:cNvSpPr>
          <p:nvPr/>
        </p:nvSpPr>
        <p:spPr bwMode="auto">
          <a:xfrm>
            <a:off x="908050" y="987425"/>
            <a:ext cx="2362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初始化败者树</a:t>
            </a:r>
          </a:p>
        </p:txBody>
      </p:sp>
      <p:sp>
        <p:nvSpPr>
          <p:cNvPr id="156693" name="Text Box 21"/>
          <p:cNvSpPr txBox="1">
            <a:spLocks noChangeArrowheads="1"/>
          </p:cNvSpPr>
          <p:nvPr/>
        </p:nvSpPr>
        <p:spPr bwMode="auto">
          <a:xfrm>
            <a:off x="908050" y="1063625"/>
            <a:ext cx="25146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b[6]</a:t>
            </a:r>
          </a:p>
        </p:txBody>
      </p:sp>
      <p:sp>
        <p:nvSpPr>
          <p:cNvPr id="156694" name="Text Box 22"/>
          <p:cNvSpPr txBox="1">
            <a:spLocks noChangeArrowheads="1"/>
          </p:cNvSpPr>
          <p:nvPr/>
        </p:nvSpPr>
        <p:spPr bwMode="auto">
          <a:xfrm>
            <a:off x="6394450" y="27400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56695" name="Text Box 23"/>
          <p:cNvSpPr txBox="1">
            <a:spLocks noChangeArrowheads="1"/>
          </p:cNvSpPr>
          <p:nvPr/>
        </p:nvSpPr>
        <p:spPr bwMode="auto">
          <a:xfrm>
            <a:off x="831850" y="1063625"/>
            <a:ext cx="17526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b[5]</a:t>
            </a:r>
          </a:p>
        </p:txBody>
      </p:sp>
      <p:sp>
        <p:nvSpPr>
          <p:cNvPr id="156696" name="Text Box 24"/>
          <p:cNvSpPr txBox="1">
            <a:spLocks noChangeArrowheads="1"/>
          </p:cNvSpPr>
          <p:nvPr/>
        </p:nvSpPr>
        <p:spPr bwMode="auto">
          <a:xfrm>
            <a:off x="7004050" y="19018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156697" name="Text Box 25"/>
          <p:cNvSpPr txBox="1">
            <a:spLocks noChangeArrowheads="1"/>
          </p:cNvSpPr>
          <p:nvPr/>
        </p:nvSpPr>
        <p:spPr bwMode="auto">
          <a:xfrm>
            <a:off x="831850" y="1063625"/>
            <a:ext cx="16764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b[4]</a:t>
            </a:r>
          </a:p>
        </p:txBody>
      </p:sp>
      <p:sp>
        <p:nvSpPr>
          <p:cNvPr id="156698" name="Text Box 26"/>
          <p:cNvSpPr txBox="1">
            <a:spLocks noChangeArrowheads="1"/>
          </p:cNvSpPr>
          <p:nvPr/>
        </p:nvSpPr>
        <p:spPr bwMode="auto">
          <a:xfrm>
            <a:off x="4260850" y="28162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56699" name="Text Box 27"/>
          <p:cNvSpPr txBox="1">
            <a:spLocks noChangeArrowheads="1"/>
          </p:cNvSpPr>
          <p:nvPr/>
        </p:nvSpPr>
        <p:spPr bwMode="auto">
          <a:xfrm>
            <a:off x="831850" y="1063625"/>
            <a:ext cx="1524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b[3]</a:t>
            </a:r>
          </a:p>
        </p:txBody>
      </p:sp>
      <p:sp>
        <p:nvSpPr>
          <p:cNvPr id="156700" name="Text Box 28"/>
          <p:cNvSpPr txBox="1">
            <a:spLocks noChangeArrowheads="1"/>
          </p:cNvSpPr>
          <p:nvPr/>
        </p:nvSpPr>
        <p:spPr bwMode="auto">
          <a:xfrm>
            <a:off x="4140200" y="28162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156701" name="Text Box 29"/>
          <p:cNvSpPr txBox="1">
            <a:spLocks noChangeArrowheads="1"/>
          </p:cNvSpPr>
          <p:nvPr/>
        </p:nvSpPr>
        <p:spPr bwMode="auto">
          <a:xfrm>
            <a:off x="3270250" y="1978025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56702" name="Text Box 30"/>
          <p:cNvSpPr txBox="1">
            <a:spLocks noChangeArrowheads="1"/>
          </p:cNvSpPr>
          <p:nvPr/>
        </p:nvSpPr>
        <p:spPr bwMode="auto">
          <a:xfrm>
            <a:off x="831850" y="1063625"/>
            <a:ext cx="1600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b[2]</a:t>
            </a:r>
          </a:p>
        </p:txBody>
      </p:sp>
      <p:sp>
        <p:nvSpPr>
          <p:cNvPr id="156703" name="Text Box 31"/>
          <p:cNvSpPr txBox="1">
            <a:spLocks noChangeArrowheads="1"/>
          </p:cNvSpPr>
          <p:nvPr/>
        </p:nvSpPr>
        <p:spPr bwMode="auto">
          <a:xfrm>
            <a:off x="2127250" y="2740025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6704" name="Text Box 32"/>
          <p:cNvSpPr txBox="1">
            <a:spLocks noChangeArrowheads="1"/>
          </p:cNvSpPr>
          <p:nvPr/>
        </p:nvSpPr>
        <p:spPr bwMode="auto">
          <a:xfrm>
            <a:off x="831850" y="1063625"/>
            <a:ext cx="17526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b[1]</a:t>
            </a:r>
          </a:p>
        </p:txBody>
      </p:sp>
      <p:sp>
        <p:nvSpPr>
          <p:cNvPr id="156705" name="Text Box 33"/>
          <p:cNvSpPr txBox="1">
            <a:spLocks noChangeArrowheads="1"/>
          </p:cNvSpPr>
          <p:nvPr/>
        </p:nvSpPr>
        <p:spPr bwMode="auto">
          <a:xfrm>
            <a:off x="2203450" y="2740025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156706" name="Text Box 34"/>
          <p:cNvSpPr txBox="1">
            <a:spLocks noChangeArrowheads="1"/>
          </p:cNvSpPr>
          <p:nvPr/>
        </p:nvSpPr>
        <p:spPr bwMode="auto">
          <a:xfrm>
            <a:off x="3194050" y="19780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156707" name="Text Box 35"/>
          <p:cNvSpPr txBox="1">
            <a:spLocks noChangeArrowheads="1"/>
          </p:cNvSpPr>
          <p:nvPr/>
        </p:nvSpPr>
        <p:spPr bwMode="auto">
          <a:xfrm>
            <a:off x="4945063" y="1243608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56708" name="Text Box 36"/>
          <p:cNvSpPr txBox="1">
            <a:spLocks noChangeArrowheads="1"/>
          </p:cNvSpPr>
          <p:nvPr/>
        </p:nvSpPr>
        <p:spPr bwMode="auto">
          <a:xfrm>
            <a:off x="831850" y="1063625"/>
            <a:ext cx="1600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调整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b[0]</a:t>
            </a:r>
          </a:p>
        </p:txBody>
      </p:sp>
      <p:sp>
        <p:nvSpPr>
          <p:cNvPr id="156709" name="Text Box 37"/>
          <p:cNvSpPr txBox="1">
            <a:spLocks noChangeArrowheads="1"/>
          </p:cNvSpPr>
          <p:nvPr/>
        </p:nvSpPr>
        <p:spPr bwMode="auto">
          <a:xfrm>
            <a:off x="7004050" y="1966046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</a:p>
        </p:txBody>
      </p:sp>
      <p:sp>
        <p:nvSpPr>
          <p:cNvPr id="156710" name="Text Box 38"/>
          <p:cNvSpPr txBox="1">
            <a:spLocks noChangeArrowheads="1"/>
          </p:cNvSpPr>
          <p:nvPr/>
        </p:nvSpPr>
        <p:spPr bwMode="auto">
          <a:xfrm>
            <a:off x="5022850" y="1243013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156711" name="Text Box 39"/>
          <p:cNvSpPr txBox="1">
            <a:spLocks noChangeArrowheads="1"/>
          </p:cNvSpPr>
          <p:nvPr/>
        </p:nvSpPr>
        <p:spPr bwMode="auto">
          <a:xfrm>
            <a:off x="6011863" y="836613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7451" name="Rectangle 40"/>
          <p:cNvSpPr>
            <a:spLocks noChangeArrowheads="1"/>
          </p:cNvSpPr>
          <p:nvPr/>
        </p:nvSpPr>
        <p:spPr bwMode="auto">
          <a:xfrm>
            <a:off x="1289050" y="35782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2" name="Rectangle 41"/>
          <p:cNvSpPr>
            <a:spLocks noChangeArrowheads="1"/>
          </p:cNvSpPr>
          <p:nvPr/>
        </p:nvSpPr>
        <p:spPr bwMode="auto">
          <a:xfrm>
            <a:off x="2432050" y="35782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3" name="Rectangle 42"/>
          <p:cNvSpPr>
            <a:spLocks noChangeArrowheads="1"/>
          </p:cNvSpPr>
          <p:nvPr/>
        </p:nvSpPr>
        <p:spPr bwMode="auto">
          <a:xfrm>
            <a:off x="3498850" y="35782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4" name="Rectangle 43"/>
          <p:cNvSpPr>
            <a:spLocks noChangeArrowheads="1"/>
          </p:cNvSpPr>
          <p:nvPr/>
        </p:nvSpPr>
        <p:spPr bwMode="auto">
          <a:xfrm>
            <a:off x="4718050" y="35782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5" name="Rectangle 44"/>
          <p:cNvSpPr>
            <a:spLocks noChangeArrowheads="1"/>
          </p:cNvSpPr>
          <p:nvPr/>
        </p:nvSpPr>
        <p:spPr bwMode="auto">
          <a:xfrm>
            <a:off x="5708650" y="35782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6" name="Rectangle 45"/>
          <p:cNvSpPr>
            <a:spLocks noChangeArrowheads="1"/>
          </p:cNvSpPr>
          <p:nvPr/>
        </p:nvSpPr>
        <p:spPr bwMode="auto">
          <a:xfrm>
            <a:off x="6775450" y="35782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7" name="Rectangle 46"/>
          <p:cNvSpPr>
            <a:spLocks noChangeArrowheads="1"/>
          </p:cNvSpPr>
          <p:nvPr/>
        </p:nvSpPr>
        <p:spPr bwMode="auto">
          <a:xfrm>
            <a:off x="7689850" y="2740025"/>
            <a:ext cx="5334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8" name="Line 47"/>
          <p:cNvSpPr>
            <a:spLocks noChangeShapeType="1"/>
          </p:cNvSpPr>
          <p:nvPr/>
        </p:nvSpPr>
        <p:spPr bwMode="auto">
          <a:xfrm flipH="1">
            <a:off x="5861050" y="3121025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59" name="AutoShape 48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370888" y="6656388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675" y="5279391"/>
            <a:ext cx="7918450" cy="12464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至少要有</a:t>
            </a:r>
            <a:r>
              <a:rPr lang="en-US" altLang="zh-CN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输入缓冲区和一个输出缓冲区。一般而言，这只是最低要求，并不足以充分提高归并效率。例如：只有一个输出缓冲区，输出缓存正在写磁盘时，内部归并就必须停止工作；若设置两个输出缓冲区，则一个写盘时另一个可用于内部归并存放数据。再如：只有</a:t>
            </a:r>
            <a:r>
              <a:rPr lang="en-US" altLang="zh-CN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个输入缓冲区，则当一个输入缓冲区数据处理完成，需从磁盘读数据时，内部归并同样需要等待。因此，最好设</a:t>
            </a:r>
            <a:r>
              <a:rPr lang="en-US" altLang="zh-CN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2k</a:t>
            </a:r>
            <a:r>
              <a:rPr lang="zh-CN" altLang="en-US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个输入缓存，但</a:t>
            </a:r>
            <a:r>
              <a:rPr lang="en-US" altLang="zh-CN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2k</a:t>
            </a:r>
            <a:r>
              <a:rPr lang="zh-CN" altLang="en-US" sz="15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个输入缓存也不足以保证能输入输出并行处理。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6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6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6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6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6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6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6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6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6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6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6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6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6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6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6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6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93" grpId="0" animBg="1" autoUpdateAnimBg="0"/>
      <p:bldP spid="156694" grpId="0" animBg="1" autoUpdateAnimBg="0"/>
      <p:bldP spid="156695" grpId="0" animBg="1" autoUpdateAnimBg="0"/>
      <p:bldP spid="156696" grpId="0" animBg="1" autoUpdateAnimBg="0"/>
      <p:bldP spid="156697" grpId="0" animBg="1" autoUpdateAnimBg="0"/>
      <p:bldP spid="156698" grpId="0" animBg="1" autoUpdateAnimBg="0"/>
      <p:bldP spid="156699" grpId="0" animBg="1" autoUpdateAnimBg="0"/>
      <p:bldP spid="156700" grpId="0" animBg="1" autoUpdateAnimBg="0"/>
      <p:bldP spid="156701" grpId="0" animBg="1" autoUpdateAnimBg="0"/>
      <p:bldP spid="156702" grpId="0" animBg="1" autoUpdateAnimBg="0"/>
      <p:bldP spid="156703" grpId="0" animBg="1" autoUpdateAnimBg="0"/>
      <p:bldP spid="156704" grpId="0" animBg="1" autoUpdateAnimBg="0"/>
      <p:bldP spid="156705" grpId="0" animBg="1" autoUpdateAnimBg="0"/>
      <p:bldP spid="156706" grpId="0" animBg="1" autoUpdateAnimBg="0"/>
      <p:bldP spid="156707" grpId="0" animBg="1" autoUpdateAnimBg="0"/>
      <p:bldP spid="156708" grpId="0" animBg="1" autoUpdateAnimBg="0"/>
      <p:bldP spid="156709" grpId="0" animBg="1" autoUpdateAnimBg="0"/>
      <p:bldP spid="156710" grpId="0" animBg="1" autoUpdateAnimBg="0"/>
      <p:bldP spid="15671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60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示例</a:t>
            </a:r>
            <a:r>
              <a:rPr lang="en-US" altLang="zh-CN" sz="160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] 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假设两路归并用四个输入缓存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</a:rPr>
              <a:t>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</a:rPr>
              <a:t>=0,1,2,3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；两个输出缓存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[0],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[1]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；每个缓存能容纳</a:t>
            </a:r>
            <a:r>
              <a:rPr lang="en-US" altLang="zh-CN" sz="1600" dirty="0" smtClean="0">
                <a:ea typeface="华文楷体" panose="02010600040101010101" pitchFamily="2" charset="-122"/>
              </a:rPr>
              <a:t>2</a:t>
            </a:r>
            <a:r>
              <a:rPr lang="zh-CN" altLang="en-US" sz="1600" dirty="0" smtClean="0">
                <a:ea typeface="华文楷体" panose="02010600040101010101" pitchFamily="2" charset="-122"/>
              </a:rPr>
              <a:t>个记录。假设第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路数据是</a:t>
            </a:r>
            <a:r>
              <a:rPr lang="en-US" altLang="zh-CN" sz="1600" dirty="0" smtClean="0">
                <a:ea typeface="华文楷体" panose="02010600040101010101" pitchFamily="2" charset="-122"/>
              </a:rPr>
              <a:t>1,3,5,7,8,9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；第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1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路数据是</a:t>
            </a:r>
            <a:r>
              <a:rPr lang="en-US" altLang="zh-CN" sz="1600" dirty="0" smtClean="0">
                <a:ea typeface="华文楷体" panose="02010600040101010101" pitchFamily="2" charset="-122"/>
              </a:rPr>
              <a:t>2,4,5,15,20,25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；第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路数据用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in[0]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in[2]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1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路数据用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in[1]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in[3]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。（</a:t>
            </a:r>
            <a:r>
              <a:rPr lang="en-US" altLang="zh-CN" sz="1600" dirty="0" smtClean="0">
                <a:ea typeface="华文楷体" panose="02010600040101010101" pitchFamily="2" charset="-122"/>
              </a:rPr>
              <a:t>a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）归并开始时，分别从两路数组的前两个位置将数据读入缓存。（</a:t>
            </a:r>
            <a:r>
              <a:rPr lang="en-US" altLang="zh-CN" sz="1600" dirty="0" smtClean="0">
                <a:ea typeface="华文楷体" panose="02010600040101010101" pitchFamily="2" charset="-122"/>
              </a:rPr>
              <a:t>b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）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in[0]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in[1]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归并，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[0]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满，同时输入第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路数据到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in[2]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；（</a:t>
            </a:r>
            <a:r>
              <a:rPr lang="en-US" altLang="zh-CN" sz="1600" dirty="0" smtClean="0">
                <a:ea typeface="华文楷体" panose="02010600040101010101" pitchFamily="2" charset="-122"/>
              </a:rPr>
              <a:t>c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）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[0]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输出，第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1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路数据输出到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in[3]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，归并数据到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[1]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[1]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满；（</a:t>
            </a:r>
            <a:r>
              <a:rPr lang="en-US" altLang="zh-CN" sz="1600" dirty="0" smtClean="0">
                <a:ea typeface="华文楷体" panose="02010600040101010101" pitchFamily="2" charset="-122"/>
              </a:rPr>
              <a:t>d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）继续归并</a:t>
            </a:r>
            <a:r>
              <a:rPr lang="en-US" altLang="zh-CN" sz="1600" dirty="0" smtClean="0">
                <a:ea typeface="华文楷体" panose="02010600040101010101" pitchFamily="2" charset="-122"/>
              </a:rPr>
              <a:t>….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如（</a:t>
            </a:r>
            <a:r>
              <a:rPr lang="en-US" altLang="zh-CN" sz="1600" dirty="0" smtClean="0">
                <a:ea typeface="华文楷体" panose="02010600040101010101" pitchFamily="2" charset="-122"/>
              </a:rPr>
              <a:t>e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）所示。这时输入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[1]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路输入数据到</a:t>
            </a:r>
            <a:r>
              <a:rPr lang="en-US" altLang="zh-CN" sz="1600" dirty="0" smtClean="0">
                <a:ea typeface="华文楷体" panose="02010600040101010101" pitchFamily="2" charset="-122"/>
              </a:rPr>
              <a:t>in[2]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，并将归并结果存入到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[0]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，在归并中，第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路数据用完，但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ou</a:t>
            </a:r>
            <a:r>
              <a:rPr lang="en-US" altLang="zh-CN" sz="1600" dirty="0" smtClean="0">
                <a:ea typeface="华文楷体" panose="02010600040101010101" pitchFamily="2" charset="-122"/>
              </a:rPr>
              <a:t>[0]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还未放满，归并过程必须等待第</a:t>
            </a:r>
            <a:r>
              <a:rPr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路的输入结束后才能继续进行。因此，</a:t>
            </a:r>
            <a:r>
              <a:rPr lang="en-US" altLang="zh-CN" sz="16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k</a:t>
            </a:r>
            <a:r>
              <a:rPr lang="zh-CN" altLang="en-US" sz="16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路归并时，如果其中一路数据用完，必须保证优先为它输入数据。</a:t>
            </a:r>
            <a:endParaRPr lang="en-US" altLang="zh-CN" sz="1600" b="1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sz="16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DE579E-7CF2-409C-B801-0154705CE614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3328387"/>
            <a:ext cx="1133375" cy="27422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684" y="3337943"/>
            <a:ext cx="1088529" cy="2748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654" y="3346898"/>
            <a:ext cx="1084634" cy="28232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576" y="3346898"/>
            <a:ext cx="1129047" cy="28146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941" y="3364017"/>
            <a:ext cx="948160" cy="2157189"/>
          </a:xfrm>
          <a:prstGeom prst="rect">
            <a:avLst/>
          </a:prstGeom>
        </p:spPr>
      </p:pic>
      <p:grpSp>
        <p:nvGrpSpPr>
          <p:cNvPr id="13" name="Group 4"/>
          <p:cNvGrpSpPr>
            <a:grpSpLocks noChangeAspect="1"/>
          </p:cNvGrpSpPr>
          <p:nvPr/>
        </p:nvGrpSpPr>
        <p:grpSpPr bwMode="auto">
          <a:xfrm>
            <a:off x="6034186" y="3355109"/>
            <a:ext cx="1022350" cy="2619375"/>
            <a:chOff x="3818" y="1488"/>
            <a:chExt cx="644" cy="1650"/>
          </a:xfrm>
        </p:grpSpPr>
        <p:sp>
          <p:nvSpPr>
            <p:cNvPr id="14" name="AutoShape 3"/>
            <p:cNvSpPr>
              <a:spLocks noChangeAspect="1" noChangeArrowheads="1" noTextEdit="1"/>
            </p:cNvSpPr>
            <p:nvPr/>
          </p:nvSpPr>
          <p:spPr bwMode="auto">
            <a:xfrm>
              <a:off x="3818" y="1488"/>
              <a:ext cx="644" cy="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3833" y="1494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833" y="1494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833" y="1641"/>
              <a:ext cx="247" cy="1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833" y="1641"/>
              <a:ext cx="247" cy="146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3866" y="1781"/>
              <a:ext cx="13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ou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3958" y="1781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3981" y="1781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4027" y="1781"/>
              <a:ext cx="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4139" y="1500"/>
              <a:ext cx="247" cy="1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4139" y="1500"/>
              <a:ext cx="247" cy="146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4241" y="1524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4139" y="1646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4139" y="1646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Rectangle 18"/>
            <p:cNvSpPr>
              <a:spLocks noChangeArrowheads="1"/>
            </p:cNvSpPr>
            <p:nvPr/>
          </p:nvSpPr>
          <p:spPr bwMode="auto">
            <a:xfrm>
              <a:off x="4241" y="1672"/>
              <a:ext cx="8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4172" y="1785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ou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20"/>
            <p:cNvSpPr>
              <a:spLocks noChangeArrowheads="1"/>
            </p:cNvSpPr>
            <p:nvPr/>
          </p:nvSpPr>
          <p:spPr bwMode="auto">
            <a:xfrm>
              <a:off x="4264" y="1785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4287" y="1785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Rectangle 22"/>
            <p:cNvSpPr>
              <a:spLocks noChangeArrowheads="1"/>
            </p:cNvSpPr>
            <p:nvPr/>
          </p:nvSpPr>
          <p:spPr bwMode="auto">
            <a:xfrm>
              <a:off x="4333" y="1785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Rectangle 23"/>
            <p:cNvSpPr>
              <a:spLocks noChangeArrowheads="1"/>
            </p:cNvSpPr>
            <p:nvPr/>
          </p:nvSpPr>
          <p:spPr bwMode="auto">
            <a:xfrm>
              <a:off x="3845" y="1875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Rectangle 24"/>
            <p:cNvSpPr>
              <a:spLocks noChangeArrowheads="1"/>
            </p:cNvSpPr>
            <p:nvPr/>
          </p:nvSpPr>
          <p:spPr bwMode="auto">
            <a:xfrm>
              <a:off x="3845" y="1875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3845" y="2022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Rectangle 26"/>
            <p:cNvSpPr>
              <a:spLocks noChangeArrowheads="1"/>
            </p:cNvSpPr>
            <p:nvPr/>
          </p:nvSpPr>
          <p:spPr bwMode="auto">
            <a:xfrm>
              <a:off x="3845" y="2022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Rectangle 27"/>
            <p:cNvSpPr>
              <a:spLocks noChangeArrowheads="1"/>
            </p:cNvSpPr>
            <p:nvPr/>
          </p:nvSpPr>
          <p:spPr bwMode="auto">
            <a:xfrm>
              <a:off x="3947" y="2046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Rectangle 28"/>
            <p:cNvSpPr>
              <a:spLocks noChangeArrowheads="1"/>
            </p:cNvSpPr>
            <p:nvPr/>
          </p:nvSpPr>
          <p:spPr bwMode="auto">
            <a:xfrm>
              <a:off x="3889" y="2162"/>
              <a:ext cx="10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In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3958" y="2162"/>
              <a:ext cx="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3981" y="2162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4027" y="2162"/>
              <a:ext cx="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4151" y="1881"/>
              <a:ext cx="247" cy="1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33"/>
            <p:cNvSpPr>
              <a:spLocks noChangeArrowheads="1"/>
            </p:cNvSpPr>
            <p:nvPr/>
          </p:nvSpPr>
          <p:spPr bwMode="auto">
            <a:xfrm>
              <a:off x="4151" y="1881"/>
              <a:ext cx="247" cy="146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4229" y="1905"/>
              <a:ext cx="13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4151" y="2027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Rectangle 36"/>
            <p:cNvSpPr>
              <a:spLocks noChangeArrowheads="1"/>
            </p:cNvSpPr>
            <p:nvPr/>
          </p:nvSpPr>
          <p:spPr bwMode="auto">
            <a:xfrm>
              <a:off x="4151" y="2027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Rectangle 37"/>
            <p:cNvSpPr>
              <a:spLocks noChangeArrowheads="1"/>
            </p:cNvSpPr>
            <p:nvPr/>
          </p:nvSpPr>
          <p:spPr bwMode="auto">
            <a:xfrm>
              <a:off x="4229" y="2053"/>
              <a:ext cx="13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25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Rectangle 38"/>
            <p:cNvSpPr>
              <a:spLocks noChangeArrowheads="1"/>
            </p:cNvSpPr>
            <p:nvPr/>
          </p:nvSpPr>
          <p:spPr bwMode="auto">
            <a:xfrm>
              <a:off x="4195" y="2166"/>
              <a:ext cx="10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In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Rectangle 39"/>
            <p:cNvSpPr>
              <a:spLocks noChangeArrowheads="1"/>
            </p:cNvSpPr>
            <p:nvPr/>
          </p:nvSpPr>
          <p:spPr bwMode="auto">
            <a:xfrm>
              <a:off x="4264" y="2166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Rectangle 40"/>
            <p:cNvSpPr>
              <a:spLocks noChangeArrowheads="1"/>
            </p:cNvSpPr>
            <p:nvPr/>
          </p:nvSpPr>
          <p:spPr bwMode="auto">
            <a:xfrm>
              <a:off x="4287" y="2166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Rectangle 41"/>
            <p:cNvSpPr>
              <a:spLocks noChangeArrowheads="1"/>
            </p:cNvSpPr>
            <p:nvPr/>
          </p:nvSpPr>
          <p:spPr bwMode="auto">
            <a:xfrm>
              <a:off x="4333" y="2166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Rectangle 42"/>
            <p:cNvSpPr>
              <a:spLocks noChangeArrowheads="1"/>
            </p:cNvSpPr>
            <p:nvPr/>
          </p:nvSpPr>
          <p:spPr bwMode="auto">
            <a:xfrm>
              <a:off x="3845" y="2286"/>
              <a:ext cx="247" cy="1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Rectangle 43"/>
            <p:cNvSpPr>
              <a:spLocks noChangeArrowheads="1"/>
            </p:cNvSpPr>
            <p:nvPr/>
          </p:nvSpPr>
          <p:spPr bwMode="auto">
            <a:xfrm>
              <a:off x="3845" y="2286"/>
              <a:ext cx="247" cy="146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Rectangle 44"/>
            <p:cNvSpPr>
              <a:spLocks noChangeArrowheads="1"/>
            </p:cNvSpPr>
            <p:nvPr/>
          </p:nvSpPr>
          <p:spPr bwMode="auto">
            <a:xfrm>
              <a:off x="3845" y="2432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Rectangle 45"/>
            <p:cNvSpPr>
              <a:spLocks noChangeArrowheads="1"/>
            </p:cNvSpPr>
            <p:nvPr/>
          </p:nvSpPr>
          <p:spPr bwMode="auto">
            <a:xfrm>
              <a:off x="3845" y="2432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3889" y="2571"/>
              <a:ext cx="10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In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Rectangle 47"/>
            <p:cNvSpPr>
              <a:spLocks noChangeArrowheads="1"/>
            </p:cNvSpPr>
            <p:nvPr/>
          </p:nvSpPr>
          <p:spPr bwMode="auto">
            <a:xfrm>
              <a:off x="3958" y="2571"/>
              <a:ext cx="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Rectangle 48"/>
            <p:cNvSpPr>
              <a:spLocks noChangeArrowheads="1"/>
            </p:cNvSpPr>
            <p:nvPr/>
          </p:nvSpPr>
          <p:spPr bwMode="auto">
            <a:xfrm>
              <a:off x="3981" y="2571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Rectangle 49"/>
            <p:cNvSpPr>
              <a:spLocks noChangeArrowheads="1"/>
            </p:cNvSpPr>
            <p:nvPr/>
          </p:nvSpPr>
          <p:spPr bwMode="auto">
            <a:xfrm>
              <a:off x="4027" y="2571"/>
              <a:ext cx="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Rectangle 50"/>
            <p:cNvSpPr>
              <a:spLocks noChangeArrowheads="1"/>
            </p:cNvSpPr>
            <p:nvPr/>
          </p:nvSpPr>
          <p:spPr bwMode="auto">
            <a:xfrm>
              <a:off x="4151" y="2291"/>
              <a:ext cx="247" cy="1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Rectangle 51"/>
            <p:cNvSpPr>
              <a:spLocks noChangeArrowheads="1"/>
            </p:cNvSpPr>
            <p:nvPr/>
          </p:nvSpPr>
          <p:spPr bwMode="auto">
            <a:xfrm>
              <a:off x="4151" y="2291"/>
              <a:ext cx="247" cy="146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52"/>
            <p:cNvSpPr>
              <a:spLocks noChangeArrowheads="1"/>
            </p:cNvSpPr>
            <p:nvPr/>
          </p:nvSpPr>
          <p:spPr bwMode="auto">
            <a:xfrm>
              <a:off x="4151" y="2437"/>
              <a:ext cx="24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Rectangle 53"/>
            <p:cNvSpPr>
              <a:spLocks noChangeArrowheads="1"/>
            </p:cNvSpPr>
            <p:nvPr/>
          </p:nvSpPr>
          <p:spPr bwMode="auto">
            <a:xfrm>
              <a:off x="4151" y="2437"/>
              <a:ext cx="247" cy="147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Rectangle 54"/>
            <p:cNvSpPr>
              <a:spLocks noChangeArrowheads="1"/>
            </p:cNvSpPr>
            <p:nvPr/>
          </p:nvSpPr>
          <p:spPr bwMode="auto">
            <a:xfrm>
              <a:off x="4229" y="2463"/>
              <a:ext cx="13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15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55"/>
            <p:cNvSpPr>
              <a:spLocks noChangeArrowheads="1"/>
            </p:cNvSpPr>
            <p:nvPr/>
          </p:nvSpPr>
          <p:spPr bwMode="auto">
            <a:xfrm>
              <a:off x="4195" y="2578"/>
              <a:ext cx="10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In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Rectangle 56"/>
            <p:cNvSpPr>
              <a:spLocks noChangeArrowheads="1"/>
            </p:cNvSpPr>
            <p:nvPr/>
          </p:nvSpPr>
          <p:spPr bwMode="auto">
            <a:xfrm>
              <a:off x="4264" y="2578"/>
              <a:ext cx="62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Rectangle 57"/>
            <p:cNvSpPr>
              <a:spLocks noChangeArrowheads="1"/>
            </p:cNvSpPr>
            <p:nvPr/>
          </p:nvSpPr>
          <p:spPr bwMode="auto">
            <a:xfrm>
              <a:off x="4287" y="2578"/>
              <a:ext cx="8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4333" y="2578"/>
              <a:ext cx="62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Rectangle 59"/>
            <p:cNvSpPr>
              <a:spLocks noChangeArrowheads="1"/>
            </p:cNvSpPr>
            <p:nvPr/>
          </p:nvSpPr>
          <p:spPr bwMode="auto">
            <a:xfrm>
              <a:off x="3892" y="2689"/>
              <a:ext cx="13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ou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Rectangle 60"/>
            <p:cNvSpPr>
              <a:spLocks noChangeArrowheads="1"/>
            </p:cNvSpPr>
            <p:nvPr/>
          </p:nvSpPr>
          <p:spPr bwMode="auto">
            <a:xfrm>
              <a:off x="3984" y="2689"/>
              <a:ext cx="6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Rectangle 61"/>
            <p:cNvSpPr>
              <a:spLocks noChangeArrowheads="1"/>
            </p:cNvSpPr>
            <p:nvPr/>
          </p:nvSpPr>
          <p:spPr bwMode="auto">
            <a:xfrm>
              <a:off x="4007" y="2689"/>
              <a:ext cx="8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Rectangle 62"/>
            <p:cNvSpPr>
              <a:spLocks noChangeArrowheads="1"/>
            </p:cNvSpPr>
            <p:nvPr/>
          </p:nvSpPr>
          <p:spPr bwMode="auto">
            <a:xfrm>
              <a:off x="4053" y="2689"/>
              <a:ext cx="6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Rectangle 63"/>
            <p:cNvSpPr>
              <a:spLocks noChangeArrowheads="1"/>
            </p:cNvSpPr>
            <p:nvPr/>
          </p:nvSpPr>
          <p:spPr bwMode="auto">
            <a:xfrm>
              <a:off x="4077" y="2692"/>
              <a:ext cx="127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输出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Rectangle 64"/>
            <p:cNvSpPr>
              <a:spLocks noChangeArrowheads="1"/>
            </p:cNvSpPr>
            <p:nvPr/>
          </p:nvSpPr>
          <p:spPr bwMode="auto">
            <a:xfrm>
              <a:off x="4242" y="2692"/>
              <a:ext cx="8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Rectangle 65"/>
            <p:cNvSpPr>
              <a:spLocks noChangeArrowheads="1"/>
            </p:cNvSpPr>
            <p:nvPr/>
          </p:nvSpPr>
          <p:spPr bwMode="auto">
            <a:xfrm>
              <a:off x="4325" y="2692"/>
              <a:ext cx="8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归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Rectangle 66"/>
            <p:cNvSpPr>
              <a:spLocks noChangeArrowheads="1"/>
            </p:cNvSpPr>
            <p:nvPr/>
          </p:nvSpPr>
          <p:spPr bwMode="auto">
            <a:xfrm>
              <a:off x="3880" y="2799"/>
              <a:ext cx="12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并到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7"/>
            <p:cNvSpPr>
              <a:spLocks noChangeArrowheads="1"/>
            </p:cNvSpPr>
            <p:nvPr/>
          </p:nvSpPr>
          <p:spPr bwMode="auto">
            <a:xfrm>
              <a:off x="4046" y="2795"/>
              <a:ext cx="13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ou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Rectangle 68"/>
            <p:cNvSpPr>
              <a:spLocks noChangeArrowheads="1"/>
            </p:cNvSpPr>
            <p:nvPr/>
          </p:nvSpPr>
          <p:spPr bwMode="auto">
            <a:xfrm>
              <a:off x="4139" y="2795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Rectangle 69"/>
            <p:cNvSpPr>
              <a:spLocks noChangeArrowheads="1"/>
            </p:cNvSpPr>
            <p:nvPr/>
          </p:nvSpPr>
          <p:spPr bwMode="auto">
            <a:xfrm>
              <a:off x="4162" y="2795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4208" y="2795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4231" y="2795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Rectangle 72"/>
            <p:cNvSpPr>
              <a:spLocks noChangeArrowheads="1"/>
            </p:cNvSpPr>
            <p:nvPr/>
          </p:nvSpPr>
          <p:spPr bwMode="auto">
            <a:xfrm>
              <a:off x="4254" y="2799"/>
              <a:ext cx="12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输入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Rectangle 73"/>
            <p:cNvSpPr>
              <a:spLocks noChangeArrowheads="1"/>
            </p:cNvSpPr>
            <p:nvPr/>
          </p:nvSpPr>
          <p:spPr bwMode="auto">
            <a:xfrm>
              <a:off x="4030" y="2907"/>
              <a:ext cx="87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到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Rectangle 74"/>
            <p:cNvSpPr>
              <a:spLocks noChangeArrowheads="1"/>
            </p:cNvSpPr>
            <p:nvPr/>
          </p:nvSpPr>
          <p:spPr bwMode="auto">
            <a:xfrm>
              <a:off x="4113" y="2904"/>
              <a:ext cx="10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in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75"/>
            <p:cNvSpPr>
              <a:spLocks noChangeArrowheads="1"/>
            </p:cNvSpPr>
            <p:nvPr/>
          </p:nvSpPr>
          <p:spPr bwMode="auto">
            <a:xfrm>
              <a:off x="4178" y="2904"/>
              <a:ext cx="62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[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Rectangle 76"/>
            <p:cNvSpPr>
              <a:spLocks noChangeArrowheads="1"/>
            </p:cNvSpPr>
            <p:nvPr/>
          </p:nvSpPr>
          <p:spPr bwMode="auto">
            <a:xfrm>
              <a:off x="4201" y="2904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000" b="0" dirty="0">
                  <a:solidFill>
                    <a:srgbClr val="000000"/>
                  </a:solidFill>
                </a:rPr>
                <a:t>2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77"/>
            <p:cNvSpPr>
              <a:spLocks noChangeArrowheads="1"/>
            </p:cNvSpPr>
            <p:nvPr/>
          </p:nvSpPr>
          <p:spPr bwMode="auto">
            <a:xfrm>
              <a:off x="4247" y="2904"/>
              <a:ext cx="62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Rectangle 78"/>
            <p:cNvSpPr>
              <a:spLocks noChangeArrowheads="1"/>
            </p:cNvSpPr>
            <p:nvPr/>
          </p:nvSpPr>
          <p:spPr bwMode="auto">
            <a:xfrm>
              <a:off x="4100" y="3005"/>
              <a:ext cx="6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(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79"/>
            <p:cNvSpPr>
              <a:spLocks noChangeArrowheads="1"/>
            </p:cNvSpPr>
            <p:nvPr/>
          </p:nvSpPr>
          <p:spPr bwMode="auto">
            <a:xfrm>
              <a:off x="4127" y="3005"/>
              <a:ext cx="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Rectangle 80"/>
            <p:cNvSpPr>
              <a:spLocks noChangeArrowheads="1"/>
            </p:cNvSpPr>
            <p:nvPr/>
          </p:nvSpPr>
          <p:spPr bwMode="auto">
            <a:xfrm>
              <a:off x="4173" y="3005"/>
              <a:ext cx="6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)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71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55FCEC-F83E-49A5-A4D1-D3B636E7F4FA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0" y="1055688"/>
            <a:ext cx="8915400" cy="143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850900" indent="571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50000"/>
              </a:spcBef>
            </a:pPr>
            <a:r>
              <a:rPr kumimoji="1"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败者树的程序实现</a:t>
            </a:r>
          </a:p>
          <a:p>
            <a:pPr lvl="1">
              <a:spcBef>
                <a:spcPct val="50000"/>
              </a:spcBef>
            </a:pPr>
            <a:r>
              <a:rPr kumimoji="1"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typedef</a:t>
            </a:r>
            <a:r>
              <a:rPr kumimoji="1"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1" lang="en-US" altLang="zh-CN" sz="16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LoserTree</a:t>
            </a:r>
            <a:r>
              <a:rPr kumimoji="1" lang="en-US" altLang="zh-CN" sz="16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[ k ];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sz="16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typedef</a:t>
            </a:r>
            <a:r>
              <a:rPr kumimoji="1"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kumimoji="1"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6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{ </a:t>
            </a:r>
            <a:r>
              <a:rPr kumimoji="1" lang="en-US" altLang="zh-CN" sz="16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KeyType</a:t>
            </a:r>
            <a:r>
              <a:rPr kumimoji="1" lang="en-US" altLang="zh-CN" sz="16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key; 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sz="16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		          } </a:t>
            </a:r>
            <a:r>
              <a:rPr kumimoji="1" lang="en-US" altLang="zh-CN" sz="16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Exnode</a:t>
            </a:r>
            <a:r>
              <a:rPr kumimoji="1" lang="en-US" altLang="zh-CN" sz="16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, External[ k+1 ];</a:t>
            </a:r>
            <a:endParaRPr kumimoji="1" lang="en-US" altLang="zh-CN" sz="1600" dirty="0">
              <a:solidFill>
                <a:schemeClr val="fol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39" name="Text Box 5"/>
          <p:cNvSpPr txBox="1">
            <a:spLocks noChangeArrowheads="1"/>
          </p:cNvSpPr>
          <p:nvPr/>
        </p:nvSpPr>
        <p:spPr bwMode="auto">
          <a:xfrm>
            <a:off x="755650" y="2774950"/>
            <a:ext cx="7620000" cy="360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Void 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K_Merge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( 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LoserTree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&amp;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ls</a:t>
            </a:r>
            <a:r>
              <a:rPr kumimoji="1"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External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&amp;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{  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 0; 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&lt; k ; ++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 input(b[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].key); 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CreateLoserTree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(ls);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while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( b[ls[0]].key != MAXKEY )  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{ q =ls[0]; output(q); input(b[q].key); Adjust( ls, q ); }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output( ls[0]);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}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}  // </a:t>
            </a:r>
            <a:r>
              <a:rPr kumimoji="1" lang="en-US" altLang="zh-CN" sz="20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K_Merge</a:t>
            </a:r>
            <a:endParaRPr kumimoji="1" lang="en-US" altLang="zh-CN" sz="20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90F3C2-5351-4E2A-922B-FB8E1850528E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471488" y="115888"/>
            <a:ext cx="7772400" cy="685800"/>
          </a:xfrm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置换</a:t>
            </a:r>
            <a:r>
              <a:rPr lang="en-US" altLang="zh-CN" sz="2800" dirty="0" smtClean="0">
                <a:ea typeface="华文楷体" panose="02010600040101010101" pitchFamily="2" charset="-122"/>
              </a:rPr>
              <a:t>-</a:t>
            </a:r>
            <a:r>
              <a:rPr lang="zh-CN" altLang="en-US" sz="2800" dirty="0" smtClean="0">
                <a:ea typeface="华文楷体" panose="02010600040101010101" pitchFamily="2" charset="-122"/>
              </a:rPr>
              <a:t>选择排序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目标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扩大初始归并段长度，突破内存工作区容量（设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个记录）的限制。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置换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-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选择排序原理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内存                           外存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                    原始文件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内存工作区     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WA       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初始归并段文件</a:t>
            </a:r>
            <a:endParaRPr lang="zh-CN" altLang="en-US" sz="28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(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)  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solidFill>
                  <a:schemeClr val="accent2"/>
                </a:solidFill>
                <a:ea typeface="楷体_GB2312" charset="-122"/>
              </a:rPr>
              <a:t>为简化问题，设每个物理块存放一个记录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1600200" y="3505200"/>
            <a:ext cx="2057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4" name="Rectangle 5"/>
          <p:cNvSpPr>
            <a:spLocks noChangeArrowheads="1"/>
          </p:cNvSpPr>
          <p:nvPr/>
        </p:nvSpPr>
        <p:spPr bwMode="auto">
          <a:xfrm>
            <a:off x="4038600" y="3505200"/>
            <a:ext cx="2438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5" name="Line 6"/>
          <p:cNvSpPr>
            <a:spLocks noChangeShapeType="1"/>
          </p:cNvSpPr>
          <p:nvPr/>
        </p:nvSpPr>
        <p:spPr bwMode="auto">
          <a:xfrm>
            <a:off x="4038600" y="43434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6" name="AutoShape 7"/>
          <p:cNvSpPr>
            <a:spLocks noChangeArrowheads="1"/>
          </p:cNvSpPr>
          <p:nvPr/>
        </p:nvSpPr>
        <p:spPr bwMode="auto">
          <a:xfrm>
            <a:off x="3581400" y="3810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7" name="AutoShape 8"/>
          <p:cNvSpPr>
            <a:spLocks noChangeArrowheads="1"/>
          </p:cNvSpPr>
          <p:nvPr/>
        </p:nvSpPr>
        <p:spPr bwMode="auto">
          <a:xfrm>
            <a:off x="3581400" y="472440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F79EE9-2BA1-4EE9-A4FA-49602782FA69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19188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1)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输入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个记录到工作区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2)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FO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中标记一个归并段开始；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3)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中选出最小关键字记录，记为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minimax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记录；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4)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minimax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记录输出到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FO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5)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若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不空，则从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输入下一个记录到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6)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中的关键字比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minimax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大的记录中选出关键字最小的记录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6.1)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若不能选到，在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FO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中标记一个归并段结束；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若由于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为空而未选出，则结束处理；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否则，标记下一个归并段开始，转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6.2)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否则，将选出的记录作为新的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minimax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记录，转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06714D-988F-4F2F-A57B-2AC71E0FC35F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2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150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7950" y="952500"/>
            <a:ext cx="8351838" cy="5257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FO                         WA(4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                  FI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空                                 空                       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36,21,33,87,23,7,62,16,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                                                      54,43,29,…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空                          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36,21,33,87               23,7,62,16,54, 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                                      36,23,33,87               7,62,16,54, 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21,23                                 36,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,33,87                 62,16,54,43,29,…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21,23,33                            36,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,62,87                 16,54,43,29,…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21,23,33,36                    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16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,62,87                 54,43,29,…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21,23,33,36,62              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16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54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,87                  43,29,…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21,23,33,36,62,87         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16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54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43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           29,…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21,23,33,36,62,87||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7        16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29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54</a:t>
            </a:r>
            <a:r>
              <a:rPr lang="en-US" altLang="zh-CN" sz="2000" dirty="0" smtClean="0">
                <a:ea typeface="华文楷体" panose="02010600040101010101" pitchFamily="2" charset="-122"/>
              </a:rPr>
              <a:t>,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43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          …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…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 flipH="1">
            <a:off x="4038600" y="3068638"/>
            <a:ext cx="1143000" cy="360362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1" name="Line 6"/>
          <p:cNvSpPr>
            <a:spLocks noChangeShapeType="1"/>
          </p:cNvSpPr>
          <p:nvPr/>
        </p:nvSpPr>
        <p:spPr bwMode="auto">
          <a:xfrm flipV="1">
            <a:off x="95250" y="1404840"/>
            <a:ext cx="8797230" cy="79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2" name="Line 7"/>
          <p:cNvSpPr>
            <a:spLocks noChangeShapeType="1"/>
          </p:cNvSpPr>
          <p:nvPr/>
        </p:nvSpPr>
        <p:spPr bwMode="auto">
          <a:xfrm>
            <a:off x="2627784" y="1052736"/>
            <a:ext cx="0" cy="525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3" name="Line 8"/>
          <p:cNvSpPr>
            <a:spLocks noChangeShapeType="1"/>
          </p:cNvSpPr>
          <p:nvPr/>
        </p:nvSpPr>
        <p:spPr bwMode="auto">
          <a:xfrm>
            <a:off x="4860032" y="1066800"/>
            <a:ext cx="0" cy="525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4" name="Line 9"/>
          <p:cNvSpPr>
            <a:spLocks noChangeShapeType="1"/>
          </p:cNvSpPr>
          <p:nvPr/>
        </p:nvSpPr>
        <p:spPr bwMode="auto">
          <a:xfrm flipH="1">
            <a:off x="4212135" y="2636838"/>
            <a:ext cx="1082606" cy="393764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5" name="Line 10"/>
          <p:cNvSpPr>
            <a:spLocks noChangeShapeType="1"/>
          </p:cNvSpPr>
          <p:nvPr/>
        </p:nvSpPr>
        <p:spPr bwMode="auto">
          <a:xfrm flipH="1">
            <a:off x="684213" y="2636838"/>
            <a:ext cx="28194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6" name="Line 11"/>
          <p:cNvSpPr>
            <a:spLocks noChangeShapeType="1"/>
          </p:cNvSpPr>
          <p:nvPr/>
        </p:nvSpPr>
        <p:spPr bwMode="auto">
          <a:xfrm flipH="1">
            <a:off x="4085577" y="3573463"/>
            <a:ext cx="1096023" cy="294004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7" name="Line 12"/>
          <p:cNvSpPr>
            <a:spLocks noChangeShapeType="1"/>
          </p:cNvSpPr>
          <p:nvPr/>
        </p:nvSpPr>
        <p:spPr bwMode="auto">
          <a:xfrm flipH="1">
            <a:off x="4038600" y="4041774"/>
            <a:ext cx="1256141" cy="314326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8" name="Line 13"/>
          <p:cNvSpPr>
            <a:spLocks noChangeShapeType="1"/>
          </p:cNvSpPr>
          <p:nvPr/>
        </p:nvSpPr>
        <p:spPr bwMode="auto">
          <a:xfrm flipH="1">
            <a:off x="3959501" y="4492625"/>
            <a:ext cx="1404587" cy="361732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9" name="Line 14"/>
          <p:cNvSpPr>
            <a:spLocks noChangeShapeType="1"/>
          </p:cNvSpPr>
          <p:nvPr/>
        </p:nvSpPr>
        <p:spPr bwMode="auto">
          <a:xfrm flipH="1">
            <a:off x="1187450" y="3573463"/>
            <a:ext cx="24384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0" name="Line 15"/>
          <p:cNvSpPr>
            <a:spLocks noChangeShapeType="1"/>
          </p:cNvSpPr>
          <p:nvPr/>
        </p:nvSpPr>
        <p:spPr bwMode="auto">
          <a:xfrm flipH="1">
            <a:off x="904875" y="3068638"/>
            <a:ext cx="2514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1" name="Line 16"/>
          <p:cNvSpPr>
            <a:spLocks noChangeShapeType="1"/>
          </p:cNvSpPr>
          <p:nvPr/>
        </p:nvSpPr>
        <p:spPr bwMode="auto">
          <a:xfrm flipH="1">
            <a:off x="1619672" y="4063999"/>
            <a:ext cx="1439382" cy="2921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2" name="Line 17"/>
          <p:cNvSpPr>
            <a:spLocks noChangeShapeType="1"/>
          </p:cNvSpPr>
          <p:nvPr/>
        </p:nvSpPr>
        <p:spPr bwMode="auto">
          <a:xfrm flipH="1">
            <a:off x="1857808" y="4505324"/>
            <a:ext cx="1768042" cy="33193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3" name="Line 18"/>
          <p:cNvSpPr>
            <a:spLocks noChangeShapeType="1"/>
          </p:cNvSpPr>
          <p:nvPr/>
        </p:nvSpPr>
        <p:spPr bwMode="auto">
          <a:xfrm flipH="1">
            <a:off x="2124074" y="4933949"/>
            <a:ext cx="1707455" cy="3206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4" name="Line 19"/>
          <p:cNvSpPr>
            <a:spLocks noChangeShapeType="1"/>
          </p:cNvSpPr>
          <p:nvPr/>
        </p:nvSpPr>
        <p:spPr bwMode="auto">
          <a:xfrm flipH="1">
            <a:off x="4038600" y="4988024"/>
            <a:ext cx="114300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5" name="Line 20"/>
          <p:cNvSpPr>
            <a:spLocks noChangeShapeType="1"/>
          </p:cNvSpPr>
          <p:nvPr/>
        </p:nvSpPr>
        <p:spPr bwMode="auto">
          <a:xfrm flipH="1">
            <a:off x="2411760" y="5411786"/>
            <a:ext cx="864096" cy="32147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6" name="Line 21"/>
          <p:cNvSpPr>
            <a:spLocks noChangeShapeType="1"/>
          </p:cNvSpPr>
          <p:nvPr/>
        </p:nvSpPr>
        <p:spPr bwMode="auto">
          <a:xfrm flipH="1">
            <a:off x="3962400" y="5384899"/>
            <a:ext cx="1219200" cy="276126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27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C4EB8BF-EF89-4363-83D6-CC33E0D5F1DD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23938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置换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-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选择排序的实现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36713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利用败者树。</a:t>
            </a:r>
          </a:p>
          <a:p>
            <a:pPr eaLnBrk="1" hangingPunct="1"/>
            <a:r>
              <a:rPr lang="zh-CN" altLang="en-US" sz="20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数据结构</a:t>
            </a:r>
          </a:p>
          <a:p>
            <a:pPr lvl="1" eaLnBrk="1" hangingPunct="1"/>
            <a:r>
              <a:rPr lang="zh-CN" altLang="en-US" sz="2000" dirty="0" smtClean="0">
                <a:ea typeface="华文楷体" panose="02010600040101010101" pitchFamily="2" charset="-122"/>
              </a:rPr>
              <a:t>主： 内存工作区中的记录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b[0.. k-1]-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败者树的外部结点</a:t>
            </a:r>
            <a:r>
              <a:rPr lang="en-US" altLang="zh-CN" sz="2000" dirty="0" smtClean="0">
                <a:ea typeface="华文楷体" panose="02010600040101010101" pitchFamily="2" charset="-122"/>
              </a:rPr>
              <a:t>k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</a:t>
            </a:r>
            <a:endParaRPr lang="en-US" altLang="en-US" sz="2000" dirty="0" smtClean="0"/>
          </a:p>
          <a:p>
            <a:pPr lvl="1" eaLnBrk="1" hangingPunct="1"/>
            <a:r>
              <a:rPr lang="zh-CN" altLang="en-US" sz="2000" dirty="0" smtClean="0">
                <a:ea typeface="华文楷体" panose="02010600040101010101" pitchFamily="2" charset="-122"/>
              </a:rPr>
              <a:t>辅：</a:t>
            </a:r>
            <a:r>
              <a:rPr lang="en-US" altLang="zh-CN" sz="2000" dirty="0" smtClean="0">
                <a:ea typeface="华文楷体" panose="02010600040101010101" pitchFamily="2" charset="-122"/>
              </a:rPr>
              <a:t>ls[0.. k-1]-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不含外部结点的败者树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lvl="2" eaLnBrk="1" hangingPunct="1"/>
            <a:r>
              <a:rPr lang="en-US" altLang="zh-CN" sz="2000" dirty="0" smtClean="0">
                <a:ea typeface="华文楷体" panose="02010600040101010101" pitchFamily="2" charset="-122"/>
              </a:rPr>
              <a:t>ls[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号结点的淘汰者的编号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lvl="2" eaLnBrk="1" hangingPunct="1"/>
            <a:r>
              <a:rPr lang="en-US" altLang="zh-CN" sz="2000" dirty="0" smtClean="0">
                <a:ea typeface="华文楷体" panose="02010600040101010101" pitchFamily="2" charset="-122"/>
              </a:rPr>
              <a:t>ls[0]-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存放最终的胜者的编号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[0..k]-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表示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record[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所在的段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dirty="0" err="1" smtClean="0">
                <a:ea typeface="华文楷体" panose="02010600040101010101" pitchFamily="2" charset="-122"/>
              </a:rPr>
              <a:t>currentNum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当前段号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dirty="0" smtClean="0">
                <a:ea typeface="华文楷体" panose="02010600040101010101" pitchFamily="2" charset="-122"/>
              </a:rPr>
              <a:t>winner-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锦标赛总冠军，取值</a:t>
            </a:r>
            <a:r>
              <a:rPr lang="en-US" altLang="zh-CN" sz="2000" dirty="0" smtClean="0">
                <a:ea typeface="华文楷体" panose="02010600040101010101" pitchFamily="2" charset="-122"/>
              </a:rPr>
              <a:t>0..k-1</a:t>
            </a:r>
          </a:p>
          <a:p>
            <a:pPr lvl="1" eaLnBrk="1" hangingPunct="1"/>
            <a:r>
              <a:rPr lang="en-US" altLang="zh-CN" sz="20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2000" dirty="0" smtClean="0">
                <a:ea typeface="华文楷体" panose="02010600040101010101" pitchFamily="2" charset="-122"/>
              </a:rPr>
              <a:t>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记录</a:t>
            </a:r>
            <a:r>
              <a:rPr lang="en-US" altLang="zh-CN" sz="2000" dirty="0" smtClean="0">
                <a:ea typeface="华文楷体" panose="02010600040101010101" pitchFamily="2" charset="-122"/>
              </a:rPr>
              <a:t>record[winner]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的段号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dirty="0" err="1" smtClean="0">
                <a:ea typeface="华文楷体" panose="02010600040101010101" pitchFamily="2" charset="-122"/>
              </a:rPr>
              <a:t>maxRun</a:t>
            </a:r>
            <a:r>
              <a:rPr lang="en-US" altLang="zh-CN" sz="2000" dirty="0" smtClean="0">
                <a:ea typeface="华文楷体" panose="02010600040101010101" pitchFamily="2" charset="-122"/>
              </a:rPr>
              <a:t>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当前即将输出的数据段号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华文楷体" panose="02010600040101010101" pitchFamily="2" charset="-122"/>
              </a:rPr>
              <a:t>minimax 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最后一条输出记录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D4A08C-CB24-4A3E-848D-36EC15464150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14488"/>
            <a:ext cx="878453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处理步骤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1)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初始化败者树：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1.1)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所有外部结点置最小值；所有内部结点置最小值；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1.2)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对外部结点从编号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w-1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至</a:t>
            </a:r>
            <a:r>
              <a:rPr lang="en-US" altLang="zh-CN" sz="2000" dirty="0" smtClean="0">
                <a:ea typeface="华文楷体" panose="02010600040101010101" pitchFamily="2" charset="-122"/>
              </a:rPr>
              <a:t>0</a:t>
            </a:r>
          </a:p>
          <a:p>
            <a:pPr eaLnBrk="1" hangingPunct="1">
              <a:lnSpc>
                <a:spcPct val="85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从外存</a:t>
            </a:r>
            <a:r>
              <a:rPr lang="en-US" altLang="zh-CN" sz="2000" dirty="0" smtClean="0">
                <a:ea typeface="华文楷体" panose="02010600040101010101" pitchFamily="2" charset="-122"/>
              </a:rPr>
              <a:t>FI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读入记录，置段号为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]=1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，并调整败者树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2)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置当前段号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currentRun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若</a:t>
            </a:r>
            <a:r>
              <a:rPr lang="en-US" altLang="zh-CN" sz="2000" dirty="0" smtClean="0">
                <a:ea typeface="华文楷体" panose="02010600040101010101" pitchFamily="2" charset="-122"/>
              </a:rPr>
              <a:t>ls[0]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指示的外部结点属于当前段，输出该记录；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否则当前段号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当前段号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+1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，输出段标后再输出该记录；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4)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若</a:t>
            </a:r>
            <a:r>
              <a:rPr lang="en-US" altLang="zh-CN" sz="2000" dirty="0" smtClean="0">
                <a:ea typeface="华文楷体" panose="02010600040101010101" pitchFamily="2" charset="-122"/>
              </a:rPr>
              <a:t>FI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未空，从</a:t>
            </a:r>
            <a:r>
              <a:rPr lang="en-US" altLang="zh-CN" sz="2000" dirty="0" smtClean="0">
                <a:ea typeface="华文楷体" panose="02010600040101010101" pitchFamily="2" charset="-122"/>
              </a:rPr>
              <a:t>FI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补充记录，</a:t>
            </a:r>
          </a:p>
          <a:p>
            <a:pPr eaLnBrk="1" hangingPunct="1">
              <a:lnSpc>
                <a:spcPct val="85000"/>
              </a:lnSpc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    若补充到</a:t>
            </a:r>
            <a:r>
              <a:rPr lang="en-US" altLang="zh-CN" sz="2000" dirty="0" smtClean="0">
                <a:ea typeface="华文楷体" panose="02010600040101010101" pitchFamily="2" charset="-122"/>
              </a:rPr>
              <a:t>b[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的</a:t>
            </a:r>
            <a:r>
              <a:rPr lang="en-US" altLang="zh-CN" sz="2000" dirty="0" smtClean="0">
                <a:ea typeface="华文楷体" panose="02010600040101010101" pitchFamily="2" charset="-122"/>
              </a:rPr>
              <a:t>key&lt;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此前输出记录的</a:t>
            </a:r>
            <a:r>
              <a:rPr lang="en-US" altLang="zh-CN" sz="2000" dirty="0">
                <a:ea typeface="华文楷体" panose="02010600040101010101" pitchFamily="2" charset="-122"/>
              </a:rPr>
              <a:t>key(minimax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5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则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]=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当前段号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+1</a:t>
            </a:r>
          </a:p>
          <a:p>
            <a:pPr eaLnBrk="1" hangingPunct="1">
              <a:lnSpc>
                <a:spcPct val="85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否则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]=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当前段号</a:t>
            </a:r>
          </a:p>
          <a:p>
            <a:pPr eaLnBrk="1" hangingPunct="1">
              <a:lnSpc>
                <a:spcPct val="85000"/>
              </a:lnSpc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</a:t>
            </a:r>
            <a:r>
              <a:rPr lang="zh-CN" altLang="zh-CN" sz="2000" dirty="0" smtClean="0">
                <a:ea typeface="华文楷体" panose="02010600040101010101" pitchFamily="2" charset="-122"/>
              </a:rPr>
              <a:t> 否则补虚记录：</a:t>
            </a:r>
            <a:r>
              <a:rPr lang="en-US" altLang="zh-CN" sz="2000" dirty="0" smtClean="0">
                <a:ea typeface="华文楷体" panose="02010600040101010101" pitchFamily="2" charset="-122"/>
              </a:rPr>
              <a:t>key=</a:t>
            </a:r>
            <a:r>
              <a:rPr lang="en-US" altLang="zh-CN" sz="2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r>
              <a:rPr lang="en-US" altLang="zh-CN" sz="2000" dirty="0" smtClean="0">
                <a:ea typeface="华文楷体" panose="02010600040101010101" pitchFamily="2" charset="-122"/>
              </a:rPr>
              <a:t>;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]=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当前段号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+1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5)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调整败者树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转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）直至所有记录被输出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4387850" y="1125538"/>
            <a:ext cx="46482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调整败者树原则：</a:t>
            </a:r>
          </a:p>
          <a:p>
            <a:pPr lvl="1" eaLnBrk="1" hangingPunct="1"/>
            <a:r>
              <a:rPr kumimoji="1" lang="zh-CN" altLang="en-US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段</a:t>
            </a:r>
            <a:r>
              <a:rPr kumimoji="1" lang="zh-CN" altLang="en-US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号</a:t>
            </a:r>
            <a:r>
              <a:rPr kumimoji="1" lang="zh-CN" altLang="en-US" sz="2400" b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不相同，段</a:t>
            </a:r>
            <a:r>
              <a:rPr kumimoji="1" lang="zh-CN" altLang="en-US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号小者为胜者</a:t>
            </a:r>
          </a:p>
          <a:p>
            <a:pPr lvl="1" eaLnBrk="1" hangingPunct="1"/>
            <a:r>
              <a:rPr kumimoji="1" lang="zh-CN" altLang="en-US" sz="2400" b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段号相同</a:t>
            </a:r>
            <a:r>
              <a:rPr kumimoji="1"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，关键字小的为胜者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080120"/>
            <a:ext cx="9036050" cy="573325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runGeneration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(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k ) {</a:t>
            </a:r>
          </a:p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    for(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 0;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&lt; k;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100" dirty="0" smtClean="0">
                <a:ea typeface="华文楷体" panose="02010600040101010101" pitchFamily="2" charset="-122"/>
              </a:rPr>
              <a:t>++){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readRecord</a:t>
            </a:r>
            <a:r>
              <a:rPr lang="en-US" altLang="zh-CN" sz="1100" dirty="0" smtClean="0">
                <a:ea typeface="华文楷体" panose="02010600040101010101" pitchFamily="2" charset="-122"/>
              </a:rPr>
              <a:t>(b[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100" dirty="0" smtClean="0">
                <a:ea typeface="华文楷体" panose="02010600040101010101" pitchFamily="2" charset="-122"/>
              </a:rPr>
              <a:t>]);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100" dirty="0" smtClean="0">
                <a:ea typeface="华文楷体" panose="02010600040101010101" pitchFamily="2" charset="-122"/>
              </a:rPr>
              <a:t>]=1;</a:t>
            </a:r>
          </a:p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initializeLoserTree</a:t>
            </a:r>
            <a:r>
              <a:rPr lang="en-US" altLang="zh-CN" sz="1100" dirty="0" smtClean="0">
                <a:ea typeface="华文楷体" panose="02010600040101010101" pitchFamily="2" charset="-122"/>
              </a:rPr>
              <a:t>();//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败者树初始化；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winner = ls[0];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=1;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currentRun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=1;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maxRun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=1;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while (1) {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if (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!=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currentRun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) {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当前段结束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output(“%d run end”,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currentRun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);//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输出段结束标志</a:t>
            </a:r>
            <a:r>
              <a:rPr lang="en-US" altLang="zh-CN" sz="1100" dirty="0" smtClean="0">
                <a:ea typeface="华文楷体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if (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&gt;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maxRun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) return;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else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currentRun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;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更新当前段号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}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writeRecord</a:t>
            </a:r>
            <a:r>
              <a:rPr lang="en-US" altLang="zh-CN" sz="1100" dirty="0" smtClean="0">
                <a:ea typeface="华文楷体" panose="02010600040101010101" pitchFamily="2" charset="-122"/>
              </a:rPr>
              <a:t>(b[winner]);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minimax = b[winner].key; 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if (end of input)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[winner]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maxRun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+1;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没有新记录，补充虚记录，虚记录段号</a:t>
            </a:r>
            <a:r>
              <a:rPr lang="en-US" altLang="zh-CN" sz="1100" dirty="0" smtClean="0">
                <a:ea typeface="华文楷体" panose="02010600040101010101" pitchFamily="2" charset="-122"/>
              </a:rPr>
              <a:t>=</a:t>
            </a:r>
            <a:r>
              <a:rPr lang="zh-CN" altLang="en-US" sz="1100" dirty="0" smtClean="0">
                <a:ea typeface="华文楷体" panose="02010600040101010101" pitchFamily="2" charset="-122"/>
              </a:rPr>
              <a:t>当前最大段号</a:t>
            </a:r>
            <a:r>
              <a:rPr lang="en-US" altLang="zh-CN" sz="1100" dirty="0" smtClean="0">
                <a:ea typeface="华文楷体" panose="02010600040101010101" pitchFamily="2" charset="-122"/>
              </a:rPr>
              <a:t>+1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else  {</a:t>
            </a:r>
            <a:r>
              <a:rPr lang="zh-CN" altLang="en-US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输入新记录到树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readRecord</a:t>
            </a:r>
            <a:r>
              <a:rPr lang="en-US" altLang="zh-CN" sz="1100" dirty="0" smtClean="0">
                <a:ea typeface="华文楷体" panose="02010600040101010101" pitchFamily="2" charset="-122"/>
              </a:rPr>
              <a:t>(b[winner]);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if(b[winner].key &lt; </a:t>
            </a:r>
            <a:r>
              <a:rPr lang="en-US" altLang="zh-CN" sz="1100" dirty="0">
                <a:ea typeface="华文楷体" panose="02010600040101010101" pitchFamily="2" charset="-122"/>
              </a:rPr>
              <a:t>minimax)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             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[winner]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maxRun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+1;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新记录在下一段；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else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[winner]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currentRun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}</a:t>
            </a:r>
          </a:p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      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[winner];</a:t>
            </a: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for (parent = ( k + winner )/2; parent; parent /=2)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调整败者树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if(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[ls[parent]] &lt;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|| (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[ls[parent]] ==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&amp;&amp; b[ls[parent]].key &lt; b[winner].key))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父结点是胜者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ea typeface="华文楷体" panose="02010600040101010101" pitchFamily="2" charset="-122"/>
              </a:rPr>
              <a:t> 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          {   swap(&amp;winner, &amp;ls[parent]) ; 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winnerRun</a:t>
            </a:r>
            <a:r>
              <a:rPr lang="en-US" altLang="zh-CN" sz="1100" dirty="0" smtClean="0">
                <a:ea typeface="华文楷体" panose="02010600040101010101" pitchFamily="2" charset="-122"/>
              </a:rPr>
              <a:t> = </a:t>
            </a:r>
            <a:r>
              <a:rPr lang="en-US" altLang="zh-CN" sz="1100" dirty="0" err="1" smtClean="0">
                <a:ea typeface="华文楷体" panose="02010600040101010101" pitchFamily="2" charset="-122"/>
              </a:rPr>
              <a:t>runNum</a:t>
            </a:r>
            <a:r>
              <a:rPr lang="en-US" altLang="zh-CN" sz="1100" dirty="0" smtClean="0">
                <a:ea typeface="华文楷体" panose="02010600040101010101" pitchFamily="2" charset="-122"/>
              </a:rPr>
              <a:t>[winner]; } //</a:t>
            </a:r>
            <a:r>
              <a:rPr lang="zh-CN" altLang="en-US" sz="1100" dirty="0" smtClean="0">
                <a:ea typeface="华文楷体" panose="02010600040101010101" pitchFamily="2" charset="-122"/>
              </a:rPr>
              <a:t>交换父子</a:t>
            </a:r>
            <a:endParaRPr lang="en-US" altLang="zh-CN" sz="11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    }//end while</a:t>
            </a:r>
          </a:p>
          <a:p>
            <a:pPr marL="0" indent="0">
              <a:buNone/>
            </a:pPr>
            <a:r>
              <a:rPr lang="en-US" altLang="zh-CN" sz="1100" dirty="0" smtClean="0">
                <a:ea typeface="华文楷体" panose="02010600040101010101" pitchFamily="2" charset="-122"/>
              </a:rPr>
              <a:t>}</a:t>
            </a:r>
          </a:p>
          <a:p>
            <a:pPr marL="0" indent="0">
              <a:buNone/>
            </a:pPr>
            <a:endParaRPr lang="zh-CN" altLang="en-US" sz="11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DE579E-7CF2-409C-B801-0154705CE614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860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70F7E4-E589-42A7-A58F-57EEB2D8647B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196975"/>
            <a:ext cx="7772400" cy="609600"/>
          </a:xfrm>
        </p:spPr>
        <p:txBody>
          <a:bodyPr/>
          <a:lstStyle/>
          <a:p>
            <a:pPr algn="l"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置换</a:t>
            </a:r>
            <a:r>
              <a:rPr lang="en-US" altLang="zh-CN" sz="2400" dirty="0" smtClean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sz="2400" dirty="0" smtClean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选择排序的效果</a:t>
            </a:r>
            <a:r>
              <a:rPr lang="en-US" altLang="zh-CN" sz="2400" dirty="0" smtClean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923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所得初始排序段的长度不等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当输入文件记录的关键字大小随机分布时，初始归并段的长度为内存工作区大小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w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的两倍</a:t>
            </a:r>
          </a:p>
          <a:p>
            <a:pPr eaLnBrk="1" hangingPunct="1"/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缓冲区及并行操作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使输入、输出和内部归并三种操作同时进行，也能提高总的外部排序时间。但应综合考虑缓冲区数目、工作区大小 等参数的设置。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</p:txBody>
      </p:sp>
      <p:sp>
        <p:nvSpPr>
          <p:cNvPr id="24583" name="Rectangle 4"/>
          <p:cNvSpPr>
            <a:spLocks noChangeArrowheads="1"/>
          </p:cNvSpPr>
          <p:nvPr/>
        </p:nvSpPr>
        <p:spPr bwMode="auto">
          <a:xfrm>
            <a:off x="2438400" y="5251450"/>
            <a:ext cx="4038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4" name="Text Box 5"/>
          <p:cNvSpPr txBox="1">
            <a:spLocks noChangeArrowheads="1"/>
          </p:cNvSpPr>
          <p:nvPr/>
        </p:nvSpPr>
        <p:spPr bwMode="auto">
          <a:xfrm>
            <a:off x="1828800" y="5784850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内存</a:t>
            </a:r>
          </a:p>
        </p:txBody>
      </p:sp>
      <p:sp>
        <p:nvSpPr>
          <p:cNvPr id="24585" name="Line 6"/>
          <p:cNvSpPr>
            <a:spLocks noChangeShapeType="1"/>
          </p:cNvSpPr>
          <p:nvPr/>
        </p:nvSpPr>
        <p:spPr bwMode="auto">
          <a:xfrm>
            <a:off x="5486400" y="525145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6" name="Text Box 7"/>
          <p:cNvSpPr txBox="1">
            <a:spLocks noChangeArrowheads="1"/>
          </p:cNvSpPr>
          <p:nvPr/>
        </p:nvSpPr>
        <p:spPr bwMode="auto">
          <a:xfrm>
            <a:off x="3048000" y="5708650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zh-CN" altLang="en-US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个输入缓冲区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7" name="Text Box 8"/>
          <p:cNvSpPr txBox="1">
            <a:spLocks noChangeArrowheads="1"/>
          </p:cNvSpPr>
          <p:nvPr/>
        </p:nvSpPr>
        <p:spPr bwMode="auto">
          <a:xfrm>
            <a:off x="5486400" y="5327650"/>
            <a:ext cx="990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缓冲区</a:t>
            </a:r>
          </a:p>
        </p:txBody>
      </p:sp>
      <p:sp>
        <p:nvSpPr>
          <p:cNvPr id="24588" name="AutoShape 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723265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6986" name="Text Box 10"/>
          <p:cNvSpPr txBox="1">
            <a:spLocks noChangeArrowheads="1"/>
          </p:cNvSpPr>
          <p:nvPr/>
        </p:nvSpPr>
        <p:spPr bwMode="auto">
          <a:xfrm>
            <a:off x="6186488" y="2781300"/>
            <a:ext cx="2328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思考：为什么？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21B461-0ECC-4FED-8237-A5B1BADC6195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思考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：假设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是所用缓冲区的长度，置换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选择排序法产生</a:t>
            </a:r>
            <a:r>
              <a:rPr lang="zh-CN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文件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F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（长度为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）的初始归并段的长度至少为多少？最多为多少？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第一个归并段中第一个元素是缓冲区中最小的元素，以后每选一个元素都不应小于前一个选出的元素，故当产生第一个归并段时（即初始归并段），缓冲区中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个元素中除最小元素之外，其他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m-1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个元素均大于第一个选出的元素，即当以后读入元素均小于输出元素时，初始归并段中也至少能有原有的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个元素。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初始归并段长度最长为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179388" y="4829175"/>
            <a:ext cx="8520112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850900" indent="571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平均长度分析</a:t>
            </a:r>
            <a:r>
              <a:rPr kumimoji="1"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 设内存可以存放 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</a:t>
            </a:r>
            <a:r>
              <a:rPr kumimoji="1"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个记录，则首先从文件读入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 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记录到内存。这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个记录肯定可以归入本初始合并段内。这样，</a:t>
            </a:r>
            <a:r>
              <a:rPr kumimoji="1"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再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从文件中读入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个记录。这 </a:t>
            </a:r>
            <a:r>
              <a:rPr kumimoji="1" lang="en-US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个记录中</a:t>
            </a:r>
            <a:r>
              <a:rPr kumimoji="1"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大约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平均有一半可以归入本合并段，一半归入下一合并段。因此，合并段的平均长度</a:t>
            </a:r>
            <a:r>
              <a:rPr kumimoji="1" lang="zh-CN" altLang="en-US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大约</a:t>
            </a:r>
            <a:r>
              <a:rPr kumimoji="1" lang="zh-CN" altLang="zh-CN" sz="20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为：</a:t>
            </a:r>
          </a:p>
          <a:p>
            <a:pPr lvl="1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 + m/2 + m/4 + …………  = 2m</a:t>
            </a:r>
            <a:r>
              <a:rPr kumimoji="1"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CE8E56-9B63-4E58-8623-3B3D36822121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5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7772400" cy="533400"/>
          </a:xfrm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磁盘排序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009650"/>
            <a:ext cx="77724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最佳归并树的引入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路归并时，初始归并段的不同搭配，会导致归并过程中</a:t>
            </a: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I/O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的次数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不同。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设有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9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个初始归并段，记录个数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长度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分别为：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</a:t>
            </a:r>
            <a:r>
              <a:rPr lang="en-US" altLang="zh-CN" sz="2800" dirty="0" smtClean="0">
                <a:ea typeface="华文楷体" panose="02010600040101010101" pitchFamily="2" charset="-122"/>
              </a:rPr>
              <a:t>9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30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12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18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3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17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2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6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24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121                                     121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51               38           32            30     32            59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9   30  12  18  3   17  2  6   24           11  9  12  17  18  24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                       2     3    6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chemeClr val="accent2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31" name="Oval 14"/>
          <p:cNvSpPr>
            <a:spLocks noChangeArrowheads="1"/>
          </p:cNvSpPr>
          <p:nvPr/>
        </p:nvSpPr>
        <p:spPr bwMode="auto">
          <a:xfrm>
            <a:off x="12954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2" name="Oval 15"/>
          <p:cNvSpPr>
            <a:spLocks noChangeArrowheads="1"/>
          </p:cNvSpPr>
          <p:nvPr/>
        </p:nvSpPr>
        <p:spPr bwMode="auto">
          <a:xfrm>
            <a:off x="16764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3" name="Oval 16"/>
          <p:cNvSpPr>
            <a:spLocks noChangeArrowheads="1"/>
          </p:cNvSpPr>
          <p:nvPr/>
        </p:nvSpPr>
        <p:spPr bwMode="auto">
          <a:xfrm>
            <a:off x="21336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4" name="Oval 17"/>
          <p:cNvSpPr>
            <a:spLocks noChangeArrowheads="1"/>
          </p:cNvSpPr>
          <p:nvPr/>
        </p:nvSpPr>
        <p:spPr bwMode="auto">
          <a:xfrm>
            <a:off x="25908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5" name="Oval 18"/>
          <p:cNvSpPr>
            <a:spLocks noChangeArrowheads="1"/>
          </p:cNvSpPr>
          <p:nvPr/>
        </p:nvSpPr>
        <p:spPr bwMode="auto">
          <a:xfrm>
            <a:off x="29718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6" name="Oval 19"/>
          <p:cNvSpPr>
            <a:spLocks noChangeArrowheads="1"/>
          </p:cNvSpPr>
          <p:nvPr/>
        </p:nvSpPr>
        <p:spPr bwMode="auto">
          <a:xfrm>
            <a:off x="34290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7" name="Oval 20"/>
          <p:cNvSpPr>
            <a:spLocks noChangeArrowheads="1"/>
          </p:cNvSpPr>
          <p:nvPr/>
        </p:nvSpPr>
        <p:spPr bwMode="auto">
          <a:xfrm>
            <a:off x="38100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8" name="Oval 21"/>
          <p:cNvSpPr>
            <a:spLocks noChangeArrowheads="1"/>
          </p:cNvSpPr>
          <p:nvPr/>
        </p:nvSpPr>
        <p:spPr bwMode="auto">
          <a:xfrm>
            <a:off x="41910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9" name="Oval 22"/>
          <p:cNvSpPr>
            <a:spLocks noChangeArrowheads="1"/>
          </p:cNvSpPr>
          <p:nvPr/>
        </p:nvSpPr>
        <p:spPr bwMode="auto">
          <a:xfrm>
            <a:off x="45720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0" name="Oval 23"/>
          <p:cNvSpPr>
            <a:spLocks noChangeArrowheads="1"/>
          </p:cNvSpPr>
          <p:nvPr/>
        </p:nvSpPr>
        <p:spPr bwMode="auto">
          <a:xfrm>
            <a:off x="5410200" y="36766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1" name="Oval 24"/>
          <p:cNvSpPr>
            <a:spLocks noChangeArrowheads="1"/>
          </p:cNvSpPr>
          <p:nvPr/>
        </p:nvSpPr>
        <p:spPr bwMode="auto">
          <a:xfrm>
            <a:off x="5181600" y="45910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2" name="Oval 25"/>
          <p:cNvSpPr>
            <a:spLocks noChangeArrowheads="1"/>
          </p:cNvSpPr>
          <p:nvPr/>
        </p:nvSpPr>
        <p:spPr bwMode="auto">
          <a:xfrm>
            <a:off x="5715000" y="45910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3" name="Oval 26"/>
          <p:cNvSpPr>
            <a:spLocks noChangeArrowheads="1"/>
          </p:cNvSpPr>
          <p:nvPr/>
        </p:nvSpPr>
        <p:spPr bwMode="auto">
          <a:xfrm>
            <a:off x="6172200" y="45910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4" name="Oval 27"/>
          <p:cNvSpPr>
            <a:spLocks noChangeArrowheads="1"/>
          </p:cNvSpPr>
          <p:nvPr/>
        </p:nvSpPr>
        <p:spPr bwMode="auto">
          <a:xfrm>
            <a:off x="60960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5" name="Oval 28"/>
          <p:cNvSpPr>
            <a:spLocks noChangeArrowheads="1"/>
          </p:cNvSpPr>
          <p:nvPr/>
        </p:nvSpPr>
        <p:spPr bwMode="auto">
          <a:xfrm>
            <a:off x="64770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6" name="Oval 29"/>
          <p:cNvSpPr>
            <a:spLocks noChangeArrowheads="1"/>
          </p:cNvSpPr>
          <p:nvPr/>
        </p:nvSpPr>
        <p:spPr bwMode="auto">
          <a:xfrm>
            <a:off x="69342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7" name="Oval 30"/>
          <p:cNvSpPr>
            <a:spLocks noChangeArrowheads="1"/>
          </p:cNvSpPr>
          <p:nvPr/>
        </p:nvSpPr>
        <p:spPr bwMode="auto">
          <a:xfrm>
            <a:off x="73914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8" name="Oval 31"/>
          <p:cNvSpPr>
            <a:spLocks noChangeArrowheads="1"/>
          </p:cNvSpPr>
          <p:nvPr/>
        </p:nvSpPr>
        <p:spPr bwMode="auto">
          <a:xfrm>
            <a:off x="7848600" y="4133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49" name="Line 32"/>
          <p:cNvSpPr>
            <a:spLocks noChangeShapeType="1"/>
          </p:cNvSpPr>
          <p:nvPr/>
        </p:nvSpPr>
        <p:spPr bwMode="auto">
          <a:xfrm flipV="1">
            <a:off x="1447800" y="398145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0" name="Line 33"/>
          <p:cNvSpPr>
            <a:spLocks noChangeShapeType="1"/>
          </p:cNvSpPr>
          <p:nvPr/>
        </p:nvSpPr>
        <p:spPr bwMode="auto">
          <a:xfrm>
            <a:off x="1828800" y="3981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1" name="Line 34"/>
          <p:cNvSpPr>
            <a:spLocks noChangeShapeType="1"/>
          </p:cNvSpPr>
          <p:nvPr/>
        </p:nvSpPr>
        <p:spPr bwMode="auto">
          <a:xfrm>
            <a:off x="1981200" y="39052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2" name="Line 35"/>
          <p:cNvSpPr>
            <a:spLocks noChangeShapeType="1"/>
          </p:cNvSpPr>
          <p:nvPr/>
        </p:nvSpPr>
        <p:spPr bwMode="auto">
          <a:xfrm flipH="1">
            <a:off x="2743200" y="39052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3" name="Line 36"/>
          <p:cNvSpPr>
            <a:spLocks noChangeShapeType="1"/>
          </p:cNvSpPr>
          <p:nvPr/>
        </p:nvSpPr>
        <p:spPr bwMode="auto">
          <a:xfrm>
            <a:off x="3200400" y="3981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4" name="Line 37"/>
          <p:cNvSpPr>
            <a:spLocks noChangeShapeType="1"/>
          </p:cNvSpPr>
          <p:nvPr/>
        </p:nvSpPr>
        <p:spPr bwMode="auto">
          <a:xfrm>
            <a:off x="3429000" y="390525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5" name="Line 38"/>
          <p:cNvSpPr>
            <a:spLocks noChangeShapeType="1"/>
          </p:cNvSpPr>
          <p:nvPr/>
        </p:nvSpPr>
        <p:spPr bwMode="auto">
          <a:xfrm flipH="1">
            <a:off x="3962400" y="39052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6" name="Line 39"/>
          <p:cNvSpPr>
            <a:spLocks noChangeShapeType="1"/>
          </p:cNvSpPr>
          <p:nvPr/>
        </p:nvSpPr>
        <p:spPr bwMode="auto">
          <a:xfrm>
            <a:off x="4343400" y="3981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7" name="Line 40"/>
          <p:cNvSpPr>
            <a:spLocks noChangeShapeType="1"/>
          </p:cNvSpPr>
          <p:nvPr/>
        </p:nvSpPr>
        <p:spPr bwMode="auto">
          <a:xfrm>
            <a:off x="4495800" y="39052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8" name="Line 41"/>
          <p:cNvSpPr>
            <a:spLocks noChangeShapeType="1"/>
          </p:cNvSpPr>
          <p:nvPr/>
        </p:nvSpPr>
        <p:spPr bwMode="auto">
          <a:xfrm flipV="1">
            <a:off x="1797214" y="3448050"/>
            <a:ext cx="1022185" cy="33871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59" name="Line 42"/>
          <p:cNvSpPr>
            <a:spLocks noChangeShapeType="1"/>
          </p:cNvSpPr>
          <p:nvPr/>
        </p:nvSpPr>
        <p:spPr bwMode="auto">
          <a:xfrm>
            <a:off x="3059832" y="35242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0" name="Line 43"/>
          <p:cNvSpPr>
            <a:spLocks noChangeShapeType="1"/>
          </p:cNvSpPr>
          <p:nvPr/>
        </p:nvSpPr>
        <p:spPr bwMode="auto">
          <a:xfrm>
            <a:off x="3200399" y="3484184"/>
            <a:ext cx="1066800" cy="2210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1" name="Line 44"/>
          <p:cNvSpPr>
            <a:spLocks noChangeShapeType="1"/>
          </p:cNvSpPr>
          <p:nvPr/>
        </p:nvSpPr>
        <p:spPr bwMode="auto">
          <a:xfrm flipV="1">
            <a:off x="5562600" y="352425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2" name="Line 45"/>
          <p:cNvSpPr>
            <a:spLocks noChangeShapeType="1"/>
          </p:cNvSpPr>
          <p:nvPr/>
        </p:nvSpPr>
        <p:spPr bwMode="auto">
          <a:xfrm>
            <a:off x="6248400" y="35242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3" name="Line 46"/>
          <p:cNvSpPr>
            <a:spLocks noChangeShapeType="1"/>
          </p:cNvSpPr>
          <p:nvPr/>
        </p:nvSpPr>
        <p:spPr bwMode="auto">
          <a:xfrm>
            <a:off x="6553200" y="344805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4" name="Line 47"/>
          <p:cNvSpPr>
            <a:spLocks noChangeShapeType="1"/>
          </p:cNvSpPr>
          <p:nvPr/>
        </p:nvSpPr>
        <p:spPr bwMode="auto">
          <a:xfrm flipH="1">
            <a:off x="5867400" y="39052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5" name="Line 48"/>
          <p:cNvSpPr>
            <a:spLocks noChangeShapeType="1"/>
          </p:cNvSpPr>
          <p:nvPr/>
        </p:nvSpPr>
        <p:spPr bwMode="auto">
          <a:xfrm>
            <a:off x="6248400" y="3981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6" name="Line 49"/>
          <p:cNvSpPr>
            <a:spLocks noChangeShapeType="1"/>
          </p:cNvSpPr>
          <p:nvPr/>
        </p:nvSpPr>
        <p:spPr bwMode="auto">
          <a:xfrm>
            <a:off x="6400800" y="39052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7" name="Line 50"/>
          <p:cNvSpPr>
            <a:spLocks noChangeShapeType="1"/>
          </p:cNvSpPr>
          <p:nvPr/>
        </p:nvSpPr>
        <p:spPr bwMode="auto">
          <a:xfrm flipH="1">
            <a:off x="7086600" y="39052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8" name="Line 51"/>
          <p:cNvSpPr>
            <a:spLocks noChangeShapeType="1"/>
          </p:cNvSpPr>
          <p:nvPr/>
        </p:nvSpPr>
        <p:spPr bwMode="auto">
          <a:xfrm>
            <a:off x="7467600" y="3981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69" name="Line 52"/>
          <p:cNvSpPr>
            <a:spLocks noChangeShapeType="1"/>
          </p:cNvSpPr>
          <p:nvPr/>
        </p:nvSpPr>
        <p:spPr bwMode="auto">
          <a:xfrm>
            <a:off x="7696200" y="39052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0" name="Line 53"/>
          <p:cNvSpPr>
            <a:spLocks noChangeShapeType="1"/>
          </p:cNvSpPr>
          <p:nvPr/>
        </p:nvSpPr>
        <p:spPr bwMode="auto">
          <a:xfrm flipH="1">
            <a:off x="5334000" y="436245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1" name="Line 54"/>
          <p:cNvSpPr>
            <a:spLocks noChangeShapeType="1"/>
          </p:cNvSpPr>
          <p:nvPr/>
        </p:nvSpPr>
        <p:spPr bwMode="auto">
          <a:xfrm>
            <a:off x="5867400" y="44386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2" name="Line 55"/>
          <p:cNvSpPr>
            <a:spLocks noChangeShapeType="1"/>
          </p:cNvSpPr>
          <p:nvPr/>
        </p:nvSpPr>
        <p:spPr bwMode="auto">
          <a:xfrm>
            <a:off x="6019800" y="443865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3" name="Text Box 56"/>
          <p:cNvSpPr txBox="1">
            <a:spLocks noChangeArrowheads="1"/>
          </p:cNvSpPr>
          <p:nvPr/>
        </p:nvSpPr>
        <p:spPr bwMode="auto">
          <a:xfrm>
            <a:off x="4343400" y="314325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3-</a:t>
            </a:r>
            <a:r>
              <a:rPr kumimoji="1" lang="zh-CN" altLang="en-US" sz="2400" b="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路归并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4" name="Line 57"/>
          <p:cNvSpPr>
            <a:spLocks noChangeShapeType="1"/>
          </p:cNvSpPr>
          <p:nvPr/>
        </p:nvSpPr>
        <p:spPr bwMode="auto">
          <a:xfrm>
            <a:off x="5029200" y="3676650"/>
            <a:ext cx="0" cy="24384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5" name="Text Box 58"/>
          <p:cNvSpPr txBox="1">
            <a:spLocks noChangeArrowheads="1"/>
          </p:cNvSpPr>
          <p:nvPr/>
        </p:nvSpPr>
        <p:spPr bwMode="auto">
          <a:xfrm>
            <a:off x="2514600" y="6115050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所有叶结点加权外通路长度的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倍</a:t>
            </a:r>
            <a:endParaRPr kumimoji="1" lang="zh-CN" altLang="en-US" sz="2400" b="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76" name="Text Box 59"/>
          <p:cNvSpPr txBox="1">
            <a:spLocks noChangeArrowheads="1"/>
          </p:cNvSpPr>
          <p:nvPr/>
        </p:nvSpPr>
        <p:spPr bwMode="auto">
          <a:xfrm>
            <a:off x="3048000" y="5084763"/>
            <a:ext cx="381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</a:t>
            </a:r>
            <a:endParaRPr kumimoji="1" lang="en-US" altLang="zh-CN" sz="20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7" name="AutoShape 60"/>
          <p:cNvSpPr>
            <a:spLocks/>
          </p:cNvSpPr>
          <p:nvPr/>
        </p:nvSpPr>
        <p:spPr bwMode="auto">
          <a:xfrm>
            <a:off x="2971800" y="5229225"/>
            <a:ext cx="76200" cy="381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8" name="Text Box 61"/>
          <p:cNvSpPr txBox="1">
            <a:spLocks noChangeArrowheads="1"/>
          </p:cNvSpPr>
          <p:nvPr/>
        </p:nvSpPr>
        <p:spPr bwMode="auto">
          <a:xfrm>
            <a:off x="8153400" y="3143250"/>
            <a:ext cx="53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方案二</a:t>
            </a:r>
            <a:endParaRPr kumimoji="1" lang="zh-CN" altLang="en-US" sz="2400" b="0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79" name="Text Box 62"/>
          <p:cNvSpPr txBox="1">
            <a:spLocks noChangeArrowheads="1"/>
          </p:cNvSpPr>
          <p:nvPr/>
        </p:nvSpPr>
        <p:spPr bwMode="auto">
          <a:xfrm>
            <a:off x="685800" y="3295650"/>
            <a:ext cx="53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方案一</a:t>
            </a:r>
            <a:endParaRPr kumimoji="1" lang="zh-CN" altLang="en-US" sz="2400" b="0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80" name="Text Box 64"/>
          <p:cNvSpPr txBox="1">
            <a:spLocks noChangeArrowheads="1"/>
          </p:cNvSpPr>
          <p:nvPr/>
        </p:nvSpPr>
        <p:spPr bwMode="auto">
          <a:xfrm>
            <a:off x="468313" y="4811713"/>
            <a:ext cx="426911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(9+30+12+18+3+17+2+6+24)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2</a:t>
            </a:r>
          </a:p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+(51+38+32) 2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 </a:t>
            </a:r>
            <a:r>
              <a:rPr kumimoji="1"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484</a:t>
            </a: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81" name="Text Box 65"/>
          <p:cNvSpPr txBox="1">
            <a:spLocks noChangeArrowheads="1"/>
          </p:cNvSpPr>
          <p:nvPr/>
        </p:nvSpPr>
        <p:spPr bwMode="auto">
          <a:xfrm>
            <a:off x="5200650" y="4883150"/>
            <a:ext cx="30909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[(2+3+6) 3+(9+12+17</a:t>
            </a:r>
          </a:p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+18+24) 2+30 1] 2</a:t>
            </a:r>
          </a:p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 =</a:t>
            </a:r>
            <a:r>
              <a:rPr kumimoji="1"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446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77E7EB-F750-4E6A-9449-F8F9FA687554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95375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最佳归并树的构造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20850"/>
            <a:ext cx="7772400" cy="48768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最佳归并树即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阶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哈夫曼树。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设初始归并段为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个，进行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k-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）若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(m-1) mod (k-1)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0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则需附加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(k-1)-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(m-1) mod (k-1) </a:t>
            </a:r>
            <a:r>
              <a:rPr lang="zh-CN" altLang="zh-CN" sz="2400" dirty="0" smtClean="0">
                <a:ea typeface="华文楷体" panose="02010600040101010101" pitchFamily="2" charset="-122"/>
              </a:rPr>
              <a:t>个长度为0的虚段，以使每次归并都可以对应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zh-CN" sz="2400" dirty="0" smtClean="0">
                <a:ea typeface="华文楷体" panose="02010600040101010101" pitchFamily="2" charset="-122"/>
              </a:rPr>
              <a:t>个段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sz="2400" dirty="0" smtClean="0">
                <a:ea typeface="华文楷体" panose="02010600040101010101" pitchFamily="2" charset="-122"/>
              </a:rPr>
              <a:t>2）按照哈夫曼树的构造原则（权值越小的结点离根结点越远）构造最佳归并树。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4932363" y="2997200"/>
            <a:ext cx="416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思考：为什么？如何求得的？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F7B130-53C5-4728-A1C9-D0C37E2D314D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虚段的补法的证明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76200" y="1700213"/>
            <a:ext cx="8686800" cy="493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50000"/>
              </a:spcBef>
            </a:pP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解：在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路平衡归并时，它的归并树的模型是一棵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度为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的树。在这棵树上的结点要么是叶子，要么是具有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个儿子的内部结点。设具有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个儿子的内部结点共有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</a:t>
            </a:r>
          </a:p>
          <a:p>
            <a:pPr lvl="1"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。初始归并段的个数为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个。</a:t>
            </a:r>
          </a:p>
          <a:p>
            <a:pPr lvl="1"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设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n =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+  m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故：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从结点出发的枝条，共计有：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× 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根</a:t>
            </a:r>
          </a:p>
          <a:p>
            <a:pPr lvl="1"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若从进入结点结点的角度进行考虑，则共有：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+  m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－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                            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注意：没有枝条进入根结点。</a:t>
            </a:r>
          </a:p>
          <a:p>
            <a:pPr lvl="1"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所以，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× 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＝ 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+  m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－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于是： </a:t>
            </a:r>
            <a:r>
              <a:rPr kumimoji="1" lang="en-US" altLang="zh-CN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＝ 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( m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－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1 ) / ( k - 1)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这就意味着，若 (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m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－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1 ) MOD ( k - 1)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＝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无需增加虚段。否则，要增加虚段，其</a:t>
            </a:r>
          </a:p>
          <a:p>
            <a:pPr lvl="1"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数目为：（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－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）－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( m 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－ </a:t>
            </a:r>
            <a:r>
              <a:rPr kumimoji="1" lang="en-US" altLang="zh-CN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1 ) MOD ( k - 1)</a:t>
            </a:r>
            <a:r>
              <a:rPr kumimoji="1" lang="zh-CN" altLang="en-US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733117-B99B-4C88-83B2-CAA4B4146D01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2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长度分别为</a:t>
            </a:r>
            <a:r>
              <a:rPr lang="en-US" altLang="zh-CN" sz="2800" dirty="0" smtClean="0">
                <a:ea typeface="华文楷体" panose="02010600040101010101" pitchFamily="2" charset="-122"/>
              </a:rPr>
              <a:t>2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3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6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9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12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17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18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24</a:t>
            </a:r>
            <a:r>
              <a:rPr lang="zh-CN" altLang="en-US" sz="2800" dirty="0" smtClean="0">
                <a:ea typeface="华文楷体" panose="02010600040101010101" pitchFamily="2" charset="-122"/>
              </a:rPr>
              <a:t>的</a:t>
            </a:r>
            <a:r>
              <a:rPr lang="en-US" altLang="zh-CN" sz="2800" dirty="0" smtClean="0">
                <a:ea typeface="华文楷体" panose="02010600040101010101" pitchFamily="2" charset="-122"/>
              </a:rPr>
              <a:t>8</a:t>
            </a:r>
            <a:r>
              <a:rPr lang="zh-CN" altLang="en-US" sz="2800" dirty="0" smtClean="0">
                <a:ea typeface="华文楷体" panose="02010600040101010101" pitchFamily="2" charset="-122"/>
              </a:rPr>
              <a:t>个初始归并段进行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3</a:t>
            </a:r>
            <a:r>
              <a:rPr lang="zh-CN" altLang="en-US" sz="2800" dirty="0" smtClean="0">
                <a:ea typeface="华文楷体" panose="02010600040101010101" pitchFamily="2" charset="-122"/>
              </a:rPr>
              <a:t>路归并，求最佳归并树。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                   </a:t>
            </a:r>
            <a:r>
              <a:rPr lang="en-US" altLang="zh-CN" sz="2800" dirty="0" smtClean="0">
                <a:ea typeface="华文楷体" panose="02010600040101010101" pitchFamily="2" charset="-122"/>
              </a:rPr>
              <a:t>91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20           24               47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5        6      9               12   17     18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0    2    3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I/O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次数：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[(2+3)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3 + (6+9+12+17+18)2 + 241] 2  = 326</a:t>
            </a:r>
          </a:p>
        </p:txBody>
      </p:sp>
      <p:sp>
        <p:nvSpPr>
          <p:cNvPr id="29702" name="Oval 4"/>
          <p:cNvSpPr>
            <a:spLocks noChangeArrowheads="1"/>
          </p:cNvSpPr>
          <p:nvPr/>
        </p:nvSpPr>
        <p:spPr bwMode="auto">
          <a:xfrm>
            <a:off x="1403350" y="4365625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3" name="Oval 5"/>
          <p:cNvSpPr>
            <a:spLocks noChangeArrowheads="1"/>
          </p:cNvSpPr>
          <p:nvPr/>
        </p:nvSpPr>
        <p:spPr bwMode="auto">
          <a:xfrm>
            <a:off x="900113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4" name="Oval 6"/>
          <p:cNvSpPr>
            <a:spLocks noChangeArrowheads="1"/>
          </p:cNvSpPr>
          <p:nvPr/>
        </p:nvSpPr>
        <p:spPr bwMode="auto">
          <a:xfrm>
            <a:off x="3635375" y="3352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5" name="Oval 7"/>
          <p:cNvSpPr>
            <a:spLocks noChangeArrowheads="1"/>
          </p:cNvSpPr>
          <p:nvPr/>
        </p:nvSpPr>
        <p:spPr bwMode="auto">
          <a:xfrm>
            <a:off x="19050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6" name="Oval 8"/>
          <p:cNvSpPr>
            <a:spLocks noChangeArrowheads="1"/>
          </p:cNvSpPr>
          <p:nvPr/>
        </p:nvSpPr>
        <p:spPr bwMode="auto">
          <a:xfrm>
            <a:off x="2362200" y="3810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7" name="Oval 9"/>
          <p:cNvSpPr>
            <a:spLocks noChangeArrowheads="1"/>
          </p:cNvSpPr>
          <p:nvPr/>
        </p:nvSpPr>
        <p:spPr bwMode="auto">
          <a:xfrm>
            <a:off x="3048000" y="3810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8" name="Oval 10"/>
          <p:cNvSpPr>
            <a:spLocks noChangeArrowheads="1"/>
          </p:cNvSpPr>
          <p:nvPr/>
        </p:nvSpPr>
        <p:spPr bwMode="auto">
          <a:xfrm>
            <a:off x="4643438" y="3840163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9" name="Oval 11"/>
          <p:cNvSpPr>
            <a:spLocks noChangeArrowheads="1"/>
          </p:cNvSpPr>
          <p:nvPr/>
        </p:nvSpPr>
        <p:spPr bwMode="auto">
          <a:xfrm>
            <a:off x="5343525" y="3840163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0" name="Oval 12"/>
          <p:cNvSpPr>
            <a:spLocks noChangeArrowheads="1"/>
          </p:cNvSpPr>
          <p:nvPr/>
        </p:nvSpPr>
        <p:spPr bwMode="auto">
          <a:xfrm>
            <a:off x="6135688" y="3840163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1" name="Line 13"/>
          <p:cNvSpPr>
            <a:spLocks noChangeShapeType="1"/>
          </p:cNvSpPr>
          <p:nvPr/>
        </p:nvSpPr>
        <p:spPr bwMode="auto">
          <a:xfrm flipV="1">
            <a:off x="1219200" y="4114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2" name="Line 14"/>
          <p:cNvSpPr>
            <a:spLocks noChangeShapeType="1"/>
          </p:cNvSpPr>
          <p:nvPr/>
        </p:nvSpPr>
        <p:spPr bwMode="auto">
          <a:xfrm>
            <a:off x="1600200" y="4191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3" name="Line 15"/>
          <p:cNvSpPr>
            <a:spLocks noChangeShapeType="1"/>
          </p:cNvSpPr>
          <p:nvPr/>
        </p:nvSpPr>
        <p:spPr bwMode="auto">
          <a:xfrm>
            <a:off x="1752600" y="4114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4" name="Line 16"/>
          <p:cNvSpPr>
            <a:spLocks noChangeShapeType="1"/>
          </p:cNvSpPr>
          <p:nvPr/>
        </p:nvSpPr>
        <p:spPr bwMode="auto">
          <a:xfrm flipV="1">
            <a:off x="1828800" y="36576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5" name="Line 18"/>
          <p:cNvSpPr>
            <a:spLocks noChangeShapeType="1"/>
          </p:cNvSpPr>
          <p:nvPr/>
        </p:nvSpPr>
        <p:spPr bwMode="auto">
          <a:xfrm>
            <a:off x="2514600" y="3657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6" name="Line 19"/>
          <p:cNvSpPr>
            <a:spLocks noChangeShapeType="1"/>
          </p:cNvSpPr>
          <p:nvPr/>
        </p:nvSpPr>
        <p:spPr bwMode="auto">
          <a:xfrm>
            <a:off x="2743200" y="35814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7" name="Line 20"/>
          <p:cNvSpPr>
            <a:spLocks noChangeShapeType="1"/>
          </p:cNvSpPr>
          <p:nvPr/>
        </p:nvSpPr>
        <p:spPr bwMode="auto">
          <a:xfrm flipV="1">
            <a:off x="4800600" y="3581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8" name="Line 21"/>
          <p:cNvSpPr>
            <a:spLocks noChangeShapeType="1"/>
          </p:cNvSpPr>
          <p:nvPr/>
        </p:nvSpPr>
        <p:spPr bwMode="auto">
          <a:xfrm>
            <a:off x="5562600" y="3657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9" name="Line 22"/>
          <p:cNvSpPr>
            <a:spLocks noChangeShapeType="1"/>
          </p:cNvSpPr>
          <p:nvPr/>
        </p:nvSpPr>
        <p:spPr bwMode="auto">
          <a:xfrm>
            <a:off x="5715000" y="3581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0" name="Line 23"/>
          <p:cNvSpPr>
            <a:spLocks noChangeShapeType="1"/>
          </p:cNvSpPr>
          <p:nvPr/>
        </p:nvSpPr>
        <p:spPr bwMode="auto">
          <a:xfrm flipV="1">
            <a:off x="2514600" y="3048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1" name="Line 24"/>
          <p:cNvSpPr>
            <a:spLocks noChangeShapeType="1"/>
          </p:cNvSpPr>
          <p:nvPr/>
        </p:nvSpPr>
        <p:spPr bwMode="auto">
          <a:xfrm>
            <a:off x="3810000" y="3124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2" name="Line 25"/>
          <p:cNvSpPr>
            <a:spLocks noChangeShapeType="1"/>
          </p:cNvSpPr>
          <p:nvPr/>
        </p:nvSpPr>
        <p:spPr bwMode="auto">
          <a:xfrm>
            <a:off x="4038600" y="30480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3" name="AutoShape 26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632460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4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3AD506-3689-4F07-B13D-41CE87708D2D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0725" name="AutoShape 10"/>
          <p:cNvSpPr>
            <a:spLocks noChangeArrowheads="1"/>
          </p:cNvSpPr>
          <p:nvPr/>
        </p:nvSpPr>
        <p:spPr bwMode="auto">
          <a:xfrm>
            <a:off x="1066800" y="2743200"/>
            <a:ext cx="6781800" cy="609600"/>
          </a:xfrm>
          <a:prstGeom prst="flowChartPunchedTap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7772400" cy="685800"/>
          </a:xfrm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磁带排序</a:t>
            </a:r>
          </a:p>
        </p:txBody>
      </p:sp>
      <p:sp>
        <p:nvSpPr>
          <p:cNvPr id="307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只有在顺序存取磁带上的数据时，其效能才能充分发挥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本节研究为提高读取信息块的效率，初始归并段在磁带上如何合理分布</a:t>
            </a:r>
          </a:p>
          <a:p>
            <a:pPr eaLnBrk="1" hangingPunct="1"/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/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两种常用的磁带文件排序法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多路平衡归并排序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每一趟归并都是文件中的全部记录参加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多步归并排序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每一步归并不一定需要文件中的全部记录都参加</a:t>
            </a:r>
          </a:p>
        </p:txBody>
      </p:sp>
      <p:sp>
        <p:nvSpPr>
          <p:cNvPr id="30728" name="Text Box 6"/>
          <p:cNvSpPr txBox="1">
            <a:spLocks noChangeArrowheads="1"/>
          </p:cNvSpPr>
          <p:nvPr/>
        </p:nvSpPr>
        <p:spPr bwMode="auto">
          <a:xfrm>
            <a:off x="1219200" y="2819400"/>
            <a:ext cx="655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楷体_GB2312" charset="-122"/>
              </a:rPr>
              <a:t>…</a:t>
            </a:r>
            <a:r>
              <a:rPr kumimoji="1" lang="en-US" altLang="zh-CN" sz="2400" b="0" dirty="0">
                <a:latin typeface="楷体_GB2312" charset="-122"/>
                <a:ea typeface="楷体_GB2312" charset="-122"/>
              </a:rPr>
              <a:t> </a:t>
            </a:r>
            <a:r>
              <a:rPr kumimoji="1" lang="zh-CN" altLang="en-US" sz="2400" b="0" dirty="0" smtClean="0">
                <a:latin typeface="楷体_GB2312" charset="-122"/>
                <a:ea typeface="楷体_GB2312" charset="-122"/>
              </a:rPr>
              <a:t>若干</a:t>
            </a:r>
            <a:r>
              <a:rPr kumimoji="1" lang="zh-CN" altLang="en-US" sz="2400" b="0" dirty="0">
                <a:latin typeface="楷体_GB2312" charset="-122"/>
                <a:ea typeface="楷体_GB2312" charset="-122"/>
              </a:rPr>
              <a:t>初始归并段      一趟归并的结果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楷体_GB2312" charset="-122"/>
              </a:rPr>
              <a:t>…</a:t>
            </a:r>
            <a:endParaRPr kumimoji="1" lang="en-US" altLang="zh-CN" sz="2400" b="0" dirty="0">
              <a:latin typeface="楷体_GB2312" charset="-122"/>
              <a:ea typeface="楷体_GB2312" charset="-122"/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3429000" y="32766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一条带的情况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45720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9590C5-4101-4CB0-A201-951744E2565E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23938"/>
            <a:ext cx="7772400" cy="533400"/>
          </a:xfrm>
        </p:spPr>
        <p:txBody>
          <a:bodyPr/>
          <a:lstStyle/>
          <a:p>
            <a:pPr algn="l" eaLnBrk="1" hangingPunct="1"/>
            <a:r>
              <a:rPr lang="zh-CN" altLang="en-US" sz="240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多路平衡归并排序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71625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使用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路归并。开始时，将待归并的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个初始归并段均匀的分布在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条磁带上。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设文件的记录数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n=4500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每个物理块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250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内存工作区可容纳</a:t>
            </a:r>
            <a:r>
              <a:rPr lang="en-US" altLang="zh-CN" sz="2400" dirty="0" smtClean="0">
                <a:ea typeface="华文楷体" panose="02010600040101010101" pitchFamily="2" charset="-122"/>
              </a:rPr>
              <a:t>750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实现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路归并使用四台磁带机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T4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原数据文件在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T4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上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0F843F-CB81-42B6-84F4-ACE44FF6CC53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66788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排序过程：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1)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内排序生成</a:t>
            </a:r>
            <a:r>
              <a:rPr lang="en-US" altLang="zh-CN" sz="2400" dirty="0" smtClean="0">
                <a:ea typeface="华文楷体" panose="02010600040101010101" pitchFamily="2" charset="-122"/>
              </a:rPr>
              <a:t>4500/750=6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个初始归并段，轮流写在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上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T1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750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1501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R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2250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3001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R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3750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T2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751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1500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2251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R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3000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3751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R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4500</a:t>
            </a:r>
            <a:endParaRPr lang="en-US" altLang="zh-CN" sz="2800" baseline="-250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T3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T4</a:t>
            </a:r>
            <a:endParaRPr lang="en-US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2774" name="Rectangle 4"/>
          <p:cNvSpPr>
            <a:spLocks noChangeArrowheads="1"/>
          </p:cNvSpPr>
          <p:nvPr/>
        </p:nvSpPr>
        <p:spPr bwMode="auto">
          <a:xfrm>
            <a:off x="1600200" y="4014788"/>
            <a:ext cx="6172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75" name="Line 5"/>
          <p:cNvSpPr>
            <a:spLocks noChangeShapeType="1"/>
          </p:cNvSpPr>
          <p:nvPr/>
        </p:nvSpPr>
        <p:spPr bwMode="auto">
          <a:xfrm>
            <a:off x="1600200" y="5767388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76" name="Line 6"/>
          <p:cNvSpPr>
            <a:spLocks noChangeShapeType="1"/>
          </p:cNvSpPr>
          <p:nvPr/>
        </p:nvSpPr>
        <p:spPr bwMode="auto">
          <a:xfrm>
            <a:off x="1600200" y="5157788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77" name="Line 7"/>
          <p:cNvSpPr>
            <a:spLocks noChangeShapeType="1"/>
          </p:cNvSpPr>
          <p:nvPr/>
        </p:nvSpPr>
        <p:spPr bwMode="auto">
          <a:xfrm>
            <a:off x="1600200" y="4624388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685800" y="2185988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2)  T1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T2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上的归并段两路合并，产生的归并段轮流写在 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T3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T4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上</a:t>
            </a:r>
          </a:p>
        </p:txBody>
      </p: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1752600" y="4090988"/>
            <a:ext cx="1447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1676400" y="4700588"/>
            <a:ext cx="1676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1752600" y="5233988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1500</a:t>
            </a:r>
            <a:endParaRPr kumimoji="1" lang="en-US" altLang="zh-CN" b="0" baseline="-25000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8252" name="Text Box 12"/>
          <p:cNvSpPr txBox="1">
            <a:spLocks noChangeArrowheads="1"/>
          </p:cNvSpPr>
          <p:nvPr/>
        </p:nvSpPr>
        <p:spPr bwMode="auto">
          <a:xfrm>
            <a:off x="3581400" y="4090988"/>
            <a:ext cx="1828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3563888" y="4700588"/>
            <a:ext cx="1905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55" name="Text Box 15"/>
          <p:cNvSpPr txBox="1">
            <a:spLocks noChangeArrowheads="1"/>
          </p:cNvSpPr>
          <p:nvPr/>
        </p:nvSpPr>
        <p:spPr bwMode="auto">
          <a:xfrm>
            <a:off x="1676400" y="5843588"/>
            <a:ext cx="1905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1501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3000</a:t>
            </a:r>
          </a:p>
        </p:txBody>
      </p:sp>
      <p:sp>
        <p:nvSpPr>
          <p:cNvPr id="138256" name="Text Box 16"/>
          <p:cNvSpPr txBox="1">
            <a:spLocks noChangeArrowheads="1"/>
          </p:cNvSpPr>
          <p:nvPr/>
        </p:nvSpPr>
        <p:spPr bwMode="auto">
          <a:xfrm>
            <a:off x="5715000" y="4102894"/>
            <a:ext cx="19018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57" name="Text Box 17"/>
          <p:cNvSpPr txBox="1">
            <a:spLocks noChangeArrowheads="1"/>
          </p:cNvSpPr>
          <p:nvPr/>
        </p:nvSpPr>
        <p:spPr bwMode="auto">
          <a:xfrm>
            <a:off x="5786438" y="4692651"/>
            <a:ext cx="190023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58" name="Text Box 18"/>
          <p:cNvSpPr txBox="1">
            <a:spLocks noChangeArrowheads="1"/>
          </p:cNvSpPr>
          <p:nvPr/>
        </p:nvSpPr>
        <p:spPr bwMode="auto">
          <a:xfrm>
            <a:off x="3733800" y="5233988"/>
            <a:ext cx="2057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3001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4500</a:t>
            </a:r>
          </a:p>
        </p:txBody>
      </p:sp>
      <p:sp>
        <p:nvSpPr>
          <p:cNvPr id="138259" name="Text Box 19"/>
          <p:cNvSpPr txBox="1">
            <a:spLocks noChangeArrowheads="1"/>
          </p:cNvSpPr>
          <p:nvPr/>
        </p:nvSpPr>
        <p:spPr bwMode="auto">
          <a:xfrm>
            <a:off x="685800" y="3024188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3)  T3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T4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合并，轮流写在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T1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T2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上</a:t>
            </a:r>
          </a:p>
        </p:txBody>
      </p:sp>
      <p:sp>
        <p:nvSpPr>
          <p:cNvPr id="138260" name="Text Box 20"/>
          <p:cNvSpPr txBox="1">
            <a:spLocks noChangeArrowheads="1"/>
          </p:cNvSpPr>
          <p:nvPr/>
        </p:nvSpPr>
        <p:spPr bwMode="auto">
          <a:xfrm>
            <a:off x="1752600" y="5310188"/>
            <a:ext cx="1524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61" name="Text Box 21"/>
          <p:cNvSpPr txBox="1">
            <a:spLocks noChangeArrowheads="1"/>
          </p:cNvSpPr>
          <p:nvPr/>
        </p:nvSpPr>
        <p:spPr bwMode="auto">
          <a:xfrm>
            <a:off x="1752600" y="5843588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64" name="Text Box 24"/>
          <p:cNvSpPr txBox="1">
            <a:spLocks noChangeArrowheads="1"/>
          </p:cNvSpPr>
          <p:nvPr/>
        </p:nvSpPr>
        <p:spPr bwMode="auto">
          <a:xfrm>
            <a:off x="1828800" y="4090988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3000</a:t>
            </a:r>
          </a:p>
        </p:txBody>
      </p:sp>
      <p:sp>
        <p:nvSpPr>
          <p:cNvPr id="138265" name="Text Box 25"/>
          <p:cNvSpPr txBox="1">
            <a:spLocks noChangeArrowheads="1"/>
          </p:cNvSpPr>
          <p:nvPr/>
        </p:nvSpPr>
        <p:spPr bwMode="auto">
          <a:xfrm>
            <a:off x="3733800" y="5310188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66" name="Text Box 26"/>
          <p:cNvSpPr txBox="1">
            <a:spLocks noChangeArrowheads="1"/>
          </p:cNvSpPr>
          <p:nvPr/>
        </p:nvSpPr>
        <p:spPr bwMode="auto">
          <a:xfrm>
            <a:off x="1752600" y="4700588"/>
            <a:ext cx="1905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3001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4500</a:t>
            </a:r>
          </a:p>
        </p:txBody>
      </p:sp>
      <p:sp>
        <p:nvSpPr>
          <p:cNvPr id="138267" name="Text Box 27"/>
          <p:cNvSpPr txBox="1">
            <a:spLocks noChangeArrowheads="1"/>
          </p:cNvSpPr>
          <p:nvPr/>
        </p:nvSpPr>
        <p:spPr bwMode="auto">
          <a:xfrm>
            <a:off x="685800" y="3481388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4)  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最后合并为一路</a:t>
            </a:r>
          </a:p>
        </p:txBody>
      </p:sp>
      <p:sp>
        <p:nvSpPr>
          <p:cNvPr id="138268" name="Text Box 28"/>
          <p:cNvSpPr txBox="1">
            <a:spLocks noChangeArrowheads="1"/>
          </p:cNvSpPr>
          <p:nvPr/>
        </p:nvSpPr>
        <p:spPr bwMode="auto">
          <a:xfrm>
            <a:off x="1752600" y="4167188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38270" name="Text Box 30"/>
          <p:cNvSpPr txBox="1">
            <a:spLocks noChangeArrowheads="1"/>
          </p:cNvSpPr>
          <p:nvPr/>
        </p:nvSpPr>
        <p:spPr bwMode="auto">
          <a:xfrm>
            <a:off x="1820863" y="4700588"/>
            <a:ext cx="21748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32797" name="Text Box 31"/>
          <p:cNvSpPr txBox="1">
            <a:spLocks noChangeArrowheads="1"/>
          </p:cNvSpPr>
          <p:nvPr/>
        </p:nvSpPr>
        <p:spPr bwMode="auto">
          <a:xfrm>
            <a:off x="5715000" y="3024188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8272" name="Text Box 32"/>
          <p:cNvSpPr txBox="1">
            <a:spLocks noChangeArrowheads="1"/>
          </p:cNvSpPr>
          <p:nvPr/>
        </p:nvSpPr>
        <p:spPr bwMode="auto">
          <a:xfrm>
            <a:off x="1828800" y="5843588"/>
            <a:ext cx="1676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R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4500</a:t>
            </a:r>
            <a:endParaRPr kumimoji="1" lang="en-US" altLang="zh-CN" sz="2000" b="0" baseline="-25000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8" grpId="0" autoUpdateAnimBg="0"/>
      <p:bldP spid="138249" grpId="0" animBg="1" autoUpdateAnimBg="0"/>
      <p:bldP spid="138250" grpId="0" animBg="1" autoUpdateAnimBg="0"/>
      <p:bldP spid="138251" grpId="0" animBg="1" autoUpdateAnimBg="0"/>
      <p:bldP spid="138252" grpId="0" animBg="1" autoUpdateAnimBg="0"/>
      <p:bldP spid="138253" grpId="0" animBg="1" autoUpdateAnimBg="0"/>
      <p:bldP spid="138255" grpId="0" animBg="1" autoUpdateAnimBg="0"/>
      <p:bldP spid="138256" grpId="0" animBg="1" autoUpdateAnimBg="0"/>
      <p:bldP spid="138257" grpId="0" animBg="1" autoUpdateAnimBg="0"/>
      <p:bldP spid="138258" grpId="0" animBg="1" autoUpdateAnimBg="0"/>
      <p:bldP spid="138259" grpId="0" autoUpdateAnimBg="0"/>
      <p:bldP spid="138260" grpId="0" animBg="1" autoUpdateAnimBg="0"/>
      <p:bldP spid="138261" grpId="0" animBg="1" autoUpdateAnimBg="0"/>
      <p:bldP spid="138264" grpId="0" autoUpdateAnimBg="0"/>
      <p:bldP spid="138265" grpId="0" animBg="1" autoUpdateAnimBg="0"/>
      <p:bldP spid="138266" grpId="0" animBg="1" autoUpdateAnimBg="0"/>
      <p:bldP spid="138267" grpId="0" autoUpdateAnimBg="0"/>
      <p:bldP spid="138268" grpId="0" animBg="1" autoUpdateAnimBg="0"/>
      <p:bldP spid="138270" grpId="0" animBg="1" autoUpdateAnimBg="0"/>
      <p:bldP spid="138272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E9A94AF-9972-4A18-B1CB-3B793FD5AF51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19175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处理步骤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92250"/>
            <a:ext cx="80772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条输入带上平衡地取归并段合并，产生的新的归并段均匀地输出到另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条称作输出带的空带上；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下一趟，输入带与输出带的作用互换，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……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直到最后合并成为一个归并段为止。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[k+1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条磁带上的实现方法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(k</a:t>
            </a:r>
            <a:r>
              <a:rPr lang="zh-CN" altLang="zh-CN" sz="2400" dirty="0" smtClean="0">
                <a:ea typeface="华文楷体" panose="02010600040101010101" pitchFamily="2" charset="-122"/>
              </a:rPr>
              <a:t>条作输入，1条作输出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1)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初始归并段均匀地写到前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条磁带上；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2)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路归并后的归并段全部写到第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k+1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条磁带上；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3)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将第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k+1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条磁带上的归并段再均衡地分配到前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条磁带上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4)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进行下一趟合并，直到只有一个归并段为止。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5D16F4-35FF-448B-8E20-E40D440FD8E0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1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23938"/>
            <a:ext cx="7772400" cy="533400"/>
          </a:xfrm>
        </p:spPr>
        <p:txBody>
          <a:bodyPr/>
          <a:lstStyle/>
          <a:p>
            <a:pPr algn="l" eaLnBrk="1" hangingPunct="1"/>
            <a:r>
              <a:rPr lang="zh-CN" altLang="en-US" sz="2400" b="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多步归并排序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2085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使用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k+1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路归并。巧妙地进行初始分布，使得任何一步开始的时候，总有一条且仅有一条磁带是空着的，可以用它作为本步的输出带。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8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设有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17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个初始归并段，进行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路归并。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     </a:t>
            </a: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4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7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10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13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15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17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     T2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5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8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16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     T3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3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6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12  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     T4</a:t>
            </a:r>
            <a:endParaRPr lang="en-US" altLang="zh-CN" sz="2800" dirty="0" smtClean="0">
              <a:ea typeface="华文楷体" panose="02010600040101010101" pitchFamily="2" charset="-122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685800" y="4378325"/>
            <a:ext cx="60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楷体_GB2312" charset="-122"/>
              </a:rPr>
              <a:t>第一步归并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981200" y="4225925"/>
            <a:ext cx="4038600" cy="23452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13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15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17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14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A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16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endParaRPr kumimoji="1" lang="en-US" altLang="zh-CN" sz="2400" b="0" baseline="-25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  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685800" y="4378325"/>
            <a:ext cx="685800" cy="191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>
                <a:latin typeface="Times New Roman" panose="02020603050405020304" pitchFamily="18" charset="0"/>
                <a:ea typeface="楷体_GB2312" charset="-122"/>
              </a:rPr>
              <a:t>第二步归并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1981200" y="4291013"/>
            <a:ext cx="2971800" cy="23821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</a:pP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17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</a:pPr>
            <a:endParaRPr kumimoji="1" lang="en-US" altLang="zh-CN" sz="2400" b="0" baseline="-25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C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 </a:t>
            </a:r>
          </a:p>
          <a:p>
            <a:pPr eaLnBrk="1" hangingPunct="1">
              <a:lnSpc>
                <a:spcPct val="160000"/>
              </a:lnSpc>
            </a:pP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685800" y="4378325"/>
            <a:ext cx="685800" cy="193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楷体_GB2312" charset="-122"/>
              </a:rPr>
              <a:t>第三步归并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2057400" y="4302125"/>
            <a:ext cx="1219200" cy="23698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 </a:t>
            </a:r>
          </a:p>
          <a:p>
            <a:pPr eaLnBrk="1" hangingPunct="1"/>
            <a:endParaRPr kumimoji="1" lang="en-US" altLang="zh-CN" sz="2400" b="0" baseline="-25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685800" y="4378325"/>
            <a:ext cx="533400" cy="193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楷体_GB2312" charset="-122"/>
              </a:rPr>
              <a:t>第四步归并</a:t>
            </a:r>
            <a:endParaRPr kumimoji="1" lang="zh-CN" altLang="en-US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2133600" y="4275138"/>
            <a:ext cx="990600" cy="24929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</a:p>
          <a:p>
            <a:pPr eaLnBrk="1" hangingPunct="1">
              <a:spcBef>
                <a:spcPct val="50000"/>
              </a:spcBef>
            </a:pP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 b="0" baseline="-25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" grpId="0" autoUpdateAnimBg="0"/>
      <p:bldP spid="142341" grpId="0" animBg="1" autoUpdateAnimBg="0"/>
      <p:bldP spid="142343" grpId="0" animBg="1" autoUpdateAnimBg="0"/>
      <p:bldP spid="142344" grpId="0" animBg="1" autoUpdateAnimBg="0"/>
      <p:bldP spid="142345" grpId="0" animBg="1" autoUpdateAnimBg="0"/>
      <p:bldP spid="142346" grpId="0" animBg="1" autoUpdateAnimBg="0"/>
      <p:bldP spid="142347" grpId="0" animBg="1" autoUpdateAnimBg="0"/>
      <p:bldP spid="142348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6989E0-AAAE-495F-83C2-885471158450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1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095375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如何使初始归并段合理分布</a:t>
            </a:r>
            <a:r>
              <a:rPr lang="en-US" altLang="zh-CN" sz="2400" b="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35125"/>
            <a:ext cx="8458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方法一：倒推分析</a:t>
            </a:r>
            <a:endParaRPr lang="zh-CN" altLang="en-US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以</a:t>
            </a:r>
            <a:r>
              <a:rPr lang="en-US" altLang="zh-CN" sz="2400" dirty="0" smtClean="0">
                <a:ea typeface="华文楷体" panose="02010600040101010101" pitchFamily="2" charset="-122"/>
              </a:rPr>
              <a:t>6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条磁带，进行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k=5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路归并为例：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</a:t>
            </a:r>
            <a:r>
              <a:rPr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T1     T2     T3       T4     T5    T6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  </a:t>
            </a:r>
            <a:r>
              <a:rPr lang="zh-CN" altLang="en-US" sz="2800" dirty="0" smtClean="0">
                <a:ea typeface="楷体_GB2312" charset="-122"/>
              </a:rPr>
              <a:t>总段数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楷体_GB2312" charset="-122"/>
              </a:rPr>
              <a:t>              </a:t>
            </a:r>
            <a:r>
              <a:rPr lang="en-US" altLang="zh-CN" sz="2400" dirty="0" smtClean="0">
                <a:ea typeface="楷体_GB2312" charset="-122"/>
              </a:rPr>
              <a:t>1         0         0             0        0        0             1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楷体_GB2312" charset="-122"/>
              </a:rPr>
              <a:t>                </a:t>
            </a:r>
            <a:r>
              <a:rPr lang="en-US" altLang="zh-CN" sz="2400" dirty="0" smtClean="0">
                <a:solidFill>
                  <a:srgbClr val="FF3300"/>
                </a:solidFill>
                <a:ea typeface="楷体_GB2312" charset="-122"/>
              </a:rPr>
              <a:t>0 </a:t>
            </a:r>
            <a:r>
              <a:rPr lang="en-US" altLang="zh-CN" sz="2400" dirty="0" smtClean="0">
                <a:ea typeface="楷体_GB2312" charset="-122"/>
              </a:rPr>
              <a:t>        1          1            1         1        1            5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1  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0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 2            2         2        2            9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3         2   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0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    4         4        4           17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7         6          4     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0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 8        8           33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15       14        12           8  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0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16          65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31       30        28         24        16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0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  129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0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61        59         55        47      31          253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61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0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120       116      108     92          497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……</a:t>
            </a:r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1374304" y="2924943"/>
            <a:ext cx="0" cy="3817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48" name="Line 7"/>
          <p:cNvSpPr>
            <a:spLocks noChangeShapeType="1"/>
          </p:cNvSpPr>
          <p:nvPr/>
        </p:nvSpPr>
        <p:spPr bwMode="auto">
          <a:xfrm>
            <a:off x="1069504" y="3110119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49" name="Text Box 8"/>
          <p:cNvSpPr txBox="1">
            <a:spLocks noChangeArrowheads="1"/>
          </p:cNvSpPr>
          <p:nvPr/>
        </p:nvSpPr>
        <p:spPr bwMode="auto">
          <a:xfrm>
            <a:off x="302492" y="634650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初态</a:t>
            </a:r>
          </a:p>
        </p:txBody>
      </p:sp>
      <p:sp>
        <p:nvSpPr>
          <p:cNvPr id="35850" name="Text Box 9"/>
          <p:cNvSpPr txBox="1">
            <a:spLocks noChangeArrowheads="1"/>
          </p:cNvSpPr>
          <p:nvPr/>
        </p:nvSpPr>
        <p:spPr bwMode="auto">
          <a:xfrm>
            <a:off x="326477" y="2881519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末态</a:t>
            </a:r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>
            <a:off x="1374304" y="2924944"/>
            <a:ext cx="65532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>
            <a:off x="6588224" y="2498725"/>
            <a:ext cx="0" cy="3962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3" name="Rectangle 12"/>
          <p:cNvSpPr>
            <a:spLocks noChangeArrowheads="1"/>
          </p:cNvSpPr>
          <p:nvPr/>
        </p:nvSpPr>
        <p:spPr bwMode="auto">
          <a:xfrm>
            <a:off x="1428590" y="4067175"/>
            <a:ext cx="5040313" cy="68580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3203848" y="4073525"/>
            <a:ext cx="304800" cy="304800"/>
          </a:xfrm>
          <a:prstGeom prst="ellips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5" name="Text Box 14"/>
          <p:cNvSpPr txBox="1">
            <a:spLocks noChangeArrowheads="1"/>
          </p:cNvSpPr>
          <p:nvPr/>
        </p:nvSpPr>
        <p:spPr bwMode="auto">
          <a:xfrm>
            <a:off x="231304" y="3977612"/>
            <a:ext cx="16764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第</a:t>
            </a:r>
            <a:r>
              <a:rPr kumimoji="1" lang="en-US" altLang="zh-CN" sz="2000" b="0" dirty="0" err="1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i</a:t>
            </a:r>
            <a:r>
              <a:rPr kumimoji="1" lang="zh-CN" altLang="en-US" sz="2000" b="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步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第</a:t>
            </a:r>
            <a:r>
              <a:rPr kumimoji="1" lang="en-US" altLang="zh-CN" sz="2000" b="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i-1</a:t>
            </a:r>
            <a:r>
              <a:rPr kumimoji="1" lang="zh-CN" altLang="en-US" sz="2000" b="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47920-EAE0-4CD9-8D68-E5A4ED4BE445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35050"/>
            <a:ext cx="7772400" cy="5562600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方法二：利用</a:t>
            </a: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k-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阶广义斐波那契序列</a:t>
            </a:r>
            <a:endParaRPr lang="zh-CN" altLang="en-US" sz="24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当初始归并段的总数为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k-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阶广义斐波那契序列中的第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j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项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f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j</a:t>
            </a:r>
            <a:r>
              <a:rPr lang="en-US" altLang="zh-CN" sz="2400" baseline="30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(k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时，在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条磁带上分布的归并段的数目应为：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=f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+ 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j-2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+ …… +f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j-k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t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=f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+ 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j-2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+ …… +f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j-k+1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       ……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t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k-1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=f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+ 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j-2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k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=f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j-1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(k)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楷体_GB2312" charset="-122"/>
              </a:rPr>
              <a:t>注：</a:t>
            </a:r>
            <a:r>
              <a:rPr lang="zh-CN" altLang="en-US" sz="2400" dirty="0" smtClean="0">
                <a:ea typeface="楷体_GB2312" charset="-122"/>
              </a:rPr>
              <a:t>若由内部排序得到的初始归并段的总数有不足时，需加“虚段”补充。虚段可以集中在一条带上，也可以分布在多条带上。</a:t>
            </a:r>
            <a:endParaRPr lang="zh-CN" altLang="en-US" sz="2400" b="1" dirty="0" smtClean="0">
              <a:ea typeface="楷体_GB2312" charset="-122"/>
            </a:endParaRPr>
          </a:p>
        </p:txBody>
      </p:sp>
      <p:sp>
        <p:nvSpPr>
          <p:cNvPr id="36870" name="AutoShape 4"/>
          <p:cNvSpPr>
            <a:spLocks/>
          </p:cNvSpPr>
          <p:nvPr/>
        </p:nvSpPr>
        <p:spPr bwMode="auto">
          <a:xfrm>
            <a:off x="1295400" y="2387600"/>
            <a:ext cx="457200" cy="1905000"/>
          </a:xfrm>
          <a:prstGeom prst="leftBrace">
            <a:avLst>
              <a:gd name="adj1" fmla="val 34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1181100" y="5654218"/>
            <a:ext cx="6781800" cy="1015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(k)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 1     (0≤j≤k-1)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(k)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 F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j-k</a:t>
            </a:r>
            <a:r>
              <a:rPr kumimoji="1" lang="en-US" altLang="zh-CN" sz="2400" b="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(k)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+ F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j-k+1</a:t>
            </a:r>
            <a:r>
              <a:rPr kumimoji="1" lang="en-US" altLang="zh-CN" sz="2400" b="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(k)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 + … + F</a:t>
            </a:r>
            <a:r>
              <a:rPr kumimoji="1" lang="en-US" altLang="zh-CN" sz="2400" b="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j-1</a:t>
            </a:r>
            <a:r>
              <a:rPr kumimoji="1" lang="en-US" altLang="zh-CN" sz="2400" b="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(k)     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b="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j≥k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36872" name="AutoShape 6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632460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00BB64-CB41-4D5D-8514-673B002AD017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772400" cy="685800"/>
          </a:xfrm>
        </p:spPr>
        <p:txBody>
          <a:bodyPr/>
          <a:lstStyle/>
          <a:p>
            <a:pPr algn="l"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外部排序作业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924800" cy="48006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zh-CN" altLang="en-US" dirty="0" smtClean="0">
                <a:ea typeface="华文楷体" panose="02010600040101010101" pitchFamily="2" charset="-122"/>
              </a:rPr>
              <a:t>假设一次</a:t>
            </a:r>
            <a:r>
              <a:rPr lang="en-US" altLang="zh-CN" dirty="0" smtClean="0">
                <a:ea typeface="华文楷体" panose="02010600040101010101" pitchFamily="2" charset="-122"/>
              </a:rPr>
              <a:t>I/O</a:t>
            </a:r>
            <a:r>
              <a:rPr lang="zh-CN" altLang="en-US" dirty="0" smtClean="0">
                <a:ea typeface="华文楷体" panose="02010600040101010101" pitchFamily="2" charset="-122"/>
              </a:rPr>
              <a:t>的物理块大小为</a:t>
            </a:r>
            <a:r>
              <a:rPr lang="en-US" altLang="zh-CN" dirty="0" smtClean="0">
                <a:ea typeface="华文楷体" panose="02010600040101010101" pitchFamily="2" charset="-122"/>
              </a:rPr>
              <a:t>150</a:t>
            </a:r>
            <a:r>
              <a:rPr lang="zh-CN" altLang="en-US" dirty="0" smtClean="0">
                <a:ea typeface="华文楷体" panose="02010600040101010101" pitchFamily="2" charset="-122"/>
              </a:rPr>
              <a:t>，每次可对</a:t>
            </a:r>
            <a:r>
              <a:rPr lang="en-US" altLang="zh-CN" dirty="0" smtClean="0">
                <a:ea typeface="华文楷体" panose="02010600040101010101" pitchFamily="2" charset="-122"/>
              </a:rPr>
              <a:t>750 </a:t>
            </a:r>
            <a:r>
              <a:rPr lang="zh-CN" altLang="en-US" dirty="0" smtClean="0">
                <a:ea typeface="华文楷体" panose="02010600040101010101" pitchFamily="2" charset="-122"/>
              </a:rPr>
              <a:t>个记录进行内部排序，那么对含有</a:t>
            </a:r>
            <a:r>
              <a:rPr lang="en-US" altLang="zh-CN" dirty="0" smtClean="0">
                <a:ea typeface="华文楷体" panose="02010600040101010101" pitchFamily="2" charset="-122"/>
              </a:rPr>
              <a:t>150000</a:t>
            </a:r>
            <a:r>
              <a:rPr lang="zh-CN" altLang="en-US" dirty="0" smtClean="0">
                <a:ea typeface="华文楷体" panose="02010600040101010101" pitchFamily="2" charset="-122"/>
              </a:rPr>
              <a:t>个记录的磁盘文件进行</a:t>
            </a:r>
            <a:r>
              <a:rPr lang="en-US" altLang="zh-CN" dirty="0" smtClean="0">
                <a:ea typeface="华文楷体" panose="02010600040101010101" pitchFamily="2" charset="-122"/>
              </a:rPr>
              <a:t>4-</a:t>
            </a:r>
            <a:r>
              <a:rPr lang="zh-CN" altLang="en-US" dirty="0" smtClean="0">
                <a:ea typeface="华文楷体" panose="02010600040101010101" pitchFamily="2" charset="-122"/>
              </a:rPr>
              <a:t>路平衡归并排序时，共需进行多少次</a:t>
            </a:r>
            <a:r>
              <a:rPr lang="en-US" altLang="zh-CN" dirty="0" smtClean="0">
                <a:ea typeface="华文楷体" panose="02010600040101010101" pitchFamily="2" charset="-122"/>
              </a:rPr>
              <a:t>I/O</a:t>
            </a:r>
            <a:r>
              <a:rPr lang="zh-CN" altLang="en-US" dirty="0" smtClean="0">
                <a:ea typeface="华文楷体" panose="02010600040101010101" pitchFamily="2" charset="-122"/>
              </a:rPr>
              <a:t>？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2.</a:t>
            </a:r>
            <a:r>
              <a:rPr lang="zh-CN" altLang="en-US" dirty="0" smtClean="0">
                <a:ea typeface="华文楷体" panose="02010600040101010101" pitchFamily="2" charset="-122"/>
              </a:rPr>
              <a:t>已知某文件经过置换</a:t>
            </a:r>
            <a:r>
              <a:rPr lang="en-US" altLang="zh-CN" dirty="0" smtClean="0">
                <a:ea typeface="华文楷体" panose="02010600040101010101" pitchFamily="2" charset="-122"/>
              </a:rPr>
              <a:t>-</a:t>
            </a:r>
            <a:r>
              <a:rPr lang="zh-CN" altLang="en-US" dirty="0" smtClean="0">
                <a:ea typeface="华文楷体" panose="02010600040101010101" pitchFamily="2" charset="-122"/>
              </a:rPr>
              <a:t>选择排序之后，得到长度分别为</a:t>
            </a:r>
            <a:r>
              <a:rPr lang="en-US" altLang="zh-CN" dirty="0" smtClean="0">
                <a:ea typeface="华文楷体" panose="02010600040101010101" pitchFamily="2" charset="-122"/>
              </a:rPr>
              <a:t>47</a:t>
            </a:r>
            <a:r>
              <a:rPr lang="zh-CN" altLang="en-US" dirty="0" smtClean="0">
                <a:ea typeface="华文楷体" panose="02010600040101010101" pitchFamily="2" charset="-122"/>
              </a:rPr>
              <a:t>，</a:t>
            </a:r>
            <a:r>
              <a:rPr lang="en-US" altLang="zh-CN" dirty="0" smtClean="0">
                <a:ea typeface="华文楷体" panose="02010600040101010101" pitchFamily="2" charset="-122"/>
              </a:rPr>
              <a:t>9</a:t>
            </a:r>
            <a:r>
              <a:rPr lang="zh-CN" altLang="en-US" dirty="0" smtClean="0">
                <a:ea typeface="华文楷体" panose="02010600040101010101" pitchFamily="2" charset="-122"/>
              </a:rPr>
              <a:t>，</a:t>
            </a:r>
            <a:r>
              <a:rPr lang="en-US" altLang="zh-CN" dirty="0" smtClean="0">
                <a:ea typeface="华文楷体" panose="02010600040101010101" pitchFamily="2" charset="-122"/>
              </a:rPr>
              <a:t>31</a:t>
            </a:r>
            <a:r>
              <a:rPr lang="zh-CN" altLang="en-US" dirty="0" smtClean="0">
                <a:ea typeface="华文楷体" panose="02010600040101010101" pitchFamily="2" charset="-122"/>
              </a:rPr>
              <a:t>，</a:t>
            </a:r>
            <a:r>
              <a:rPr lang="en-US" altLang="zh-CN" dirty="0" smtClean="0">
                <a:ea typeface="华文楷体" panose="02010600040101010101" pitchFamily="2" charset="-122"/>
              </a:rPr>
              <a:t>18</a:t>
            </a:r>
            <a:r>
              <a:rPr lang="zh-CN" altLang="en-US" dirty="0" smtClean="0">
                <a:ea typeface="华文楷体" panose="02010600040101010101" pitchFamily="2" charset="-122"/>
              </a:rPr>
              <a:t>，</a:t>
            </a:r>
            <a:r>
              <a:rPr lang="en-US" altLang="zh-CN" dirty="0" smtClean="0">
                <a:ea typeface="华文楷体" panose="02010600040101010101" pitchFamily="2" charset="-122"/>
              </a:rPr>
              <a:t>4</a:t>
            </a:r>
            <a:r>
              <a:rPr lang="zh-CN" altLang="en-US" dirty="0" smtClean="0">
                <a:ea typeface="华文楷体" panose="02010600040101010101" pitchFamily="2" charset="-122"/>
              </a:rPr>
              <a:t>，</a:t>
            </a:r>
            <a:r>
              <a:rPr lang="en-US" altLang="zh-CN" dirty="0" smtClean="0">
                <a:ea typeface="华文楷体" panose="02010600040101010101" pitchFamily="2" charset="-122"/>
              </a:rPr>
              <a:t>12</a:t>
            </a:r>
            <a:r>
              <a:rPr lang="zh-CN" altLang="en-US" dirty="0" smtClean="0">
                <a:ea typeface="华文楷体" panose="02010600040101010101" pitchFamily="2" charset="-122"/>
              </a:rPr>
              <a:t>，</a:t>
            </a:r>
            <a:r>
              <a:rPr lang="en-US" altLang="zh-CN" dirty="0" smtClean="0">
                <a:ea typeface="华文楷体" panose="02010600040101010101" pitchFamily="2" charset="-122"/>
              </a:rPr>
              <a:t>23</a:t>
            </a:r>
            <a:r>
              <a:rPr lang="zh-CN" altLang="en-US" dirty="0" smtClean="0">
                <a:ea typeface="华文楷体" panose="02010600040101010101" pitchFamily="2" charset="-122"/>
              </a:rPr>
              <a:t>和</a:t>
            </a:r>
            <a:r>
              <a:rPr lang="en-US" altLang="zh-CN" dirty="0" smtClean="0">
                <a:ea typeface="华文楷体" panose="02010600040101010101" pitchFamily="2" charset="-122"/>
              </a:rPr>
              <a:t>7</a:t>
            </a:r>
            <a:r>
              <a:rPr lang="zh-CN" altLang="en-US" dirty="0" smtClean="0">
                <a:ea typeface="华文楷体" panose="02010600040101010101" pitchFamily="2" charset="-122"/>
              </a:rPr>
              <a:t>（单位均为物理块）的</a:t>
            </a:r>
            <a:r>
              <a:rPr lang="en-US" altLang="zh-CN" dirty="0" smtClean="0">
                <a:ea typeface="华文楷体" panose="02010600040101010101" pitchFamily="2" charset="-122"/>
              </a:rPr>
              <a:t>8</a:t>
            </a:r>
            <a:r>
              <a:rPr lang="zh-CN" altLang="en-US" dirty="0" smtClean="0">
                <a:ea typeface="华文楷体" panose="02010600040101010101" pitchFamily="2" charset="-122"/>
              </a:rPr>
              <a:t>个初始归并段。试为</a:t>
            </a:r>
            <a:r>
              <a:rPr lang="en-US" altLang="zh-CN" dirty="0" smtClean="0">
                <a:ea typeface="华文楷体" panose="02010600040101010101" pitchFamily="2" charset="-122"/>
              </a:rPr>
              <a:t>3-</a:t>
            </a:r>
            <a:r>
              <a:rPr lang="zh-CN" altLang="en-US" dirty="0" smtClean="0">
                <a:ea typeface="华文楷体" panose="02010600040101010101" pitchFamily="2" charset="-122"/>
              </a:rPr>
              <a:t>路平衡归并设计一个读写外存次数最少的归并方案，并求出读写外存的次数。</a:t>
            </a:r>
          </a:p>
        </p:txBody>
      </p:sp>
      <p:sp>
        <p:nvSpPr>
          <p:cNvPr id="37895" name="AutoShape 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458200" y="6324600"/>
            <a:ext cx="3048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国外精美的的PPT模板及图标之二">
  <a:themeElements>
    <a:clrScheme name="国外精美的的PPT模板及图标之二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国外精美的的PPT模板及图标之二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国外精美的的PPT模板及图标之二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6336</TotalTime>
  <Words>4632</Words>
  <Application>Microsoft Office PowerPoint</Application>
  <PresentationFormat>全屏显示(4:3)</PresentationFormat>
  <Paragraphs>714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华文楷体</vt:lpstr>
      <vt:lpstr>楷体_GB2312</vt:lpstr>
      <vt:lpstr>宋体</vt:lpstr>
      <vt:lpstr>Arial</vt:lpstr>
      <vt:lpstr>Symbol</vt:lpstr>
      <vt:lpstr>Times New Roman</vt:lpstr>
      <vt:lpstr>Verdana</vt:lpstr>
      <vt:lpstr>Wingdings</vt:lpstr>
      <vt:lpstr>国外精美的的PPT模板及图标之二</vt:lpstr>
      <vt:lpstr>第十章  外部排序</vt:lpstr>
      <vt:lpstr>PowerPoint 演示文稿</vt:lpstr>
      <vt:lpstr>外部信息的存取</vt:lpstr>
      <vt:lpstr>PowerPoint 演示文稿</vt:lpstr>
      <vt:lpstr>2  磁盘信息的存取</vt:lpstr>
      <vt:lpstr>外部排序的基本方法—归并排序法</vt:lpstr>
      <vt:lpstr>PowerPoint 演示文稿</vt:lpstr>
      <vt:lpstr>[提高外排序效率的途径]</vt:lpstr>
      <vt:lpstr>多路(k路)平衡归并</vt:lpstr>
      <vt:lpstr>[胜者树(树形选择排序)的缺陷]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置换-选择排序</vt:lpstr>
      <vt:lpstr>PowerPoint 演示文稿</vt:lpstr>
      <vt:lpstr>PowerPoint 演示文稿</vt:lpstr>
      <vt:lpstr>[置换-选择排序的实现]</vt:lpstr>
      <vt:lpstr>PowerPoint 演示文稿</vt:lpstr>
      <vt:lpstr>PowerPoint 演示文稿</vt:lpstr>
      <vt:lpstr>[置换-选择排序的效果]</vt:lpstr>
      <vt:lpstr>PowerPoint 演示文稿</vt:lpstr>
      <vt:lpstr>磁盘排序</vt:lpstr>
      <vt:lpstr>[最佳归并树的构造]</vt:lpstr>
      <vt:lpstr>PowerPoint 演示文稿</vt:lpstr>
      <vt:lpstr>PowerPoint 演示文稿</vt:lpstr>
      <vt:lpstr>磁带排序</vt:lpstr>
      <vt:lpstr>多路平衡归并排序</vt:lpstr>
      <vt:lpstr>PowerPoint 演示文稿</vt:lpstr>
      <vt:lpstr>[处理步骤]</vt:lpstr>
      <vt:lpstr>多步归并排序</vt:lpstr>
      <vt:lpstr>[如何使初始归并段合理分布]</vt:lpstr>
      <vt:lpstr>PowerPoint 演示文稿</vt:lpstr>
      <vt:lpstr>外部排序作业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本章内容</dc:title>
  <dc:creator>xush</dc:creator>
  <cp:lastModifiedBy>sunnylife</cp:lastModifiedBy>
  <cp:revision>329</cp:revision>
  <cp:lastPrinted>2000-02-21T03:59:48Z</cp:lastPrinted>
  <dcterms:created xsi:type="dcterms:W3CDTF">2000-02-21T01:53:45Z</dcterms:created>
  <dcterms:modified xsi:type="dcterms:W3CDTF">2024-06-13T00:47:28Z</dcterms:modified>
</cp:coreProperties>
</file>