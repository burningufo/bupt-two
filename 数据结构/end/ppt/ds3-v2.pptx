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305" r:id="rId3"/>
    <p:sldId id="257" r:id="rId4"/>
    <p:sldId id="258" r:id="rId5"/>
    <p:sldId id="259" r:id="rId6"/>
    <p:sldId id="260" r:id="rId7"/>
    <p:sldId id="316" r:id="rId8"/>
    <p:sldId id="317" r:id="rId9"/>
    <p:sldId id="261" r:id="rId10"/>
    <p:sldId id="262" r:id="rId11"/>
    <p:sldId id="280" r:id="rId12"/>
    <p:sldId id="281" r:id="rId13"/>
    <p:sldId id="263" r:id="rId14"/>
    <p:sldId id="264" r:id="rId15"/>
    <p:sldId id="265" r:id="rId16"/>
    <p:sldId id="266" r:id="rId17"/>
    <p:sldId id="267" r:id="rId18"/>
    <p:sldId id="313" r:id="rId19"/>
    <p:sldId id="314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312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11" r:id="rId5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0" autoAdjust="0"/>
    <p:restoredTop sz="94660"/>
  </p:normalViewPr>
  <p:slideViewPr>
    <p:cSldViewPr>
      <p:cViewPr varScale="1">
        <p:scale>
          <a:sx n="68" d="100"/>
          <a:sy n="68" d="100"/>
        </p:scale>
        <p:origin x="126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0" y="6611938"/>
            <a:ext cx="9144000" cy="260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76238" y="228600"/>
            <a:ext cx="1147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6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BUPT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371600" y="5867400"/>
            <a:ext cx="655320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868863"/>
            <a:ext cx="9144000" cy="720725"/>
          </a:xfr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tx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ko-KR" noProof="0" smtClean="0"/>
              <a:t>Click to edit Master title</a:t>
            </a:r>
            <a:br>
              <a:rPr lang="en-US" altLang="ko-KR" noProof="0" smtClean="0"/>
            </a:br>
            <a:r>
              <a:rPr lang="en-US" altLang="ko-KR" noProof="0" smtClean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177953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4AA2C-6F85-4FF8-BCE8-2A5525DCDF8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328320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D6895-847B-4B68-B3CE-FDA4DD7E055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57176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5BB68-54F4-4BAC-AC03-610DCE342B8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83008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27B504-D512-452E-9757-E38E2ACFAD2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605099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51847-0502-4BB9-9BD3-DCCAAC194DB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344255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1DD94-64A7-49BB-8393-4882FB9B5C9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339278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98CB6A-B55A-40D7-8033-4149746E28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353803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66DA4-114A-4AE8-BBB2-536EB31D1B1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69956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C77511-A356-475F-B487-9C374C1E697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40642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C69781-EEC6-4EAE-9FE7-2BD2D4F0F72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03754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525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51275" y="6461125"/>
            <a:ext cx="491172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1">
                <a:latin typeface="+mj-lt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21438"/>
            <a:ext cx="792163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latin typeface="+mj-lt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fld id="{18C88C24-67E3-49EA-836E-BABC1519D6E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gray">
          <a:xfrm>
            <a:off x="0" y="838200"/>
            <a:ext cx="9144000" cy="2444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endParaRPr lang="zh-CN" altLang="zh-CN" sz="1000" b="1" dirty="0" smtClean="0">
              <a:solidFill>
                <a:schemeClr val="bg1"/>
              </a:solidFill>
              <a:latin typeface="Verdan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14288" y="838200"/>
            <a:ext cx="8458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 b="1">
                <a:solidFill>
                  <a:schemeClr val="bg1"/>
                </a:solidFill>
                <a:latin typeface="+mj-lt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a typeface="华文楷体" panose="02010600040101010101" pitchFamily="2" charset="-122"/>
              </a:rPr>
              <a:t>第三章 栈与队列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a typeface="华文楷体" panose="02010600040101010101" pitchFamily="2" charset="-122"/>
              </a:rPr>
              <a:t>第三章 （第一部分）栈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2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smtClean="0">
                <a:ea typeface="华文楷体" panose="02010600040101010101" pitchFamily="2" charset="-122"/>
              </a:rPr>
              <a:t>提    纲</a:t>
            </a:r>
          </a:p>
        </p:txBody>
      </p:sp>
      <p:grpSp>
        <p:nvGrpSpPr>
          <p:cNvPr id="5125" name="Group 16"/>
          <p:cNvGrpSpPr>
            <a:grpSpLocks/>
          </p:cNvGrpSpPr>
          <p:nvPr/>
        </p:nvGrpSpPr>
        <p:grpSpPr bwMode="auto">
          <a:xfrm>
            <a:off x="2411413" y="1773238"/>
            <a:ext cx="762000" cy="665162"/>
            <a:chOff x="1110" y="2656"/>
            <a:chExt cx="1549" cy="1351"/>
          </a:xfrm>
        </p:grpSpPr>
        <p:sp>
          <p:nvSpPr>
            <p:cNvPr id="5150" name="AutoShape 17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5151" name="AutoShape 18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7187" name="AutoShape 19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5126" name="Group 20"/>
          <p:cNvGrpSpPr>
            <a:grpSpLocks/>
          </p:cNvGrpSpPr>
          <p:nvPr/>
        </p:nvGrpSpPr>
        <p:grpSpPr bwMode="auto">
          <a:xfrm>
            <a:off x="2411413" y="2725738"/>
            <a:ext cx="762000" cy="665162"/>
            <a:chOff x="3174" y="2656"/>
            <a:chExt cx="1549" cy="1351"/>
          </a:xfrm>
        </p:grpSpPr>
        <p:sp>
          <p:nvSpPr>
            <p:cNvPr id="5147" name="AutoShape 21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5148" name="AutoShape 22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7191" name="AutoShape 23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5127" name="Line 24"/>
          <p:cNvSpPr>
            <a:spLocks noChangeShapeType="1"/>
          </p:cNvSpPr>
          <p:nvPr/>
        </p:nvSpPr>
        <p:spPr bwMode="auto">
          <a:xfrm flipV="1">
            <a:off x="3021013" y="2366963"/>
            <a:ext cx="2774950" cy="15875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" name="Text Box 25"/>
          <p:cNvSpPr txBox="1">
            <a:spLocks noChangeArrowheads="1"/>
          </p:cNvSpPr>
          <p:nvPr/>
        </p:nvSpPr>
        <p:spPr bwMode="auto">
          <a:xfrm>
            <a:off x="3275013" y="1830388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栈的定义</a:t>
            </a:r>
          </a:p>
        </p:txBody>
      </p:sp>
      <p:sp>
        <p:nvSpPr>
          <p:cNvPr id="5129" name="Text Box 26"/>
          <p:cNvSpPr txBox="1">
            <a:spLocks noChangeArrowheads="1"/>
          </p:cNvSpPr>
          <p:nvPr/>
        </p:nvSpPr>
        <p:spPr bwMode="gray">
          <a:xfrm>
            <a:off x="2616200" y="1871663"/>
            <a:ext cx="3381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5130" name="Line 27"/>
          <p:cNvSpPr>
            <a:spLocks noChangeShapeType="1"/>
          </p:cNvSpPr>
          <p:nvPr/>
        </p:nvSpPr>
        <p:spPr bwMode="auto">
          <a:xfrm flipV="1">
            <a:off x="2987675" y="3321050"/>
            <a:ext cx="2808288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1" name="Text Box 28"/>
          <p:cNvSpPr txBox="1">
            <a:spLocks noChangeArrowheads="1"/>
          </p:cNvSpPr>
          <p:nvPr/>
        </p:nvSpPr>
        <p:spPr bwMode="auto">
          <a:xfrm>
            <a:off x="3300413" y="2782888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顺序栈</a:t>
            </a:r>
          </a:p>
        </p:txBody>
      </p:sp>
      <p:sp>
        <p:nvSpPr>
          <p:cNvPr id="5132" name="Text Box 29"/>
          <p:cNvSpPr txBox="1">
            <a:spLocks noChangeArrowheads="1"/>
          </p:cNvSpPr>
          <p:nvPr/>
        </p:nvSpPr>
        <p:spPr bwMode="gray">
          <a:xfrm>
            <a:off x="2616200" y="2824163"/>
            <a:ext cx="3381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华文楷体" panose="02010600040101010101" pitchFamily="2" charset="-122"/>
              </a:rPr>
              <a:t>2</a:t>
            </a:r>
          </a:p>
        </p:txBody>
      </p:sp>
      <p:grpSp>
        <p:nvGrpSpPr>
          <p:cNvPr id="5133" name="Group 30"/>
          <p:cNvGrpSpPr>
            <a:grpSpLocks/>
          </p:cNvGrpSpPr>
          <p:nvPr/>
        </p:nvGrpSpPr>
        <p:grpSpPr bwMode="auto">
          <a:xfrm>
            <a:off x="2411413" y="3735388"/>
            <a:ext cx="762000" cy="665162"/>
            <a:chOff x="1110" y="2656"/>
            <a:chExt cx="1549" cy="1351"/>
          </a:xfrm>
        </p:grpSpPr>
        <p:sp>
          <p:nvSpPr>
            <p:cNvPr id="5144" name="AutoShape 31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5145" name="AutoShape 32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7201" name="AutoShape 33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5134" name="Group 34"/>
          <p:cNvGrpSpPr>
            <a:grpSpLocks/>
          </p:cNvGrpSpPr>
          <p:nvPr/>
        </p:nvGrpSpPr>
        <p:grpSpPr bwMode="auto">
          <a:xfrm>
            <a:off x="2411413" y="4725988"/>
            <a:ext cx="762000" cy="665162"/>
            <a:chOff x="3174" y="2656"/>
            <a:chExt cx="1549" cy="1351"/>
          </a:xfrm>
        </p:grpSpPr>
        <p:sp>
          <p:nvSpPr>
            <p:cNvPr id="5141" name="AutoShape 35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5142" name="AutoShape 36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7205" name="AutoShape 37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5135" name="Line 38"/>
          <p:cNvSpPr>
            <a:spLocks noChangeShapeType="1"/>
          </p:cNvSpPr>
          <p:nvPr/>
        </p:nvSpPr>
        <p:spPr bwMode="auto">
          <a:xfrm>
            <a:off x="3059113" y="4256088"/>
            <a:ext cx="273685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6" name="Text Box 39"/>
          <p:cNvSpPr txBox="1">
            <a:spLocks noChangeArrowheads="1"/>
          </p:cNvSpPr>
          <p:nvPr/>
        </p:nvSpPr>
        <p:spPr bwMode="auto">
          <a:xfrm>
            <a:off x="3262313" y="3792538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链栈</a:t>
            </a:r>
          </a:p>
        </p:txBody>
      </p:sp>
      <p:sp>
        <p:nvSpPr>
          <p:cNvPr id="5137" name="Text Box 40"/>
          <p:cNvSpPr txBox="1">
            <a:spLocks noChangeArrowheads="1"/>
          </p:cNvSpPr>
          <p:nvPr/>
        </p:nvSpPr>
        <p:spPr bwMode="gray">
          <a:xfrm>
            <a:off x="2616200" y="3833813"/>
            <a:ext cx="3381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5138" name="Line 41"/>
          <p:cNvSpPr>
            <a:spLocks noChangeShapeType="1"/>
          </p:cNvSpPr>
          <p:nvPr/>
        </p:nvSpPr>
        <p:spPr bwMode="auto">
          <a:xfrm>
            <a:off x="3021013" y="5335588"/>
            <a:ext cx="277495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9" name="Text Box 42"/>
          <p:cNvSpPr txBox="1">
            <a:spLocks noChangeArrowheads="1"/>
          </p:cNvSpPr>
          <p:nvPr/>
        </p:nvSpPr>
        <p:spPr bwMode="auto">
          <a:xfrm>
            <a:off x="3203575" y="476091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栈的应用</a:t>
            </a:r>
          </a:p>
        </p:txBody>
      </p:sp>
      <p:sp>
        <p:nvSpPr>
          <p:cNvPr id="5140" name="Text Box 43"/>
          <p:cNvSpPr txBox="1">
            <a:spLocks noChangeArrowheads="1"/>
          </p:cNvSpPr>
          <p:nvPr/>
        </p:nvSpPr>
        <p:spPr bwMode="gray">
          <a:xfrm>
            <a:off x="2616200" y="4824413"/>
            <a:ext cx="3381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华文楷体" panose="02010600040101010101" pitchFamily="2" charset="-122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smtClean="0">
                <a:ea typeface="华文楷体" panose="02010600040101010101" pitchFamily="2" charset="-122"/>
              </a:rPr>
              <a:t>3.1 </a:t>
            </a:r>
            <a:r>
              <a:rPr lang="zh-CN" altLang="en-US" sz="2800" smtClean="0">
                <a:ea typeface="华文楷体" panose="02010600040101010101" pitchFamily="2" charset="-122"/>
              </a:rPr>
              <a:t>栈的定义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b="1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栈的定义</a:t>
            </a:r>
            <a:r>
              <a:rPr lang="en-US" altLang="zh-CN" b="1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ea typeface="华文楷体" panose="02010600040101010101" pitchFamily="2" charset="-122"/>
                <a:sym typeface="Symbol" panose="05050102010706020507" pitchFamily="18" charset="2"/>
              </a:rPr>
              <a:t>栈</a:t>
            </a:r>
            <a:r>
              <a:rPr lang="zh-CN" altLang="en-US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是一种特殊的线性表，限定插入和删除操作只能在表尾进行。具有</a:t>
            </a:r>
            <a:r>
              <a:rPr lang="zh-CN" altLang="en-US" sz="2400" b="1" smtClean="0">
                <a:ea typeface="华文楷体" panose="02010600040101010101" pitchFamily="2" charset="-122"/>
                <a:sym typeface="Symbol" panose="05050102010706020507" pitchFamily="18" charset="2"/>
              </a:rPr>
              <a:t>后进先出</a:t>
            </a: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(LIFO—</a:t>
            </a:r>
            <a:r>
              <a:rPr lang="en-US" altLang="zh-CN" sz="2400" smtClean="0">
                <a:ea typeface="华文楷体" panose="02010600040101010101" pitchFamily="2" charset="-122"/>
              </a:rPr>
              <a:t>Last In First Out </a:t>
            </a: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的特点。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smtClean="0"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3352800" y="3657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3352800" y="5943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 flipV="1">
            <a:off x="4648200" y="35814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33528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3352800" y="5105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 flipV="1">
            <a:off x="3352800" y="4343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3352800" y="3886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7" name="Text Box 13"/>
          <p:cNvSpPr txBox="1">
            <a:spLocks noChangeArrowheads="1"/>
          </p:cNvSpPr>
          <p:nvPr/>
        </p:nvSpPr>
        <p:spPr bwMode="auto">
          <a:xfrm>
            <a:off x="3810000" y="5486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a</a:t>
            </a:r>
            <a:r>
              <a:rPr kumimoji="1" lang="en-US" altLang="zh-CN" sz="2400" baseline="-25000">
                <a:ea typeface="华文楷体" panose="02010600040101010101" pitchFamily="2" charset="-122"/>
              </a:rPr>
              <a:t>0</a:t>
            </a:r>
            <a:endParaRPr kumimoji="1" lang="en-US" altLang="zh-CN" sz="2400">
              <a:ea typeface="华文楷体" panose="02010600040101010101" pitchFamily="2" charset="-122"/>
            </a:endParaRPr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3810000" y="5029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a</a:t>
            </a:r>
            <a:r>
              <a:rPr kumimoji="1" lang="en-US" altLang="zh-CN" sz="2400" baseline="-25000">
                <a:ea typeface="华文楷体" panose="02010600040101010101" pitchFamily="2" charset="-122"/>
              </a:rPr>
              <a:t>1</a:t>
            </a:r>
            <a:endParaRPr kumimoji="1" lang="en-US" altLang="zh-CN" sz="2400">
              <a:ea typeface="华文楷体" panose="02010600040101010101" pitchFamily="2" charset="-122"/>
            </a:endParaRPr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3810000" y="3886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a</a:t>
            </a:r>
            <a:r>
              <a:rPr kumimoji="1" lang="en-US" altLang="zh-CN" sz="2400" baseline="-25000">
                <a:ea typeface="华文楷体" panose="02010600040101010101" pitchFamily="2" charset="-122"/>
              </a:rPr>
              <a:t>n-1</a:t>
            </a:r>
            <a:endParaRPr kumimoji="1" lang="en-US" altLang="zh-CN" sz="2400">
              <a:ea typeface="华文楷体" panose="02010600040101010101" pitchFamily="2" charset="-122"/>
            </a:endParaRPr>
          </a:p>
        </p:txBody>
      </p: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4648200" y="3886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>
                <a:solidFill>
                  <a:srgbClr val="FF3300"/>
                </a:solidFill>
                <a:ea typeface="华文楷体" panose="02010600040101010101" pitchFamily="2" charset="-122"/>
              </a:rPr>
              <a:t>栈顶</a:t>
            </a:r>
            <a:r>
              <a:rPr kumimoji="1" lang="zh-CN" altLang="en-US" sz="2400">
                <a:ea typeface="华文楷体" panose="02010600040101010101" pitchFamily="2" charset="-122"/>
              </a:rPr>
              <a:t>（表尾）</a:t>
            </a:r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4648200" y="55626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>
                <a:solidFill>
                  <a:srgbClr val="FF3300"/>
                </a:solidFill>
                <a:ea typeface="华文楷体" panose="02010600040101010101" pitchFamily="2" charset="-122"/>
              </a:rPr>
              <a:t>栈底</a:t>
            </a:r>
            <a:endParaRPr kumimoji="1" lang="zh-CN" altLang="en-US" sz="2400">
              <a:ea typeface="华文楷体" panose="02010600040101010101" pitchFamily="2" charset="-122"/>
            </a:endParaRPr>
          </a:p>
        </p:txBody>
      </p:sp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1905000" y="55626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bottom</a:t>
            </a:r>
          </a:p>
        </p:txBody>
      </p:sp>
      <p:sp>
        <p:nvSpPr>
          <p:cNvPr id="6163" name="Text Box 19"/>
          <p:cNvSpPr txBox="1">
            <a:spLocks noChangeArrowheads="1"/>
          </p:cNvSpPr>
          <p:nvPr/>
        </p:nvSpPr>
        <p:spPr bwMode="auto">
          <a:xfrm>
            <a:off x="2362200" y="38862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top</a:t>
            </a:r>
          </a:p>
        </p:txBody>
      </p:sp>
      <p:sp>
        <p:nvSpPr>
          <p:cNvPr id="6164" name="Line 20"/>
          <p:cNvSpPr>
            <a:spLocks noChangeShapeType="1"/>
          </p:cNvSpPr>
          <p:nvPr/>
        </p:nvSpPr>
        <p:spPr bwMode="auto">
          <a:xfrm>
            <a:off x="2895600" y="4114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5" name="Line 21"/>
          <p:cNvSpPr>
            <a:spLocks noChangeShapeType="1"/>
          </p:cNvSpPr>
          <p:nvPr/>
        </p:nvSpPr>
        <p:spPr bwMode="auto">
          <a:xfrm>
            <a:off x="28956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6" name="Text Box 22"/>
          <p:cNvSpPr txBox="1">
            <a:spLocks noChangeArrowheads="1"/>
          </p:cNvSpPr>
          <p:nvPr/>
        </p:nvSpPr>
        <p:spPr bwMode="auto">
          <a:xfrm>
            <a:off x="2819400" y="2895600"/>
            <a:ext cx="76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入栈</a:t>
            </a:r>
            <a:r>
              <a:rPr kumimoji="1" lang="en-US" altLang="zh-CN" sz="2000">
                <a:latin typeface="楷体_GB2312" pitchFamily="49" charset="-122"/>
                <a:ea typeface="楷体_GB2312" pitchFamily="49" charset="-122"/>
              </a:rPr>
              <a:t>push</a:t>
            </a:r>
          </a:p>
        </p:txBody>
      </p:sp>
      <p:sp>
        <p:nvSpPr>
          <p:cNvPr id="6167" name="AutoShape 23"/>
          <p:cNvSpPr>
            <a:spLocks noChangeArrowheads="1"/>
          </p:cNvSpPr>
          <p:nvPr/>
        </p:nvSpPr>
        <p:spPr bwMode="auto">
          <a:xfrm rot="5400000">
            <a:off x="3467100" y="3314700"/>
            <a:ext cx="609600" cy="5334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053553029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8" name="AutoShape 24"/>
          <p:cNvSpPr>
            <a:spLocks noChangeArrowheads="1"/>
          </p:cNvSpPr>
          <p:nvPr/>
        </p:nvSpPr>
        <p:spPr bwMode="auto">
          <a:xfrm>
            <a:off x="4191000" y="3200400"/>
            <a:ext cx="457200" cy="6096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649764385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9" name="Text Box 25"/>
          <p:cNvSpPr txBox="1">
            <a:spLocks noChangeArrowheads="1"/>
          </p:cNvSpPr>
          <p:nvPr/>
        </p:nvSpPr>
        <p:spPr bwMode="auto">
          <a:xfrm>
            <a:off x="4724400" y="2895600"/>
            <a:ext cx="76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rgbClr val="FF3300"/>
                </a:solidFill>
                <a:ea typeface="楷体_GB2312" pitchFamily="49" charset="-122"/>
              </a:rPr>
              <a:t>出栈</a:t>
            </a:r>
            <a:r>
              <a:rPr kumimoji="1" lang="en-US" altLang="zh-CN" sz="2000">
                <a:ea typeface="楷体_GB2312" pitchFamily="49" charset="-122"/>
              </a:rPr>
              <a:t>pop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395288" y="981075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定义在栈结构上的基本运算</a:t>
            </a:r>
            <a:endParaRPr lang="zh-CN" altLang="en-US" sz="2800" b="1">
              <a:solidFill>
                <a:schemeClr val="accent2"/>
              </a:solidFill>
              <a:latin typeface="Verdan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717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831975"/>
            <a:ext cx="7772400" cy="4419600"/>
          </a:xfrm>
          <a:noFill/>
        </p:spPr>
        <p:txBody>
          <a:bodyPr/>
          <a:lstStyle/>
          <a:p>
            <a:pPr eaLnBrk="1" hangingPunct="1"/>
            <a:r>
              <a:rPr lang="en-US" altLang="zh-CN" sz="2800" smtClean="0">
                <a:ea typeface="华文楷体" panose="02010600040101010101" pitchFamily="2" charset="-122"/>
              </a:rPr>
              <a:t>      (1)  </a:t>
            </a:r>
            <a:r>
              <a:rPr lang="zh-CN" altLang="en-US" sz="2800" smtClean="0">
                <a:ea typeface="华文楷体" panose="02010600040101010101" pitchFamily="2" charset="-122"/>
              </a:rPr>
              <a:t>生成空栈操作</a:t>
            </a:r>
          </a:p>
          <a:p>
            <a:pPr eaLnBrk="1" hangingPunct="1"/>
            <a:r>
              <a:rPr lang="zh-CN" altLang="en-US" sz="2800" smtClean="0">
                <a:ea typeface="华文楷体" panose="02010600040101010101" pitchFamily="2" charset="-122"/>
              </a:rPr>
              <a:t>       </a:t>
            </a:r>
            <a:r>
              <a:rPr lang="en-US" altLang="zh-CN" sz="2800" smtClean="0">
                <a:ea typeface="华文楷体" panose="02010600040101010101" pitchFamily="2" charset="-122"/>
              </a:rPr>
              <a:t>(2)  </a:t>
            </a:r>
            <a:r>
              <a:rPr lang="zh-CN" altLang="en-US" sz="2800" smtClean="0">
                <a:ea typeface="华文楷体" panose="02010600040101010101" pitchFamily="2" charset="-122"/>
              </a:rPr>
              <a:t>判栈空函数</a:t>
            </a:r>
          </a:p>
          <a:p>
            <a:pPr eaLnBrk="1" hangingPunct="1"/>
            <a:r>
              <a:rPr lang="zh-CN" altLang="en-US" sz="2800" smtClean="0">
                <a:ea typeface="华文楷体" panose="02010600040101010101" pitchFamily="2" charset="-122"/>
              </a:rPr>
              <a:t>       </a:t>
            </a:r>
            <a:r>
              <a:rPr lang="en-US" altLang="zh-CN" sz="2800" smtClean="0">
                <a:ea typeface="华文楷体" panose="02010600040101010101" pitchFamily="2" charset="-122"/>
              </a:rPr>
              <a:t>(3)  </a:t>
            </a:r>
            <a:r>
              <a:rPr lang="zh-CN" altLang="en-US" sz="2800" smtClean="0">
                <a:ea typeface="华文楷体" panose="02010600040101010101" pitchFamily="2" charset="-122"/>
              </a:rPr>
              <a:t>数据元素入栈操作 </a:t>
            </a:r>
          </a:p>
          <a:p>
            <a:pPr eaLnBrk="1" hangingPunct="1"/>
            <a:r>
              <a:rPr lang="zh-CN" altLang="en-US" sz="2800" smtClean="0">
                <a:ea typeface="华文楷体" panose="02010600040101010101" pitchFamily="2" charset="-122"/>
              </a:rPr>
              <a:t>       </a:t>
            </a:r>
            <a:r>
              <a:rPr lang="en-US" altLang="zh-CN" sz="2800" smtClean="0">
                <a:ea typeface="华文楷体" panose="02010600040101010101" pitchFamily="2" charset="-122"/>
              </a:rPr>
              <a:t>(4)  </a:t>
            </a:r>
            <a:r>
              <a:rPr lang="zh-CN" altLang="en-US" sz="2800" smtClean="0">
                <a:ea typeface="华文楷体" panose="02010600040101010101" pitchFamily="2" charset="-122"/>
              </a:rPr>
              <a:t>数据元素出栈函数</a:t>
            </a:r>
          </a:p>
          <a:p>
            <a:pPr eaLnBrk="1" hangingPunct="1"/>
            <a:r>
              <a:rPr lang="zh-CN" altLang="en-US" sz="2800" smtClean="0">
                <a:ea typeface="华文楷体" panose="02010600040101010101" pitchFamily="2" charset="-122"/>
              </a:rPr>
              <a:t>       </a:t>
            </a:r>
            <a:r>
              <a:rPr lang="en-US" altLang="zh-CN" sz="2800" smtClean="0">
                <a:ea typeface="华文楷体" panose="02010600040101010101" pitchFamily="2" charset="-122"/>
              </a:rPr>
              <a:t>(5)  </a:t>
            </a:r>
            <a:r>
              <a:rPr lang="zh-CN" altLang="en-US" sz="2800" smtClean="0">
                <a:ea typeface="华文楷体" panose="02010600040101010101" pitchFamily="2" charset="-122"/>
              </a:rPr>
              <a:t>取栈顶元素函数</a:t>
            </a:r>
          </a:p>
          <a:p>
            <a:pPr eaLnBrk="1" hangingPunct="1"/>
            <a:r>
              <a:rPr lang="zh-CN" altLang="en-US" sz="2800" smtClean="0">
                <a:ea typeface="华文楷体" panose="02010600040101010101" pitchFamily="2" charset="-122"/>
              </a:rPr>
              <a:t>       </a:t>
            </a:r>
            <a:r>
              <a:rPr lang="en-US" altLang="zh-CN" sz="2800" smtClean="0">
                <a:ea typeface="华文楷体" panose="02010600040101010101" pitchFamily="2" charset="-122"/>
              </a:rPr>
              <a:t>(6)  </a:t>
            </a:r>
            <a:r>
              <a:rPr lang="zh-CN" altLang="en-US" sz="2800" smtClean="0">
                <a:ea typeface="华文楷体" panose="02010600040101010101" pitchFamily="2" charset="-122"/>
              </a:rPr>
              <a:t>置栈空操作</a:t>
            </a:r>
          </a:p>
          <a:p>
            <a:pPr eaLnBrk="1" hangingPunct="1"/>
            <a:r>
              <a:rPr lang="zh-CN" altLang="en-US" sz="2800" smtClean="0">
                <a:ea typeface="华文楷体" panose="02010600040101010101" pitchFamily="2" charset="-122"/>
              </a:rPr>
              <a:t>       </a:t>
            </a:r>
            <a:r>
              <a:rPr lang="en-US" altLang="zh-CN" sz="2800" smtClean="0">
                <a:ea typeface="华文楷体" panose="02010600040101010101" pitchFamily="2" charset="-122"/>
              </a:rPr>
              <a:t>(7)  </a:t>
            </a:r>
            <a:r>
              <a:rPr lang="zh-CN" altLang="en-US" sz="2800" smtClean="0">
                <a:ea typeface="华文楷体" panose="02010600040101010101" pitchFamily="2" charset="-122"/>
              </a:rPr>
              <a:t>求当前栈元素个数函数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smtClean="0">
                <a:ea typeface="华文楷体" panose="02010600040101010101" pitchFamily="2" charset="-122"/>
              </a:rPr>
              <a:t>3.2. </a:t>
            </a:r>
            <a:r>
              <a:rPr lang="zh-CN" altLang="en-US" sz="2800" smtClean="0">
                <a:ea typeface="华文楷体" panose="02010600040101010101" pitchFamily="2" charset="-122"/>
              </a:rPr>
              <a:t>顺序栈</a:t>
            </a: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609600" y="88265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8000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[</a:t>
            </a:r>
            <a:r>
              <a:rPr lang="zh-CN" altLang="zh-CN" sz="2800" b="1">
                <a:solidFill>
                  <a:srgbClr val="8000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栈的顺序存储结构</a:t>
            </a:r>
            <a:r>
              <a:rPr lang="en-US" altLang="zh-CN" sz="2800" b="1">
                <a:solidFill>
                  <a:srgbClr val="8000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]</a:t>
            </a:r>
            <a:endParaRPr lang="en-US" altLang="zh-CN" sz="2800" b="1">
              <a:solidFill>
                <a:schemeClr val="bg1"/>
              </a:solidFill>
              <a:latin typeface="Verdan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819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23850" y="2368550"/>
            <a:ext cx="6991350" cy="4876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smtClean="0">
                <a:ea typeface="华文楷体" panose="02010600040101010101" pitchFamily="2" charset="-122"/>
              </a:rPr>
              <a:t>一个栈独占一组地址连续的存储单元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smtClean="0">
                <a:ea typeface="华文楷体" panose="02010600040101010101" pitchFamily="2" charset="-122"/>
              </a:rPr>
              <a:t>[</a:t>
            </a:r>
            <a:r>
              <a:rPr lang="zh-CN" altLang="en-US" b="1" smtClean="0">
                <a:ea typeface="华文楷体" panose="02010600040101010101" pitchFamily="2" charset="-122"/>
              </a:rPr>
              <a:t>类型定义</a:t>
            </a:r>
            <a:r>
              <a:rPr lang="en-US" altLang="zh-CN" b="1" smtClean="0">
                <a:ea typeface="华文楷体" panose="02010600040101010101" pitchFamily="2" charset="-122"/>
              </a:rPr>
              <a:t>]</a:t>
            </a:r>
            <a:r>
              <a:rPr lang="en-US" altLang="zh-CN" smtClean="0">
                <a:ea typeface="华文楷体" panose="02010600040101010101" pitchFamily="2" charset="-122"/>
              </a:rPr>
              <a:t>      </a:t>
            </a:r>
            <a:r>
              <a:rPr lang="zh-CN" altLang="en-US" smtClean="0">
                <a:ea typeface="华文楷体" panose="02010600040101010101" pitchFamily="2" charset="-122"/>
              </a:rPr>
              <a:t>数组</a:t>
            </a:r>
            <a:r>
              <a:rPr lang="en-US" altLang="zh-CN" smtClean="0">
                <a:ea typeface="华文楷体" panose="02010600040101010101" pitchFamily="2" charset="-122"/>
              </a:rPr>
              <a:t>(</a:t>
            </a:r>
            <a:r>
              <a:rPr lang="zh-CN" altLang="en-US" smtClean="0">
                <a:ea typeface="华文楷体" panose="02010600040101010101" pitchFamily="2" charset="-122"/>
              </a:rPr>
              <a:t>栈空间</a:t>
            </a:r>
            <a:r>
              <a:rPr lang="en-US" altLang="zh-CN" smtClean="0">
                <a:ea typeface="华文楷体" panose="02010600040101010101" pitchFamily="2" charset="-122"/>
              </a:rPr>
              <a:t>)+</a:t>
            </a:r>
            <a:r>
              <a:rPr lang="zh-CN" altLang="en-US" smtClean="0">
                <a:ea typeface="华文楷体" panose="02010600040101010101" pitchFamily="2" charset="-122"/>
              </a:rPr>
              <a:t>栈顶指示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ea typeface="华文楷体" panose="02010600040101010101" pitchFamily="2" charset="-122"/>
              </a:rPr>
              <a:t>                                        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ea typeface="华文楷体" panose="02010600040101010101" pitchFamily="2" charset="-122"/>
              </a:rPr>
              <a:t>  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7848600" y="2025650"/>
            <a:ext cx="685800" cy="426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8001000" y="156845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chemeClr val="accent2"/>
                </a:solidFill>
                <a:ea typeface="华文楷体" panose="02010600040101010101" pitchFamily="2" charset="-122"/>
              </a:rPr>
              <a:t>S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7543800" y="3778250"/>
            <a:ext cx="868363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i      ai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        </a:t>
            </a:r>
            <a:r>
              <a:rPr kumimoji="1" lang="en-US" altLang="zh-CN" sz="2000" b="1">
                <a:ea typeface="华文楷体" panose="02010600040101010101" pitchFamily="2" charset="-122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ea typeface="华文楷体" panose="02010600040101010101" pitchFamily="2" charset="-122"/>
              </a:rPr>
              <a:t>        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ea typeface="华文楷体" panose="02010600040101010101" pitchFamily="2" charset="-122"/>
              </a:rPr>
              <a:t>        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 sz="2000" b="1"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1     a1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0     a0</a:t>
            </a:r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>
            <a:off x="7848600" y="59880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7848600" y="56070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>
            <a:off x="7848600" y="41592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>
            <a:off x="7848600" y="38544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6858000" y="194945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max-1</a:t>
            </a: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7315200" y="40068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858000" y="377825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>
                <a:solidFill>
                  <a:schemeClr val="accent2"/>
                </a:solidFill>
                <a:ea typeface="华文楷体" panose="02010600040101010101" pitchFamily="2" charset="-122"/>
              </a:rPr>
              <a:t>top</a:t>
            </a:r>
            <a:endParaRPr kumimoji="1" lang="en-US" altLang="zh-CN" sz="2000" b="1">
              <a:ea typeface="华文楷体" panose="02010600040101010101" pitchFamily="2" charset="-122"/>
            </a:endParaRPr>
          </a:p>
        </p:txBody>
      </p:sp>
      <p:sp>
        <p:nvSpPr>
          <p:cNvPr id="8209" name="文本框 1"/>
          <p:cNvSpPr txBox="1">
            <a:spLocks noChangeArrowheads="1"/>
          </p:cNvSpPr>
          <p:nvPr/>
        </p:nvSpPr>
        <p:spPr bwMode="auto">
          <a:xfrm>
            <a:off x="468313" y="4581525"/>
            <a:ext cx="6696075" cy="86677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b="1">
                <a:ea typeface="华文楷体" panose="02010600040101010101" pitchFamily="2" charset="-122"/>
              </a:rPr>
              <a:t>栈空条件</a:t>
            </a:r>
            <a:r>
              <a:rPr lang="zh-CN" altLang="zh-CN">
                <a:ea typeface="华文楷体" panose="02010600040101010101" pitchFamily="2" charset="-122"/>
              </a:rPr>
              <a:t>   </a:t>
            </a:r>
            <a:r>
              <a:rPr lang="en-US" altLang="zh-CN">
                <a:ea typeface="华文楷体" panose="02010600040101010101" pitchFamily="2" charset="-122"/>
              </a:rPr>
              <a:t>top==-1       (</a:t>
            </a:r>
            <a:r>
              <a:rPr lang="zh-CN" altLang="zh-CN">
                <a:ea typeface="华文楷体" panose="02010600040101010101" pitchFamily="2" charset="-122"/>
              </a:rPr>
              <a:t>此时退栈则下溢</a:t>
            </a:r>
            <a:r>
              <a:rPr lang="en-US" altLang="zh-CN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b="1">
                <a:ea typeface="华文楷体" panose="02010600040101010101" pitchFamily="2" charset="-122"/>
              </a:rPr>
              <a:t>栈满条件</a:t>
            </a:r>
            <a:r>
              <a:rPr lang="zh-CN" altLang="zh-CN">
                <a:ea typeface="华文楷体" panose="02010600040101010101" pitchFamily="2" charset="-122"/>
              </a:rPr>
              <a:t>  </a:t>
            </a:r>
            <a:r>
              <a:rPr lang="en-US" altLang="zh-CN">
                <a:ea typeface="华文楷体" panose="02010600040101010101" pitchFamily="2" charset="-122"/>
              </a:rPr>
              <a:t>top==max-1 (</a:t>
            </a:r>
            <a:r>
              <a:rPr lang="zh-CN" altLang="zh-CN">
                <a:ea typeface="华文楷体" panose="02010600040101010101" pitchFamily="2" charset="-122"/>
              </a:rPr>
              <a:t>此时进栈则上溢</a:t>
            </a:r>
            <a:r>
              <a:rPr lang="en-US" altLang="zh-CN">
                <a:ea typeface="华文楷体" panose="02010600040101010101" pitchFamily="2" charset="-122"/>
              </a:rPr>
              <a:t>)</a:t>
            </a:r>
            <a:endParaRPr lang="zh-CN" altLang="en-US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lang="zh-CN" altLang="en-US" sz="240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顺序栈的参考结构</a:t>
            </a:r>
            <a:r>
              <a:rPr lang="en-US" altLang="zh-CN" sz="240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第一种：直接用数组</a:t>
            </a:r>
            <a:r>
              <a:rPr lang="en-US" altLang="zh-CN" sz="2400" smtClean="0">
                <a:ea typeface="华文楷体" panose="02010600040101010101" pitchFamily="2" charset="-122"/>
                <a:cs typeface="Times New Roman" panose="02020603050405020304" pitchFamily="18" charset="0"/>
              </a:rPr>
              <a:t>elemtype S[max]; top = -1;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第二种：</a:t>
            </a:r>
            <a:endParaRPr lang="en-US" altLang="zh-CN" sz="240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9222" name="文本框 5"/>
          <p:cNvSpPr txBox="1">
            <a:spLocks noChangeArrowheads="1"/>
          </p:cNvSpPr>
          <p:nvPr/>
        </p:nvSpPr>
        <p:spPr bwMode="auto">
          <a:xfrm>
            <a:off x="684213" y="2598738"/>
            <a:ext cx="4030662" cy="2554287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struct StackRecord</a:t>
            </a:r>
          </a:p>
          <a:p>
            <a:r>
              <a:rPr lang="en-US" altLang="zh-CN" sz="2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int capacity;</a:t>
            </a:r>
            <a:r>
              <a:rPr lang="en-US" altLang="zh-CN" sz="2000">
                <a:ea typeface="华文楷体" panose="02010600040101010101" pitchFamily="2" charset="-122"/>
                <a:cs typeface="Times New Roman" panose="02020603050405020304" pitchFamily="18" charset="0"/>
              </a:rPr>
              <a:t> ;//</a:t>
            </a:r>
            <a:r>
              <a:rPr lang="zh-CN" altLang="en-US" sz="2000">
                <a:ea typeface="华文楷体" panose="02010600040101010101" pitchFamily="2" charset="-122"/>
                <a:cs typeface="Times New Roman" panose="02020603050405020304" pitchFamily="18" charset="0"/>
              </a:rPr>
              <a:t>最多容纳元素个数</a:t>
            </a:r>
            <a:endParaRPr lang="en-US" altLang="zh-CN" sz="2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int top;</a:t>
            </a:r>
          </a:p>
          <a:p>
            <a:r>
              <a:rPr lang="en-US" altLang="zh-CN" sz="2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elemtype *Array;</a:t>
            </a:r>
          </a:p>
          <a:p>
            <a:r>
              <a:rPr lang="en-US" altLang="zh-CN" sz="2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2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Typedef struct StackRecord * Stack;</a:t>
            </a:r>
          </a:p>
          <a:p>
            <a:endParaRPr lang="zh-CN" altLang="en-US" sz="2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128588" y="1144588"/>
            <a:ext cx="8229600" cy="52482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lang="zh-CN" altLang="en-US" sz="240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顺序栈基本操作</a:t>
            </a:r>
            <a:r>
              <a:rPr lang="en-US" altLang="zh-CN" sz="240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40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10246" name="文本框 5"/>
          <p:cNvSpPr txBox="1">
            <a:spLocks noChangeArrowheads="1"/>
          </p:cNvSpPr>
          <p:nvPr/>
        </p:nvSpPr>
        <p:spPr bwMode="auto">
          <a:xfrm>
            <a:off x="163513" y="4181475"/>
            <a:ext cx="3492500" cy="22463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出栈</a:t>
            </a:r>
            <a:r>
              <a:rPr lang="en-US" altLang="zh-CN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退栈</a:t>
            </a:r>
            <a:endParaRPr lang="en-US" altLang="zh-CN" sz="200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void Pop(Stack 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S-&gt;top == -1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exit(“empty!”);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S-&gt;top--;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7" name="文本框 6"/>
          <p:cNvSpPr txBox="1">
            <a:spLocks noChangeArrowheads="1"/>
          </p:cNvSpPr>
          <p:nvPr/>
        </p:nvSpPr>
        <p:spPr bwMode="auto">
          <a:xfrm>
            <a:off x="163513" y="1700213"/>
            <a:ext cx="3506787" cy="22479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入栈</a:t>
            </a:r>
            <a:r>
              <a:rPr lang="en-US" altLang="zh-CN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进栈</a:t>
            </a:r>
            <a:endParaRPr lang="en-US" altLang="zh-CN" sz="200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Push(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X,Stack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(S-&gt;top ==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S-&gt;Capacity -1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exit(“Full!”);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&gt;Array[++s-&gt;top] = X;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8" name="文本框 7"/>
          <p:cNvSpPr txBox="1">
            <a:spLocks noChangeArrowheads="1"/>
          </p:cNvSpPr>
          <p:nvPr/>
        </p:nvSpPr>
        <p:spPr bwMode="auto">
          <a:xfrm>
            <a:off x="4108450" y="4587875"/>
            <a:ext cx="3797300" cy="20621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void </a:t>
            </a:r>
            <a:r>
              <a:rPr lang="en-US" altLang="zh-CN" sz="16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DisposeStack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(Stack S)</a:t>
            </a:r>
            <a:r>
              <a:rPr lang="zh-CN" altLang="en-US" sz="16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释放栈</a:t>
            </a:r>
            <a:endParaRPr lang="en-US" altLang="zh-CN" sz="160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if (S != NULL)</a:t>
            </a: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{</a:t>
            </a: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en-US" altLang="zh-CN" sz="1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free(S-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&gt;array);</a:t>
            </a: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en-US" altLang="zh-CN" sz="1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free(S);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}</a:t>
            </a: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49" name="文本框 8"/>
          <p:cNvSpPr txBox="1">
            <a:spLocks noChangeArrowheads="1"/>
          </p:cNvSpPr>
          <p:nvPr/>
        </p:nvSpPr>
        <p:spPr bwMode="auto">
          <a:xfrm>
            <a:off x="4108450" y="1133475"/>
            <a:ext cx="4364038" cy="3294063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Stack 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CreatStack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max) 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栈初始化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Stack S;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S =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malloc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StackRecord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if (S == NULL)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exit(“out of space”);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S-&gt; Array= 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malloc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)* max);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if (S-&gt; Array == NULL)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exit(“out of space”);  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S-&gt;top = -1;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S-&gt;Capacity = max;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endParaRPr lang="zh-CN" altLang="en-US" sz="1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142494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5"/>
          <p:cNvSpPr txBox="1">
            <a:spLocks noChangeArrowheads="1"/>
          </p:cNvSpPr>
          <p:nvPr/>
        </p:nvSpPr>
        <p:spPr bwMode="auto">
          <a:xfrm>
            <a:off x="6227763" y="5562600"/>
            <a:ext cx="26368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 b="1">
                <a:solidFill>
                  <a:srgbClr val="0000FF"/>
                </a:solidFill>
                <a:ea typeface="隶书" panose="02010509060101010101" pitchFamily="49" charset="-122"/>
              </a:rPr>
              <a:t>进栈示例</a:t>
            </a:r>
            <a:endParaRPr kumimoji="1" lang="zh-CN" altLang="en-US" sz="2400">
              <a:ea typeface="华文楷体" panose="02010600040101010101" pitchFamily="2" charset="-122"/>
            </a:endParaRPr>
          </a:p>
        </p:txBody>
      </p:sp>
      <p:sp>
        <p:nvSpPr>
          <p:cNvPr id="11271" name="Text Box 6"/>
          <p:cNvSpPr txBox="1">
            <a:spLocks noChangeArrowheads="1"/>
          </p:cNvSpPr>
          <p:nvPr/>
        </p:nvSpPr>
        <p:spPr bwMode="auto">
          <a:xfrm>
            <a:off x="3076575" y="5867400"/>
            <a:ext cx="56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</a:t>
            </a:r>
          </a:p>
        </p:txBody>
      </p:sp>
      <p:pic>
        <p:nvPicPr>
          <p:cNvPr id="1127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53400" y="3429000"/>
            <a:ext cx="14173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44450"/>
            <a:ext cx="140208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01000" y="3276600"/>
            <a:ext cx="13868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6"/>
          <p:cNvSpPr>
            <a:spLocks noChangeArrowheads="1"/>
          </p:cNvSpPr>
          <p:nvPr/>
        </p:nvSpPr>
        <p:spPr bwMode="auto">
          <a:xfrm>
            <a:off x="5940425" y="5181600"/>
            <a:ext cx="2771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 b="1">
                <a:solidFill>
                  <a:srgbClr val="0000FF"/>
                </a:solidFill>
                <a:ea typeface="隶书" panose="02010509060101010101" pitchFamily="49" charset="-122"/>
              </a:rPr>
              <a:t>退栈示例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ea typeface="华文楷体" panose="02010600040101010101" pitchFamily="2" charset="-122"/>
              </a:rPr>
              <a:t>有</a:t>
            </a:r>
            <a:r>
              <a:rPr lang="en-US" altLang="zh-CN" smtClean="0">
                <a:ea typeface="华文楷体" panose="02010600040101010101" pitchFamily="2" charset="-122"/>
              </a:rPr>
              <a:t>5 </a:t>
            </a:r>
            <a:r>
              <a:rPr lang="zh-CN" altLang="en-US" smtClean="0">
                <a:ea typeface="华文楷体" panose="02010600040101010101" pitchFamily="2" charset="-122"/>
              </a:rPr>
              <a:t>个元素，其入栈次序为：</a:t>
            </a:r>
            <a:r>
              <a:rPr lang="en-US" altLang="zh-CN" smtClean="0">
                <a:ea typeface="华文楷体" panose="02010600040101010101" pitchFamily="2" charset="-122"/>
              </a:rPr>
              <a:t>A</a:t>
            </a:r>
            <a:r>
              <a:rPr lang="zh-CN" altLang="en-US" smtClean="0">
                <a:ea typeface="华文楷体" panose="02010600040101010101" pitchFamily="2" charset="-122"/>
              </a:rPr>
              <a:t>，</a:t>
            </a:r>
            <a:r>
              <a:rPr lang="en-US" altLang="zh-CN" smtClean="0">
                <a:ea typeface="华文楷体" panose="02010600040101010101" pitchFamily="2" charset="-122"/>
              </a:rPr>
              <a:t>B</a:t>
            </a:r>
            <a:r>
              <a:rPr lang="zh-CN" altLang="en-US" smtClean="0">
                <a:ea typeface="华文楷体" panose="02010600040101010101" pitchFamily="2" charset="-122"/>
              </a:rPr>
              <a:t>，</a:t>
            </a:r>
            <a:r>
              <a:rPr lang="en-US" altLang="zh-CN" smtClean="0">
                <a:ea typeface="华文楷体" panose="02010600040101010101" pitchFamily="2" charset="-122"/>
              </a:rPr>
              <a:t>C</a:t>
            </a:r>
            <a:r>
              <a:rPr lang="zh-CN" altLang="en-US" smtClean="0">
                <a:ea typeface="华文楷体" panose="02010600040101010101" pitchFamily="2" charset="-122"/>
              </a:rPr>
              <a:t>，</a:t>
            </a:r>
            <a:r>
              <a:rPr lang="en-US" altLang="zh-CN" smtClean="0">
                <a:ea typeface="华文楷体" panose="02010600040101010101" pitchFamily="2" charset="-122"/>
              </a:rPr>
              <a:t>D</a:t>
            </a:r>
            <a:r>
              <a:rPr lang="zh-CN" altLang="en-US" smtClean="0">
                <a:ea typeface="华文楷体" panose="02010600040101010101" pitchFamily="2" charset="-122"/>
              </a:rPr>
              <a:t>，</a:t>
            </a:r>
            <a:r>
              <a:rPr lang="en-US" altLang="zh-CN" smtClean="0">
                <a:ea typeface="华文楷体" panose="02010600040101010101" pitchFamily="2" charset="-122"/>
              </a:rPr>
              <a:t>E</a:t>
            </a:r>
            <a:r>
              <a:rPr lang="zh-CN" altLang="en-US" smtClean="0">
                <a:ea typeface="华文楷体" panose="02010600040101010101" pitchFamily="2" charset="-122"/>
              </a:rPr>
              <a:t>，在各种可能的出栈次序中，以元素</a:t>
            </a:r>
            <a:r>
              <a:rPr lang="en-US" altLang="zh-CN" smtClean="0">
                <a:ea typeface="华文楷体" panose="02010600040101010101" pitchFamily="2" charset="-122"/>
              </a:rPr>
              <a:t>C</a:t>
            </a:r>
            <a:r>
              <a:rPr lang="zh-CN" altLang="en-US" smtClean="0">
                <a:ea typeface="华文楷体" panose="02010600040101010101" pitchFamily="2" charset="-122"/>
              </a:rPr>
              <a:t>，</a:t>
            </a:r>
            <a:r>
              <a:rPr lang="en-US" altLang="zh-CN" smtClean="0">
                <a:ea typeface="华文楷体" panose="02010600040101010101" pitchFamily="2" charset="-122"/>
              </a:rPr>
              <a:t>D</a:t>
            </a:r>
            <a:r>
              <a:rPr lang="zh-CN" altLang="en-US" smtClean="0">
                <a:ea typeface="华文楷体" panose="02010600040101010101" pitchFamily="2" charset="-122"/>
              </a:rPr>
              <a:t>最先出栈（即</a:t>
            </a:r>
            <a:r>
              <a:rPr lang="en-US" altLang="zh-CN" smtClean="0">
                <a:ea typeface="华文楷体" panose="02010600040101010101" pitchFamily="2" charset="-122"/>
              </a:rPr>
              <a:t>C</a:t>
            </a:r>
            <a:r>
              <a:rPr lang="zh-CN" altLang="en-US" smtClean="0">
                <a:ea typeface="华文楷体" panose="02010600040101010101" pitchFamily="2" charset="-122"/>
              </a:rPr>
              <a:t>第一个且</a:t>
            </a:r>
            <a:r>
              <a:rPr lang="en-US" altLang="zh-CN" smtClean="0">
                <a:ea typeface="华文楷体" panose="02010600040101010101" pitchFamily="2" charset="-122"/>
              </a:rPr>
              <a:t>D</a:t>
            </a:r>
            <a:r>
              <a:rPr lang="zh-CN" altLang="en-US" smtClean="0">
                <a:ea typeface="华文楷体" panose="02010600040101010101" pitchFamily="2" charset="-122"/>
              </a:rPr>
              <a:t>第二个出栈）的次序有哪几个 ？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611188" y="3284538"/>
            <a:ext cx="7921625" cy="936625"/>
          </a:xfrm>
          <a:prstGeom prst="rect">
            <a:avLst/>
          </a:prstGeom>
          <a:solidFill>
            <a:srgbClr val="CCFFFF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CDEBA</a:t>
            </a:r>
            <a:r>
              <a:rPr lang="zh-CN" altLang="en-US" sz="2800">
                <a:ea typeface="华文楷体" panose="02010600040101010101" pitchFamily="2" charset="-122"/>
              </a:rPr>
              <a:t>，</a:t>
            </a:r>
            <a:r>
              <a:rPr lang="en-US" altLang="zh-CN" sz="2800">
                <a:ea typeface="华文楷体" panose="02010600040101010101" pitchFamily="2" charset="-122"/>
              </a:rPr>
              <a:t>CDBEA</a:t>
            </a:r>
            <a:r>
              <a:rPr lang="zh-CN" altLang="en-US" sz="2800">
                <a:ea typeface="华文楷体" panose="02010600040101010101" pitchFamily="2" charset="-122"/>
              </a:rPr>
              <a:t>，</a:t>
            </a:r>
            <a:r>
              <a:rPr lang="en-US" altLang="zh-CN" sz="2800">
                <a:ea typeface="华文楷体" panose="02010600040101010101" pitchFamily="2" charset="-122"/>
              </a:rPr>
              <a:t>CDBAE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323850" y="1052513"/>
            <a:ext cx="8497888" cy="1295400"/>
          </a:xfrm>
          <a:prstGeom prst="rect">
            <a:avLst/>
          </a:prstGeom>
          <a:solidFill>
            <a:srgbClr val="CCFFFF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华文楷体" panose="02010600040101010101" pitchFamily="2" charset="-122"/>
              </a:rPr>
              <a:t>思考：</a:t>
            </a:r>
            <a:r>
              <a:rPr lang="en-US" altLang="zh-CN" sz="2400" b="1" dirty="0">
                <a:solidFill>
                  <a:schemeClr val="accent2"/>
                </a:solidFill>
                <a:ea typeface="华文楷体" panose="02010600040101010101" pitchFamily="2" charset="-122"/>
              </a:rPr>
              <a:t>n</a:t>
            </a:r>
            <a:r>
              <a:rPr lang="zh-CN" altLang="en-US" sz="2400" b="1" dirty="0">
                <a:solidFill>
                  <a:schemeClr val="accent2"/>
                </a:solidFill>
                <a:ea typeface="华文楷体" panose="02010600040101010101" pitchFamily="2" charset="-122"/>
              </a:rPr>
              <a:t>个元素依次入栈，可得到多少个合法的出栈序列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908175" y="1844675"/>
            <a:ext cx="467995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ea typeface="华文楷体" panose="02010600040101010101" pitchFamily="2" charset="-122"/>
              </a:rPr>
              <a:t>(2n)!/[(n+1)!*n! ]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323850" y="2565400"/>
            <a:ext cx="8135938" cy="404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ea typeface="华文楷体" panose="02010600040101010101" pitchFamily="2" charset="-122"/>
              </a:rPr>
              <a:t>不同的</a:t>
            </a:r>
            <a:r>
              <a:rPr lang="zh-CN" altLang="en-US" sz="2000" b="1" dirty="0">
                <a:ea typeface="华文楷体" panose="02010600040101010101" pitchFamily="2" charset="-122"/>
              </a:rPr>
              <a:t>出栈序列</a:t>
            </a:r>
            <a:r>
              <a:rPr lang="zh-CN" altLang="en-US" sz="2000" dirty="0">
                <a:ea typeface="华文楷体" panose="02010600040101010101" pitchFamily="2" charset="-122"/>
              </a:rPr>
              <a:t>实际上对应着不同的</a:t>
            </a:r>
            <a:r>
              <a:rPr lang="zh-CN" altLang="en-US" sz="2000" b="1" dirty="0">
                <a:ea typeface="华文楷体" panose="02010600040101010101" pitchFamily="2" charset="-122"/>
              </a:rPr>
              <a:t>入栈</a:t>
            </a:r>
            <a:r>
              <a:rPr lang="zh-CN" altLang="en-US" sz="2000" dirty="0">
                <a:ea typeface="华文楷体" panose="02010600040101010101" pitchFamily="2" charset="-122"/>
              </a:rPr>
              <a:t>出栈操作，以</a:t>
            </a:r>
            <a:r>
              <a:rPr lang="en-US" altLang="zh-CN" sz="2000" dirty="0"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ea typeface="华文楷体" panose="02010600040101010101" pitchFamily="2" charset="-122"/>
              </a:rPr>
              <a:t>记为</a:t>
            </a:r>
            <a:r>
              <a:rPr lang="zh-CN" altLang="en-US" sz="2000" b="1" dirty="0">
                <a:ea typeface="华文楷体" panose="02010600040101010101" pitchFamily="2" charset="-122"/>
              </a:rPr>
              <a:t>入栈</a:t>
            </a:r>
            <a:r>
              <a:rPr lang="zh-CN" altLang="en-US" sz="2000" dirty="0">
                <a:ea typeface="华文楷体" panose="02010600040101010101" pitchFamily="2" charset="-122"/>
              </a:rPr>
              <a:t>，</a:t>
            </a:r>
            <a:r>
              <a:rPr lang="en-US" altLang="zh-CN" sz="2000" dirty="0">
                <a:ea typeface="华文楷体" panose="02010600040101010101" pitchFamily="2" charset="-122"/>
              </a:rPr>
              <a:t>0</a:t>
            </a:r>
            <a:r>
              <a:rPr lang="zh-CN" altLang="en-US" sz="2000" dirty="0">
                <a:ea typeface="华文楷体" panose="02010600040101010101" pitchFamily="2" charset="-122"/>
              </a:rPr>
              <a:t>为</a:t>
            </a:r>
            <a:r>
              <a:rPr lang="zh-CN" altLang="en-US" sz="2000" b="1" dirty="0">
                <a:ea typeface="华文楷体" panose="02010600040101010101" pitchFamily="2" charset="-122"/>
              </a:rPr>
              <a:t>出栈</a:t>
            </a:r>
            <a:r>
              <a:rPr lang="zh-CN" altLang="en-US" sz="2000" dirty="0">
                <a:ea typeface="华文楷体" panose="02010600040101010101" pitchFamily="2" charset="-122"/>
              </a:rPr>
              <a:t>。则问题实际上是求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dirty="0"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ea typeface="华文楷体" panose="02010600040101010101" pitchFamily="2" charset="-122"/>
              </a:rPr>
              <a:t>和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dirty="0">
                <a:ea typeface="华文楷体" panose="02010600040101010101" pitchFamily="2" charset="-122"/>
              </a:rPr>
              <a:t>0</a:t>
            </a:r>
            <a:r>
              <a:rPr lang="zh-CN" altLang="en-US" sz="2000" dirty="0">
                <a:ea typeface="华文楷体" panose="02010600040101010101" pitchFamily="2" charset="-122"/>
              </a:rPr>
              <a:t>构成的全排列，其中任意一个位置，它及它此前的数中，</a:t>
            </a:r>
            <a:r>
              <a:rPr lang="en-US" altLang="zh-CN" sz="2000" dirty="0"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ea typeface="华文楷体" panose="02010600040101010101" pitchFamily="2" charset="-122"/>
              </a:rPr>
              <a:t>个个数要大于等于</a:t>
            </a:r>
            <a:r>
              <a:rPr lang="en-US" altLang="zh-CN" sz="2000" dirty="0">
                <a:ea typeface="华文楷体" panose="02010600040101010101" pitchFamily="2" charset="-122"/>
              </a:rPr>
              <a:t>0</a:t>
            </a:r>
            <a:r>
              <a:rPr lang="zh-CN" altLang="en-US" sz="2000" dirty="0">
                <a:ea typeface="华文楷体" panose="02010600040101010101" pitchFamily="2" charset="-122"/>
              </a:rPr>
              <a:t>的个数。</a:t>
            </a:r>
            <a:br>
              <a:rPr lang="zh-CN" altLang="en-US" sz="2000" dirty="0">
                <a:ea typeface="华文楷体" panose="02010600040101010101" pitchFamily="2" charset="-122"/>
              </a:rPr>
            </a:b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dirty="0"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ea typeface="华文楷体" panose="02010600040101010101" pitchFamily="2" charset="-122"/>
              </a:rPr>
              <a:t>和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dirty="0">
                <a:ea typeface="华文楷体" panose="02010600040101010101" pitchFamily="2" charset="-122"/>
              </a:rPr>
              <a:t>0</a:t>
            </a:r>
            <a:r>
              <a:rPr lang="zh-CN" altLang="en-US" sz="2000" dirty="0">
                <a:ea typeface="华文楷体" panose="02010600040101010101" pitchFamily="2" charset="-122"/>
              </a:rPr>
              <a:t>构成的全排列数为：</a:t>
            </a:r>
            <a:r>
              <a:rPr lang="en-US" altLang="zh-CN" sz="2000" b="1" dirty="0">
                <a:ea typeface="华文楷体" panose="02010600040101010101" pitchFamily="2" charset="-122"/>
              </a:rPr>
              <a:t>(2n)!/[n!*n! 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ea typeface="华文楷体" panose="02010600040101010101" pitchFamily="2" charset="-122"/>
              </a:rPr>
              <a:t>在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b="1" dirty="0">
                <a:ea typeface="华文楷体" panose="02010600040101010101" pitchFamily="2" charset="-122"/>
              </a:rPr>
              <a:t>0</a:t>
            </a:r>
            <a:r>
              <a:rPr lang="zh-CN" altLang="en-US" sz="2000" b="1" dirty="0">
                <a:ea typeface="华文楷体" panose="02010600040101010101" pitchFamily="2" charset="-122"/>
              </a:rPr>
              <a:t>和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构成的</a:t>
            </a:r>
            <a:r>
              <a:rPr lang="en-US" altLang="zh-CN" sz="2000" b="1" dirty="0">
                <a:ea typeface="华文楷体" panose="02010600040101010101" pitchFamily="2" charset="-122"/>
              </a:rPr>
              <a:t>2n</a:t>
            </a:r>
            <a:r>
              <a:rPr lang="zh-CN" altLang="en-US" sz="2000" b="1" dirty="0">
                <a:ea typeface="华文楷体" panose="02010600040101010101" pitchFamily="2" charset="-122"/>
              </a:rPr>
              <a:t>个数的序列中，假设第一次出现</a:t>
            </a:r>
            <a:r>
              <a:rPr lang="en-US" altLang="zh-CN" sz="2000" b="1" dirty="0">
                <a:ea typeface="华文楷体" panose="02010600040101010101" pitchFamily="2" charset="-122"/>
              </a:rPr>
              <a:t>0</a:t>
            </a:r>
            <a:r>
              <a:rPr lang="zh-CN" altLang="en-US" sz="2000" b="1" dirty="0">
                <a:ea typeface="华文楷体" panose="02010600040101010101" pitchFamily="2" charset="-122"/>
              </a:rPr>
              <a:t>的个数大于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个个数（即</a:t>
            </a:r>
            <a:r>
              <a:rPr lang="en-US" altLang="zh-CN" sz="2000" b="1" dirty="0">
                <a:ea typeface="华文楷体" panose="02010600040101010101" pitchFamily="2" charset="-122"/>
              </a:rPr>
              <a:t>0</a:t>
            </a:r>
            <a:r>
              <a:rPr lang="zh-CN" altLang="en-US" sz="2000" b="1" dirty="0">
                <a:ea typeface="华文楷体" panose="02010600040101010101" pitchFamily="2" charset="-122"/>
              </a:rPr>
              <a:t>的个数比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的个数大一）的位置为</a:t>
            </a:r>
            <a:r>
              <a:rPr lang="en-US" altLang="zh-CN" sz="2000" b="1" dirty="0">
                <a:ea typeface="华文楷体" panose="02010600040101010101" pitchFamily="2" charset="-122"/>
              </a:rPr>
              <a:t>k</a:t>
            </a:r>
            <a:r>
              <a:rPr lang="zh-CN" altLang="en-US" sz="2000" b="1" dirty="0">
                <a:ea typeface="华文楷体" panose="02010600040101010101" pitchFamily="2" charset="-122"/>
              </a:rPr>
              <a:t>，则</a:t>
            </a:r>
            <a:r>
              <a:rPr lang="en-US" altLang="zh-CN" sz="2000" b="1" dirty="0">
                <a:ea typeface="华文楷体" panose="02010600040101010101" pitchFamily="2" charset="-122"/>
              </a:rPr>
              <a:t>k</a:t>
            </a:r>
            <a:r>
              <a:rPr lang="zh-CN" altLang="en-US" sz="2000" b="1" dirty="0">
                <a:ea typeface="华文楷体" panose="02010600040101010101" pitchFamily="2" charset="-122"/>
              </a:rPr>
              <a:t>为奇数，</a:t>
            </a:r>
            <a:r>
              <a:rPr lang="en-US" altLang="zh-CN" sz="2000" b="1" dirty="0">
                <a:ea typeface="华文楷体" panose="02010600040101010101" pitchFamily="2" charset="-122"/>
              </a:rPr>
              <a:t>k</a:t>
            </a:r>
            <a:r>
              <a:rPr lang="zh-CN" altLang="en-US" sz="2000" b="1" dirty="0">
                <a:ea typeface="华文楷体" panose="02010600040101010101" pitchFamily="2" charset="-122"/>
              </a:rPr>
              <a:t>之前有相等数目的</a:t>
            </a:r>
            <a:r>
              <a:rPr lang="en-US" altLang="zh-CN" sz="2000" b="1" dirty="0">
                <a:ea typeface="华文楷体" panose="02010600040101010101" pitchFamily="2" charset="-122"/>
              </a:rPr>
              <a:t>0</a:t>
            </a:r>
            <a:r>
              <a:rPr lang="zh-CN" altLang="en-US" sz="2000" b="1" dirty="0">
                <a:ea typeface="华文楷体" panose="02010600040101010101" pitchFamily="2" charset="-122"/>
              </a:rPr>
              <a:t>和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，各为</a:t>
            </a:r>
            <a:r>
              <a:rPr lang="en-US" altLang="zh-CN" sz="2000" b="1" dirty="0">
                <a:ea typeface="华文楷体" panose="02010600040101010101" pitchFamily="2" charset="-122"/>
              </a:rPr>
              <a:t>(k-1)/2.  </a:t>
            </a:r>
            <a:r>
              <a:rPr lang="zh-CN" altLang="en-US" sz="2000" b="1" dirty="0">
                <a:ea typeface="华文楷体" panose="02010600040101010101" pitchFamily="2" charset="-122"/>
              </a:rPr>
              <a:t>若把这</a:t>
            </a:r>
            <a:r>
              <a:rPr lang="en-US" altLang="zh-CN" sz="2000" b="1" dirty="0">
                <a:ea typeface="华文楷体" panose="02010600040101010101" pitchFamily="2" charset="-122"/>
              </a:rPr>
              <a:t>k</a:t>
            </a:r>
            <a:r>
              <a:rPr lang="zh-CN" altLang="en-US" sz="2000" b="1" dirty="0">
                <a:ea typeface="华文楷体" panose="02010600040101010101" pitchFamily="2" charset="-122"/>
              </a:rPr>
              <a:t>个数，</a:t>
            </a:r>
            <a:r>
              <a:rPr lang="en-US" altLang="zh-CN" sz="2000" b="1" dirty="0">
                <a:ea typeface="华文楷体" panose="02010600040101010101" pitchFamily="2" charset="-122"/>
              </a:rPr>
              <a:t>0</a:t>
            </a:r>
            <a:r>
              <a:rPr lang="zh-CN" altLang="en-US" sz="2000" b="1" dirty="0">
                <a:ea typeface="华文楷体" panose="02010600040101010101" pitchFamily="2" charset="-122"/>
              </a:rPr>
              <a:t>换成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，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换成</a:t>
            </a:r>
            <a:r>
              <a:rPr lang="en-US" altLang="zh-CN" sz="2000" b="1" dirty="0">
                <a:ea typeface="华文楷体" panose="02010600040101010101" pitchFamily="2" charset="-122"/>
              </a:rPr>
              <a:t>0 </a:t>
            </a:r>
            <a:r>
              <a:rPr lang="zh-CN" altLang="en-US" sz="2000" b="1" dirty="0">
                <a:ea typeface="华文楷体" panose="02010600040101010101" pitchFamily="2" charset="-122"/>
              </a:rPr>
              <a:t>，则原序列唯一对应上一个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＋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和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－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b="1" dirty="0">
                <a:ea typeface="华文楷体" panose="02010600040101010101" pitchFamily="2" charset="-122"/>
              </a:rPr>
              <a:t>0</a:t>
            </a:r>
            <a:r>
              <a:rPr lang="zh-CN" altLang="en-US" sz="2000" b="1" dirty="0">
                <a:ea typeface="华文楷体" panose="02010600040101010101" pitchFamily="2" charset="-122"/>
              </a:rPr>
              <a:t>的序列。反之，任意一个由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＋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和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－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b="1" dirty="0">
                <a:ea typeface="华文楷体" panose="02010600040101010101" pitchFamily="2" charset="-122"/>
              </a:rPr>
              <a:t>0</a:t>
            </a:r>
            <a:r>
              <a:rPr lang="zh-CN" altLang="en-US" sz="2000" b="1" dirty="0">
                <a:ea typeface="华文楷体" panose="02010600040101010101" pitchFamily="2" charset="-122"/>
              </a:rPr>
              <a:t>构成的序列也唯一的对应一个这样不合要求的序列。由于一一对应，故这样不合要求的序列数实际上等于有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＋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和</a:t>
            </a:r>
            <a:r>
              <a:rPr lang="en-US" altLang="zh-CN" sz="2000" b="1" dirty="0">
                <a:ea typeface="华文楷体" panose="02010600040101010101" pitchFamily="2" charset="-122"/>
              </a:rPr>
              <a:t>n</a:t>
            </a:r>
            <a:r>
              <a:rPr lang="zh-CN" altLang="en-US" sz="2000" b="1" dirty="0">
                <a:ea typeface="华文楷体" panose="02010600040101010101" pitchFamily="2" charset="-122"/>
              </a:rPr>
              <a:t>－</a:t>
            </a:r>
            <a:r>
              <a:rPr lang="en-US" altLang="zh-CN" sz="2000" b="1" dirty="0"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ea typeface="华文楷体" panose="02010600040101010101" pitchFamily="2" charset="-122"/>
              </a:rPr>
              <a:t>个</a:t>
            </a:r>
            <a:r>
              <a:rPr lang="en-US" altLang="zh-CN" sz="2000" b="1" dirty="0">
                <a:ea typeface="华文楷体" panose="02010600040101010101" pitchFamily="2" charset="-122"/>
              </a:rPr>
              <a:t>0</a:t>
            </a:r>
            <a:r>
              <a:rPr lang="zh-CN" altLang="en-US" sz="2000" b="1" dirty="0">
                <a:ea typeface="华文楷体" panose="02010600040101010101" pitchFamily="2" charset="-122"/>
              </a:rPr>
              <a:t>构成的排列数，即</a:t>
            </a:r>
            <a:r>
              <a:rPr lang="en-US" altLang="zh-CN" sz="2000" b="1" dirty="0">
                <a:ea typeface="华文楷体" panose="02010600040101010101" pitchFamily="2" charset="-122"/>
              </a:rPr>
              <a:t>(2n)!/(n+1)(n-1)</a:t>
            </a:r>
            <a:r>
              <a:rPr lang="zh-CN" altLang="en-US" sz="2000" b="1" dirty="0">
                <a:ea typeface="华文楷体" panose="0201060004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ea typeface="华文楷体" panose="02010600040101010101" pitchFamily="2" charset="-122"/>
              </a:rPr>
              <a:t>因此合法的个数为：</a:t>
            </a:r>
            <a:r>
              <a:rPr lang="en-US" altLang="zh-CN" sz="2800" b="1" dirty="0">
                <a:solidFill>
                  <a:schemeClr val="accent2"/>
                </a:solidFill>
                <a:ea typeface="华文楷体" panose="02010600040101010101" pitchFamily="2" charset="-122"/>
              </a:rPr>
              <a:t>(2n)!/[n!*n! ]- (2n)!/[(n+1)!*(n-1)! 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accent2"/>
                </a:solidFill>
                <a:ea typeface="华文楷体" panose="02010600040101010101" pitchFamily="2" charset="-122"/>
              </a:rPr>
              <a:t>= (2n)!/[(n+1)!*n! ]</a:t>
            </a:r>
            <a:r>
              <a:rPr lang="en-US" altLang="zh-CN" sz="2800" dirty="0">
                <a:ea typeface="华文楷体" panose="0201060004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327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3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685800" y="966788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 [</a:t>
            </a:r>
            <a:r>
              <a:rPr lang="zh-CN" altLang="en-US" sz="2800">
                <a:solidFill>
                  <a:srgbClr val="FF33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例</a:t>
            </a:r>
            <a:r>
              <a:rPr lang="en-US" altLang="zh-CN" sz="2800">
                <a:solidFill>
                  <a:srgbClr val="FF33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]</a:t>
            </a:r>
            <a:r>
              <a:rPr lang="zh-CN" altLang="en-US" sz="2800">
                <a:solidFill>
                  <a:srgbClr val="9933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两个栈共享一组地址连续的存储单元</a:t>
            </a:r>
            <a:endParaRPr lang="zh-CN" altLang="en-US" sz="2800" b="1">
              <a:solidFill>
                <a:schemeClr val="bg1"/>
              </a:solidFill>
              <a:latin typeface="Verdan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1536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652588"/>
            <a:ext cx="7772400" cy="48006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ea typeface="华文楷体" panose="02010600040101010101" pitchFamily="2" charset="-122"/>
              </a:rPr>
              <a:t> </a:t>
            </a:r>
            <a:r>
              <a:rPr lang="en-US" altLang="zh-CN" sz="2800" b="1" smtClean="0">
                <a:ea typeface="华文楷体" panose="02010600040101010101" pitchFamily="2" charset="-122"/>
              </a:rPr>
              <a:t>[</a:t>
            </a:r>
            <a:r>
              <a:rPr lang="zh-CN" altLang="en-US" sz="2800" b="1" smtClean="0">
                <a:ea typeface="华文楷体" panose="02010600040101010101" pitchFamily="2" charset="-122"/>
              </a:rPr>
              <a:t>类型定义</a:t>
            </a:r>
            <a:r>
              <a:rPr lang="en-US" altLang="zh-CN" sz="2800" b="1" smtClean="0">
                <a:ea typeface="华文楷体" panose="02010600040101010101" pitchFamily="2" charset="-122"/>
              </a:rPr>
              <a:t>]</a:t>
            </a:r>
            <a:r>
              <a:rPr lang="en-US" altLang="zh-CN" sz="2800" smtClean="0">
                <a:ea typeface="华文楷体" panose="02010600040101010101" pitchFamily="2" charset="-122"/>
              </a:rPr>
              <a:t>    </a:t>
            </a:r>
            <a:r>
              <a:rPr lang="zh-CN" altLang="en-US" sz="2800" smtClean="0">
                <a:ea typeface="华文楷体" panose="02010600040101010101" pitchFamily="2" charset="-122"/>
              </a:rPr>
              <a:t>数组</a:t>
            </a:r>
            <a:r>
              <a:rPr lang="en-US" altLang="zh-CN" sz="2800" smtClean="0">
                <a:ea typeface="华文楷体" panose="02010600040101010101" pitchFamily="2" charset="-122"/>
              </a:rPr>
              <a:t>(</a:t>
            </a:r>
            <a:r>
              <a:rPr lang="zh-CN" altLang="en-US" sz="2800" smtClean="0">
                <a:ea typeface="华文楷体" panose="02010600040101010101" pitchFamily="2" charset="-122"/>
              </a:rPr>
              <a:t>栈空间</a:t>
            </a:r>
            <a:r>
              <a:rPr lang="en-US" altLang="zh-CN" sz="2800" smtClean="0">
                <a:ea typeface="华文楷体" panose="02010600040101010101" pitchFamily="2" charset="-122"/>
              </a:rPr>
              <a:t>) + </a:t>
            </a:r>
            <a:r>
              <a:rPr lang="zh-CN" altLang="en-US" sz="2800" smtClean="0">
                <a:ea typeface="华文楷体" panose="02010600040101010101" pitchFamily="2" charset="-122"/>
              </a:rPr>
              <a:t>两个栈顶指示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ea typeface="华文楷体" panose="02010600040101010101" pitchFamily="2" charset="-122"/>
              </a:rPr>
              <a:t>    </a:t>
            </a: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1295400" y="5310188"/>
            <a:ext cx="6096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15368" name="Text Box 7"/>
          <p:cNvSpPr txBox="1">
            <a:spLocks noChangeArrowheads="1"/>
          </p:cNvSpPr>
          <p:nvPr/>
        </p:nvSpPr>
        <p:spPr bwMode="auto">
          <a:xfrm>
            <a:off x="1219200" y="485298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0   1                                                                   m-1</a:t>
            </a:r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 flipH="1" flipV="1">
            <a:off x="2971800" y="58435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2438400" y="5995988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top[0]</a:t>
            </a:r>
          </a:p>
        </p:txBody>
      </p:sp>
      <p:sp>
        <p:nvSpPr>
          <p:cNvPr id="15371" name="Line 10"/>
          <p:cNvSpPr>
            <a:spLocks noChangeShapeType="1"/>
          </p:cNvSpPr>
          <p:nvPr/>
        </p:nvSpPr>
        <p:spPr bwMode="auto">
          <a:xfrm flipV="1">
            <a:off x="5410200" y="58435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2" name="Text Box 11"/>
          <p:cNvSpPr txBox="1">
            <a:spLocks noChangeArrowheads="1"/>
          </p:cNvSpPr>
          <p:nvPr/>
        </p:nvSpPr>
        <p:spPr bwMode="auto">
          <a:xfrm>
            <a:off x="5029200" y="591978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top[1]</a:t>
            </a:r>
          </a:p>
        </p:txBody>
      </p:sp>
      <p:sp>
        <p:nvSpPr>
          <p:cNvPr id="15373" name="Rectangle 12"/>
          <p:cNvSpPr>
            <a:spLocks noChangeArrowheads="1"/>
          </p:cNvSpPr>
          <p:nvPr/>
        </p:nvSpPr>
        <p:spPr bwMode="auto">
          <a:xfrm>
            <a:off x="1295400" y="5310188"/>
            <a:ext cx="1828800" cy="533400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15374" name="Line 13"/>
          <p:cNvSpPr>
            <a:spLocks noChangeShapeType="1"/>
          </p:cNvSpPr>
          <p:nvPr/>
        </p:nvSpPr>
        <p:spPr bwMode="auto">
          <a:xfrm>
            <a:off x="1600200" y="53101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>
            <a:off x="1905000" y="53101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>
            <a:off x="2819400" y="53101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7" name="Rectangle 16"/>
          <p:cNvSpPr>
            <a:spLocks noChangeArrowheads="1"/>
          </p:cNvSpPr>
          <p:nvPr/>
        </p:nvSpPr>
        <p:spPr bwMode="auto">
          <a:xfrm>
            <a:off x="5257800" y="5310188"/>
            <a:ext cx="2133600" cy="533400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15378" name="Line 17"/>
          <p:cNvSpPr>
            <a:spLocks noChangeShapeType="1"/>
          </p:cNvSpPr>
          <p:nvPr/>
        </p:nvSpPr>
        <p:spPr bwMode="auto">
          <a:xfrm>
            <a:off x="7086600" y="53101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9" name="Line 18"/>
          <p:cNvSpPr>
            <a:spLocks noChangeShapeType="1"/>
          </p:cNvSpPr>
          <p:nvPr/>
        </p:nvSpPr>
        <p:spPr bwMode="auto">
          <a:xfrm>
            <a:off x="6781800" y="53101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0" name="Line 19"/>
          <p:cNvSpPr>
            <a:spLocks noChangeShapeType="1"/>
          </p:cNvSpPr>
          <p:nvPr/>
        </p:nvSpPr>
        <p:spPr bwMode="auto">
          <a:xfrm>
            <a:off x="5562600" y="53101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1" name="Rectangle 21" descr="浅色上对角线"/>
          <p:cNvSpPr>
            <a:spLocks noChangeArrowheads="1"/>
          </p:cNvSpPr>
          <p:nvPr/>
        </p:nvSpPr>
        <p:spPr bwMode="auto">
          <a:xfrm>
            <a:off x="3124200" y="5310188"/>
            <a:ext cx="21336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900113" y="2997200"/>
            <a:ext cx="6911975" cy="1577975"/>
          </a:xfrm>
          <a:prstGeom prst="rect">
            <a:avLst/>
          </a:prstGeom>
          <a:solidFill>
            <a:srgbClr val="CCFFCC"/>
          </a:solidFill>
          <a:ln w="25400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ea typeface="华文楷体" panose="02010600040101010101" pitchFamily="2" charset="-122"/>
              </a:rPr>
              <a:t>栈满条件： </a:t>
            </a:r>
            <a:r>
              <a:rPr kumimoji="1" lang="en-US" altLang="zh-CN" sz="2400" b="1">
                <a:ea typeface="华文楷体" panose="02010600040101010101" pitchFamily="2" charset="-122"/>
              </a:rPr>
              <a:t>s.top[0]+1==s.top[1] 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ea typeface="华文楷体" panose="02010600040101010101" pitchFamily="2" charset="-122"/>
              </a:rPr>
              <a:t>栈空条件： </a:t>
            </a:r>
            <a:r>
              <a:rPr kumimoji="1" lang="en-US" altLang="zh-CN" sz="2400" b="1">
                <a:ea typeface="华文楷体" panose="02010600040101010101" pitchFamily="2" charset="-122"/>
              </a:rPr>
              <a:t>s.top[0]==-1</a:t>
            </a:r>
            <a:r>
              <a:rPr kumimoji="1" lang="zh-CN" altLang="en-US" sz="2400" b="1">
                <a:ea typeface="华文楷体" panose="02010600040101010101" pitchFamily="2" charset="-122"/>
              </a:rPr>
              <a:t>（栈</a:t>
            </a:r>
            <a:r>
              <a:rPr kumimoji="1" lang="en-US" altLang="zh-CN" sz="2400" b="1">
                <a:ea typeface="华文楷体" panose="02010600040101010101" pitchFamily="2" charset="-122"/>
              </a:rPr>
              <a:t>0</a:t>
            </a:r>
            <a:r>
              <a:rPr kumimoji="1" lang="zh-CN" altLang="en-US" sz="2400" b="1">
                <a:ea typeface="华文楷体" panose="02010600040101010101" pitchFamily="2" charset="-122"/>
              </a:rPr>
              <a:t>）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华文楷体" panose="02010600040101010101" pitchFamily="2" charset="-122"/>
              </a:rPr>
              <a:t>                    </a:t>
            </a:r>
            <a:r>
              <a:rPr kumimoji="1" lang="en-US" altLang="zh-CN" sz="2400" b="1">
                <a:ea typeface="华文楷体" panose="02010600040101010101" pitchFamily="2" charset="-122"/>
              </a:rPr>
              <a:t>s.top[1]==m </a:t>
            </a:r>
            <a:r>
              <a:rPr kumimoji="1" lang="zh-CN" altLang="en-US" sz="2400" b="1">
                <a:ea typeface="华文楷体" panose="02010600040101010101" pitchFamily="2" charset="-122"/>
              </a:rPr>
              <a:t>（栈</a:t>
            </a:r>
            <a:r>
              <a:rPr kumimoji="1" lang="en-US" altLang="zh-CN" sz="2400" b="1">
                <a:ea typeface="华文楷体" panose="02010600040101010101" pitchFamily="2" charset="-122"/>
              </a:rPr>
              <a:t>1</a:t>
            </a:r>
            <a:r>
              <a:rPr kumimoji="1" lang="zh-CN" altLang="en-US" sz="2400" b="1">
                <a:ea typeface="华文楷体" panose="02010600040101010101" pitchFamily="2" charset="-122"/>
              </a:rPr>
              <a:t>）</a:t>
            </a:r>
            <a:r>
              <a:rPr kumimoji="1" lang="zh-CN" altLang="en-US" sz="1800"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4067175" y="5445125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华文楷体" panose="02010600040101010101" pitchFamily="2" charset="-122"/>
              </a:rPr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50825" y="1125538"/>
            <a:ext cx="6096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1pPr>
            <a:lvl2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多栈处理 栈浮动技术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1839913"/>
            <a:ext cx="8686800" cy="533400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n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栈共享一个数组空间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V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m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设立栈顶指针数组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t 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+1]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和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           栈底指针数组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b 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+1]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t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]</a:t>
            </a:r>
            <a:r>
              <a:rPr lang="zh-CN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和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b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]</a:t>
            </a:r>
            <a:r>
              <a:rPr lang="zh-CN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分别指示第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i</a:t>
            </a:r>
            <a:r>
              <a:rPr lang="zh-CN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个栈的栈顶与栈底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  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b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]</a:t>
            </a:r>
            <a:r>
              <a:rPr lang="zh-CN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作为控制量，指到数组最高下标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各栈初始分配空间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s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 = 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  <a:sym typeface="Symbol" panose="05050102010706020507" pitchFamily="18" charset="2"/>
              </a:rPr>
              <a:t>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  <a:sym typeface="Symbol" panose="05050102010706020507" pitchFamily="18" charset="2"/>
              </a:rPr>
              <a:t>m 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  <a:sym typeface="Symbol" panose="05050102010706020507" pitchFamily="18" charset="2"/>
              </a:rPr>
              <a:t>/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  <a:sym typeface="Symbol" panose="05050102010706020507" pitchFamily="18" charset="2"/>
              </a:rPr>
              <a:t></a:t>
            </a:r>
            <a:endParaRPr lang="en-US" altLang="zh-CN" sz="2400" b="1" dirty="0" smtClean="0">
              <a:effectLst>
                <a:outerShdw blurRad="38100" dist="38100" dir="2700000" algn="tl">
                  <a:srgbClr val="C0C0C0"/>
                </a:outerShdw>
              </a:effectLst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指针初始值 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t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[0] =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b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[0] = -1  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b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] =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m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-1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     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t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] =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b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] =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b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-1] +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s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,   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 = 1, 2, …, 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-1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9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9144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228600" y="5319713"/>
            <a:ext cx="8686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 b="1">
                <a:solidFill>
                  <a:srgbClr val="CC3300"/>
                </a:solidFill>
                <a:ea typeface="隶书" panose="02010509060101010101" pitchFamily="49" charset="-122"/>
              </a:rPr>
              <a:t>插入新元素时的栈满处理 </a:t>
            </a:r>
            <a:r>
              <a:rPr kumimoji="1" lang="en-US" altLang="zh-CN" sz="3600" b="1" i="1">
                <a:solidFill>
                  <a:srgbClr val="CC3300"/>
                </a:solidFill>
                <a:ea typeface="隶书" panose="02010509060101010101" pitchFamily="49" charset="-122"/>
              </a:rPr>
              <a:t>StackFull</a:t>
            </a:r>
            <a:r>
              <a:rPr kumimoji="1" lang="en-US" altLang="zh-CN" sz="3600" b="1">
                <a:solidFill>
                  <a:srgbClr val="CC3300"/>
                </a:solidFill>
                <a:ea typeface="隶书" panose="02010509060101010101" pitchFamily="49" charset="-122"/>
              </a:rPr>
              <a:t> ( )</a:t>
            </a:r>
            <a:endParaRPr kumimoji="1" lang="en-US" altLang="zh-CN" sz="2400">
              <a:ea typeface="华文楷体" panose="02010600040101010101" pitchFamily="2" charset="-122"/>
            </a:endParaRPr>
          </a:p>
        </p:txBody>
      </p:sp>
      <p:sp>
        <p:nvSpPr>
          <p:cNvPr id="2" name="Line 6"/>
          <p:cNvSpPr>
            <a:spLocks noChangeShapeType="1"/>
          </p:cNvSpPr>
          <p:nvPr/>
        </p:nvSpPr>
        <p:spPr bwMode="auto">
          <a:xfrm>
            <a:off x="3348038" y="2565400"/>
            <a:ext cx="215900" cy="12239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>
            <a:off x="4859338" y="2565400"/>
            <a:ext cx="144462" cy="12239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5364163" y="2492375"/>
            <a:ext cx="215900" cy="12969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179388" y="1303338"/>
            <a:ext cx="8915400" cy="4789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template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&lt;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class Type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&gt;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void 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Push 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(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const int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,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const Type &amp;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item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)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{</a:t>
            </a:r>
            <a:endParaRPr kumimoji="1" lang="en-US" altLang="zh-CN" sz="2800">
              <a:solidFill>
                <a:srgbClr val="CC3300"/>
              </a:solidFill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  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if 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(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800" b="1" i="1">
                <a:solidFill>
                  <a:srgbClr val="0000FF"/>
                </a:solidFill>
                <a:ea typeface="华文楷体" panose="02010600040101010101" pitchFamily="2" charset="-122"/>
              </a:rPr>
              <a:t>t </a:t>
            </a:r>
            <a:r>
              <a:rPr kumimoji="1" lang="en-US" altLang="zh-CN" sz="2800" b="1">
                <a:solidFill>
                  <a:srgbClr val="0000FF"/>
                </a:solidFill>
                <a:ea typeface="华文楷体" panose="02010600040101010101" pitchFamily="2" charset="-122"/>
              </a:rPr>
              <a:t>[</a:t>
            </a:r>
            <a:r>
              <a:rPr kumimoji="1" lang="en-US" altLang="zh-CN" sz="2800" b="1" i="1">
                <a:solidFill>
                  <a:srgbClr val="0000FF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 b="1">
                <a:solidFill>
                  <a:srgbClr val="0000FF"/>
                </a:solidFill>
                <a:ea typeface="华文楷体" panose="02010600040101010101" pitchFamily="2" charset="-122"/>
              </a:rPr>
              <a:t>] ==</a:t>
            </a:r>
            <a:r>
              <a:rPr kumimoji="1" lang="en-US" altLang="zh-CN" sz="2800" b="1" i="1">
                <a:solidFill>
                  <a:srgbClr val="0000FF"/>
                </a:solidFill>
                <a:ea typeface="华文楷体" panose="02010600040101010101" pitchFamily="2" charset="-122"/>
              </a:rPr>
              <a:t> b</a:t>
            </a:r>
            <a:r>
              <a:rPr kumimoji="1" lang="en-US" altLang="zh-CN" sz="2800" b="1">
                <a:solidFill>
                  <a:srgbClr val="0000FF"/>
                </a:solidFill>
                <a:ea typeface="华文楷体" panose="02010600040101010101" pitchFamily="2" charset="-122"/>
              </a:rPr>
              <a:t>[</a:t>
            </a:r>
            <a:r>
              <a:rPr kumimoji="1" lang="en-US" altLang="zh-CN" sz="2800" b="1" i="1">
                <a:solidFill>
                  <a:srgbClr val="0000FF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 b="1">
                <a:solidFill>
                  <a:srgbClr val="0000FF"/>
                </a:solidFill>
                <a:ea typeface="华文楷体" panose="02010600040101010101" pitchFamily="2" charset="-122"/>
              </a:rPr>
              <a:t>+1]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) 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StackFull 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(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)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;</a:t>
            </a:r>
            <a:endParaRPr kumimoji="1" lang="en-US" altLang="zh-CN" sz="2800">
              <a:solidFill>
                <a:srgbClr val="CC3300"/>
              </a:solidFill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  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else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V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[++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t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[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]] =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 item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;        </a:t>
            </a:r>
            <a:r>
              <a:rPr kumimoji="1" lang="en-US" altLang="zh-CN" sz="2800" b="1">
                <a:solidFill>
                  <a:srgbClr val="0000FF"/>
                </a:solidFill>
                <a:ea typeface="隶书" panose="02010509060101010101" pitchFamily="49" charset="-122"/>
              </a:rPr>
              <a:t>//</a:t>
            </a:r>
            <a:r>
              <a:rPr kumimoji="1" lang="zh-CN" altLang="en-US" sz="2800">
                <a:solidFill>
                  <a:srgbClr val="0000FF"/>
                </a:solidFill>
                <a:ea typeface="隶书" panose="02010509060101010101" pitchFamily="49" charset="-122"/>
              </a:rPr>
              <a:t>第</a:t>
            </a:r>
            <a:r>
              <a:rPr kumimoji="1" lang="en-US" altLang="zh-CN" sz="2800" i="1">
                <a:solidFill>
                  <a:srgbClr val="0000FF"/>
                </a:solidFill>
                <a:ea typeface="隶书" panose="02010509060101010101" pitchFamily="49" charset="-122"/>
              </a:rPr>
              <a:t>i </a:t>
            </a:r>
            <a:r>
              <a:rPr kumimoji="1" lang="zh-CN" altLang="en-US" sz="2800">
                <a:solidFill>
                  <a:srgbClr val="0000FF"/>
                </a:solidFill>
                <a:ea typeface="隶书" panose="02010509060101010101" pitchFamily="49" charset="-122"/>
              </a:rPr>
              <a:t>个栈进栈</a:t>
            </a:r>
            <a:endParaRPr kumimoji="1" lang="zh-CN" altLang="en-US" sz="2800" b="1">
              <a:solidFill>
                <a:srgbClr val="CC3300"/>
              </a:solidFill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 sz="2800" b="1">
              <a:solidFill>
                <a:srgbClr val="CC3300"/>
              </a:solidFill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template &lt;class Type&gt; Type 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*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Pop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(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const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)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{</a:t>
            </a:r>
            <a:endParaRPr kumimoji="1" lang="en-US" altLang="zh-CN" sz="2800">
              <a:solidFill>
                <a:srgbClr val="CC3300"/>
              </a:solidFill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  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if 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( </a:t>
            </a:r>
            <a:r>
              <a:rPr kumimoji="1" lang="en-US" altLang="zh-CN" sz="2800" b="1" i="1">
                <a:solidFill>
                  <a:srgbClr val="0000FF"/>
                </a:solidFill>
                <a:ea typeface="华文楷体" panose="02010600040101010101" pitchFamily="2" charset="-122"/>
              </a:rPr>
              <a:t>t</a:t>
            </a:r>
            <a:r>
              <a:rPr kumimoji="1" lang="en-US" altLang="zh-CN" sz="2800" b="1">
                <a:solidFill>
                  <a:srgbClr val="0000FF"/>
                </a:solidFill>
                <a:ea typeface="华文楷体" panose="02010600040101010101" pitchFamily="2" charset="-122"/>
              </a:rPr>
              <a:t>[</a:t>
            </a:r>
            <a:r>
              <a:rPr kumimoji="1" lang="en-US" altLang="zh-CN" sz="2800" b="1" i="1">
                <a:solidFill>
                  <a:srgbClr val="0000FF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 b="1">
                <a:solidFill>
                  <a:srgbClr val="0000FF"/>
                </a:solidFill>
                <a:ea typeface="华文楷体" panose="02010600040101010101" pitchFamily="2" charset="-122"/>
              </a:rPr>
              <a:t>] == </a:t>
            </a:r>
            <a:r>
              <a:rPr kumimoji="1" lang="en-US" altLang="zh-CN" sz="2800" b="1" i="1">
                <a:solidFill>
                  <a:srgbClr val="0000FF"/>
                </a:solidFill>
                <a:ea typeface="华文楷体" panose="02010600040101010101" pitchFamily="2" charset="-122"/>
              </a:rPr>
              <a:t>b</a:t>
            </a:r>
            <a:r>
              <a:rPr kumimoji="1" lang="en-US" altLang="zh-CN" sz="2800" b="1">
                <a:solidFill>
                  <a:srgbClr val="0000FF"/>
                </a:solidFill>
                <a:ea typeface="华文楷体" panose="02010600040101010101" pitchFamily="2" charset="-122"/>
              </a:rPr>
              <a:t>[</a:t>
            </a:r>
            <a:r>
              <a:rPr kumimoji="1" lang="en-US" altLang="zh-CN" sz="2800" b="1" i="1">
                <a:solidFill>
                  <a:srgbClr val="0000FF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 b="1">
                <a:solidFill>
                  <a:srgbClr val="0000FF"/>
                </a:solidFill>
                <a:ea typeface="华文楷体" panose="02010600040101010101" pitchFamily="2" charset="-122"/>
              </a:rPr>
              <a:t>]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      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{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StackEmpty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(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)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;  return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0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; }</a:t>
            </a:r>
            <a:endParaRPr kumimoji="1" lang="en-US" altLang="zh-CN" sz="2800">
              <a:solidFill>
                <a:srgbClr val="CC3300"/>
              </a:solidFill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   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else return &amp;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V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[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t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[</a:t>
            </a:r>
            <a:r>
              <a:rPr kumimoji="1" lang="en-US" altLang="zh-CN" sz="2800" i="1">
                <a:solidFill>
                  <a:srgbClr val="CC3300"/>
                </a:solidFill>
                <a:ea typeface="华文楷体" panose="02010600040101010101" pitchFamily="2" charset="-122"/>
              </a:rPr>
              <a:t>i</a:t>
            </a:r>
            <a:r>
              <a:rPr kumimoji="1" lang="en-US" altLang="zh-CN" sz="2800">
                <a:solidFill>
                  <a:srgbClr val="CC3300"/>
                </a:solidFill>
                <a:ea typeface="华文楷体" panose="02010600040101010101" pitchFamily="2" charset="-122"/>
              </a:rPr>
              <a:t>]--]</a:t>
            </a: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;    </a:t>
            </a:r>
            <a:r>
              <a:rPr kumimoji="1" lang="en-US" altLang="zh-CN" sz="2800" b="1">
                <a:solidFill>
                  <a:srgbClr val="0000FF"/>
                </a:solidFill>
                <a:ea typeface="隶书" panose="02010509060101010101" pitchFamily="49" charset="-122"/>
              </a:rPr>
              <a:t>//</a:t>
            </a:r>
            <a:r>
              <a:rPr kumimoji="1" lang="zh-CN" altLang="en-US" sz="2800">
                <a:solidFill>
                  <a:srgbClr val="0000FF"/>
                </a:solidFill>
                <a:ea typeface="隶书" panose="02010509060101010101" pitchFamily="49" charset="-122"/>
              </a:rPr>
              <a:t>第</a:t>
            </a:r>
            <a:r>
              <a:rPr kumimoji="1" lang="en-US" altLang="zh-CN" sz="2800" i="1">
                <a:solidFill>
                  <a:srgbClr val="0000FF"/>
                </a:solidFill>
                <a:ea typeface="隶书" panose="02010509060101010101" pitchFamily="49" charset="-122"/>
              </a:rPr>
              <a:t>i </a:t>
            </a:r>
            <a:r>
              <a:rPr kumimoji="1" lang="zh-CN" altLang="en-US" sz="2800">
                <a:solidFill>
                  <a:srgbClr val="0000FF"/>
                </a:solidFill>
                <a:ea typeface="隶书" panose="02010509060101010101" pitchFamily="49" charset="-122"/>
              </a:rPr>
              <a:t>个栈出栈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>
                <a:solidFill>
                  <a:srgbClr val="CC3300"/>
                </a:solidFill>
                <a:ea typeface="华文楷体" panose="02010600040101010101" pitchFamily="2" charset="-122"/>
              </a:rPr>
              <a:t>}</a:t>
            </a:r>
            <a:endParaRPr kumimoji="1" lang="en-US" altLang="zh-CN" sz="280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3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smtClean="0">
                <a:ea typeface="华文楷体" panose="02010600040101010101" pitchFamily="2" charset="-122"/>
              </a:rPr>
              <a:t>3.3. </a:t>
            </a:r>
            <a:r>
              <a:rPr lang="zh-CN" altLang="en-US" sz="2800" smtClean="0">
                <a:ea typeface="华文楷体" panose="02010600040101010101" pitchFamily="2" charset="-122"/>
              </a:rPr>
              <a:t>链栈</a:t>
            </a:r>
          </a:p>
        </p:txBody>
      </p:sp>
      <p:grpSp>
        <p:nvGrpSpPr>
          <p:cNvPr id="19461" name="Group 4"/>
          <p:cNvGrpSpPr>
            <a:grpSpLocks/>
          </p:cNvGrpSpPr>
          <p:nvPr/>
        </p:nvGrpSpPr>
        <p:grpSpPr bwMode="auto">
          <a:xfrm>
            <a:off x="1073150" y="1587500"/>
            <a:ext cx="6019800" cy="762000"/>
            <a:chOff x="912" y="3360"/>
            <a:chExt cx="3792" cy="480"/>
          </a:xfrm>
        </p:grpSpPr>
        <p:sp>
          <p:nvSpPr>
            <p:cNvPr id="19463" name="Rectangle 5"/>
            <p:cNvSpPr>
              <a:spLocks noChangeArrowheads="1"/>
            </p:cNvSpPr>
            <p:nvPr/>
          </p:nvSpPr>
          <p:spPr bwMode="auto">
            <a:xfrm>
              <a:off x="1392" y="3408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19464" name="Line 6"/>
            <p:cNvSpPr>
              <a:spLocks noChangeShapeType="1"/>
            </p:cNvSpPr>
            <p:nvPr/>
          </p:nvSpPr>
          <p:spPr bwMode="auto">
            <a:xfrm>
              <a:off x="1728" y="34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5" name="Rectangle 7"/>
            <p:cNvSpPr>
              <a:spLocks noChangeArrowheads="1"/>
            </p:cNvSpPr>
            <p:nvPr/>
          </p:nvSpPr>
          <p:spPr bwMode="auto">
            <a:xfrm>
              <a:off x="2352" y="3408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19466" name="Line 8"/>
            <p:cNvSpPr>
              <a:spLocks noChangeShapeType="1"/>
            </p:cNvSpPr>
            <p:nvPr/>
          </p:nvSpPr>
          <p:spPr bwMode="auto">
            <a:xfrm>
              <a:off x="2688" y="34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7" name="Line 9"/>
            <p:cNvSpPr>
              <a:spLocks noChangeShapeType="1"/>
            </p:cNvSpPr>
            <p:nvPr/>
          </p:nvSpPr>
          <p:spPr bwMode="auto">
            <a:xfrm>
              <a:off x="1872" y="350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8" name="Rectangle 10"/>
            <p:cNvSpPr>
              <a:spLocks noChangeArrowheads="1"/>
            </p:cNvSpPr>
            <p:nvPr/>
          </p:nvSpPr>
          <p:spPr bwMode="auto">
            <a:xfrm>
              <a:off x="3936" y="3408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19469" name="Line 11"/>
            <p:cNvSpPr>
              <a:spLocks noChangeShapeType="1"/>
            </p:cNvSpPr>
            <p:nvPr/>
          </p:nvSpPr>
          <p:spPr bwMode="auto">
            <a:xfrm>
              <a:off x="4272" y="34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0" name="Line 12"/>
            <p:cNvSpPr>
              <a:spLocks noChangeShapeType="1"/>
            </p:cNvSpPr>
            <p:nvPr/>
          </p:nvSpPr>
          <p:spPr bwMode="auto">
            <a:xfrm>
              <a:off x="2928" y="35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1" name="Line 13"/>
            <p:cNvSpPr>
              <a:spLocks noChangeShapeType="1"/>
            </p:cNvSpPr>
            <p:nvPr/>
          </p:nvSpPr>
          <p:spPr bwMode="auto">
            <a:xfrm>
              <a:off x="3648" y="35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2" name="Line 14"/>
            <p:cNvSpPr>
              <a:spLocks noChangeShapeType="1"/>
            </p:cNvSpPr>
            <p:nvPr/>
          </p:nvSpPr>
          <p:spPr bwMode="auto">
            <a:xfrm flipV="1">
              <a:off x="3312" y="350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3" name="Line 15"/>
            <p:cNvSpPr>
              <a:spLocks noChangeShapeType="1"/>
            </p:cNvSpPr>
            <p:nvPr/>
          </p:nvSpPr>
          <p:spPr bwMode="auto">
            <a:xfrm>
              <a:off x="1104" y="35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4" name="Line 16"/>
            <p:cNvSpPr>
              <a:spLocks noChangeShapeType="1"/>
            </p:cNvSpPr>
            <p:nvPr/>
          </p:nvSpPr>
          <p:spPr bwMode="auto">
            <a:xfrm>
              <a:off x="1104" y="35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5" name="Text Box 17"/>
            <p:cNvSpPr txBox="1">
              <a:spLocks noChangeArrowheads="1"/>
            </p:cNvSpPr>
            <p:nvPr/>
          </p:nvSpPr>
          <p:spPr bwMode="auto">
            <a:xfrm>
              <a:off x="912" y="355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ea typeface="华文楷体" panose="02010600040101010101" pitchFamily="2" charset="-122"/>
                </a:rPr>
                <a:t>top</a:t>
              </a:r>
            </a:p>
          </p:txBody>
        </p:sp>
        <p:sp>
          <p:nvSpPr>
            <p:cNvPr id="19476" name="Text Box 18"/>
            <p:cNvSpPr txBox="1">
              <a:spLocks noChangeArrowheads="1"/>
            </p:cNvSpPr>
            <p:nvPr/>
          </p:nvSpPr>
          <p:spPr bwMode="auto">
            <a:xfrm>
              <a:off x="4368" y="340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ea typeface="华文楷体" panose="02010600040101010101" pitchFamily="2" charset="-122"/>
                </a:rPr>
                <a:t>^</a:t>
              </a:r>
            </a:p>
          </p:txBody>
        </p:sp>
        <p:sp>
          <p:nvSpPr>
            <p:cNvPr id="19477" name="Text Box 19"/>
            <p:cNvSpPr txBox="1">
              <a:spLocks noChangeArrowheads="1"/>
            </p:cNvSpPr>
            <p:nvPr/>
          </p:nvSpPr>
          <p:spPr bwMode="auto">
            <a:xfrm>
              <a:off x="3984" y="340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>
                  <a:ea typeface="华文楷体" panose="02010600040101010101" pitchFamily="2" charset="-122"/>
                </a:rPr>
                <a:t>a</a:t>
              </a:r>
              <a:r>
                <a:rPr kumimoji="1" lang="en-US" altLang="zh-CN" sz="2000" baseline="-25000">
                  <a:ea typeface="华文楷体" panose="02010600040101010101" pitchFamily="2" charset="-122"/>
                </a:rPr>
                <a:t>0</a:t>
              </a:r>
              <a:endParaRPr kumimoji="1" lang="en-US" altLang="zh-CN" sz="2000">
                <a:ea typeface="华文楷体" panose="02010600040101010101" pitchFamily="2" charset="-122"/>
              </a:endParaRPr>
            </a:p>
          </p:txBody>
        </p:sp>
        <p:sp>
          <p:nvSpPr>
            <p:cNvPr id="19478" name="Text Box 20"/>
            <p:cNvSpPr txBox="1">
              <a:spLocks noChangeArrowheads="1"/>
            </p:cNvSpPr>
            <p:nvPr/>
          </p:nvSpPr>
          <p:spPr bwMode="auto">
            <a:xfrm>
              <a:off x="2352" y="34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>
                  <a:ea typeface="华文楷体" panose="02010600040101010101" pitchFamily="2" charset="-122"/>
                </a:rPr>
                <a:t>a </a:t>
              </a:r>
              <a:r>
                <a:rPr kumimoji="1" lang="en-US" altLang="zh-CN" sz="2000" baseline="-25000">
                  <a:ea typeface="华文楷体" panose="02010600040101010101" pitchFamily="2" charset="-122"/>
                </a:rPr>
                <a:t>n-2</a:t>
              </a:r>
            </a:p>
          </p:txBody>
        </p:sp>
        <p:sp>
          <p:nvSpPr>
            <p:cNvPr id="19479" name="Text Box 21"/>
            <p:cNvSpPr txBox="1">
              <a:spLocks noChangeArrowheads="1"/>
            </p:cNvSpPr>
            <p:nvPr/>
          </p:nvSpPr>
          <p:spPr bwMode="auto">
            <a:xfrm>
              <a:off x="1440" y="3360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ea typeface="华文楷体" panose="02010600040101010101" pitchFamily="2" charset="-122"/>
                </a:rPr>
                <a:t>a</a:t>
              </a:r>
              <a:r>
                <a:rPr kumimoji="1" lang="en-US" altLang="zh-CN" sz="2400" baseline="-25000">
                  <a:ea typeface="华文楷体" panose="02010600040101010101" pitchFamily="2" charset="-122"/>
                </a:rPr>
                <a:t>n-1</a:t>
              </a:r>
              <a:endParaRPr kumimoji="1" lang="en-US" altLang="zh-CN" sz="2400">
                <a:ea typeface="华文楷体" panose="02010600040101010101" pitchFamily="2" charset="-122"/>
              </a:endParaRPr>
            </a:p>
          </p:txBody>
        </p:sp>
      </p:grpSp>
      <p:sp>
        <p:nvSpPr>
          <p:cNvPr id="19462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827088" y="3408363"/>
            <a:ext cx="7345362" cy="2468562"/>
          </a:xfrm>
          <a:solidFill>
            <a:srgbClr val="CCFFCC"/>
          </a:solidFill>
          <a:ln w="25400" cap="flat" algn="ctr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indent="0" eaLnBrk="1" hangingPunct="1">
              <a:spcBef>
                <a:spcPct val="50000"/>
              </a:spcBef>
              <a:buClrTx/>
              <a:buFontTx/>
              <a:buChar char="•"/>
            </a:pPr>
            <a:r>
              <a:rPr kumimoji="1" lang="zh-CN" altLang="en-US" sz="2800" b="1" smtClean="0">
                <a:ea typeface="华文楷体" panose="02010600040101010101" pitchFamily="2" charset="-122"/>
              </a:rPr>
              <a:t>链式栈无栈满问题，空间可扩充</a:t>
            </a:r>
          </a:p>
          <a:p>
            <a:pPr marL="0" indent="0" eaLnBrk="1" hangingPunct="1">
              <a:spcBef>
                <a:spcPct val="50000"/>
              </a:spcBef>
              <a:buClrTx/>
              <a:buFontTx/>
              <a:buChar char="•"/>
            </a:pPr>
            <a:r>
              <a:rPr kumimoji="1" lang="zh-CN" altLang="en-US" sz="2800" b="1" smtClean="0">
                <a:ea typeface="华文楷体" panose="02010600040101010101" pitchFamily="2" charset="-122"/>
              </a:rPr>
              <a:t>插入与删除仅在栈顶处执行</a:t>
            </a:r>
          </a:p>
          <a:p>
            <a:pPr marL="0" indent="0" eaLnBrk="1" hangingPunct="1">
              <a:spcBef>
                <a:spcPct val="50000"/>
              </a:spcBef>
              <a:buClrTx/>
              <a:buFontTx/>
              <a:buChar char="•"/>
            </a:pPr>
            <a:r>
              <a:rPr kumimoji="1" lang="zh-CN" altLang="en-US" sz="2800" b="1" smtClean="0">
                <a:ea typeface="华文楷体" panose="02010600040101010101" pitchFamily="2" charset="-122"/>
              </a:rPr>
              <a:t>链式栈的栈顶在链头</a:t>
            </a:r>
          </a:p>
          <a:p>
            <a:pPr marL="0" indent="0" eaLnBrk="1" hangingPunct="1">
              <a:spcBef>
                <a:spcPct val="50000"/>
              </a:spcBef>
              <a:buClrTx/>
              <a:buFontTx/>
              <a:buChar char="•"/>
            </a:pPr>
            <a:r>
              <a:rPr kumimoji="1" lang="zh-CN" altLang="en-US" sz="2800" b="1" smtClean="0">
                <a:ea typeface="华文楷体" panose="02010600040101010101" pitchFamily="2" charset="-122"/>
              </a:rPr>
              <a:t>适合于多栈操作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华文楷体" panose="02010600040101010101" pitchFamily="2" charset="-122"/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rgbClr val="C00000"/>
                </a:solidFill>
                <a:ea typeface="华文楷体" panose="02010600040101010101" pitchFamily="2" charset="-122"/>
              </a:rPr>
              <a:t>【</a:t>
            </a:r>
            <a:r>
              <a:rPr lang="zh-CN" altLang="en-US" sz="2800" smtClean="0">
                <a:solidFill>
                  <a:srgbClr val="C00000"/>
                </a:solidFill>
                <a:ea typeface="华文楷体" panose="02010600040101010101" pitchFamily="2" charset="-122"/>
              </a:rPr>
              <a:t>链栈结构</a:t>
            </a:r>
            <a:r>
              <a:rPr lang="en-US" altLang="zh-CN" sz="2800" smtClean="0">
                <a:solidFill>
                  <a:srgbClr val="C00000"/>
                </a:solidFill>
                <a:ea typeface="华文楷体" panose="02010600040101010101" pitchFamily="2" charset="-122"/>
              </a:rPr>
              <a:t>】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mtClean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20486" name="文本框 5"/>
          <p:cNvSpPr txBox="1">
            <a:spLocks noChangeArrowheads="1"/>
          </p:cNvSpPr>
          <p:nvPr/>
        </p:nvSpPr>
        <p:spPr bwMode="auto">
          <a:xfrm>
            <a:off x="411163" y="1773238"/>
            <a:ext cx="4962525" cy="44005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struct node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	elemtype data;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	struct node </a:t>
            </a:r>
            <a:r>
              <a:rPr lang="zh-CN" altLang="en-US" sz="2800">
                <a:ea typeface="华文楷体" panose="02010600040101010101" pitchFamily="2" charset="-122"/>
              </a:rPr>
              <a:t>*</a:t>
            </a:r>
            <a:r>
              <a:rPr lang="en-US" altLang="zh-CN" sz="2800">
                <a:ea typeface="华文楷体" panose="02010600040101010101" pitchFamily="2" charset="-122"/>
              </a:rPr>
              <a:t>next;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};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typedef struct node Node;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typedef struct node </a:t>
            </a:r>
            <a:r>
              <a:rPr lang="zh-CN" altLang="en-US" sz="2800">
                <a:ea typeface="华文楷体" panose="02010600040101010101" pitchFamily="2" charset="-122"/>
              </a:rPr>
              <a:t>*</a:t>
            </a:r>
            <a:r>
              <a:rPr lang="en-US" altLang="zh-CN" sz="2800">
                <a:ea typeface="华文楷体" panose="02010600040101010101" pitchFamily="2" charset="-122"/>
              </a:rPr>
              <a:t>PtrToNode;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typedef PtrToNode </a:t>
            </a:r>
            <a:r>
              <a:rPr lang="en-US" altLang="zh-CN" sz="2800">
                <a:solidFill>
                  <a:srgbClr val="FF0000"/>
                </a:solidFill>
                <a:ea typeface="华文楷体" panose="02010600040101010101" pitchFamily="2" charset="-122"/>
              </a:rPr>
              <a:t>Stack</a:t>
            </a:r>
            <a:r>
              <a:rPr lang="en-US" altLang="zh-CN" sz="2800">
                <a:ea typeface="华文楷体" panose="0201060004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typedef PtrToNode Position;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BUPT SCST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21509" name="文本框 5"/>
          <p:cNvSpPr txBox="1">
            <a:spLocks noChangeArrowheads="1"/>
          </p:cNvSpPr>
          <p:nvPr/>
        </p:nvSpPr>
        <p:spPr bwMode="auto">
          <a:xfrm>
            <a:off x="684213" y="1752600"/>
            <a:ext cx="4319587" cy="47085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00000"/>
                </a:solidFill>
                <a:ea typeface="华文楷体" panose="02010600040101010101" pitchFamily="2" charset="-122"/>
              </a:rPr>
              <a:t>入栈操作</a:t>
            </a:r>
            <a:endParaRPr lang="en-US" altLang="zh-CN" sz="2000">
              <a:solidFill>
                <a:srgbClr val="C00000"/>
              </a:solidFill>
              <a:ea typeface="华文楷体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void Push(elemtype X, Stack S)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{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    PtrtoNode tmp;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    tmp = malloc(sizeof(struct node));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    if (tmp == NULL)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	exit(“out of space”);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    else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   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	tmp-&gt;data = X;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	tmp-&gt;next = S-&gt;next;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	S-&gt;next = tmp;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华文楷体" panose="02010600040101010101" pitchFamily="2" charset="-122"/>
              </a:rPr>
              <a:t>}</a:t>
            </a:r>
            <a:endParaRPr lang="zh-CN" altLang="en-US" sz="2000">
              <a:ea typeface="华文楷体" panose="02010600040101010101" pitchFamily="2" charset="-122"/>
            </a:endParaRPr>
          </a:p>
        </p:txBody>
      </p:sp>
      <p:sp>
        <p:nvSpPr>
          <p:cNvPr id="21510" name="文本框 1"/>
          <p:cNvSpPr txBox="1">
            <a:spLocks noChangeArrowheads="1"/>
          </p:cNvSpPr>
          <p:nvPr/>
        </p:nvSpPr>
        <p:spPr bwMode="auto">
          <a:xfrm>
            <a:off x="5508625" y="1700213"/>
            <a:ext cx="3335338" cy="39100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出栈操作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void Pop(Stack S)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PtrtoNode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FirstCell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if(S-&gt;next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!= NULL)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FirstCell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 S-&gt;next;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S-&gt;next = S-&gt;next-&gt;next;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free (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FirstCell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</a:p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1" name="文本框 2"/>
          <p:cNvSpPr txBox="1">
            <a:spLocks noChangeArrowheads="1"/>
          </p:cNvSpPr>
          <p:nvPr/>
        </p:nvSpPr>
        <p:spPr bwMode="auto">
          <a:xfrm>
            <a:off x="5521325" y="5753100"/>
            <a:ext cx="2735263" cy="7080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>
                <a:solidFill>
                  <a:srgbClr val="00B05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即带头结点的单链表添加和删除首元结点。</a:t>
            </a:r>
          </a:p>
        </p:txBody>
      </p:sp>
      <p:sp>
        <p:nvSpPr>
          <p:cNvPr id="21512" name="文本框 5"/>
          <p:cNvSpPr txBox="1">
            <a:spLocks noChangeArrowheads="1"/>
          </p:cNvSpPr>
          <p:nvPr/>
        </p:nvSpPr>
        <p:spPr bwMode="auto">
          <a:xfrm>
            <a:off x="331788" y="1184275"/>
            <a:ext cx="4494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带头结点的单链栈操作</a:t>
            </a:r>
            <a:r>
              <a:rPr lang="en-US" alt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  <a:endParaRPr lang="zh-CN" altLang="en-US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smtClean="0">
                <a:ea typeface="华文楷体" panose="02010600040101010101" pitchFamily="2" charset="-122"/>
              </a:rPr>
              <a:t>3.4.</a:t>
            </a:r>
            <a:r>
              <a:rPr lang="zh-CN" altLang="en-US" sz="2800" smtClean="0">
                <a:ea typeface="华文楷体" panose="02010600040101010101" pitchFamily="2" charset="-122"/>
              </a:rPr>
              <a:t>栈的应用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76350"/>
            <a:ext cx="8229600" cy="52482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400" b="1" smtClean="0">
                <a:solidFill>
                  <a:srgbClr val="993300"/>
                </a:solidFill>
                <a:ea typeface="华文楷体" panose="02010600040101010101" pitchFamily="2" charset="-122"/>
              </a:rPr>
              <a:t>栈与递归过程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8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递归的含义</a:t>
            </a:r>
            <a:r>
              <a:rPr lang="en-US" altLang="zh-CN" sz="28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800" smtClean="0">
                <a:ea typeface="华文楷体" panose="0201060004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         </a:t>
            </a:r>
            <a:r>
              <a:rPr lang="zh-CN" altLang="en-US" sz="2800" smtClean="0">
                <a:ea typeface="华文楷体" panose="02010600040101010101" pitchFamily="2" charset="-122"/>
              </a:rPr>
              <a:t>函数、过程或者数据结构的内部又直接或者间接地由自身定义。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8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适合于应用递归的场合</a:t>
            </a:r>
            <a:r>
              <a:rPr lang="en-US" altLang="zh-CN" sz="28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]</a:t>
            </a:r>
            <a:endParaRPr lang="en-US" altLang="zh-CN" sz="2800" smtClean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mtClean="0">
                <a:ea typeface="华文楷体" panose="02010600040101010101" pitchFamily="2" charset="-122"/>
              </a:rPr>
              <a:t>规模较大的问题可以化解为规模较小的问题，且二者处理</a:t>
            </a:r>
            <a:r>
              <a:rPr lang="en-US" altLang="zh-CN" smtClean="0">
                <a:ea typeface="华文楷体" panose="02010600040101010101" pitchFamily="2" charset="-122"/>
              </a:rPr>
              <a:t>(</a:t>
            </a:r>
            <a:r>
              <a:rPr lang="zh-CN" altLang="en-US" smtClean="0">
                <a:ea typeface="华文楷体" panose="02010600040101010101" pitchFamily="2" charset="-122"/>
              </a:rPr>
              <a:t>或定义</a:t>
            </a:r>
            <a:r>
              <a:rPr lang="en-US" altLang="zh-CN" smtClean="0">
                <a:ea typeface="华文楷体" panose="02010600040101010101" pitchFamily="2" charset="-122"/>
              </a:rPr>
              <a:t>)</a:t>
            </a:r>
            <a:r>
              <a:rPr lang="zh-CN" altLang="en-US" smtClean="0">
                <a:ea typeface="华文楷体" panose="02010600040101010101" pitchFamily="2" charset="-122"/>
              </a:rPr>
              <a:t>的方式一致；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mtClean="0">
                <a:ea typeface="华文楷体" panose="02010600040101010101" pitchFamily="2" charset="-122"/>
              </a:rPr>
              <a:t>当问题规模降低到一定程度时是可以直接求解的</a:t>
            </a:r>
            <a:r>
              <a:rPr lang="en-US" altLang="zh-CN" smtClean="0">
                <a:ea typeface="华文楷体" panose="02010600040101010101" pitchFamily="2" charset="-122"/>
              </a:rPr>
              <a:t>(</a:t>
            </a:r>
            <a:r>
              <a:rPr lang="zh-CN" altLang="en-US" smtClean="0">
                <a:ea typeface="华文楷体" panose="02010600040101010101" pitchFamily="2" charset="-122"/>
              </a:rPr>
              <a:t>终止条件</a:t>
            </a:r>
            <a:r>
              <a:rPr lang="en-US" altLang="zh-CN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  </a:t>
            </a:r>
            <a:r>
              <a:rPr lang="zh-CN" altLang="en-US" sz="2800" smtClean="0">
                <a:ea typeface="华文楷体" panose="02010600040101010101" pitchFamily="2" charset="-122"/>
              </a:rPr>
              <a:t>例</a:t>
            </a:r>
            <a:r>
              <a:rPr lang="en-US" altLang="zh-CN" sz="2800" smtClean="0">
                <a:ea typeface="华文楷体" panose="02010600040101010101" pitchFamily="2" charset="-122"/>
              </a:rPr>
              <a:t>1.    </a:t>
            </a:r>
            <a:r>
              <a:rPr lang="zh-CN" altLang="en-US" sz="2800" smtClean="0">
                <a:ea typeface="华文楷体" panose="02010600040101010101" pitchFamily="2" charset="-122"/>
              </a:rPr>
              <a:t>阶乘 </a:t>
            </a:r>
            <a:r>
              <a:rPr lang="en-US" altLang="zh-CN" sz="2800" smtClean="0">
                <a:ea typeface="华文楷体" panose="02010600040101010101" pitchFamily="2" charset="-122"/>
              </a:rPr>
              <a:t>n!=   1                n=0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                             n</a:t>
            </a:r>
            <a:r>
              <a:rPr lang="en-US" altLang="zh-CN" sz="2800" smtClean="0">
                <a:ea typeface="华文楷体" panose="02010600040101010101" pitchFamily="2" charset="-122"/>
                <a:sym typeface="Symbol" panose="05050102010706020507" pitchFamily="18" charset="2"/>
              </a:rPr>
              <a:t>·(n-1)!     n&gt;0</a:t>
            </a:r>
            <a:endParaRPr lang="en-US" altLang="zh-CN" sz="36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 smtClean="0">
              <a:solidFill>
                <a:srgbClr val="993300"/>
              </a:solidFill>
              <a:ea typeface="华文楷体" panose="02010600040101010101" pitchFamily="2" charset="-122"/>
            </a:endParaRPr>
          </a:p>
        </p:txBody>
      </p:sp>
      <p:sp>
        <p:nvSpPr>
          <p:cNvPr id="22534" name="AutoShape 4"/>
          <p:cNvSpPr>
            <a:spLocks/>
          </p:cNvSpPr>
          <p:nvPr/>
        </p:nvSpPr>
        <p:spPr bwMode="auto">
          <a:xfrm>
            <a:off x="3492500" y="5300663"/>
            <a:ext cx="71438" cy="720725"/>
          </a:xfrm>
          <a:prstGeom prst="leftBrace">
            <a:avLst>
              <a:gd name="adj1" fmla="val 8407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1758950" y="1881188"/>
            <a:ext cx="76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5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9750" y="966788"/>
            <a:ext cx="7772400" cy="54102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2.    n</a:t>
            </a:r>
            <a:r>
              <a:rPr lang="zh-CN" altLang="en-US" sz="280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阶</a:t>
            </a:r>
            <a:r>
              <a:rPr lang="en-US" altLang="zh-CN" sz="280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Hanoi</a:t>
            </a:r>
            <a:r>
              <a:rPr lang="zh-CN" altLang="en-US" sz="280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塔问题</a:t>
            </a:r>
            <a:r>
              <a:rPr lang="zh-CN" altLang="en-US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endParaRPr lang="zh-CN" altLang="en-US" smtClean="0">
              <a:ea typeface="华文楷体" panose="02010600040101010101" pitchFamily="2" charset="-122"/>
            </a:endParaRPr>
          </a:p>
          <a:p>
            <a:pPr eaLnBrk="1" hangingPunct="1"/>
            <a:endParaRPr lang="en-US" altLang="zh-CN" smtClean="0">
              <a:ea typeface="华文楷体" panose="02010600040101010101" pitchFamily="2" charset="-122"/>
            </a:endParaRPr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768350" y="3557588"/>
            <a:ext cx="381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auto">
          <a:xfrm>
            <a:off x="920750" y="3328988"/>
            <a:ext cx="167640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61" name="Rectangle 8"/>
          <p:cNvSpPr>
            <a:spLocks noChangeArrowheads="1"/>
          </p:cNvSpPr>
          <p:nvPr/>
        </p:nvSpPr>
        <p:spPr bwMode="auto">
          <a:xfrm>
            <a:off x="996950" y="3100388"/>
            <a:ext cx="152400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62" name="Rectangle 9"/>
          <p:cNvSpPr>
            <a:spLocks noChangeArrowheads="1"/>
          </p:cNvSpPr>
          <p:nvPr/>
        </p:nvSpPr>
        <p:spPr bwMode="auto">
          <a:xfrm>
            <a:off x="1149350" y="2871788"/>
            <a:ext cx="121920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63" name="Rectangle 10"/>
          <p:cNvSpPr>
            <a:spLocks noChangeArrowheads="1"/>
          </p:cNvSpPr>
          <p:nvPr/>
        </p:nvSpPr>
        <p:spPr bwMode="auto">
          <a:xfrm>
            <a:off x="1225550" y="2643188"/>
            <a:ext cx="106680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64" name="Rectangle 11"/>
          <p:cNvSpPr>
            <a:spLocks noChangeArrowheads="1"/>
          </p:cNvSpPr>
          <p:nvPr/>
        </p:nvSpPr>
        <p:spPr bwMode="auto">
          <a:xfrm>
            <a:off x="1301750" y="2414588"/>
            <a:ext cx="91440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65" name="Text Box 12"/>
          <p:cNvSpPr txBox="1">
            <a:spLocks noChangeArrowheads="1"/>
          </p:cNvSpPr>
          <p:nvPr/>
        </p:nvSpPr>
        <p:spPr bwMode="auto">
          <a:xfrm>
            <a:off x="539750" y="2338388"/>
            <a:ext cx="3048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>
                <a:ea typeface="楷体_GB2312" pitchFamily="49" charset="-122"/>
              </a:rPr>
              <a:t>12. .n</a:t>
            </a:r>
            <a:endParaRPr kumimoji="1" lang="en-US" altLang="zh-CN" sz="2000">
              <a:ea typeface="楷体_GB2312" pitchFamily="49" charset="-122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730750" y="4167188"/>
            <a:ext cx="3962400" cy="2228850"/>
            <a:chOff x="2928" y="2400"/>
            <a:chExt cx="2496" cy="1404"/>
          </a:xfrm>
        </p:grpSpPr>
        <p:sp>
          <p:nvSpPr>
            <p:cNvPr id="23612" name="Line 14"/>
            <p:cNvSpPr>
              <a:spLocks noChangeShapeType="1"/>
            </p:cNvSpPr>
            <p:nvPr/>
          </p:nvSpPr>
          <p:spPr bwMode="auto">
            <a:xfrm>
              <a:off x="2928" y="3744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3" name="Rectangle 15"/>
            <p:cNvSpPr>
              <a:spLocks noChangeArrowheads="1"/>
            </p:cNvSpPr>
            <p:nvPr/>
          </p:nvSpPr>
          <p:spPr bwMode="auto">
            <a:xfrm>
              <a:off x="4656" y="2688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14" name="Rectangle 16"/>
            <p:cNvSpPr>
              <a:spLocks noChangeArrowheads="1"/>
            </p:cNvSpPr>
            <p:nvPr/>
          </p:nvSpPr>
          <p:spPr bwMode="auto">
            <a:xfrm>
              <a:off x="3984" y="2688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15" name="Rectangle 17"/>
            <p:cNvSpPr>
              <a:spLocks noChangeArrowheads="1"/>
            </p:cNvSpPr>
            <p:nvPr/>
          </p:nvSpPr>
          <p:spPr bwMode="auto">
            <a:xfrm>
              <a:off x="3312" y="2688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16" name="Text Box 18"/>
            <p:cNvSpPr txBox="1">
              <a:spLocks noChangeArrowheads="1"/>
            </p:cNvSpPr>
            <p:nvPr/>
          </p:nvSpPr>
          <p:spPr bwMode="auto">
            <a:xfrm>
              <a:off x="3072" y="2400"/>
              <a:ext cx="18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>
                  <a:ea typeface="华文楷体" panose="02010600040101010101" pitchFamily="2" charset="-122"/>
                </a:rPr>
                <a:t>X                Y               Z</a:t>
              </a:r>
            </a:p>
          </p:txBody>
        </p:sp>
        <p:sp>
          <p:nvSpPr>
            <p:cNvPr id="23617" name="Rectangle 19"/>
            <p:cNvSpPr>
              <a:spLocks noChangeArrowheads="1"/>
            </p:cNvSpPr>
            <p:nvPr/>
          </p:nvSpPr>
          <p:spPr bwMode="auto">
            <a:xfrm>
              <a:off x="4176" y="3600"/>
              <a:ext cx="1056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18" name="Rectangle 20"/>
            <p:cNvSpPr>
              <a:spLocks noChangeArrowheads="1"/>
            </p:cNvSpPr>
            <p:nvPr/>
          </p:nvSpPr>
          <p:spPr bwMode="auto">
            <a:xfrm>
              <a:off x="4224" y="3456"/>
              <a:ext cx="960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19" name="Rectangle 21"/>
            <p:cNvSpPr>
              <a:spLocks noChangeArrowheads="1"/>
            </p:cNvSpPr>
            <p:nvPr/>
          </p:nvSpPr>
          <p:spPr bwMode="auto">
            <a:xfrm>
              <a:off x="4320" y="3312"/>
              <a:ext cx="768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20" name="Rectangle 22"/>
            <p:cNvSpPr>
              <a:spLocks noChangeArrowheads="1"/>
            </p:cNvSpPr>
            <p:nvPr/>
          </p:nvSpPr>
          <p:spPr bwMode="auto">
            <a:xfrm>
              <a:off x="4368" y="3168"/>
              <a:ext cx="672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21" name="Rectangle 23"/>
            <p:cNvSpPr>
              <a:spLocks noChangeArrowheads="1"/>
            </p:cNvSpPr>
            <p:nvPr/>
          </p:nvSpPr>
          <p:spPr bwMode="auto">
            <a:xfrm>
              <a:off x="4416" y="3024"/>
              <a:ext cx="576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22" name="Text Box 24"/>
            <p:cNvSpPr txBox="1">
              <a:spLocks noChangeArrowheads="1"/>
            </p:cNvSpPr>
            <p:nvPr/>
          </p:nvSpPr>
          <p:spPr bwMode="auto">
            <a:xfrm>
              <a:off x="5232" y="2976"/>
              <a:ext cx="192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ea typeface="楷体_GB2312" pitchFamily="49" charset="-122"/>
                </a:rPr>
                <a:t>12. .n</a:t>
              </a:r>
              <a:endParaRPr kumimoji="1" lang="en-US" altLang="zh-CN" sz="2000">
                <a:ea typeface="楷体_GB2312" pitchFamily="49" charset="-122"/>
              </a:endParaRPr>
            </a:p>
          </p:txBody>
        </p:sp>
      </p:grpSp>
      <p:sp>
        <p:nvSpPr>
          <p:cNvPr id="23567" name="Rectangle 25"/>
          <p:cNvSpPr>
            <a:spLocks noChangeArrowheads="1"/>
          </p:cNvSpPr>
          <p:nvPr/>
        </p:nvSpPr>
        <p:spPr bwMode="auto">
          <a:xfrm>
            <a:off x="2901950" y="1881188"/>
            <a:ext cx="76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68" name="Rectangle 26"/>
          <p:cNvSpPr>
            <a:spLocks noChangeArrowheads="1"/>
          </p:cNvSpPr>
          <p:nvPr/>
        </p:nvSpPr>
        <p:spPr bwMode="auto">
          <a:xfrm>
            <a:off x="3816350" y="1881188"/>
            <a:ext cx="76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69" name="Text Box 27"/>
          <p:cNvSpPr txBox="1">
            <a:spLocks noChangeArrowheads="1"/>
          </p:cNvSpPr>
          <p:nvPr/>
        </p:nvSpPr>
        <p:spPr bwMode="auto">
          <a:xfrm>
            <a:off x="1606550" y="1423988"/>
            <a:ext cx="2667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X                Y              Z</a:t>
            </a:r>
          </a:p>
        </p:txBody>
      </p:sp>
      <p:sp>
        <p:nvSpPr>
          <p:cNvPr id="19484" name="AutoShape 28"/>
          <p:cNvSpPr>
            <a:spLocks noChangeArrowheads="1"/>
          </p:cNvSpPr>
          <p:nvPr/>
        </p:nvSpPr>
        <p:spPr bwMode="auto">
          <a:xfrm rot="5400000">
            <a:off x="5359400" y="2547938"/>
            <a:ext cx="762000" cy="11049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058392681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4779 h 21600"/>
              <a:gd name="T14" fmla="*/ 20210 w 21600"/>
              <a:gd name="T15" fmla="*/ 737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099" y="0"/>
                </a:lnTo>
                <a:lnTo>
                  <a:pt x="15099" y="4779"/>
                </a:lnTo>
                <a:lnTo>
                  <a:pt x="12427" y="4779"/>
                </a:lnTo>
                <a:cubicBezTo>
                  <a:pt x="5564" y="4779"/>
                  <a:pt x="0" y="8083"/>
                  <a:pt x="0" y="12158"/>
                </a:cubicBezTo>
                <a:lnTo>
                  <a:pt x="0" y="21600"/>
                </a:lnTo>
                <a:lnTo>
                  <a:pt x="2658" y="21600"/>
                </a:lnTo>
                <a:lnTo>
                  <a:pt x="2658" y="12158"/>
                </a:lnTo>
                <a:cubicBezTo>
                  <a:pt x="2658" y="9519"/>
                  <a:pt x="7032" y="7379"/>
                  <a:pt x="12427" y="7379"/>
                </a:cubicBezTo>
                <a:lnTo>
                  <a:pt x="15099" y="7379"/>
                </a:lnTo>
                <a:lnTo>
                  <a:pt x="15099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485" name="Group 29"/>
          <p:cNvGrpSpPr>
            <a:grpSpLocks/>
          </p:cNvGrpSpPr>
          <p:nvPr/>
        </p:nvGrpSpPr>
        <p:grpSpPr bwMode="auto">
          <a:xfrm>
            <a:off x="2139950" y="3709988"/>
            <a:ext cx="6629400" cy="2743200"/>
            <a:chOff x="1104" y="2112"/>
            <a:chExt cx="4176" cy="1728"/>
          </a:xfrm>
        </p:grpSpPr>
        <p:sp>
          <p:nvSpPr>
            <p:cNvPr id="23599" name="Rectangle 30"/>
            <p:cNvSpPr>
              <a:spLocks noChangeArrowheads="1"/>
            </p:cNvSpPr>
            <p:nvPr/>
          </p:nvSpPr>
          <p:spPr bwMode="auto">
            <a:xfrm>
              <a:off x="1104" y="2112"/>
              <a:ext cx="4176" cy="172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00" name="Line 31"/>
            <p:cNvSpPr>
              <a:spLocks noChangeShapeType="1"/>
            </p:cNvSpPr>
            <p:nvPr/>
          </p:nvSpPr>
          <p:spPr bwMode="auto">
            <a:xfrm>
              <a:off x="1344" y="3696"/>
              <a:ext cx="3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1" name="Rectangle 32"/>
            <p:cNvSpPr>
              <a:spLocks noChangeArrowheads="1"/>
            </p:cNvSpPr>
            <p:nvPr/>
          </p:nvSpPr>
          <p:spPr bwMode="auto">
            <a:xfrm>
              <a:off x="4368" y="2640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02" name="Rectangle 33"/>
            <p:cNvSpPr>
              <a:spLocks noChangeArrowheads="1"/>
            </p:cNvSpPr>
            <p:nvPr/>
          </p:nvSpPr>
          <p:spPr bwMode="auto">
            <a:xfrm>
              <a:off x="3216" y="2640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03" name="Rectangle 34"/>
            <p:cNvSpPr>
              <a:spLocks noChangeArrowheads="1"/>
            </p:cNvSpPr>
            <p:nvPr/>
          </p:nvSpPr>
          <p:spPr bwMode="auto">
            <a:xfrm>
              <a:off x="1968" y="2640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04" name="Text Box 35"/>
            <p:cNvSpPr txBox="1">
              <a:spLocks noChangeArrowheads="1"/>
            </p:cNvSpPr>
            <p:nvPr/>
          </p:nvSpPr>
          <p:spPr bwMode="auto">
            <a:xfrm>
              <a:off x="2544" y="3120"/>
              <a:ext cx="288" cy="58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1</a:t>
              </a:r>
              <a:endParaRPr kumimoji="1" lang="en-US" altLang="zh-CN" sz="1600">
                <a:ea typeface="华文楷体" panose="0201060004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2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.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.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n-1</a:t>
              </a:r>
              <a:endParaRPr kumimoji="1" lang="en-US" altLang="zh-CN" sz="1600">
                <a:ea typeface="华文楷体" panose="02010600040101010101" pitchFamily="2" charset="-122"/>
              </a:endParaRPr>
            </a:p>
          </p:txBody>
        </p:sp>
        <p:sp>
          <p:nvSpPr>
            <p:cNvPr id="23605" name="Rectangle 36"/>
            <p:cNvSpPr>
              <a:spLocks noChangeArrowheads="1"/>
            </p:cNvSpPr>
            <p:nvPr/>
          </p:nvSpPr>
          <p:spPr bwMode="auto">
            <a:xfrm>
              <a:off x="2784" y="3552"/>
              <a:ext cx="960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06" name="Rectangle 37"/>
            <p:cNvSpPr>
              <a:spLocks noChangeArrowheads="1"/>
            </p:cNvSpPr>
            <p:nvPr/>
          </p:nvSpPr>
          <p:spPr bwMode="auto">
            <a:xfrm>
              <a:off x="2880" y="3408"/>
              <a:ext cx="768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07" name="Rectangle 38"/>
            <p:cNvSpPr>
              <a:spLocks noChangeArrowheads="1"/>
            </p:cNvSpPr>
            <p:nvPr/>
          </p:nvSpPr>
          <p:spPr bwMode="auto">
            <a:xfrm>
              <a:off x="2928" y="3264"/>
              <a:ext cx="672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08" name="Rectangle 39"/>
            <p:cNvSpPr>
              <a:spLocks noChangeArrowheads="1"/>
            </p:cNvSpPr>
            <p:nvPr/>
          </p:nvSpPr>
          <p:spPr bwMode="auto">
            <a:xfrm>
              <a:off x="2976" y="3120"/>
              <a:ext cx="576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609" name="Text Box 40"/>
            <p:cNvSpPr txBox="1">
              <a:spLocks noChangeArrowheads="1"/>
            </p:cNvSpPr>
            <p:nvPr/>
          </p:nvSpPr>
          <p:spPr bwMode="auto">
            <a:xfrm>
              <a:off x="1920" y="2304"/>
              <a:ext cx="2688" cy="2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>
                  <a:ea typeface="华文楷体" panose="02010600040101010101" pitchFamily="2" charset="-122"/>
                </a:rPr>
                <a:t>X                            Y                        Z</a:t>
              </a:r>
            </a:p>
          </p:txBody>
        </p:sp>
        <p:sp>
          <p:nvSpPr>
            <p:cNvPr id="23610" name="Text Box 41"/>
            <p:cNvSpPr txBox="1">
              <a:spLocks noChangeArrowheads="1"/>
            </p:cNvSpPr>
            <p:nvPr/>
          </p:nvSpPr>
          <p:spPr bwMode="auto">
            <a:xfrm>
              <a:off x="1200" y="3504"/>
              <a:ext cx="336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ea typeface="华文楷体" panose="02010600040101010101" pitchFamily="2" charset="-122"/>
                </a:rPr>
                <a:t>n</a:t>
              </a:r>
            </a:p>
          </p:txBody>
        </p:sp>
        <p:sp>
          <p:nvSpPr>
            <p:cNvPr id="23611" name="Rectangle 42"/>
            <p:cNvSpPr>
              <a:spLocks noChangeArrowheads="1"/>
            </p:cNvSpPr>
            <p:nvPr/>
          </p:nvSpPr>
          <p:spPr bwMode="auto">
            <a:xfrm>
              <a:off x="1488" y="3552"/>
              <a:ext cx="1008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</p:grpSp>
      <p:grpSp>
        <p:nvGrpSpPr>
          <p:cNvPr id="19499" name="Group 43"/>
          <p:cNvGrpSpPr>
            <a:grpSpLocks/>
          </p:cNvGrpSpPr>
          <p:nvPr/>
        </p:nvGrpSpPr>
        <p:grpSpPr bwMode="auto">
          <a:xfrm>
            <a:off x="2139950" y="3709988"/>
            <a:ext cx="6629400" cy="2743200"/>
            <a:chOff x="1104" y="2112"/>
            <a:chExt cx="4176" cy="1728"/>
          </a:xfrm>
        </p:grpSpPr>
        <p:sp>
          <p:nvSpPr>
            <p:cNvPr id="23586" name="Rectangle 44"/>
            <p:cNvSpPr>
              <a:spLocks noChangeArrowheads="1"/>
            </p:cNvSpPr>
            <p:nvPr/>
          </p:nvSpPr>
          <p:spPr bwMode="auto">
            <a:xfrm>
              <a:off x="1104" y="2112"/>
              <a:ext cx="4176" cy="172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87" name="Line 45"/>
            <p:cNvSpPr>
              <a:spLocks noChangeShapeType="1"/>
            </p:cNvSpPr>
            <p:nvPr/>
          </p:nvSpPr>
          <p:spPr bwMode="auto">
            <a:xfrm>
              <a:off x="1344" y="3696"/>
              <a:ext cx="3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8" name="Rectangle 46"/>
            <p:cNvSpPr>
              <a:spLocks noChangeArrowheads="1"/>
            </p:cNvSpPr>
            <p:nvPr/>
          </p:nvSpPr>
          <p:spPr bwMode="auto">
            <a:xfrm>
              <a:off x="4368" y="2640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89" name="Rectangle 47"/>
            <p:cNvSpPr>
              <a:spLocks noChangeArrowheads="1"/>
            </p:cNvSpPr>
            <p:nvPr/>
          </p:nvSpPr>
          <p:spPr bwMode="auto">
            <a:xfrm>
              <a:off x="3216" y="2640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90" name="Rectangle 48"/>
            <p:cNvSpPr>
              <a:spLocks noChangeArrowheads="1"/>
            </p:cNvSpPr>
            <p:nvPr/>
          </p:nvSpPr>
          <p:spPr bwMode="auto">
            <a:xfrm>
              <a:off x="1968" y="2640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91" name="Text Box 49"/>
            <p:cNvSpPr txBox="1">
              <a:spLocks noChangeArrowheads="1"/>
            </p:cNvSpPr>
            <p:nvPr/>
          </p:nvSpPr>
          <p:spPr bwMode="auto">
            <a:xfrm>
              <a:off x="2544" y="3120"/>
              <a:ext cx="288" cy="58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1</a:t>
              </a:r>
              <a:endParaRPr kumimoji="1" lang="en-US" altLang="zh-CN" sz="1600">
                <a:ea typeface="华文楷体" panose="0201060004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2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.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.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n-1</a:t>
              </a:r>
              <a:endParaRPr kumimoji="1" lang="en-US" altLang="zh-CN" sz="1600">
                <a:ea typeface="华文楷体" panose="02010600040101010101" pitchFamily="2" charset="-122"/>
              </a:endParaRPr>
            </a:p>
          </p:txBody>
        </p:sp>
        <p:sp>
          <p:nvSpPr>
            <p:cNvPr id="23592" name="Rectangle 50"/>
            <p:cNvSpPr>
              <a:spLocks noChangeArrowheads="1"/>
            </p:cNvSpPr>
            <p:nvPr/>
          </p:nvSpPr>
          <p:spPr bwMode="auto">
            <a:xfrm>
              <a:off x="2784" y="3552"/>
              <a:ext cx="960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93" name="Rectangle 51"/>
            <p:cNvSpPr>
              <a:spLocks noChangeArrowheads="1"/>
            </p:cNvSpPr>
            <p:nvPr/>
          </p:nvSpPr>
          <p:spPr bwMode="auto">
            <a:xfrm>
              <a:off x="2880" y="3408"/>
              <a:ext cx="768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94" name="Rectangle 52"/>
            <p:cNvSpPr>
              <a:spLocks noChangeArrowheads="1"/>
            </p:cNvSpPr>
            <p:nvPr/>
          </p:nvSpPr>
          <p:spPr bwMode="auto">
            <a:xfrm>
              <a:off x="2928" y="3264"/>
              <a:ext cx="672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95" name="Rectangle 53"/>
            <p:cNvSpPr>
              <a:spLocks noChangeArrowheads="1"/>
            </p:cNvSpPr>
            <p:nvPr/>
          </p:nvSpPr>
          <p:spPr bwMode="auto">
            <a:xfrm>
              <a:off x="2976" y="3120"/>
              <a:ext cx="576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96" name="Text Box 54"/>
            <p:cNvSpPr txBox="1">
              <a:spLocks noChangeArrowheads="1"/>
            </p:cNvSpPr>
            <p:nvPr/>
          </p:nvSpPr>
          <p:spPr bwMode="auto">
            <a:xfrm>
              <a:off x="1920" y="2304"/>
              <a:ext cx="2688" cy="2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>
                  <a:ea typeface="华文楷体" panose="02010600040101010101" pitchFamily="2" charset="-122"/>
                </a:rPr>
                <a:t>X                            Y                        Z</a:t>
              </a:r>
            </a:p>
          </p:txBody>
        </p:sp>
        <p:sp>
          <p:nvSpPr>
            <p:cNvPr id="23597" name="Text Box 55"/>
            <p:cNvSpPr txBox="1">
              <a:spLocks noChangeArrowheads="1"/>
            </p:cNvSpPr>
            <p:nvPr/>
          </p:nvSpPr>
          <p:spPr bwMode="auto">
            <a:xfrm>
              <a:off x="4848" y="3456"/>
              <a:ext cx="192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ea typeface="华文楷体" panose="02010600040101010101" pitchFamily="2" charset="-122"/>
                </a:rPr>
                <a:t>n</a:t>
              </a:r>
            </a:p>
          </p:txBody>
        </p:sp>
        <p:sp>
          <p:nvSpPr>
            <p:cNvPr id="23598" name="Rectangle 56"/>
            <p:cNvSpPr>
              <a:spLocks noChangeArrowheads="1"/>
            </p:cNvSpPr>
            <p:nvPr/>
          </p:nvSpPr>
          <p:spPr bwMode="auto">
            <a:xfrm>
              <a:off x="3840" y="3552"/>
              <a:ext cx="1008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</p:grpSp>
      <p:grpSp>
        <p:nvGrpSpPr>
          <p:cNvPr id="19513" name="Group 57"/>
          <p:cNvGrpSpPr>
            <a:grpSpLocks/>
          </p:cNvGrpSpPr>
          <p:nvPr/>
        </p:nvGrpSpPr>
        <p:grpSpPr bwMode="auto">
          <a:xfrm>
            <a:off x="2139950" y="3709988"/>
            <a:ext cx="6629400" cy="2743200"/>
            <a:chOff x="1104" y="2112"/>
            <a:chExt cx="4176" cy="1728"/>
          </a:xfrm>
        </p:grpSpPr>
        <p:sp>
          <p:nvSpPr>
            <p:cNvPr id="23574" name="Rectangle 58"/>
            <p:cNvSpPr>
              <a:spLocks noChangeArrowheads="1"/>
            </p:cNvSpPr>
            <p:nvPr/>
          </p:nvSpPr>
          <p:spPr bwMode="auto">
            <a:xfrm>
              <a:off x="1104" y="2112"/>
              <a:ext cx="4176" cy="172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75" name="Line 59"/>
            <p:cNvSpPr>
              <a:spLocks noChangeShapeType="1"/>
            </p:cNvSpPr>
            <p:nvPr/>
          </p:nvSpPr>
          <p:spPr bwMode="auto">
            <a:xfrm>
              <a:off x="1344" y="3696"/>
              <a:ext cx="3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6" name="Rectangle 60"/>
            <p:cNvSpPr>
              <a:spLocks noChangeArrowheads="1"/>
            </p:cNvSpPr>
            <p:nvPr/>
          </p:nvSpPr>
          <p:spPr bwMode="auto">
            <a:xfrm>
              <a:off x="4320" y="2640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77" name="Rectangle 61"/>
            <p:cNvSpPr>
              <a:spLocks noChangeArrowheads="1"/>
            </p:cNvSpPr>
            <p:nvPr/>
          </p:nvSpPr>
          <p:spPr bwMode="auto">
            <a:xfrm>
              <a:off x="3216" y="2640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78" name="Rectangle 62"/>
            <p:cNvSpPr>
              <a:spLocks noChangeArrowheads="1"/>
            </p:cNvSpPr>
            <p:nvPr/>
          </p:nvSpPr>
          <p:spPr bwMode="auto">
            <a:xfrm>
              <a:off x="1968" y="2640"/>
              <a:ext cx="48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79" name="Text Box 63"/>
            <p:cNvSpPr txBox="1">
              <a:spLocks noChangeArrowheads="1"/>
            </p:cNvSpPr>
            <p:nvPr/>
          </p:nvSpPr>
          <p:spPr bwMode="auto">
            <a:xfrm>
              <a:off x="4848" y="2976"/>
              <a:ext cx="288" cy="69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1</a:t>
              </a:r>
              <a:endParaRPr kumimoji="1" lang="en-US" altLang="zh-CN" sz="1600">
                <a:ea typeface="华文楷体" panose="0201060004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2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.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.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n-1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200">
                  <a:ea typeface="华文楷体" panose="02010600040101010101" pitchFamily="2" charset="-122"/>
                </a:rPr>
                <a:t>n</a:t>
              </a:r>
              <a:endParaRPr kumimoji="1" lang="en-US" altLang="zh-CN" sz="1600">
                <a:ea typeface="华文楷体" panose="02010600040101010101" pitchFamily="2" charset="-122"/>
              </a:endParaRPr>
            </a:p>
          </p:txBody>
        </p:sp>
        <p:sp>
          <p:nvSpPr>
            <p:cNvPr id="23580" name="Rectangle 64"/>
            <p:cNvSpPr>
              <a:spLocks noChangeArrowheads="1"/>
            </p:cNvSpPr>
            <p:nvPr/>
          </p:nvSpPr>
          <p:spPr bwMode="auto">
            <a:xfrm>
              <a:off x="3840" y="3408"/>
              <a:ext cx="960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81" name="Rectangle 65"/>
            <p:cNvSpPr>
              <a:spLocks noChangeArrowheads="1"/>
            </p:cNvSpPr>
            <p:nvPr/>
          </p:nvSpPr>
          <p:spPr bwMode="auto">
            <a:xfrm>
              <a:off x="3936" y="3264"/>
              <a:ext cx="768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82" name="Rectangle 66"/>
            <p:cNvSpPr>
              <a:spLocks noChangeArrowheads="1"/>
            </p:cNvSpPr>
            <p:nvPr/>
          </p:nvSpPr>
          <p:spPr bwMode="auto">
            <a:xfrm>
              <a:off x="3984" y="3120"/>
              <a:ext cx="672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83" name="Rectangle 67"/>
            <p:cNvSpPr>
              <a:spLocks noChangeArrowheads="1"/>
            </p:cNvSpPr>
            <p:nvPr/>
          </p:nvSpPr>
          <p:spPr bwMode="auto">
            <a:xfrm>
              <a:off x="4032" y="2976"/>
              <a:ext cx="576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3584" name="Text Box 68"/>
            <p:cNvSpPr txBox="1">
              <a:spLocks noChangeArrowheads="1"/>
            </p:cNvSpPr>
            <p:nvPr/>
          </p:nvSpPr>
          <p:spPr bwMode="auto">
            <a:xfrm>
              <a:off x="1920" y="2304"/>
              <a:ext cx="2688" cy="2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>
                  <a:ea typeface="华文楷体" panose="02010600040101010101" pitchFamily="2" charset="-122"/>
                </a:rPr>
                <a:t>X                            Y                        Z</a:t>
              </a:r>
            </a:p>
          </p:txBody>
        </p:sp>
        <p:sp>
          <p:nvSpPr>
            <p:cNvPr id="23585" name="Rectangle 69"/>
            <p:cNvSpPr>
              <a:spLocks noChangeArrowheads="1"/>
            </p:cNvSpPr>
            <p:nvPr/>
          </p:nvSpPr>
          <p:spPr bwMode="auto">
            <a:xfrm>
              <a:off x="3792" y="3552"/>
              <a:ext cx="1056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685800" y="1111250"/>
            <a:ext cx="7772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[</a:t>
            </a:r>
            <a:r>
              <a:rPr lang="zh-CN" altLang="en-US" sz="2400" b="1">
                <a:solidFill>
                  <a:srgbClr val="FF33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写递归算法应注意的问题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]</a:t>
            </a:r>
            <a:endParaRPr lang="en-US" altLang="zh-CN" sz="2400" b="1">
              <a:solidFill>
                <a:schemeClr val="bg1"/>
              </a:solidFill>
              <a:latin typeface="Verdan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2458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720850"/>
            <a:ext cx="7772400" cy="4876800"/>
          </a:xfrm>
          <a:noFill/>
        </p:spPr>
        <p:txBody>
          <a:bodyPr/>
          <a:lstStyle/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递归算法本身不可以作为独立的程序运行，需在其它的程序中设置调用初值，进行调用；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递归算法应有出口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终止条件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lvl="1" eaLnBrk="1" hangingPunct="1"/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 smtClean="0"/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例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1.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求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！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>
              <a:ea typeface="华文楷体" panose="02010600040101010101" pitchFamily="2" charset="-122"/>
            </a:endParaRPr>
          </a:p>
          <a:p>
            <a:pPr eaLnBrk="1" hangingPunct="1"/>
            <a:endParaRPr lang="zh-CN" altLang="en-US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</a:t>
            </a:r>
          </a:p>
        </p:txBody>
      </p:sp>
      <p:sp>
        <p:nvSpPr>
          <p:cNvPr id="24583" name="Text Box 6"/>
          <p:cNvSpPr txBox="1">
            <a:spLocks noChangeArrowheads="1"/>
          </p:cNvSpPr>
          <p:nvPr/>
        </p:nvSpPr>
        <p:spPr bwMode="auto">
          <a:xfrm>
            <a:off x="1219200" y="4005263"/>
            <a:ext cx="6592888" cy="2308225"/>
          </a:xfrm>
          <a:prstGeom prst="rect">
            <a:avLst/>
          </a:prstGeom>
          <a:solidFill>
            <a:srgbClr val="CCFFFF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int </a:t>
            </a:r>
            <a:r>
              <a:rPr kumimoji="1" lang="en-US" altLang="zh-CN" sz="2400" b="1">
                <a:solidFill>
                  <a:schemeClr val="accent2"/>
                </a:solidFill>
                <a:ea typeface="华文楷体" panose="02010600040101010101" pitchFamily="2" charset="-122"/>
              </a:rPr>
              <a:t>Factorial</a:t>
            </a:r>
            <a:r>
              <a:rPr kumimoji="1" lang="en-US" altLang="zh-CN" sz="2400">
                <a:ea typeface="华文楷体" panose="02010600040101010101" pitchFamily="2" charset="-122"/>
              </a:rPr>
              <a:t>(int n)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 if (n==0)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    return(1);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 return(n*Factorial(n-1));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750888"/>
            <a:ext cx="7772400" cy="54864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smtClean="0">
                <a:ea typeface="华文楷体" panose="02010600040101010101" pitchFamily="2" charset="-122"/>
              </a:rPr>
              <a:t> </a:t>
            </a:r>
            <a:r>
              <a:rPr lang="zh-CN" altLang="en-US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例</a:t>
            </a:r>
            <a:r>
              <a:rPr lang="en-US" altLang="zh-CN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2. Hanoi</a:t>
            </a:r>
            <a:r>
              <a:rPr lang="zh-CN" altLang="en-US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塔问题</a:t>
            </a:r>
            <a:r>
              <a:rPr lang="zh-CN" altLang="en-US" sz="2000" smtClean="0">
                <a:ea typeface="华文楷体" panose="02010600040101010101" pitchFamily="2" charset="-122"/>
              </a:rPr>
              <a:t>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b="1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b="1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b="1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b="1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b="1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b="1" smtClean="0">
                <a:ea typeface="华文楷体" panose="02010600040101010101" pitchFamily="2" charset="-122"/>
              </a:rPr>
              <a:t>[</a:t>
            </a:r>
            <a:r>
              <a:rPr lang="zh-CN" altLang="en-US" sz="2000" b="1" smtClean="0">
                <a:ea typeface="华文楷体" panose="02010600040101010101" pitchFamily="2" charset="-122"/>
              </a:rPr>
              <a:t>递归算法的特点</a:t>
            </a:r>
            <a:r>
              <a:rPr lang="en-US" altLang="zh-CN" sz="2000" b="1" smtClean="0">
                <a:ea typeface="华文楷体" panose="02010600040101010101" pitchFamily="2" charset="-122"/>
              </a:rPr>
              <a:t>]</a:t>
            </a:r>
            <a:endParaRPr lang="en-US" altLang="zh-CN" sz="2000" smtClean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1800" smtClean="0">
                <a:ea typeface="华文楷体" panose="02010600040101010101" pitchFamily="2" charset="-122"/>
              </a:rPr>
              <a:t>递归算法简单明了，直观易懂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1800" smtClean="0">
                <a:ea typeface="华文楷体" panose="02010600040101010101" pitchFamily="2" charset="-122"/>
              </a:rPr>
              <a:t>时间效率低，空间开销大，算法不易优化</a:t>
            </a:r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914400" y="1952625"/>
            <a:ext cx="7467600" cy="3895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void  </a:t>
            </a:r>
            <a:r>
              <a:rPr kumimoji="1" lang="en-US" altLang="zh-CN" sz="2400" b="1">
                <a:solidFill>
                  <a:schemeClr val="accent2"/>
                </a:solidFill>
                <a:ea typeface="华文楷体" panose="02010600040101010101" pitchFamily="2" charset="-122"/>
              </a:rPr>
              <a:t>Hanoi</a:t>
            </a:r>
            <a:r>
              <a:rPr kumimoji="1" lang="en-US" altLang="zh-CN" sz="2400">
                <a:ea typeface="华文楷体" panose="02010600040101010101" pitchFamily="2" charset="-122"/>
              </a:rPr>
              <a:t> (int n,  int x, int y, int z)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  if  (n==1)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       Move</a:t>
            </a:r>
            <a:r>
              <a:rPr kumimoji="1" lang="zh-CN" altLang="en-US" sz="2400">
                <a:ea typeface="华文楷体" panose="02010600040101010101" pitchFamily="2" charset="-122"/>
              </a:rPr>
              <a:t>（</a:t>
            </a:r>
            <a:r>
              <a:rPr kumimoji="1" lang="en-US" altLang="zh-CN" sz="2400">
                <a:ea typeface="华文楷体" panose="02010600040101010101" pitchFamily="2" charset="-122"/>
              </a:rPr>
              <a:t>x</a:t>
            </a:r>
            <a:r>
              <a:rPr kumimoji="1" lang="zh-CN" altLang="en-US" sz="2400">
                <a:ea typeface="华文楷体" panose="02010600040101010101" pitchFamily="2" charset="-122"/>
              </a:rPr>
              <a:t>，</a:t>
            </a:r>
            <a:r>
              <a:rPr kumimoji="1" lang="en-US" altLang="zh-CN" sz="2400">
                <a:ea typeface="华文楷体" panose="02010600040101010101" pitchFamily="2" charset="-122"/>
              </a:rPr>
              <a:t>1</a:t>
            </a:r>
            <a:r>
              <a:rPr kumimoji="1" lang="zh-CN" altLang="en-US" sz="2400">
                <a:ea typeface="华文楷体" panose="02010600040101010101" pitchFamily="2" charset="-122"/>
              </a:rPr>
              <a:t>，</a:t>
            </a:r>
            <a:r>
              <a:rPr kumimoji="1" lang="en-US" altLang="zh-CN" sz="2400">
                <a:ea typeface="华文楷体" panose="02010600040101010101" pitchFamily="2" charset="-122"/>
              </a:rPr>
              <a:t>z</a:t>
            </a:r>
            <a:r>
              <a:rPr kumimoji="1" lang="zh-CN" altLang="en-US" sz="2400">
                <a:ea typeface="华文楷体" panose="02010600040101010101" pitchFamily="2" charset="-122"/>
              </a:rPr>
              <a:t>）  </a:t>
            </a:r>
            <a:r>
              <a:rPr kumimoji="1" lang="en-US" altLang="zh-CN" sz="2400">
                <a:ea typeface="华文楷体" panose="02010600040101010101" pitchFamily="2" charset="-122"/>
              </a:rPr>
              <a:t>//</a:t>
            </a:r>
            <a:r>
              <a:rPr kumimoji="1" lang="zh-CN" altLang="en-US" sz="2400">
                <a:ea typeface="华文楷体" panose="02010600040101010101" pitchFamily="2" charset="-122"/>
              </a:rPr>
              <a:t>出口条件</a:t>
            </a:r>
            <a:endParaRPr kumimoji="1" lang="en-US" altLang="zh-CN" sz="2400">
              <a:ea typeface="华文楷体" panose="0201060004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 else{    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       Hanoi (n-1,  x, z, y);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       Move (x</a:t>
            </a:r>
            <a:r>
              <a:rPr kumimoji="1" lang="zh-CN" altLang="en-US" sz="2400">
                <a:ea typeface="华文楷体" panose="02010600040101010101" pitchFamily="2" charset="-122"/>
              </a:rPr>
              <a:t>，</a:t>
            </a:r>
            <a:r>
              <a:rPr kumimoji="1" lang="en-US" altLang="zh-CN" sz="2400">
                <a:ea typeface="华文楷体" panose="02010600040101010101" pitchFamily="2" charset="-122"/>
              </a:rPr>
              <a:t>n</a:t>
            </a:r>
            <a:r>
              <a:rPr kumimoji="1" lang="zh-CN" altLang="en-US" sz="2400">
                <a:ea typeface="华文楷体" panose="02010600040101010101" pitchFamily="2" charset="-122"/>
              </a:rPr>
              <a:t>，</a:t>
            </a:r>
            <a:r>
              <a:rPr kumimoji="1" lang="en-US" altLang="zh-CN" sz="2400">
                <a:ea typeface="华文楷体" panose="02010600040101010101" pitchFamily="2" charset="-122"/>
              </a:rPr>
              <a:t>z); //</a:t>
            </a:r>
            <a:r>
              <a:rPr kumimoji="1" lang="zh-CN" altLang="en-US" sz="2400">
                <a:ea typeface="华文楷体" panose="02010600040101010101" pitchFamily="2" charset="-122"/>
              </a:rPr>
              <a:t>视为简单操作</a:t>
            </a:r>
            <a:endParaRPr kumimoji="1" lang="en-US" altLang="zh-CN" sz="2400">
              <a:ea typeface="华文楷体" panose="0201060004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           Hanoi (n-1,  y, x, z);}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}</a:t>
            </a: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6084888" y="2924175"/>
            <a:ext cx="2819400" cy="2209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5608" name="Line 7"/>
          <p:cNvSpPr>
            <a:spLocks noChangeShapeType="1"/>
          </p:cNvSpPr>
          <p:nvPr/>
        </p:nvSpPr>
        <p:spPr bwMode="auto">
          <a:xfrm>
            <a:off x="6096000" y="41148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9" name="Line 8"/>
          <p:cNvSpPr>
            <a:spLocks noChangeShapeType="1"/>
          </p:cNvSpPr>
          <p:nvPr/>
        </p:nvSpPr>
        <p:spPr bwMode="auto">
          <a:xfrm>
            <a:off x="6553200" y="29718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0" name="Line 9"/>
          <p:cNvSpPr>
            <a:spLocks noChangeShapeType="1"/>
          </p:cNvSpPr>
          <p:nvPr/>
        </p:nvSpPr>
        <p:spPr bwMode="auto">
          <a:xfrm>
            <a:off x="7391400" y="2895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1" name="Line 10"/>
          <p:cNvSpPr>
            <a:spLocks noChangeShapeType="1"/>
          </p:cNvSpPr>
          <p:nvPr/>
        </p:nvSpPr>
        <p:spPr bwMode="auto">
          <a:xfrm>
            <a:off x="8229600" y="29718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2" name="Text Box 11"/>
          <p:cNvSpPr txBox="1">
            <a:spLocks noChangeArrowheads="1"/>
          </p:cNvSpPr>
          <p:nvPr/>
        </p:nvSpPr>
        <p:spPr bwMode="auto">
          <a:xfrm>
            <a:off x="6400800" y="3962400"/>
            <a:ext cx="23622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x     y      z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源   辅助   目标</a:t>
            </a:r>
            <a:endParaRPr kumimoji="1" lang="zh-CN" altLang="en-US" sz="2400" b="1">
              <a:ea typeface="华文楷体" panose="02010600040101010101" pitchFamily="2" charset="-122"/>
            </a:endParaRPr>
          </a:p>
        </p:txBody>
      </p:sp>
      <p:sp>
        <p:nvSpPr>
          <p:cNvPr id="25613" name="AutoShape 1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534400" y="5943600"/>
            <a:ext cx="228600" cy="228600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5614" name="AutoShape 1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534400" y="6400800"/>
            <a:ext cx="228600" cy="1524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9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pic>
        <p:nvPicPr>
          <p:cNvPr id="2662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1609725"/>
            <a:ext cx="6088062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1609725"/>
            <a:ext cx="6088062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0"/>
            <a:ext cx="9144001" cy="645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44488" y="685800"/>
            <a:ext cx="7772400" cy="53340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</a:rPr>
              <a:t>void hanoi(3,a,b,c){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  <a:sym typeface="Symbol" panose="05050102010706020507" pitchFamily="18" charset="2"/>
              </a:rPr>
              <a:t>    if (3==1)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  <a:sym typeface="Symbol" panose="05050102010706020507" pitchFamily="18" charset="2"/>
              </a:rPr>
              <a:t>       move(a,1,c);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  <a:sym typeface="Symbol" panose="05050102010706020507" pitchFamily="18" charset="2"/>
              </a:rPr>
              <a:t>    else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  <a:sym typeface="Symbol" panose="05050102010706020507" pitchFamily="18" charset="2"/>
              </a:rPr>
              <a:t>    {        hanoi(2,a,c,b);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move(a,3,c);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hanoi(2,b,a,c);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  <a:sym typeface="Symbol" panose="05050102010706020507" pitchFamily="18" charset="2"/>
              </a:rPr>
              <a:t>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smtClean="0">
              <a:ea typeface="华文楷体" panose="02010600040101010101" pitchFamily="2" charset="-122"/>
            </a:endParaRPr>
          </a:p>
        </p:txBody>
      </p:sp>
      <p:sp>
        <p:nvSpPr>
          <p:cNvPr id="26633" name="Text Box 8"/>
          <p:cNvSpPr txBox="1">
            <a:spLocks noChangeArrowheads="1"/>
          </p:cNvSpPr>
          <p:nvPr/>
        </p:nvSpPr>
        <p:spPr bwMode="auto">
          <a:xfrm>
            <a:off x="3087688" y="381000"/>
            <a:ext cx="2667000" cy="2540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void </a:t>
            </a:r>
            <a:r>
              <a:rPr kumimoji="1" lang="en-US" altLang="zh-CN" sz="2000">
                <a:solidFill>
                  <a:srgbClr val="FF3300"/>
                </a:solidFill>
                <a:ea typeface="华文楷体" panose="02010600040101010101" pitchFamily="2" charset="-122"/>
              </a:rPr>
              <a:t>hanoi(2,a,c,b){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if (2==1)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   move(a,1,b);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else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{       hanoi(1,a,b,c);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          </a:t>
            </a:r>
            <a:r>
              <a:rPr kumimoji="1" lang="en-US" altLang="zh-CN" sz="200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move(a,2,b);</a:t>
            </a: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          hanoi(1,c,a,b);}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}</a:t>
            </a:r>
            <a:endParaRPr kumimoji="1" lang="en-US" altLang="zh-CN" sz="2000">
              <a:ea typeface="华文楷体" panose="02010600040101010101" pitchFamily="2" charset="-122"/>
            </a:endParaRPr>
          </a:p>
        </p:txBody>
      </p:sp>
      <p:sp>
        <p:nvSpPr>
          <p:cNvPr id="26634" name="Text Box 9"/>
          <p:cNvSpPr txBox="1">
            <a:spLocks noChangeArrowheads="1"/>
          </p:cNvSpPr>
          <p:nvPr/>
        </p:nvSpPr>
        <p:spPr bwMode="auto">
          <a:xfrm>
            <a:off x="6059488" y="228600"/>
            <a:ext cx="2514600" cy="13239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void </a:t>
            </a:r>
            <a:r>
              <a:rPr kumimoji="1" lang="en-US" altLang="zh-CN" sz="2000">
                <a:solidFill>
                  <a:srgbClr val="FF3300"/>
                </a:solidFill>
                <a:ea typeface="华文楷体" panose="02010600040101010101" pitchFamily="2" charset="-122"/>
              </a:rPr>
              <a:t>hanoi(1,a,b,c){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if 1=1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       move(a,1,c);</a:t>
            </a: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else    {…… }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endParaRPr kumimoji="1" lang="en-US" altLang="zh-CN" sz="2000">
              <a:ea typeface="华文楷体" panose="02010600040101010101" pitchFamily="2" charset="-122"/>
            </a:endParaRPr>
          </a:p>
        </p:txBody>
      </p:sp>
      <p:sp>
        <p:nvSpPr>
          <p:cNvPr id="26635" name="Line 10"/>
          <p:cNvSpPr>
            <a:spLocks noChangeShapeType="1"/>
          </p:cNvSpPr>
          <p:nvPr/>
        </p:nvSpPr>
        <p:spPr bwMode="auto">
          <a:xfrm flipV="1">
            <a:off x="2782888" y="457200"/>
            <a:ext cx="228600" cy="1828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6" name="Line 11"/>
          <p:cNvSpPr>
            <a:spLocks noChangeShapeType="1"/>
          </p:cNvSpPr>
          <p:nvPr/>
        </p:nvSpPr>
        <p:spPr bwMode="auto">
          <a:xfrm flipH="1" flipV="1">
            <a:off x="2782888" y="2438400"/>
            <a:ext cx="304800" cy="4572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7" name="Line 12"/>
          <p:cNvSpPr>
            <a:spLocks noChangeShapeType="1"/>
          </p:cNvSpPr>
          <p:nvPr/>
        </p:nvSpPr>
        <p:spPr bwMode="auto">
          <a:xfrm flipV="1">
            <a:off x="5602288" y="381000"/>
            <a:ext cx="457200" cy="1447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8" name="Line 13"/>
          <p:cNvSpPr>
            <a:spLocks noChangeShapeType="1"/>
          </p:cNvSpPr>
          <p:nvPr/>
        </p:nvSpPr>
        <p:spPr bwMode="auto">
          <a:xfrm flipH="1">
            <a:off x="5678488" y="1600200"/>
            <a:ext cx="381000" cy="304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9" name="Text Box 14"/>
          <p:cNvSpPr txBox="1">
            <a:spLocks noChangeArrowheads="1"/>
          </p:cNvSpPr>
          <p:nvPr/>
        </p:nvSpPr>
        <p:spPr bwMode="auto">
          <a:xfrm>
            <a:off x="6059488" y="1828800"/>
            <a:ext cx="2514600" cy="13239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void </a:t>
            </a:r>
            <a:r>
              <a:rPr kumimoji="1" lang="en-US" altLang="zh-CN" sz="2000">
                <a:solidFill>
                  <a:srgbClr val="FF3300"/>
                </a:solidFill>
                <a:ea typeface="华文楷体" panose="02010600040101010101" pitchFamily="2" charset="-122"/>
              </a:rPr>
              <a:t>hanoi(1,c,a,b){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if (1==1)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       move(c,1,b);</a:t>
            </a: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else    {…… }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endParaRPr kumimoji="1" lang="en-US" altLang="zh-CN" sz="2000">
              <a:ea typeface="华文楷体" panose="02010600040101010101" pitchFamily="2" charset="-122"/>
            </a:endParaRPr>
          </a:p>
        </p:txBody>
      </p:sp>
      <p:sp>
        <p:nvSpPr>
          <p:cNvPr id="26640" name="Line 15"/>
          <p:cNvSpPr>
            <a:spLocks noChangeShapeType="1"/>
          </p:cNvSpPr>
          <p:nvPr/>
        </p:nvSpPr>
        <p:spPr bwMode="auto">
          <a:xfrm flipV="1">
            <a:off x="5678488" y="1828800"/>
            <a:ext cx="381000" cy="609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1" name="Line 16"/>
          <p:cNvSpPr>
            <a:spLocks noChangeShapeType="1"/>
          </p:cNvSpPr>
          <p:nvPr/>
        </p:nvSpPr>
        <p:spPr bwMode="auto">
          <a:xfrm flipH="1" flipV="1">
            <a:off x="5602288" y="2667000"/>
            <a:ext cx="45720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2" name="Text Box 17"/>
          <p:cNvSpPr txBox="1">
            <a:spLocks noChangeArrowheads="1"/>
          </p:cNvSpPr>
          <p:nvPr/>
        </p:nvSpPr>
        <p:spPr bwMode="auto">
          <a:xfrm>
            <a:off x="3163888" y="3505200"/>
            <a:ext cx="2667000" cy="2540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void </a:t>
            </a:r>
            <a:r>
              <a:rPr kumimoji="1" lang="en-US" altLang="zh-CN" sz="2000">
                <a:solidFill>
                  <a:srgbClr val="FF3300"/>
                </a:solidFill>
                <a:ea typeface="华文楷体" panose="02010600040101010101" pitchFamily="2" charset="-122"/>
              </a:rPr>
              <a:t>hanoi(2,b,a,c)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if (2==1)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    move(b,1,c);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else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{         hanoi(1,b,c,a);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          </a:t>
            </a:r>
            <a:r>
              <a:rPr kumimoji="1" lang="en-US" altLang="zh-CN" sz="200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move(b,2,c);</a:t>
            </a: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          hanoi(1,a,b,c);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}</a:t>
            </a:r>
            <a:endParaRPr kumimoji="1" lang="en-US" altLang="zh-CN" sz="2000">
              <a:ea typeface="华文楷体" panose="02010600040101010101" pitchFamily="2" charset="-122"/>
            </a:endParaRPr>
          </a:p>
        </p:txBody>
      </p:sp>
      <p:sp>
        <p:nvSpPr>
          <p:cNvPr id="26643" name="Line 18"/>
          <p:cNvSpPr>
            <a:spLocks noChangeShapeType="1"/>
          </p:cNvSpPr>
          <p:nvPr/>
        </p:nvSpPr>
        <p:spPr bwMode="auto">
          <a:xfrm>
            <a:off x="2935288" y="3200400"/>
            <a:ext cx="228600" cy="381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4" name="Line 19"/>
          <p:cNvSpPr>
            <a:spLocks noChangeShapeType="1"/>
          </p:cNvSpPr>
          <p:nvPr/>
        </p:nvSpPr>
        <p:spPr bwMode="auto">
          <a:xfrm flipH="1" flipV="1">
            <a:off x="2630488" y="3352800"/>
            <a:ext cx="533400" cy="2667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5" name="Text Box 20"/>
          <p:cNvSpPr txBox="1">
            <a:spLocks noChangeArrowheads="1"/>
          </p:cNvSpPr>
          <p:nvPr/>
        </p:nvSpPr>
        <p:spPr bwMode="auto">
          <a:xfrm>
            <a:off x="6059488" y="3352800"/>
            <a:ext cx="2514600" cy="13239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void </a:t>
            </a:r>
            <a:r>
              <a:rPr kumimoji="1" lang="en-US" altLang="zh-CN" sz="2000">
                <a:solidFill>
                  <a:srgbClr val="FF3300"/>
                </a:solidFill>
                <a:ea typeface="华文楷体" panose="02010600040101010101" pitchFamily="2" charset="-122"/>
              </a:rPr>
              <a:t>hanoi(1,b,c,a) 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if (1==1)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       move(b,1,a);</a:t>
            </a: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else    {…… }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endParaRPr kumimoji="1" lang="en-US" altLang="zh-CN" sz="2000">
              <a:ea typeface="华文楷体" panose="02010600040101010101" pitchFamily="2" charset="-122"/>
            </a:endParaRPr>
          </a:p>
        </p:txBody>
      </p:sp>
      <p:sp>
        <p:nvSpPr>
          <p:cNvPr id="26646" name="Line 21"/>
          <p:cNvSpPr>
            <a:spLocks noChangeShapeType="1"/>
          </p:cNvSpPr>
          <p:nvPr/>
        </p:nvSpPr>
        <p:spPr bwMode="auto">
          <a:xfrm flipV="1">
            <a:off x="5602288" y="3352800"/>
            <a:ext cx="457200" cy="1524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7" name="Line 22"/>
          <p:cNvSpPr>
            <a:spLocks noChangeShapeType="1"/>
          </p:cNvSpPr>
          <p:nvPr/>
        </p:nvSpPr>
        <p:spPr bwMode="auto">
          <a:xfrm flipH="1">
            <a:off x="5678488" y="4724400"/>
            <a:ext cx="3048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8" name="Text Box 23"/>
          <p:cNvSpPr txBox="1">
            <a:spLocks noChangeArrowheads="1"/>
          </p:cNvSpPr>
          <p:nvPr/>
        </p:nvSpPr>
        <p:spPr bwMode="auto">
          <a:xfrm>
            <a:off x="6059488" y="4953000"/>
            <a:ext cx="2514600" cy="13239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void </a:t>
            </a:r>
            <a:r>
              <a:rPr kumimoji="1" lang="en-US" altLang="zh-CN" sz="2000">
                <a:solidFill>
                  <a:srgbClr val="FF3300"/>
                </a:solidFill>
                <a:ea typeface="华文楷体" panose="02010600040101010101" pitchFamily="2" charset="-122"/>
              </a:rPr>
              <a:t>hanoi(1,a,b,c) 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if (1==1)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      move(a,1,c);</a:t>
            </a: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    else    {…… }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endParaRPr kumimoji="1" lang="en-US" altLang="zh-CN" sz="2000">
              <a:ea typeface="华文楷体" panose="02010600040101010101" pitchFamily="2" charset="-122"/>
            </a:endParaRPr>
          </a:p>
        </p:txBody>
      </p:sp>
      <p:sp>
        <p:nvSpPr>
          <p:cNvPr id="26649" name="Line 24"/>
          <p:cNvSpPr>
            <a:spLocks noChangeShapeType="1"/>
          </p:cNvSpPr>
          <p:nvPr/>
        </p:nvSpPr>
        <p:spPr bwMode="auto">
          <a:xfrm flipV="1">
            <a:off x="5678488" y="4953000"/>
            <a:ext cx="381000" cy="609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0" name="Line 25"/>
          <p:cNvSpPr>
            <a:spLocks noChangeShapeType="1"/>
          </p:cNvSpPr>
          <p:nvPr/>
        </p:nvSpPr>
        <p:spPr bwMode="auto">
          <a:xfrm flipH="1" flipV="1">
            <a:off x="5754688" y="5638800"/>
            <a:ext cx="304800" cy="685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1" name="Text Box 26"/>
          <p:cNvSpPr txBox="1">
            <a:spLocks noChangeArrowheads="1"/>
          </p:cNvSpPr>
          <p:nvPr/>
        </p:nvSpPr>
        <p:spPr bwMode="auto">
          <a:xfrm>
            <a:off x="420688" y="57912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a         b           c</a:t>
            </a:r>
          </a:p>
        </p:txBody>
      </p:sp>
      <p:sp>
        <p:nvSpPr>
          <p:cNvPr id="26652" name="Line 27"/>
          <p:cNvSpPr>
            <a:spLocks noChangeShapeType="1"/>
          </p:cNvSpPr>
          <p:nvPr/>
        </p:nvSpPr>
        <p:spPr bwMode="auto">
          <a:xfrm>
            <a:off x="-36513" y="5867400"/>
            <a:ext cx="28194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3" name="Line 28"/>
          <p:cNvSpPr>
            <a:spLocks noChangeShapeType="1"/>
          </p:cNvSpPr>
          <p:nvPr/>
        </p:nvSpPr>
        <p:spPr bwMode="auto">
          <a:xfrm>
            <a:off x="496888" y="42672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4" name="Line 29"/>
          <p:cNvSpPr>
            <a:spLocks noChangeShapeType="1"/>
          </p:cNvSpPr>
          <p:nvPr/>
        </p:nvSpPr>
        <p:spPr bwMode="auto">
          <a:xfrm>
            <a:off x="1335088" y="42672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5" name="Line 30"/>
          <p:cNvSpPr>
            <a:spLocks noChangeShapeType="1"/>
          </p:cNvSpPr>
          <p:nvPr/>
        </p:nvSpPr>
        <p:spPr bwMode="auto">
          <a:xfrm>
            <a:off x="2249488" y="42672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6" name="Rectangle 31"/>
          <p:cNvSpPr>
            <a:spLocks noChangeArrowheads="1"/>
          </p:cNvSpPr>
          <p:nvPr/>
        </p:nvSpPr>
        <p:spPr bwMode="auto">
          <a:xfrm>
            <a:off x="39688" y="5562600"/>
            <a:ext cx="9144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6657" name="Rectangle 32"/>
          <p:cNvSpPr>
            <a:spLocks noChangeArrowheads="1"/>
          </p:cNvSpPr>
          <p:nvPr/>
        </p:nvSpPr>
        <p:spPr bwMode="auto">
          <a:xfrm>
            <a:off x="192088" y="5181600"/>
            <a:ext cx="609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6658" name="Rectangle 33"/>
          <p:cNvSpPr>
            <a:spLocks noChangeArrowheads="1"/>
          </p:cNvSpPr>
          <p:nvPr/>
        </p:nvSpPr>
        <p:spPr bwMode="auto">
          <a:xfrm>
            <a:off x="268288" y="4800600"/>
            <a:ext cx="4572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" name="Rectangle 34"/>
          <p:cNvSpPr>
            <a:spLocks noChangeArrowheads="1"/>
          </p:cNvSpPr>
          <p:nvPr/>
        </p:nvSpPr>
        <p:spPr bwMode="auto">
          <a:xfrm>
            <a:off x="2020888" y="4953000"/>
            <a:ext cx="4572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63" name="Rectangle 35"/>
          <p:cNvSpPr>
            <a:spLocks noChangeArrowheads="1"/>
          </p:cNvSpPr>
          <p:nvPr/>
        </p:nvSpPr>
        <p:spPr bwMode="auto">
          <a:xfrm>
            <a:off x="1944688" y="5257800"/>
            <a:ext cx="609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64" name="Rectangle 36"/>
          <p:cNvSpPr>
            <a:spLocks noChangeArrowheads="1"/>
          </p:cNvSpPr>
          <p:nvPr/>
        </p:nvSpPr>
        <p:spPr bwMode="auto">
          <a:xfrm>
            <a:off x="1792288" y="5562600"/>
            <a:ext cx="9144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65" name="Rectangle 37"/>
          <p:cNvSpPr>
            <a:spLocks noChangeArrowheads="1"/>
          </p:cNvSpPr>
          <p:nvPr/>
        </p:nvSpPr>
        <p:spPr bwMode="auto">
          <a:xfrm>
            <a:off x="268288" y="4800600"/>
            <a:ext cx="457200" cy="228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66" name="Rectangle 38"/>
          <p:cNvSpPr>
            <a:spLocks noChangeArrowheads="1"/>
          </p:cNvSpPr>
          <p:nvPr/>
        </p:nvSpPr>
        <p:spPr bwMode="auto">
          <a:xfrm>
            <a:off x="2020888" y="5562600"/>
            <a:ext cx="4572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67" name="Rectangle 39"/>
          <p:cNvSpPr>
            <a:spLocks noChangeArrowheads="1"/>
          </p:cNvSpPr>
          <p:nvPr/>
        </p:nvSpPr>
        <p:spPr bwMode="auto">
          <a:xfrm>
            <a:off x="192088" y="5181600"/>
            <a:ext cx="609600" cy="228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68" name="Rectangle 40"/>
          <p:cNvSpPr>
            <a:spLocks noChangeArrowheads="1"/>
          </p:cNvSpPr>
          <p:nvPr/>
        </p:nvSpPr>
        <p:spPr bwMode="auto">
          <a:xfrm>
            <a:off x="1030288" y="5562600"/>
            <a:ext cx="609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69" name="Rectangle 41"/>
          <p:cNvSpPr>
            <a:spLocks noChangeArrowheads="1"/>
          </p:cNvSpPr>
          <p:nvPr/>
        </p:nvSpPr>
        <p:spPr bwMode="auto">
          <a:xfrm>
            <a:off x="2020888" y="5562600"/>
            <a:ext cx="457200" cy="228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70" name="Rectangle 42"/>
          <p:cNvSpPr>
            <a:spLocks noChangeArrowheads="1"/>
          </p:cNvSpPr>
          <p:nvPr/>
        </p:nvSpPr>
        <p:spPr bwMode="auto">
          <a:xfrm>
            <a:off x="1106488" y="5181600"/>
            <a:ext cx="4572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71" name="Rectangle 43"/>
          <p:cNvSpPr>
            <a:spLocks noChangeArrowheads="1"/>
          </p:cNvSpPr>
          <p:nvPr/>
        </p:nvSpPr>
        <p:spPr bwMode="auto">
          <a:xfrm>
            <a:off x="39688" y="5562600"/>
            <a:ext cx="914400" cy="228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72" name="Rectangle 44"/>
          <p:cNvSpPr>
            <a:spLocks noChangeArrowheads="1"/>
          </p:cNvSpPr>
          <p:nvPr/>
        </p:nvSpPr>
        <p:spPr bwMode="auto">
          <a:xfrm>
            <a:off x="1106488" y="5181600"/>
            <a:ext cx="457200" cy="228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73" name="Rectangle 45"/>
          <p:cNvSpPr>
            <a:spLocks noChangeArrowheads="1"/>
          </p:cNvSpPr>
          <p:nvPr/>
        </p:nvSpPr>
        <p:spPr bwMode="auto">
          <a:xfrm>
            <a:off x="268288" y="5562600"/>
            <a:ext cx="4572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74" name="Rectangle 46"/>
          <p:cNvSpPr>
            <a:spLocks noChangeArrowheads="1"/>
          </p:cNvSpPr>
          <p:nvPr/>
        </p:nvSpPr>
        <p:spPr bwMode="auto">
          <a:xfrm>
            <a:off x="1030288" y="5562600"/>
            <a:ext cx="609600" cy="228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2575" name="Rectangle 47"/>
          <p:cNvSpPr>
            <a:spLocks noChangeArrowheads="1"/>
          </p:cNvSpPr>
          <p:nvPr/>
        </p:nvSpPr>
        <p:spPr bwMode="auto">
          <a:xfrm>
            <a:off x="268288" y="5562600"/>
            <a:ext cx="457200" cy="228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6673" name="AutoShape 48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flipV="1">
            <a:off x="8040688" y="6324600"/>
            <a:ext cx="304800" cy="304800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1098550"/>
            <a:ext cx="7772400" cy="457200"/>
          </a:xfrm>
          <a:noFill/>
        </p:spPr>
        <p:txBody>
          <a:bodyPr/>
          <a:lstStyle/>
          <a:p>
            <a:pPr algn="l" eaLnBrk="1" hangingPunct="1"/>
            <a:r>
              <a:rPr lang="en-US" altLang="zh-CN" b="0" smtClean="0">
                <a:solidFill>
                  <a:schemeClr val="accent2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b="0" smtClean="0">
                <a:solidFill>
                  <a:schemeClr val="accent2"/>
                </a:solidFill>
                <a:ea typeface="华文楷体" panose="02010600040101010101" pitchFamily="2" charset="-122"/>
              </a:rPr>
              <a:t>递归算法的实现原理</a:t>
            </a:r>
            <a:r>
              <a:rPr lang="en-US" altLang="zh-CN" b="0" smtClean="0">
                <a:solidFill>
                  <a:schemeClr val="accent2"/>
                </a:solidFill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073150" y="1733550"/>
            <a:ext cx="304800" cy="187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758950" y="1784350"/>
            <a:ext cx="304800" cy="1524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2444750" y="1784350"/>
            <a:ext cx="304800" cy="1676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 flipV="1">
            <a:off x="1377950" y="1784350"/>
            <a:ext cx="381000" cy="906463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flipV="1">
            <a:off x="2063750" y="1708150"/>
            <a:ext cx="381000" cy="103663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 flipH="1" flipV="1">
            <a:off x="2063750" y="2673350"/>
            <a:ext cx="381000" cy="787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 flipH="1" flipV="1">
            <a:off x="1377950" y="2667000"/>
            <a:ext cx="381000" cy="6413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3130550" y="1784350"/>
            <a:ext cx="304800" cy="1600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 flipV="1">
            <a:off x="2749550" y="1784350"/>
            <a:ext cx="381000" cy="457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 flipH="1" flipV="1">
            <a:off x="2749550" y="2317750"/>
            <a:ext cx="381000" cy="1066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1073150" y="2470150"/>
            <a:ext cx="2286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1073150" y="254635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>
                <a:ea typeface="华文楷体" panose="02010600040101010101" pitchFamily="2" charset="-122"/>
              </a:rPr>
              <a:t>1</a:t>
            </a:r>
            <a:endParaRPr kumimoji="1" lang="en-US" altLang="zh-CN" sz="2400">
              <a:ea typeface="华文楷体" panose="02010600040101010101" pitchFamily="2" charset="-122"/>
            </a:endParaRP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1758950" y="2546350"/>
            <a:ext cx="2286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2444750" y="2089150"/>
            <a:ext cx="2286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1758950" y="2546350"/>
            <a:ext cx="457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2444750" y="2089150"/>
            <a:ext cx="457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>
                <a:ea typeface="华文楷体" panose="02010600040101010101" pitchFamily="2" charset="-122"/>
              </a:rPr>
              <a:t>3</a:t>
            </a:r>
          </a:p>
        </p:txBody>
      </p:sp>
      <p:grpSp>
        <p:nvGrpSpPr>
          <p:cNvPr id="23573" name="Group 21"/>
          <p:cNvGrpSpPr>
            <a:grpSpLocks/>
          </p:cNvGrpSpPr>
          <p:nvPr/>
        </p:nvGrpSpPr>
        <p:grpSpPr bwMode="auto">
          <a:xfrm>
            <a:off x="4806950" y="1403350"/>
            <a:ext cx="1524000" cy="2057400"/>
            <a:chOff x="3120" y="528"/>
            <a:chExt cx="960" cy="1296"/>
          </a:xfrm>
        </p:grpSpPr>
        <p:sp>
          <p:nvSpPr>
            <p:cNvPr id="27683" name="Line 22"/>
            <p:cNvSpPr>
              <a:spLocks noChangeShapeType="1"/>
            </p:cNvSpPr>
            <p:nvPr/>
          </p:nvSpPr>
          <p:spPr bwMode="auto">
            <a:xfrm>
              <a:off x="3312" y="62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4" name="Line 23"/>
            <p:cNvSpPr>
              <a:spLocks noChangeShapeType="1"/>
            </p:cNvSpPr>
            <p:nvPr/>
          </p:nvSpPr>
          <p:spPr bwMode="auto">
            <a:xfrm>
              <a:off x="3312" y="182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5" name="Line 24"/>
            <p:cNvSpPr>
              <a:spLocks noChangeShapeType="1"/>
            </p:cNvSpPr>
            <p:nvPr/>
          </p:nvSpPr>
          <p:spPr bwMode="auto">
            <a:xfrm>
              <a:off x="4080" y="62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6" name="Text Box 25"/>
            <p:cNvSpPr txBox="1">
              <a:spLocks noChangeArrowheads="1"/>
            </p:cNvSpPr>
            <p:nvPr/>
          </p:nvSpPr>
          <p:spPr bwMode="auto">
            <a:xfrm>
              <a:off x="3120" y="52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ea typeface="华文楷体" panose="02010600040101010101" pitchFamily="2" charset="-122"/>
                </a:rPr>
                <a:t>s</a:t>
              </a:r>
            </a:p>
          </p:txBody>
        </p:sp>
      </p:grpSp>
      <p:grpSp>
        <p:nvGrpSpPr>
          <p:cNvPr id="23578" name="Group 26"/>
          <p:cNvGrpSpPr>
            <a:grpSpLocks/>
          </p:cNvGrpSpPr>
          <p:nvPr/>
        </p:nvGrpSpPr>
        <p:grpSpPr bwMode="auto">
          <a:xfrm>
            <a:off x="5568950" y="2927350"/>
            <a:ext cx="457200" cy="396875"/>
            <a:chOff x="3600" y="1584"/>
            <a:chExt cx="288" cy="250"/>
          </a:xfrm>
        </p:grpSpPr>
        <p:sp>
          <p:nvSpPr>
            <p:cNvPr id="27681" name="Oval 27"/>
            <p:cNvSpPr>
              <a:spLocks noChangeArrowheads="1"/>
            </p:cNvSpPr>
            <p:nvPr/>
          </p:nvSpPr>
          <p:spPr bwMode="auto">
            <a:xfrm>
              <a:off x="3600" y="15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7682" name="Text Box 28"/>
            <p:cNvSpPr txBox="1">
              <a:spLocks noChangeArrowheads="1"/>
            </p:cNvSpPr>
            <p:nvPr/>
          </p:nvSpPr>
          <p:spPr bwMode="auto">
            <a:xfrm>
              <a:off x="3600" y="158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>
                  <a:ea typeface="华文楷体" panose="02010600040101010101" pitchFamily="2" charset="-122"/>
                </a:rPr>
                <a:t>1</a:t>
              </a:r>
            </a:p>
          </p:txBody>
        </p:sp>
      </p:grpSp>
      <p:grpSp>
        <p:nvGrpSpPr>
          <p:cNvPr id="23581" name="Group 29"/>
          <p:cNvGrpSpPr>
            <a:grpSpLocks/>
          </p:cNvGrpSpPr>
          <p:nvPr/>
        </p:nvGrpSpPr>
        <p:grpSpPr bwMode="auto">
          <a:xfrm>
            <a:off x="5568950" y="2393950"/>
            <a:ext cx="457200" cy="396875"/>
            <a:chOff x="4512" y="1392"/>
            <a:chExt cx="288" cy="250"/>
          </a:xfrm>
        </p:grpSpPr>
        <p:sp>
          <p:nvSpPr>
            <p:cNvPr id="27679" name="Oval 30"/>
            <p:cNvSpPr>
              <a:spLocks noChangeArrowheads="1"/>
            </p:cNvSpPr>
            <p:nvPr/>
          </p:nvSpPr>
          <p:spPr bwMode="auto">
            <a:xfrm>
              <a:off x="4512" y="139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7680" name="Text Box 31"/>
            <p:cNvSpPr txBox="1">
              <a:spLocks noChangeArrowheads="1"/>
            </p:cNvSpPr>
            <p:nvPr/>
          </p:nvSpPr>
          <p:spPr bwMode="auto">
            <a:xfrm>
              <a:off x="4512" y="139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>
                  <a:ea typeface="华文楷体" panose="02010600040101010101" pitchFamily="2" charset="-122"/>
                </a:rPr>
                <a:t>2</a:t>
              </a:r>
            </a:p>
          </p:txBody>
        </p:sp>
      </p:grpSp>
      <p:grpSp>
        <p:nvGrpSpPr>
          <p:cNvPr id="23584" name="Group 32"/>
          <p:cNvGrpSpPr>
            <a:grpSpLocks/>
          </p:cNvGrpSpPr>
          <p:nvPr/>
        </p:nvGrpSpPr>
        <p:grpSpPr bwMode="auto">
          <a:xfrm>
            <a:off x="5568950" y="1860550"/>
            <a:ext cx="457200" cy="396875"/>
            <a:chOff x="4752" y="816"/>
            <a:chExt cx="288" cy="250"/>
          </a:xfrm>
        </p:grpSpPr>
        <p:sp>
          <p:nvSpPr>
            <p:cNvPr id="27677" name="Oval 33"/>
            <p:cNvSpPr>
              <a:spLocks noChangeArrowheads="1"/>
            </p:cNvSpPr>
            <p:nvPr/>
          </p:nvSpPr>
          <p:spPr bwMode="auto">
            <a:xfrm>
              <a:off x="4752" y="81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7678" name="Text Box 34"/>
            <p:cNvSpPr txBox="1">
              <a:spLocks noChangeArrowheads="1"/>
            </p:cNvSpPr>
            <p:nvPr/>
          </p:nvSpPr>
          <p:spPr bwMode="auto">
            <a:xfrm>
              <a:off x="4752" y="81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>
                  <a:ea typeface="华文楷体" panose="02010600040101010101" pitchFamily="2" charset="-122"/>
                </a:rPr>
                <a:t>3</a:t>
              </a:r>
            </a:p>
          </p:txBody>
        </p:sp>
      </p:grpSp>
      <p:sp>
        <p:nvSpPr>
          <p:cNvPr id="23587" name="Rectangle 35"/>
          <p:cNvSpPr>
            <a:spLocks noChangeArrowheads="1"/>
          </p:cNvSpPr>
          <p:nvPr/>
        </p:nvSpPr>
        <p:spPr bwMode="auto">
          <a:xfrm>
            <a:off x="5340350" y="1784350"/>
            <a:ext cx="8382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88" name="Rectangle 36"/>
          <p:cNvSpPr>
            <a:spLocks noChangeArrowheads="1"/>
          </p:cNvSpPr>
          <p:nvPr/>
        </p:nvSpPr>
        <p:spPr bwMode="auto">
          <a:xfrm>
            <a:off x="5340350" y="2241550"/>
            <a:ext cx="762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89" name="Rectangle 37"/>
          <p:cNvSpPr>
            <a:spLocks noChangeArrowheads="1"/>
          </p:cNvSpPr>
          <p:nvPr/>
        </p:nvSpPr>
        <p:spPr bwMode="auto">
          <a:xfrm>
            <a:off x="5416550" y="2851150"/>
            <a:ext cx="762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1073150" y="3841750"/>
            <a:ext cx="6553200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- </a:t>
            </a:r>
            <a:r>
              <a:rPr kumimoji="1" lang="zh-CN" altLang="en-US" sz="2000">
                <a:ea typeface="华文楷体" panose="02010600040101010101" pitchFamily="2" charset="-122"/>
              </a:rPr>
              <a:t>利用栈，栈中每个元素称为工作记录，分成三个部分：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>
                <a:solidFill>
                  <a:schemeClr val="accent2"/>
                </a:solidFill>
                <a:ea typeface="华文楷体" panose="02010600040101010101" pitchFamily="2" charset="-122"/>
              </a:rPr>
              <a:t>   返回地址  实在参数表</a:t>
            </a:r>
            <a:r>
              <a:rPr kumimoji="1" lang="en-US" altLang="zh-CN" sz="2000">
                <a:solidFill>
                  <a:schemeClr val="accent2"/>
                </a:solidFill>
                <a:ea typeface="华文楷体" panose="02010600040101010101" pitchFamily="2" charset="-122"/>
              </a:rPr>
              <a:t>(</a:t>
            </a:r>
            <a:r>
              <a:rPr kumimoji="1" lang="zh-CN" altLang="en-US" sz="2000">
                <a:solidFill>
                  <a:schemeClr val="accent2"/>
                </a:solidFill>
                <a:ea typeface="华文楷体" panose="02010600040101010101" pitchFamily="2" charset="-122"/>
              </a:rPr>
              <a:t>变参和值参</a:t>
            </a:r>
            <a:r>
              <a:rPr kumimoji="1" lang="en-US" altLang="zh-CN" sz="2000">
                <a:solidFill>
                  <a:schemeClr val="accent2"/>
                </a:solidFill>
                <a:ea typeface="华文楷体" panose="02010600040101010101" pitchFamily="2" charset="-122"/>
              </a:rPr>
              <a:t>)   </a:t>
            </a:r>
            <a:r>
              <a:rPr kumimoji="1" lang="zh-CN" altLang="en-US" sz="2000">
                <a:solidFill>
                  <a:schemeClr val="accent2"/>
                </a:solidFill>
                <a:ea typeface="华文楷体" panose="02010600040101010101" pitchFamily="2" charset="-122"/>
              </a:rPr>
              <a:t>局部变量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- </a:t>
            </a:r>
            <a:r>
              <a:rPr kumimoji="1" lang="zh-CN" altLang="en-US" sz="2000">
                <a:ea typeface="华文楷体" panose="02010600040101010101" pitchFamily="2" charset="-122"/>
              </a:rPr>
              <a:t>发生调用时，保护现场，即当前的工作记录入栈，然后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>
                <a:ea typeface="华文楷体" panose="02010600040101010101" pitchFamily="2" charset="-122"/>
              </a:rPr>
              <a:t>   转入被调用的过程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- </a:t>
            </a:r>
            <a:r>
              <a:rPr kumimoji="1" lang="zh-CN" altLang="en-US" sz="2000">
                <a:ea typeface="华文楷体" panose="02010600040101010101" pitchFamily="2" charset="-122"/>
              </a:rPr>
              <a:t>一个调用结束时，恢复现场，即若栈不空，则退栈，从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>
                <a:ea typeface="华文楷体" panose="02010600040101010101" pitchFamily="2" charset="-122"/>
              </a:rPr>
              <a:t>   退出的返回地址处继续执行下去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0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09600" y="4090988"/>
            <a:ext cx="3886200" cy="2362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609600" y="1423988"/>
            <a:ext cx="6781800" cy="22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7772400" cy="533400"/>
          </a:xfrm>
          <a:noFill/>
        </p:spPr>
        <p:txBody>
          <a:bodyPr/>
          <a:lstStyle/>
          <a:p>
            <a:pPr algn="l" eaLnBrk="1" hangingPunct="1"/>
            <a:r>
              <a:rPr lang="en-US" altLang="zh-CN" b="0" smtClean="0">
                <a:ea typeface="华文楷体" panose="02010600040101010101" pitchFamily="2" charset="-122"/>
              </a:rPr>
              <a:t>[</a:t>
            </a:r>
            <a:r>
              <a:rPr lang="zh-CN" altLang="en-US" b="0" smtClean="0">
                <a:ea typeface="华文楷体" panose="02010600040101010101" pitchFamily="2" charset="-122"/>
              </a:rPr>
              <a:t>递归时系统工作原理示例</a:t>
            </a:r>
            <a:r>
              <a:rPr lang="en-US" altLang="zh-CN" b="0" smtClean="0"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1423988"/>
            <a:ext cx="7772400" cy="48768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Factorial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n){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L1:      if (n==0)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L2:          return(1);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L3:     return(n*Factorial(n-1));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void main()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……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L0: N=Factorial(3);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……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}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                                  </a:t>
            </a:r>
            <a:r>
              <a:rPr lang="zh-CN" altLang="en-US" sz="2000" b="1" dirty="0" smtClean="0">
                <a:ea typeface="华文楷体" panose="02010600040101010101" pitchFamily="2" charset="-122"/>
              </a:rPr>
              <a:t>返回地址  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n   Factorial   N</a:t>
            </a:r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flipV="1">
            <a:off x="5105400" y="3100388"/>
            <a:ext cx="152400" cy="228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 flipV="1">
            <a:off x="1981200" y="5233988"/>
            <a:ext cx="3048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4724400" y="3862388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4724400" y="5843588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>
            <a:off x="8077200" y="3709988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4800600" y="5310188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L0          3        /            /</a:t>
            </a:r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4724400" y="4929188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L3          3        /</a:t>
            </a:r>
          </a:p>
        </p:txBody>
      </p:sp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4800600" y="4471988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L3          2        /</a:t>
            </a: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4800600" y="4090988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L3          1        /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6629400" y="4090988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24594" name="Rectangle 18"/>
          <p:cNvSpPr>
            <a:spLocks noChangeArrowheads="1"/>
          </p:cNvSpPr>
          <p:nvPr/>
        </p:nvSpPr>
        <p:spPr bwMode="auto">
          <a:xfrm>
            <a:off x="4876800" y="4014788"/>
            <a:ext cx="2438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6629400" y="4471988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24596" name="Rectangle 20"/>
          <p:cNvSpPr>
            <a:spLocks noChangeArrowheads="1"/>
          </p:cNvSpPr>
          <p:nvPr/>
        </p:nvSpPr>
        <p:spPr bwMode="auto">
          <a:xfrm>
            <a:off x="4800600" y="4395788"/>
            <a:ext cx="2438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6629400" y="4929188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24598" name="Rectangle 22"/>
          <p:cNvSpPr>
            <a:spLocks noChangeArrowheads="1"/>
          </p:cNvSpPr>
          <p:nvPr/>
        </p:nvSpPr>
        <p:spPr bwMode="auto">
          <a:xfrm>
            <a:off x="4800600" y="4929188"/>
            <a:ext cx="2438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6629400" y="5310188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24600" name="Rectangle 24"/>
          <p:cNvSpPr>
            <a:spLocks noChangeArrowheads="1"/>
          </p:cNvSpPr>
          <p:nvPr/>
        </p:nvSpPr>
        <p:spPr bwMode="auto">
          <a:xfrm>
            <a:off x="4800600" y="5386388"/>
            <a:ext cx="3124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9" grpId="0" build="p" autoUpdateAnimBg="0"/>
      <p:bldP spid="24590" grpId="0" build="p" autoUpdateAnimBg="0"/>
      <p:bldP spid="24591" grpId="0" build="p" autoUpdateAnimBg="0"/>
      <p:bldP spid="24592" grpId="0" build="p" autoUpdateAnimBg="0"/>
      <p:bldP spid="24593" grpId="0" animBg="1" autoUpdateAnimBg="0"/>
      <p:bldP spid="24595" grpId="0" animBg="1" autoUpdateAnimBg="0"/>
      <p:bldP spid="24597" grpId="0" animBg="1" autoUpdateAnimBg="0"/>
      <p:bldP spid="24599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1676400" y="3962400"/>
            <a:ext cx="4724400" cy="228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title"/>
          </p:nvPr>
        </p:nvSpPr>
        <p:spPr>
          <a:xfrm>
            <a:off x="611188" y="942975"/>
            <a:ext cx="7772400" cy="685800"/>
          </a:xfrm>
          <a:noFill/>
        </p:spPr>
        <p:txBody>
          <a:bodyPr/>
          <a:lstStyle/>
          <a:p>
            <a:pPr algn="l" eaLnBrk="1" hangingPunct="1"/>
            <a:r>
              <a:rPr lang="en-US" altLang="zh-CN" b="0" smtClean="0">
                <a:solidFill>
                  <a:schemeClr val="accent2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b="0" smtClean="0">
                <a:solidFill>
                  <a:schemeClr val="accent2"/>
                </a:solidFill>
                <a:ea typeface="华文楷体" panose="02010600040101010101" pitchFamily="2" charset="-122"/>
              </a:rPr>
              <a:t>递归算法的用途</a:t>
            </a:r>
            <a:r>
              <a:rPr lang="en-US" altLang="zh-CN" b="0" smtClean="0">
                <a:solidFill>
                  <a:schemeClr val="accent2"/>
                </a:solidFill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  <a:noFill/>
        </p:spPr>
        <p:txBody>
          <a:bodyPr/>
          <a:lstStyle/>
          <a:p>
            <a:pPr lvl="1" eaLnBrk="1" hangingPunct="1"/>
            <a:endParaRPr lang="en-US" altLang="zh-CN" sz="240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sz="2400" smtClean="0">
                <a:ea typeface="华文楷体" panose="02010600040101010101" pitchFamily="2" charset="-122"/>
              </a:rPr>
              <a:t>求解递归定义的数学函数</a:t>
            </a:r>
          </a:p>
          <a:p>
            <a:pPr lvl="1" eaLnBrk="1" hangingPunct="1"/>
            <a:r>
              <a:rPr lang="zh-CN" altLang="en-US" sz="2400" smtClean="0">
                <a:ea typeface="华文楷体" panose="02010600040101010101" pitchFamily="2" charset="-122"/>
              </a:rPr>
              <a:t>在以递归方式定义的数据结构上的运算</a:t>
            </a:r>
            <a:r>
              <a:rPr lang="en-US" altLang="zh-CN" sz="2400" smtClean="0">
                <a:ea typeface="华文楷体" panose="02010600040101010101" pitchFamily="2" charset="-122"/>
              </a:rPr>
              <a:t>/</a:t>
            </a:r>
            <a:r>
              <a:rPr lang="zh-CN" altLang="en-US" sz="2400" smtClean="0">
                <a:ea typeface="华文楷体" panose="02010600040101010101" pitchFamily="2" charset="-122"/>
              </a:rPr>
              <a:t>操作</a:t>
            </a:r>
          </a:p>
          <a:p>
            <a:pPr lvl="1" eaLnBrk="1" hangingPunct="1"/>
            <a:r>
              <a:rPr lang="zh-CN" altLang="en-US" sz="2400" smtClean="0">
                <a:ea typeface="华文楷体" panose="02010600040101010101" pitchFamily="2" charset="-122"/>
              </a:rPr>
              <a:t>可用递归方式描述的解决过程</a:t>
            </a:r>
            <a:endParaRPr lang="zh-CN" altLang="en-US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递归转换为非递归的方法</a:t>
            </a:r>
            <a:r>
              <a:rPr lang="en-US" altLang="zh-CN" sz="24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ea typeface="华文楷体" panose="02010600040101010101" pitchFamily="2" charset="-122"/>
              </a:rPr>
              <a:t>1</a:t>
            </a:r>
            <a:r>
              <a:rPr lang="zh-CN" altLang="en-US" sz="2400" b="1" smtClean="0">
                <a:ea typeface="华文楷体" panose="02010600040101010101" pitchFamily="2" charset="-122"/>
              </a:rPr>
              <a:t>）采用迭代算法</a:t>
            </a:r>
            <a:r>
              <a:rPr lang="zh-CN" altLang="en-US" sz="2400" smtClean="0">
                <a:ea typeface="华文楷体" panose="02010600040101010101" pitchFamily="2" charset="-122"/>
              </a:rPr>
              <a:t>    递归</a:t>
            </a:r>
            <a:r>
              <a:rPr lang="en-US" altLang="zh-CN" sz="2400" smtClean="0">
                <a:ea typeface="华文楷体" panose="02010600040101010101" pitchFamily="2" charset="-122"/>
              </a:rPr>
              <a:t>—</a:t>
            </a:r>
            <a:r>
              <a:rPr lang="zh-CN" altLang="en-US" sz="2400" smtClean="0">
                <a:ea typeface="华文楷体" panose="02010600040101010101" pitchFamily="2" charset="-122"/>
              </a:rPr>
              <a:t>从顶到底    迭代</a:t>
            </a:r>
            <a:r>
              <a:rPr lang="en-US" altLang="zh-CN" sz="2400" smtClean="0">
                <a:ea typeface="华文楷体" panose="02010600040101010101" pitchFamily="2" charset="-122"/>
              </a:rPr>
              <a:t>—</a:t>
            </a:r>
            <a:r>
              <a:rPr lang="zh-CN" altLang="en-US" sz="2400" smtClean="0">
                <a:ea typeface="华文楷体" panose="02010600040101010101" pitchFamily="2" charset="-122"/>
              </a:rPr>
              <a:t>从底到顶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ea typeface="华文楷体" panose="02010600040101010101" pitchFamily="2" charset="-122"/>
              </a:rPr>
              <a:t>       例：求</a:t>
            </a:r>
            <a:r>
              <a:rPr lang="en-US" altLang="zh-CN" sz="2400" smtClean="0">
                <a:ea typeface="华文楷体" panose="02010600040101010101" pitchFamily="2" charset="-122"/>
              </a:rPr>
              <a:t>n</a:t>
            </a:r>
            <a:r>
              <a:rPr lang="zh-CN" altLang="en-US" sz="2400" smtClean="0">
                <a:ea typeface="华文楷体" panose="02010600040101010101" pitchFamily="2" charset="-122"/>
              </a:rPr>
              <a:t>！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ea typeface="华文楷体" panose="02010600040101010101" pitchFamily="2" charset="-122"/>
              </a:rPr>
              <a:t>               </a:t>
            </a:r>
            <a:r>
              <a:rPr lang="en-US" altLang="zh-CN" sz="2400" smtClean="0">
                <a:ea typeface="华文楷体" panose="02010600040101010101" pitchFamily="2" charset="-122"/>
              </a:rPr>
              <a:t>int  </a:t>
            </a:r>
            <a:r>
              <a:rPr lang="en-US" altLang="zh-CN" sz="2400" b="1" smtClean="0">
                <a:ea typeface="华文楷体" panose="02010600040101010101" pitchFamily="2" charset="-122"/>
              </a:rPr>
              <a:t>fact</a:t>
            </a:r>
            <a:r>
              <a:rPr lang="en-US" altLang="zh-CN" sz="2400" smtClean="0">
                <a:ea typeface="华文楷体" panose="02010600040101010101" pitchFamily="2" charset="-122"/>
              </a:rPr>
              <a:t>(int n){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               m=1;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               for (i=1;i&lt;=n;i++)   m=m*i;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               return(m);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BUPT SCST</a:t>
            </a:r>
          </a:p>
        </p:txBody>
      </p:sp>
      <p:sp>
        <p:nvSpPr>
          <p:cNvPr id="23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685800" y="2057400"/>
            <a:ext cx="3657600" cy="2286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260350"/>
            <a:ext cx="7772400" cy="457200"/>
          </a:xfrm>
          <a:noFill/>
        </p:spPr>
        <p:txBody>
          <a:bodyPr/>
          <a:lstStyle/>
          <a:p>
            <a:pPr algn="l" eaLnBrk="1" hangingPunct="1"/>
            <a:r>
              <a:rPr lang="en-US" altLang="zh-CN" smtClean="0">
                <a:ea typeface="华文楷体" panose="02010600040101010101" pitchFamily="2" charset="-122"/>
              </a:rPr>
              <a:t>2</a:t>
            </a:r>
            <a:r>
              <a:rPr lang="zh-CN" altLang="en-US" smtClean="0">
                <a:ea typeface="华文楷体" panose="02010600040101010101" pitchFamily="2" charset="-122"/>
              </a:rPr>
              <a:t>）消除尾递归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例：顺序输出单链表中的结点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数据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极端不当使用递归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2000" b="1" dirty="0" err="1" smtClean="0">
                <a:ea typeface="华文楷体" panose="02010600040101010101" pitchFamily="2" charset="-122"/>
              </a:rPr>
              <a:t>linklist_output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(pointer p){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IF (p!=NULL)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{    write(p-&gt;data);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linklist_output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(p-&gt;next);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}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4495800" y="2438400"/>
            <a:ext cx="4191000" cy="2549525"/>
          </a:xfrm>
          <a:prstGeom prst="rect">
            <a:avLst/>
          </a:prstGeom>
          <a:solidFill>
            <a:srgbClr val="CCFFFF"/>
          </a:solidFill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zh-CN" sz="2000" dirty="0">
                <a:ea typeface="华文楷体" panose="02010600040101010101" pitchFamily="2" charset="-122"/>
              </a:rPr>
              <a:t>使用跳转语句：</a:t>
            </a:r>
            <a:endParaRPr kumimoji="1" lang="zh-CN" altLang="en-US" sz="2000" dirty="0"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void </a:t>
            </a:r>
            <a:r>
              <a:rPr kumimoji="1" lang="en-US" altLang="zh-CN" sz="2000" b="1" dirty="0">
                <a:solidFill>
                  <a:schemeClr val="accent2"/>
                </a:solidFill>
                <a:ea typeface="华文楷体" panose="02010600040101010101" pitchFamily="2" charset="-122"/>
              </a:rPr>
              <a:t>linklist_output1</a:t>
            </a:r>
            <a:r>
              <a:rPr kumimoji="1" lang="en-US" altLang="zh-CN" sz="2000" dirty="0">
                <a:ea typeface="华文楷体" panose="02010600040101010101" pitchFamily="2" charset="-122"/>
              </a:rPr>
              <a:t>(</a:t>
            </a:r>
            <a:r>
              <a:rPr kumimoji="1" lang="en-US" altLang="zh-CN" sz="1800" dirty="0">
                <a:ea typeface="华文楷体" panose="02010600040101010101" pitchFamily="2" charset="-122"/>
              </a:rPr>
              <a:t>pointer </a:t>
            </a:r>
            <a:r>
              <a:rPr kumimoji="1" lang="en-US" altLang="zh-CN" sz="2000" dirty="0">
                <a:ea typeface="华文楷体" panose="02010600040101010101" pitchFamily="2" charset="-122"/>
              </a:rPr>
              <a:t>p){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</a:t>
            </a:r>
            <a:r>
              <a:rPr kumimoji="1" lang="en-US" altLang="zh-CN" sz="2000" dirty="0">
                <a:solidFill>
                  <a:schemeClr val="accent2"/>
                </a:solidFill>
                <a:ea typeface="华文楷体" panose="02010600040101010101" pitchFamily="2" charset="-122"/>
              </a:rPr>
              <a:t>1</a:t>
            </a:r>
            <a:r>
              <a:rPr kumimoji="1" lang="en-US" altLang="zh-CN" sz="2000" dirty="0">
                <a:ea typeface="华文楷体" panose="02010600040101010101" pitchFamily="2" charset="-122"/>
              </a:rPr>
              <a:t>: if (p!=null)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{    write(p-&gt;data);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 p=p-&gt;next;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 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goto</a:t>
            </a:r>
            <a:r>
              <a:rPr kumimoji="1" lang="en-US" altLang="zh-CN" sz="2000" dirty="0">
                <a:ea typeface="华文楷体" panose="02010600040101010101" pitchFamily="2" charset="-122"/>
              </a:rPr>
              <a:t> 1;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}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4724400" y="3200400"/>
            <a:ext cx="4114800" cy="26670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zh-CN" sz="2000" dirty="0">
                <a:ea typeface="华文楷体" panose="02010600040101010101" pitchFamily="2" charset="-122"/>
              </a:rPr>
              <a:t>使用循环语句：</a:t>
            </a:r>
            <a:endParaRPr kumimoji="1" lang="zh-CN" altLang="en-US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void </a:t>
            </a:r>
            <a:r>
              <a:rPr kumimoji="1" lang="en-US" altLang="zh-CN" sz="2000" b="1" dirty="0">
                <a:solidFill>
                  <a:schemeClr val="accent2"/>
                </a:solidFill>
                <a:ea typeface="华文楷体" panose="02010600040101010101" pitchFamily="2" charset="-122"/>
              </a:rPr>
              <a:t>linklist_output2</a:t>
            </a:r>
            <a:r>
              <a:rPr kumimoji="1" lang="en-US" altLang="zh-CN" sz="2000" dirty="0">
                <a:ea typeface="华文楷体" panose="02010600040101010101" pitchFamily="2" charset="-122"/>
              </a:rPr>
              <a:t>(pointer </a:t>
            </a:r>
            <a:r>
              <a:rPr kumimoji="1" lang="en-US" altLang="zh-CN" sz="1800" dirty="0">
                <a:ea typeface="华文楷体" panose="02010600040101010101" pitchFamily="2" charset="-122"/>
              </a:rPr>
              <a:t>p</a:t>
            </a:r>
            <a:r>
              <a:rPr kumimoji="1" lang="en-US" altLang="zh-CN" sz="2000" dirty="0">
                <a:ea typeface="华文楷体" panose="02010600040101010101" pitchFamily="2" charset="-122"/>
              </a:rPr>
              <a:t>){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while   (p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!=NULL)</a:t>
            </a:r>
            <a:endParaRPr kumimoji="1"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{    write(p-&gt;data);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  p=p-&gt;next;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}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}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838200" y="5410200"/>
            <a:ext cx="83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>
            <a:off x="1371600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1981200" y="5410200"/>
            <a:ext cx="83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0732" name="Line 12"/>
          <p:cNvSpPr>
            <a:spLocks noChangeShapeType="1"/>
          </p:cNvSpPr>
          <p:nvPr/>
        </p:nvSpPr>
        <p:spPr bwMode="auto">
          <a:xfrm>
            <a:off x="2514600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 flipV="1">
            <a:off x="1600200" y="556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4" name="Rectangle 14"/>
          <p:cNvSpPr>
            <a:spLocks noChangeArrowheads="1"/>
          </p:cNvSpPr>
          <p:nvPr/>
        </p:nvSpPr>
        <p:spPr bwMode="auto">
          <a:xfrm>
            <a:off x="3581400" y="5410200"/>
            <a:ext cx="83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>
            <a:off x="4114800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V="1">
            <a:off x="2743200" y="5562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>
            <a:off x="381000" y="5562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>
            <a:off x="381000" y="5562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9" name="Text Box 19"/>
          <p:cNvSpPr txBox="1">
            <a:spLocks noChangeArrowheads="1"/>
          </p:cNvSpPr>
          <p:nvPr/>
        </p:nvSpPr>
        <p:spPr bwMode="auto">
          <a:xfrm>
            <a:off x="228600" y="556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p</a:t>
            </a:r>
          </a:p>
        </p:txBody>
      </p:sp>
      <p:sp>
        <p:nvSpPr>
          <p:cNvPr id="30740" name="Text Box 20"/>
          <p:cNvSpPr txBox="1">
            <a:spLocks noChangeArrowheads="1"/>
          </p:cNvSpPr>
          <p:nvPr/>
        </p:nvSpPr>
        <p:spPr bwMode="auto">
          <a:xfrm>
            <a:off x="4038600" y="5410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^</a:t>
            </a: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3563938" y="5410200"/>
            <a:ext cx="627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a</a:t>
            </a:r>
            <a:r>
              <a:rPr kumimoji="1" lang="en-US" altLang="zh-CN" sz="2000" baseline="-25000">
                <a:ea typeface="华文楷体" panose="02010600040101010101" pitchFamily="2" charset="-122"/>
              </a:rPr>
              <a:t>n-1</a:t>
            </a:r>
            <a:endParaRPr kumimoji="1" lang="en-US" altLang="zh-CN" sz="2000">
              <a:ea typeface="华文楷体" panose="02010600040101010101" pitchFamily="2" charset="-122"/>
            </a:endParaRPr>
          </a:p>
        </p:txBody>
      </p:sp>
      <p:sp>
        <p:nvSpPr>
          <p:cNvPr id="30742" name="Text Box 22"/>
          <p:cNvSpPr txBox="1">
            <a:spLocks noChangeArrowheads="1"/>
          </p:cNvSpPr>
          <p:nvPr/>
        </p:nvSpPr>
        <p:spPr bwMode="auto">
          <a:xfrm>
            <a:off x="1981200" y="54102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a </a:t>
            </a:r>
            <a:r>
              <a:rPr kumimoji="1" lang="en-US" altLang="zh-CN" sz="2000" baseline="-25000"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30743" name="Text Box 23"/>
          <p:cNvSpPr txBox="1">
            <a:spLocks noChangeArrowheads="1"/>
          </p:cNvSpPr>
          <p:nvPr/>
        </p:nvSpPr>
        <p:spPr bwMode="auto">
          <a:xfrm>
            <a:off x="914400" y="5334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a</a:t>
            </a:r>
            <a:r>
              <a:rPr kumimoji="1" lang="en-US" altLang="zh-CN" sz="2400" baseline="-25000">
                <a:ea typeface="华文楷体" panose="02010600040101010101" pitchFamily="2" charset="-122"/>
              </a:rPr>
              <a:t>0</a:t>
            </a:r>
            <a:endParaRPr kumimoji="1" lang="en-US" altLang="zh-CN" sz="2400"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304" y="6065813"/>
            <a:ext cx="8807896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**所有尾递归可以通过将递归调用变成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goto</a:t>
            </a:r>
            <a:r>
              <a:rPr lang="zh-CN" altLang="en-US" sz="200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，并加上对函数所有参数的赋值语句来消除</a:t>
            </a:r>
            <a:endParaRPr lang="zh-CN" altLang="en-US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 animBg="1" autoUpdateAnimBg="0"/>
      <p:bldP spid="26632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773113" y="2133600"/>
            <a:ext cx="5334000" cy="388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924800" cy="609600"/>
          </a:xfrm>
          <a:noFill/>
        </p:spPr>
        <p:txBody>
          <a:bodyPr/>
          <a:lstStyle/>
          <a:p>
            <a:pPr algn="l" eaLnBrk="1" hangingPunct="1"/>
            <a:r>
              <a:rPr lang="en-US" altLang="zh-CN" b="0" smtClean="0">
                <a:ea typeface="华文楷体" panose="02010600040101010101" pitchFamily="2" charset="-122"/>
              </a:rPr>
              <a:t>3) </a:t>
            </a:r>
            <a:r>
              <a:rPr lang="zh-CN" altLang="en-US" b="0" smtClean="0">
                <a:ea typeface="华文楷体" panose="02010600040101010101" pitchFamily="2" charset="-122"/>
              </a:rPr>
              <a:t>利用栈模拟递归</a:t>
            </a:r>
            <a:r>
              <a:rPr lang="en-US" altLang="zh-CN" b="0" smtClean="0">
                <a:ea typeface="华文楷体" panose="02010600040101010101" pitchFamily="2" charset="-122"/>
              </a:rPr>
              <a:t>—</a:t>
            </a:r>
            <a:r>
              <a:rPr lang="zh-CN" altLang="en-US" b="0" smtClean="0">
                <a:ea typeface="华文楷体" panose="02010600040101010101" pitchFamily="2" charset="-122"/>
              </a:rPr>
              <a:t>通用方法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68313" y="1219200"/>
            <a:ext cx="7772400" cy="4876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smtClean="0">
                <a:ea typeface="华文楷体" panose="02010600040101010101" pitchFamily="2" charset="-122"/>
              </a:rPr>
              <a:t>如果是递归函数，需改写为递归过程</a:t>
            </a:r>
            <a:endParaRPr lang="zh-CN" altLang="en-US" sz="28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smtClean="0">
                <a:ea typeface="华文楷体" panose="02010600040101010101" pitchFamily="2" charset="-122"/>
              </a:rPr>
              <a:t>     例：求</a:t>
            </a:r>
            <a:r>
              <a:rPr lang="en-US" altLang="zh-CN" sz="2800" smtClean="0">
                <a:ea typeface="华文楷体" panose="02010600040101010101" pitchFamily="2" charset="-122"/>
              </a:rPr>
              <a:t>n!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  </a:t>
            </a:r>
            <a:r>
              <a:rPr lang="en-US" altLang="zh-CN" sz="2400" smtClean="0">
                <a:ea typeface="华文楷体" panose="02010600040101010101" pitchFamily="2" charset="-122"/>
              </a:rPr>
              <a:t>void  </a:t>
            </a:r>
            <a:r>
              <a:rPr lang="en-US" altLang="zh-CN" sz="2400" b="1" smtClean="0">
                <a:ea typeface="华文楷体" panose="02010600040101010101" pitchFamily="2" charset="-122"/>
              </a:rPr>
              <a:t> fact</a:t>
            </a:r>
            <a:r>
              <a:rPr lang="en-US" altLang="zh-CN" sz="2400" smtClean="0">
                <a:ea typeface="华文楷体" panose="02010600040101010101" pitchFamily="2" charset="-122"/>
              </a:rPr>
              <a:t>(int n; int &amp;f){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  0: if (n==0) f=1;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    else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   {     </a:t>
            </a:r>
            <a:r>
              <a:rPr lang="en-US" altLang="zh-CN" sz="2400" b="1" u="sng" smtClean="0">
                <a:solidFill>
                  <a:srgbClr val="FF0000"/>
                </a:solidFill>
                <a:ea typeface="华文楷体" panose="02010600040101010101" pitchFamily="2" charset="-122"/>
              </a:rPr>
              <a:t>1: fact(n-1,f);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         2: f:=n*f;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}</a:t>
            </a:r>
          </a:p>
        </p:txBody>
      </p:sp>
      <p:grpSp>
        <p:nvGrpSpPr>
          <p:cNvPr id="27655" name="Group 7"/>
          <p:cNvGrpSpPr>
            <a:grpSpLocks/>
          </p:cNvGrpSpPr>
          <p:nvPr/>
        </p:nvGrpSpPr>
        <p:grpSpPr bwMode="auto">
          <a:xfrm>
            <a:off x="1258888" y="3109913"/>
            <a:ext cx="7391400" cy="3271837"/>
            <a:chOff x="912" y="1584"/>
            <a:chExt cx="4656" cy="2061"/>
          </a:xfrm>
        </p:grpSpPr>
        <p:sp>
          <p:nvSpPr>
            <p:cNvPr id="31752" name="Text Box 8"/>
            <p:cNvSpPr txBox="1">
              <a:spLocks noChangeArrowheads="1"/>
            </p:cNvSpPr>
            <p:nvPr/>
          </p:nvSpPr>
          <p:spPr bwMode="auto">
            <a:xfrm>
              <a:off x="912" y="1584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>
                  <a:solidFill>
                    <a:srgbClr val="FFFF00"/>
                  </a:solidFill>
                  <a:ea typeface="华文楷体" panose="02010600040101010101" pitchFamily="2" charset="-122"/>
                </a:rPr>
                <a:t>init_stack(s);</a:t>
              </a:r>
              <a:endParaRPr kumimoji="1" lang="en-US" altLang="zh-CN" sz="2400">
                <a:solidFill>
                  <a:schemeClr val="accent2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31753" name="Text Box 9"/>
            <p:cNvSpPr txBox="1">
              <a:spLocks noChangeArrowheads="1"/>
            </p:cNvSpPr>
            <p:nvPr/>
          </p:nvSpPr>
          <p:spPr bwMode="auto">
            <a:xfrm>
              <a:off x="2688" y="2592"/>
              <a:ext cx="2832" cy="105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chemeClr val="accent2"/>
                  </a:solidFill>
                  <a:ea typeface="华文楷体" panose="02010600040101010101" pitchFamily="2" charset="-122"/>
                </a:rPr>
                <a:t>if (top</a:t>
              </a:r>
              <a:r>
                <a:rPr kumimoji="1" lang="en-US" altLang="zh-CN" sz="2400">
                  <a:solidFill>
                    <a:schemeClr val="accent2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!=0)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chemeClr val="accent2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  { s[top].f=f; </a:t>
              </a:r>
              <a:r>
                <a:rPr kumimoji="1" lang="en-US" altLang="zh-CN" sz="240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  <a:sym typeface="Symbol" panose="05050102010706020507" pitchFamily="18" charset="2"/>
                </a:rPr>
                <a:t>{</a:t>
              </a:r>
              <a:r>
                <a:rPr kumimoji="1" lang="zh-CN" altLang="en-US" sz="240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  <a:sym typeface="Symbol" panose="05050102010706020507" pitchFamily="18" charset="2"/>
                </a:rPr>
                <a:t>还原本层变参值</a:t>
              </a:r>
              <a:r>
                <a:rPr kumimoji="1" lang="en-US" altLang="zh-CN" sz="240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  <a:sym typeface="Symbol" panose="05050102010706020507" pitchFamily="18" charset="2"/>
                </a:rPr>
                <a:t>}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chemeClr val="accent2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    top=top-1; n=s[top+1].n;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chemeClr val="accent2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    f=s[top+1].f; goto s[top+1].rd } </a:t>
              </a:r>
              <a:endParaRPr kumimoji="1" lang="en-US" altLang="zh-CN" sz="2400">
                <a:solidFill>
                  <a:schemeClr val="accent2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31754" name="Line 10"/>
            <p:cNvSpPr>
              <a:spLocks noChangeShapeType="1"/>
            </p:cNvSpPr>
            <p:nvPr/>
          </p:nvSpPr>
          <p:spPr bwMode="auto">
            <a:xfrm>
              <a:off x="1872" y="2352"/>
              <a:ext cx="864" cy="48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5" name="Text Box 11"/>
            <p:cNvSpPr txBox="1">
              <a:spLocks noChangeArrowheads="1"/>
            </p:cNvSpPr>
            <p:nvPr/>
          </p:nvSpPr>
          <p:spPr bwMode="auto">
            <a:xfrm>
              <a:off x="2832" y="1776"/>
              <a:ext cx="2736" cy="66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chemeClr val="accent2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top=top+1; s[top].rd=2;</a:t>
              </a:r>
              <a:br>
                <a:rPr kumimoji="1" lang="en-US" altLang="zh-CN" sz="2400">
                  <a:solidFill>
                    <a:schemeClr val="accent2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</a:br>
              <a:r>
                <a:rPr kumimoji="1" lang="en-US" altLang="zh-CN" sz="2400">
                  <a:solidFill>
                    <a:schemeClr val="accent2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s[top].n=n; s[top].f=f;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chemeClr val="accent2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 n=n-1; goto 0; </a:t>
              </a:r>
            </a:p>
          </p:txBody>
        </p:sp>
        <p:sp>
          <p:nvSpPr>
            <p:cNvPr id="31756" name="Line 12"/>
            <p:cNvSpPr>
              <a:spLocks noChangeShapeType="1"/>
            </p:cNvSpPr>
            <p:nvPr/>
          </p:nvSpPr>
          <p:spPr bwMode="auto">
            <a:xfrm>
              <a:off x="2544" y="2112"/>
              <a:ext cx="240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7" name="Line 13"/>
            <p:cNvSpPr>
              <a:spLocks noChangeShapeType="1"/>
            </p:cNvSpPr>
            <p:nvPr/>
          </p:nvSpPr>
          <p:spPr bwMode="auto">
            <a:xfrm>
              <a:off x="2544" y="2112"/>
              <a:ext cx="0" cy="14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8" name="Line 14"/>
            <p:cNvSpPr>
              <a:spLocks noChangeShapeType="1"/>
            </p:cNvSpPr>
            <p:nvPr/>
          </p:nvSpPr>
          <p:spPr bwMode="auto">
            <a:xfrm flipH="1">
              <a:off x="1104" y="3360"/>
              <a:ext cx="153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title"/>
          </p:nvPr>
        </p:nvSpPr>
        <p:spPr>
          <a:xfrm>
            <a:off x="112713" y="1387475"/>
            <a:ext cx="7772400" cy="457200"/>
          </a:xfrm>
          <a:noFill/>
        </p:spPr>
        <p:txBody>
          <a:bodyPr/>
          <a:lstStyle/>
          <a:p>
            <a:pPr algn="l" eaLnBrk="1" hangingPunct="1"/>
            <a:r>
              <a:rPr lang="en-US" altLang="zh-CN" sz="2800" smtClean="0">
                <a:solidFill>
                  <a:schemeClr val="accent2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800" smtClean="0">
                <a:solidFill>
                  <a:schemeClr val="accent2"/>
                </a:solidFill>
                <a:ea typeface="华文楷体" panose="02010600040101010101" pitchFamily="2" charset="-122"/>
              </a:rPr>
              <a:t>自设栈模拟系统工作栈</a:t>
            </a:r>
            <a:r>
              <a:rPr lang="en-US" altLang="zh-CN" sz="2800" smtClean="0">
                <a:solidFill>
                  <a:schemeClr val="accent2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mtClean="0">
                <a:ea typeface="华文楷体" panose="02010600040101010101" pitchFamily="2" charset="-122"/>
              </a:rPr>
              <a:t>  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105400"/>
          </a:xfrm>
          <a:noFill/>
        </p:spPr>
        <p:txBody>
          <a:bodyPr/>
          <a:lstStyle/>
          <a:p>
            <a:pPr eaLnBrk="1" hangingPunct="1"/>
            <a:endParaRPr lang="en-US" altLang="zh-CN" smtClean="0">
              <a:ea typeface="华文楷体" panose="02010600040101010101" pitchFamily="2" charset="-122"/>
            </a:endParaRPr>
          </a:p>
          <a:p>
            <a:pPr eaLnBrk="1" hangingPunct="1"/>
            <a:endParaRPr lang="en-US" altLang="zh-CN" smtClean="0">
              <a:ea typeface="华文楷体" panose="02010600040101010101" pitchFamily="2" charset="-122"/>
            </a:endParaRPr>
          </a:p>
          <a:p>
            <a:pPr eaLnBrk="1" hangingPunct="1"/>
            <a:endParaRPr lang="en-US" altLang="zh-CN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ea typeface="华文楷体" panose="02010600040101010101" pitchFamily="2" charset="-122"/>
              </a:rPr>
              <a:t>改写算法</a:t>
            </a:r>
            <a:endParaRPr lang="zh-CN" altLang="en-US" sz="2400" smtClean="0"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ea typeface="华文楷体" panose="02010600040101010101" pitchFamily="2" charset="-122"/>
              </a:rPr>
              <a:t>在程序开头增加栈的初始化语句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solidFill>
                  <a:srgbClr val="FF0000"/>
                </a:solidFill>
                <a:ea typeface="华文楷体" panose="02010600040101010101" pitchFamily="2" charset="-122"/>
              </a:rPr>
              <a:t>改写递归调用语句</a:t>
            </a:r>
            <a:r>
              <a:rPr lang="zh-CN" altLang="en-US" sz="2400" smtClean="0">
                <a:ea typeface="华文楷体" panose="02010600040101010101" pitchFamily="2" charset="-122"/>
              </a:rPr>
              <a:t>  入栈处理；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ea typeface="华文楷体" panose="02010600040101010101" pitchFamily="2" charset="-122"/>
              </a:rPr>
              <a:t>                                  确定调用的参数值；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ea typeface="华文楷体" panose="02010600040101010101" pitchFamily="2" charset="-122"/>
              </a:rPr>
              <a:t>                                 转至调用的开始语句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solidFill>
                  <a:srgbClr val="FF0000"/>
                </a:solidFill>
                <a:ea typeface="华文楷体" panose="02010600040101010101" pitchFamily="2" charset="-122"/>
              </a:rPr>
              <a:t>改写所有递归出口</a:t>
            </a:r>
            <a:r>
              <a:rPr lang="zh-CN" altLang="en-US" sz="2400" smtClean="0">
                <a:ea typeface="华文楷体" panose="02010600040101010101" pitchFamily="2" charset="-122"/>
              </a:rPr>
              <a:t>  退栈还原参数；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ea typeface="华文楷体" panose="02010600040101010101" pitchFamily="2" charset="-122"/>
              </a:rPr>
              <a:t>                                  转至返回地址处</a:t>
            </a:r>
          </a:p>
        </p:txBody>
      </p:sp>
      <p:sp>
        <p:nvSpPr>
          <p:cNvPr id="32774" name="AutoShape 6"/>
          <p:cNvSpPr>
            <a:spLocks/>
          </p:cNvSpPr>
          <p:nvPr/>
        </p:nvSpPr>
        <p:spPr bwMode="auto">
          <a:xfrm>
            <a:off x="3708400" y="3789363"/>
            <a:ext cx="152400" cy="990600"/>
          </a:xfrm>
          <a:prstGeom prst="leftBrace">
            <a:avLst>
              <a:gd name="adj1" fmla="val 5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2775" name="AutoShape 7"/>
          <p:cNvSpPr>
            <a:spLocks/>
          </p:cNvSpPr>
          <p:nvPr/>
        </p:nvSpPr>
        <p:spPr bwMode="auto">
          <a:xfrm>
            <a:off x="3708400" y="5084763"/>
            <a:ext cx="76200" cy="5334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6019800" y="13081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>
            <a:off x="6019800" y="28321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 flipV="1">
            <a:off x="8229600" y="13081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7010400" y="10795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s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6096000" y="27559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rd         n       f</a:t>
            </a:r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5791200" y="19177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2" name="Rectangle 14"/>
          <p:cNvSpPr>
            <a:spLocks noChangeArrowheads="1"/>
          </p:cNvSpPr>
          <p:nvPr/>
        </p:nvSpPr>
        <p:spPr bwMode="auto">
          <a:xfrm>
            <a:off x="6019800" y="1841500"/>
            <a:ext cx="2209800" cy="990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5326063" y="1676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top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9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80513" cy="65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381000"/>
            <a:ext cx="3810000" cy="6143625"/>
          </a:xfrm>
          <a:solidFill>
            <a:srgbClr val="CCFFFF"/>
          </a:solidFill>
          <a:ln w="25400" cap="flat" algn="ctr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void  fact(int n, int &amp; f)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init_stack(s);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0: if (n==0) f=1;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{   1: </a:t>
            </a: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top=top+1;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s[top].rd=2; 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s[top].n=n; 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s[top].f=f;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n=n-1; goto 0; </a:t>
            </a:r>
            <a:endParaRPr lang="en-US" altLang="zh-CN" sz="24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   2: f=n*f }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if (top</a:t>
            </a: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!=0)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   {     s[top].f=f;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top=top-1;  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n=s[top+1].n;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f=s[top+1].f; 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goto s[top+1].rd; }</a:t>
            </a:r>
            <a:endParaRPr lang="en-US" altLang="zh-CN" sz="24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}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5014913" y="381000"/>
            <a:ext cx="3733800" cy="6072188"/>
          </a:xfrm>
          <a:prstGeom prst="rect">
            <a:avLst/>
          </a:prstGeom>
          <a:solidFill>
            <a:srgbClr val="CCFFFF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void </a:t>
            </a:r>
            <a:r>
              <a:rPr lang="en-US" altLang="zh-CN" sz="2400" dirty="0">
                <a:solidFill>
                  <a:schemeClr val="accent2"/>
                </a:solidFill>
                <a:ea typeface="华文楷体" panose="02010600040101010101" pitchFamily="2" charset="-122"/>
              </a:rPr>
              <a:t> fact</a:t>
            </a:r>
            <a:r>
              <a:rPr lang="en-US" altLang="zh-CN" sz="2400" dirty="0">
                <a:ea typeface="华文楷体" panose="02010600040101010101" pitchFamily="2" charset="-122"/>
              </a:rPr>
              <a:t>(</a:t>
            </a:r>
            <a:r>
              <a:rPr lang="en-US" altLang="zh-CN" sz="2400" dirty="0" err="1">
                <a:ea typeface="华文楷体" panose="02010600040101010101" pitchFamily="2" charset="-122"/>
              </a:rPr>
              <a:t>int</a:t>
            </a:r>
            <a:r>
              <a:rPr lang="en-US" altLang="zh-CN" sz="2400" dirty="0">
                <a:ea typeface="华文楷体" panose="02010600040101010101" pitchFamily="2" charset="-122"/>
              </a:rPr>
              <a:t> </a:t>
            </a:r>
            <a:r>
              <a:rPr lang="en-US" altLang="zh-CN" sz="2400" dirty="0" err="1">
                <a:ea typeface="华文楷体" panose="02010600040101010101" pitchFamily="2" charset="-122"/>
              </a:rPr>
              <a:t>n,int</a:t>
            </a:r>
            <a:r>
              <a:rPr lang="en-US" altLang="zh-CN" sz="2400" dirty="0">
                <a:ea typeface="华文楷体" panose="02010600040101010101" pitchFamily="2" charset="-122"/>
              </a:rPr>
              <a:t> &amp;f)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</a:t>
            </a:r>
            <a:r>
              <a:rPr lang="en-US" altLang="zh-CN" sz="2400" dirty="0" err="1">
                <a:ea typeface="华文楷体" panose="02010600040101010101" pitchFamily="2" charset="-122"/>
              </a:rPr>
              <a:t>init_stack</a:t>
            </a:r>
            <a:r>
              <a:rPr lang="en-US" altLang="zh-CN" sz="2400" dirty="0">
                <a:ea typeface="华文楷体" panose="02010600040101010101" pitchFamily="2" charset="-122"/>
              </a:rPr>
              <a:t>(s);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   while (n</a:t>
            </a:r>
            <a:r>
              <a:rPr lang="en-US" altLang="zh-CN" sz="2400">
                <a:ea typeface="华文楷体" panose="02010600040101010101" pitchFamily="2" charset="-122"/>
                <a:sym typeface="Symbol" panose="05050102010706020507" pitchFamily="18" charset="2"/>
              </a:rPr>
              <a:t>!=</a:t>
            </a:r>
            <a:r>
              <a:rPr lang="en-US" altLang="zh-CN" sz="2400">
                <a:ea typeface="华文楷体" panose="02010600040101010101" pitchFamily="2" charset="-122"/>
              </a:rPr>
              <a:t>0)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{    </a:t>
            </a:r>
            <a:r>
              <a:rPr lang="en-US" altLang="zh-CN" sz="2400" dirty="0">
                <a:ea typeface="华文楷体" panose="02010600040101010101" pitchFamily="2" charset="-122"/>
                <a:sym typeface="Symbol" panose="05050102010706020507" pitchFamily="18" charset="2"/>
              </a:rPr>
              <a:t>top=top+1;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  <a:sym typeface="Symbol" panose="05050102010706020507" pitchFamily="18" charset="2"/>
              </a:rPr>
              <a:t>         s[top].n=n; 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  <a:sym typeface="Symbol" panose="05050102010706020507" pitchFamily="18" charset="2"/>
              </a:rPr>
              <a:t>         n=n-1;}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 f=1;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while (top</a:t>
            </a:r>
            <a:r>
              <a:rPr lang="en-US" altLang="zh-CN" sz="2400" dirty="0">
                <a:ea typeface="华文楷体" panose="02010600040101010101" pitchFamily="2" charset="-122"/>
                <a:sym typeface="Symbol" panose="05050102010706020507" pitchFamily="18" charset="2"/>
              </a:rPr>
              <a:t>!=0)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  <a:sym typeface="Symbol" panose="05050102010706020507" pitchFamily="18" charset="2"/>
              </a:rPr>
              <a:t>    {     top=top-1;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  <a:sym typeface="Symbol" panose="05050102010706020507" pitchFamily="18" charset="2"/>
              </a:rPr>
              <a:t>           n=s[top+1].n;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       f=n*f; }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}</a:t>
            </a:r>
          </a:p>
        </p:txBody>
      </p:sp>
      <p:sp>
        <p:nvSpPr>
          <p:cNvPr id="33799" name="AutoShape 7"/>
          <p:cNvSpPr>
            <a:spLocks noChangeArrowheads="1"/>
          </p:cNvSpPr>
          <p:nvPr/>
        </p:nvSpPr>
        <p:spPr bwMode="auto">
          <a:xfrm>
            <a:off x="4343400" y="35052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5029200" y="5257800"/>
            <a:ext cx="2895600" cy="854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>
                <a:solidFill>
                  <a:schemeClr val="accent2"/>
                </a:solidFill>
                <a:ea typeface="华文楷体" panose="02010600040101010101" pitchFamily="2" charset="-122"/>
              </a:rPr>
              <a:t>注：此时可确定栈中只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>
                <a:solidFill>
                  <a:schemeClr val="accent2"/>
                </a:solidFill>
                <a:ea typeface="华文楷体" panose="02010600040101010101" pitchFamily="2" charset="-122"/>
              </a:rPr>
              <a:t>        存放</a:t>
            </a:r>
            <a:r>
              <a:rPr kumimoji="1" lang="en-US" altLang="zh-CN" sz="2000">
                <a:solidFill>
                  <a:schemeClr val="accent2"/>
                </a:solidFill>
                <a:ea typeface="华文楷体" panose="02010600040101010101" pitchFamily="2" charset="-122"/>
              </a:rPr>
              <a:t>n</a:t>
            </a:r>
            <a:r>
              <a:rPr kumimoji="1" lang="zh-CN" altLang="en-US" sz="2000">
                <a:solidFill>
                  <a:schemeClr val="accent2"/>
                </a:solidFill>
                <a:ea typeface="华文楷体" panose="02010600040101010101" pitchFamily="2" charset="-122"/>
              </a:rPr>
              <a:t>值即可。</a:t>
            </a:r>
            <a:endParaRPr kumimoji="1" lang="zh-CN" altLang="en-US" sz="2400">
              <a:solidFill>
                <a:schemeClr val="accent1"/>
              </a:solidFill>
              <a:ea typeface="华文楷体" panose="02010600040101010101" pitchFamily="2" charset="-122"/>
            </a:endParaRPr>
          </a:p>
        </p:txBody>
      </p:sp>
      <p:sp>
        <p:nvSpPr>
          <p:cNvPr id="33801" name="AutoShape 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686800" y="6248400"/>
            <a:ext cx="228600" cy="3048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772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993300"/>
                </a:solidFill>
                <a:ea typeface="华文楷体" panose="02010600040101010101" pitchFamily="2" charset="-122"/>
              </a:rPr>
              <a:t> </a:t>
            </a:r>
            <a:r>
              <a:rPr lang="zh-CN" altLang="en-US" sz="2400" b="1" smtClean="0">
                <a:solidFill>
                  <a:srgbClr val="993300"/>
                </a:solidFill>
                <a:ea typeface="华文楷体" panose="02010600040101010101" pitchFamily="2" charset="-122"/>
              </a:rPr>
              <a:t>栈的应用</a:t>
            </a:r>
            <a:r>
              <a:rPr lang="en-US" altLang="zh-CN" sz="2400" b="1" smtClean="0">
                <a:solidFill>
                  <a:srgbClr val="993300"/>
                </a:solidFill>
                <a:ea typeface="华文楷体" panose="02010600040101010101" pitchFamily="2" charset="-122"/>
              </a:rPr>
              <a:t>2-</a:t>
            </a:r>
            <a:r>
              <a:rPr lang="zh-CN" altLang="en-US" sz="2400" b="1" smtClean="0">
                <a:solidFill>
                  <a:srgbClr val="993300"/>
                </a:solidFill>
                <a:ea typeface="华文楷体" panose="02010600040101010101" pitchFamily="2" charset="-122"/>
              </a:rPr>
              <a:t>整型数简单表达式求值</a:t>
            </a:r>
            <a:endParaRPr lang="zh-CN" altLang="en-US" sz="280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前提假设</a:t>
            </a:r>
            <a:r>
              <a:rPr lang="en-US" altLang="zh-CN" sz="24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smtClean="0">
                <a:ea typeface="华文楷体" panose="02010600040101010101" pitchFamily="2" charset="-122"/>
              </a:rPr>
              <a:t> </a:t>
            </a:r>
            <a:r>
              <a:rPr lang="zh-CN" altLang="en-US" sz="2000" smtClean="0">
                <a:ea typeface="华文楷体" panose="02010600040101010101" pitchFamily="2" charset="-122"/>
              </a:rPr>
              <a:t>表达式语法正确；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smtClean="0">
                <a:ea typeface="华文楷体" panose="02010600040101010101" pitchFamily="2" charset="-122"/>
              </a:rPr>
              <a:t>                        表达式结束符为‘</a:t>
            </a:r>
            <a:r>
              <a:rPr lang="en-US" altLang="zh-CN" sz="2000" smtClean="0">
                <a:ea typeface="华文楷体" panose="02010600040101010101" pitchFamily="2" charset="-122"/>
              </a:rPr>
              <a:t>#’</a:t>
            </a:r>
            <a:endParaRPr lang="en-US" altLang="zh-CN" sz="240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算法思想</a:t>
            </a:r>
            <a:r>
              <a:rPr lang="en-US" altLang="zh-CN" sz="24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smtClean="0">
              <a:solidFill>
                <a:srgbClr val="FF33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rgbClr val="FF0066"/>
                </a:solidFill>
                <a:ea typeface="华文楷体" panose="02010600040101010101" pitchFamily="2" charset="-122"/>
              </a:rPr>
              <a:t>   </a:t>
            </a:r>
            <a:r>
              <a:rPr lang="en-US" altLang="zh-CN" sz="2800" smtClean="0">
                <a:ea typeface="华文楷体" panose="02010600040101010101" pitchFamily="2" charset="-122"/>
              </a:rPr>
              <a:t> </a:t>
            </a:r>
            <a:r>
              <a:rPr lang="en-US" altLang="zh-CN" sz="2000" smtClean="0">
                <a:solidFill>
                  <a:schemeClr val="accent2"/>
                </a:solidFill>
                <a:ea typeface="华文楷体" panose="02010600040101010101" pitchFamily="2" charset="-122"/>
              </a:rPr>
              <a:t>OPTR</a:t>
            </a:r>
            <a:r>
              <a:rPr lang="zh-CN" altLang="en-US" sz="2000" smtClean="0">
                <a:solidFill>
                  <a:schemeClr val="accent2"/>
                </a:solidFill>
                <a:ea typeface="华文楷体" panose="02010600040101010101" pitchFamily="2" charset="-122"/>
              </a:rPr>
              <a:t>栈</a:t>
            </a:r>
            <a:r>
              <a:rPr lang="en-US" altLang="zh-CN" sz="2000" smtClean="0">
                <a:ea typeface="华文楷体" panose="02010600040101010101" pitchFamily="2" charset="-122"/>
              </a:rPr>
              <a:t>—</a:t>
            </a:r>
            <a:r>
              <a:rPr lang="zh-CN" altLang="en-US" sz="2000" smtClean="0">
                <a:ea typeface="华文楷体" panose="02010600040101010101" pitchFamily="2" charset="-122"/>
              </a:rPr>
              <a:t>寄存运算符  </a:t>
            </a:r>
            <a:r>
              <a:rPr lang="en-US" altLang="zh-CN" sz="2000" smtClean="0">
                <a:solidFill>
                  <a:schemeClr val="accent2"/>
                </a:solidFill>
                <a:ea typeface="华文楷体" panose="02010600040101010101" pitchFamily="2" charset="-122"/>
              </a:rPr>
              <a:t>OPND</a:t>
            </a:r>
            <a:r>
              <a:rPr lang="zh-CN" altLang="en-US" sz="2000" smtClean="0">
                <a:solidFill>
                  <a:schemeClr val="accent2"/>
                </a:solidFill>
                <a:ea typeface="华文楷体" panose="02010600040101010101" pitchFamily="2" charset="-122"/>
              </a:rPr>
              <a:t>栈</a:t>
            </a:r>
            <a:r>
              <a:rPr lang="en-US" altLang="zh-CN" sz="2000" smtClean="0">
                <a:ea typeface="华文楷体" panose="02010600040101010101" pitchFamily="2" charset="-122"/>
              </a:rPr>
              <a:t>—</a:t>
            </a:r>
            <a:r>
              <a:rPr lang="zh-CN" altLang="en-US" sz="2000" smtClean="0">
                <a:ea typeface="华文楷体" panose="02010600040101010101" pitchFamily="2" charset="-122"/>
              </a:rPr>
              <a:t>寄存操作数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smtClean="0">
                <a:ea typeface="华文楷体" panose="02010600040101010101" pitchFamily="2" charset="-122"/>
              </a:rPr>
              <a:t>   </a:t>
            </a:r>
            <a:r>
              <a:rPr lang="en-US" altLang="zh-CN" sz="2000" smtClean="0">
                <a:ea typeface="华文楷体" panose="02010600040101010101" pitchFamily="2" charset="-122"/>
              </a:rPr>
              <a:t>1)</a:t>
            </a:r>
            <a:r>
              <a:rPr lang="zh-CN" altLang="en-US" sz="2000" smtClean="0">
                <a:ea typeface="华文楷体" panose="02010600040101010101" pitchFamily="2" charset="-122"/>
              </a:rPr>
              <a:t>放入起始符‘</a:t>
            </a:r>
            <a:r>
              <a:rPr lang="en-US" altLang="zh-CN" sz="2000" smtClean="0">
                <a:ea typeface="华文楷体" panose="02010600040101010101" pitchFamily="2" charset="-122"/>
              </a:rPr>
              <a:t>#’</a:t>
            </a:r>
            <a:r>
              <a:rPr lang="zh-CN" altLang="en-US" sz="2000" smtClean="0">
                <a:ea typeface="华文楷体" panose="02010600040101010101" pitchFamily="2" charset="-122"/>
              </a:rPr>
              <a:t>作为</a:t>
            </a:r>
            <a:r>
              <a:rPr lang="en-US" altLang="zh-CN" sz="2000" smtClean="0">
                <a:ea typeface="华文楷体" panose="02010600040101010101" pitchFamily="2" charset="-122"/>
              </a:rPr>
              <a:t>OPTR</a:t>
            </a:r>
            <a:r>
              <a:rPr lang="zh-CN" altLang="en-US" sz="2000" smtClean="0">
                <a:ea typeface="华文楷体" panose="02010600040101010101" pitchFamily="2" charset="-122"/>
              </a:rPr>
              <a:t>栈底元素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smtClean="0">
                <a:ea typeface="华文楷体" panose="02010600040101010101" pitchFamily="2" charset="-122"/>
              </a:rPr>
              <a:t>   </a:t>
            </a:r>
            <a:r>
              <a:rPr lang="en-US" altLang="zh-CN" sz="2000" smtClean="0">
                <a:ea typeface="华文楷体" panose="02010600040101010101" pitchFamily="2" charset="-122"/>
              </a:rPr>
              <a:t>2)</a:t>
            </a:r>
            <a:r>
              <a:rPr lang="zh-CN" altLang="en-US" sz="2000" smtClean="0">
                <a:ea typeface="华文楷体" panose="02010600040101010101" pitchFamily="2" charset="-122"/>
              </a:rPr>
              <a:t>依次读入表达式字符，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smtClean="0">
                <a:ea typeface="华文楷体" panose="02010600040101010101" pitchFamily="2" charset="-122"/>
              </a:rPr>
              <a:t>           操作数：进</a:t>
            </a:r>
            <a:r>
              <a:rPr lang="en-US" altLang="zh-CN" sz="2000" smtClean="0">
                <a:ea typeface="华文楷体" panose="02010600040101010101" pitchFamily="2" charset="-122"/>
              </a:rPr>
              <a:t>OPND</a:t>
            </a:r>
            <a:r>
              <a:rPr lang="zh-CN" altLang="en-US" sz="2000" smtClean="0">
                <a:ea typeface="华文楷体" panose="02010600040101010101" pitchFamily="2" charset="-122"/>
              </a:rPr>
              <a:t>栈；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smtClean="0">
                <a:ea typeface="华文楷体" panose="02010600040101010101" pitchFamily="2" charset="-122"/>
              </a:rPr>
              <a:t>           运算符：与</a:t>
            </a:r>
            <a:r>
              <a:rPr lang="en-US" altLang="zh-CN" sz="2000" smtClean="0">
                <a:ea typeface="华文楷体" panose="02010600040101010101" pitchFamily="2" charset="-122"/>
              </a:rPr>
              <a:t>OPTR.top</a:t>
            </a:r>
            <a:r>
              <a:rPr lang="zh-CN" altLang="en-US" sz="2000" smtClean="0">
                <a:ea typeface="华文楷体" panose="02010600040101010101" pitchFamily="2" charset="-122"/>
              </a:rPr>
              <a:t>元素比较优先级后做相应操作；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smtClean="0">
                <a:ea typeface="华文楷体" panose="02010600040101010101" pitchFamily="2" charset="-122"/>
              </a:rPr>
              <a:t>       直至读入‘</a:t>
            </a:r>
            <a:r>
              <a:rPr lang="en-US" altLang="zh-CN" sz="2000" smtClean="0">
                <a:ea typeface="华文楷体" panose="02010600040101010101" pitchFamily="2" charset="-122"/>
              </a:rPr>
              <a:t>#’</a:t>
            </a:r>
            <a:r>
              <a:rPr lang="zh-CN" altLang="en-US" sz="2000" smtClean="0">
                <a:ea typeface="华文楷体" panose="02010600040101010101" pitchFamily="2" charset="-122"/>
              </a:rPr>
              <a:t>且</a:t>
            </a:r>
            <a:r>
              <a:rPr lang="en-US" altLang="zh-CN" sz="2000" smtClean="0">
                <a:ea typeface="华文楷体" panose="02010600040101010101" pitchFamily="2" charset="-122"/>
              </a:rPr>
              <a:t>OPTR</a:t>
            </a:r>
            <a:r>
              <a:rPr lang="zh-CN" altLang="en-US" sz="2000" smtClean="0">
                <a:ea typeface="华文楷体" panose="02010600040101010101" pitchFamily="2" charset="-122"/>
              </a:rPr>
              <a:t>栈只剩‘</a:t>
            </a:r>
            <a:r>
              <a:rPr lang="en-US" altLang="zh-CN" sz="2000" smtClean="0">
                <a:ea typeface="华文楷体" panose="02010600040101010101" pitchFamily="2" charset="-122"/>
              </a:rPr>
              <a:t>#’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</a:rPr>
              <a:t>    3)OPND</a:t>
            </a:r>
            <a:r>
              <a:rPr lang="zh-CN" altLang="zh-CN" sz="2000" smtClean="0">
                <a:ea typeface="华文楷体" panose="02010600040101010101" pitchFamily="2" charset="-122"/>
              </a:rPr>
              <a:t>栈底所留元素即为所求</a:t>
            </a:r>
            <a:endParaRPr lang="zh-CN" altLang="zh-CN" sz="240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zh-CN" sz="2400" b="1" smtClean="0">
                <a:solidFill>
                  <a:srgbClr val="FF3300"/>
                </a:solidFill>
                <a:ea typeface="华文楷体" panose="02010600040101010101" pitchFamily="2" charset="-122"/>
              </a:rPr>
              <a:t>[例]</a:t>
            </a:r>
            <a:r>
              <a:rPr lang="zh-CN" altLang="zh-CN" sz="2800" smtClean="0">
                <a:ea typeface="华文楷体" panose="02010600040101010101" pitchFamily="2" charset="-122"/>
              </a:rPr>
              <a:t> 5+3*(7-2)+11#</a:t>
            </a:r>
            <a:endParaRPr lang="en-US" altLang="zh-CN" sz="2400" smtClean="0">
              <a:ea typeface="华文楷体" panose="02010600040101010101" pitchFamily="2" charset="-122"/>
            </a:endParaRPr>
          </a:p>
        </p:txBody>
      </p:sp>
      <p:sp>
        <p:nvSpPr>
          <p:cNvPr id="34821" name="Line 4"/>
          <p:cNvSpPr>
            <a:spLocks noChangeShapeType="1"/>
          </p:cNvSpPr>
          <p:nvPr/>
        </p:nvSpPr>
        <p:spPr bwMode="auto">
          <a:xfrm>
            <a:off x="6248400" y="4953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2" name="Line 5"/>
          <p:cNvSpPr>
            <a:spLocks noChangeShapeType="1"/>
          </p:cNvSpPr>
          <p:nvPr/>
        </p:nvSpPr>
        <p:spPr bwMode="auto">
          <a:xfrm>
            <a:off x="6248400" y="6096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3" name="Line 6"/>
          <p:cNvSpPr>
            <a:spLocks noChangeShapeType="1"/>
          </p:cNvSpPr>
          <p:nvPr/>
        </p:nvSpPr>
        <p:spPr bwMode="auto">
          <a:xfrm>
            <a:off x="6858000" y="4953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4" name="Line 7"/>
          <p:cNvSpPr>
            <a:spLocks noChangeShapeType="1"/>
          </p:cNvSpPr>
          <p:nvPr/>
        </p:nvSpPr>
        <p:spPr bwMode="auto">
          <a:xfrm>
            <a:off x="7315200" y="5029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5" name="Line 8"/>
          <p:cNvSpPr>
            <a:spLocks noChangeShapeType="1"/>
          </p:cNvSpPr>
          <p:nvPr/>
        </p:nvSpPr>
        <p:spPr bwMode="auto">
          <a:xfrm>
            <a:off x="7315200" y="6096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6" name="Line 9"/>
          <p:cNvSpPr>
            <a:spLocks noChangeShapeType="1"/>
          </p:cNvSpPr>
          <p:nvPr/>
        </p:nvSpPr>
        <p:spPr bwMode="auto">
          <a:xfrm>
            <a:off x="8001000" y="5029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7" name="Text Box 10"/>
          <p:cNvSpPr txBox="1">
            <a:spLocks noChangeArrowheads="1"/>
          </p:cNvSpPr>
          <p:nvPr/>
        </p:nvSpPr>
        <p:spPr bwMode="auto">
          <a:xfrm>
            <a:off x="6172200" y="60198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>
                <a:ea typeface="华文楷体" panose="02010600040101010101" pitchFamily="2" charset="-122"/>
              </a:rPr>
              <a:t>OPTR       OPND</a:t>
            </a:r>
          </a:p>
        </p:txBody>
      </p:sp>
      <p:sp>
        <p:nvSpPr>
          <p:cNvPr id="65547" name="Text Box 11"/>
          <p:cNvSpPr txBox="1">
            <a:spLocks noChangeArrowheads="1"/>
          </p:cNvSpPr>
          <p:nvPr/>
        </p:nvSpPr>
        <p:spPr bwMode="auto">
          <a:xfrm>
            <a:off x="6400800" y="5715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#</a:t>
            </a:r>
          </a:p>
        </p:txBody>
      </p:sp>
      <p:sp>
        <p:nvSpPr>
          <p:cNvPr id="65548" name="Text Box 12"/>
          <p:cNvSpPr txBox="1">
            <a:spLocks noChangeArrowheads="1"/>
          </p:cNvSpPr>
          <p:nvPr/>
        </p:nvSpPr>
        <p:spPr bwMode="auto">
          <a:xfrm>
            <a:off x="7467600" y="5715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65549" name="Text Box 13"/>
          <p:cNvSpPr txBox="1">
            <a:spLocks noChangeArrowheads="1"/>
          </p:cNvSpPr>
          <p:nvPr/>
        </p:nvSpPr>
        <p:spPr bwMode="auto">
          <a:xfrm>
            <a:off x="7467600" y="5486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65550" name="Text Box 14"/>
          <p:cNvSpPr txBox="1">
            <a:spLocks noChangeArrowheads="1"/>
          </p:cNvSpPr>
          <p:nvPr/>
        </p:nvSpPr>
        <p:spPr bwMode="auto">
          <a:xfrm>
            <a:off x="6400800" y="4953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(</a:t>
            </a:r>
          </a:p>
        </p:txBody>
      </p:sp>
      <p:sp>
        <p:nvSpPr>
          <p:cNvPr id="65551" name="Text Box 15"/>
          <p:cNvSpPr txBox="1">
            <a:spLocks noChangeArrowheads="1"/>
          </p:cNvSpPr>
          <p:nvPr/>
        </p:nvSpPr>
        <p:spPr bwMode="auto">
          <a:xfrm>
            <a:off x="7391400" y="5257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7</a:t>
            </a:r>
          </a:p>
        </p:txBody>
      </p:sp>
      <p:sp>
        <p:nvSpPr>
          <p:cNvPr id="65552" name="Text Box 16"/>
          <p:cNvSpPr txBox="1">
            <a:spLocks noChangeArrowheads="1"/>
          </p:cNvSpPr>
          <p:nvPr/>
        </p:nvSpPr>
        <p:spPr bwMode="auto">
          <a:xfrm>
            <a:off x="6324600" y="4648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-</a:t>
            </a:r>
          </a:p>
        </p:txBody>
      </p:sp>
      <p:sp>
        <p:nvSpPr>
          <p:cNvPr id="65553" name="Text Box 17"/>
          <p:cNvSpPr txBox="1">
            <a:spLocks noChangeArrowheads="1"/>
          </p:cNvSpPr>
          <p:nvPr/>
        </p:nvSpPr>
        <p:spPr bwMode="auto">
          <a:xfrm>
            <a:off x="73914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 2</a:t>
            </a:r>
          </a:p>
        </p:txBody>
      </p:sp>
      <p:sp>
        <p:nvSpPr>
          <p:cNvPr id="65554" name="Text Box 18"/>
          <p:cNvSpPr txBox="1">
            <a:spLocks noChangeArrowheads="1"/>
          </p:cNvSpPr>
          <p:nvPr/>
        </p:nvSpPr>
        <p:spPr bwMode="auto">
          <a:xfrm>
            <a:off x="6400800" y="5486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+</a:t>
            </a:r>
          </a:p>
        </p:txBody>
      </p:sp>
      <p:sp>
        <p:nvSpPr>
          <p:cNvPr id="65555" name="Text Box 19"/>
          <p:cNvSpPr txBox="1">
            <a:spLocks noChangeArrowheads="1"/>
          </p:cNvSpPr>
          <p:nvPr/>
        </p:nvSpPr>
        <p:spPr bwMode="auto">
          <a:xfrm>
            <a:off x="6400800" y="5334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*</a:t>
            </a:r>
          </a:p>
        </p:txBody>
      </p:sp>
      <p:sp>
        <p:nvSpPr>
          <p:cNvPr id="65556" name="Rectangle 20"/>
          <p:cNvSpPr>
            <a:spLocks noChangeArrowheads="1"/>
          </p:cNvSpPr>
          <p:nvPr/>
        </p:nvSpPr>
        <p:spPr bwMode="auto">
          <a:xfrm>
            <a:off x="7467600" y="5029200"/>
            <a:ext cx="381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65557" name="Rectangle 21"/>
          <p:cNvSpPr>
            <a:spLocks noChangeArrowheads="1"/>
          </p:cNvSpPr>
          <p:nvPr/>
        </p:nvSpPr>
        <p:spPr bwMode="auto">
          <a:xfrm>
            <a:off x="6400800" y="4800600"/>
            <a:ext cx="3048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65558" name="Text Box 22"/>
          <p:cNvSpPr txBox="1">
            <a:spLocks noChangeArrowheads="1"/>
          </p:cNvSpPr>
          <p:nvPr/>
        </p:nvSpPr>
        <p:spPr bwMode="auto">
          <a:xfrm>
            <a:off x="7467600" y="5257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65559" name="Rectangle 23"/>
          <p:cNvSpPr>
            <a:spLocks noChangeArrowheads="1"/>
          </p:cNvSpPr>
          <p:nvPr/>
        </p:nvSpPr>
        <p:spPr bwMode="auto">
          <a:xfrm>
            <a:off x="6400800" y="5029200"/>
            <a:ext cx="304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65560" name="Rectangle 24"/>
          <p:cNvSpPr>
            <a:spLocks noChangeArrowheads="1"/>
          </p:cNvSpPr>
          <p:nvPr/>
        </p:nvSpPr>
        <p:spPr bwMode="auto">
          <a:xfrm>
            <a:off x="7543800" y="5334000"/>
            <a:ext cx="3048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65561" name="Rectangle 25"/>
          <p:cNvSpPr>
            <a:spLocks noChangeArrowheads="1"/>
          </p:cNvSpPr>
          <p:nvPr/>
        </p:nvSpPr>
        <p:spPr bwMode="auto">
          <a:xfrm>
            <a:off x="6400800" y="5334000"/>
            <a:ext cx="3810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65562" name="Text Box 26"/>
          <p:cNvSpPr txBox="1">
            <a:spLocks noChangeArrowheads="1"/>
          </p:cNvSpPr>
          <p:nvPr/>
        </p:nvSpPr>
        <p:spPr bwMode="auto">
          <a:xfrm>
            <a:off x="7391400" y="5486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15</a:t>
            </a:r>
          </a:p>
        </p:txBody>
      </p:sp>
      <p:sp>
        <p:nvSpPr>
          <p:cNvPr id="65563" name="Rectangle 27"/>
          <p:cNvSpPr>
            <a:spLocks noChangeArrowheads="1"/>
          </p:cNvSpPr>
          <p:nvPr/>
        </p:nvSpPr>
        <p:spPr bwMode="auto">
          <a:xfrm>
            <a:off x="7391400" y="5486400"/>
            <a:ext cx="533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65564" name="Rectangle 28"/>
          <p:cNvSpPr>
            <a:spLocks noChangeArrowheads="1"/>
          </p:cNvSpPr>
          <p:nvPr/>
        </p:nvSpPr>
        <p:spPr bwMode="auto">
          <a:xfrm>
            <a:off x="6400800" y="5562600"/>
            <a:ext cx="3810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65565" name="Text Box 29"/>
          <p:cNvSpPr txBox="1">
            <a:spLocks noChangeArrowheads="1"/>
          </p:cNvSpPr>
          <p:nvPr/>
        </p:nvSpPr>
        <p:spPr bwMode="auto">
          <a:xfrm>
            <a:off x="7391400" y="5638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20</a:t>
            </a:r>
          </a:p>
        </p:txBody>
      </p:sp>
      <p:sp>
        <p:nvSpPr>
          <p:cNvPr id="65566" name="Text Box 30"/>
          <p:cNvSpPr txBox="1">
            <a:spLocks noChangeArrowheads="1"/>
          </p:cNvSpPr>
          <p:nvPr/>
        </p:nvSpPr>
        <p:spPr bwMode="auto">
          <a:xfrm>
            <a:off x="6400800" y="5410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+</a:t>
            </a:r>
          </a:p>
        </p:txBody>
      </p:sp>
      <p:sp>
        <p:nvSpPr>
          <p:cNvPr id="65567" name="Text Box 31"/>
          <p:cNvSpPr txBox="1">
            <a:spLocks noChangeArrowheads="1"/>
          </p:cNvSpPr>
          <p:nvPr/>
        </p:nvSpPr>
        <p:spPr bwMode="auto">
          <a:xfrm>
            <a:off x="7391400" y="5334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11</a:t>
            </a:r>
          </a:p>
        </p:txBody>
      </p:sp>
      <p:sp>
        <p:nvSpPr>
          <p:cNvPr id="65568" name="Rectangle 32"/>
          <p:cNvSpPr>
            <a:spLocks noChangeArrowheads="1"/>
          </p:cNvSpPr>
          <p:nvPr/>
        </p:nvSpPr>
        <p:spPr bwMode="auto">
          <a:xfrm>
            <a:off x="7391400" y="5410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65569" name="Rectangle 33"/>
          <p:cNvSpPr>
            <a:spLocks noChangeArrowheads="1"/>
          </p:cNvSpPr>
          <p:nvPr/>
        </p:nvSpPr>
        <p:spPr bwMode="auto">
          <a:xfrm>
            <a:off x="6400800" y="5410200"/>
            <a:ext cx="381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65570" name="Text Box 34"/>
          <p:cNvSpPr txBox="1">
            <a:spLocks noChangeArrowheads="1"/>
          </p:cNvSpPr>
          <p:nvPr/>
        </p:nvSpPr>
        <p:spPr bwMode="auto">
          <a:xfrm>
            <a:off x="7391400" y="5715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31</a:t>
            </a:r>
          </a:p>
        </p:txBody>
      </p:sp>
      <p:sp>
        <p:nvSpPr>
          <p:cNvPr id="65571" name="Rectangle 35"/>
          <p:cNvSpPr>
            <a:spLocks noChangeArrowheads="1"/>
          </p:cNvSpPr>
          <p:nvPr/>
        </p:nvSpPr>
        <p:spPr bwMode="auto">
          <a:xfrm>
            <a:off x="6324600" y="5791200"/>
            <a:ext cx="457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4853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55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5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5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5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5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5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5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5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5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5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5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5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5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5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5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5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5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5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5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5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5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5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5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5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5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5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5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5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5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5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7" grpId="0" build="p" autoUpdateAnimBg="0"/>
      <p:bldP spid="65548" grpId="0" build="p" autoUpdateAnimBg="0"/>
      <p:bldP spid="65549" grpId="0" build="p" autoUpdateAnimBg="0"/>
      <p:bldP spid="65550" grpId="0" build="p" autoUpdateAnimBg="0"/>
      <p:bldP spid="65551" grpId="0" build="p" autoUpdateAnimBg="0"/>
      <p:bldP spid="65552" grpId="0" build="p" autoUpdateAnimBg="0"/>
      <p:bldP spid="65553" grpId="0" autoUpdateAnimBg="0"/>
      <p:bldP spid="65554" grpId="0" build="p" autoUpdateAnimBg="0"/>
      <p:bldP spid="65555" grpId="0" build="p" autoUpdateAnimBg="0"/>
      <p:bldP spid="65558" grpId="0" build="p" autoUpdateAnimBg="0"/>
      <p:bldP spid="65562" grpId="0" build="p" autoUpdateAnimBg="0"/>
      <p:bldP spid="65565" grpId="0" build="p" autoUpdateAnimBg="0"/>
      <p:bldP spid="65566" grpId="0" build="p" autoUpdateAnimBg="0"/>
      <p:bldP spid="65567" grpId="0" build="p" autoUpdateAnimBg="0"/>
      <p:bldP spid="65570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a typeface="华文楷体" panose="02010600040101010101" pitchFamily="2" charset="-122"/>
              </a:rPr>
              <a:t>第三章（第二部分）队列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2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华文楷体" panose="02010600040101010101" pitchFamily="2" charset="-122"/>
              </a:rPr>
              <a:t>提    纲</a:t>
            </a:r>
          </a:p>
        </p:txBody>
      </p:sp>
      <p:grpSp>
        <p:nvGrpSpPr>
          <p:cNvPr id="36869" name="Group 3"/>
          <p:cNvGrpSpPr>
            <a:grpSpLocks/>
          </p:cNvGrpSpPr>
          <p:nvPr/>
        </p:nvGrpSpPr>
        <p:grpSpPr bwMode="auto">
          <a:xfrm>
            <a:off x="2563813" y="2133600"/>
            <a:ext cx="762000" cy="665163"/>
            <a:chOff x="1110" y="2656"/>
            <a:chExt cx="1549" cy="1351"/>
          </a:xfrm>
        </p:grpSpPr>
        <p:sp>
          <p:nvSpPr>
            <p:cNvPr id="3689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3689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2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36870" name="Group 7"/>
          <p:cNvGrpSpPr>
            <a:grpSpLocks/>
          </p:cNvGrpSpPr>
          <p:nvPr/>
        </p:nvGrpSpPr>
        <p:grpSpPr bwMode="auto">
          <a:xfrm>
            <a:off x="2563813" y="2895600"/>
            <a:ext cx="762000" cy="665163"/>
            <a:chOff x="3174" y="2656"/>
            <a:chExt cx="1549" cy="1351"/>
          </a:xfrm>
        </p:grpSpPr>
        <p:sp>
          <p:nvSpPr>
            <p:cNvPr id="36891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36892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3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36871" name="Line 11"/>
          <p:cNvSpPr>
            <a:spLocks noChangeShapeType="1"/>
          </p:cNvSpPr>
          <p:nvPr/>
        </p:nvSpPr>
        <p:spPr bwMode="auto">
          <a:xfrm flipV="1">
            <a:off x="3173413" y="2727325"/>
            <a:ext cx="2774950" cy="15875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Text Box 12"/>
          <p:cNvSpPr txBox="1">
            <a:spLocks noChangeArrowheads="1"/>
          </p:cNvSpPr>
          <p:nvPr/>
        </p:nvSpPr>
        <p:spPr bwMode="auto">
          <a:xfrm>
            <a:off x="3427413" y="2190750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队列的定义</a:t>
            </a:r>
          </a:p>
        </p:txBody>
      </p:sp>
      <p:sp>
        <p:nvSpPr>
          <p:cNvPr id="36873" name="Text Box 13"/>
          <p:cNvSpPr txBox="1">
            <a:spLocks noChangeArrowheads="1"/>
          </p:cNvSpPr>
          <p:nvPr/>
        </p:nvSpPr>
        <p:spPr bwMode="gray">
          <a:xfrm>
            <a:off x="2768600" y="2232025"/>
            <a:ext cx="338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36874" name="Line 14"/>
          <p:cNvSpPr>
            <a:spLocks noChangeShapeType="1"/>
          </p:cNvSpPr>
          <p:nvPr/>
        </p:nvSpPr>
        <p:spPr bwMode="auto">
          <a:xfrm flipV="1">
            <a:off x="3140075" y="3529013"/>
            <a:ext cx="2808288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Text Box 15"/>
          <p:cNvSpPr txBox="1">
            <a:spLocks noChangeArrowheads="1"/>
          </p:cNvSpPr>
          <p:nvPr/>
        </p:nvSpPr>
        <p:spPr bwMode="auto">
          <a:xfrm>
            <a:off x="3452813" y="295275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链队列</a:t>
            </a:r>
          </a:p>
        </p:txBody>
      </p:sp>
      <p:sp>
        <p:nvSpPr>
          <p:cNvPr id="36876" name="Text Box 16"/>
          <p:cNvSpPr txBox="1">
            <a:spLocks noChangeArrowheads="1"/>
          </p:cNvSpPr>
          <p:nvPr/>
        </p:nvSpPr>
        <p:spPr bwMode="gray">
          <a:xfrm>
            <a:off x="2768600" y="2994025"/>
            <a:ext cx="338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华文楷体" panose="02010600040101010101" pitchFamily="2" charset="-122"/>
              </a:rPr>
              <a:t>2</a:t>
            </a:r>
          </a:p>
        </p:txBody>
      </p:sp>
      <p:grpSp>
        <p:nvGrpSpPr>
          <p:cNvPr id="36877" name="Group 17"/>
          <p:cNvGrpSpPr>
            <a:grpSpLocks/>
          </p:cNvGrpSpPr>
          <p:nvPr/>
        </p:nvGrpSpPr>
        <p:grpSpPr bwMode="auto">
          <a:xfrm>
            <a:off x="2563813" y="3657600"/>
            <a:ext cx="762000" cy="665163"/>
            <a:chOff x="1110" y="2656"/>
            <a:chExt cx="1549" cy="1351"/>
          </a:xfrm>
        </p:grpSpPr>
        <p:sp>
          <p:nvSpPr>
            <p:cNvPr id="3688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3688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5" name="AutoShape 2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36878" name="Group 21"/>
          <p:cNvGrpSpPr>
            <a:grpSpLocks/>
          </p:cNvGrpSpPr>
          <p:nvPr/>
        </p:nvGrpSpPr>
        <p:grpSpPr bwMode="auto">
          <a:xfrm>
            <a:off x="2563813" y="4419600"/>
            <a:ext cx="762000" cy="665163"/>
            <a:chOff x="3174" y="2656"/>
            <a:chExt cx="1549" cy="1351"/>
          </a:xfrm>
        </p:grpSpPr>
        <p:sp>
          <p:nvSpPr>
            <p:cNvPr id="36885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36886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buFont typeface="Wingdings" panose="05000000000000000000" pitchFamily="2" charset="2"/>
                <a:buNone/>
              </a:pPr>
              <a:endParaRPr lang="zh-CN" altLang="en-US" sz="2800">
                <a:ea typeface="华文楷体" panose="02010600040101010101" pitchFamily="2" charset="-122"/>
              </a:endParaRPr>
            </a:p>
          </p:txBody>
        </p:sp>
        <p:sp>
          <p:nvSpPr>
            <p:cNvPr id="34840" name="AutoShape 24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36879" name="Line 25"/>
          <p:cNvSpPr>
            <a:spLocks noChangeShapeType="1"/>
          </p:cNvSpPr>
          <p:nvPr/>
        </p:nvSpPr>
        <p:spPr bwMode="auto">
          <a:xfrm>
            <a:off x="3211513" y="4178300"/>
            <a:ext cx="273685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0" name="Text Box 26"/>
          <p:cNvSpPr txBox="1">
            <a:spLocks noChangeArrowheads="1"/>
          </p:cNvSpPr>
          <p:nvPr/>
        </p:nvSpPr>
        <p:spPr bwMode="auto">
          <a:xfrm>
            <a:off x="3414713" y="371475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循环队列</a:t>
            </a:r>
          </a:p>
        </p:txBody>
      </p:sp>
      <p:sp>
        <p:nvSpPr>
          <p:cNvPr id="36881" name="Text Box 27"/>
          <p:cNvSpPr txBox="1">
            <a:spLocks noChangeArrowheads="1"/>
          </p:cNvSpPr>
          <p:nvPr/>
        </p:nvSpPr>
        <p:spPr bwMode="gray">
          <a:xfrm>
            <a:off x="2768600" y="3756025"/>
            <a:ext cx="338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36882" name="Line 28"/>
          <p:cNvSpPr>
            <a:spLocks noChangeShapeType="1"/>
          </p:cNvSpPr>
          <p:nvPr/>
        </p:nvSpPr>
        <p:spPr bwMode="auto">
          <a:xfrm>
            <a:off x="3173413" y="5029200"/>
            <a:ext cx="277495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3" name="Text Box 29"/>
          <p:cNvSpPr txBox="1">
            <a:spLocks noChangeArrowheads="1"/>
          </p:cNvSpPr>
          <p:nvPr/>
        </p:nvSpPr>
        <p:spPr bwMode="auto">
          <a:xfrm>
            <a:off x="3355975" y="445452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双端队列</a:t>
            </a:r>
          </a:p>
        </p:txBody>
      </p:sp>
      <p:sp>
        <p:nvSpPr>
          <p:cNvPr id="36884" name="Text Box 30"/>
          <p:cNvSpPr txBox="1">
            <a:spLocks noChangeArrowheads="1"/>
          </p:cNvSpPr>
          <p:nvPr/>
        </p:nvSpPr>
        <p:spPr bwMode="gray">
          <a:xfrm>
            <a:off x="2768600" y="4518025"/>
            <a:ext cx="338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华文楷体" panose="02010600040101010101" pitchFamily="2" charset="-122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smtClean="0">
                <a:ea typeface="华文楷体" panose="02010600040101010101" pitchFamily="2" charset="-122"/>
              </a:rPr>
              <a:t>3.5 </a:t>
            </a:r>
            <a:r>
              <a:rPr lang="zh-CN" altLang="en-US" sz="2800" smtClean="0">
                <a:ea typeface="华文楷体" panose="02010600040101010101" pitchFamily="2" charset="-122"/>
              </a:rPr>
              <a:t>队列的定义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4958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队列</a:t>
            </a:r>
            <a:r>
              <a:rPr lang="zh-CN" altLang="en-US" sz="2800" smtClean="0">
                <a:ea typeface="华文楷体" panose="02010600040101010101" pitchFamily="2" charset="-122"/>
                <a:sym typeface="Symbol" panose="05050102010706020507" pitchFamily="18" charset="2"/>
              </a:rPr>
              <a:t>是一种特殊的线性表，限定插入和删除操作分别在表的两端进行。具有</a:t>
            </a:r>
            <a:r>
              <a:rPr lang="zh-CN" altLang="en-US" sz="2800" b="1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先进先出</a:t>
            </a:r>
            <a:r>
              <a:rPr lang="en-US" altLang="zh-CN" sz="2800" smtClean="0">
                <a:ea typeface="华文楷体" panose="02010600040101010101" pitchFamily="2" charset="-122"/>
                <a:sym typeface="Symbol" panose="05050102010706020507" pitchFamily="18" charset="2"/>
              </a:rPr>
              <a:t>(FIFO—First In First Out)</a:t>
            </a:r>
            <a:r>
              <a:rPr lang="zh-CN" altLang="zh-CN" sz="2800" smtClean="0">
                <a:ea typeface="华文楷体" panose="02010600040101010101" pitchFamily="2" charset="-122"/>
                <a:sym typeface="Symbol" panose="05050102010706020507" pitchFamily="18" charset="2"/>
              </a:rPr>
              <a:t>的特点。</a:t>
            </a:r>
            <a:endParaRPr lang="zh-CN" altLang="en-US" sz="280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zh-CN" sz="280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zh-CN" sz="280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zh-CN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  </a:t>
            </a:r>
            <a:r>
              <a:rPr lang="en-US" altLang="zh-CN" smtClean="0"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-25000" smtClean="0">
                <a:ea typeface="华文楷体" panose="020106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mtClean="0">
                <a:ea typeface="华文楷体" panose="02010600040101010101" pitchFamily="2" charset="-122"/>
                <a:sym typeface="Symbol" panose="05050102010706020507" pitchFamily="18" charset="2"/>
              </a:rPr>
              <a:t>     a</a:t>
            </a:r>
            <a:r>
              <a:rPr lang="en-US" altLang="zh-CN" baseline="-2500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华文楷体" panose="02010600040101010101" pitchFamily="2" charset="-122"/>
                <a:sym typeface="Symbol" panose="05050102010706020507" pitchFamily="18" charset="2"/>
              </a:rPr>
              <a:t>  …  a</a:t>
            </a:r>
            <a:r>
              <a:rPr lang="en-US" altLang="zh-CN" baseline="-25000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mtClean="0">
                <a:ea typeface="华文楷体" panose="02010600040101010101" pitchFamily="2" charset="-122"/>
                <a:sym typeface="Symbol" panose="05050102010706020507" pitchFamily="18" charset="2"/>
              </a:rPr>
              <a:t>  …  a</a:t>
            </a:r>
            <a:r>
              <a:rPr lang="en-US" altLang="zh-CN" baseline="-25000" smtClean="0">
                <a:ea typeface="华文楷体" panose="02010600040101010101" pitchFamily="2" charset="-122"/>
                <a:sym typeface="Symbol" panose="05050102010706020507" pitchFamily="18" charset="2"/>
              </a:rPr>
              <a:t>n-1</a:t>
            </a:r>
            <a:r>
              <a:rPr lang="en-US" altLang="zh-CN" smtClean="0">
                <a:ea typeface="华文楷体" panose="02010600040101010101" pitchFamily="2" charset="-122"/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37894" name="Line 4"/>
          <p:cNvSpPr>
            <a:spLocks noChangeShapeType="1"/>
          </p:cNvSpPr>
          <p:nvPr/>
        </p:nvSpPr>
        <p:spPr bwMode="auto">
          <a:xfrm>
            <a:off x="2743200" y="38862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5" name="Line 5"/>
          <p:cNvSpPr>
            <a:spLocks noChangeShapeType="1"/>
          </p:cNvSpPr>
          <p:nvPr/>
        </p:nvSpPr>
        <p:spPr bwMode="auto">
          <a:xfrm>
            <a:off x="2743200" y="45720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6" name="Line 6"/>
          <p:cNvSpPr>
            <a:spLocks noChangeShapeType="1"/>
          </p:cNvSpPr>
          <p:nvPr/>
        </p:nvSpPr>
        <p:spPr bwMode="auto">
          <a:xfrm flipV="1">
            <a:off x="2819400" y="4648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7" name="Line 7"/>
          <p:cNvSpPr>
            <a:spLocks noChangeShapeType="1"/>
          </p:cNvSpPr>
          <p:nvPr/>
        </p:nvSpPr>
        <p:spPr bwMode="auto">
          <a:xfrm flipV="1">
            <a:off x="6324600" y="4648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8" name="Text Box 8"/>
          <p:cNvSpPr txBox="1">
            <a:spLocks noChangeArrowheads="1"/>
          </p:cNvSpPr>
          <p:nvPr/>
        </p:nvSpPr>
        <p:spPr bwMode="auto">
          <a:xfrm>
            <a:off x="2209800" y="48768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>
                <a:solidFill>
                  <a:srgbClr val="FF3300"/>
                </a:solidFill>
                <a:ea typeface="华文楷体" panose="02010600040101010101" pitchFamily="2" charset="-122"/>
              </a:rPr>
              <a:t>队头</a:t>
            </a:r>
            <a:r>
              <a:rPr kumimoji="1" lang="en-US" altLang="zh-CN" sz="2400">
                <a:ea typeface="华文楷体" panose="02010600040101010101" pitchFamily="2" charset="-122"/>
              </a:rPr>
              <a:t>front</a:t>
            </a:r>
          </a:p>
        </p:txBody>
      </p:sp>
      <p:sp>
        <p:nvSpPr>
          <p:cNvPr id="37899" name="Text Box 9"/>
          <p:cNvSpPr txBox="1">
            <a:spLocks noChangeArrowheads="1"/>
          </p:cNvSpPr>
          <p:nvPr/>
        </p:nvSpPr>
        <p:spPr bwMode="auto">
          <a:xfrm>
            <a:off x="5715000" y="4876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>
                <a:solidFill>
                  <a:srgbClr val="FF3300"/>
                </a:solidFill>
                <a:ea typeface="华文楷体" panose="02010600040101010101" pitchFamily="2" charset="-122"/>
              </a:rPr>
              <a:t>队尾</a:t>
            </a:r>
            <a:r>
              <a:rPr kumimoji="1" lang="en-US" altLang="en-US" sz="2400">
                <a:ea typeface="华文楷体" panose="02010600040101010101" pitchFamily="2" charset="-122"/>
              </a:rPr>
              <a:t> </a:t>
            </a:r>
            <a:r>
              <a:rPr kumimoji="1" lang="en-US" altLang="zh-CN" sz="2400">
                <a:ea typeface="华文楷体" panose="02010600040101010101" pitchFamily="2" charset="-122"/>
              </a:rPr>
              <a:t>rear</a:t>
            </a:r>
          </a:p>
        </p:txBody>
      </p:sp>
      <p:sp>
        <p:nvSpPr>
          <p:cNvPr id="37900" name="Text Box 10"/>
          <p:cNvSpPr txBox="1">
            <a:spLocks noChangeArrowheads="1"/>
          </p:cNvSpPr>
          <p:nvPr/>
        </p:nvSpPr>
        <p:spPr bwMode="auto">
          <a:xfrm>
            <a:off x="1295400" y="40386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solidFill>
                  <a:srgbClr val="FF3300"/>
                </a:solidFill>
                <a:ea typeface="楷体_GB2312" pitchFamily="49" charset="-122"/>
              </a:rPr>
              <a:t>出队</a:t>
            </a:r>
            <a:endParaRPr kumimoji="1" lang="zh-CN" altLang="en-US" sz="2400">
              <a:ea typeface="华文楷体" panose="02010600040101010101" pitchFamily="2" charset="-122"/>
            </a:endParaRPr>
          </a:p>
        </p:txBody>
      </p:sp>
      <p:sp>
        <p:nvSpPr>
          <p:cNvPr id="37901" name="Text Box 11"/>
          <p:cNvSpPr txBox="1">
            <a:spLocks noChangeArrowheads="1"/>
          </p:cNvSpPr>
          <p:nvPr/>
        </p:nvSpPr>
        <p:spPr bwMode="auto">
          <a:xfrm>
            <a:off x="7010400" y="4038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solidFill>
                  <a:srgbClr val="FF3300"/>
                </a:solidFill>
                <a:ea typeface="楷体_GB2312" pitchFamily="49" charset="-122"/>
              </a:rPr>
              <a:t>入队</a:t>
            </a:r>
            <a:endParaRPr kumimoji="1" lang="zh-CN" altLang="en-US" sz="2400">
              <a:ea typeface="楷体_GB2312" pitchFamily="49" charset="-122"/>
            </a:endParaRPr>
          </a:p>
        </p:txBody>
      </p:sp>
      <p:sp>
        <p:nvSpPr>
          <p:cNvPr id="37902" name="AutoShape 12"/>
          <p:cNvSpPr>
            <a:spLocks noChangeArrowheads="1"/>
          </p:cNvSpPr>
          <p:nvPr/>
        </p:nvSpPr>
        <p:spPr bwMode="auto">
          <a:xfrm>
            <a:off x="2057400" y="4191000"/>
            <a:ext cx="533400" cy="152400"/>
          </a:xfrm>
          <a:prstGeom prst="lef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37903" name="AutoShape 13"/>
          <p:cNvSpPr>
            <a:spLocks noChangeArrowheads="1"/>
          </p:cNvSpPr>
          <p:nvPr/>
        </p:nvSpPr>
        <p:spPr bwMode="auto">
          <a:xfrm>
            <a:off x="6553200" y="4191000"/>
            <a:ext cx="533400" cy="152400"/>
          </a:xfrm>
          <a:prstGeom prst="lef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8916" name="Rectangle 2"/>
          <p:cNvSpPr>
            <a:spLocks noChangeArrowheads="1"/>
          </p:cNvSpPr>
          <p:nvPr/>
        </p:nvSpPr>
        <p:spPr bwMode="auto">
          <a:xfrm>
            <a:off x="685800" y="9144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9933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定义在队列结构上的基本运算</a:t>
            </a:r>
            <a:endParaRPr lang="zh-CN" altLang="en-US" b="1">
              <a:solidFill>
                <a:schemeClr val="bg1"/>
              </a:solidFill>
              <a:latin typeface="Verdan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685800" y="1905000"/>
            <a:ext cx="7772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ea typeface="华文楷体" panose="02010600040101010101" pitchFamily="2" charset="-122"/>
              </a:rPr>
              <a:t>   </a:t>
            </a:r>
            <a:r>
              <a:rPr lang="en-US" altLang="zh-CN" sz="2400">
                <a:ea typeface="华文楷体" panose="02010600040101010101" pitchFamily="2" charset="-122"/>
              </a:rPr>
              <a:t>(1)</a:t>
            </a:r>
            <a:r>
              <a:rPr lang="zh-CN" altLang="en-US" sz="2400">
                <a:ea typeface="华文楷体" panose="02010600040101010101" pitchFamily="2" charset="-122"/>
              </a:rPr>
              <a:t>构造空队列操作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    </a:t>
            </a:r>
            <a:r>
              <a:rPr lang="en-US" altLang="zh-CN" sz="2400">
                <a:ea typeface="华文楷体" panose="02010600040101010101" pitchFamily="2" charset="-122"/>
              </a:rPr>
              <a:t>(2)</a:t>
            </a:r>
            <a:r>
              <a:rPr lang="zh-CN" altLang="en-US" sz="2400">
                <a:ea typeface="华文楷体" panose="02010600040101010101" pitchFamily="2" charset="-122"/>
              </a:rPr>
              <a:t>判队空否函数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    </a:t>
            </a:r>
            <a:r>
              <a:rPr lang="en-US" altLang="zh-CN" sz="2400">
                <a:ea typeface="华文楷体" panose="02010600040101010101" pitchFamily="2" charset="-122"/>
              </a:rPr>
              <a:t>(3)</a:t>
            </a:r>
            <a:r>
              <a:rPr lang="zh-CN" altLang="en-US" sz="2400">
                <a:ea typeface="华文楷体" panose="02010600040101010101" pitchFamily="2" charset="-122"/>
              </a:rPr>
              <a:t>元素入队操作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    </a:t>
            </a:r>
            <a:r>
              <a:rPr lang="en-US" altLang="zh-CN" sz="2400">
                <a:ea typeface="华文楷体" panose="02010600040101010101" pitchFamily="2" charset="-122"/>
              </a:rPr>
              <a:t>(4)</a:t>
            </a:r>
            <a:r>
              <a:rPr lang="zh-CN" altLang="en-US" sz="2400">
                <a:ea typeface="华文楷体" panose="02010600040101010101" pitchFamily="2" charset="-122"/>
              </a:rPr>
              <a:t>元素出队函数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    </a:t>
            </a:r>
            <a:r>
              <a:rPr lang="en-US" altLang="zh-CN" sz="2400">
                <a:ea typeface="华文楷体" panose="02010600040101010101" pitchFamily="2" charset="-122"/>
              </a:rPr>
              <a:t>(5)</a:t>
            </a:r>
            <a:r>
              <a:rPr lang="zh-CN" altLang="zh-CN" sz="2400">
                <a:ea typeface="华文楷体" panose="02010600040101010101" pitchFamily="2" charset="-122"/>
              </a:rPr>
              <a:t>取队头元素函数</a:t>
            </a:r>
            <a:endParaRPr lang="zh-CN" altLang="en-US" sz="240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    </a:t>
            </a:r>
            <a:r>
              <a:rPr lang="en-US" altLang="zh-CN" sz="2400">
                <a:ea typeface="华文楷体" panose="02010600040101010101" pitchFamily="2" charset="-122"/>
              </a:rPr>
              <a:t>(6) </a:t>
            </a:r>
            <a:r>
              <a:rPr lang="zh-CN" altLang="en-US" sz="2400">
                <a:ea typeface="华文楷体" panose="02010600040101010101" pitchFamily="2" charset="-122"/>
              </a:rPr>
              <a:t>队列置空操作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    </a:t>
            </a:r>
            <a:r>
              <a:rPr lang="en-US" altLang="zh-CN" sz="2400">
                <a:ea typeface="华文楷体" panose="02010600040101010101" pitchFamily="2" charset="-122"/>
              </a:rPr>
              <a:t>(7)</a:t>
            </a:r>
            <a:r>
              <a:rPr lang="zh-CN" altLang="en-US" sz="2400">
                <a:ea typeface="华文楷体" panose="02010600040101010101" pitchFamily="2" charset="-122"/>
              </a:rPr>
              <a:t>求队中元素个数函数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762000"/>
            <a:ext cx="9372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438400" y="0"/>
            <a:ext cx="44894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队列的进队和出队</a:t>
            </a:r>
            <a:r>
              <a:rPr kumimoji="1"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endParaRPr kumimoji="1"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90500" y="3810000"/>
            <a:ext cx="90297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buClr>
                <a:srgbClr val="3333CC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进队时队尾指针先进一  </a:t>
            </a:r>
            <a:r>
              <a:rPr kumimoji="1" lang="en-US" altLang="zh-CN" sz="2400" b="1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rear = rear</a:t>
            </a:r>
            <a:r>
              <a:rPr kumimoji="1"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+ 1</a:t>
            </a:r>
            <a:r>
              <a:rPr kumimoji="1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，再将新元素按 </a:t>
            </a:r>
            <a:r>
              <a:rPr kumimoji="1"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rear </a:t>
            </a:r>
            <a:r>
              <a:rPr kumimoji="1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指示位置加入。</a:t>
            </a:r>
          </a:p>
          <a:p>
            <a:pPr eaLnBrk="1" hangingPunct="1">
              <a:buClr>
                <a:srgbClr val="3333CC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出队时队头指针先进一 </a:t>
            </a:r>
            <a:r>
              <a:rPr kumimoji="1" lang="en-US" altLang="zh-CN" sz="2400" b="1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front = front</a:t>
            </a:r>
            <a:r>
              <a:rPr kumimoji="1"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+ 1</a:t>
            </a:r>
            <a:r>
              <a:rPr kumimoji="1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，再将</a:t>
            </a:r>
            <a:r>
              <a:rPr kumimoji="1"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front</a:t>
            </a:r>
            <a:r>
              <a:rPr kumimoji="1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指示 的元素取出。</a:t>
            </a:r>
          </a:p>
          <a:p>
            <a:pPr eaLnBrk="1" hangingPunct="1">
              <a:buClr>
                <a:srgbClr val="3333CC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队满时再进队将溢出出错；队空时再出队将队空处理。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762000" y="6070600"/>
            <a:ext cx="6629400" cy="463550"/>
          </a:xfrm>
          <a:prstGeom prst="rect">
            <a:avLst/>
          </a:prstGeom>
          <a:solidFill>
            <a:srgbClr val="CCFFFF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zh-CN" sz="24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思考：可否用两个栈实现一个队列？如何实现？</a:t>
            </a:r>
            <a:endParaRPr kumimoji="1" lang="zh-CN" altLang="en-US" sz="2400" b="1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利用两个栈</a:t>
            </a:r>
            <a:r>
              <a:rPr lang="en-US" altLang="zh-CN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sl</a:t>
            </a:r>
            <a:r>
              <a:rPr lang="zh-CN" altLang="en-US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、</a:t>
            </a:r>
            <a:r>
              <a:rPr lang="en-US" altLang="zh-CN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s2</a:t>
            </a:r>
            <a:r>
              <a:rPr lang="zh-CN" altLang="en-US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（等容量）模拟一个队列 </a:t>
            </a:r>
            <a:r>
              <a:rPr lang="en-US" altLang="zh-CN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,</a:t>
            </a:r>
            <a:r>
              <a:rPr lang="zh-CN" altLang="en-US" sz="20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实现队列的插入，删除以及判队空运算</a:t>
            </a:r>
            <a:r>
              <a:rPr lang="zh-CN" altLang="en-US" sz="2000" smtClean="0">
                <a:ea typeface="华文楷体" panose="0201060004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smtClean="0">
                <a:ea typeface="华文楷体" panose="02010600040101010101" pitchFamily="2" charset="-122"/>
              </a:rPr>
              <a:t>栈的特点是后进先出，队列的特点是先进先出。初始时设栈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和栈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均为空。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smtClean="0">
                <a:ea typeface="华文楷体" panose="02010600040101010101" pitchFamily="2" charset="-122"/>
              </a:rPr>
              <a:t>（</a:t>
            </a:r>
            <a:r>
              <a:rPr lang="en-US" altLang="zh-CN" sz="2000" smtClean="0">
                <a:ea typeface="华文楷体" panose="02010600040101010101" pitchFamily="2" charset="-122"/>
              </a:rPr>
              <a:t>1</a:t>
            </a:r>
            <a:r>
              <a:rPr lang="zh-CN" altLang="en-US" sz="2000" smtClean="0">
                <a:ea typeface="华文楷体" panose="02010600040101010101" pitchFamily="2" charset="-122"/>
              </a:rPr>
              <a:t>）用栈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和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模拟队列的输入：设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和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容量相等。分以下三种情况讨论：若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未满，则元素入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栈；若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满，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空，则将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全部元素退栈，再压栈入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，之后元素入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栈；若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满，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不空（已有出队列元素），则不能入队。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smtClean="0">
                <a:ea typeface="华文楷体" panose="02010600040101010101" pitchFamily="2" charset="-122"/>
              </a:rPr>
              <a:t>（</a:t>
            </a:r>
            <a:r>
              <a:rPr lang="en-US" altLang="zh-CN" sz="2000" smtClean="0">
                <a:ea typeface="华文楷体" panose="02010600040101010101" pitchFamily="2" charset="-122"/>
              </a:rPr>
              <a:t>2</a:t>
            </a:r>
            <a:r>
              <a:rPr lang="zh-CN" altLang="en-US" sz="2000" smtClean="0">
                <a:ea typeface="华文楷体" panose="02010600040101010101" pitchFamily="2" charset="-122"/>
              </a:rPr>
              <a:t>）用栈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和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模拟队列出队（删除）：若栈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不空，退栈，即是队列的出队；若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为空且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不空，则将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栈中全部元素退栈，并依次压入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中，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栈顶元素退栈，这就是相当于队列的出队。若栈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为空并且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也为空，队列空，不能出队。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smtClean="0">
                <a:ea typeface="华文楷体" panose="02010600040101010101" pitchFamily="2" charset="-122"/>
              </a:rPr>
              <a:t>（</a:t>
            </a:r>
            <a:r>
              <a:rPr lang="en-US" altLang="zh-CN" sz="2000" smtClean="0">
                <a:ea typeface="华文楷体" panose="02010600040101010101" pitchFamily="2" charset="-122"/>
              </a:rPr>
              <a:t>3</a:t>
            </a:r>
            <a:r>
              <a:rPr lang="zh-CN" altLang="en-US" sz="2000" smtClean="0">
                <a:ea typeface="华文楷体" panose="02010600040101010101" pitchFamily="2" charset="-122"/>
              </a:rPr>
              <a:t>）判队空 若栈</a:t>
            </a:r>
            <a:r>
              <a:rPr lang="en-US" altLang="zh-CN" sz="2000" smtClean="0"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ea typeface="华文楷体" panose="02010600040101010101" pitchFamily="2" charset="-122"/>
              </a:rPr>
              <a:t>为空并且</a:t>
            </a:r>
            <a:r>
              <a:rPr lang="en-US" altLang="zh-CN" sz="2000" smtClean="0"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ea typeface="华文楷体" panose="02010600040101010101" pitchFamily="2" charset="-122"/>
              </a:rPr>
              <a:t>也为空，才是队列空。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讨论：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和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容量之和是队列的最大容量。其操作是，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栈满后，全部退栈并压栈入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（设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和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容量相等）。再入栈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直至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满。这相当队列元素“入队”完毕。出队时，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退栈完毕后，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栈中元素依次退栈到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退栈完毕，相当于队列中全部元素出队。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 在栈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不空情况下，若要求入队操作，只要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不满，就可压入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中。若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s1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满和</a:t>
            </a:r>
            <a:r>
              <a:rPr lang="en-US" altLang="zh-CN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s2</a:t>
            </a:r>
            <a:r>
              <a:rPr lang="zh-CN" altLang="en-US" sz="2000" smtClean="0">
                <a:solidFill>
                  <a:srgbClr val="FF0000"/>
                </a:solidFill>
                <a:ea typeface="华文楷体" panose="02010600040101010101" pitchFamily="2" charset="-122"/>
              </a:rPr>
              <a:t>不空状态下要求队列的入队时，按出错处理</a:t>
            </a:r>
            <a:r>
              <a:rPr lang="zh-CN" altLang="en-US" sz="2000" smtClean="0">
                <a:solidFill>
                  <a:schemeClr val="accent1"/>
                </a:solidFill>
                <a:ea typeface="华文楷体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smtClean="0">
                <a:ea typeface="华文楷体" panose="02010600040101010101" pitchFamily="2" charset="-122"/>
              </a:rPr>
              <a:t>3.6 </a:t>
            </a:r>
            <a:r>
              <a:rPr lang="zh-CN" altLang="en-US" sz="2800" smtClean="0">
                <a:ea typeface="华文楷体" panose="02010600040101010101" pitchFamily="2" charset="-122"/>
              </a:rPr>
              <a:t>链队列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smtClean="0">
                <a:ea typeface="华文楷体" panose="02010600040101010101" pitchFamily="2" charset="-122"/>
              </a:rPr>
              <a:t>用单链表表示的队列</a:t>
            </a:r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609600" y="1628775"/>
            <a:ext cx="524827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ea typeface="华文楷体" panose="02010600040101010101" pitchFamily="2" charset="-122"/>
              </a:rPr>
              <a:t>类型定义：队头指针 </a:t>
            </a:r>
            <a:r>
              <a:rPr kumimoji="1" lang="en-US" altLang="zh-CN" sz="2800">
                <a:solidFill>
                  <a:schemeClr val="accent2"/>
                </a:solidFill>
                <a:ea typeface="华文楷体" panose="02010600040101010101" pitchFamily="2" charset="-122"/>
              </a:rPr>
              <a:t>+ </a:t>
            </a:r>
            <a:r>
              <a:rPr kumimoji="1" lang="zh-CN" altLang="en-US" sz="2800">
                <a:solidFill>
                  <a:schemeClr val="accent2"/>
                </a:solidFill>
                <a:ea typeface="华文楷体" panose="02010600040101010101" pitchFamily="2" charset="-122"/>
              </a:rPr>
              <a:t>队尾指针</a:t>
            </a:r>
          </a:p>
        </p:txBody>
      </p:sp>
      <p:sp>
        <p:nvSpPr>
          <p:cNvPr id="41991" name="Rectangle 5"/>
          <p:cNvSpPr>
            <a:spLocks noChangeArrowheads="1"/>
          </p:cNvSpPr>
          <p:nvPr/>
        </p:nvSpPr>
        <p:spPr bwMode="auto">
          <a:xfrm>
            <a:off x="2971800" y="25146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1992" name="Rectangle 6"/>
          <p:cNvSpPr>
            <a:spLocks noChangeArrowheads="1"/>
          </p:cNvSpPr>
          <p:nvPr/>
        </p:nvSpPr>
        <p:spPr bwMode="auto">
          <a:xfrm>
            <a:off x="2971800" y="32004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1993" name="Rectangle 7"/>
          <p:cNvSpPr>
            <a:spLocks noChangeArrowheads="1"/>
          </p:cNvSpPr>
          <p:nvPr/>
        </p:nvSpPr>
        <p:spPr bwMode="auto">
          <a:xfrm>
            <a:off x="2971800" y="38862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1994" name="Rectangle 8"/>
          <p:cNvSpPr>
            <a:spLocks noChangeArrowheads="1"/>
          </p:cNvSpPr>
          <p:nvPr/>
        </p:nvSpPr>
        <p:spPr bwMode="auto">
          <a:xfrm>
            <a:off x="2971800" y="57150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1995" name="Line 9"/>
          <p:cNvSpPr>
            <a:spLocks noChangeShapeType="1"/>
          </p:cNvSpPr>
          <p:nvPr/>
        </p:nvSpPr>
        <p:spPr bwMode="auto">
          <a:xfrm>
            <a:off x="38100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6" name="Line 10"/>
          <p:cNvSpPr>
            <a:spLocks noChangeShapeType="1"/>
          </p:cNvSpPr>
          <p:nvPr/>
        </p:nvSpPr>
        <p:spPr bwMode="auto">
          <a:xfrm>
            <a:off x="38100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7" name="Line 11"/>
          <p:cNvSpPr>
            <a:spLocks noChangeShapeType="1"/>
          </p:cNvSpPr>
          <p:nvPr/>
        </p:nvSpPr>
        <p:spPr bwMode="auto">
          <a:xfrm>
            <a:off x="3810000" y="3886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8" name="Line 12"/>
          <p:cNvSpPr>
            <a:spLocks noChangeShapeType="1"/>
          </p:cNvSpPr>
          <p:nvPr/>
        </p:nvSpPr>
        <p:spPr bwMode="auto">
          <a:xfrm>
            <a:off x="3810000" y="571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9" name="Text Box 13"/>
          <p:cNvSpPr txBox="1">
            <a:spLocks noChangeArrowheads="1"/>
          </p:cNvSpPr>
          <p:nvPr/>
        </p:nvSpPr>
        <p:spPr bwMode="auto">
          <a:xfrm>
            <a:off x="3048000" y="20574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data   next</a:t>
            </a:r>
          </a:p>
        </p:txBody>
      </p:sp>
      <p:sp>
        <p:nvSpPr>
          <p:cNvPr id="42000" name="Line 14"/>
          <p:cNvSpPr>
            <a:spLocks noChangeShapeType="1"/>
          </p:cNvSpPr>
          <p:nvPr/>
        </p:nvSpPr>
        <p:spPr bwMode="auto">
          <a:xfrm>
            <a:off x="4114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1" name="Line 15"/>
          <p:cNvSpPr>
            <a:spLocks noChangeShapeType="1"/>
          </p:cNvSpPr>
          <p:nvPr/>
        </p:nvSpPr>
        <p:spPr bwMode="auto">
          <a:xfrm>
            <a:off x="4114800" y="3429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2" name="Line 16"/>
          <p:cNvSpPr>
            <a:spLocks noChangeShapeType="1"/>
          </p:cNvSpPr>
          <p:nvPr/>
        </p:nvSpPr>
        <p:spPr bwMode="auto">
          <a:xfrm>
            <a:off x="4114800" y="4114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3" name="Line 17"/>
          <p:cNvSpPr>
            <a:spLocks noChangeShapeType="1"/>
          </p:cNvSpPr>
          <p:nvPr/>
        </p:nvSpPr>
        <p:spPr bwMode="auto">
          <a:xfrm>
            <a:off x="4114800" y="46482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4" name="Line 18"/>
          <p:cNvSpPr>
            <a:spLocks noChangeShapeType="1"/>
          </p:cNvSpPr>
          <p:nvPr/>
        </p:nvSpPr>
        <p:spPr bwMode="auto">
          <a:xfrm>
            <a:off x="4114800" y="525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5" name="Text Box 19"/>
          <p:cNvSpPr txBox="1">
            <a:spLocks noChangeArrowheads="1"/>
          </p:cNvSpPr>
          <p:nvPr/>
        </p:nvSpPr>
        <p:spPr bwMode="auto">
          <a:xfrm>
            <a:off x="3962400" y="5867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^</a:t>
            </a:r>
          </a:p>
        </p:txBody>
      </p:sp>
      <p:sp>
        <p:nvSpPr>
          <p:cNvPr id="42006" name="Line 20"/>
          <p:cNvSpPr>
            <a:spLocks noChangeShapeType="1"/>
          </p:cNvSpPr>
          <p:nvPr/>
        </p:nvSpPr>
        <p:spPr bwMode="auto">
          <a:xfrm flipV="1">
            <a:off x="2438400" y="2743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7" name="Text Box 21"/>
          <p:cNvSpPr txBox="1">
            <a:spLocks noChangeArrowheads="1"/>
          </p:cNvSpPr>
          <p:nvPr/>
        </p:nvSpPr>
        <p:spPr bwMode="auto">
          <a:xfrm>
            <a:off x="1752600" y="25146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front</a:t>
            </a:r>
          </a:p>
        </p:txBody>
      </p:sp>
      <p:sp>
        <p:nvSpPr>
          <p:cNvPr id="42008" name="Line 22"/>
          <p:cNvSpPr>
            <a:spLocks noChangeShapeType="1"/>
          </p:cNvSpPr>
          <p:nvPr/>
        </p:nvSpPr>
        <p:spPr bwMode="auto">
          <a:xfrm>
            <a:off x="2514600" y="5943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9" name="Line 23"/>
          <p:cNvSpPr>
            <a:spLocks noChangeShapeType="1"/>
          </p:cNvSpPr>
          <p:nvPr/>
        </p:nvSpPr>
        <p:spPr bwMode="auto">
          <a:xfrm>
            <a:off x="2514600" y="5943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0" name="Text Box 24"/>
          <p:cNvSpPr txBox="1">
            <a:spLocks noChangeArrowheads="1"/>
          </p:cNvSpPr>
          <p:nvPr/>
        </p:nvSpPr>
        <p:spPr bwMode="auto">
          <a:xfrm>
            <a:off x="2209800" y="6096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rear</a:t>
            </a:r>
          </a:p>
        </p:txBody>
      </p:sp>
      <p:sp>
        <p:nvSpPr>
          <p:cNvPr id="42011" name="Text Box 25"/>
          <p:cNvSpPr txBox="1">
            <a:spLocks noChangeArrowheads="1"/>
          </p:cNvSpPr>
          <p:nvPr/>
        </p:nvSpPr>
        <p:spPr bwMode="auto">
          <a:xfrm>
            <a:off x="4495800" y="2514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>
                <a:solidFill>
                  <a:schemeClr val="accent2"/>
                </a:solidFill>
                <a:ea typeface="楷体_GB2312" pitchFamily="49" charset="-122"/>
              </a:rPr>
              <a:t>队头</a:t>
            </a:r>
            <a:endParaRPr kumimoji="1" lang="zh-CN" altLang="en-US" sz="2400">
              <a:ea typeface="华文楷体" panose="02010600040101010101" pitchFamily="2" charset="-122"/>
            </a:endParaRPr>
          </a:p>
        </p:txBody>
      </p:sp>
      <p:sp>
        <p:nvSpPr>
          <p:cNvPr id="42012" name="Text Box 26"/>
          <p:cNvSpPr txBox="1">
            <a:spLocks noChangeArrowheads="1"/>
          </p:cNvSpPr>
          <p:nvPr/>
        </p:nvSpPr>
        <p:spPr bwMode="auto">
          <a:xfrm>
            <a:off x="4495800" y="57150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>
                <a:solidFill>
                  <a:schemeClr val="accent2"/>
                </a:solidFill>
                <a:ea typeface="楷体_GB2312" pitchFamily="49" charset="-122"/>
              </a:rPr>
              <a:t>队尾</a:t>
            </a:r>
            <a:endParaRPr kumimoji="1" lang="zh-CN" altLang="en-US" sz="2400">
              <a:ea typeface="华文楷体" panose="02010600040101010101" pitchFamily="2" charset="-122"/>
            </a:endParaRPr>
          </a:p>
        </p:txBody>
      </p:sp>
      <p:sp>
        <p:nvSpPr>
          <p:cNvPr id="42013" name="Rectangle 27" descr="浅色上对角线"/>
          <p:cNvSpPr>
            <a:spLocks noChangeArrowheads="1"/>
          </p:cNvSpPr>
          <p:nvPr/>
        </p:nvSpPr>
        <p:spPr bwMode="auto">
          <a:xfrm>
            <a:off x="2971800" y="2514600"/>
            <a:ext cx="838200" cy="4572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2" name="Rectangle 28"/>
          <p:cNvSpPr>
            <a:spLocks noChangeArrowheads="1"/>
          </p:cNvSpPr>
          <p:nvPr/>
        </p:nvSpPr>
        <p:spPr bwMode="auto">
          <a:xfrm>
            <a:off x="5257800" y="2438400"/>
            <a:ext cx="3657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Clr>
                <a:schemeClr val="accent1"/>
              </a:buClr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2400" b="1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队头在链头，队尾在链尾。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2400" b="1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链式队列在进队时无队满问题，但有队空问题。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2400" b="1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队空条件为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2400" b="1" i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front -&gt;next== NULL</a:t>
            </a:r>
            <a:endParaRPr lang="en-US" altLang="zh-CN" sz="2400" b="1" dirty="0" smtClean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smtClean="0">
                <a:ea typeface="华文楷体" panose="02010600040101010101" pitchFamily="2" charset="-122"/>
              </a:rPr>
              <a:t>用单循环链表定义的队列</a:t>
            </a:r>
          </a:p>
        </p:txBody>
      </p:sp>
      <p:sp>
        <p:nvSpPr>
          <p:cNvPr id="43014" name="Rectangle 4"/>
          <p:cNvSpPr>
            <a:spLocks noChangeArrowheads="1"/>
          </p:cNvSpPr>
          <p:nvPr/>
        </p:nvSpPr>
        <p:spPr bwMode="auto">
          <a:xfrm>
            <a:off x="609600" y="1746250"/>
            <a:ext cx="341312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ea typeface="华文楷体" panose="02010600040101010101" pitchFamily="2" charset="-122"/>
              </a:rPr>
              <a:t>类型定义：队尾指针</a:t>
            </a:r>
          </a:p>
        </p:txBody>
      </p:sp>
      <p:sp>
        <p:nvSpPr>
          <p:cNvPr id="43015" name="Rectangle 5"/>
          <p:cNvSpPr>
            <a:spLocks noChangeArrowheads="1"/>
          </p:cNvSpPr>
          <p:nvPr/>
        </p:nvSpPr>
        <p:spPr bwMode="auto">
          <a:xfrm>
            <a:off x="2971800" y="25908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3016" name="Rectangle 6"/>
          <p:cNvSpPr>
            <a:spLocks noChangeArrowheads="1"/>
          </p:cNvSpPr>
          <p:nvPr/>
        </p:nvSpPr>
        <p:spPr bwMode="auto">
          <a:xfrm>
            <a:off x="2971800" y="32766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3017" name="Rectangle 7"/>
          <p:cNvSpPr>
            <a:spLocks noChangeArrowheads="1"/>
          </p:cNvSpPr>
          <p:nvPr/>
        </p:nvSpPr>
        <p:spPr bwMode="auto">
          <a:xfrm>
            <a:off x="2971800" y="39624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3018" name="Rectangle 8"/>
          <p:cNvSpPr>
            <a:spLocks noChangeArrowheads="1"/>
          </p:cNvSpPr>
          <p:nvPr/>
        </p:nvSpPr>
        <p:spPr bwMode="auto">
          <a:xfrm>
            <a:off x="2971800" y="57912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3019" name="Line 9"/>
          <p:cNvSpPr>
            <a:spLocks noChangeShapeType="1"/>
          </p:cNvSpPr>
          <p:nvPr/>
        </p:nvSpPr>
        <p:spPr bwMode="auto">
          <a:xfrm>
            <a:off x="3810000" y="2590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0" name="Line 10"/>
          <p:cNvSpPr>
            <a:spLocks noChangeShapeType="1"/>
          </p:cNvSpPr>
          <p:nvPr/>
        </p:nvSpPr>
        <p:spPr bwMode="auto">
          <a:xfrm>
            <a:off x="38100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1" name="Line 11"/>
          <p:cNvSpPr>
            <a:spLocks noChangeShapeType="1"/>
          </p:cNvSpPr>
          <p:nvPr/>
        </p:nvSpPr>
        <p:spPr bwMode="auto">
          <a:xfrm>
            <a:off x="3810000" y="3962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2" name="Line 12"/>
          <p:cNvSpPr>
            <a:spLocks noChangeShapeType="1"/>
          </p:cNvSpPr>
          <p:nvPr/>
        </p:nvSpPr>
        <p:spPr bwMode="auto">
          <a:xfrm>
            <a:off x="3810000" y="579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3" name="Text Box 13"/>
          <p:cNvSpPr txBox="1">
            <a:spLocks noChangeArrowheads="1"/>
          </p:cNvSpPr>
          <p:nvPr/>
        </p:nvSpPr>
        <p:spPr bwMode="auto">
          <a:xfrm>
            <a:off x="3048000" y="2133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data   next</a:t>
            </a:r>
          </a:p>
        </p:txBody>
      </p:sp>
      <p:sp>
        <p:nvSpPr>
          <p:cNvPr id="43024" name="Line 14"/>
          <p:cNvSpPr>
            <a:spLocks noChangeShapeType="1"/>
          </p:cNvSpPr>
          <p:nvPr/>
        </p:nvSpPr>
        <p:spPr bwMode="auto">
          <a:xfrm>
            <a:off x="41148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5" name="Line 15"/>
          <p:cNvSpPr>
            <a:spLocks noChangeShapeType="1"/>
          </p:cNvSpPr>
          <p:nvPr/>
        </p:nvSpPr>
        <p:spPr bwMode="auto">
          <a:xfrm>
            <a:off x="4114800" y="3505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6" name="Line 16"/>
          <p:cNvSpPr>
            <a:spLocks noChangeShapeType="1"/>
          </p:cNvSpPr>
          <p:nvPr/>
        </p:nvSpPr>
        <p:spPr bwMode="auto">
          <a:xfrm>
            <a:off x="41148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7" name="Line 17"/>
          <p:cNvSpPr>
            <a:spLocks noChangeShapeType="1"/>
          </p:cNvSpPr>
          <p:nvPr/>
        </p:nvSpPr>
        <p:spPr bwMode="auto">
          <a:xfrm>
            <a:off x="4114800" y="47244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8" name="Line 18"/>
          <p:cNvSpPr>
            <a:spLocks noChangeShapeType="1"/>
          </p:cNvSpPr>
          <p:nvPr/>
        </p:nvSpPr>
        <p:spPr bwMode="auto">
          <a:xfrm>
            <a:off x="4114800" y="533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9" name="Line 19"/>
          <p:cNvSpPr>
            <a:spLocks noChangeShapeType="1"/>
          </p:cNvSpPr>
          <p:nvPr/>
        </p:nvSpPr>
        <p:spPr bwMode="auto">
          <a:xfrm>
            <a:off x="2514600" y="6019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0" name="Line 20"/>
          <p:cNvSpPr>
            <a:spLocks noChangeShapeType="1"/>
          </p:cNvSpPr>
          <p:nvPr/>
        </p:nvSpPr>
        <p:spPr bwMode="auto">
          <a:xfrm>
            <a:off x="2514600" y="6019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1" name="Text Box 21"/>
          <p:cNvSpPr txBox="1">
            <a:spLocks noChangeArrowheads="1"/>
          </p:cNvSpPr>
          <p:nvPr/>
        </p:nvSpPr>
        <p:spPr bwMode="auto">
          <a:xfrm>
            <a:off x="2209800" y="617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rear</a:t>
            </a:r>
          </a:p>
        </p:txBody>
      </p:sp>
      <p:sp>
        <p:nvSpPr>
          <p:cNvPr id="43032" name="Text Box 22"/>
          <p:cNvSpPr txBox="1">
            <a:spLocks noChangeArrowheads="1"/>
          </p:cNvSpPr>
          <p:nvPr/>
        </p:nvSpPr>
        <p:spPr bwMode="auto">
          <a:xfrm>
            <a:off x="4495800" y="5791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>
                <a:solidFill>
                  <a:schemeClr val="accent2"/>
                </a:solidFill>
                <a:ea typeface="楷体_GB2312" pitchFamily="49" charset="-122"/>
              </a:rPr>
              <a:t>队尾</a:t>
            </a:r>
            <a:endParaRPr kumimoji="1" lang="zh-CN" altLang="en-US" sz="2400">
              <a:ea typeface="华文楷体" panose="02010600040101010101" pitchFamily="2" charset="-122"/>
            </a:endParaRPr>
          </a:p>
        </p:txBody>
      </p:sp>
      <p:sp>
        <p:nvSpPr>
          <p:cNvPr id="43033" name="Rectangle 23" descr="浅色上对角线"/>
          <p:cNvSpPr>
            <a:spLocks noChangeArrowheads="1"/>
          </p:cNvSpPr>
          <p:nvPr/>
        </p:nvSpPr>
        <p:spPr bwMode="auto">
          <a:xfrm>
            <a:off x="2971800" y="2590800"/>
            <a:ext cx="838200" cy="4572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3034" name="Line 24"/>
          <p:cNvSpPr>
            <a:spLocks noChangeShapeType="1"/>
          </p:cNvSpPr>
          <p:nvPr/>
        </p:nvSpPr>
        <p:spPr bwMode="auto">
          <a:xfrm>
            <a:off x="4114800" y="601980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3035" name="Line 25"/>
          <p:cNvSpPr>
            <a:spLocks noChangeShapeType="1"/>
          </p:cNvSpPr>
          <p:nvPr/>
        </p:nvSpPr>
        <p:spPr bwMode="auto">
          <a:xfrm flipV="1">
            <a:off x="4800600" y="2819400"/>
            <a:ext cx="0" cy="3200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3036" name="Line 26"/>
          <p:cNvSpPr>
            <a:spLocks noChangeShapeType="1"/>
          </p:cNvSpPr>
          <p:nvPr/>
        </p:nvSpPr>
        <p:spPr bwMode="auto">
          <a:xfrm flipH="1">
            <a:off x="4495800" y="2819400"/>
            <a:ext cx="3048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smtClean="0">
                <a:ea typeface="华文楷体" panose="02010600040101010101" pitchFamily="2" charset="-122"/>
              </a:rPr>
              <a:t>3.7 </a:t>
            </a:r>
            <a:r>
              <a:rPr lang="zh-CN" altLang="en-US" sz="2800" smtClean="0">
                <a:ea typeface="华文楷体" panose="02010600040101010101" pitchFamily="2" charset="-122"/>
              </a:rPr>
              <a:t>循环队列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rgbClr val="993300"/>
                </a:solidFill>
                <a:ea typeface="华文楷体" panose="02010600040101010101" pitchFamily="2" charset="-122"/>
              </a:rPr>
              <a:t>一般用法的顺序存储结构之缺陷</a:t>
            </a:r>
            <a:endParaRPr lang="zh-CN" altLang="en-US" sz="2800" smtClean="0">
              <a:solidFill>
                <a:srgbClr val="9933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smtClean="0">
                <a:ea typeface="华文楷体" panose="02010600040101010101" pitchFamily="2" charset="-122"/>
              </a:rPr>
              <a:t>    </a:t>
            </a:r>
            <a:r>
              <a:rPr lang="zh-CN" altLang="en-US" sz="2400" smtClean="0">
                <a:ea typeface="华文楷体" panose="02010600040101010101" pitchFamily="2" charset="-122"/>
              </a:rPr>
              <a:t>出队列操作后大量移动数据或存在“假上溢”现象：即存在空闲空间但无法入队。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rgbClr val="993300"/>
                </a:solidFill>
                <a:ea typeface="华文楷体" panose="02010600040101010101" pitchFamily="2" charset="-122"/>
              </a:rPr>
              <a:t>解决方法</a:t>
            </a:r>
          </a:p>
          <a:p>
            <a:pPr eaLnBrk="1" hangingPunct="1"/>
            <a:r>
              <a:rPr lang="zh-CN" altLang="en-US" sz="2000" smtClean="0">
                <a:ea typeface="华文楷体" panose="02010600040101010101" pitchFamily="2" charset="-122"/>
              </a:rPr>
              <a:t>平移元素法，当发生假溢出时，就把整个队列的元素平移到存储区的首部，然后再插入新元素。这种方法需移动大量的元素，因而效率是很低的。</a:t>
            </a:r>
          </a:p>
          <a:p>
            <a:pPr eaLnBrk="1" hangingPunct="1"/>
            <a:r>
              <a:rPr lang="zh-CN" altLang="en-US" sz="2000" smtClean="0">
                <a:ea typeface="华文楷体" panose="02010600040101010101" pitchFamily="2" charset="-122"/>
              </a:rPr>
              <a:t>循环队列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b="1" smtClean="0">
              <a:solidFill>
                <a:srgbClr val="993300"/>
              </a:solidFill>
              <a:ea typeface="华文楷体" panose="02010600040101010101" pitchFamily="2" charset="-122"/>
            </a:endParaRPr>
          </a:p>
        </p:txBody>
      </p:sp>
      <p:sp>
        <p:nvSpPr>
          <p:cNvPr id="44038" name="Line 5"/>
          <p:cNvSpPr>
            <a:spLocks noChangeShapeType="1"/>
          </p:cNvSpPr>
          <p:nvPr/>
        </p:nvSpPr>
        <p:spPr bwMode="auto">
          <a:xfrm>
            <a:off x="1295400" y="4495800"/>
            <a:ext cx="0" cy="838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39" name="Line 6"/>
          <p:cNvSpPr>
            <a:spLocks noChangeShapeType="1"/>
          </p:cNvSpPr>
          <p:nvPr/>
        </p:nvSpPr>
        <p:spPr bwMode="auto">
          <a:xfrm>
            <a:off x="1905000" y="4495800"/>
            <a:ext cx="0" cy="838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40" name="Line 7"/>
          <p:cNvSpPr>
            <a:spLocks noChangeShapeType="1"/>
          </p:cNvSpPr>
          <p:nvPr/>
        </p:nvSpPr>
        <p:spPr bwMode="auto">
          <a:xfrm>
            <a:off x="3886200" y="4495800"/>
            <a:ext cx="0" cy="838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4572000" y="4495800"/>
            <a:ext cx="0" cy="838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42" name="Line 9"/>
          <p:cNvSpPr>
            <a:spLocks noChangeShapeType="1"/>
          </p:cNvSpPr>
          <p:nvPr/>
        </p:nvSpPr>
        <p:spPr bwMode="auto">
          <a:xfrm>
            <a:off x="5257800" y="4495800"/>
            <a:ext cx="0" cy="838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43" name="Line 10"/>
          <p:cNvSpPr>
            <a:spLocks noChangeShapeType="1"/>
          </p:cNvSpPr>
          <p:nvPr/>
        </p:nvSpPr>
        <p:spPr bwMode="auto">
          <a:xfrm>
            <a:off x="5943600" y="4495800"/>
            <a:ext cx="0" cy="838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44" name="Line 11"/>
          <p:cNvSpPr>
            <a:spLocks noChangeShapeType="1"/>
          </p:cNvSpPr>
          <p:nvPr/>
        </p:nvSpPr>
        <p:spPr bwMode="auto">
          <a:xfrm>
            <a:off x="6629400" y="4495800"/>
            <a:ext cx="0" cy="838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>
            <a:off x="7239000" y="4495800"/>
            <a:ext cx="0" cy="838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46" name="Text Box 13"/>
          <p:cNvSpPr txBox="1">
            <a:spLocks noChangeArrowheads="1"/>
          </p:cNvSpPr>
          <p:nvPr/>
        </p:nvSpPr>
        <p:spPr bwMode="auto">
          <a:xfrm>
            <a:off x="4648200" y="4724400"/>
            <a:ext cx="609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a</a:t>
            </a:r>
            <a:r>
              <a:rPr lang="en-US" altLang="zh-CN" sz="2400" baseline="-25000">
                <a:ea typeface="华文楷体" panose="02010600040101010101" pitchFamily="2" charset="-122"/>
              </a:rPr>
              <a:t>0</a:t>
            </a:r>
          </a:p>
        </p:txBody>
      </p:sp>
      <p:sp>
        <p:nvSpPr>
          <p:cNvPr id="44047" name="Text Box 14"/>
          <p:cNvSpPr txBox="1">
            <a:spLocks noChangeArrowheads="1"/>
          </p:cNvSpPr>
          <p:nvPr/>
        </p:nvSpPr>
        <p:spPr bwMode="auto">
          <a:xfrm>
            <a:off x="5334000" y="4724400"/>
            <a:ext cx="609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a</a:t>
            </a:r>
            <a:r>
              <a:rPr lang="en-US" altLang="zh-CN" sz="2400" baseline="-25000"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44048" name="Text Box 15"/>
          <p:cNvSpPr txBox="1">
            <a:spLocks noChangeArrowheads="1"/>
          </p:cNvSpPr>
          <p:nvPr/>
        </p:nvSpPr>
        <p:spPr bwMode="auto">
          <a:xfrm>
            <a:off x="6019800" y="4724400"/>
            <a:ext cx="609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a</a:t>
            </a:r>
            <a:r>
              <a:rPr lang="en-US" altLang="zh-CN" sz="2400" baseline="-25000"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44049" name="Text Box 16"/>
          <p:cNvSpPr txBox="1">
            <a:spLocks noChangeArrowheads="1"/>
          </p:cNvSpPr>
          <p:nvPr/>
        </p:nvSpPr>
        <p:spPr bwMode="auto">
          <a:xfrm>
            <a:off x="6629400" y="4724400"/>
            <a:ext cx="609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a</a:t>
            </a:r>
            <a:r>
              <a:rPr lang="en-US" altLang="zh-CN" sz="2400" baseline="-25000"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44050" name="Text Box 17"/>
          <p:cNvSpPr txBox="1">
            <a:spLocks noChangeArrowheads="1"/>
          </p:cNvSpPr>
          <p:nvPr/>
        </p:nvSpPr>
        <p:spPr bwMode="auto">
          <a:xfrm>
            <a:off x="7315200" y="4724400"/>
            <a:ext cx="609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a</a:t>
            </a:r>
            <a:r>
              <a:rPr lang="en-US" altLang="zh-CN" sz="2400" baseline="-25000"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44051" name="Line 18"/>
          <p:cNvSpPr>
            <a:spLocks noChangeShapeType="1"/>
          </p:cNvSpPr>
          <p:nvPr/>
        </p:nvSpPr>
        <p:spPr bwMode="auto">
          <a:xfrm flipV="1">
            <a:off x="7543800" y="5410200"/>
            <a:ext cx="0" cy="609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52" name="Line 19"/>
          <p:cNvSpPr>
            <a:spLocks noChangeShapeType="1"/>
          </p:cNvSpPr>
          <p:nvPr/>
        </p:nvSpPr>
        <p:spPr bwMode="auto">
          <a:xfrm flipV="1">
            <a:off x="4191000" y="5410200"/>
            <a:ext cx="0" cy="609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053" name="Text Box 20"/>
          <p:cNvSpPr txBox="1">
            <a:spLocks noChangeArrowheads="1"/>
          </p:cNvSpPr>
          <p:nvPr/>
        </p:nvSpPr>
        <p:spPr bwMode="auto">
          <a:xfrm>
            <a:off x="3810000" y="6019800"/>
            <a:ext cx="8382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b="1">
                <a:ea typeface="华文楷体" panose="02010600040101010101" pitchFamily="2" charset="-122"/>
              </a:rPr>
              <a:t>front</a:t>
            </a:r>
          </a:p>
        </p:txBody>
      </p:sp>
      <p:sp>
        <p:nvSpPr>
          <p:cNvPr id="44054" name="Text Box 21"/>
          <p:cNvSpPr txBox="1">
            <a:spLocks noChangeArrowheads="1"/>
          </p:cNvSpPr>
          <p:nvPr/>
        </p:nvSpPr>
        <p:spPr bwMode="auto">
          <a:xfrm>
            <a:off x="7315200" y="5943600"/>
            <a:ext cx="8382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b="1">
                <a:ea typeface="华文楷体" panose="02010600040101010101" pitchFamily="2" charset="-122"/>
              </a:rPr>
              <a:t>rear</a:t>
            </a:r>
          </a:p>
        </p:txBody>
      </p:sp>
      <p:sp>
        <p:nvSpPr>
          <p:cNvPr id="2" name="Oval 22"/>
          <p:cNvSpPr>
            <a:spLocks noChangeArrowheads="1"/>
          </p:cNvSpPr>
          <p:nvPr/>
        </p:nvSpPr>
        <p:spPr bwMode="auto">
          <a:xfrm>
            <a:off x="533400" y="4613275"/>
            <a:ext cx="4038600" cy="652463"/>
          </a:xfrm>
          <a:prstGeom prst="ellipse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华文楷体" panose="02010600040101010101" pitchFamily="2" charset="-122"/>
              </a:rPr>
              <a:t>空闲空间</a:t>
            </a:r>
          </a:p>
        </p:txBody>
      </p:sp>
      <p:sp>
        <p:nvSpPr>
          <p:cNvPr id="44056" name="文本框 2"/>
          <p:cNvSpPr txBox="1">
            <a:spLocks noChangeArrowheads="1"/>
          </p:cNvSpPr>
          <p:nvPr/>
        </p:nvSpPr>
        <p:spPr bwMode="auto">
          <a:xfrm>
            <a:off x="639763" y="4486275"/>
            <a:ext cx="7094537" cy="852488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52525"/>
            <a:ext cx="8382000" cy="52482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8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循环队列</a:t>
            </a:r>
            <a:r>
              <a:rPr lang="en-US" altLang="zh-CN" sz="2800" b="1" dirty="0" smtClean="0">
                <a:solidFill>
                  <a:srgbClr val="993300"/>
                </a:solidFill>
                <a:ea typeface="华文楷体" panose="02010600040101010101" pitchFamily="2" charset="-122"/>
              </a:rPr>
              <a:t>]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将顺序队列的存储区假想为一个环状空间</a:t>
            </a:r>
            <a:endParaRPr lang="zh-CN" altLang="en-US" sz="2800" dirty="0" smtClean="0">
              <a:solidFill>
                <a:srgbClr val="9933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类型定义</a:t>
            </a: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一维数组</a:t>
            </a:r>
            <a:r>
              <a:rPr lang="en-US" altLang="zh-CN" sz="2400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队列空间</a:t>
            </a:r>
            <a:r>
              <a:rPr lang="en-US" altLang="zh-CN" sz="2400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 + </a:t>
            </a:r>
            <a:r>
              <a:rPr lang="zh-CN" altLang="en-US" sz="2400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头指针 </a:t>
            </a:r>
            <a:r>
              <a:rPr lang="en-US" altLang="zh-CN" sz="2400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+ </a:t>
            </a:r>
            <a:r>
              <a:rPr lang="zh-CN" altLang="en-US" sz="2400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尾指针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队头指针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front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指向队头元素的前一位置，而队尾指针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rear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指向队尾元素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</a:p>
        </p:txBody>
      </p:sp>
      <p:sp>
        <p:nvSpPr>
          <p:cNvPr id="45062" name="Oval 4"/>
          <p:cNvSpPr>
            <a:spLocks noChangeArrowheads="1"/>
          </p:cNvSpPr>
          <p:nvPr/>
        </p:nvSpPr>
        <p:spPr bwMode="auto">
          <a:xfrm>
            <a:off x="2057400" y="3962400"/>
            <a:ext cx="10668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5063" name="Oval 5"/>
          <p:cNvSpPr>
            <a:spLocks noChangeArrowheads="1"/>
          </p:cNvSpPr>
          <p:nvPr/>
        </p:nvSpPr>
        <p:spPr bwMode="auto">
          <a:xfrm>
            <a:off x="1524000" y="3429000"/>
            <a:ext cx="2133600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>
              <a:ea typeface="华文楷体" panose="02010600040101010101" pitchFamily="2" charset="-122"/>
            </a:endParaRPr>
          </a:p>
        </p:txBody>
      </p:sp>
      <p:sp>
        <p:nvSpPr>
          <p:cNvPr id="45064" name="Line 6"/>
          <p:cNvSpPr>
            <a:spLocks noChangeShapeType="1"/>
          </p:cNvSpPr>
          <p:nvPr/>
        </p:nvSpPr>
        <p:spPr bwMode="auto">
          <a:xfrm>
            <a:off x="2667000" y="3429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5" name="Line 7"/>
          <p:cNvSpPr>
            <a:spLocks noChangeShapeType="1"/>
          </p:cNvSpPr>
          <p:nvPr/>
        </p:nvSpPr>
        <p:spPr bwMode="auto">
          <a:xfrm flipV="1">
            <a:off x="2819400" y="35052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6" name="Line 8"/>
          <p:cNvSpPr>
            <a:spLocks noChangeShapeType="1"/>
          </p:cNvSpPr>
          <p:nvPr/>
        </p:nvSpPr>
        <p:spPr bwMode="auto">
          <a:xfrm flipH="1" flipV="1">
            <a:off x="2286000" y="35052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7" name="Line 9"/>
          <p:cNvSpPr>
            <a:spLocks noChangeShapeType="1"/>
          </p:cNvSpPr>
          <p:nvPr/>
        </p:nvSpPr>
        <p:spPr bwMode="auto">
          <a:xfrm flipH="1" flipV="1">
            <a:off x="1905000" y="3657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8" name="Text Box 10"/>
          <p:cNvSpPr txBox="1">
            <a:spLocks noChangeArrowheads="1"/>
          </p:cNvSpPr>
          <p:nvPr/>
        </p:nvSpPr>
        <p:spPr bwMode="auto">
          <a:xfrm>
            <a:off x="2743200" y="3048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0</a:t>
            </a:r>
          </a:p>
        </p:txBody>
      </p:sp>
      <p:sp>
        <p:nvSpPr>
          <p:cNvPr id="45069" name="Text Box 11"/>
          <p:cNvSpPr txBox="1">
            <a:spLocks noChangeArrowheads="1"/>
          </p:cNvSpPr>
          <p:nvPr/>
        </p:nvSpPr>
        <p:spPr bwMode="auto">
          <a:xfrm>
            <a:off x="3200400" y="3276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45070" name="Text Box 12"/>
          <p:cNvSpPr txBox="1">
            <a:spLocks noChangeArrowheads="1"/>
          </p:cNvSpPr>
          <p:nvPr/>
        </p:nvSpPr>
        <p:spPr bwMode="auto">
          <a:xfrm>
            <a:off x="2057400" y="29718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m-1</a:t>
            </a:r>
          </a:p>
        </p:txBody>
      </p:sp>
      <p:sp>
        <p:nvSpPr>
          <p:cNvPr id="45071" name="Text Box 13"/>
          <p:cNvSpPr txBox="1">
            <a:spLocks noChangeArrowheads="1"/>
          </p:cNvSpPr>
          <p:nvPr/>
        </p:nvSpPr>
        <p:spPr bwMode="auto">
          <a:xfrm>
            <a:off x="1447800" y="3124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华文楷体" panose="02010600040101010101" pitchFamily="2" charset="-122"/>
              </a:rPr>
              <a:t>m-2</a:t>
            </a:r>
          </a:p>
        </p:txBody>
      </p:sp>
      <p:sp>
        <p:nvSpPr>
          <p:cNvPr id="45072" name="Line 14"/>
          <p:cNvSpPr>
            <a:spLocks noChangeShapeType="1"/>
          </p:cNvSpPr>
          <p:nvPr/>
        </p:nvSpPr>
        <p:spPr bwMode="auto">
          <a:xfrm flipH="1" flipV="1">
            <a:off x="3733800" y="4419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3" name="Line 15"/>
          <p:cNvSpPr>
            <a:spLocks noChangeShapeType="1"/>
          </p:cNvSpPr>
          <p:nvPr/>
        </p:nvSpPr>
        <p:spPr bwMode="auto">
          <a:xfrm>
            <a:off x="1066800" y="4343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4" name="Text Box 16"/>
          <p:cNvSpPr txBox="1">
            <a:spLocks noChangeArrowheads="1"/>
          </p:cNvSpPr>
          <p:nvPr/>
        </p:nvSpPr>
        <p:spPr bwMode="auto">
          <a:xfrm>
            <a:off x="4038600" y="41910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chemeClr val="accent2"/>
                </a:solidFill>
                <a:ea typeface="华文楷体" panose="02010600040101010101" pitchFamily="2" charset="-122"/>
              </a:rPr>
              <a:t>front</a:t>
            </a:r>
          </a:p>
        </p:txBody>
      </p:sp>
      <p:sp>
        <p:nvSpPr>
          <p:cNvPr id="45075" name="Text Box 17"/>
          <p:cNvSpPr txBox="1">
            <a:spLocks noChangeArrowheads="1"/>
          </p:cNvSpPr>
          <p:nvPr/>
        </p:nvSpPr>
        <p:spPr bwMode="auto">
          <a:xfrm>
            <a:off x="152400" y="40386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chemeClr val="accent2"/>
                </a:solidFill>
                <a:ea typeface="华文楷体" panose="02010600040101010101" pitchFamily="2" charset="-122"/>
              </a:rPr>
              <a:t>rear</a:t>
            </a:r>
            <a:endParaRPr kumimoji="1" lang="en-US" altLang="zh-CN" sz="2400">
              <a:ea typeface="华文楷体" panose="02010600040101010101" pitchFamily="2" charset="-122"/>
            </a:endParaRPr>
          </a:p>
        </p:txBody>
      </p:sp>
      <p:sp>
        <p:nvSpPr>
          <p:cNvPr id="45076" name="AutoShape 18"/>
          <p:cNvSpPr>
            <a:spLocks noChangeArrowheads="1"/>
          </p:cNvSpPr>
          <p:nvPr/>
        </p:nvSpPr>
        <p:spPr bwMode="auto">
          <a:xfrm rot="10800000">
            <a:off x="1524000" y="3429000"/>
            <a:ext cx="2133600" cy="1981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94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416" y="11629"/>
                </a:moveTo>
                <a:cubicBezTo>
                  <a:pt x="5374" y="11355"/>
                  <a:pt x="5353" y="11077"/>
                  <a:pt x="5353" y="10800"/>
                </a:cubicBezTo>
                <a:cubicBezTo>
                  <a:pt x="5353" y="7791"/>
                  <a:pt x="7791" y="5353"/>
                  <a:pt x="10800" y="5353"/>
                </a:cubicBezTo>
                <a:cubicBezTo>
                  <a:pt x="13808" y="5353"/>
                  <a:pt x="16247" y="7791"/>
                  <a:pt x="16247" y="10800"/>
                </a:cubicBezTo>
                <a:cubicBezTo>
                  <a:pt x="16246" y="11077"/>
                  <a:pt x="16225" y="11355"/>
                  <a:pt x="16183" y="11629"/>
                </a:cubicBezTo>
                <a:lnTo>
                  <a:pt x="21473" y="12445"/>
                </a:lnTo>
                <a:cubicBezTo>
                  <a:pt x="21557" y="11901"/>
                  <a:pt x="21600" y="11350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350"/>
                  <a:pt x="42" y="11901"/>
                  <a:pt x="126" y="12445"/>
                </a:cubicBezTo>
                <a:lnTo>
                  <a:pt x="5416" y="1162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7" name="Line 19"/>
          <p:cNvSpPr>
            <a:spLocks noChangeShapeType="1"/>
          </p:cNvSpPr>
          <p:nvPr/>
        </p:nvSpPr>
        <p:spPr bwMode="auto">
          <a:xfrm flipV="1">
            <a:off x="2971800" y="37338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8" name="AutoShape 20"/>
          <p:cNvSpPr>
            <a:spLocks noChangeArrowheads="1"/>
          </p:cNvSpPr>
          <p:nvPr/>
        </p:nvSpPr>
        <p:spPr bwMode="auto">
          <a:xfrm flipH="1" flipV="1">
            <a:off x="1828800" y="5257800"/>
            <a:ext cx="1676400" cy="533400"/>
          </a:xfrm>
          <a:custGeom>
            <a:avLst/>
            <a:gdLst>
              <a:gd name="T0" fmla="*/ 2147483646 w 21600"/>
              <a:gd name="T1" fmla="*/ 376245 h 21600"/>
              <a:gd name="T2" fmla="*/ 2147483646 w 21600"/>
              <a:gd name="T3" fmla="*/ 2147483646 h 21600"/>
              <a:gd name="T4" fmla="*/ 2147483646 w 21600"/>
              <a:gd name="T5" fmla="*/ 2008125157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83" y="5400"/>
                  <a:pt x="5493" y="7716"/>
                  <a:pt x="5402" y="10631"/>
                </a:cubicBezTo>
                <a:lnTo>
                  <a:pt x="5" y="10462"/>
                </a:lnTo>
                <a:cubicBezTo>
                  <a:pt x="187" y="4632"/>
                  <a:pt x="4966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9" name="Line 21"/>
          <p:cNvSpPr>
            <a:spLocks noChangeShapeType="1"/>
          </p:cNvSpPr>
          <p:nvPr/>
        </p:nvSpPr>
        <p:spPr bwMode="auto">
          <a:xfrm flipH="1">
            <a:off x="4038600" y="4572000"/>
            <a:ext cx="152400" cy="22860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0" name="Line 22"/>
          <p:cNvSpPr>
            <a:spLocks noChangeShapeType="1"/>
          </p:cNvSpPr>
          <p:nvPr/>
        </p:nvSpPr>
        <p:spPr bwMode="auto">
          <a:xfrm flipV="1">
            <a:off x="990600" y="3886200"/>
            <a:ext cx="228600" cy="22860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1" name="Rectangle 23"/>
          <p:cNvSpPr>
            <a:spLocks noChangeArrowheads="1"/>
          </p:cNvSpPr>
          <p:nvPr/>
        </p:nvSpPr>
        <p:spPr bwMode="auto">
          <a:xfrm>
            <a:off x="-12700" y="6088063"/>
            <a:ext cx="849471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ea typeface="华文楷体" panose="02010600040101010101" pitchFamily="2" charset="-122"/>
              </a:rPr>
              <a:t>优点</a:t>
            </a:r>
            <a:r>
              <a:rPr lang="zh-CN" altLang="en-US" sz="2400">
                <a:ea typeface="华文楷体" panose="02010600040101010101" pitchFamily="2" charset="-122"/>
              </a:rPr>
              <a:t>：不需要移动元素，操作效率高，空间的利用率也很高。</a:t>
            </a:r>
          </a:p>
        </p:txBody>
      </p:sp>
      <p:sp>
        <p:nvSpPr>
          <p:cNvPr id="45082" name="Rectangle 24"/>
          <p:cNvSpPr>
            <a:spLocks noChangeArrowheads="1"/>
          </p:cNvSpPr>
          <p:nvPr/>
        </p:nvSpPr>
        <p:spPr bwMode="auto">
          <a:xfrm>
            <a:off x="4787900" y="2557463"/>
            <a:ext cx="4279900" cy="3419475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typedef struct QueueRecord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    elemtype *Array;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    int front; /*</a:t>
            </a:r>
            <a:r>
              <a:rPr lang="zh-CN" altLang="en-US" sz="2400">
                <a:ea typeface="华文楷体" panose="02010600040101010101" pitchFamily="2" charset="-122"/>
              </a:rPr>
              <a:t>队头指针*</a:t>
            </a:r>
            <a:r>
              <a:rPr lang="en-US" altLang="zh-CN" sz="2400">
                <a:ea typeface="华文楷体" panose="02010600040101010101" pitchFamily="2" charset="-122"/>
              </a:rPr>
              <a:t>/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    int rear; /*</a:t>
            </a:r>
            <a:r>
              <a:rPr lang="zh-CN" altLang="en-US" sz="2400">
                <a:ea typeface="华文楷体" panose="02010600040101010101" pitchFamily="2" charset="-122"/>
              </a:rPr>
              <a:t>队尾指针*</a:t>
            </a:r>
            <a:r>
              <a:rPr lang="en-US" altLang="zh-CN" sz="2400">
                <a:ea typeface="华文楷体" panose="02010600040101010101" pitchFamily="2" charset="-122"/>
              </a:rPr>
              <a:t>/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    </a:t>
            </a:r>
            <a:r>
              <a:rPr lang="en-US" altLang="zh-CN" sz="2400">
                <a:solidFill>
                  <a:srgbClr val="00B050"/>
                </a:solidFill>
                <a:ea typeface="华文楷体" panose="02010600040101010101" pitchFamily="2" charset="-122"/>
              </a:rPr>
              <a:t>int size;//</a:t>
            </a:r>
            <a:r>
              <a:rPr lang="zh-CN" altLang="en-US" sz="2400">
                <a:solidFill>
                  <a:srgbClr val="00B050"/>
                </a:solidFill>
                <a:ea typeface="华文楷体" panose="02010600040101010101" pitchFamily="2" charset="-122"/>
              </a:rPr>
              <a:t>当前队列元素个数</a:t>
            </a:r>
            <a:endParaRPr lang="en-US" altLang="zh-CN" sz="2400">
              <a:solidFill>
                <a:srgbClr val="00B050"/>
              </a:solidFill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    int Capacity;//</a:t>
            </a:r>
            <a:r>
              <a:rPr lang="zh-CN" altLang="en-US" sz="2400">
                <a:ea typeface="华文楷体" panose="02010600040101010101" pitchFamily="2" charset="-122"/>
              </a:rPr>
              <a:t>最多容纳个数</a:t>
            </a:r>
            <a:endParaRPr lang="en-US" altLang="zh-CN" sz="2400"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}Queue;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Queue *Q</a:t>
            </a:r>
            <a:r>
              <a:rPr lang="zh-CN" altLang="en-US" sz="2400">
                <a:ea typeface="华文楷体" panose="02010600040101010101" pitchFamily="2" charset="-12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1828800" y="76200"/>
            <a:ext cx="6096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1pPr>
            <a:lvl2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>
              <a:spcBef>
                <a:spcPct val="0"/>
              </a:spcBef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循环队列的进队和出队实例</a:t>
            </a:r>
            <a:endParaRPr lang="zh-CN" altLang="en-US" dirty="0" smtClean="0">
              <a:ea typeface="华文楷体" panose="02010600040101010101" pitchFamily="2" charset="-122"/>
            </a:endParaRPr>
          </a:p>
        </p:txBody>
      </p:sp>
      <p:pic>
        <p:nvPicPr>
          <p:cNvPr id="4608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85800"/>
            <a:ext cx="13868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53400" y="3657600"/>
            <a:ext cx="14325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52525"/>
            <a:ext cx="8507413" cy="5248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存储队列的数组被当作首尾相接的表处理。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为解决如何判断队列的满与空问题：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牺牲一个存储单元</a:t>
            </a:r>
            <a:r>
              <a:rPr lang="zh-CN" altLang="en-US" sz="240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。 </a:t>
            </a:r>
            <a:endParaRPr lang="zh-CN" altLang="en-US" sz="2400" b="1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队头、队尾指针</a:t>
            </a:r>
            <a:r>
              <a:rPr lang="zh-CN" altLang="en-US" sz="24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加</a:t>
            </a:r>
            <a:r>
              <a:rPr lang="en-US" altLang="zh-CN" sz="24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时从</a:t>
            </a: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</a:t>
            </a:r>
            <a:r>
              <a:rPr lang="en-US" altLang="zh-CN" sz="24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Capacity-1(</a:t>
            </a:r>
            <a:r>
              <a:rPr lang="zh-CN" altLang="en-US" sz="24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上一页中</a:t>
            </a:r>
            <a:r>
              <a:rPr lang="en-US" altLang="zh-CN" sz="24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m-1</a:t>
            </a:r>
            <a:r>
              <a:rPr lang="zh-CN" altLang="en-US" sz="24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进到</a:t>
            </a:r>
            <a:r>
              <a:rPr lang="en-US" altLang="zh-CN" sz="24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，可用语言的取模</a:t>
            </a:r>
            <a:r>
              <a:rPr lang="en-US" altLang="zh-CN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余数</a:t>
            </a:r>
            <a:r>
              <a:rPr lang="en-US" altLang="zh-CN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运算实现。</a:t>
            </a:r>
            <a:endParaRPr lang="zh-CN" altLang="en-US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出队</a:t>
            </a:r>
            <a:r>
              <a:rPr lang="en-US" altLang="zh-CN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 Q-&gt;front = (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 f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ront + 1) % 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&gt;Capacity; </a:t>
            </a:r>
            <a:r>
              <a:rPr kumimoji="1" lang="en-US" altLang="zh-CN" sz="2000" b="1" dirty="0">
                <a:solidFill>
                  <a:srgbClr val="00B050"/>
                </a:solidFill>
                <a:ea typeface="华文楷体" panose="02010600040101010101" pitchFamily="2" charset="-122"/>
              </a:rPr>
              <a:t>Q-&gt; size--;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入队</a:t>
            </a:r>
            <a:r>
              <a:rPr lang="en-US" altLang="zh-CN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&gt;rear = (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&gt;rear + 1) % 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Q-&gt;Capacity</a:t>
            </a:r>
            <a:r>
              <a:rPr lang="en-US" altLang="zh-CN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; 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&gt;Array[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Q-&gt;rear 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]=x;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kumimoji="1" lang="en-US" altLang="zh-CN" sz="2000" b="1" dirty="0" smtClean="0">
                <a:solidFill>
                  <a:srgbClr val="00B050"/>
                </a:solidFill>
                <a:ea typeface="华文楷体" panose="02010600040101010101" pitchFamily="2" charset="-122"/>
              </a:rPr>
              <a:t>Q-&gt;size++;</a:t>
            </a:r>
            <a:endParaRPr lang="en-US" altLang="zh-CN" sz="2000" b="1" dirty="0" smtClean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队列初始化：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Q-&gt; 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front</a:t>
            </a:r>
            <a:r>
              <a:rPr lang="en-US" altLang="zh-CN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= 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 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rear</a:t>
            </a:r>
            <a:r>
              <a:rPr lang="en-US" altLang="zh-CN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= 0; </a:t>
            </a:r>
            <a:r>
              <a:rPr kumimoji="1" lang="en-US" altLang="zh-CN" sz="2000" b="1" dirty="0" smtClean="0">
                <a:solidFill>
                  <a:srgbClr val="00B050"/>
                </a:solidFill>
                <a:ea typeface="华文楷体" panose="02010600040101010101" pitchFamily="2" charset="-122"/>
              </a:rPr>
              <a:t>Q-</a:t>
            </a:r>
            <a:r>
              <a:rPr kumimoji="1" lang="en-US" altLang="zh-CN" sz="2000" b="1" dirty="0">
                <a:solidFill>
                  <a:srgbClr val="00B050"/>
                </a:solidFill>
                <a:ea typeface="华文楷体" panose="02010600040101010101" pitchFamily="2" charset="-122"/>
              </a:rPr>
              <a:t>&gt; </a:t>
            </a:r>
            <a:r>
              <a:rPr kumimoji="1" lang="en-US" altLang="zh-CN" sz="2000" b="1" dirty="0" smtClean="0">
                <a:solidFill>
                  <a:srgbClr val="00B050"/>
                </a:solidFill>
                <a:ea typeface="华文楷体" panose="02010600040101010101" pitchFamily="2" charset="-122"/>
              </a:rPr>
              <a:t>size =0;</a:t>
            </a:r>
            <a:endParaRPr lang="en-US" altLang="zh-CN" sz="2000" b="1" dirty="0" smtClean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队空条件：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①Q-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&gt; 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front</a:t>
            </a:r>
            <a:r>
              <a:rPr lang="en-US" altLang="zh-CN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== 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 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rear</a:t>
            </a:r>
            <a:r>
              <a:rPr lang="en-US" altLang="zh-CN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; </a:t>
            </a:r>
            <a:r>
              <a:rPr lang="zh-CN" altLang="en-US" sz="2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或者②</a:t>
            </a:r>
            <a:r>
              <a:rPr kumimoji="1" lang="en-US" altLang="zh-CN" sz="2000" b="1" dirty="0" smtClean="0">
                <a:solidFill>
                  <a:srgbClr val="00B050"/>
                </a:solidFill>
                <a:ea typeface="华文楷体" panose="02010600040101010101" pitchFamily="2" charset="-122"/>
              </a:rPr>
              <a:t>Q-</a:t>
            </a:r>
            <a:r>
              <a:rPr kumimoji="1" lang="en-US" altLang="zh-CN" sz="2000" b="1" dirty="0">
                <a:solidFill>
                  <a:srgbClr val="00B050"/>
                </a:solidFill>
                <a:ea typeface="华文楷体" panose="02010600040101010101" pitchFamily="2" charset="-122"/>
              </a:rPr>
              <a:t>&gt; </a:t>
            </a:r>
            <a:r>
              <a:rPr kumimoji="1" lang="en-US" altLang="zh-CN" sz="2000" b="1" dirty="0" smtClean="0">
                <a:solidFill>
                  <a:srgbClr val="00B050"/>
                </a:solidFill>
                <a:ea typeface="华文楷体" panose="02010600040101010101" pitchFamily="2" charset="-122"/>
              </a:rPr>
              <a:t>size==0;</a:t>
            </a:r>
            <a:endParaRPr lang="en-US" altLang="zh-CN" sz="2000" b="1" dirty="0" smtClean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队满条件：①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 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rear + 1) % 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Q-&gt;Capacity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== </a:t>
            </a:r>
            <a:r>
              <a:rPr lang="en-US" altLang="zh-CN" sz="2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 </a:t>
            </a:r>
            <a:r>
              <a:rPr lang="en-US" altLang="zh-CN" sz="20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front </a:t>
            </a:r>
            <a:r>
              <a:rPr lang="zh-CN" altLang="en-US" sz="2000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或者②</a:t>
            </a:r>
            <a:r>
              <a:rPr kumimoji="1" lang="en-US" altLang="zh-CN" sz="2000" b="1" dirty="0" smtClean="0">
                <a:solidFill>
                  <a:srgbClr val="00B050"/>
                </a:solidFill>
                <a:ea typeface="华文楷体" panose="02010600040101010101" pitchFamily="2" charset="-122"/>
              </a:rPr>
              <a:t>Q-</a:t>
            </a:r>
            <a:r>
              <a:rPr kumimoji="1" lang="en-US" altLang="zh-CN" sz="2000" b="1" dirty="0">
                <a:solidFill>
                  <a:srgbClr val="00B050"/>
                </a:solidFill>
                <a:ea typeface="华文楷体" panose="02010600040101010101" pitchFamily="2" charset="-122"/>
              </a:rPr>
              <a:t>&gt; </a:t>
            </a:r>
            <a:r>
              <a:rPr kumimoji="1" lang="en-US" altLang="zh-CN" sz="2000" b="1" dirty="0" smtClean="0">
                <a:solidFill>
                  <a:srgbClr val="00B050"/>
                </a:solidFill>
                <a:ea typeface="华文楷体" panose="02010600040101010101" pitchFamily="2" charset="-122"/>
              </a:rPr>
              <a:t>size ==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Q-&gt;</a:t>
            </a:r>
            <a:r>
              <a:rPr lang="en-US" altLang="zh-CN" sz="2000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Capacity;</a:t>
            </a:r>
            <a:endParaRPr lang="en-US" altLang="zh-CN" sz="2000" dirty="0" smtClean="0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思考：循环队列中当前元素的个数为多少？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i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76238" y="5516563"/>
            <a:ext cx="8131175" cy="341312"/>
          </a:xfrm>
          <a:prstGeom prst="rect">
            <a:avLst/>
          </a:prstGeom>
          <a:solidFill>
            <a:srgbClr val="CCFFFF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kumimoji="1" lang="zh-CN" altLang="en-US" sz="16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当前元素个数</a:t>
            </a:r>
            <a:r>
              <a:rPr kumimoji="1" lang="en-US" altLang="zh-CN" sz="1600" b="1" dirty="0" smtClean="0">
                <a:solidFill>
                  <a:srgbClr val="00B050"/>
                </a:solidFill>
                <a:ea typeface="华文楷体" panose="02010600040101010101" pitchFamily="2" charset="-122"/>
              </a:rPr>
              <a:t>Q-&gt; size</a:t>
            </a:r>
            <a:r>
              <a:rPr kumimoji="1" lang="zh-CN" altLang="en-US" sz="16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，或者</a:t>
            </a:r>
            <a:r>
              <a:rPr kumimoji="1" lang="en-US" altLang="zh-CN" sz="16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(Q-&gt;rear- Q-&gt; front+</a:t>
            </a:r>
            <a:r>
              <a:rPr lang="en-US" altLang="zh-CN" sz="16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 </a:t>
            </a:r>
            <a:r>
              <a:rPr kumimoji="1" lang="en-US" altLang="zh-CN" sz="16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Q-&gt;Capacity )% Q-&gt;Capacity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52482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例</a:t>
            </a:r>
            <a:r>
              <a:rPr lang="en-US" altLang="zh-CN" sz="2400" b="1" smtClean="0">
                <a:solidFill>
                  <a:schemeClr val="accent2"/>
                </a:solidFill>
                <a:ea typeface="华文楷体" panose="02010600040101010101" pitchFamily="2" charset="-122"/>
              </a:rPr>
              <a:t>]</a:t>
            </a:r>
            <a:r>
              <a:rPr lang="zh-CN" altLang="en-US" sz="2400" smtClean="0">
                <a:ea typeface="华文楷体" panose="02010600040101010101" pitchFamily="2" charset="-122"/>
              </a:rPr>
              <a:t>假设以数组</a:t>
            </a:r>
            <a:r>
              <a:rPr lang="en-US" altLang="zh-CN" sz="2400" smtClean="0">
                <a:ea typeface="华文楷体" panose="02010600040101010101" pitchFamily="2" charset="-122"/>
              </a:rPr>
              <a:t>sq[8]</a:t>
            </a:r>
            <a:r>
              <a:rPr lang="zh-CN" altLang="en-US" sz="2400" smtClean="0">
                <a:ea typeface="华文楷体" panose="02010600040101010101" pitchFamily="2" charset="-122"/>
              </a:rPr>
              <a:t>存放循环队列元素</a:t>
            </a:r>
            <a:r>
              <a:rPr lang="en-US" altLang="zh-CN" sz="2400" smtClean="0">
                <a:ea typeface="华文楷体" panose="02010600040101010101" pitchFamily="2" charset="-122"/>
              </a:rPr>
              <a:t>,</a:t>
            </a:r>
            <a:r>
              <a:rPr lang="zh-CN" altLang="en-US" sz="2400" smtClean="0">
                <a:ea typeface="华文楷体" panose="02010600040101010101" pitchFamily="2" charset="-122"/>
              </a:rPr>
              <a:t>变量</a:t>
            </a:r>
            <a:r>
              <a:rPr lang="en-US" altLang="zh-CN" sz="2400" smtClean="0">
                <a:ea typeface="华文楷体" panose="02010600040101010101" pitchFamily="2" charset="-122"/>
              </a:rPr>
              <a:t>front</a:t>
            </a:r>
            <a:r>
              <a:rPr lang="zh-CN" altLang="en-US" sz="2400" smtClean="0">
                <a:ea typeface="华文楷体" panose="02010600040101010101" pitchFamily="2" charset="-122"/>
              </a:rPr>
              <a:t>指向队头元素的前一位置</a:t>
            </a:r>
            <a:r>
              <a:rPr lang="en-US" altLang="zh-CN" sz="2400" smtClean="0">
                <a:ea typeface="华文楷体" panose="02010600040101010101" pitchFamily="2" charset="-122"/>
              </a:rPr>
              <a:t>,</a:t>
            </a:r>
            <a:r>
              <a:rPr lang="zh-CN" altLang="en-US" sz="2400" smtClean="0">
                <a:ea typeface="华文楷体" panose="02010600040101010101" pitchFamily="2" charset="-122"/>
              </a:rPr>
              <a:t>变量</a:t>
            </a:r>
            <a:r>
              <a:rPr lang="en-US" altLang="zh-CN" sz="2400" smtClean="0">
                <a:ea typeface="华文楷体" panose="02010600040101010101" pitchFamily="2" charset="-122"/>
              </a:rPr>
              <a:t>rear</a:t>
            </a:r>
            <a:r>
              <a:rPr lang="zh-CN" altLang="en-US" sz="2400" smtClean="0">
                <a:ea typeface="华文楷体" panose="02010600040101010101" pitchFamily="2" charset="-122"/>
              </a:rPr>
              <a:t>指向队尾元素，如用</a:t>
            </a:r>
            <a:r>
              <a:rPr lang="en-US" altLang="zh-CN" sz="2400" smtClean="0">
                <a:ea typeface="华文楷体" panose="02010600040101010101" pitchFamily="2" charset="-122"/>
              </a:rPr>
              <a:t>A</a:t>
            </a:r>
            <a:r>
              <a:rPr lang="zh-CN" altLang="en-US" sz="2400" smtClean="0">
                <a:ea typeface="华文楷体" panose="02010600040101010101" pitchFamily="2" charset="-122"/>
              </a:rPr>
              <a:t>和</a:t>
            </a:r>
            <a:r>
              <a:rPr lang="en-US" altLang="zh-CN" sz="2400" smtClean="0">
                <a:ea typeface="华文楷体" panose="02010600040101010101" pitchFamily="2" charset="-122"/>
              </a:rPr>
              <a:t>D</a:t>
            </a:r>
            <a:r>
              <a:rPr lang="zh-CN" altLang="en-US" sz="2400" smtClean="0">
                <a:ea typeface="华文楷体" panose="02010600040101010101" pitchFamily="2" charset="-122"/>
              </a:rPr>
              <a:t>分别表示入队和出队操作。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ea typeface="华文楷体" panose="02010600040101010101" pitchFamily="2" charset="-122"/>
              </a:rPr>
              <a:t>请给出：执行操作序列</a:t>
            </a:r>
            <a:r>
              <a:rPr lang="en-US" altLang="zh-CN" sz="240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30000" smtClean="0">
                <a:ea typeface="华文楷体" panose="02010600040101010101" pitchFamily="2" charset="-122"/>
              </a:rPr>
              <a:t>3</a:t>
            </a:r>
            <a:r>
              <a:rPr lang="en-US" altLang="zh-CN" sz="2400" smtClean="0">
                <a:ea typeface="华文楷体" panose="02010600040101010101" pitchFamily="2" charset="-122"/>
              </a:rPr>
              <a:t>D</a:t>
            </a:r>
            <a:r>
              <a:rPr lang="en-US" altLang="zh-CN" sz="2400" baseline="30000" smtClean="0">
                <a:ea typeface="华文楷体" panose="02010600040101010101" pitchFamily="2" charset="-122"/>
              </a:rPr>
              <a:t>1</a:t>
            </a:r>
            <a:r>
              <a:rPr lang="en-US" altLang="zh-CN" sz="240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30000" smtClean="0">
                <a:ea typeface="华文楷体" panose="02010600040101010101" pitchFamily="2" charset="-122"/>
              </a:rPr>
              <a:t>5</a:t>
            </a:r>
            <a:r>
              <a:rPr lang="en-US" altLang="zh-CN" sz="2400" smtClean="0">
                <a:ea typeface="华文楷体" panose="02010600040101010101" pitchFamily="2" charset="-122"/>
              </a:rPr>
              <a:t>D</a:t>
            </a:r>
            <a:r>
              <a:rPr lang="en-US" altLang="zh-CN" sz="2400" baseline="30000" smtClean="0">
                <a:ea typeface="华文楷体" panose="02010600040101010101" pitchFamily="2" charset="-122"/>
              </a:rPr>
              <a:t>2</a:t>
            </a:r>
            <a:r>
              <a:rPr lang="en-US" altLang="zh-CN" sz="240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30000" smtClean="0">
                <a:ea typeface="华文楷体" panose="02010600040101010101" pitchFamily="2" charset="-122"/>
              </a:rPr>
              <a:t>1</a:t>
            </a:r>
            <a:r>
              <a:rPr lang="en-US" altLang="zh-CN" sz="2400" smtClean="0">
                <a:ea typeface="华文楷体" panose="02010600040101010101" pitchFamily="2" charset="-122"/>
              </a:rPr>
              <a:t>D</a:t>
            </a:r>
            <a:r>
              <a:rPr lang="en-US" altLang="zh-CN" sz="2400" baseline="30000" smtClean="0">
                <a:ea typeface="华文楷体" panose="02010600040101010101" pitchFamily="2" charset="-122"/>
              </a:rPr>
              <a:t>2</a:t>
            </a:r>
            <a:r>
              <a:rPr lang="en-US" altLang="zh-CN" sz="2400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30000" smtClean="0">
                <a:ea typeface="华文楷体" panose="02010600040101010101" pitchFamily="2" charset="-122"/>
              </a:rPr>
              <a:t>4</a:t>
            </a:r>
            <a:r>
              <a:rPr lang="zh-CN" altLang="en-US" sz="2400" smtClean="0">
                <a:ea typeface="华文楷体" panose="02010600040101010101" pitchFamily="2" charset="-122"/>
              </a:rPr>
              <a:t>时的状态。</a:t>
            </a:r>
            <a:endParaRPr lang="zh-CN" altLang="en-US" smtClean="0">
              <a:ea typeface="华文楷体" panose="02010600040101010101" pitchFamily="2" charset="-122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81000" y="2667000"/>
            <a:ext cx="8458200" cy="3987800"/>
          </a:xfrm>
          <a:prstGeom prst="rect">
            <a:avLst/>
          </a:prstGeom>
          <a:solidFill>
            <a:srgbClr val="CCFFFF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队空的初始条件：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front=rear=0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执行操作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后，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rear=3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// A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表示三次入队操作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执行操作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后，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front=1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//D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表示一次出队操作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执行操作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后，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rear=0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执行操作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后，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front=3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执行操作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后，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rear=1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执行操作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后，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front=5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执行操作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后，溢出。因为执行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1" lang="en-US" altLang="zh-CN" sz="2000" b="1" baseline="300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后，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rear=4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，这时队满，若再执行</a:t>
            </a:r>
            <a:r>
              <a:rPr kumimoji="1" lang="en-US" altLang="zh-CN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1" lang="zh-CN" altLang="en-US" sz="20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操作，则出错</a:t>
            </a:r>
            <a:r>
              <a:rPr kumimoji="1" lang="zh-CN" altLang="en-US" sz="24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华文楷体" panose="02010600040101010101" pitchFamily="2" charset="-122"/>
              </a:rPr>
              <a:t>3.8 </a:t>
            </a:r>
            <a:r>
              <a:rPr lang="zh-CN" altLang="en-US" smtClean="0">
                <a:ea typeface="华文楷体" panose="02010600040101010101" pitchFamily="2" charset="-122"/>
              </a:rPr>
              <a:t>双端队列</a:t>
            </a: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smtClean="0">
                <a:solidFill>
                  <a:schemeClr val="tx2"/>
                </a:solidFill>
                <a:ea typeface="华文楷体" panose="02010600040101010101" pitchFamily="2" charset="-122"/>
              </a:rPr>
              <a:t>双端队列</a:t>
            </a:r>
            <a:r>
              <a:rPr lang="en-US" altLang="zh-CN" sz="2400" smtClean="0">
                <a:solidFill>
                  <a:schemeClr val="tx2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smtClean="0">
                <a:ea typeface="华文楷体" panose="02010600040101010101" pitchFamily="2" charset="-122"/>
              </a:rPr>
              <a:t> </a:t>
            </a:r>
            <a:r>
              <a:rPr lang="zh-CN" altLang="en-US" sz="2400" smtClean="0">
                <a:ea typeface="华文楷体" panose="02010600040101010101" pitchFamily="2" charset="-122"/>
              </a:rPr>
              <a:t>限定插入和删除操作在线性表的</a:t>
            </a:r>
            <a:r>
              <a:rPr lang="zh-CN" altLang="en-US" sz="2400" smtClean="0">
                <a:solidFill>
                  <a:srgbClr val="FF0000"/>
                </a:solidFill>
                <a:ea typeface="华文楷体" panose="02010600040101010101" pitchFamily="2" charset="-122"/>
              </a:rPr>
              <a:t>两端</a:t>
            </a:r>
            <a:r>
              <a:rPr lang="zh-CN" altLang="en-US" sz="2400" smtClean="0">
                <a:ea typeface="华文楷体" panose="02010600040101010101" pitchFamily="2" charset="-122"/>
              </a:rPr>
              <a:t>进行。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ea typeface="华文楷体" panose="02010600040101010101" pitchFamily="2" charset="-122"/>
              </a:rPr>
              <a:t>可以将它看成是栈底连在一起的两个栈，但它与两个栈共享存储空间是不同的。共享存储空间中的两个栈的栈顶指针是向两端扩展的，因而每个栈只需一个指针；而双端队列允许两端进行插入和删除元素，因而每个端点必须设立两个指针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mtClean="0">
              <a:ea typeface="华文楷体" panose="02010600040101010101" pitchFamily="2" charset="-122"/>
            </a:endParaRPr>
          </a:p>
        </p:txBody>
      </p:sp>
      <p:pic>
        <p:nvPicPr>
          <p:cNvPr id="4915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33800"/>
            <a:ext cx="71628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华文楷体" panose="02010600040101010101" pitchFamily="2" charset="-122"/>
              </a:rPr>
              <a:t>实际应用中的特殊队列</a:t>
            </a:r>
          </a:p>
          <a:p>
            <a:pPr lvl="1" eaLnBrk="1" hangingPunct="1"/>
            <a:r>
              <a:rPr lang="zh-CN" altLang="en-US" smtClean="0">
                <a:ea typeface="华文楷体" panose="02010600040101010101" pitchFamily="2" charset="-122"/>
              </a:rPr>
              <a:t>输出受限的双端队列（即一个端点允许插入和删除，另一个端点只允许插入）；</a:t>
            </a:r>
          </a:p>
          <a:p>
            <a:pPr lvl="1" eaLnBrk="1" hangingPunct="1"/>
            <a:r>
              <a:rPr lang="zh-CN" altLang="en-US" smtClean="0">
                <a:ea typeface="华文楷体" panose="02010600040101010101" pitchFamily="2" charset="-122"/>
              </a:rPr>
              <a:t>输入受限的双端队列（即一个端点允许插入和删除，另一个端点只允许删除）。</a:t>
            </a:r>
          </a:p>
          <a:p>
            <a:pPr lvl="1" eaLnBrk="1" hangingPunct="1"/>
            <a:r>
              <a:rPr lang="zh-CN" altLang="en-US" smtClean="0">
                <a:ea typeface="华文楷体" panose="02010600040101010101" pitchFamily="2" charset="-122"/>
              </a:rPr>
              <a:t>如果限定双端队列从某个端点插入的元素只能从该端点删除，则双端队列就蜕变为两个栈底相邻接的栈了。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 smtClean="0">
                <a:ea typeface="华文楷体" panose="02010600040101010101" pitchFamily="2" charset="-122"/>
              </a:rPr>
              <a:t>如果允许在循环队列的</a:t>
            </a:r>
            <a:r>
              <a:rPr lang="zh-CN" altLang="zh-CN" sz="2000" smtClean="0">
                <a:solidFill>
                  <a:srgbClr val="C00000"/>
                </a:solidFill>
                <a:ea typeface="华文楷体" panose="02010600040101010101" pitchFamily="2" charset="-122"/>
              </a:rPr>
              <a:t>两端都可以进行插入和删除操作</a:t>
            </a:r>
            <a:r>
              <a:rPr lang="zh-CN" altLang="en-US" sz="2000" smtClean="0">
                <a:ea typeface="华文楷体" panose="02010600040101010101" pitchFamily="2" charset="-122"/>
              </a:rPr>
              <a:t>，其结构如下：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</a:rPr>
              <a:t>#define M  </a:t>
            </a:r>
            <a:r>
              <a:rPr lang="zh-CN" altLang="en-US" sz="2000" smtClean="0">
                <a:ea typeface="华文楷体" panose="02010600040101010101" pitchFamily="2" charset="-122"/>
              </a:rPr>
              <a:t>队列可能达到的最大长度</a:t>
            </a:r>
            <a:endParaRPr lang="zh-CN" altLang="en-US" sz="2000" b="1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smtClean="0">
                <a:ea typeface="华文楷体" panose="02010600040101010101" pitchFamily="2" charset="-122"/>
              </a:rPr>
              <a:t>typedef</a:t>
            </a:r>
            <a:r>
              <a:rPr lang="en-US" altLang="zh-CN" sz="2000" smtClean="0">
                <a:ea typeface="华文楷体" panose="02010600040101010101" pitchFamily="2" charset="-122"/>
              </a:rPr>
              <a:t> </a:t>
            </a:r>
            <a:r>
              <a:rPr lang="en-US" altLang="zh-CN" sz="2000" b="1" smtClean="0">
                <a:ea typeface="华文楷体" panose="02010600040101010101" pitchFamily="2" charset="-122"/>
              </a:rPr>
              <a:t>struct</a:t>
            </a:r>
            <a:endParaRPr lang="en-US" altLang="zh-CN" sz="20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</a:rPr>
              <a:t>  { elemtype data[M];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</a:rPr>
              <a:t>    </a:t>
            </a:r>
            <a:r>
              <a:rPr lang="en-US" altLang="zh-CN" sz="2000" b="1" smtClean="0">
                <a:ea typeface="华文楷体" panose="02010600040101010101" pitchFamily="2" charset="-122"/>
              </a:rPr>
              <a:t>int </a:t>
            </a:r>
            <a:r>
              <a:rPr lang="en-US" altLang="zh-CN" sz="2000" smtClean="0">
                <a:ea typeface="华文楷体" panose="02010600040101010101" pitchFamily="2" charset="-122"/>
              </a:rPr>
              <a:t>front,rear;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</a:rPr>
              <a:t>  } cycqueue;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smtClean="0">
                <a:ea typeface="华文楷体" panose="02010600040101010101" pitchFamily="2" charset="-122"/>
              </a:rPr>
              <a:t>请写出“从队尾删除”和“从队头插入”的算法。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smtClean="0">
                <a:ea typeface="华文楷体" panose="02010600040101010101" pitchFamily="2" charset="-122"/>
              </a:rPr>
              <a:t>elemtype delqueue ( cycqueue Q)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smtClean="0">
                <a:ea typeface="华文楷体" panose="02010600040101010101" pitchFamily="2" charset="-122"/>
              </a:rPr>
              <a:t>void</a:t>
            </a:r>
            <a:r>
              <a:rPr lang="en-US" altLang="zh-CN" sz="2000" smtClean="0">
                <a:ea typeface="华文楷体" panose="02010600040101010101" pitchFamily="2" charset="-122"/>
              </a:rPr>
              <a:t> enqueue (cycqueue Q, elemtp x)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smtClean="0">
                <a:ea typeface="华文楷体" panose="02010600040101010101" pitchFamily="2" charset="-122"/>
              </a:rPr>
              <a:t>[</a:t>
            </a:r>
            <a:r>
              <a:rPr lang="zh-CN" altLang="en-US" sz="2000" b="1" smtClean="0">
                <a:ea typeface="华文楷体" panose="02010600040101010101" pitchFamily="2" charset="-122"/>
              </a:rPr>
              <a:t>分析</a:t>
            </a:r>
            <a:r>
              <a:rPr lang="en-US" altLang="zh-CN" sz="2000" b="1" smtClean="0">
                <a:ea typeface="华文楷体" panose="02010600040101010101" pitchFamily="2" charset="-122"/>
              </a:rPr>
              <a:t>]</a:t>
            </a:r>
            <a:r>
              <a:rPr lang="en-US" altLang="zh-CN" sz="2000" smtClean="0">
                <a:ea typeface="华文楷体" panose="02010600040101010101" pitchFamily="2" charset="-122"/>
              </a:rPr>
              <a:t> </a:t>
            </a:r>
            <a:r>
              <a:rPr lang="zh-CN" altLang="en-US" sz="2000" smtClean="0">
                <a:ea typeface="华文楷体" panose="02010600040101010101" pitchFamily="2" charset="-122"/>
              </a:rPr>
              <a:t>用一维数组 </a:t>
            </a:r>
            <a:r>
              <a:rPr lang="en-US" altLang="zh-CN" sz="2000" smtClean="0">
                <a:ea typeface="华文楷体" panose="02010600040101010101" pitchFamily="2" charset="-122"/>
              </a:rPr>
              <a:t>v[MAX]</a:t>
            </a:r>
            <a:r>
              <a:rPr lang="zh-CN" altLang="en-US" sz="2000" smtClean="0">
                <a:ea typeface="华文楷体" panose="02010600040101010101" pitchFamily="2" charset="-122"/>
              </a:rPr>
              <a:t>实现循环队列，其中</a:t>
            </a:r>
            <a:r>
              <a:rPr lang="en-US" altLang="zh-CN" sz="2000" smtClean="0">
                <a:ea typeface="华文楷体" panose="02010600040101010101" pitchFamily="2" charset="-122"/>
              </a:rPr>
              <a:t>MAX</a:t>
            </a:r>
            <a:r>
              <a:rPr lang="zh-CN" altLang="en-US" sz="2000" smtClean="0">
                <a:ea typeface="华文楷体" panose="02010600040101010101" pitchFamily="2" charset="-122"/>
              </a:rPr>
              <a:t>是队列长度。设队头指针 </a:t>
            </a:r>
            <a:r>
              <a:rPr lang="en-US" altLang="zh-CN" sz="2000" smtClean="0">
                <a:ea typeface="华文楷体" panose="02010600040101010101" pitchFamily="2" charset="-122"/>
              </a:rPr>
              <a:t>front</a:t>
            </a:r>
            <a:r>
              <a:rPr lang="zh-CN" altLang="en-US" sz="2000" smtClean="0">
                <a:ea typeface="华文楷体" panose="02010600040101010101" pitchFamily="2" charset="-122"/>
              </a:rPr>
              <a:t>和队尾指针</a:t>
            </a:r>
            <a:r>
              <a:rPr lang="en-US" altLang="zh-CN" sz="2000" smtClean="0">
                <a:ea typeface="华文楷体" panose="02010600040101010101" pitchFamily="2" charset="-122"/>
              </a:rPr>
              <a:t>rear</a:t>
            </a:r>
            <a:r>
              <a:rPr lang="zh-CN" altLang="en-US" sz="2000" smtClean="0">
                <a:ea typeface="华文楷体" panose="02010600040101010101" pitchFamily="2" charset="-122"/>
              </a:rPr>
              <a:t>，约定</a:t>
            </a:r>
            <a:r>
              <a:rPr lang="en-US" altLang="zh-CN" sz="2000" smtClean="0">
                <a:ea typeface="华文楷体" panose="02010600040101010101" pitchFamily="2" charset="-122"/>
              </a:rPr>
              <a:t>front</a:t>
            </a:r>
            <a:r>
              <a:rPr lang="zh-CN" altLang="en-US" sz="2000" smtClean="0">
                <a:ea typeface="华文楷体" panose="02010600040101010101" pitchFamily="2" charset="-122"/>
              </a:rPr>
              <a:t>指向队头元素的前一位置，</a:t>
            </a:r>
            <a:r>
              <a:rPr lang="en-US" altLang="zh-CN" sz="2000" smtClean="0">
                <a:ea typeface="华文楷体" panose="02010600040101010101" pitchFamily="2" charset="-122"/>
              </a:rPr>
              <a:t>rear</a:t>
            </a:r>
            <a:r>
              <a:rPr lang="zh-CN" altLang="en-US" sz="2000" smtClean="0">
                <a:ea typeface="华文楷体" panose="02010600040101010101" pitchFamily="2" charset="-122"/>
              </a:rPr>
              <a:t>指向队尾元素。定义</a:t>
            </a:r>
            <a:r>
              <a:rPr lang="en-US" altLang="zh-CN" sz="2000" smtClean="0">
                <a:ea typeface="华文楷体" panose="02010600040101010101" pitchFamily="2" charset="-122"/>
              </a:rPr>
              <a:t>front=rear</a:t>
            </a:r>
            <a:r>
              <a:rPr lang="zh-CN" altLang="en-US" sz="2000" smtClean="0">
                <a:ea typeface="华文楷体" panose="02010600040101010101" pitchFamily="2" charset="-122"/>
              </a:rPr>
              <a:t>时为队空，</a:t>
            </a:r>
            <a:r>
              <a:rPr lang="en-US" altLang="zh-CN" sz="2000" smtClean="0">
                <a:ea typeface="华文楷体" panose="02010600040101010101" pitchFamily="2" charset="-122"/>
              </a:rPr>
              <a:t>(rear+1)% MAX =front </a:t>
            </a:r>
            <a:r>
              <a:rPr lang="zh-CN" altLang="en-US" sz="2000" smtClean="0">
                <a:ea typeface="华文楷体" panose="02010600040101010101" pitchFamily="2" charset="-122"/>
              </a:rPr>
              <a:t>为队满。约定队头端入队向下标小的方向发展，队尾端入队向下标大的方向发展。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elemtype delqueue ( cycqueue Q)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//Q</a:t>
            </a:r>
            <a:r>
              <a:rPr lang="zh-CN" altLang="en-US" sz="2400" smtClean="0">
                <a:ea typeface="华文楷体" panose="02010600040101010101" pitchFamily="2" charset="-122"/>
              </a:rPr>
              <a:t>是如上定义的循环队列，本算法实现从队尾删除，若删除成功，返回被删除元素，否则给出出错信息。</a:t>
            </a:r>
            <a:endParaRPr lang="en-US" altLang="zh-CN" sz="240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a typeface="华文楷体" panose="02010600040101010101" pitchFamily="2" charset="-122"/>
              </a:rPr>
              <a:t>	if</a:t>
            </a:r>
            <a:r>
              <a:rPr lang="en-US" altLang="zh-CN" sz="2400" smtClean="0">
                <a:ea typeface="华文楷体" panose="02010600040101010101" pitchFamily="2" charset="-122"/>
              </a:rPr>
              <a:t> (Q.front==Q.rear)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	     printf(“</a:t>
            </a:r>
            <a:r>
              <a:rPr lang="zh-CN" altLang="en-US" sz="2400" smtClean="0">
                <a:ea typeface="华文楷体" panose="02010600040101010101" pitchFamily="2" charset="-122"/>
              </a:rPr>
              <a:t>队列空”</a:t>
            </a:r>
            <a:r>
              <a:rPr lang="en-US" altLang="zh-CN" sz="2400" smtClean="0">
                <a:ea typeface="华文楷体" panose="02010600040101010101" pitchFamily="2" charset="-122"/>
              </a:rPr>
              <a:t>); exit(0);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  	Q.rear=(Q.rear-1+MAX)%MAX;    //</a:t>
            </a:r>
            <a:r>
              <a:rPr lang="zh-CN" altLang="en-US" sz="2400" smtClean="0">
                <a:ea typeface="华文楷体" panose="02010600040101010101" pitchFamily="2" charset="-122"/>
              </a:rPr>
              <a:t>修改队尾指针。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smtClean="0">
                <a:ea typeface="华文楷体" panose="02010600040101010101" pitchFamily="2" charset="-122"/>
              </a:rPr>
              <a:t>     </a:t>
            </a:r>
            <a:r>
              <a:rPr lang="en-US" altLang="zh-CN" sz="2400" b="1" smtClean="0">
                <a:ea typeface="华文楷体" panose="02010600040101010101" pitchFamily="2" charset="-122"/>
              </a:rPr>
              <a:t>return</a:t>
            </a:r>
            <a:r>
              <a:rPr lang="en-US" altLang="zh-CN" sz="2400" smtClean="0">
                <a:ea typeface="华文楷体" panose="02010600040101010101" pitchFamily="2" charset="-122"/>
              </a:rPr>
              <a:t>(Q.data[(Q.rear+1+MAX)%MAX]); //</a:t>
            </a:r>
            <a:r>
              <a:rPr lang="zh-CN" altLang="en-US" sz="2400" smtClean="0">
                <a:ea typeface="华文楷体" panose="02010600040101010101" pitchFamily="2" charset="-122"/>
              </a:rPr>
              <a:t>返回出队元素。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ea typeface="华文楷体" panose="02010600040101010101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smtClean="0">
                <a:ea typeface="华文楷体" panose="02010600040101010101" pitchFamily="2" charset="-122"/>
              </a:rPr>
              <a:t>void</a:t>
            </a:r>
            <a:r>
              <a:rPr lang="en-US" altLang="zh-CN" sz="2800" smtClean="0">
                <a:ea typeface="华文楷体" panose="02010600040101010101" pitchFamily="2" charset="-122"/>
              </a:rPr>
              <a:t> enqueue (cycqueue Q, elemtp x)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// Q</a:t>
            </a:r>
            <a:r>
              <a:rPr lang="zh-CN" altLang="en-US" sz="2800" smtClean="0">
                <a:ea typeface="华文楷体" panose="02010600040101010101" pitchFamily="2" charset="-122"/>
              </a:rPr>
              <a:t>是顺序存储的循环队列，本算法实现“从队头插入”元素</a:t>
            </a:r>
            <a:r>
              <a:rPr lang="en-US" altLang="zh-CN" sz="2800" smtClean="0">
                <a:ea typeface="华文楷体" panose="02010600040101010101" pitchFamily="2" charset="-122"/>
              </a:rPr>
              <a:t>x</a:t>
            </a:r>
            <a:r>
              <a:rPr lang="zh-CN" altLang="en-US" sz="2800" smtClean="0">
                <a:ea typeface="华文楷体" panose="0201060004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</a:t>
            </a:r>
            <a:r>
              <a:rPr lang="en-US" altLang="zh-CN" sz="2800" b="1" smtClean="0">
                <a:ea typeface="华文楷体" panose="02010600040101010101" pitchFamily="2" charset="-122"/>
              </a:rPr>
              <a:t>if</a:t>
            </a:r>
            <a:r>
              <a:rPr lang="en-US" altLang="zh-CN" sz="2800" smtClean="0">
                <a:ea typeface="华文楷体" panose="02010600040101010101" pitchFamily="2" charset="-122"/>
              </a:rPr>
              <a:t> (Q.rear==(Q.front-1+M)%M)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{   printf(“</a:t>
            </a:r>
            <a:r>
              <a:rPr lang="zh-CN" altLang="en-US" sz="2800" smtClean="0">
                <a:ea typeface="华文楷体" panose="02010600040101010101" pitchFamily="2" charset="-122"/>
              </a:rPr>
              <a:t>队满”</a:t>
            </a:r>
            <a:r>
              <a:rPr lang="en-US" altLang="zh-CN" sz="2800" smtClean="0">
                <a:ea typeface="华文楷体" panose="02010600040101010101" pitchFamily="2" charset="-122"/>
              </a:rPr>
              <a:t>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    exit(0);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 Q.data[Q.front]=x;        //x </a:t>
            </a:r>
            <a:r>
              <a:rPr lang="zh-CN" altLang="en-US" sz="2800" smtClean="0">
                <a:ea typeface="华文楷体" panose="02010600040101010101" pitchFamily="2" charset="-122"/>
              </a:rPr>
              <a:t>入队列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smtClean="0">
                <a:ea typeface="华文楷体" panose="02010600040101010101" pitchFamily="2" charset="-122"/>
              </a:rPr>
              <a:t>   </a:t>
            </a:r>
            <a:r>
              <a:rPr lang="en-US" altLang="zh-CN" sz="2800" smtClean="0">
                <a:ea typeface="华文楷体" panose="02010600040101010101" pitchFamily="2" charset="-122"/>
              </a:rPr>
              <a:t>Q.front=(Q.front-1+M)%M;    //</a:t>
            </a:r>
            <a:r>
              <a:rPr lang="zh-CN" altLang="en-US" sz="2800" smtClean="0">
                <a:ea typeface="华文楷体" panose="02010600040101010101" pitchFamily="2" charset="-122"/>
              </a:rPr>
              <a:t>修改队头指针。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}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ea typeface="华文楷体" panose="02010600040101010101" pitchFamily="2" charset="-122"/>
              </a:rPr>
              <a:t>若以</a:t>
            </a:r>
            <a:r>
              <a:rPr lang="en-US" altLang="zh-CN" smtClean="0">
                <a:ea typeface="华文楷体" panose="02010600040101010101" pitchFamily="2" charset="-122"/>
              </a:rPr>
              <a:t>1</a:t>
            </a:r>
            <a:r>
              <a:rPr lang="zh-CN" altLang="en-US" smtClean="0">
                <a:ea typeface="华文楷体" panose="02010600040101010101" pitchFamily="2" charset="-122"/>
              </a:rPr>
              <a:t>、</a:t>
            </a:r>
            <a:r>
              <a:rPr lang="en-US" altLang="zh-CN" smtClean="0">
                <a:ea typeface="华文楷体" panose="02010600040101010101" pitchFamily="2" charset="-122"/>
              </a:rPr>
              <a:t>2</a:t>
            </a:r>
            <a:r>
              <a:rPr lang="zh-CN" altLang="en-US" smtClean="0">
                <a:ea typeface="华文楷体" panose="02010600040101010101" pitchFamily="2" charset="-122"/>
              </a:rPr>
              <a:t>、</a:t>
            </a:r>
            <a:r>
              <a:rPr lang="en-US" altLang="zh-CN" smtClean="0">
                <a:ea typeface="华文楷体" panose="02010600040101010101" pitchFamily="2" charset="-122"/>
              </a:rPr>
              <a:t>3</a:t>
            </a:r>
            <a:r>
              <a:rPr lang="zh-CN" altLang="en-US" smtClean="0">
                <a:ea typeface="华文楷体" panose="02010600040101010101" pitchFamily="2" charset="-122"/>
              </a:rPr>
              <a:t>、</a:t>
            </a:r>
            <a:r>
              <a:rPr lang="en-US" altLang="zh-CN" smtClean="0">
                <a:ea typeface="华文楷体" panose="02010600040101010101" pitchFamily="2" charset="-122"/>
              </a:rPr>
              <a:t>4</a:t>
            </a:r>
            <a:r>
              <a:rPr lang="zh-CN" altLang="en-US" smtClean="0">
                <a:ea typeface="华文楷体" panose="02010600040101010101" pitchFamily="2" charset="-122"/>
              </a:rPr>
              <a:t>作为双端队列的输入序列，试分别求出以下条件的输出序列：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ea typeface="华文楷体" panose="02010600040101010101" pitchFamily="2" charset="-122"/>
              </a:rPr>
              <a:t>（</a:t>
            </a:r>
            <a:r>
              <a:rPr lang="en-US" altLang="zh-CN" smtClean="0">
                <a:ea typeface="华文楷体" panose="02010600040101010101" pitchFamily="2" charset="-122"/>
              </a:rPr>
              <a:t>1</a:t>
            </a:r>
            <a:r>
              <a:rPr lang="zh-CN" altLang="en-US" smtClean="0">
                <a:ea typeface="华文楷体" panose="02010600040101010101" pitchFamily="2" charset="-122"/>
              </a:rPr>
              <a:t>）能由输入受限的双端队列得到，但不能由输出受限的双端队列得到的输出序列；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ea typeface="华文楷体" panose="02010600040101010101" pitchFamily="2" charset="-122"/>
              </a:rPr>
              <a:t>（</a:t>
            </a:r>
            <a:r>
              <a:rPr lang="en-US" altLang="zh-CN" smtClean="0">
                <a:ea typeface="华文楷体" panose="02010600040101010101" pitchFamily="2" charset="-122"/>
              </a:rPr>
              <a:t>2</a:t>
            </a:r>
            <a:r>
              <a:rPr lang="zh-CN" altLang="en-US" smtClean="0">
                <a:ea typeface="华文楷体" panose="02010600040101010101" pitchFamily="2" charset="-122"/>
              </a:rPr>
              <a:t>）能由输出受限的双端队列得到，但不能由输入受限的双端队列得到的输出序列；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ea typeface="华文楷体" panose="02010600040101010101" pitchFamily="2" charset="-122"/>
              </a:rPr>
              <a:t>（</a:t>
            </a:r>
            <a:r>
              <a:rPr lang="en-US" altLang="zh-CN" smtClean="0">
                <a:ea typeface="华文楷体" panose="02010600040101010101" pitchFamily="2" charset="-122"/>
              </a:rPr>
              <a:t>3</a:t>
            </a:r>
            <a:r>
              <a:rPr lang="zh-CN" altLang="en-US" smtClean="0">
                <a:ea typeface="华文楷体" panose="02010600040101010101" pitchFamily="2" charset="-122"/>
              </a:rPr>
              <a:t>）既不能由输入受限的双端队列得到，也不能由输出受限的双端队列得到的输出序列。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ea typeface="华文楷体" panose="02010600040101010101" pitchFamily="2" charset="-122"/>
              </a:rPr>
              <a:t>解答：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ea typeface="华文楷体" panose="02010600040101010101" pitchFamily="2" charset="-122"/>
              </a:rPr>
              <a:t>1. </a:t>
            </a:r>
            <a:r>
              <a:rPr lang="zh-CN" altLang="en-US" smtClean="0">
                <a:ea typeface="华文楷体" panose="02010600040101010101" pitchFamily="2" charset="-122"/>
              </a:rPr>
              <a:t>输出受限双端队列不能得到的输出序列有：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ea typeface="华文楷体" panose="02010600040101010101" pitchFamily="2" charset="-122"/>
              </a:rPr>
              <a:t>      </a:t>
            </a:r>
            <a:r>
              <a:rPr lang="en-US" altLang="zh-CN" smtClean="0">
                <a:ea typeface="华文楷体" panose="02010600040101010101" pitchFamily="2" charset="-122"/>
              </a:rPr>
              <a:t>4 1 3 2      4 2 3 1 </a:t>
            </a:r>
          </a:p>
          <a:p>
            <a:pPr eaLnBrk="1" hangingPunct="1"/>
            <a:endParaRPr lang="en-US" altLang="zh-CN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ea typeface="华文楷体" panose="02010600040101010101" pitchFamily="2" charset="-122"/>
              </a:rPr>
              <a:t>2. </a:t>
            </a:r>
            <a:r>
              <a:rPr lang="zh-CN" altLang="en-US" smtClean="0">
                <a:ea typeface="华文楷体" panose="02010600040101010101" pitchFamily="2" charset="-122"/>
              </a:rPr>
              <a:t>输人受限双端队列不能得到的输出序列有：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ea typeface="华文楷体" panose="02010600040101010101" pitchFamily="2" charset="-122"/>
              </a:rPr>
              <a:t>      </a:t>
            </a:r>
            <a:r>
              <a:rPr lang="en-US" altLang="zh-CN" smtClean="0">
                <a:ea typeface="华文楷体" panose="02010600040101010101" pitchFamily="2" charset="-122"/>
              </a:rPr>
              <a:t>4 2 1 3      4 2 3 1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mtClean="0">
              <a:ea typeface="华文楷体" panose="02010600040101010101" pitchFamily="2" charset="-122"/>
            </a:endParaRPr>
          </a:p>
        </p:txBody>
      </p:sp>
      <p:sp>
        <p:nvSpPr>
          <p:cNvPr id="55302" name="Line 4"/>
          <p:cNvSpPr>
            <a:spLocks noChangeShapeType="1"/>
          </p:cNvSpPr>
          <p:nvPr/>
        </p:nvSpPr>
        <p:spPr bwMode="auto">
          <a:xfrm>
            <a:off x="5689600" y="2740025"/>
            <a:ext cx="240030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3" name="Line 5"/>
          <p:cNvSpPr>
            <a:spLocks noChangeShapeType="1"/>
          </p:cNvSpPr>
          <p:nvPr/>
        </p:nvSpPr>
        <p:spPr bwMode="auto">
          <a:xfrm>
            <a:off x="5715000" y="3273425"/>
            <a:ext cx="2357438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4" name="Line 6"/>
          <p:cNvSpPr>
            <a:spLocks noChangeShapeType="1"/>
          </p:cNvSpPr>
          <p:nvPr/>
        </p:nvSpPr>
        <p:spPr bwMode="auto">
          <a:xfrm>
            <a:off x="5410200" y="2895600"/>
            <a:ext cx="295275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5" name="Line 7"/>
          <p:cNvSpPr>
            <a:spLocks noChangeShapeType="1"/>
          </p:cNvSpPr>
          <p:nvPr/>
        </p:nvSpPr>
        <p:spPr bwMode="auto">
          <a:xfrm>
            <a:off x="5410200" y="3124200"/>
            <a:ext cx="295275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6" name="Line 8"/>
          <p:cNvSpPr>
            <a:spLocks noChangeShapeType="1"/>
          </p:cNvSpPr>
          <p:nvPr/>
        </p:nvSpPr>
        <p:spPr bwMode="auto">
          <a:xfrm flipH="1">
            <a:off x="8129588" y="2946400"/>
            <a:ext cx="252412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7" name="Line 9"/>
          <p:cNvSpPr>
            <a:spLocks noChangeShapeType="1"/>
          </p:cNvSpPr>
          <p:nvPr/>
        </p:nvSpPr>
        <p:spPr bwMode="auto">
          <a:xfrm>
            <a:off x="5702300" y="5330825"/>
            <a:ext cx="240030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8" name="Line 10"/>
          <p:cNvSpPr>
            <a:spLocks noChangeShapeType="1"/>
          </p:cNvSpPr>
          <p:nvPr/>
        </p:nvSpPr>
        <p:spPr bwMode="auto">
          <a:xfrm>
            <a:off x="5727700" y="4645025"/>
            <a:ext cx="2357438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9" name="Line 11"/>
          <p:cNvSpPr>
            <a:spLocks noChangeShapeType="1"/>
          </p:cNvSpPr>
          <p:nvPr/>
        </p:nvSpPr>
        <p:spPr bwMode="auto">
          <a:xfrm>
            <a:off x="5537200" y="4873625"/>
            <a:ext cx="295275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0" name="Line 12"/>
          <p:cNvSpPr>
            <a:spLocks noChangeShapeType="1"/>
          </p:cNvSpPr>
          <p:nvPr/>
        </p:nvSpPr>
        <p:spPr bwMode="auto">
          <a:xfrm>
            <a:off x="5537200" y="5102225"/>
            <a:ext cx="295275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1" name="Line 13"/>
          <p:cNvSpPr>
            <a:spLocks noChangeShapeType="1"/>
          </p:cNvSpPr>
          <p:nvPr/>
        </p:nvSpPr>
        <p:spPr bwMode="auto">
          <a:xfrm flipH="1">
            <a:off x="8205788" y="5026025"/>
            <a:ext cx="252412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smtClean="0">
                <a:ea typeface="华文楷体" panose="02010600040101010101" pitchFamily="2" charset="-122"/>
              </a:rPr>
              <a:t>本章作业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ea typeface="华文楷体" panose="02010600040101010101" pitchFamily="2" charset="-122"/>
              </a:rPr>
              <a:t>1.</a:t>
            </a:r>
            <a:r>
              <a:rPr lang="zh-CN" altLang="en-US" smtClean="0">
                <a:ea typeface="华文楷体" panose="02010600040101010101" pitchFamily="2" charset="-122"/>
              </a:rPr>
              <a:t>试推导求解 </a:t>
            </a:r>
            <a:r>
              <a:rPr lang="en-US" altLang="zh-CN" smtClean="0">
                <a:ea typeface="华文楷体" panose="02010600040101010101" pitchFamily="2" charset="-122"/>
              </a:rPr>
              <a:t>n </a:t>
            </a:r>
            <a:r>
              <a:rPr lang="zh-CN" altLang="en-US" smtClean="0">
                <a:ea typeface="华文楷体" panose="02010600040101010101" pitchFamily="2" charset="-122"/>
              </a:rPr>
              <a:t>阶</a:t>
            </a:r>
            <a:r>
              <a:rPr lang="en-US" altLang="zh-CN" smtClean="0">
                <a:ea typeface="华文楷体" panose="02010600040101010101" pitchFamily="2" charset="-122"/>
              </a:rPr>
              <a:t>hanoi</a:t>
            </a:r>
            <a:r>
              <a:rPr lang="zh-CN" altLang="en-US" smtClean="0">
                <a:ea typeface="华文楷体" panose="02010600040101010101" pitchFamily="2" charset="-122"/>
              </a:rPr>
              <a:t>塔问题至少要执行的移动操作 </a:t>
            </a:r>
            <a:r>
              <a:rPr lang="en-US" altLang="zh-CN" smtClean="0">
                <a:ea typeface="华文楷体" panose="02010600040101010101" pitchFamily="2" charset="-122"/>
              </a:rPr>
              <a:t>move </a:t>
            </a:r>
            <a:r>
              <a:rPr lang="zh-CN" altLang="en-US" smtClean="0">
                <a:ea typeface="华文楷体" panose="02010600040101010101" pitchFamily="2" charset="-122"/>
              </a:rPr>
              <a:t>次数。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ea typeface="华文楷体" panose="02010600040101010101" pitchFamily="2" charset="-122"/>
              </a:rPr>
              <a:t>2.</a:t>
            </a:r>
            <a:r>
              <a:rPr lang="zh-CN" altLang="en-US" smtClean="0">
                <a:ea typeface="华文楷体" panose="02010600040101010101" pitchFamily="2" charset="-122"/>
              </a:rPr>
              <a:t>试证明：若借助栈由输入序列</a:t>
            </a:r>
            <a:r>
              <a:rPr lang="en-US" altLang="zh-CN" smtClean="0">
                <a:ea typeface="华文楷体" panose="02010600040101010101" pitchFamily="2" charset="-122"/>
              </a:rPr>
              <a:t>1,2,…,n</a:t>
            </a:r>
            <a:r>
              <a:rPr lang="zh-CN" altLang="en-US" smtClean="0">
                <a:ea typeface="华文楷体" panose="02010600040101010101" pitchFamily="2" charset="-122"/>
              </a:rPr>
              <a:t>得到输出序列为</a:t>
            </a:r>
            <a:r>
              <a:rPr lang="en-US" altLang="zh-CN" smtClean="0">
                <a:ea typeface="华文楷体" panose="02010600040101010101" pitchFamily="2" charset="-122"/>
              </a:rPr>
              <a:t>P</a:t>
            </a:r>
            <a:r>
              <a:rPr lang="en-US" altLang="zh-CN" baseline="-25000" smtClean="0">
                <a:ea typeface="华文楷体" panose="02010600040101010101" pitchFamily="2" charset="-122"/>
              </a:rPr>
              <a:t>1</a:t>
            </a:r>
            <a:r>
              <a:rPr lang="en-US" altLang="zh-CN" smtClean="0">
                <a:ea typeface="华文楷体" panose="02010600040101010101" pitchFamily="2" charset="-122"/>
              </a:rPr>
              <a:t>,P</a:t>
            </a:r>
            <a:r>
              <a:rPr lang="en-US" altLang="zh-CN" baseline="-25000" smtClean="0">
                <a:ea typeface="华文楷体" panose="02010600040101010101" pitchFamily="2" charset="-122"/>
              </a:rPr>
              <a:t>2</a:t>
            </a:r>
            <a:r>
              <a:rPr lang="en-US" altLang="zh-CN" smtClean="0">
                <a:ea typeface="华文楷体" panose="02010600040101010101" pitchFamily="2" charset="-122"/>
              </a:rPr>
              <a:t>,…,P</a:t>
            </a:r>
            <a:r>
              <a:rPr lang="en-US" altLang="zh-CN" baseline="-25000" smtClean="0">
                <a:ea typeface="华文楷体" panose="02010600040101010101" pitchFamily="2" charset="-122"/>
              </a:rPr>
              <a:t>n</a:t>
            </a:r>
            <a:r>
              <a:rPr lang="zh-CN" altLang="en-US" smtClean="0">
                <a:ea typeface="华文楷体" panose="02010600040101010101" pitchFamily="2" charset="-122"/>
              </a:rPr>
              <a:t>（它是输入序列的一个排列），则在输出序列中不可能出现这样的情形：存在着</a:t>
            </a:r>
            <a:r>
              <a:rPr lang="en-US" altLang="zh-CN" smtClean="0">
                <a:ea typeface="华文楷体" panose="02010600040101010101" pitchFamily="2" charset="-122"/>
              </a:rPr>
              <a:t>i&lt;j&lt;k,</a:t>
            </a:r>
            <a:r>
              <a:rPr lang="zh-CN" altLang="en-US" smtClean="0">
                <a:ea typeface="华文楷体" panose="02010600040101010101" pitchFamily="2" charset="-122"/>
              </a:rPr>
              <a:t>使</a:t>
            </a:r>
            <a:r>
              <a:rPr lang="en-US" altLang="zh-CN" smtClean="0">
                <a:ea typeface="华文楷体" panose="02010600040101010101" pitchFamily="2" charset="-122"/>
              </a:rPr>
              <a:t>P</a:t>
            </a:r>
            <a:r>
              <a:rPr lang="en-US" altLang="zh-CN" baseline="-25000" smtClean="0">
                <a:ea typeface="华文楷体" panose="02010600040101010101" pitchFamily="2" charset="-122"/>
              </a:rPr>
              <a:t>j</a:t>
            </a:r>
            <a:r>
              <a:rPr lang="en-US" altLang="zh-CN" smtClean="0">
                <a:ea typeface="华文楷体" panose="02010600040101010101" pitchFamily="2" charset="-122"/>
              </a:rPr>
              <a:t>&lt;P</a:t>
            </a:r>
            <a:r>
              <a:rPr lang="en-US" altLang="zh-CN" baseline="-25000" smtClean="0">
                <a:ea typeface="华文楷体" panose="02010600040101010101" pitchFamily="2" charset="-122"/>
              </a:rPr>
              <a:t>k</a:t>
            </a:r>
            <a:r>
              <a:rPr lang="en-US" altLang="zh-CN" smtClean="0">
                <a:ea typeface="华文楷体" panose="02010600040101010101" pitchFamily="2" charset="-122"/>
              </a:rPr>
              <a:t>&lt;P</a:t>
            </a:r>
            <a:r>
              <a:rPr lang="en-US" altLang="zh-CN" baseline="-25000" smtClean="0">
                <a:ea typeface="华文楷体" panose="02010600040101010101" pitchFamily="2" charset="-122"/>
              </a:rPr>
              <a:t>i</a:t>
            </a:r>
            <a:r>
              <a:rPr lang="zh-CN" altLang="en-US" smtClean="0">
                <a:ea typeface="华文楷体" panose="02010600040101010101" pitchFamily="2" charset="-12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华文楷体" panose="02010600040101010101" pitchFamily="2" charset="-122"/>
            </a:endParaRP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3. </a:t>
            </a:r>
            <a:r>
              <a:rPr lang="zh-CN" altLang="en-US" sz="2800" smtClean="0">
                <a:ea typeface="华文楷体" panose="02010600040101010101" pitchFamily="2" charset="-122"/>
              </a:rPr>
              <a:t>假设以</a:t>
            </a:r>
            <a:r>
              <a:rPr lang="en-US" altLang="zh-CN" sz="2800" smtClean="0">
                <a:ea typeface="华文楷体" panose="02010600040101010101" pitchFamily="2" charset="-122"/>
              </a:rPr>
              <a:t>I</a:t>
            </a:r>
            <a:r>
              <a:rPr lang="zh-CN" altLang="en-US" sz="2800" smtClean="0">
                <a:ea typeface="华文楷体" panose="02010600040101010101" pitchFamily="2" charset="-122"/>
              </a:rPr>
              <a:t>和</a:t>
            </a:r>
            <a:r>
              <a:rPr lang="en-US" altLang="zh-CN" sz="2800" smtClean="0">
                <a:ea typeface="华文楷体" panose="02010600040101010101" pitchFamily="2" charset="-122"/>
              </a:rPr>
              <a:t>O</a:t>
            </a:r>
            <a:r>
              <a:rPr lang="zh-CN" altLang="en-US" sz="2800" smtClean="0">
                <a:ea typeface="华文楷体" panose="02010600040101010101" pitchFamily="2" charset="-122"/>
              </a:rPr>
              <a:t>分别表示入栈和出栈操作。栈的初态和终态均为空，入栈和出栈的操作序列可表示为仅由</a:t>
            </a:r>
            <a:r>
              <a:rPr lang="en-US" altLang="zh-CN" sz="2800" smtClean="0">
                <a:ea typeface="华文楷体" panose="02010600040101010101" pitchFamily="2" charset="-122"/>
              </a:rPr>
              <a:t>I</a:t>
            </a:r>
            <a:r>
              <a:rPr lang="zh-CN" altLang="en-US" sz="2800" smtClean="0">
                <a:ea typeface="华文楷体" panose="02010600040101010101" pitchFamily="2" charset="-122"/>
              </a:rPr>
              <a:t>和</a:t>
            </a:r>
            <a:r>
              <a:rPr lang="en-US" altLang="zh-CN" sz="2800" smtClean="0">
                <a:ea typeface="华文楷体" panose="02010600040101010101" pitchFamily="2" charset="-122"/>
              </a:rPr>
              <a:t>O</a:t>
            </a:r>
            <a:r>
              <a:rPr lang="zh-CN" altLang="en-US" sz="2800" smtClean="0">
                <a:ea typeface="华文楷体" panose="02010600040101010101" pitchFamily="2" charset="-122"/>
              </a:rPr>
              <a:t>组成的序列，称可以操作的序列为合法序列，否则称为非法序列。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smtClean="0">
                <a:ea typeface="华文楷体" panose="02010600040101010101" pitchFamily="2" charset="-122"/>
              </a:rPr>
              <a:t>  （</a:t>
            </a:r>
            <a:r>
              <a:rPr lang="en-US" altLang="zh-CN" sz="2800" smtClean="0">
                <a:ea typeface="华文楷体" panose="02010600040101010101" pitchFamily="2" charset="-122"/>
              </a:rPr>
              <a:t>1</a:t>
            </a:r>
            <a:r>
              <a:rPr lang="zh-CN" altLang="en-US" sz="2800" smtClean="0">
                <a:ea typeface="华文楷体" panose="02010600040101010101" pitchFamily="2" charset="-122"/>
              </a:rPr>
              <a:t>）下面所示的序列中哪些是合法的？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smtClean="0">
                <a:ea typeface="华文楷体" panose="02010600040101010101" pitchFamily="2" charset="-122"/>
              </a:rPr>
              <a:t>         </a:t>
            </a:r>
            <a:r>
              <a:rPr lang="en-US" altLang="zh-CN" sz="2800" smtClean="0">
                <a:ea typeface="华文楷体" panose="02010600040101010101" pitchFamily="2" charset="-122"/>
              </a:rPr>
              <a:t>A. IOIIOIOO     B. IOOIOIIO      C. IIIOIOIO     D. IIIOOIOO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ea typeface="华文楷体" panose="02010600040101010101" pitchFamily="2" charset="-122"/>
              </a:rPr>
              <a:t>  </a:t>
            </a:r>
            <a:r>
              <a:rPr lang="zh-CN" altLang="en-US" sz="2800" smtClean="0">
                <a:ea typeface="华文楷体" panose="02010600040101010101" pitchFamily="2" charset="-122"/>
              </a:rPr>
              <a:t>（</a:t>
            </a:r>
            <a:r>
              <a:rPr lang="en-US" altLang="zh-CN" sz="2800" smtClean="0">
                <a:ea typeface="华文楷体" panose="02010600040101010101" pitchFamily="2" charset="-122"/>
              </a:rPr>
              <a:t>2</a:t>
            </a:r>
            <a:r>
              <a:rPr lang="zh-CN" altLang="en-US" sz="2800" smtClean="0">
                <a:ea typeface="华文楷体" panose="02010600040101010101" pitchFamily="2" charset="-122"/>
              </a:rPr>
              <a:t>）通过对（</a:t>
            </a:r>
            <a:r>
              <a:rPr lang="en-US" altLang="zh-CN" sz="2800" smtClean="0">
                <a:ea typeface="华文楷体" panose="02010600040101010101" pitchFamily="2" charset="-122"/>
              </a:rPr>
              <a:t>1</a:t>
            </a:r>
            <a:r>
              <a:rPr lang="zh-CN" altLang="en-US" sz="2800" smtClean="0">
                <a:ea typeface="华文楷体" panose="02010600040101010101" pitchFamily="2" charset="-122"/>
              </a:rPr>
              <a:t>）的分析，写出一个算法，形式如下：</a:t>
            </a:r>
            <a:r>
              <a:rPr lang="en-US" altLang="zh-CN" sz="2800" b="1" smtClean="0">
                <a:ea typeface="华文楷体" panose="02010600040101010101" pitchFamily="2" charset="-122"/>
              </a:rPr>
              <a:t>bool </a:t>
            </a:r>
            <a:r>
              <a:rPr lang="en-US" altLang="zh-CN" sz="2800" smtClean="0">
                <a:ea typeface="华文楷体" panose="02010600040101010101" pitchFamily="2" charset="-122"/>
              </a:rPr>
              <a:t>Judge(</a:t>
            </a:r>
            <a:r>
              <a:rPr lang="en-US" altLang="zh-CN" sz="2800" b="1" smtClean="0">
                <a:ea typeface="华文楷体" panose="02010600040101010101" pitchFamily="2" charset="-122"/>
              </a:rPr>
              <a:t>char</a:t>
            </a:r>
            <a:r>
              <a:rPr lang="en-US" altLang="zh-CN" sz="2800" smtClean="0">
                <a:ea typeface="华文楷体" panose="02010600040101010101" pitchFamily="2" charset="-122"/>
              </a:rPr>
              <a:t> A[]) </a:t>
            </a:r>
            <a:r>
              <a:rPr lang="zh-CN" altLang="en-US" sz="2800" smtClean="0">
                <a:ea typeface="华文楷体" panose="02010600040101010101" pitchFamily="2" charset="-122"/>
              </a:rPr>
              <a:t>，判定所给的操作序列是否合法。若合法，返回</a:t>
            </a:r>
            <a:r>
              <a:rPr lang="en-US" altLang="zh-CN" sz="2800" smtClean="0">
                <a:ea typeface="华文楷体" panose="02010600040101010101" pitchFamily="2" charset="-122"/>
              </a:rPr>
              <a:t>true</a:t>
            </a:r>
            <a:r>
              <a:rPr lang="zh-CN" altLang="en-US" sz="2800" smtClean="0">
                <a:ea typeface="华文楷体" panose="02010600040101010101" pitchFamily="2" charset="-122"/>
              </a:rPr>
              <a:t>，否则返回</a:t>
            </a:r>
            <a:r>
              <a:rPr lang="en-US" altLang="zh-CN" sz="2800" smtClean="0">
                <a:ea typeface="华文楷体" panose="02010600040101010101" pitchFamily="2" charset="-122"/>
              </a:rPr>
              <a:t>false</a:t>
            </a:r>
            <a:r>
              <a:rPr lang="zh-CN" altLang="en-US" sz="2800" smtClean="0">
                <a:ea typeface="华文楷体" panose="02010600040101010101" pitchFamily="2" charset="-122"/>
              </a:rPr>
              <a:t>（假定被判定的操作序列已存入一维数组</a:t>
            </a:r>
            <a:r>
              <a:rPr lang="en-US" altLang="zh-CN" sz="2800" smtClean="0">
                <a:ea typeface="华文楷体" panose="02010600040101010101" pitchFamily="2" charset="-122"/>
              </a:rPr>
              <a:t>A[]</a:t>
            </a:r>
            <a:r>
              <a:rPr lang="zh-CN" altLang="en-US" sz="2800" smtClean="0">
                <a:ea typeface="华文楷体" panose="02010600040101010101" pitchFamily="2" charset="-122"/>
              </a:rPr>
              <a:t>中）。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smtClean="0">
                <a:ea typeface="华文楷体" panose="0201060004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96838"/>
            <a:ext cx="8458200" cy="563562"/>
          </a:xfrm>
        </p:spPr>
        <p:txBody>
          <a:bodyPr/>
          <a:lstStyle/>
          <a:p>
            <a:pPr eaLnBrk="1" hangingPunct="1"/>
            <a:r>
              <a:rPr lang="zh-CN" altLang="en-US" sz="2800" smtClean="0">
                <a:ea typeface="华文楷体" panose="02010600040101010101" pitchFamily="2" charset="-122"/>
              </a:rPr>
              <a:t>实验报告（二）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zh-CN" b="1" dirty="0" smtClean="0">
                <a:ea typeface="华文楷体" panose="02010600040101010101" pitchFamily="2" charset="-122"/>
              </a:rPr>
              <a:t>1. </a:t>
            </a:r>
            <a:r>
              <a:rPr lang="zh-CN" altLang="en-US" b="1" dirty="0" smtClean="0">
                <a:ea typeface="华文楷体" panose="02010600040101010101" pitchFamily="2" charset="-122"/>
              </a:rPr>
              <a:t>括弧匹配问题：</a:t>
            </a:r>
            <a:r>
              <a:rPr lang="zh-CN" altLang="en-US" dirty="0" smtClean="0">
                <a:ea typeface="华文楷体" panose="02010600040101010101" pitchFamily="2" charset="-122"/>
              </a:rPr>
              <a:t>编写程序，从标准输入得到的一个缺失左括号的表达式，输出补全括号之后的中序表达式。例如：输入</a:t>
            </a:r>
            <a:r>
              <a:rPr lang="en-US" altLang="zh-CN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1+2)</a:t>
            </a:r>
            <a:r>
              <a:rPr lang="zh-CN" altLang="en-US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*</a:t>
            </a:r>
            <a:r>
              <a:rPr lang="en-US" altLang="zh-CN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3-4)*5-6)))</a:t>
            </a:r>
            <a:r>
              <a:rPr lang="zh-CN" altLang="en-US" dirty="0" smtClean="0">
                <a:ea typeface="华文楷体" panose="02010600040101010101" pitchFamily="2" charset="-122"/>
              </a:rPr>
              <a:t>；则程序应该输出</a:t>
            </a:r>
            <a:r>
              <a:rPr lang="en-US" altLang="zh-CN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((1+2)</a:t>
            </a:r>
            <a:r>
              <a:rPr lang="zh-CN" altLang="en-US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*</a:t>
            </a:r>
            <a:r>
              <a:rPr lang="en-US" altLang="zh-CN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((</a:t>
            </a:r>
            <a:r>
              <a:rPr lang="en-US" altLang="zh-CN" b="1" smtClean="0">
                <a:solidFill>
                  <a:srgbClr val="FF0000"/>
                </a:solidFill>
                <a:ea typeface="华文楷体" panose="02010600040101010101" pitchFamily="2" charset="-122"/>
              </a:rPr>
              <a:t>3-4)*(5-6)))</a:t>
            </a:r>
            <a:endParaRPr lang="en-US" altLang="zh-CN" b="1" dirty="0" smtClean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lvl="1" eaLnBrk="1" hangingPunct="1"/>
            <a:r>
              <a:rPr lang="en-US" altLang="zh-CN" sz="3200" b="1" dirty="0" smtClean="0">
                <a:ea typeface="华文楷体" panose="02010600040101010101" pitchFamily="2" charset="-122"/>
              </a:rPr>
              <a:t>2.</a:t>
            </a:r>
            <a:r>
              <a:rPr lang="zh-CN" altLang="en-US" b="1" dirty="0" smtClean="0">
                <a:ea typeface="华文楷体" panose="02010600040101010101" pitchFamily="2" charset="-122"/>
              </a:rPr>
              <a:t>判别回文字符串：</a:t>
            </a:r>
            <a:r>
              <a:rPr lang="zh-CN" altLang="en-US" dirty="0" smtClean="0">
                <a:ea typeface="华文楷体" panose="02010600040101010101" pitchFamily="2" charset="-122"/>
              </a:rPr>
              <a:t>正读和反读都一样的字符串称为回文字符串。编写程序，在键盘上输入一个字符串，以“</a:t>
            </a:r>
            <a:r>
              <a:rPr lang="en-US" altLang="zh-CN" dirty="0" smtClean="0">
                <a:ea typeface="华文楷体" panose="02010600040101010101" pitchFamily="2" charset="-122"/>
              </a:rPr>
              <a:t>#”</a:t>
            </a:r>
            <a:r>
              <a:rPr lang="zh-CN" altLang="en-US" dirty="0" smtClean="0">
                <a:ea typeface="华文楷体" panose="02010600040101010101" pitchFamily="2" charset="-122"/>
              </a:rPr>
              <a:t>作为结束标志，判别它是否为回文字符串。</a:t>
            </a:r>
            <a:r>
              <a:rPr lang="zh-CN" altLang="en-US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要求：采用栈和队列来实现</a:t>
            </a:r>
          </a:p>
          <a:p>
            <a:pPr lvl="1" eaLnBrk="1" hangingPunct="1"/>
            <a:endParaRPr lang="en-US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58374" name="Rectangle 4"/>
          <p:cNvSpPr>
            <a:spLocks noChangeArrowheads="1"/>
          </p:cNvSpPr>
          <p:nvPr/>
        </p:nvSpPr>
        <p:spPr bwMode="auto">
          <a:xfrm>
            <a:off x="869950" y="5559425"/>
            <a:ext cx="7632700" cy="935038"/>
          </a:xfrm>
          <a:prstGeom prst="rect">
            <a:avLst/>
          </a:prstGeom>
          <a:solidFill>
            <a:srgbClr val="CCFFFF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  <a:ea typeface="华文楷体" panose="02010600040101010101" pitchFamily="2" charset="-122"/>
              </a:rPr>
              <a:t>说明：可把两题实验报告写在一起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国外精美的的PPT模板及图标之二">
  <a:themeElements>
    <a:clrScheme name="国外精美的的PPT模板及图标之二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国外精美的的PPT模板及图标之二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国外精美的的PPT模板及图标之二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国外精美的的PPT模板及图标之二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国外精美的的PPT模板及图标之二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622</TotalTime>
  <Words>5119</Words>
  <Application>Microsoft Office PowerPoint</Application>
  <PresentationFormat>全屏显示(4:3)</PresentationFormat>
  <Paragraphs>761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华文楷体</vt:lpstr>
      <vt:lpstr>楷体_GB2312</vt:lpstr>
      <vt:lpstr>隶书</vt:lpstr>
      <vt:lpstr>宋体</vt:lpstr>
      <vt:lpstr>Arial</vt:lpstr>
      <vt:lpstr>Symbol</vt:lpstr>
      <vt:lpstr>Times New Roman</vt:lpstr>
      <vt:lpstr>Verdana</vt:lpstr>
      <vt:lpstr>Wingdings</vt:lpstr>
      <vt:lpstr>国外精美的的PPT模板及图标之二</vt:lpstr>
      <vt:lpstr>第三章 栈与队列</vt:lpstr>
      <vt:lpstr>第三章 （第一部分）栈</vt:lpstr>
      <vt:lpstr>提    纲</vt:lpstr>
      <vt:lpstr>3.1 栈的定义</vt:lpstr>
      <vt:lpstr>PowerPoint 演示文稿</vt:lpstr>
      <vt:lpstr>3.2. 顺序栈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3.3. 链栈</vt:lpstr>
      <vt:lpstr>PowerPoint 演示文稿</vt:lpstr>
      <vt:lpstr>PowerPoint 演示文稿</vt:lpstr>
      <vt:lpstr>3.4.栈的应用</vt:lpstr>
      <vt:lpstr>PowerPoint 演示文稿</vt:lpstr>
      <vt:lpstr>PowerPoint 演示文稿</vt:lpstr>
      <vt:lpstr>PowerPoint 演示文稿</vt:lpstr>
      <vt:lpstr>PowerPoint 演示文稿</vt:lpstr>
      <vt:lpstr>[递归算法的实现原理]</vt:lpstr>
      <vt:lpstr>[递归时系统工作原理示例]</vt:lpstr>
      <vt:lpstr>[递归算法的用途]</vt:lpstr>
      <vt:lpstr>2）消除尾递归</vt:lpstr>
      <vt:lpstr>3) 利用栈模拟递归—通用方法</vt:lpstr>
      <vt:lpstr>[自设栈模拟系统工作栈]  </vt:lpstr>
      <vt:lpstr>PowerPoint 演示文稿</vt:lpstr>
      <vt:lpstr>PowerPoint 演示文稿</vt:lpstr>
      <vt:lpstr>第三章（第二部分）队列</vt:lpstr>
      <vt:lpstr>提    纲</vt:lpstr>
      <vt:lpstr>3.5 队列的定义</vt:lpstr>
      <vt:lpstr>PowerPoint 演示文稿</vt:lpstr>
      <vt:lpstr>PowerPoint 演示文稿</vt:lpstr>
      <vt:lpstr>PowerPoint 演示文稿</vt:lpstr>
      <vt:lpstr>3.6 链队列</vt:lpstr>
      <vt:lpstr>PowerPoint 演示文稿</vt:lpstr>
      <vt:lpstr>3.7 循环队列</vt:lpstr>
      <vt:lpstr>PowerPoint 演示文稿</vt:lpstr>
      <vt:lpstr>PowerPoint 演示文稿</vt:lpstr>
      <vt:lpstr>PowerPoint 演示文稿</vt:lpstr>
      <vt:lpstr>PowerPoint 演示文稿</vt:lpstr>
      <vt:lpstr>3.8 双端队列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本章作业</vt:lpstr>
      <vt:lpstr>PowerPoint 演示文稿</vt:lpstr>
      <vt:lpstr>实验报告（二）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栈与队列</dc:title>
  <dc:creator>User</dc:creator>
  <cp:lastModifiedBy>sunnylife</cp:lastModifiedBy>
  <cp:revision>150</cp:revision>
  <dcterms:created xsi:type="dcterms:W3CDTF">2009-09-25T13:14:22Z</dcterms:created>
  <dcterms:modified xsi:type="dcterms:W3CDTF">2024-03-19T06:31:44Z</dcterms:modified>
</cp:coreProperties>
</file>