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78"/>
  </p:notes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321" r:id="rId18"/>
    <p:sldId id="272" r:id="rId19"/>
    <p:sldId id="273" r:id="rId20"/>
    <p:sldId id="274" r:id="rId21"/>
    <p:sldId id="322" r:id="rId22"/>
    <p:sldId id="275" r:id="rId23"/>
    <p:sldId id="282" r:id="rId24"/>
    <p:sldId id="276" r:id="rId25"/>
    <p:sldId id="277" r:id="rId26"/>
    <p:sldId id="278" r:id="rId27"/>
    <p:sldId id="279" r:id="rId28"/>
    <p:sldId id="280" r:id="rId29"/>
    <p:sldId id="323" r:id="rId30"/>
    <p:sldId id="281" r:id="rId31"/>
    <p:sldId id="324" r:id="rId32"/>
    <p:sldId id="332" r:id="rId33"/>
    <p:sldId id="333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325" r:id="rId47"/>
    <p:sldId id="326" r:id="rId48"/>
    <p:sldId id="297" r:id="rId49"/>
    <p:sldId id="299" r:id="rId50"/>
    <p:sldId id="300" r:id="rId51"/>
    <p:sldId id="301" r:id="rId52"/>
    <p:sldId id="327" r:id="rId53"/>
    <p:sldId id="328" r:id="rId54"/>
    <p:sldId id="329" r:id="rId55"/>
    <p:sldId id="339" r:id="rId56"/>
    <p:sldId id="341" r:id="rId57"/>
    <p:sldId id="342" r:id="rId58"/>
    <p:sldId id="330" r:id="rId59"/>
    <p:sldId id="304" r:id="rId60"/>
    <p:sldId id="336" r:id="rId61"/>
    <p:sldId id="337" r:id="rId62"/>
    <p:sldId id="338" r:id="rId63"/>
    <p:sldId id="306" r:id="rId64"/>
    <p:sldId id="307" r:id="rId65"/>
    <p:sldId id="308" r:id="rId66"/>
    <p:sldId id="309" r:id="rId67"/>
    <p:sldId id="310" r:id="rId68"/>
    <p:sldId id="311" r:id="rId69"/>
    <p:sldId id="331" r:id="rId70"/>
    <p:sldId id="313" r:id="rId71"/>
    <p:sldId id="314" r:id="rId72"/>
    <p:sldId id="315" r:id="rId73"/>
    <p:sldId id="334" r:id="rId74"/>
    <p:sldId id="335" r:id="rId75"/>
    <p:sldId id="319" r:id="rId76"/>
    <p:sldId id="320" r:id="rId77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21ABC8-7C06-4EFF-9B0F-C2516516B96A}" type="datetimeFigureOut">
              <a:rPr lang="zh-CN" altLang="en-US" smtClean="0"/>
              <a:t>2024/12/26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013D9C-ECA4-4D81-B108-FE68727B52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2024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013D9C-ECA4-4D81-B108-FE68727B52C9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6687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ltGray">
          <a:xfrm>
            <a:off x="0" y="6611938"/>
            <a:ext cx="9144000" cy="2603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37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376238" y="228600"/>
            <a:ext cx="11477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600" b="1" dirty="0" smtClean="0">
                <a:solidFill>
                  <a:schemeClr val="tx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BUPT</a:t>
            </a:r>
            <a:endParaRPr lang="en-US" altLang="zh-CN" sz="2400" b="1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371600" y="5867400"/>
            <a:ext cx="6553200" cy="5334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1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ctrTitle" sz="quarter"/>
          </p:nvPr>
        </p:nvSpPr>
        <p:spPr bwMode="gray">
          <a:xfrm>
            <a:off x="0" y="4868863"/>
            <a:ext cx="9144000" cy="720725"/>
          </a:xfrm>
          <a:gradFill rotWithShape="1">
            <a:gsLst>
              <a:gs pos="0">
                <a:schemeClr val="tx1">
                  <a:gamma/>
                  <a:shade val="46275"/>
                  <a:invGamma/>
                </a:schemeClr>
              </a:gs>
              <a:gs pos="50000">
                <a:schemeClr val="tx1"/>
              </a:gs>
              <a:gs pos="100000">
                <a:schemeClr val="tx1">
                  <a:gamma/>
                  <a:shade val="46275"/>
                  <a:invGamma/>
                </a:schemeClr>
              </a:gs>
            </a:gsLst>
            <a:lin ang="0" scaled="1"/>
          </a:gradFill>
          <a:extLst>
            <a:ext uri="{AF507438-7753-43E0-B8FC-AC1667EBCBE1}">
              <a14:hiddenEffects xmlns:a14="http://schemas.microsoft.com/office/drawing/2010/main">
                <a:effectLst>
                  <a:outerShdw dist="81320" dir="3080412" algn="ctr" rotWithShape="0">
                    <a:schemeClr val="tx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en-US" altLang="ko-KR" noProof="0" smtClean="0"/>
              <a:t>Click to edit Master title</a:t>
            </a:r>
            <a:br>
              <a:rPr lang="en-US" altLang="ko-KR" noProof="0" smtClean="0"/>
            </a:br>
            <a:r>
              <a:rPr lang="en-US" altLang="ko-KR" noProof="0" smtClean="0"/>
              <a:t> style</a:t>
            </a:r>
          </a:p>
        </p:txBody>
      </p:sp>
    </p:spTree>
    <p:extLst>
      <p:ext uri="{BB962C8B-B14F-4D97-AF65-F5344CB8AC3E}">
        <p14:creationId xmlns:p14="http://schemas.microsoft.com/office/powerpoint/2010/main" val="1668511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C9F51A-F7C3-4530-9988-EA87EE35DC9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</a:p>
        </p:txBody>
      </p:sp>
    </p:spTree>
    <p:extLst>
      <p:ext uri="{BB962C8B-B14F-4D97-AF65-F5344CB8AC3E}">
        <p14:creationId xmlns:p14="http://schemas.microsoft.com/office/powerpoint/2010/main" val="430211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8EFB11-DF16-4011-830F-EF6419E08B5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</a:p>
        </p:txBody>
      </p:sp>
    </p:spTree>
    <p:extLst>
      <p:ext uri="{BB962C8B-B14F-4D97-AF65-F5344CB8AC3E}">
        <p14:creationId xmlns:p14="http://schemas.microsoft.com/office/powerpoint/2010/main" val="2827779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52525"/>
            <a:ext cx="4038600" cy="524827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52525"/>
            <a:ext cx="4038600" cy="524827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8D4181-3095-4692-A4CF-573945CD9B8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</a:p>
        </p:txBody>
      </p:sp>
    </p:spTree>
    <p:extLst>
      <p:ext uri="{BB962C8B-B14F-4D97-AF65-F5344CB8AC3E}">
        <p14:creationId xmlns:p14="http://schemas.microsoft.com/office/powerpoint/2010/main" val="2051885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727E2C-AD81-4F34-8881-1F80DFBA868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</a:p>
        </p:txBody>
      </p:sp>
    </p:spTree>
    <p:extLst>
      <p:ext uri="{BB962C8B-B14F-4D97-AF65-F5344CB8AC3E}">
        <p14:creationId xmlns:p14="http://schemas.microsoft.com/office/powerpoint/2010/main" val="2477431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96CB66-36C4-4DF5-9943-8A290627D2E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</a:p>
        </p:txBody>
      </p:sp>
    </p:spTree>
    <p:extLst>
      <p:ext uri="{BB962C8B-B14F-4D97-AF65-F5344CB8AC3E}">
        <p14:creationId xmlns:p14="http://schemas.microsoft.com/office/powerpoint/2010/main" val="3407697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817A75-7C42-4CC5-B6D3-B43F277BDEA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</a:p>
        </p:txBody>
      </p:sp>
    </p:spTree>
    <p:extLst>
      <p:ext uri="{BB962C8B-B14F-4D97-AF65-F5344CB8AC3E}">
        <p14:creationId xmlns:p14="http://schemas.microsoft.com/office/powerpoint/2010/main" val="1722064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CC0981-B3DD-43F0-92E1-7A2F51124C6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</a:p>
        </p:txBody>
      </p:sp>
    </p:spTree>
    <p:extLst>
      <p:ext uri="{BB962C8B-B14F-4D97-AF65-F5344CB8AC3E}">
        <p14:creationId xmlns:p14="http://schemas.microsoft.com/office/powerpoint/2010/main" val="2176739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F88565-5DB1-444C-892F-B3E79B0168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</a:p>
        </p:txBody>
      </p:sp>
    </p:spTree>
    <p:extLst>
      <p:ext uri="{BB962C8B-B14F-4D97-AF65-F5344CB8AC3E}">
        <p14:creationId xmlns:p14="http://schemas.microsoft.com/office/powerpoint/2010/main" val="1532973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78C396-4D33-4187-BEB7-0885AC7D1A4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</a:p>
        </p:txBody>
      </p:sp>
    </p:spTree>
    <p:extLst>
      <p:ext uri="{BB962C8B-B14F-4D97-AF65-F5344CB8AC3E}">
        <p14:creationId xmlns:p14="http://schemas.microsoft.com/office/powerpoint/2010/main" val="1569927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48450" y="152400"/>
            <a:ext cx="2114550" cy="6248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191250" cy="624840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5A55DD-1773-4A19-8E5D-FC23DE0C6F6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</a:p>
        </p:txBody>
      </p:sp>
    </p:spTree>
    <p:extLst>
      <p:ext uri="{BB962C8B-B14F-4D97-AF65-F5344CB8AC3E}">
        <p14:creationId xmlns:p14="http://schemas.microsoft.com/office/powerpoint/2010/main" val="29970049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458200" cy="563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152525"/>
            <a:ext cx="4038600" cy="524827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52525"/>
            <a:ext cx="4038600" cy="524827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54AC81-AC0B-4669-91C2-1D7EC4710F7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BUPT</a:t>
            </a:r>
          </a:p>
        </p:txBody>
      </p:sp>
    </p:spTree>
    <p:extLst>
      <p:ext uri="{BB962C8B-B14F-4D97-AF65-F5344CB8AC3E}">
        <p14:creationId xmlns:p14="http://schemas.microsoft.com/office/powerpoint/2010/main" val="2347638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ltGray">
          <a:xfrm>
            <a:off x="0" y="0"/>
            <a:ext cx="9144000" cy="836613"/>
          </a:xfrm>
          <a:prstGeom prst="rect">
            <a:avLst/>
          </a:prstGeom>
          <a:gradFill rotWithShape="1">
            <a:gsLst>
              <a:gs pos="0">
                <a:schemeClr val="tx1">
                  <a:gamma/>
                  <a:shade val="46275"/>
                  <a:invGamma/>
                </a:schemeClr>
              </a:gs>
              <a:gs pos="50000">
                <a:schemeClr val="tx1"/>
              </a:gs>
              <a:gs pos="100000">
                <a:schemeClr val="tx1">
                  <a:gamma/>
                  <a:shade val="46275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52525"/>
            <a:ext cx="8229600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 smtClean="0"/>
              <a:t>Click to edit Master text styles</a:t>
            </a:r>
          </a:p>
          <a:p>
            <a:pPr lvl="1"/>
            <a:r>
              <a:rPr lang="en-US" altLang="zh-CN" dirty="0" smtClean="0"/>
              <a:t>Second level</a:t>
            </a:r>
          </a:p>
          <a:p>
            <a:pPr lvl="2"/>
            <a:r>
              <a:rPr lang="en-US" altLang="zh-CN" dirty="0" smtClean="0"/>
              <a:t>Third level</a:t>
            </a:r>
          </a:p>
          <a:p>
            <a:pPr lvl="3"/>
            <a:r>
              <a:rPr lang="en-US" altLang="zh-CN" dirty="0" smtClean="0"/>
              <a:t>Fourth level</a:t>
            </a:r>
          </a:p>
          <a:p>
            <a:pPr lvl="4"/>
            <a:r>
              <a:rPr lang="en-US" altLang="zh-CN" dirty="0" smtClean="0"/>
              <a:t>Fifth level</a:t>
            </a:r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51275" y="6461125"/>
            <a:ext cx="4911725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1">
                <a:latin typeface="+mj-lt"/>
                <a:ea typeface="华文楷体" panose="02010600040101010101" pitchFamily="2" charset="-122"/>
              </a:defRPr>
            </a:lvl1pPr>
          </a:lstStyle>
          <a:p>
            <a:pPr>
              <a:defRPr/>
            </a:pPr>
            <a:r>
              <a:rPr lang="en-US" altLang="zh-CN" dirty="0" smtClean="0"/>
              <a:t>BUPT SCST</a:t>
            </a:r>
            <a:endParaRPr lang="en-US" altLang="zh-CN" dirty="0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421438"/>
            <a:ext cx="792163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+mj-lt"/>
                <a:ea typeface="华文楷体" panose="02010600040101010101" pitchFamily="2" charset="-122"/>
              </a:defRPr>
            </a:lvl1pPr>
          </a:lstStyle>
          <a:p>
            <a:pPr>
              <a:defRPr/>
            </a:pPr>
            <a:fld id="{C36076FB-385E-47AF-A680-D2514E7FCBCD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title"/>
          </p:nvPr>
        </p:nvSpPr>
        <p:spPr bwMode="white">
          <a:xfrm>
            <a:off x="304800" y="152400"/>
            <a:ext cx="84582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gray">
          <a:xfrm>
            <a:off x="0" y="838200"/>
            <a:ext cx="9144000" cy="24447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zh-CN" sz="1000" b="1" dirty="0" smtClean="0">
              <a:solidFill>
                <a:schemeClr val="bg1"/>
              </a:solidFill>
              <a:latin typeface="Verdana" panose="020B0604030504040204" pitchFamily="34" charset="0"/>
              <a:ea typeface="华文楷体" panose="02010600040101010101" pitchFamily="2" charset="-122"/>
            </a:endParaRPr>
          </a:p>
        </p:txBody>
      </p:sp>
      <p:sp>
        <p:nvSpPr>
          <p:cNvPr id="6152" name="Rectangle 8"/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14288" y="838200"/>
            <a:ext cx="8458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 b="1">
                <a:solidFill>
                  <a:schemeClr val="bg1"/>
                </a:solidFill>
                <a:latin typeface="+mj-lt"/>
                <a:ea typeface="华文楷体" panose="02010600040101010101" pitchFamily="2" charset="-122"/>
              </a:defRPr>
            </a:lvl1pPr>
          </a:lstStyle>
          <a:p>
            <a:pPr>
              <a:defRPr/>
            </a:pPr>
            <a:r>
              <a:rPr lang="en-US" altLang="zh-CN" dirty="0" smtClean="0"/>
              <a:t>BUPT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hf sldNum="0"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32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image" Target="../media/image4.emf"/><Relationship Id="rId7" Type="http://schemas.openxmlformats.org/officeDocument/2006/relationships/image" Target="../media/image8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emf"/><Relationship Id="rId11" Type="http://schemas.openxmlformats.org/officeDocument/2006/relationships/image" Target="../media/image12.emf"/><Relationship Id="rId5" Type="http://schemas.openxmlformats.org/officeDocument/2006/relationships/image" Target="../media/image6.emf"/><Relationship Id="rId10" Type="http://schemas.openxmlformats.org/officeDocument/2006/relationships/image" Target="../media/image11.emf"/><Relationship Id="rId4" Type="http://schemas.openxmlformats.org/officeDocument/2006/relationships/image" Target="../media/image5.emf"/><Relationship Id="rId9" Type="http://schemas.openxmlformats.org/officeDocument/2006/relationships/image" Target="../media/image10.emf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>
                <a:ea typeface="华文楷体" panose="02010600040101010101" pitchFamily="2" charset="-122"/>
              </a:rPr>
              <a:t>第九章 排序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>
                <a:ea typeface="华文楷体" panose="02010600040101010101" pitchFamily="2" charset="-122"/>
              </a:rPr>
              <a:t>杨震   计算机学院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z="2800" dirty="0" smtClean="0">
                <a:ea typeface="华文楷体" panose="02010600040101010101" pitchFamily="2" charset="-122"/>
              </a:rPr>
              <a:t>9.1 </a:t>
            </a:r>
            <a:r>
              <a:rPr lang="zh-CN" altLang="en-US" sz="2800" dirty="0" smtClean="0">
                <a:ea typeface="华文楷体" panose="02010600040101010101" pitchFamily="2" charset="-122"/>
              </a:rPr>
              <a:t>基本概念与术语</a:t>
            </a:r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solidFill>
                  <a:srgbClr val="8000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排序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是根据记录关键字的值的</a:t>
            </a:r>
            <a:r>
              <a:rPr lang="zh-CN" altLang="en-US" sz="2400" dirty="0" smtClean="0">
                <a:solidFill>
                  <a:schemeClr val="accent2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递增</a:t>
            </a:r>
            <a:r>
              <a:rPr lang="en-US" altLang="zh-CN" sz="2400" dirty="0" smtClean="0">
                <a:solidFill>
                  <a:schemeClr val="accent2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(</a:t>
            </a:r>
            <a:r>
              <a:rPr lang="zh-CN" altLang="en-US" sz="2400" dirty="0" smtClean="0">
                <a:solidFill>
                  <a:schemeClr val="accent2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递减</a:t>
            </a:r>
            <a:r>
              <a:rPr lang="en-US" altLang="zh-CN" sz="2400" dirty="0" smtClean="0">
                <a:solidFill>
                  <a:schemeClr val="accent2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的关系将文件记录的次序重新排列。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 b="1" dirty="0" smtClean="0">
              <a:solidFill>
                <a:srgbClr val="CC6600"/>
              </a:solidFill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 b="1" dirty="0" smtClean="0">
              <a:solidFill>
                <a:srgbClr val="CC6600"/>
              </a:solidFill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定义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]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设有含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个记录的序列          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{R</a:t>
            </a:r>
            <a:r>
              <a:rPr lang="en-US" altLang="zh-CN" sz="2400" baseline="-25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, R</a:t>
            </a:r>
            <a:r>
              <a:rPr lang="en-US" altLang="zh-CN" sz="2400" baseline="-25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,..., R</a:t>
            </a:r>
            <a:r>
              <a:rPr lang="en-US" altLang="zh-CN" sz="2400" baseline="-25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}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对应的关键字序列为            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{K</a:t>
            </a:r>
            <a:r>
              <a:rPr lang="en-US" altLang="zh-CN" sz="2400" baseline="-25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, K</a:t>
            </a:r>
            <a:r>
              <a:rPr lang="en-US" altLang="zh-CN" sz="2400" baseline="-25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,..., 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 sz="2400" baseline="-250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}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一个置换                               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p1,p2,...,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pn</a:t>
            </a:r>
            <a:endParaRPr lang="en-US" altLang="zh-CN" sz="24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使记录序列按关键字有序     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{R</a:t>
            </a:r>
            <a:r>
              <a:rPr lang="en-US" altLang="zh-CN" sz="2400" baseline="-25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p1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, R</a:t>
            </a:r>
            <a:r>
              <a:rPr lang="en-US" altLang="zh-CN" sz="2400" baseline="-25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p2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,..., 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400" baseline="-250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pn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}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                   满足             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 sz="2400" baseline="-25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p1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 K</a:t>
            </a:r>
            <a:r>
              <a:rPr lang="en-US" altLang="zh-CN" sz="2400" baseline="-25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p2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...  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 sz="2400" baseline="-250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pn</a:t>
            </a:r>
            <a:r>
              <a:rPr lang="en-US" altLang="zh-CN" sz="2400" baseline="-25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(</a:t>
            </a:r>
            <a:r>
              <a:rPr lang="zh-CN" altLang="en-US" sz="2400" dirty="0" smtClean="0">
                <a:solidFill>
                  <a:schemeClr val="accent2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正序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aseline="-25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                                    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或             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 sz="2400" baseline="-25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p1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 K</a:t>
            </a:r>
            <a:r>
              <a:rPr lang="en-US" altLang="zh-CN" sz="2400" baseline="-25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p2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... 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 sz="2400" baseline="-250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pn</a:t>
            </a:r>
            <a:r>
              <a:rPr lang="en-US" altLang="zh-CN" sz="2400" baseline="-25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(</a:t>
            </a:r>
            <a:r>
              <a:rPr lang="zh-CN" altLang="en-US" sz="2400" dirty="0" smtClean="0">
                <a:solidFill>
                  <a:schemeClr val="accent2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逆序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512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排序的分类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400" b="1" dirty="0" smtClean="0">
              <a:solidFill>
                <a:srgbClr val="CC6600"/>
              </a:solidFill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[1. 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根据排序时文件记录的存放位置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</a:t>
            </a:r>
            <a:r>
              <a:rPr lang="zh-CN" altLang="en-US" sz="2400" b="1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内部排序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：排序过程中将全部记录放在内存中处理。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         </a:t>
            </a:r>
            <a:r>
              <a:rPr lang="zh-CN" altLang="en-US" sz="2400" b="1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外部排序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：排序过程中需在内外存之间交换信息。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4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[2. 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根据排序前后相同关键字记录的相对次序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</a:t>
            </a:r>
            <a:r>
              <a:rPr lang="zh-CN" altLang="en-US" sz="2400" b="1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稳定排序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：设文件中任意两个记录的关键字值相同，即</a:t>
            </a:r>
            <a:r>
              <a:rPr lang="en-US" altLang="zh-CN" sz="2400" dirty="0" smtClean="0">
                <a:ea typeface="华文楷体" panose="02010600040101010101" pitchFamily="2" charset="-122"/>
              </a:rPr>
              <a:t>K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i</a:t>
            </a:r>
            <a:r>
              <a:rPr lang="en-US" altLang="zh-CN" sz="2400" dirty="0" smtClean="0">
                <a:ea typeface="华文楷体" panose="02010600040101010101" pitchFamily="2" charset="-122"/>
              </a:rPr>
              <a:t>=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K</a:t>
            </a:r>
            <a:r>
              <a:rPr lang="en-US" altLang="zh-CN" sz="2400" baseline="-25000" dirty="0" err="1" smtClean="0">
                <a:ea typeface="华文楷体" panose="02010600040101010101" pitchFamily="2" charset="-122"/>
              </a:rPr>
              <a:t>j</a:t>
            </a:r>
            <a:r>
              <a:rPr lang="en-US" altLang="zh-CN" sz="2400" dirty="0" smtClean="0">
                <a:ea typeface="华文楷体" panose="02010600040101010101" pitchFamily="2" charset="-122"/>
              </a:rPr>
              <a:t>(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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j</a:t>
            </a:r>
            <a:r>
              <a:rPr lang="en-US" altLang="zh-CN" sz="2400" dirty="0" smtClean="0">
                <a:ea typeface="华文楷体" panose="02010600040101010101" pitchFamily="2" charset="-122"/>
              </a:rPr>
              <a:t>)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，若排序之前记录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R</a:t>
            </a:r>
            <a:r>
              <a:rPr lang="en-US" altLang="zh-CN" sz="2400" baseline="-25000" dirty="0" err="1" smtClean="0">
                <a:ea typeface="华文楷体" panose="02010600040101010101" pitchFamily="2" charset="-122"/>
              </a:rPr>
              <a:t>i</a:t>
            </a:r>
            <a:r>
              <a:rPr lang="zh-CN" altLang="en-US" sz="2400" dirty="0" smtClean="0">
                <a:ea typeface="华文楷体" panose="02010600040101010101" pitchFamily="2" charset="-122"/>
              </a:rPr>
              <a:t>领先于记录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R</a:t>
            </a:r>
            <a:r>
              <a:rPr lang="en-US" altLang="zh-CN" sz="2400" baseline="-25000" dirty="0" err="1" smtClean="0">
                <a:ea typeface="华文楷体" panose="02010600040101010101" pitchFamily="2" charset="-122"/>
              </a:rPr>
              <a:t>j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，排序后这种关系不变</a:t>
            </a:r>
            <a:r>
              <a:rPr lang="en-US" altLang="zh-CN" sz="2400" dirty="0" smtClean="0">
                <a:ea typeface="华文楷体" panose="02010600040101010101" pitchFamily="2" charset="-122"/>
              </a:rPr>
              <a:t>(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对所有输入实例而言</a:t>
            </a:r>
            <a:r>
              <a:rPr lang="en-US" altLang="zh-CN" sz="2400" dirty="0" smtClean="0">
                <a:ea typeface="华文楷体" panose="02010600040101010101" pitchFamily="2" charset="-122"/>
              </a:rPr>
              <a:t>)</a:t>
            </a:r>
            <a:r>
              <a:rPr lang="zh-CN" altLang="en-US" sz="2400" dirty="0" smtClean="0">
                <a:ea typeface="华文楷体" panose="02010600040101010101" pitchFamily="2" charset="-122"/>
              </a:rPr>
              <a:t>。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     </a:t>
            </a:r>
            <a:r>
              <a:rPr lang="zh-CN" altLang="en-US" sz="2400" b="1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不稳定排序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：只要有一个实例使排序算法不满足稳定性要求。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614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[3. 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根据文件的存储结构划分排序的种类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</a:t>
            </a:r>
            <a:r>
              <a:rPr lang="zh-CN" altLang="en-US" sz="2400" b="1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连续顺序文件排序</a:t>
            </a:r>
            <a:endParaRPr lang="zh-CN" altLang="en-US" sz="2400" dirty="0" smtClean="0">
              <a:solidFill>
                <a:srgbClr val="FF3300"/>
              </a:solidFill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         </a:t>
            </a:r>
            <a:r>
              <a:rPr lang="zh-CN" altLang="en-US" sz="2400" b="1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链表排序</a:t>
            </a:r>
            <a:endParaRPr lang="zh-CN" altLang="en-US" sz="2400" dirty="0" smtClean="0">
              <a:solidFill>
                <a:srgbClr val="FF3300"/>
              </a:solidFill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     </a:t>
            </a:r>
            <a:r>
              <a:rPr lang="zh-CN" altLang="en-US" sz="2400" b="1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地址排序</a:t>
            </a:r>
            <a:r>
              <a:rPr lang="en-US" altLang="zh-CN" sz="2400" dirty="0" smtClean="0">
                <a:ea typeface="华文楷体" panose="02010600040101010101" pitchFamily="2" charset="-122"/>
              </a:rPr>
              <a:t>: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待排记录顺序存储，排序时只对辅助                        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                            表</a:t>
            </a:r>
            <a:r>
              <a:rPr lang="en-US" altLang="zh-CN" sz="2400" dirty="0" smtClean="0">
                <a:ea typeface="华文楷体" panose="02010600040101010101" pitchFamily="2" charset="-122"/>
              </a:rPr>
              <a:t>(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关键字</a:t>
            </a:r>
            <a:r>
              <a:rPr lang="en-US" altLang="zh-CN" sz="2400" dirty="0" smtClean="0">
                <a:ea typeface="华文楷体" panose="02010600040101010101" pitchFamily="2" charset="-122"/>
              </a:rPr>
              <a:t>+</a:t>
            </a:r>
            <a:r>
              <a:rPr lang="zh-CN" altLang="en-US" sz="2400" dirty="0" smtClean="0">
                <a:ea typeface="华文楷体" panose="02010600040101010101" pitchFamily="2" charset="-122"/>
              </a:rPr>
              <a:t>指针</a:t>
            </a:r>
            <a:r>
              <a:rPr lang="en-US" altLang="zh-CN" sz="2400" dirty="0" smtClean="0">
                <a:ea typeface="华文楷体" panose="02010600040101010101" pitchFamily="2" charset="-122"/>
              </a:rPr>
              <a:t>)</a:t>
            </a:r>
            <a:r>
              <a:rPr lang="zh-CN" altLang="en-US" sz="2400" dirty="0" smtClean="0">
                <a:ea typeface="华文楷体" panose="02010600040101010101" pitchFamily="2" charset="-122"/>
              </a:rPr>
              <a:t>的表目进行物理重排。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4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[4. 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根据排序的方法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  <a:endParaRPr lang="en-US" altLang="zh-CN" sz="2400" dirty="0" smtClean="0">
              <a:solidFill>
                <a:srgbClr val="CC6600"/>
              </a:solidFill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         </a:t>
            </a:r>
            <a:r>
              <a:rPr lang="zh-CN" altLang="en-US" sz="2400" b="1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插入排序              交换排序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         选择排序              归并排序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         基数排序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400" dirty="0" smtClean="0">
              <a:solidFill>
                <a:schemeClr val="accent2"/>
              </a:solidFill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[5. 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根据排序算法所需的辅助空间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</a:t>
            </a:r>
            <a:r>
              <a:rPr lang="zh-CN" altLang="en-US" sz="2400" b="1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就地排序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：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O(1)    </a:t>
            </a:r>
            <a:r>
              <a:rPr lang="zh-CN" altLang="en-US" sz="2400" b="1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非就地排序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：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O(n)</a:t>
            </a:r>
            <a:r>
              <a:rPr lang="zh-CN" altLang="en-US" sz="2400" dirty="0" smtClean="0">
                <a:ea typeface="华文楷体" panose="02010600040101010101" pitchFamily="2" charset="-122"/>
              </a:rPr>
              <a:t>或与</a:t>
            </a:r>
            <a:r>
              <a:rPr lang="en-US" altLang="zh-CN" sz="2400" dirty="0" smtClean="0">
                <a:ea typeface="华文楷体" panose="02010600040101010101" pitchFamily="2" charset="-122"/>
              </a:rPr>
              <a:t>n</a:t>
            </a:r>
            <a:r>
              <a:rPr lang="zh-CN" altLang="en-US" sz="2400" dirty="0" smtClean="0">
                <a:ea typeface="华文楷体" panose="02010600040101010101" pitchFamily="2" charset="-122"/>
              </a:rPr>
              <a:t>有关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717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评价排序算法的主要标准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400" b="1" dirty="0" smtClean="0">
              <a:solidFill>
                <a:srgbClr val="CC6600"/>
              </a:solidFill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时间开销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  <a:endParaRPr lang="en-US" altLang="zh-CN" sz="2400" dirty="0" smtClean="0">
              <a:solidFill>
                <a:srgbClr val="CC6600"/>
              </a:solidFill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考察算法的两个基本操作的次数：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 smtClean="0">
                <a:ea typeface="华文楷体" panose="02010600040101010101" pitchFamily="2" charset="-122"/>
              </a:rPr>
              <a:t>比较关键字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 smtClean="0">
                <a:ea typeface="华文楷体" panose="02010600040101010101" pitchFamily="2" charset="-122"/>
              </a:rPr>
              <a:t>移动记录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算法时间还与输入实例的初始状态有关时，分情况：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 smtClean="0">
                <a:ea typeface="华文楷体" panose="02010600040101010101" pitchFamily="2" charset="-122"/>
              </a:rPr>
              <a:t>最好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 smtClean="0">
                <a:ea typeface="华文楷体" panose="02010600040101010101" pitchFamily="2" charset="-122"/>
              </a:rPr>
              <a:t>最坏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dirty="0" smtClean="0">
                <a:ea typeface="华文楷体" panose="02010600040101010101" pitchFamily="2" charset="-122"/>
              </a:rPr>
              <a:t>平均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空间开销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所需的辅助空间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BUPT SCST</a:t>
            </a:r>
          </a:p>
        </p:txBody>
      </p:sp>
      <p:sp>
        <p:nvSpPr>
          <p:cNvPr id="5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12850"/>
            <a:ext cx="8229600" cy="524827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约定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顺序方式存储时，结构如下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zh-CN" altLang="en-US" sz="2400" b="1" dirty="0" smtClean="0">
                <a:ea typeface="华文楷体" panose="02010600040101010101" pitchFamily="2" charset="-122"/>
              </a:rPr>
              <a:t>＃ </a:t>
            </a:r>
            <a:r>
              <a:rPr kumimoji="1" lang="en-US" altLang="zh-CN" sz="2400" b="1" dirty="0" smtClean="0">
                <a:ea typeface="华文楷体" panose="02010600040101010101" pitchFamily="2" charset="-122"/>
              </a:rPr>
              <a:t>define </a:t>
            </a:r>
            <a:r>
              <a:rPr kumimoji="1" lang="en-US" altLang="zh-CN" sz="2400" dirty="0" smtClean="0">
                <a:ea typeface="华文楷体" panose="02010600040101010101" pitchFamily="2" charset="-122"/>
              </a:rPr>
              <a:t>MAXSIZE  </a:t>
            </a:r>
            <a:r>
              <a:rPr kumimoji="1" lang="zh-CN" altLang="en-US" sz="2400" dirty="0" smtClean="0">
                <a:ea typeface="华文楷体" panose="02010600040101010101" pitchFamily="2" charset="-122"/>
              </a:rPr>
              <a:t>最大记录个数</a:t>
            </a:r>
            <a:endParaRPr kumimoji="1" lang="zh-CN" altLang="en-US" sz="2400" b="1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2400" b="1" dirty="0" err="1" smtClean="0">
                <a:solidFill>
                  <a:srgbClr val="C00000"/>
                </a:solidFill>
                <a:ea typeface="华文楷体" panose="02010600040101010101" pitchFamily="2" charset="-122"/>
              </a:rPr>
              <a:t>typedef</a:t>
            </a:r>
            <a:r>
              <a:rPr kumimoji="1" lang="en-US" altLang="zh-CN" sz="2400" b="1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 </a:t>
            </a:r>
            <a:r>
              <a:rPr kumimoji="1" lang="en-US" altLang="zh-CN" sz="2400" b="1" dirty="0" err="1" smtClean="0">
                <a:solidFill>
                  <a:srgbClr val="C00000"/>
                </a:solidFill>
                <a:ea typeface="华文楷体" panose="02010600040101010101" pitchFamily="2" charset="-122"/>
              </a:rPr>
              <a:t>int</a:t>
            </a:r>
            <a:r>
              <a:rPr kumimoji="1" lang="en-US" altLang="zh-CN" sz="2400" b="1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 </a:t>
            </a:r>
            <a:r>
              <a:rPr kumimoji="1" lang="en-US" altLang="zh-CN" sz="2400" dirty="0" err="1" smtClean="0">
                <a:solidFill>
                  <a:srgbClr val="C00000"/>
                </a:solidFill>
                <a:ea typeface="华文楷体" panose="02010600040101010101" pitchFamily="2" charset="-122"/>
              </a:rPr>
              <a:t>KeyType</a:t>
            </a:r>
            <a:r>
              <a:rPr kumimoji="1" lang="zh-CN" altLang="en-US" sz="24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；关键字类型如果是整型</a:t>
            </a:r>
            <a:endParaRPr kumimoji="1" lang="zh-CN" altLang="en-US" sz="2400" b="1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2400" b="1" dirty="0" err="1" smtClean="0">
                <a:ea typeface="华文楷体" panose="02010600040101010101" pitchFamily="2" charset="-122"/>
              </a:rPr>
              <a:t>typedef</a:t>
            </a:r>
            <a:r>
              <a:rPr kumimoji="1" lang="en-US" altLang="zh-CN" sz="2400" b="1" dirty="0" smtClean="0">
                <a:ea typeface="华文楷体" panose="02010600040101010101" pitchFamily="2" charset="-122"/>
              </a:rPr>
              <a:t> </a:t>
            </a:r>
            <a:r>
              <a:rPr kumimoji="1" lang="en-US" altLang="zh-CN" sz="2400" b="1" dirty="0" err="1" smtClean="0">
                <a:ea typeface="华文楷体" panose="02010600040101010101" pitchFamily="2" charset="-122"/>
              </a:rPr>
              <a:t>struct</a:t>
            </a:r>
            <a:r>
              <a:rPr kumimoji="1" lang="en-US" altLang="zh-CN" sz="2400" b="1" dirty="0" smtClean="0">
                <a:ea typeface="华文楷体" panose="02010600040101010101" pitchFamily="2" charset="-122"/>
              </a:rPr>
              <a:t> </a:t>
            </a:r>
            <a:r>
              <a:rPr kumimoji="1" lang="en-US" altLang="zh-CN" sz="2400" dirty="0" smtClean="0">
                <a:ea typeface="华文楷体" panose="02010600040101010101" pitchFamily="2" charset="-122"/>
              </a:rPr>
              <a:t>{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2400" dirty="0" smtClean="0">
                <a:ea typeface="华文楷体" panose="02010600040101010101" pitchFamily="2" charset="-122"/>
              </a:rPr>
              <a:t>   </a:t>
            </a:r>
            <a:r>
              <a:rPr kumimoji="1" lang="en-US" altLang="zh-CN" sz="2400" dirty="0" err="1" smtClean="0">
                <a:ea typeface="华文楷体" panose="02010600040101010101" pitchFamily="2" charset="-122"/>
              </a:rPr>
              <a:t>KeyType</a:t>
            </a:r>
            <a:r>
              <a:rPr kumimoji="1" lang="en-US" altLang="zh-CN" sz="2400" dirty="0" smtClean="0">
                <a:ea typeface="华文楷体" panose="02010600040101010101" pitchFamily="2" charset="-122"/>
              </a:rPr>
              <a:t>  key;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2400" dirty="0" smtClean="0">
                <a:ea typeface="华文楷体" panose="02010600040101010101" pitchFamily="2" charset="-122"/>
              </a:rPr>
              <a:t>   </a:t>
            </a:r>
            <a:r>
              <a:rPr kumimoji="1" lang="en-US" altLang="zh-CN" sz="2400" dirty="0" err="1" smtClean="0">
                <a:ea typeface="华文楷体" panose="02010600040101010101" pitchFamily="2" charset="-122"/>
              </a:rPr>
              <a:t>InfoType</a:t>
            </a:r>
            <a:r>
              <a:rPr kumimoji="1" lang="en-US" altLang="zh-CN" sz="2400" dirty="0" smtClean="0">
                <a:ea typeface="华文楷体" panose="02010600040101010101" pitchFamily="2" charset="-122"/>
              </a:rPr>
              <a:t> </a:t>
            </a:r>
            <a:r>
              <a:rPr kumimoji="1" lang="en-US" altLang="zh-CN" sz="2400" dirty="0" err="1" smtClean="0">
                <a:ea typeface="华文楷体" panose="02010600040101010101" pitchFamily="2" charset="-122"/>
              </a:rPr>
              <a:t>otherinfo</a:t>
            </a:r>
            <a:r>
              <a:rPr kumimoji="1" lang="en-US" altLang="zh-CN" sz="2400" dirty="0" smtClean="0">
                <a:ea typeface="华文楷体" panose="02010600040101010101" pitchFamily="2" charset="-122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2400" dirty="0" smtClean="0">
                <a:ea typeface="华文楷体" panose="02010600040101010101" pitchFamily="2" charset="-122"/>
              </a:rPr>
              <a:t>} </a:t>
            </a:r>
            <a:r>
              <a:rPr kumimoji="1" lang="en-US" altLang="zh-CN" sz="2400" dirty="0" err="1" smtClean="0">
                <a:ea typeface="华文楷体" panose="02010600040101010101" pitchFamily="2" charset="-122"/>
              </a:rPr>
              <a:t>ElemType</a:t>
            </a:r>
            <a:r>
              <a:rPr kumimoji="1" lang="en-US" altLang="zh-CN" sz="2400" dirty="0" smtClean="0">
                <a:ea typeface="华文楷体" panose="02010600040101010101" pitchFamily="2" charset="-122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kumimoji="1" lang="en-US" altLang="zh-CN" sz="2400" b="1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400" dirty="0" smtClean="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z="2800" dirty="0" smtClean="0">
                <a:ea typeface="华文楷体" panose="02010600040101010101" pitchFamily="2" charset="-122"/>
              </a:rPr>
              <a:t>9.2 </a:t>
            </a:r>
            <a:r>
              <a:rPr lang="zh-CN" altLang="en-US" sz="2800" dirty="0" smtClean="0">
                <a:ea typeface="华文楷体" panose="02010600040101010101" pitchFamily="2" charset="-122"/>
              </a:rPr>
              <a:t>插入排序</a:t>
            </a:r>
          </a:p>
        </p:txBody>
      </p:sp>
      <p:sp>
        <p:nvSpPr>
          <p:cNvPr id="92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52525"/>
            <a:ext cx="8229600" cy="4957763"/>
          </a:xfrm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400" b="1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直接插入排序（增量法）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 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示例 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  { R(0)  R(</a:t>
            </a:r>
            <a:r>
              <a:rPr lang="en-US" altLang="zh-CN" sz="2400" b="1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-4</a:t>
            </a:r>
            <a:r>
              <a:rPr lang="en-US" altLang="zh-CN" sz="2400" dirty="0" smtClean="0">
                <a:ea typeface="华文楷体" panose="02010600040101010101" pitchFamily="2" charset="-122"/>
              </a:rPr>
              <a:t>)  R(8)  R(1)  R(</a:t>
            </a:r>
            <a:r>
              <a:rPr lang="en-US" altLang="zh-CN" sz="2400" b="1" u="sng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-4</a:t>
            </a:r>
            <a:r>
              <a:rPr lang="en-US" altLang="zh-CN" sz="2400" dirty="0" smtClean="0">
                <a:ea typeface="华文楷体" panose="02010600040101010101" pitchFamily="2" charset="-122"/>
              </a:rPr>
              <a:t>)  R(-6) } n=6</a:t>
            </a:r>
          </a:p>
          <a:p>
            <a:pPr marL="609600" indent="-60960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1" dirty="0" smtClean="0">
                <a:ea typeface="华文楷体" panose="02010600040101010101" pitchFamily="2" charset="-122"/>
              </a:rPr>
              <a:t>    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初态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   </a:t>
            </a:r>
            <a:r>
              <a:rPr lang="en-US" altLang="zh-CN" sz="24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[  0 ]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    -4       8       1        </a:t>
            </a:r>
            <a:r>
              <a:rPr lang="en-US" altLang="zh-CN" sz="2400" u="sng" dirty="0" smtClean="0">
                <a:ea typeface="华文楷体" panose="02010600040101010101" pitchFamily="2" charset="-122"/>
              </a:rPr>
              <a:t>-4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       -6 </a:t>
            </a:r>
            <a:r>
              <a:rPr lang="zh-CN" altLang="en-US" sz="1050" b="1" u="sng" dirty="0" smtClean="0">
                <a:solidFill>
                  <a:srgbClr val="7030A0"/>
                </a:solidFill>
                <a:ea typeface="华文楷体" panose="02010600040101010101" pitchFamily="2" charset="-122"/>
              </a:rPr>
              <a:t>把第一个记录看成有序序列</a:t>
            </a:r>
            <a:endParaRPr lang="en-US" altLang="zh-CN" sz="1050" b="1" u="sng" dirty="0" smtClean="0">
              <a:solidFill>
                <a:srgbClr val="7030A0"/>
              </a:solidFill>
              <a:ea typeface="华文楷体" panose="02010600040101010101" pitchFamily="2" charset="-122"/>
            </a:endParaRPr>
          </a:p>
          <a:p>
            <a:pPr marL="609600" indent="-60960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2400" dirty="0" smtClean="0">
                <a:ea typeface="华文楷体" panose="02010600040101010101" pitchFamily="2" charset="-122"/>
              </a:rPr>
              <a:t>=2      </a:t>
            </a:r>
            <a:r>
              <a:rPr lang="en-US" altLang="zh-CN" sz="24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[ -4       0   ]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   8       1        </a:t>
            </a:r>
            <a:r>
              <a:rPr lang="en-US" altLang="zh-CN" sz="2400" u="sng" dirty="0" smtClean="0">
                <a:ea typeface="华文楷体" panose="02010600040101010101" pitchFamily="2" charset="-122"/>
              </a:rPr>
              <a:t>-4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       -6</a:t>
            </a:r>
          </a:p>
          <a:p>
            <a:pPr marL="609600" indent="-60960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2400" dirty="0" smtClean="0">
                <a:ea typeface="华文楷体" panose="02010600040101010101" pitchFamily="2" charset="-122"/>
              </a:rPr>
              <a:t>=3      </a:t>
            </a:r>
            <a:r>
              <a:rPr lang="en-US" altLang="zh-CN" sz="24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[ -4       0        8  ]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   1        </a:t>
            </a:r>
            <a:r>
              <a:rPr lang="en-US" altLang="zh-CN" sz="2400" u="sng" dirty="0" smtClean="0">
                <a:ea typeface="华文楷体" panose="02010600040101010101" pitchFamily="2" charset="-122"/>
              </a:rPr>
              <a:t>-4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       -6</a:t>
            </a:r>
          </a:p>
          <a:p>
            <a:pPr marL="609600" indent="-60960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2400" dirty="0" smtClean="0">
                <a:ea typeface="华文楷体" panose="02010600040101010101" pitchFamily="2" charset="-122"/>
              </a:rPr>
              <a:t>=4      </a:t>
            </a:r>
            <a:r>
              <a:rPr lang="en-US" altLang="zh-CN" sz="24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[ -4       0        1       8  ]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    </a:t>
            </a:r>
            <a:r>
              <a:rPr lang="en-US" altLang="zh-CN" sz="2400" u="sng" dirty="0" smtClean="0">
                <a:ea typeface="华文楷体" panose="02010600040101010101" pitchFamily="2" charset="-122"/>
              </a:rPr>
              <a:t>-4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       -6</a:t>
            </a:r>
          </a:p>
          <a:p>
            <a:pPr marL="609600" indent="-60960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2400" dirty="0" smtClean="0">
                <a:ea typeface="华文楷体" panose="02010600040101010101" pitchFamily="2" charset="-122"/>
              </a:rPr>
              <a:t>=5      </a:t>
            </a:r>
            <a:r>
              <a:rPr lang="en-US" altLang="zh-CN" sz="24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[ -4      </a:t>
            </a:r>
            <a:r>
              <a:rPr lang="en-US" altLang="zh-CN" sz="2400" u="sng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-4</a:t>
            </a:r>
            <a:r>
              <a:rPr lang="en-US" altLang="zh-CN" sz="24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        0       1         8  ]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    -6</a:t>
            </a:r>
          </a:p>
          <a:p>
            <a:pPr marL="609600" indent="-60960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2400" dirty="0" smtClean="0">
                <a:ea typeface="华文楷体" panose="02010600040101010101" pitchFamily="2" charset="-122"/>
              </a:rPr>
              <a:t>=6      </a:t>
            </a:r>
            <a:r>
              <a:rPr lang="en-US" altLang="zh-CN" sz="24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[ -6      </a:t>
            </a:r>
            <a:r>
              <a:rPr lang="en-US" altLang="zh-CN" sz="2400" b="1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-4       </a:t>
            </a:r>
            <a:r>
              <a:rPr lang="en-US" altLang="zh-CN" sz="2400" b="1" u="sng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-4</a:t>
            </a:r>
            <a:r>
              <a:rPr lang="en-US" altLang="zh-CN" sz="24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       0         1         8 ]</a:t>
            </a:r>
          </a:p>
          <a:p>
            <a:pPr marL="609600" indent="-60960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算法思想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每次使有序区增加一个记录</a:t>
            </a:r>
          </a:p>
        </p:txBody>
      </p:sp>
      <p:sp>
        <p:nvSpPr>
          <p:cNvPr id="9222" name="Text Box 4"/>
          <p:cNvSpPr txBox="1">
            <a:spLocks noChangeArrowheads="1"/>
          </p:cNvSpPr>
          <p:nvPr/>
        </p:nvSpPr>
        <p:spPr bwMode="auto">
          <a:xfrm>
            <a:off x="6978650" y="3124200"/>
            <a:ext cx="1784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稳定的排序算法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12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算法步骤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     0  1               i-1  </a:t>
            </a:r>
            <a:r>
              <a:rPr lang="en-US" altLang="zh-CN" sz="2400" dirty="0" err="1" smtClean="0">
                <a:solidFill>
                  <a:schemeClr val="accent1"/>
                </a:solidFill>
                <a:ea typeface="华文楷体" panose="02010600040101010101" pitchFamily="2" charset="-122"/>
              </a:rPr>
              <a:t>i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  i+1               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ea typeface="华文楷体" panose="02010600040101010101" pitchFamily="2" charset="-122"/>
              </a:rPr>
              <a:t>a</a:t>
            </a:r>
            <a:r>
              <a:rPr lang="en-US" altLang="zh-CN" sz="2400" dirty="0" smtClean="0">
                <a:ea typeface="华文楷体" panose="02010600040101010101" pitchFamily="2" charset="-122"/>
              </a:rPr>
              <a:t>[1..n]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</a:t>
            </a:r>
            <a:r>
              <a:rPr lang="en-US" altLang="zh-CN" sz="2400" dirty="0" smtClean="0">
                <a:solidFill>
                  <a:schemeClr val="accent1"/>
                </a:solidFill>
                <a:ea typeface="华文楷体" panose="02010600040101010101" pitchFamily="2" charset="-122"/>
              </a:rPr>
              <a:t>a[</a:t>
            </a:r>
            <a:r>
              <a:rPr lang="en-US" altLang="zh-CN" sz="2400" dirty="0" err="1" smtClean="0">
                <a:solidFill>
                  <a:schemeClr val="accent1"/>
                </a:solidFill>
                <a:ea typeface="华文楷体" panose="02010600040101010101" pitchFamily="2" charset="-122"/>
              </a:rPr>
              <a:t>i</a:t>
            </a:r>
            <a:r>
              <a:rPr lang="en-US" altLang="zh-CN" sz="2400" dirty="0" smtClean="0">
                <a:solidFill>
                  <a:schemeClr val="accent1"/>
                </a:solidFill>
                <a:ea typeface="华文楷体" panose="02010600040101010101" pitchFamily="2" charset="-122"/>
              </a:rPr>
              <a:t>]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    (</a:t>
            </a:r>
            <a:r>
              <a:rPr lang="zh-CN" altLang="zh-CN" sz="2400" dirty="0" smtClean="0">
                <a:ea typeface="华文楷体" panose="02010600040101010101" pitchFamily="2" charset="-122"/>
              </a:rPr>
              <a:t>有序区</a:t>
            </a:r>
            <a:r>
              <a:rPr lang="en-US" altLang="zh-CN" sz="2400" dirty="0" smtClean="0">
                <a:ea typeface="华文楷体" panose="02010600040101010101" pitchFamily="2" charset="-122"/>
              </a:rPr>
              <a:t>)               (</a:t>
            </a:r>
            <a:r>
              <a:rPr lang="zh-CN" altLang="en-US" sz="2400" dirty="0" smtClean="0">
                <a:ea typeface="华文楷体" panose="02010600040101010101" pitchFamily="2" charset="-122"/>
              </a:rPr>
              <a:t>无序区</a:t>
            </a:r>
            <a:r>
              <a:rPr lang="en-US" altLang="zh-CN" sz="2400" dirty="0" smtClean="0">
                <a:ea typeface="华文楷体" panose="02010600040101010101" pitchFamily="2" charset="-122"/>
              </a:rPr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循环</a:t>
            </a:r>
            <a:r>
              <a:rPr lang="en-US" altLang="zh-CN" sz="2400" dirty="0" smtClean="0">
                <a:ea typeface="华文楷体" panose="02010600040101010101" pitchFamily="2" charset="-122"/>
              </a:rPr>
              <a:t>(n-1)</a:t>
            </a:r>
            <a:r>
              <a:rPr lang="zh-CN" altLang="zh-CN" sz="2400" dirty="0" smtClean="0">
                <a:ea typeface="华文楷体" panose="02010600040101010101" pitchFamily="2" charset="-122"/>
              </a:rPr>
              <a:t>次，初值 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2400" dirty="0" smtClean="0">
                <a:ea typeface="华文楷体" panose="02010600040101010101" pitchFamily="2" charset="-122"/>
              </a:rPr>
              <a:t>=2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，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a[0]</a:t>
            </a:r>
            <a:r>
              <a:rPr lang="zh-CN" altLang="en-US" sz="2400" dirty="0" smtClean="0">
                <a:ea typeface="华文楷体" panose="02010600040101010101" pitchFamily="2" charset="-122"/>
              </a:rPr>
              <a:t>用作哨兵。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1)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把第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i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个记录取出保存在</a:t>
            </a:r>
            <a:r>
              <a:rPr lang="en-US" altLang="zh-CN" sz="2400" dirty="0" smtClean="0">
                <a:ea typeface="华文楷体" panose="02010600040101010101" pitchFamily="2" charset="-122"/>
              </a:rPr>
              <a:t>a[0]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中</a:t>
            </a:r>
            <a:endParaRPr lang="en-US" altLang="zh-CN" sz="24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2 )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若</a:t>
            </a:r>
            <a:r>
              <a:rPr lang="en-US" altLang="zh-CN" sz="2400" dirty="0" smtClean="0">
                <a:ea typeface="华文楷体" panose="02010600040101010101" pitchFamily="2" charset="-122"/>
              </a:rPr>
              <a:t>a[0].key &lt; a[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2400" dirty="0" smtClean="0">
                <a:ea typeface="华文楷体" panose="02010600040101010101" pitchFamily="2" charset="-122"/>
              </a:rPr>
              <a:t>].key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，则</a:t>
            </a:r>
            <a:r>
              <a:rPr lang="en-US" altLang="zh-CN" sz="2400" dirty="0" smtClean="0">
                <a:ea typeface="华文楷体" panose="02010600040101010101" pitchFamily="2" charset="-122"/>
              </a:rPr>
              <a:t>a[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2400" dirty="0" smtClean="0">
                <a:ea typeface="华文楷体" panose="02010600040101010101" pitchFamily="2" charset="-122"/>
              </a:rPr>
              <a:t>]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后移一位，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2400" dirty="0" smtClean="0">
                <a:ea typeface="华文楷体" panose="02010600040101010101" pitchFamily="2" charset="-122"/>
              </a:rPr>
              <a:t>--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，转</a:t>
            </a:r>
            <a:r>
              <a:rPr lang="en-US" altLang="zh-CN" sz="2400" dirty="0" smtClean="0">
                <a:ea typeface="华文楷体" panose="02010600040101010101" pitchFamily="2" charset="-122"/>
              </a:rPr>
              <a:t>2)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；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              否则</a:t>
            </a:r>
            <a:r>
              <a:rPr lang="en-US" altLang="zh-CN" sz="2400" dirty="0" smtClean="0">
                <a:ea typeface="华文楷体" panose="02010600040101010101" pitchFamily="2" charset="-122"/>
              </a:rPr>
              <a:t>a[0]</a:t>
            </a:r>
            <a:r>
              <a:rPr lang="zh-CN" altLang="en-US" sz="2400" dirty="0" smtClean="0">
                <a:ea typeface="华文楷体" panose="02010600040101010101" pitchFamily="2" charset="-122"/>
              </a:rPr>
              <a:t>放在</a:t>
            </a:r>
            <a:r>
              <a:rPr lang="en-US" altLang="zh-CN" sz="2400" dirty="0" smtClean="0">
                <a:ea typeface="华文楷体" panose="02010600040101010101" pitchFamily="2" charset="-122"/>
              </a:rPr>
              <a:t>a[i+1]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处，转</a:t>
            </a:r>
            <a:r>
              <a:rPr lang="en-US" altLang="zh-CN" sz="2400" dirty="0" smtClean="0">
                <a:ea typeface="华文楷体" panose="02010600040101010101" pitchFamily="2" charset="-122"/>
              </a:rPr>
              <a:t>1)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b="1" dirty="0" smtClean="0">
              <a:solidFill>
                <a:srgbClr val="CC6600"/>
              </a:solidFill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b="1" dirty="0" smtClean="0">
              <a:solidFill>
                <a:srgbClr val="CC6600"/>
              </a:solidFill>
              <a:ea typeface="华文楷体" panose="02010600040101010101" pitchFamily="2" charset="-122"/>
            </a:endParaRPr>
          </a:p>
        </p:txBody>
      </p:sp>
      <p:sp>
        <p:nvSpPr>
          <p:cNvPr id="10246" name="Rectangle 4"/>
          <p:cNvSpPr>
            <a:spLocks noChangeArrowheads="1"/>
          </p:cNvSpPr>
          <p:nvPr/>
        </p:nvSpPr>
        <p:spPr bwMode="auto">
          <a:xfrm>
            <a:off x="1524000" y="2057400"/>
            <a:ext cx="21336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47" name="Line 5"/>
          <p:cNvSpPr>
            <a:spLocks noChangeShapeType="1"/>
          </p:cNvSpPr>
          <p:nvPr/>
        </p:nvSpPr>
        <p:spPr bwMode="auto">
          <a:xfrm>
            <a:off x="1905000" y="2057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48" name="Rectangle 6" descr="宽上对角线"/>
          <p:cNvSpPr>
            <a:spLocks noChangeArrowheads="1"/>
          </p:cNvSpPr>
          <p:nvPr/>
        </p:nvSpPr>
        <p:spPr bwMode="auto">
          <a:xfrm>
            <a:off x="4191000" y="2057400"/>
            <a:ext cx="1828800" cy="3810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49" name="Oval 7"/>
          <p:cNvSpPr>
            <a:spLocks noChangeArrowheads="1"/>
          </p:cNvSpPr>
          <p:nvPr/>
        </p:nvSpPr>
        <p:spPr bwMode="auto">
          <a:xfrm>
            <a:off x="3810000" y="2133600"/>
            <a:ext cx="2286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50" name="Line 8"/>
          <p:cNvSpPr>
            <a:spLocks noChangeShapeType="1"/>
          </p:cNvSpPr>
          <p:nvPr/>
        </p:nvSpPr>
        <p:spPr bwMode="auto">
          <a:xfrm flipV="1">
            <a:off x="1676400" y="2438400"/>
            <a:ext cx="0" cy="3048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51" name="Text Box 9"/>
          <p:cNvSpPr txBox="1">
            <a:spLocks noChangeArrowheads="1"/>
          </p:cNvSpPr>
          <p:nvPr/>
        </p:nvSpPr>
        <p:spPr bwMode="auto">
          <a:xfrm>
            <a:off x="1524000" y="2071688"/>
            <a:ext cx="381000" cy="366712"/>
          </a:xfrm>
          <a:prstGeom prst="rect">
            <a:avLst/>
          </a:prstGeom>
          <a:solidFill>
            <a:srgbClr val="33CC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52" name="Text Box 10"/>
          <p:cNvSpPr txBox="1">
            <a:spLocks noChangeArrowheads="1"/>
          </p:cNvSpPr>
          <p:nvPr/>
        </p:nvSpPr>
        <p:spPr bwMode="auto">
          <a:xfrm>
            <a:off x="1905000" y="2071688"/>
            <a:ext cx="1752600" cy="366712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53" name="Line 8"/>
          <p:cNvSpPr>
            <a:spLocks noChangeShapeType="1"/>
          </p:cNvSpPr>
          <p:nvPr/>
        </p:nvSpPr>
        <p:spPr bwMode="auto">
          <a:xfrm flipV="1">
            <a:off x="3581400" y="2438400"/>
            <a:ext cx="0" cy="3048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254" name="文本框 2"/>
          <p:cNvSpPr txBox="1">
            <a:spLocks noChangeArrowheads="1"/>
          </p:cNvSpPr>
          <p:nvPr/>
        </p:nvSpPr>
        <p:spPr bwMode="auto">
          <a:xfrm>
            <a:off x="3429000" y="2809875"/>
            <a:ext cx="304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j</a:t>
            </a:r>
            <a:endParaRPr lang="zh-CN" altLang="en-US" b="1" dirty="0">
              <a:solidFill>
                <a:srgbClr val="C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1136772"/>
            <a:ext cx="4648200" cy="4273428"/>
          </a:xfrm>
          <a:ln>
            <a:solidFill>
              <a:schemeClr val="accent1"/>
            </a:solidFill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0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一趟插入过程</a:t>
            </a:r>
            <a:r>
              <a:rPr lang="en-US" altLang="zh-CN" sz="20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kumimoji="1" lang="en-US" altLang="zh-CN" sz="2000" dirty="0">
                <a:ea typeface="华文楷体" panose="02010600040101010101" pitchFamily="2" charset="-122"/>
              </a:rPr>
              <a:t>void insert(</a:t>
            </a:r>
            <a:r>
              <a:rPr kumimoji="1" lang="en-US" altLang="zh-CN" sz="2000" dirty="0" err="1">
                <a:ea typeface="华文楷体" panose="02010600040101010101" pitchFamily="2" charset="-122"/>
              </a:rPr>
              <a:t>ElemType</a:t>
            </a:r>
            <a:r>
              <a:rPr kumimoji="1" lang="en-US" altLang="zh-CN" sz="2000" dirty="0">
                <a:ea typeface="华文楷体" panose="02010600040101010101" pitchFamily="2" charset="-122"/>
              </a:rPr>
              <a:t> e, </a:t>
            </a:r>
            <a:r>
              <a:rPr kumimoji="1" lang="en-US" altLang="zh-CN" sz="2000" dirty="0" err="1">
                <a:ea typeface="华文楷体" panose="02010600040101010101" pitchFamily="2" charset="-122"/>
              </a:rPr>
              <a:t>Elemtype</a:t>
            </a:r>
            <a:r>
              <a:rPr kumimoji="1" lang="en-US" altLang="zh-CN" sz="2000" dirty="0">
                <a:ea typeface="华文楷体" panose="02010600040101010101" pitchFamily="2" charset="-122"/>
              </a:rPr>
              <a:t> a[], </a:t>
            </a:r>
            <a:r>
              <a:rPr kumimoji="1" lang="en-US" altLang="zh-CN" sz="2000" dirty="0" err="1">
                <a:ea typeface="华文楷体" panose="02010600040101010101" pitchFamily="2" charset="-122"/>
              </a:rPr>
              <a:t>int</a:t>
            </a:r>
            <a:r>
              <a:rPr kumimoji="1" lang="en-US" altLang="zh-CN" sz="2000" dirty="0">
                <a:ea typeface="华文楷体" panose="02010600040101010101" pitchFamily="2" charset="-122"/>
              </a:rPr>
              <a:t> </a:t>
            </a:r>
            <a:r>
              <a:rPr kumimoji="1" lang="en-US" altLang="zh-CN" sz="2000" dirty="0" err="1">
                <a:ea typeface="华文楷体" panose="02010600040101010101" pitchFamily="2" charset="-122"/>
              </a:rPr>
              <a:t>i</a:t>
            </a:r>
            <a:r>
              <a:rPr kumimoji="1" lang="en-US" altLang="zh-CN" sz="2000" dirty="0" smtClean="0">
                <a:ea typeface="华文楷体" panose="02010600040101010101" pitchFamily="2" charset="-122"/>
              </a:rPr>
              <a:t>)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kumimoji="1" lang="en-US" altLang="zh-CN" sz="2000" dirty="0" smtClean="0">
                <a:ea typeface="华文楷体" panose="02010600040101010101" pitchFamily="2" charset="-122"/>
              </a:rPr>
              <a:t>//a[1..i]</a:t>
            </a:r>
            <a:r>
              <a:rPr kumimoji="1" lang="zh-CN" altLang="en-US" sz="2000" dirty="0" smtClean="0">
                <a:ea typeface="华文楷体" panose="02010600040101010101" pitchFamily="2" charset="-122"/>
              </a:rPr>
              <a:t>有序，插入</a:t>
            </a:r>
            <a:r>
              <a:rPr kumimoji="1" lang="en-US" altLang="zh-CN" sz="2000" dirty="0" smtClean="0">
                <a:ea typeface="华文楷体" panose="02010600040101010101" pitchFamily="2" charset="-122"/>
              </a:rPr>
              <a:t>e</a:t>
            </a:r>
            <a:endParaRPr kumimoji="1" lang="en-US" altLang="zh-CN" sz="2000" dirty="0"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kumimoji="1" lang="en-US" altLang="zh-CN" sz="2000" dirty="0" smtClean="0">
                <a:ea typeface="华文楷体" panose="02010600040101010101" pitchFamily="2" charset="-122"/>
              </a:rPr>
              <a:t>{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kumimoji="1" lang="en-US" altLang="zh-CN" sz="2000" dirty="0">
                <a:ea typeface="华文楷体" panose="02010600040101010101" pitchFamily="2" charset="-122"/>
              </a:rPr>
              <a:t> </a:t>
            </a:r>
            <a:r>
              <a:rPr kumimoji="1" lang="en-US" altLang="zh-CN" sz="2000" dirty="0" smtClean="0">
                <a:ea typeface="华文楷体" panose="02010600040101010101" pitchFamily="2" charset="-122"/>
              </a:rPr>
              <a:t>   a[0] = e;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kumimoji="1" lang="en-US" altLang="zh-CN" sz="2000" dirty="0">
                <a:ea typeface="华文楷体" panose="02010600040101010101" pitchFamily="2" charset="-122"/>
              </a:rPr>
              <a:t> </a:t>
            </a:r>
            <a:r>
              <a:rPr kumimoji="1" lang="en-US" altLang="zh-CN" sz="2000" dirty="0" smtClean="0">
                <a:ea typeface="华文楷体" panose="02010600040101010101" pitchFamily="2" charset="-122"/>
              </a:rPr>
              <a:t>   while (</a:t>
            </a:r>
            <a:r>
              <a:rPr kumimoji="1" lang="en-US" altLang="zh-CN" sz="2000" dirty="0" err="1" smtClean="0">
                <a:ea typeface="华文楷体" panose="02010600040101010101" pitchFamily="2" charset="-122"/>
              </a:rPr>
              <a:t>e.key</a:t>
            </a:r>
            <a:r>
              <a:rPr kumimoji="1" lang="en-US" altLang="zh-CN" sz="2000" dirty="0" smtClean="0">
                <a:ea typeface="华文楷体" panose="02010600040101010101" pitchFamily="2" charset="-122"/>
              </a:rPr>
              <a:t> &lt; a[</a:t>
            </a:r>
            <a:r>
              <a:rPr kumimoji="1" lang="en-US" altLang="zh-CN" sz="2000" dirty="0" err="1" smtClean="0">
                <a:ea typeface="华文楷体" panose="02010600040101010101" pitchFamily="2" charset="-122"/>
              </a:rPr>
              <a:t>i</a:t>
            </a:r>
            <a:r>
              <a:rPr kumimoji="1" lang="en-US" altLang="zh-CN" sz="2000" dirty="0" smtClean="0">
                <a:ea typeface="华文楷体" panose="02010600040101010101" pitchFamily="2" charset="-122"/>
              </a:rPr>
              <a:t>].key)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kumimoji="1" lang="en-US" altLang="zh-CN" sz="2000" dirty="0" smtClean="0">
                <a:ea typeface="华文楷体" panose="02010600040101010101" pitchFamily="2" charset="-122"/>
              </a:rPr>
              <a:t>    {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kumimoji="1" lang="en-US" altLang="zh-CN" sz="2000" dirty="0">
                <a:ea typeface="华文楷体" panose="02010600040101010101" pitchFamily="2" charset="-122"/>
              </a:rPr>
              <a:t> </a:t>
            </a:r>
            <a:r>
              <a:rPr kumimoji="1" lang="en-US" altLang="zh-CN" sz="2000" dirty="0" smtClean="0">
                <a:ea typeface="华文楷体" panose="02010600040101010101" pitchFamily="2" charset="-122"/>
              </a:rPr>
              <a:t>       a[i+1] = a[</a:t>
            </a:r>
            <a:r>
              <a:rPr kumimoji="1" lang="en-US" altLang="zh-CN" sz="2000" dirty="0" err="1" smtClean="0">
                <a:ea typeface="华文楷体" panose="02010600040101010101" pitchFamily="2" charset="-122"/>
              </a:rPr>
              <a:t>i</a:t>
            </a:r>
            <a:r>
              <a:rPr kumimoji="1" lang="en-US" altLang="zh-CN" sz="2000" dirty="0" smtClean="0">
                <a:ea typeface="华文楷体" panose="02010600040101010101" pitchFamily="2" charset="-122"/>
              </a:rPr>
              <a:t>];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kumimoji="1" lang="en-US" altLang="zh-CN" sz="2000" dirty="0">
                <a:ea typeface="华文楷体" panose="02010600040101010101" pitchFamily="2" charset="-122"/>
              </a:rPr>
              <a:t> </a:t>
            </a:r>
            <a:r>
              <a:rPr kumimoji="1" lang="en-US" altLang="zh-CN" sz="2000" dirty="0" smtClean="0">
                <a:ea typeface="华文楷体" panose="02010600040101010101" pitchFamily="2" charset="-122"/>
              </a:rPr>
              <a:t>       </a:t>
            </a:r>
            <a:r>
              <a:rPr kumimoji="1" lang="en-US" altLang="zh-CN" sz="2000" dirty="0" err="1" smtClean="0">
                <a:ea typeface="华文楷体" panose="02010600040101010101" pitchFamily="2" charset="-122"/>
              </a:rPr>
              <a:t>i</a:t>
            </a:r>
            <a:r>
              <a:rPr kumimoji="1" lang="en-US" altLang="zh-CN" sz="2000" dirty="0" smtClean="0">
                <a:ea typeface="华文楷体" panose="02010600040101010101" pitchFamily="2" charset="-122"/>
              </a:rPr>
              <a:t>--;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kumimoji="1" lang="en-US" altLang="zh-CN" sz="2000" dirty="0">
                <a:ea typeface="华文楷体" panose="02010600040101010101" pitchFamily="2" charset="-122"/>
              </a:rPr>
              <a:t> </a:t>
            </a:r>
            <a:r>
              <a:rPr kumimoji="1" lang="en-US" altLang="zh-CN" sz="2000" dirty="0" smtClean="0">
                <a:ea typeface="华文楷体" panose="02010600040101010101" pitchFamily="2" charset="-122"/>
              </a:rPr>
              <a:t>   }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kumimoji="1" lang="en-US" altLang="zh-CN" sz="2000" dirty="0">
                <a:ea typeface="华文楷体" panose="02010600040101010101" pitchFamily="2" charset="-122"/>
              </a:rPr>
              <a:t> </a:t>
            </a:r>
            <a:r>
              <a:rPr kumimoji="1" lang="en-US" altLang="zh-CN" sz="2000" dirty="0" smtClean="0">
                <a:ea typeface="华文楷体" panose="02010600040101010101" pitchFamily="2" charset="-122"/>
              </a:rPr>
              <a:t>   a[i+1] = e;</a:t>
            </a:r>
            <a:endParaRPr kumimoji="1" lang="en-US" altLang="zh-CN" sz="2000" dirty="0"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kumimoji="1" lang="en-US" altLang="zh-CN" sz="2000" dirty="0" smtClean="0">
                <a:ea typeface="华文楷体" panose="02010600040101010101" pitchFamily="2" charset="-122"/>
              </a:rPr>
              <a:t>}</a:t>
            </a:r>
            <a:endParaRPr kumimoji="1" lang="en-US" altLang="zh-CN" sz="2000" dirty="0"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 dirty="0" smtClean="0">
              <a:ea typeface="华文楷体" panose="020106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953000" y="1136772"/>
            <a:ext cx="3530775" cy="369331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CC66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[</a:t>
            </a:r>
            <a:r>
              <a:rPr lang="zh-CN" altLang="en-US" sz="2000" b="1" dirty="0">
                <a:solidFill>
                  <a:srgbClr val="CC66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插入排序</a:t>
            </a:r>
            <a:r>
              <a:rPr lang="en-US" altLang="zh-CN" sz="2000" b="1" dirty="0">
                <a:solidFill>
                  <a:srgbClr val="CC66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]</a:t>
            </a:r>
          </a:p>
          <a:p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void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InsertSort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ElemType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a[],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n)</a:t>
            </a:r>
          </a:p>
          <a:p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//</a:t>
            </a: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对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a[1..n]</a:t>
            </a: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排序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{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j; </a:t>
            </a:r>
          </a:p>
          <a:p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ElemType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temp;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for (j=2; j&lt;= n;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j++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{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temp = a[j];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insert(temp, a, j-1);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}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</a:rPr>
              <a:t>}</a:t>
            </a:r>
            <a:endParaRPr lang="en-US" altLang="zh-CN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1229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哨兵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/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监视哨的作用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简化边界条件的测试，提高算法时间效率。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4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性能分析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 smtClean="0">
                <a:ea typeface="华文楷体" panose="02010600040101010101" pitchFamily="2" charset="-122"/>
              </a:rPr>
              <a:t>最好情况</a:t>
            </a:r>
            <a:r>
              <a:rPr lang="en-US" altLang="zh-CN" sz="2400" dirty="0" smtClean="0">
                <a:ea typeface="华文楷体" panose="02010600040101010101" pitchFamily="2" charset="-122"/>
              </a:rPr>
              <a:t>(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原始数据按</a:t>
            </a:r>
            <a:r>
              <a:rPr lang="zh-CN" altLang="en-US" sz="2400" b="1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正序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即非递减序排列</a:t>
            </a:r>
            <a:r>
              <a:rPr lang="en-US" altLang="zh-CN" sz="2400" dirty="0" smtClean="0">
                <a:ea typeface="华文楷体" panose="02010600040101010101" pitchFamily="2" charset="-122"/>
              </a:rPr>
              <a:t>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C</a:t>
            </a:r>
            <a:r>
              <a:rPr lang="en-US" altLang="zh-CN" sz="2400" baseline="-25000" dirty="0" err="1" smtClean="0">
                <a:ea typeface="华文楷体" panose="02010600040101010101" pitchFamily="2" charset="-122"/>
              </a:rPr>
              <a:t>min</a:t>
            </a:r>
            <a:r>
              <a:rPr lang="en-US" altLang="zh-CN" sz="2400" dirty="0" smtClean="0">
                <a:ea typeface="华文楷体" panose="02010600040101010101" pitchFamily="2" charset="-122"/>
              </a:rPr>
              <a:t>=n-1    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M</a:t>
            </a:r>
            <a:r>
              <a:rPr lang="en-US" altLang="zh-CN" sz="2400" baseline="-25000" dirty="0" err="1" smtClean="0">
                <a:ea typeface="华文楷体" panose="02010600040101010101" pitchFamily="2" charset="-122"/>
              </a:rPr>
              <a:t>min</a:t>
            </a:r>
            <a:r>
              <a:rPr lang="en-US" altLang="zh-CN" sz="2400" dirty="0" smtClean="0">
                <a:ea typeface="华文楷体" panose="02010600040101010101" pitchFamily="2" charset="-122"/>
              </a:rPr>
              <a:t>= 2(n-1)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 smtClean="0">
                <a:ea typeface="华文楷体" panose="02010600040101010101" pitchFamily="2" charset="-122"/>
              </a:rPr>
              <a:t>最坏情况</a:t>
            </a:r>
            <a:r>
              <a:rPr lang="en-US" altLang="zh-CN" sz="2400" dirty="0" smtClean="0">
                <a:ea typeface="华文楷体" panose="02010600040101010101" pitchFamily="2" charset="-122"/>
              </a:rPr>
              <a:t>(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原始数据按</a:t>
            </a:r>
            <a:r>
              <a:rPr lang="zh-CN" altLang="en-US" sz="2400" b="1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逆序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即非递增序排列</a:t>
            </a:r>
            <a:r>
              <a:rPr lang="en-US" altLang="zh-CN" sz="2400" dirty="0" smtClean="0">
                <a:ea typeface="华文楷体" panose="02010600040101010101" pitchFamily="2" charset="-122"/>
              </a:rPr>
              <a:t>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C</a:t>
            </a:r>
            <a:r>
              <a:rPr lang="en-US" altLang="zh-CN" sz="2400" baseline="-25000" dirty="0" err="1" smtClean="0">
                <a:ea typeface="华文楷体" panose="02010600040101010101" pitchFamily="2" charset="-122"/>
              </a:rPr>
              <a:t>max</a:t>
            </a:r>
            <a:r>
              <a:rPr lang="en-US" altLang="zh-CN" sz="2400" dirty="0" smtClean="0">
                <a:ea typeface="华文楷体" panose="02010600040101010101" pitchFamily="2" charset="-122"/>
              </a:rPr>
              <a:t>=(n+2)(n-1)/2       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M</a:t>
            </a:r>
            <a:r>
              <a:rPr lang="en-US" altLang="zh-CN" sz="2400" baseline="-25000" dirty="0" err="1" smtClean="0">
                <a:ea typeface="华文楷体" panose="02010600040101010101" pitchFamily="2" charset="-122"/>
              </a:rPr>
              <a:t>max</a:t>
            </a:r>
            <a:r>
              <a:rPr lang="en-US" altLang="zh-CN" sz="2400" dirty="0" smtClean="0">
                <a:ea typeface="华文楷体" panose="02010600040101010101" pitchFamily="2" charset="-122"/>
              </a:rPr>
              <a:t>=(n+4)(n-1)/2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 smtClean="0">
                <a:ea typeface="华文楷体" panose="02010600040101010101" pitchFamily="2" charset="-122"/>
              </a:rPr>
              <a:t>随机情况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 smtClean="0"/>
              <a:t>    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C</a:t>
            </a:r>
            <a:r>
              <a:rPr lang="en-US" altLang="zh-CN" sz="2400" baseline="-25000" dirty="0" err="1" smtClean="0">
                <a:ea typeface="华文楷体" panose="02010600040101010101" pitchFamily="2" charset="-122"/>
              </a:rPr>
              <a:t>avg</a:t>
            </a:r>
            <a:r>
              <a:rPr lang="en-US" altLang="zh-CN" sz="2400" dirty="0" smtClean="0">
                <a:ea typeface="华文楷体" panose="02010600040101010101" pitchFamily="2" charset="-122"/>
              </a:rPr>
              <a:t>=(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C</a:t>
            </a:r>
            <a:r>
              <a:rPr lang="en-US" altLang="zh-CN" sz="2400" baseline="-25000" dirty="0" err="1" smtClean="0">
                <a:ea typeface="华文楷体" panose="02010600040101010101" pitchFamily="2" charset="-122"/>
              </a:rPr>
              <a:t>min</a:t>
            </a:r>
            <a:r>
              <a:rPr lang="en-US" altLang="zh-CN" sz="2400" dirty="0" smtClean="0">
                <a:ea typeface="华文楷体" panose="02010600040101010101" pitchFamily="2" charset="-122"/>
              </a:rPr>
              <a:t>+ 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C</a:t>
            </a:r>
            <a:r>
              <a:rPr lang="en-US" altLang="zh-CN" sz="2400" baseline="-25000" dirty="0" err="1" smtClean="0">
                <a:ea typeface="华文楷体" panose="02010600040101010101" pitchFamily="2" charset="-122"/>
              </a:rPr>
              <a:t>max</a:t>
            </a:r>
            <a:r>
              <a:rPr lang="en-US" altLang="zh-CN" sz="2400" dirty="0" smtClean="0">
                <a:ea typeface="华文楷体" panose="02010600040101010101" pitchFamily="2" charset="-122"/>
              </a:rPr>
              <a:t>)/2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</a:t>
            </a:r>
            <a:r>
              <a:rPr lang="en-US" altLang="zh-CN" sz="2400" dirty="0" smtClean="0">
                <a:ea typeface="华文楷体" panose="02010600040101010101" pitchFamily="2" charset="-122"/>
              </a:rPr>
              <a:t>n</a:t>
            </a:r>
            <a:r>
              <a:rPr lang="en-US" altLang="zh-CN" sz="2400" baseline="30000" dirty="0" smtClean="0">
                <a:ea typeface="华文楷体" panose="02010600040101010101" pitchFamily="2" charset="-122"/>
              </a:rPr>
              <a:t>2</a:t>
            </a:r>
            <a:r>
              <a:rPr lang="en-US" altLang="zh-CN" sz="2400" dirty="0" smtClean="0">
                <a:ea typeface="华文楷体" panose="02010600040101010101" pitchFamily="2" charset="-122"/>
              </a:rPr>
              <a:t>/4       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M</a:t>
            </a:r>
            <a:r>
              <a:rPr lang="en-US" altLang="zh-CN" sz="2400" baseline="-25000" dirty="0" err="1" smtClean="0">
                <a:ea typeface="华文楷体" panose="02010600040101010101" pitchFamily="2" charset="-122"/>
              </a:rPr>
              <a:t>avg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 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</a:t>
            </a:r>
            <a:r>
              <a:rPr lang="en-US" altLang="zh-CN" sz="2400" dirty="0" smtClean="0">
                <a:ea typeface="华文楷体" panose="02010600040101010101" pitchFamily="2" charset="-122"/>
              </a:rPr>
              <a:t>n</a:t>
            </a:r>
            <a:r>
              <a:rPr lang="en-US" altLang="zh-CN" sz="2400" baseline="30000" dirty="0" smtClean="0">
                <a:ea typeface="华文楷体" panose="02010600040101010101" pitchFamily="2" charset="-122"/>
              </a:rPr>
              <a:t>2</a:t>
            </a:r>
            <a:r>
              <a:rPr lang="en-US" altLang="zh-CN" sz="2400" dirty="0" smtClean="0">
                <a:ea typeface="华文楷体" panose="02010600040101010101" pitchFamily="2" charset="-122"/>
              </a:rPr>
              <a:t>/4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 smtClean="0">
                <a:ea typeface="华文楷体" panose="02010600040101010101" pitchFamily="2" charset="-122"/>
              </a:rPr>
              <a:t>时间复杂度</a:t>
            </a:r>
            <a:r>
              <a:rPr lang="en-US" altLang="zh-CN" sz="2400" dirty="0" smtClean="0">
                <a:ea typeface="华文楷体" panose="02010600040101010101" pitchFamily="2" charset="-122"/>
              </a:rPr>
              <a:t>O(n</a:t>
            </a:r>
            <a:r>
              <a:rPr lang="en-US" altLang="zh-CN" sz="2400" baseline="30000" dirty="0" smtClean="0">
                <a:ea typeface="华文楷体" panose="02010600040101010101" pitchFamily="2" charset="-122"/>
              </a:rPr>
              <a:t>2</a:t>
            </a:r>
            <a:r>
              <a:rPr lang="en-US" altLang="zh-CN" sz="2400" dirty="0" smtClean="0">
                <a:ea typeface="华文楷体" panose="02010600040101010101" pitchFamily="2" charset="-122"/>
              </a:rPr>
              <a:t>)      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辅助空间复杂度</a:t>
            </a:r>
            <a:r>
              <a:rPr lang="en-US" altLang="zh-CN" sz="2400" dirty="0" smtClean="0">
                <a:ea typeface="华文楷体" panose="02010600040101010101" pitchFamily="2" charset="-122"/>
              </a:rPr>
              <a:t>O(1)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 b="1" dirty="0" smtClean="0">
              <a:solidFill>
                <a:srgbClr val="CC6600"/>
              </a:solidFill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21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1331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改进措施</a:t>
            </a:r>
            <a:r>
              <a:rPr lang="en-US" altLang="zh-CN" sz="2400" b="1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1</a:t>
            </a:r>
            <a:r>
              <a:rPr lang="zh-CN" altLang="en-US" sz="2400" b="1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：折半插入排序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算法思想：将循环中每一次在</a:t>
            </a:r>
            <a:r>
              <a:rPr lang="zh-CN" altLang="en-US" sz="24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有序区</a:t>
            </a:r>
            <a:r>
              <a:rPr lang="zh-CN" altLang="en-US" sz="2400" dirty="0" smtClean="0">
                <a:ea typeface="华文楷体" panose="02010600040101010101" pitchFamily="2" charset="-122"/>
              </a:rPr>
              <a:t>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[1,i-1]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上为确定</a:t>
            </a:r>
            <a:r>
              <a:rPr lang="en-US" altLang="zh-CN" sz="2400" dirty="0" smtClean="0">
                <a:ea typeface="华文楷体" panose="02010600040101010101" pitchFamily="2" charset="-122"/>
              </a:rPr>
              <a:t>r[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2400" dirty="0" smtClean="0">
                <a:ea typeface="华文楷体" panose="02010600040101010101" pitchFamily="2" charset="-122"/>
              </a:rPr>
              <a:t>]</a:t>
            </a:r>
            <a:r>
              <a:rPr lang="zh-CN" altLang="en-US" sz="2400" dirty="0" smtClean="0">
                <a:ea typeface="华文楷体" panose="02010600040101010101" pitchFamily="2" charset="-122"/>
              </a:rPr>
              <a:t>插入位置的顺序查找操作改为折半查找操作。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效果：减少关键字间的比较次数。</a:t>
            </a:r>
          </a:p>
        </p:txBody>
      </p:sp>
      <p:sp>
        <p:nvSpPr>
          <p:cNvPr id="13318" name="Rectangle 4"/>
          <p:cNvSpPr>
            <a:spLocks noChangeArrowheads="1"/>
          </p:cNvSpPr>
          <p:nvPr/>
        </p:nvSpPr>
        <p:spPr bwMode="auto">
          <a:xfrm>
            <a:off x="1524000" y="3733800"/>
            <a:ext cx="21336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319" name="Line 5"/>
          <p:cNvSpPr>
            <a:spLocks noChangeShapeType="1"/>
          </p:cNvSpPr>
          <p:nvPr/>
        </p:nvSpPr>
        <p:spPr bwMode="auto">
          <a:xfrm>
            <a:off x="1905000" y="3733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320" name="Rectangle 6" descr="宽上对角线"/>
          <p:cNvSpPr>
            <a:spLocks noChangeArrowheads="1"/>
          </p:cNvSpPr>
          <p:nvPr/>
        </p:nvSpPr>
        <p:spPr bwMode="auto">
          <a:xfrm>
            <a:off x="4191000" y="3733800"/>
            <a:ext cx="1828800" cy="3810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321" name="Oval 7"/>
          <p:cNvSpPr>
            <a:spLocks noChangeArrowheads="1"/>
          </p:cNvSpPr>
          <p:nvPr/>
        </p:nvSpPr>
        <p:spPr bwMode="auto">
          <a:xfrm>
            <a:off x="3810000" y="3810000"/>
            <a:ext cx="228600" cy="2286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322" name="Line 8"/>
          <p:cNvSpPr>
            <a:spLocks noChangeShapeType="1"/>
          </p:cNvSpPr>
          <p:nvPr/>
        </p:nvSpPr>
        <p:spPr bwMode="auto">
          <a:xfrm flipV="1">
            <a:off x="1676400" y="4114800"/>
            <a:ext cx="0" cy="3048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323" name="Text Box 9"/>
          <p:cNvSpPr txBox="1">
            <a:spLocks noChangeArrowheads="1"/>
          </p:cNvSpPr>
          <p:nvPr/>
        </p:nvSpPr>
        <p:spPr bwMode="auto">
          <a:xfrm>
            <a:off x="1524000" y="3748088"/>
            <a:ext cx="381000" cy="366712"/>
          </a:xfrm>
          <a:prstGeom prst="rect">
            <a:avLst/>
          </a:prstGeom>
          <a:solidFill>
            <a:srgbClr val="33CC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324" name="Text Box 10"/>
          <p:cNvSpPr txBox="1">
            <a:spLocks noChangeArrowheads="1"/>
          </p:cNvSpPr>
          <p:nvPr/>
        </p:nvSpPr>
        <p:spPr bwMode="auto">
          <a:xfrm>
            <a:off x="1905000" y="3748088"/>
            <a:ext cx="1752600" cy="366712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lang="zh-CN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325" name="Text Box 11"/>
          <p:cNvSpPr txBox="1">
            <a:spLocks noChangeArrowheads="1"/>
          </p:cNvSpPr>
          <p:nvPr/>
        </p:nvSpPr>
        <p:spPr bwMode="auto">
          <a:xfrm>
            <a:off x="1584325" y="3313113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0</a:t>
            </a:r>
          </a:p>
        </p:txBody>
      </p:sp>
      <p:sp>
        <p:nvSpPr>
          <p:cNvPr id="13326" name="Text Box 12"/>
          <p:cNvSpPr txBox="1">
            <a:spLocks noChangeArrowheads="1"/>
          </p:cNvSpPr>
          <p:nvPr/>
        </p:nvSpPr>
        <p:spPr bwMode="auto">
          <a:xfrm>
            <a:off x="1898650" y="3313113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</a:p>
        </p:txBody>
      </p:sp>
      <p:sp>
        <p:nvSpPr>
          <p:cNvPr id="13327" name="Text Box 20"/>
          <p:cNvSpPr txBox="1">
            <a:spLocks noChangeArrowheads="1"/>
          </p:cNvSpPr>
          <p:nvPr/>
        </p:nvSpPr>
        <p:spPr bwMode="auto">
          <a:xfrm>
            <a:off x="3295650" y="3313113"/>
            <a:ext cx="438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i-1</a:t>
            </a:r>
          </a:p>
        </p:txBody>
      </p:sp>
      <p:sp>
        <p:nvSpPr>
          <p:cNvPr id="13328" name="Text Box 21"/>
          <p:cNvSpPr txBox="1">
            <a:spLocks noChangeArrowheads="1"/>
          </p:cNvSpPr>
          <p:nvPr/>
        </p:nvSpPr>
        <p:spPr bwMode="auto">
          <a:xfrm>
            <a:off x="3803650" y="3276600"/>
            <a:ext cx="247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 dirty="0" err="1">
                <a:solidFill>
                  <a:schemeClr val="accent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endParaRPr lang="en-US" altLang="zh-CN" sz="1800" b="1" dirty="0">
              <a:solidFill>
                <a:schemeClr val="accent1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3329" name="Text Box 22"/>
          <p:cNvSpPr txBox="1">
            <a:spLocks noChangeArrowheads="1"/>
          </p:cNvSpPr>
          <p:nvPr/>
        </p:nvSpPr>
        <p:spPr bwMode="auto">
          <a:xfrm>
            <a:off x="4114800" y="3290888"/>
            <a:ext cx="4953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i+1</a:t>
            </a:r>
          </a:p>
        </p:txBody>
      </p:sp>
      <p:sp>
        <p:nvSpPr>
          <p:cNvPr id="13330" name="Text Box 23"/>
          <p:cNvSpPr txBox="1">
            <a:spLocks noChangeArrowheads="1"/>
          </p:cNvSpPr>
          <p:nvPr/>
        </p:nvSpPr>
        <p:spPr bwMode="auto">
          <a:xfrm>
            <a:off x="5734050" y="32908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</a:p>
        </p:txBody>
      </p:sp>
      <p:sp>
        <p:nvSpPr>
          <p:cNvPr id="13331" name="Text Box 24"/>
          <p:cNvSpPr txBox="1">
            <a:spLocks noChangeArrowheads="1"/>
          </p:cNvSpPr>
          <p:nvPr/>
        </p:nvSpPr>
        <p:spPr bwMode="auto">
          <a:xfrm>
            <a:off x="1508125" y="4379913"/>
            <a:ext cx="50526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 dirty="0">
                <a:solidFill>
                  <a:schemeClr val="accent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r[</a:t>
            </a:r>
            <a:r>
              <a:rPr lang="en-US" altLang="zh-CN" sz="1800" b="1" dirty="0" err="1">
                <a:solidFill>
                  <a:schemeClr val="accent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1800" b="1" dirty="0">
                <a:solidFill>
                  <a:schemeClr val="accent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]</a:t>
            </a:r>
          </a:p>
        </p:txBody>
      </p:sp>
      <p:sp>
        <p:nvSpPr>
          <p:cNvPr id="13332" name="Text Box 27"/>
          <p:cNvSpPr txBox="1">
            <a:spLocks noChangeArrowheads="1"/>
          </p:cNvSpPr>
          <p:nvPr/>
        </p:nvSpPr>
        <p:spPr bwMode="auto">
          <a:xfrm>
            <a:off x="2498725" y="4303713"/>
            <a:ext cx="869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有序区</a:t>
            </a:r>
          </a:p>
        </p:txBody>
      </p:sp>
      <p:sp>
        <p:nvSpPr>
          <p:cNvPr id="13333" name="Text Box 28"/>
          <p:cNvSpPr txBox="1">
            <a:spLocks noChangeArrowheads="1"/>
          </p:cNvSpPr>
          <p:nvPr/>
        </p:nvSpPr>
        <p:spPr bwMode="auto">
          <a:xfrm>
            <a:off x="4692650" y="4281488"/>
            <a:ext cx="869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无序区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110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14341" name="Rectangle 4"/>
          <p:cNvSpPr>
            <a:spLocks noChangeArrowheads="1"/>
          </p:cNvSpPr>
          <p:nvPr/>
        </p:nvSpPr>
        <p:spPr bwMode="auto">
          <a:xfrm>
            <a:off x="1957388" y="1582738"/>
            <a:ext cx="4343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342" name="Line 5"/>
          <p:cNvSpPr>
            <a:spLocks noChangeShapeType="1"/>
          </p:cNvSpPr>
          <p:nvPr/>
        </p:nvSpPr>
        <p:spPr bwMode="auto">
          <a:xfrm>
            <a:off x="2643188" y="1582738"/>
            <a:ext cx="0" cy="457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343" name="Line 6"/>
          <p:cNvSpPr>
            <a:spLocks noChangeShapeType="1"/>
          </p:cNvSpPr>
          <p:nvPr/>
        </p:nvSpPr>
        <p:spPr bwMode="auto">
          <a:xfrm>
            <a:off x="4014788" y="1582738"/>
            <a:ext cx="0" cy="457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344" name="Line 7"/>
          <p:cNvSpPr>
            <a:spLocks noChangeShapeType="1"/>
          </p:cNvSpPr>
          <p:nvPr/>
        </p:nvSpPr>
        <p:spPr bwMode="auto">
          <a:xfrm>
            <a:off x="3328988" y="1582738"/>
            <a:ext cx="0" cy="457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345" name="Line 8"/>
          <p:cNvSpPr>
            <a:spLocks noChangeShapeType="1"/>
          </p:cNvSpPr>
          <p:nvPr/>
        </p:nvSpPr>
        <p:spPr bwMode="auto">
          <a:xfrm>
            <a:off x="4776788" y="1582738"/>
            <a:ext cx="0" cy="457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346" name="Line 9"/>
          <p:cNvSpPr>
            <a:spLocks noChangeShapeType="1"/>
          </p:cNvSpPr>
          <p:nvPr/>
        </p:nvSpPr>
        <p:spPr bwMode="auto">
          <a:xfrm>
            <a:off x="5538788" y="1582738"/>
            <a:ext cx="0" cy="457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347" name="Text Box 10"/>
          <p:cNvSpPr txBox="1">
            <a:spLocks noChangeArrowheads="1"/>
          </p:cNvSpPr>
          <p:nvPr/>
        </p:nvSpPr>
        <p:spPr bwMode="auto">
          <a:xfrm>
            <a:off x="2643188" y="1582738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36</a:t>
            </a:r>
          </a:p>
        </p:txBody>
      </p:sp>
      <p:sp>
        <p:nvSpPr>
          <p:cNvPr id="14348" name="Text Box 11"/>
          <p:cNvSpPr txBox="1">
            <a:spLocks noChangeArrowheads="1"/>
          </p:cNvSpPr>
          <p:nvPr/>
        </p:nvSpPr>
        <p:spPr bwMode="auto">
          <a:xfrm>
            <a:off x="3328988" y="1582738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24</a:t>
            </a:r>
          </a:p>
        </p:txBody>
      </p:sp>
      <p:sp>
        <p:nvSpPr>
          <p:cNvPr id="14349" name="Text Box 12"/>
          <p:cNvSpPr txBox="1">
            <a:spLocks noChangeArrowheads="1"/>
          </p:cNvSpPr>
          <p:nvPr/>
        </p:nvSpPr>
        <p:spPr bwMode="auto">
          <a:xfrm>
            <a:off x="4090988" y="1582738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10</a:t>
            </a:r>
          </a:p>
        </p:txBody>
      </p:sp>
      <p:sp>
        <p:nvSpPr>
          <p:cNvPr id="14350" name="Text Box 13"/>
          <p:cNvSpPr txBox="1">
            <a:spLocks noChangeArrowheads="1"/>
          </p:cNvSpPr>
          <p:nvPr/>
        </p:nvSpPr>
        <p:spPr bwMode="auto">
          <a:xfrm>
            <a:off x="4852988" y="1582738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6</a:t>
            </a:r>
          </a:p>
        </p:txBody>
      </p:sp>
      <p:sp>
        <p:nvSpPr>
          <p:cNvPr id="14351" name="Text Box 14"/>
          <p:cNvSpPr txBox="1">
            <a:spLocks noChangeArrowheads="1"/>
          </p:cNvSpPr>
          <p:nvPr/>
        </p:nvSpPr>
        <p:spPr bwMode="auto">
          <a:xfrm>
            <a:off x="5538788" y="2614613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12</a:t>
            </a:r>
          </a:p>
        </p:txBody>
      </p:sp>
      <p:sp>
        <p:nvSpPr>
          <p:cNvPr id="14352" name="Rectangle 15"/>
          <p:cNvSpPr>
            <a:spLocks noChangeArrowheads="1"/>
          </p:cNvSpPr>
          <p:nvPr/>
        </p:nvSpPr>
        <p:spPr bwMode="auto">
          <a:xfrm>
            <a:off x="1957388" y="2646363"/>
            <a:ext cx="4343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353" name="Line 16"/>
          <p:cNvSpPr>
            <a:spLocks noChangeShapeType="1"/>
          </p:cNvSpPr>
          <p:nvPr/>
        </p:nvSpPr>
        <p:spPr bwMode="auto">
          <a:xfrm>
            <a:off x="2643188" y="2646363"/>
            <a:ext cx="0" cy="457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354" name="Line 17"/>
          <p:cNvSpPr>
            <a:spLocks noChangeShapeType="1"/>
          </p:cNvSpPr>
          <p:nvPr/>
        </p:nvSpPr>
        <p:spPr bwMode="auto">
          <a:xfrm>
            <a:off x="4014788" y="2646363"/>
            <a:ext cx="0" cy="457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355" name="Line 18"/>
          <p:cNvSpPr>
            <a:spLocks noChangeShapeType="1"/>
          </p:cNvSpPr>
          <p:nvPr/>
        </p:nvSpPr>
        <p:spPr bwMode="auto">
          <a:xfrm>
            <a:off x="3328988" y="2646363"/>
            <a:ext cx="0" cy="457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356" name="Line 19"/>
          <p:cNvSpPr>
            <a:spLocks noChangeShapeType="1"/>
          </p:cNvSpPr>
          <p:nvPr/>
        </p:nvSpPr>
        <p:spPr bwMode="auto">
          <a:xfrm>
            <a:off x="4776788" y="2646363"/>
            <a:ext cx="0" cy="457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357" name="Line 20"/>
          <p:cNvSpPr>
            <a:spLocks noChangeShapeType="1"/>
          </p:cNvSpPr>
          <p:nvPr/>
        </p:nvSpPr>
        <p:spPr bwMode="auto">
          <a:xfrm>
            <a:off x="5538788" y="2646363"/>
            <a:ext cx="0" cy="457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358" name="Text Box 21"/>
          <p:cNvSpPr txBox="1">
            <a:spLocks noChangeArrowheads="1"/>
          </p:cNvSpPr>
          <p:nvPr/>
        </p:nvSpPr>
        <p:spPr bwMode="auto">
          <a:xfrm>
            <a:off x="4776788" y="2646363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36</a:t>
            </a:r>
          </a:p>
        </p:txBody>
      </p:sp>
      <p:sp>
        <p:nvSpPr>
          <p:cNvPr id="14359" name="Text Box 22"/>
          <p:cNvSpPr txBox="1">
            <a:spLocks noChangeArrowheads="1"/>
          </p:cNvSpPr>
          <p:nvPr/>
        </p:nvSpPr>
        <p:spPr bwMode="auto">
          <a:xfrm>
            <a:off x="4014788" y="2646363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24</a:t>
            </a:r>
          </a:p>
        </p:txBody>
      </p:sp>
      <p:sp>
        <p:nvSpPr>
          <p:cNvPr id="14360" name="Text Box 23"/>
          <p:cNvSpPr txBox="1">
            <a:spLocks noChangeArrowheads="1"/>
          </p:cNvSpPr>
          <p:nvPr/>
        </p:nvSpPr>
        <p:spPr bwMode="auto">
          <a:xfrm>
            <a:off x="1957388" y="2646363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12</a:t>
            </a:r>
          </a:p>
        </p:txBody>
      </p:sp>
      <p:sp>
        <p:nvSpPr>
          <p:cNvPr id="14361" name="Line 24"/>
          <p:cNvSpPr>
            <a:spLocks noChangeShapeType="1"/>
          </p:cNvSpPr>
          <p:nvPr/>
        </p:nvSpPr>
        <p:spPr bwMode="auto">
          <a:xfrm>
            <a:off x="5005388" y="2386013"/>
            <a:ext cx="4762" cy="252412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362" name="Text Box 25"/>
          <p:cNvSpPr txBox="1">
            <a:spLocks noChangeArrowheads="1"/>
          </p:cNvSpPr>
          <p:nvPr/>
        </p:nvSpPr>
        <p:spPr bwMode="auto">
          <a:xfrm>
            <a:off x="4759325" y="2016125"/>
            <a:ext cx="685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6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high</a:t>
            </a:r>
            <a:endParaRPr kumimoji="1" lang="en-US" altLang="zh-CN" sz="2000" b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363" name="Text Box 26"/>
          <p:cNvSpPr txBox="1">
            <a:spLocks noChangeArrowheads="1"/>
          </p:cNvSpPr>
          <p:nvPr/>
        </p:nvSpPr>
        <p:spPr bwMode="auto">
          <a:xfrm>
            <a:off x="3405188" y="2646363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10</a:t>
            </a:r>
          </a:p>
        </p:txBody>
      </p:sp>
      <p:sp>
        <p:nvSpPr>
          <p:cNvPr id="14364" name="Text Box 27"/>
          <p:cNvSpPr txBox="1">
            <a:spLocks noChangeArrowheads="1"/>
          </p:cNvSpPr>
          <p:nvPr/>
        </p:nvSpPr>
        <p:spPr bwMode="auto">
          <a:xfrm>
            <a:off x="2719388" y="2646363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6</a:t>
            </a:r>
          </a:p>
        </p:txBody>
      </p:sp>
      <p:sp>
        <p:nvSpPr>
          <p:cNvPr id="14365" name="Text Box 28"/>
          <p:cNvSpPr txBox="1">
            <a:spLocks noChangeArrowheads="1"/>
          </p:cNvSpPr>
          <p:nvPr/>
        </p:nvSpPr>
        <p:spPr bwMode="auto">
          <a:xfrm>
            <a:off x="5538788" y="1611313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12</a:t>
            </a:r>
          </a:p>
        </p:txBody>
      </p:sp>
      <p:sp>
        <p:nvSpPr>
          <p:cNvPr id="14366" name="Text Box 29"/>
          <p:cNvSpPr txBox="1">
            <a:spLocks noChangeArrowheads="1"/>
          </p:cNvSpPr>
          <p:nvPr/>
        </p:nvSpPr>
        <p:spPr bwMode="auto">
          <a:xfrm>
            <a:off x="5538788" y="2674938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12</a:t>
            </a:r>
          </a:p>
        </p:txBody>
      </p:sp>
      <p:grpSp>
        <p:nvGrpSpPr>
          <p:cNvPr id="14367" name="Group 30"/>
          <p:cNvGrpSpPr>
            <a:grpSpLocks/>
          </p:cNvGrpSpPr>
          <p:nvPr/>
        </p:nvGrpSpPr>
        <p:grpSpPr bwMode="auto">
          <a:xfrm>
            <a:off x="5775325" y="2189163"/>
            <a:ext cx="304800" cy="473075"/>
            <a:chOff x="1296" y="1718"/>
            <a:chExt cx="192" cy="298"/>
          </a:xfrm>
        </p:grpSpPr>
        <p:sp>
          <p:nvSpPr>
            <p:cNvPr id="14445" name="Line 31"/>
            <p:cNvSpPr>
              <a:spLocks noChangeShapeType="1"/>
            </p:cNvSpPr>
            <p:nvPr/>
          </p:nvSpPr>
          <p:spPr bwMode="auto">
            <a:xfrm>
              <a:off x="1296" y="1824"/>
              <a:ext cx="0" cy="192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4446" name="Text Box 32"/>
            <p:cNvSpPr txBox="1">
              <a:spLocks noChangeArrowheads="1"/>
            </p:cNvSpPr>
            <p:nvPr/>
          </p:nvSpPr>
          <p:spPr bwMode="auto">
            <a:xfrm>
              <a:off x="1296" y="1718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000" b="1" dirty="0" err="1">
                  <a:solidFill>
                    <a:schemeClr val="folHlink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i</a:t>
              </a:r>
              <a:endParaRPr kumimoji="1"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14368" name="Line 33"/>
          <p:cNvSpPr>
            <a:spLocks noChangeShapeType="1"/>
          </p:cNvSpPr>
          <p:nvPr/>
        </p:nvSpPr>
        <p:spPr bwMode="auto">
          <a:xfrm>
            <a:off x="2871788" y="2357438"/>
            <a:ext cx="0" cy="3048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369" name="Text Box 34"/>
          <p:cNvSpPr txBox="1">
            <a:spLocks noChangeArrowheads="1"/>
          </p:cNvSpPr>
          <p:nvPr/>
        </p:nvSpPr>
        <p:spPr bwMode="auto">
          <a:xfrm>
            <a:off x="2524125" y="2043113"/>
            <a:ext cx="685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6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low</a:t>
            </a:r>
            <a:endParaRPr kumimoji="1" lang="en-US" altLang="zh-CN" sz="2000" b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370" name="Text Box 35"/>
          <p:cNvSpPr txBox="1">
            <a:spLocks noChangeArrowheads="1"/>
          </p:cNvSpPr>
          <p:nvPr/>
        </p:nvSpPr>
        <p:spPr bwMode="auto">
          <a:xfrm>
            <a:off x="5556250" y="4656138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12</a:t>
            </a:r>
          </a:p>
        </p:txBody>
      </p:sp>
      <p:sp>
        <p:nvSpPr>
          <p:cNvPr id="14371" name="Rectangle 36"/>
          <p:cNvSpPr>
            <a:spLocks noChangeArrowheads="1"/>
          </p:cNvSpPr>
          <p:nvPr/>
        </p:nvSpPr>
        <p:spPr bwMode="auto">
          <a:xfrm>
            <a:off x="1974850" y="4687888"/>
            <a:ext cx="4343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372" name="Line 37"/>
          <p:cNvSpPr>
            <a:spLocks noChangeShapeType="1"/>
          </p:cNvSpPr>
          <p:nvPr/>
        </p:nvSpPr>
        <p:spPr bwMode="auto">
          <a:xfrm>
            <a:off x="2660650" y="4687888"/>
            <a:ext cx="0" cy="457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373" name="Line 38"/>
          <p:cNvSpPr>
            <a:spLocks noChangeShapeType="1"/>
          </p:cNvSpPr>
          <p:nvPr/>
        </p:nvSpPr>
        <p:spPr bwMode="auto">
          <a:xfrm>
            <a:off x="4032250" y="4687888"/>
            <a:ext cx="0" cy="457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374" name="Line 39"/>
          <p:cNvSpPr>
            <a:spLocks noChangeShapeType="1"/>
          </p:cNvSpPr>
          <p:nvPr/>
        </p:nvSpPr>
        <p:spPr bwMode="auto">
          <a:xfrm>
            <a:off x="3346450" y="4687888"/>
            <a:ext cx="0" cy="457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375" name="Line 40"/>
          <p:cNvSpPr>
            <a:spLocks noChangeShapeType="1"/>
          </p:cNvSpPr>
          <p:nvPr/>
        </p:nvSpPr>
        <p:spPr bwMode="auto">
          <a:xfrm>
            <a:off x="4794250" y="4687888"/>
            <a:ext cx="0" cy="457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376" name="Line 41"/>
          <p:cNvSpPr>
            <a:spLocks noChangeShapeType="1"/>
          </p:cNvSpPr>
          <p:nvPr/>
        </p:nvSpPr>
        <p:spPr bwMode="auto">
          <a:xfrm>
            <a:off x="5556250" y="4687888"/>
            <a:ext cx="0" cy="457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377" name="Text Box 42"/>
          <p:cNvSpPr txBox="1">
            <a:spLocks noChangeArrowheads="1"/>
          </p:cNvSpPr>
          <p:nvPr/>
        </p:nvSpPr>
        <p:spPr bwMode="auto">
          <a:xfrm>
            <a:off x="4794250" y="4687888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36</a:t>
            </a:r>
          </a:p>
        </p:txBody>
      </p:sp>
      <p:sp>
        <p:nvSpPr>
          <p:cNvPr id="14378" name="Text Box 43"/>
          <p:cNvSpPr txBox="1">
            <a:spLocks noChangeArrowheads="1"/>
          </p:cNvSpPr>
          <p:nvPr/>
        </p:nvSpPr>
        <p:spPr bwMode="auto">
          <a:xfrm>
            <a:off x="4032250" y="4687888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24</a:t>
            </a:r>
          </a:p>
        </p:txBody>
      </p:sp>
      <p:sp>
        <p:nvSpPr>
          <p:cNvPr id="14379" name="Text Box 44"/>
          <p:cNvSpPr txBox="1">
            <a:spLocks noChangeArrowheads="1"/>
          </p:cNvSpPr>
          <p:nvPr/>
        </p:nvSpPr>
        <p:spPr bwMode="auto">
          <a:xfrm>
            <a:off x="1974850" y="4687888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12</a:t>
            </a:r>
          </a:p>
        </p:txBody>
      </p:sp>
      <p:sp>
        <p:nvSpPr>
          <p:cNvPr id="14380" name="Line 45"/>
          <p:cNvSpPr>
            <a:spLocks noChangeShapeType="1"/>
          </p:cNvSpPr>
          <p:nvPr/>
        </p:nvSpPr>
        <p:spPr bwMode="auto">
          <a:xfrm>
            <a:off x="4440238" y="4460875"/>
            <a:ext cx="4762" cy="252413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381" name="Text Box 46"/>
          <p:cNvSpPr txBox="1">
            <a:spLocks noChangeArrowheads="1"/>
          </p:cNvSpPr>
          <p:nvPr/>
        </p:nvSpPr>
        <p:spPr bwMode="auto">
          <a:xfrm>
            <a:off x="4419600" y="4275138"/>
            <a:ext cx="685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6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high</a:t>
            </a:r>
            <a:endParaRPr kumimoji="1" lang="en-US" altLang="zh-CN" sz="2000" b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382" name="Text Box 47"/>
          <p:cNvSpPr txBox="1">
            <a:spLocks noChangeArrowheads="1"/>
          </p:cNvSpPr>
          <p:nvPr/>
        </p:nvSpPr>
        <p:spPr bwMode="auto">
          <a:xfrm>
            <a:off x="3422650" y="4687888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10</a:t>
            </a:r>
          </a:p>
        </p:txBody>
      </p:sp>
      <p:sp>
        <p:nvSpPr>
          <p:cNvPr id="14383" name="Text Box 48"/>
          <p:cNvSpPr txBox="1">
            <a:spLocks noChangeArrowheads="1"/>
          </p:cNvSpPr>
          <p:nvPr/>
        </p:nvSpPr>
        <p:spPr bwMode="auto">
          <a:xfrm>
            <a:off x="2736850" y="4687888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6</a:t>
            </a:r>
          </a:p>
        </p:txBody>
      </p:sp>
      <p:sp>
        <p:nvSpPr>
          <p:cNvPr id="14384" name="Text Box 49"/>
          <p:cNvSpPr txBox="1">
            <a:spLocks noChangeArrowheads="1"/>
          </p:cNvSpPr>
          <p:nvPr/>
        </p:nvSpPr>
        <p:spPr bwMode="auto">
          <a:xfrm>
            <a:off x="5556250" y="4716463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12</a:t>
            </a:r>
          </a:p>
        </p:txBody>
      </p:sp>
      <p:grpSp>
        <p:nvGrpSpPr>
          <p:cNvPr id="14385" name="Group 50"/>
          <p:cNvGrpSpPr>
            <a:grpSpLocks/>
          </p:cNvGrpSpPr>
          <p:nvPr/>
        </p:nvGrpSpPr>
        <p:grpSpPr bwMode="auto">
          <a:xfrm>
            <a:off x="5792788" y="4230688"/>
            <a:ext cx="304800" cy="473075"/>
            <a:chOff x="1296" y="1718"/>
            <a:chExt cx="192" cy="298"/>
          </a:xfrm>
        </p:grpSpPr>
        <p:sp>
          <p:nvSpPr>
            <p:cNvPr id="14443" name="Line 51"/>
            <p:cNvSpPr>
              <a:spLocks noChangeShapeType="1"/>
            </p:cNvSpPr>
            <p:nvPr/>
          </p:nvSpPr>
          <p:spPr bwMode="auto">
            <a:xfrm>
              <a:off x="1296" y="1824"/>
              <a:ext cx="0" cy="192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4444" name="Text Box 52"/>
            <p:cNvSpPr txBox="1">
              <a:spLocks noChangeArrowheads="1"/>
            </p:cNvSpPr>
            <p:nvPr/>
          </p:nvSpPr>
          <p:spPr bwMode="auto">
            <a:xfrm>
              <a:off x="1296" y="1718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000" b="1" dirty="0" err="1">
                  <a:solidFill>
                    <a:schemeClr val="folHlink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i</a:t>
              </a:r>
              <a:endParaRPr kumimoji="1"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14386" name="Line 53"/>
          <p:cNvSpPr>
            <a:spLocks noChangeShapeType="1"/>
          </p:cNvSpPr>
          <p:nvPr/>
        </p:nvSpPr>
        <p:spPr bwMode="auto">
          <a:xfrm>
            <a:off x="4198938" y="4398963"/>
            <a:ext cx="0" cy="3048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387" name="Text Box 54"/>
          <p:cNvSpPr txBox="1">
            <a:spLocks noChangeArrowheads="1"/>
          </p:cNvSpPr>
          <p:nvPr/>
        </p:nvSpPr>
        <p:spPr bwMode="auto">
          <a:xfrm>
            <a:off x="3733800" y="4275138"/>
            <a:ext cx="685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6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low</a:t>
            </a:r>
            <a:endParaRPr kumimoji="1" lang="en-US" altLang="zh-CN" sz="2000" b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388" name="Text Box 55"/>
          <p:cNvSpPr txBox="1">
            <a:spLocks noChangeArrowheads="1"/>
          </p:cNvSpPr>
          <p:nvPr/>
        </p:nvSpPr>
        <p:spPr bwMode="auto">
          <a:xfrm>
            <a:off x="5562600" y="5722938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12</a:t>
            </a:r>
          </a:p>
        </p:txBody>
      </p:sp>
      <p:sp>
        <p:nvSpPr>
          <p:cNvPr id="14389" name="Rectangle 56"/>
          <p:cNvSpPr>
            <a:spLocks noChangeArrowheads="1"/>
          </p:cNvSpPr>
          <p:nvPr/>
        </p:nvSpPr>
        <p:spPr bwMode="auto">
          <a:xfrm>
            <a:off x="1981200" y="5754688"/>
            <a:ext cx="4343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390" name="Line 57"/>
          <p:cNvSpPr>
            <a:spLocks noChangeShapeType="1"/>
          </p:cNvSpPr>
          <p:nvPr/>
        </p:nvSpPr>
        <p:spPr bwMode="auto">
          <a:xfrm>
            <a:off x="2667000" y="5754688"/>
            <a:ext cx="0" cy="457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391" name="Line 58"/>
          <p:cNvSpPr>
            <a:spLocks noChangeShapeType="1"/>
          </p:cNvSpPr>
          <p:nvPr/>
        </p:nvSpPr>
        <p:spPr bwMode="auto">
          <a:xfrm>
            <a:off x="4038600" y="5754688"/>
            <a:ext cx="0" cy="457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392" name="Line 59"/>
          <p:cNvSpPr>
            <a:spLocks noChangeShapeType="1"/>
          </p:cNvSpPr>
          <p:nvPr/>
        </p:nvSpPr>
        <p:spPr bwMode="auto">
          <a:xfrm>
            <a:off x="3352800" y="5754688"/>
            <a:ext cx="0" cy="457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393" name="Line 60"/>
          <p:cNvSpPr>
            <a:spLocks noChangeShapeType="1"/>
          </p:cNvSpPr>
          <p:nvPr/>
        </p:nvSpPr>
        <p:spPr bwMode="auto">
          <a:xfrm>
            <a:off x="4800600" y="5754688"/>
            <a:ext cx="0" cy="457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394" name="Line 61"/>
          <p:cNvSpPr>
            <a:spLocks noChangeShapeType="1"/>
          </p:cNvSpPr>
          <p:nvPr/>
        </p:nvSpPr>
        <p:spPr bwMode="auto">
          <a:xfrm>
            <a:off x="5562600" y="5754688"/>
            <a:ext cx="0" cy="457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395" name="Text Box 62"/>
          <p:cNvSpPr txBox="1">
            <a:spLocks noChangeArrowheads="1"/>
          </p:cNvSpPr>
          <p:nvPr/>
        </p:nvSpPr>
        <p:spPr bwMode="auto">
          <a:xfrm>
            <a:off x="4800600" y="5754688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36</a:t>
            </a:r>
          </a:p>
        </p:txBody>
      </p:sp>
      <p:sp>
        <p:nvSpPr>
          <p:cNvPr id="14396" name="Text Box 63"/>
          <p:cNvSpPr txBox="1">
            <a:spLocks noChangeArrowheads="1"/>
          </p:cNvSpPr>
          <p:nvPr/>
        </p:nvSpPr>
        <p:spPr bwMode="auto">
          <a:xfrm>
            <a:off x="4038600" y="5754688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24</a:t>
            </a:r>
          </a:p>
        </p:txBody>
      </p:sp>
      <p:sp>
        <p:nvSpPr>
          <p:cNvPr id="14397" name="Text Box 64"/>
          <p:cNvSpPr txBox="1">
            <a:spLocks noChangeArrowheads="1"/>
          </p:cNvSpPr>
          <p:nvPr/>
        </p:nvSpPr>
        <p:spPr bwMode="auto">
          <a:xfrm>
            <a:off x="1981200" y="5754688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12</a:t>
            </a:r>
          </a:p>
        </p:txBody>
      </p:sp>
      <p:sp>
        <p:nvSpPr>
          <p:cNvPr id="14398" name="Line 65"/>
          <p:cNvSpPr>
            <a:spLocks noChangeShapeType="1"/>
          </p:cNvSpPr>
          <p:nvPr/>
        </p:nvSpPr>
        <p:spPr bwMode="auto">
          <a:xfrm>
            <a:off x="3549650" y="5516563"/>
            <a:ext cx="4763" cy="252412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399" name="Text Box 66"/>
          <p:cNvSpPr txBox="1">
            <a:spLocks noChangeArrowheads="1"/>
          </p:cNvSpPr>
          <p:nvPr/>
        </p:nvSpPr>
        <p:spPr bwMode="auto">
          <a:xfrm>
            <a:off x="3214688" y="5124450"/>
            <a:ext cx="685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6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high</a:t>
            </a:r>
            <a:endParaRPr kumimoji="1" lang="en-US" altLang="zh-CN" sz="2000" b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400" name="Text Box 67"/>
          <p:cNvSpPr txBox="1">
            <a:spLocks noChangeArrowheads="1"/>
          </p:cNvSpPr>
          <p:nvPr/>
        </p:nvSpPr>
        <p:spPr bwMode="auto">
          <a:xfrm>
            <a:off x="3429000" y="5754688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10</a:t>
            </a:r>
          </a:p>
        </p:txBody>
      </p:sp>
      <p:sp>
        <p:nvSpPr>
          <p:cNvPr id="14401" name="Text Box 68"/>
          <p:cNvSpPr txBox="1">
            <a:spLocks noChangeArrowheads="1"/>
          </p:cNvSpPr>
          <p:nvPr/>
        </p:nvSpPr>
        <p:spPr bwMode="auto">
          <a:xfrm>
            <a:off x="2743200" y="5754688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6</a:t>
            </a:r>
          </a:p>
        </p:txBody>
      </p:sp>
      <p:sp>
        <p:nvSpPr>
          <p:cNvPr id="14402" name="Text Box 69"/>
          <p:cNvSpPr txBox="1">
            <a:spLocks noChangeArrowheads="1"/>
          </p:cNvSpPr>
          <p:nvPr/>
        </p:nvSpPr>
        <p:spPr bwMode="auto">
          <a:xfrm>
            <a:off x="5562600" y="5783263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12</a:t>
            </a:r>
          </a:p>
        </p:txBody>
      </p:sp>
      <p:grpSp>
        <p:nvGrpSpPr>
          <p:cNvPr id="14403" name="Group 70"/>
          <p:cNvGrpSpPr>
            <a:grpSpLocks/>
          </p:cNvGrpSpPr>
          <p:nvPr/>
        </p:nvGrpSpPr>
        <p:grpSpPr bwMode="auto">
          <a:xfrm>
            <a:off x="5799138" y="5297488"/>
            <a:ext cx="304800" cy="473075"/>
            <a:chOff x="1296" y="1718"/>
            <a:chExt cx="192" cy="298"/>
          </a:xfrm>
        </p:grpSpPr>
        <p:sp>
          <p:nvSpPr>
            <p:cNvPr id="14441" name="Line 71"/>
            <p:cNvSpPr>
              <a:spLocks noChangeShapeType="1"/>
            </p:cNvSpPr>
            <p:nvPr/>
          </p:nvSpPr>
          <p:spPr bwMode="auto">
            <a:xfrm>
              <a:off x="1296" y="1824"/>
              <a:ext cx="0" cy="192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4442" name="Text Box 72"/>
            <p:cNvSpPr txBox="1">
              <a:spLocks noChangeArrowheads="1"/>
            </p:cNvSpPr>
            <p:nvPr/>
          </p:nvSpPr>
          <p:spPr bwMode="auto">
            <a:xfrm>
              <a:off x="1296" y="1718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000" b="1" dirty="0" err="1">
                  <a:solidFill>
                    <a:schemeClr val="folHlink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i</a:t>
              </a:r>
              <a:endParaRPr kumimoji="1"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14404" name="Line 73"/>
          <p:cNvSpPr>
            <a:spLocks noChangeShapeType="1"/>
          </p:cNvSpPr>
          <p:nvPr/>
        </p:nvSpPr>
        <p:spPr bwMode="auto">
          <a:xfrm>
            <a:off x="4205288" y="5465763"/>
            <a:ext cx="0" cy="3048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405" name="Text Box 74"/>
          <p:cNvSpPr txBox="1">
            <a:spLocks noChangeArrowheads="1"/>
          </p:cNvSpPr>
          <p:nvPr/>
        </p:nvSpPr>
        <p:spPr bwMode="auto">
          <a:xfrm>
            <a:off x="3803650" y="5162550"/>
            <a:ext cx="685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6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low</a:t>
            </a:r>
            <a:endParaRPr kumimoji="1" lang="en-US" altLang="zh-CN" sz="2000" b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406" name="Text Box 75"/>
          <p:cNvSpPr txBox="1">
            <a:spLocks noChangeArrowheads="1"/>
          </p:cNvSpPr>
          <p:nvPr/>
        </p:nvSpPr>
        <p:spPr bwMode="auto">
          <a:xfrm>
            <a:off x="2127250" y="1219200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0</a:t>
            </a:r>
          </a:p>
        </p:txBody>
      </p:sp>
      <p:sp>
        <p:nvSpPr>
          <p:cNvPr id="14407" name="Text Box 77"/>
          <p:cNvSpPr txBox="1">
            <a:spLocks noChangeArrowheads="1"/>
          </p:cNvSpPr>
          <p:nvPr/>
        </p:nvSpPr>
        <p:spPr bwMode="auto">
          <a:xfrm>
            <a:off x="2889250" y="12588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</a:p>
        </p:txBody>
      </p:sp>
      <p:sp>
        <p:nvSpPr>
          <p:cNvPr id="14408" name="Text Box 78"/>
          <p:cNvSpPr txBox="1">
            <a:spLocks noChangeArrowheads="1"/>
          </p:cNvSpPr>
          <p:nvPr/>
        </p:nvSpPr>
        <p:spPr bwMode="auto">
          <a:xfrm>
            <a:off x="3498850" y="12588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</a:p>
        </p:txBody>
      </p:sp>
      <p:sp>
        <p:nvSpPr>
          <p:cNvPr id="14409" name="Text Box 79"/>
          <p:cNvSpPr txBox="1">
            <a:spLocks noChangeArrowheads="1"/>
          </p:cNvSpPr>
          <p:nvPr/>
        </p:nvSpPr>
        <p:spPr bwMode="auto">
          <a:xfrm>
            <a:off x="4184650" y="12588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3</a:t>
            </a:r>
          </a:p>
        </p:txBody>
      </p:sp>
      <p:sp>
        <p:nvSpPr>
          <p:cNvPr id="14410" name="Text Box 80"/>
          <p:cNvSpPr txBox="1">
            <a:spLocks noChangeArrowheads="1"/>
          </p:cNvSpPr>
          <p:nvPr/>
        </p:nvSpPr>
        <p:spPr bwMode="auto">
          <a:xfrm>
            <a:off x="5022850" y="12588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4</a:t>
            </a:r>
          </a:p>
        </p:txBody>
      </p:sp>
      <p:sp>
        <p:nvSpPr>
          <p:cNvPr id="14411" name="Text Box 81"/>
          <p:cNvSpPr txBox="1">
            <a:spLocks noChangeArrowheads="1"/>
          </p:cNvSpPr>
          <p:nvPr/>
        </p:nvSpPr>
        <p:spPr bwMode="auto">
          <a:xfrm>
            <a:off x="5708650" y="125888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华文楷体" panose="02010600040101010101" pitchFamily="2" charset="-122"/>
              </a:rPr>
              <a:t>5</a:t>
            </a:r>
          </a:p>
        </p:txBody>
      </p:sp>
      <p:sp>
        <p:nvSpPr>
          <p:cNvPr id="14412" name="Text Box 82"/>
          <p:cNvSpPr txBox="1">
            <a:spLocks noChangeArrowheads="1"/>
          </p:cNvSpPr>
          <p:nvPr/>
        </p:nvSpPr>
        <p:spPr bwMode="auto">
          <a:xfrm>
            <a:off x="6477000" y="3367088"/>
            <a:ext cx="2514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mid= </a:t>
            </a:r>
            <a:r>
              <a:rPr lang="en-US" altLang="zh-CN" sz="1800" b="1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(</a:t>
            </a:r>
            <a:r>
              <a:rPr lang="en-US" altLang="zh-CN" sz="1800" b="1" dirty="0" err="1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low+high</a:t>
            </a:r>
            <a:r>
              <a:rPr lang="en-US" altLang="zh-CN" sz="1800" b="1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)/2</a:t>
            </a:r>
          </a:p>
        </p:txBody>
      </p:sp>
      <p:sp>
        <p:nvSpPr>
          <p:cNvPr id="14413" name="Line 83"/>
          <p:cNvSpPr>
            <a:spLocks noChangeShapeType="1"/>
          </p:cNvSpPr>
          <p:nvPr/>
        </p:nvSpPr>
        <p:spPr bwMode="auto">
          <a:xfrm>
            <a:off x="3733800" y="2173288"/>
            <a:ext cx="0" cy="457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414" name="Text Box 84"/>
          <p:cNvSpPr txBox="1">
            <a:spLocks noChangeArrowheads="1"/>
          </p:cNvSpPr>
          <p:nvPr/>
        </p:nvSpPr>
        <p:spPr bwMode="auto">
          <a:xfrm>
            <a:off x="3565525" y="1981200"/>
            <a:ext cx="590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mid</a:t>
            </a:r>
          </a:p>
        </p:txBody>
      </p:sp>
      <p:sp>
        <p:nvSpPr>
          <p:cNvPr id="14415" name="Text Box 85"/>
          <p:cNvSpPr txBox="1">
            <a:spLocks noChangeArrowheads="1"/>
          </p:cNvSpPr>
          <p:nvPr/>
        </p:nvSpPr>
        <p:spPr bwMode="auto">
          <a:xfrm>
            <a:off x="5562600" y="3665538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12</a:t>
            </a:r>
          </a:p>
        </p:txBody>
      </p:sp>
      <p:sp>
        <p:nvSpPr>
          <p:cNvPr id="14416" name="Rectangle 86"/>
          <p:cNvSpPr>
            <a:spLocks noChangeArrowheads="1"/>
          </p:cNvSpPr>
          <p:nvPr/>
        </p:nvSpPr>
        <p:spPr bwMode="auto">
          <a:xfrm>
            <a:off x="1981200" y="3697288"/>
            <a:ext cx="4343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417" name="Line 87"/>
          <p:cNvSpPr>
            <a:spLocks noChangeShapeType="1"/>
          </p:cNvSpPr>
          <p:nvPr/>
        </p:nvSpPr>
        <p:spPr bwMode="auto">
          <a:xfrm>
            <a:off x="2667000" y="3697288"/>
            <a:ext cx="0" cy="457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418" name="Line 88"/>
          <p:cNvSpPr>
            <a:spLocks noChangeShapeType="1"/>
          </p:cNvSpPr>
          <p:nvPr/>
        </p:nvSpPr>
        <p:spPr bwMode="auto">
          <a:xfrm>
            <a:off x="4038600" y="3697288"/>
            <a:ext cx="0" cy="457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419" name="Line 89"/>
          <p:cNvSpPr>
            <a:spLocks noChangeShapeType="1"/>
          </p:cNvSpPr>
          <p:nvPr/>
        </p:nvSpPr>
        <p:spPr bwMode="auto">
          <a:xfrm>
            <a:off x="3352800" y="3697288"/>
            <a:ext cx="0" cy="457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420" name="Line 90"/>
          <p:cNvSpPr>
            <a:spLocks noChangeShapeType="1"/>
          </p:cNvSpPr>
          <p:nvPr/>
        </p:nvSpPr>
        <p:spPr bwMode="auto">
          <a:xfrm>
            <a:off x="4800600" y="3697288"/>
            <a:ext cx="0" cy="457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421" name="Line 91"/>
          <p:cNvSpPr>
            <a:spLocks noChangeShapeType="1"/>
          </p:cNvSpPr>
          <p:nvPr/>
        </p:nvSpPr>
        <p:spPr bwMode="auto">
          <a:xfrm>
            <a:off x="5562600" y="3697288"/>
            <a:ext cx="0" cy="457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422" name="Text Box 92"/>
          <p:cNvSpPr txBox="1">
            <a:spLocks noChangeArrowheads="1"/>
          </p:cNvSpPr>
          <p:nvPr/>
        </p:nvSpPr>
        <p:spPr bwMode="auto">
          <a:xfrm>
            <a:off x="4800600" y="3697288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36</a:t>
            </a:r>
          </a:p>
        </p:txBody>
      </p:sp>
      <p:sp>
        <p:nvSpPr>
          <p:cNvPr id="14423" name="Text Box 93"/>
          <p:cNvSpPr txBox="1">
            <a:spLocks noChangeArrowheads="1"/>
          </p:cNvSpPr>
          <p:nvPr/>
        </p:nvSpPr>
        <p:spPr bwMode="auto">
          <a:xfrm>
            <a:off x="4038600" y="3697288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24</a:t>
            </a:r>
          </a:p>
        </p:txBody>
      </p:sp>
      <p:sp>
        <p:nvSpPr>
          <p:cNvPr id="14424" name="Text Box 94"/>
          <p:cNvSpPr txBox="1">
            <a:spLocks noChangeArrowheads="1"/>
          </p:cNvSpPr>
          <p:nvPr/>
        </p:nvSpPr>
        <p:spPr bwMode="auto">
          <a:xfrm>
            <a:off x="1981200" y="3697288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12</a:t>
            </a:r>
          </a:p>
        </p:txBody>
      </p:sp>
      <p:sp>
        <p:nvSpPr>
          <p:cNvPr id="14425" name="Line 95"/>
          <p:cNvSpPr>
            <a:spLocks noChangeShapeType="1"/>
          </p:cNvSpPr>
          <p:nvPr/>
        </p:nvSpPr>
        <p:spPr bwMode="auto">
          <a:xfrm>
            <a:off x="5029200" y="3436938"/>
            <a:ext cx="4763" cy="252412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426" name="Text Box 96"/>
          <p:cNvSpPr txBox="1">
            <a:spLocks noChangeArrowheads="1"/>
          </p:cNvSpPr>
          <p:nvPr/>
        </p:nvSpPr>
        <p:spPr bwMode="auto">
          <a:xfrm>
            <a:off x="4953000" y="3132138"/>
            <a:ext cx="685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6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high</a:t>
            </a:r>
            <a:endParaRPr kumimoji="1" lang="en-US" altLang="zh-CN" sz="2000" b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427" name="Text Box 97"/>
          <p:cNvSpPr txBox="1">
            <a:spLocks noChangeArrowheads="1"/>
          </p:cNvSpPr>
          <p:nvPr/>
        </p:nvSpPr>
        <p:spPr bwMode="auto">
          <a:xfrm>
            <a:off x="3429000" y="3697288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10</a:t>
            </a:r>
          </a:p>
        </p:txBody>
      </p:sp>
      <p:sp>
        <p:nvSpPr>
          <p:cNvPr id="14428" name="Text Box 98"/>
          <p:cNvSpPr txBox="1">
            <a:spLocks noChangeArrowheads="1"/>
          </p:cNvSpPr>
          <p:nvPr/>
        </p:nvSpPr>
        <p:spPr bwMode="auto">
          <a:xfrm>
            <a:off x="2743200" y="3697288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6</a:t>
            </a:r>
          </a:p>
        </p:txBody>
      </p:sp>
      <p:sp>
        <p:nvSpPr>
          <p:cNvPr id="14429" name="Text Box 99"/>
          <p:cNvSpPr txBox="1">
            <a:spLocks noChangeArrowheads="1"/>
          </p:cNvSpPr>
          <p:nvPr/>
        </p:nvSpPr>
        <p:spPr bwMode="auto">
          <a:xfrm>
            <a:off x="5562600" y="3725863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12</a:t>
            </a:r>
          </a:p>
        </p:txBody>
      </p:sp>
      <p:grpSp>
        <p:nvGrpSpPr>
          <p:cNvPr id="14430" name="Group 100"/>
          <p:cNvGrpSpPr>
            <a:grpSpLocks/>
          </p:cNvGrpSpPr>
          <p:nvPr/>
        </p:nvGrpSpPr>
        <p:grpSpPr bwMode="auto">
          <a:xfrm>
            <a:off x="5799138" y="3240088"/>
            <a:ext cx="304800" cy="473075"/>
            <a:chOff x="1296" y="1718"/>
            <a:chExt cx="192" cy="298"/>
          </a:xfrm>
        </p:grpSpPr>
        <p:sp>
          <p:nvSpPr>
            <p:cNvPr id="14439" name="Line 101"/>
            <p:cNvSpPr>
              <a:spLocks noChangeShapeType="1"/>
            </p:cNvSpPr>
            <p:nvPr/>
          </p:nvSpPr>
          <p:spPr bwMode="auto">
            <a:xfrm>
              <a:off x="1296" y="1824"/>
              <a:ext cx="0" cy="192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14440" name="Text Box 102"/>
            <p:cNvSpPr txBox="1">
              <a:spLocks noChangeArrowheads="1"/>
            </p:cNvSpPr>
            <p:nvPr/>
          </p:nvSpPr>
          <p:spPr bwMode="auto">
            <a:xfrm>
              <a:off x="1296" y="1718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000" b="1" dirty="0" err="1">
                  <a:solidFill>
                    <a:schemeClr val="folHlink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i</a:t>
              </a:r>
              <a:endParaRPr kumimoji="1"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14431" name="Line 103"/>
          <p:cNvSpPr>
            <a:spLocks noChangeShapeType="1"/>
          </p:cNvSpPr>
          <p:nvPr/>
        </p:nvSpPr>
        <p:spPr bwMode="auto">
          <a:xfrm>
            <a:off x="4343400" y="3408363"/>
            <a:ext cx="0" cy="3048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432" name="Text Box 104"/>
          <p:cNvSpPr txBox="1">
            <a:spLocks noChangeArrowheads="1"/>
          </p:cNvSpPr>
          <p:nvPr/>
        </p:nvSpPr>
        <p:spPr bwMode="auto">
          <a:xfrm>
            <a:off x="3810000" y="3208338"/>
            <a:ext cx="685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6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low</a:t>
            </a:r>
            <a:endParaRPr kumimoji="1" lang="en-US" altLang="zh-CN" sz="2000" b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433" name="Line 105"/>
          <p:cNvSpPr>
            <a:spLocks noChangeShapeType="1"/>
          </p:cNvSpPr>
          <p:nvPr/>
        </p:nvSpPr>
        <p:spPr bwMode="auto">
          <a:xfrm>
            <a:off x="4495800" y="3240088"/>
            <a:ext cx="0" cy="457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434" name="Line 107"/>
          <p:cNvSpPr>
            <a:spLocks noChangeShapeType="1"/>
          </p:cNvSpPr>
          <p:nvPr/>
        </p:nvSpPr>
        <p:spPr bwMode="auto">
          <a:xfrm>
            <a:off x="4343400" y="4230688"/>
            <a:ext cx="0" cy="457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435" name="Text Box 108"/>
          <p:cNvSpPr txBox="1">
            <a:spLocks noChangeArrowheads="1"/>
          </p:cNvSpPr>
          <p:nvPr/>
        </p:nvSpPr>
        <p:spPr bwMode="auto">
          <a:xfrm>
            <a:off x="4191000" y="3025775"/>
            <a:ext cx="590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mid</a:t>
            </a:r>
          </a:p>
        </p:txBody>
      </p:sp>
      <p:sp>
        <p:nvSpPr>
          <p:cNvPr id="14436" name="Text Box 109"/>
          <p:cNvSpPr txBox="1">
            <a:spLocks noChangeArrowheads="1"/>
          </p:cNvSpPr>
          <p:nvPr/>
        </p:nvSpPr>
        <p:spPr bwMode="auto">
          <a:xfrm>
            <a:off x="4057650" y="4078288"/>
            <a:ext cx="590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mid</a:t>
            </a:r>
          </a:p>
        </p:txBody>
      </p:sp>
      <p:sp>
        <p:nvSpPr>
          <p:cNvPr id="14437" name="AutoShape 110"/>
          <p:cNvSpPr>
            <a:spLocks noChangeArrowheads="1"/>
          </p:cNvSpPr>
          <p:nvPr/>
        </p:nvSpPr>
        <p:spPr bwMode="auto">
          <a:xfrm>
            <a:off x="4114800" y="6248400"/>
            <a:ext cx="381000" cy="457200"/>
          </a:xfrm>
          <a:prstGeom prst="upArrow">
            <a:avLst>
              <a:gd name="adj1" fmla="val 50000"/>
              <a:gd name="adj2" fmla="val 3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4438" name="Text Box 111"/>
          <p:cNvSpPr txBox="1">
            <a:spLocks noChangeArrowheads="1"/>
          </p:cNvSpPr>
          <p:nvPr/>
        </p:nvSpPr>
        <p:spPr bwMode="auto">
          <a:xfrm>
            <a:off x="4343400" y="6437313"/>
            <a:ext cx="111440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插入位置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52525"/>
            <a:ext cx="7772400" cy="5248275"/>
          </a:xfrm>
          <a:ln>
            <a:solidFill>
              <a:schemeClr val="accent1"/>
            </a:solidFill>
          </a:ln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算法描述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2000" dirty="0">
                <a:ea typeface="华文楷体" panose="02010600040101010101" pitchFamily="2" charset="-122"/>
              </a:rPr>
              <a:t>void </a:t>
            </a:r>
            <a:r>
              <a:rPr kumimoji="1" lang="en-US" altLang="zh-CN" sz="2000" dirty="0" err="1">
                <a:ea typeface="华文楷体" panose="02010600040101010101" pitchFamily="2" charset="-122"/>
              </a:rPr>
              <a:t>BInsertSort</a:t>
            </a:r>
            <a:r>
              <a:rPr kumimoji="1" lang="en-US" altLang="zh-CN" sz="2000" dirty="0">
                <a:ea typeface="华文楷体" panose="02010600040101010101" pitchFamily="2" charset="-122"/>
              </a:rPr>
              <a:t>(</a:t>
            </a:r>
            <a:r>
              <a:rPr kumimoji="1" lang="en-US" altLang="zh-CN" sz="2000" dirty="0" err="1">
                <a:ea typeface="华文楷体" panose="02010600040101010101" pitchFamily="2" charset="-122"/>
              </a:rPr>
              <a:t>ElemType</a:t>
            </a:r>
            <a:r>
              <a:rPr kumimoji="1" lang="en-US" altLang="zh-CN" sz="2000" dirty="0">
                <a:ea typeface="华文楷体" panose="02010600040101010101" pitchFamily="2" charset="-122"/>
              </a:rPr>
              <a:t> a[], </a:t>
            </a:r>
            <a:r>
              <a:rPr kumimoji="1" lang="en-US" altLang="zh-CN" sz="2000" dirty="0" err="1">
                <a:ea typeface="华文楷体" panose="02010600040101010101" pitchFamily="2" charset="-122"/>
              </a:rPr>
              <a:t>int</a:t>
            </a:r>
            <a:r>
              <a:rPr kumimoji="1" lang="en-US" altLang="zh-CN" sz="2000" dirty="0">
                <a:ea typeface="华文楷体" panose="02010600040101010101" pitchFamily="2" charset="-122"/>
              </a:rPr>
              <a:t> n)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2000" dirty="0">
                <a:ea typeface="华文楷体" panose="02010600040101010101" pitchFamily="2" charset="-122"/>
              </a:rPr>
              <a:t> {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2000" dirty="0">
                <a:ea typeface="华文楷体" panose="02010600040101010101" pitchFamily="2" charset="-122"/>
              </a:rPr>
              <a:t>    for ( </a:t>
            </a:r>
            <a:r>
              <a:rPr kumimoji="1" lang="en-US" altLang="zh-CN" sz="2000" dirty="0" err="1">
                <a:ea typeface="华文楷体" panose="02010600040101010101" pitchFamily="2" charset="-122"/>
              </a:rPr>
              <a:t>i</a:t>
            </a:r>
            <a:r>
              <a:rPr kumimoji="1" lang="en-US" altLang="zh-CN" sz="2000" dirty="0">
                <a:ea typeface="华文楷体" panose="02010600040101010101" pitchFamily="2" charset="-122"/>
              </a:rPr>
              <a:t> = 2;  </a:t>
            </a:r>
            <a:r>
              <a:rPr kumimoji="1" lang="en-US" altLang="zh-CN" sz="2000" dirty="0" err="1">
                <a:ea typeface="华文楷体" panose="02010600040101010101" pitchFamily="2" charset="-122"/>
              </a:rPr>
              <a:t>i</a:t>
            </a:r>
            <a:r>
              <a:rPr kumimoji="1" lang="en-US" altLang="zh-CN" sz="2000" dirty="0">
                <a:ea typeface="华文楷体" panose="02010600040101010101" pitchFamily="2" charset="-122"/>
              </a:rPr>
              <a:t> &lt;= n; ++</a:t>
            </a:r>
            <a:r>
              <a:rPr kumimoji="1" lang="en-US" altLang="zh-CN" sz="2000" dirty="0" err="1">
                <a:ea typeface="华文楷体" panose="02010600040101010101" pitchFamily="2" charset="-122"/>
              </a:rPr>
              <a:t>i</a:t>
            </a:r>
            <a:r>
              <a:rPr kumimoji="1" lang="en-US" altLang="zh-CN" sz="2000" dirty="0">
                <a:ea typeface="华文楷体" panose="02010600040101010101" pitchFamily="2" charset="-122"/>
              </a:rPr>
              <a:t> 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2000" dirty="0">
                <a:ea typeface="华文楷体" panose="02010600040101010101" pitchFamily="2" charset="-122"/>
              </a:rPr>
              <a:t>    { 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2000" dirty="0">
                <a:ea typeface="华文楷体" panose="02010600040101010101" pitchFamily="2" charset="-122"/>
              </a:rPr>
              <a:t>         a[0] = a[</a:t>
            </a:r>
            <a:r>
              <a:rPr kumimoji="1" lang="en-US" altLang="zh-CN" sz="2000" dirty="0" err="1">
                <a:ea typeface="华文楷体" panose="02010600040101010101" pitchFamily="2" charset="-122"/>
              </a:rPr>
              <a:t>i</a:t>
            </a:r>
            <a:r>
              <a:rPr kumimoji="1" lang="en-US" altLang="zh-CN" sz="2000" dirty="0">
                <a:ea typeface="华文楷体" panose="02010600040101010101" pitchFamily="2" charset="-122"/>
              </a:rPr>
              <a:t>]; low = 1 ; high = i-1 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2000" dirty="0">
                <a:ea typeface="华文楷体" panose="02010600040101010101" pitchFamily="2" charset="-122"/>
              </a:rPr>
              <a:t>         while ( low &lt;= high )      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2000" dirty="0">
                <a:ea typeface="华文楷体" panose="02010600040101010101" pitchFamily="2" charset="-122"/>
              </a:rPr>
              <a:t>         { 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2000" dirty="0">
                <a:ea typeface="华文楷体" panose="02010600040101010101" pitchFamily="2" charset="-122"/>
              </a:rPr>
              <a:t>              m = ( low + high ) / 2 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2000" dirty="0">
                <a:ea typeface="华文楷体" panose="02010600040101010101" pitchFamily="2" charset="-122"/>
              </a:rPr>
              <a:t>               if  (a[0].key &lt; a[m].key ) )   high = m -1 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2000" dirty="0">
                <a:ea typeface="华文楷体" panose="02010600040101010101" pitchFamily="2" charset="-122"/>
              </a:rPr>
              <a:t>              else  low = m + 1;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2000" dirty="0">
                <a:ea typeface="华文楷体" panose="02010600040101010101" pitchFamily="2" charset="-122"/>
              </a:rPr>
              <a:t>         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2000" dirty="0">
                <a:ea typeface="华文楷体" panose="02010600040101010101" pitchFamily="2" charset="-122"/>
              </a:rPr>
              <a:t>          for ( j=i-1; j&gt;=high+1; - - j )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2000" dirty="0">
                <a:ea typeface="华文楷体" panose="02010600040101010101" pitchFamily="2" charset="-122"/>
              </a:rPr>
              <a:t>               a[j+1] = a[j];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2000" dirty="0">
                <a:ea typeface="华文楷体" panose="02010600040101010101" pitchFamily="2" charset="-122"/>
              </a:rPr>
              <a:t>          a[high+1] = a[0];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2000" dirty="0">
                <a:ea typeface="华文楷体" panose="02010600040101010101" pitchFamily="2" charset="-122"/>
              </a:rPr>
              <a:t>    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2000" dirty="0">
                <a:ea typeface="华文楷体" panose="02010600040101010101" pitchFamily="2" charset="-122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改进措施</a:t>
            </a:r>
            <a:r>
              <a:rPr lang="en-US" altLang="zh-CN" sz="2400" b="1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1</a:t>
            </a:r>
            <a:r>
              <a:rPr lang="zh-CN" altLang="en-US" sz="2400" b="1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： </a:t>
            </a:r>
            <a:r>
              <a:rPr lang="en-US" altLang="zh-CN" sz="2400" b="1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2-</a:t>
            </a:r>
            <a:r>
              <a:rPr lang="zh-CN" altLang="en-US" sz="2400" b="1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路插入排序</a:t>
            </a:r>
          </a:p>
          <a:p>
            <a:pPr eaLnBrk="1" hangingPunct="1"/>
            <a:endParaRPr lang="zh-CN" altLang="en-US" sz="2400" b="1" dirty="0" smtClean="0">
              <a:solidFill>
                <a:srgbClr val="800000"/>
              </a:solidFill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       算法思想：设置与</a:t>
            </a:r>
            <a:r>
              <a:rPr lang="en-US" altLang="zh-CN" sz="2400" dirty="0" smtClean="0">
                <a:ea typeface="华文楷体" panose="02010600040101010101" pitchFamily="2" charset="-122"/>
              </a:rPr>
              <a:t>r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同样大小的辅助空间</a:t>
            </a:r>
            <a:r>
              <a:rPr lang="en-US" altLang="zh-CN" sz="2400" dirty="0" smtClean="0">
                <a:ea typeface="华文楷体" panose="02010600040101010101" pitchFamily="2" charset="-122"/>
              </a:rPr>
              <a:t>d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，将</a:t>
            </a:r>
            <a:r>
              <a:rPr lang="en-US" altLang="zh-CN" sz="2400" b="1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r[1]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赋值给</a:t>
            </a:r>
            <a:r>
              <a:rPr lang="en-US" altLang="zh-CN" sz="2400" dirty="0" smtClean="0">
                <a:ea typeface="华文楷体" panose="02010600040101010101" pitchFamily="2" charset="-122"/>
              </a:rPr>
              <a:t>d[1]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，将</a:t>
            </a:r>
            <a:r>
              <a:rPr lang="en-US" altLang="zh-CN" sz="2400" dirty="0" smtClean="0">
                <a:ea typeface="华文楷体" panose="02010600040101010101" pitchFamily="2" charset="-122"/>
              </a:rPr>
              <a:t>d</a:t>
            </a:r>
            <a:r>
              <a:rPr lang="zh-CN" altLang="en-US" sz="2400" dirty="0" smtClean="0">
                <a:ea typeface="华文楷体" panose="02010600040101010101" pitchFamily="2" charset="-122"/>
              </a:rPr>
              <a:t>看作循环向量。对于</a:t>
            </a:r>
            <a:r>
              <a:rPr lang="en-US" altLang="zh-CN" sz="2400" dirty="0" smtClean="0">
                <a:ea typeface="华文楷体" panose="02010600040101010101" pitchFamily="2" charset="-122"/>
              </a:rPr>
              <a:t>r[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2400" dirty="0" smtClean="0">
                <a:ea typeface="华文楷体" panose="02010600040101010101" pitchFamily="2" charset="-122"/>
              </a:rPr>
              <a:t>] (2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in)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，若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r[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]d[1]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，则插入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d[1]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之后的有序序列中，反之则插入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d[1]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之前的有序序列中。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(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避免</a:t>
            </a:r>
            <a:r>
              <a:rPr lang="en-US" altLang="zh-CN" sz="2400" b="1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r[1]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关键字最小</a:t>
            </a:r>
            <a:r>
              <a:rPr lang="en-US" altLang="zh-CN" sz="2400" dirty="0" smtClean="0">
                <a:ea typeface="华文楷体" panose="02010600040101010101" pitchFamily="2" charset="-122"/>
              </a:rPr>
              <a:t>/</a:t>
            </a:r>
            <a:r>
              <a:rPr lang="zh-CN" altLang="en-US" sz="2400" dirty="0" smtClean="0">
                <a:ea typeface="华文楷体" panose="02010600040101010101" pitchFamily="2" charset="-122"/>
              </a:rPr>
              <a:t>最大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      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效果：减少记录的移动次数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endParaRPr lang="zh-CN" altLang="zh-CN" sz="2800" dirty="0" smtClean="0">
              <a:ea typeface="华文楷体" panose="02010600040101010101" pitchFamily="2" charset="-122"/>
            </a:endParaRPr>
          </a:p>
        </p:txBody>
      </p:sp>
      <p:sp>
        <p:nvSpPr>
          <p:cNvPr id="1741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希尔排序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算法思想的出发点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 smtClean="0">
                <a:ea typeface="华文楷体" panose="02010600040101010101" pitchFamily="2" charset="-122"/>
              </a:rPr>
              <a:t>直接插入排序在待排序列的关键字基本有序时，效率较高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 smtClean="0">
                <a:ea typeface="华文楷体" panose="02010600040101010101" pitchFamily="2" charset="-122"/>
              </a:rPr>
              <a:t>在待排序的记录个数较少时，效率较高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4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算法思想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先选定一个记录下标的增量</a:t>
            </a:r>
            <a:r>
              <a:rPr lang="en-US" altLang="zh-CN" sz="2400" dirty="0" smtClean="0">
                <a:ea typeface="华文楷体" panose="02010600040101010101" pitchFamily="2" charset="-122"/>
              </a:rPr>
              <a:t>d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，将整个记录序列按增量</a:t>
            </a:r>
            <a:r>
              <a:rPr lang="en-US" altLang="zh-CN" sz="2400" dirty="0" smtClean="0">
                <a:ea typeface="华文楷体" panose="02010600040101010101" pitchFamily="2" charset="-122"/>
              </a:rPr>
              <a:t>d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从第一个记录开始划分为若干组，对每组使用直接插入排序的方法；然后减小增量</a:t>
            </a:r>
            <a:r>
              <a:rPr lang="en-US" altLang="zh-CN" sz="2400" dirty="0" smtClean="0">
                <a:ea typeface="华文楷体" panose="02010600040101010101" pitchFamily="2" charset="-122"/>
              </a:rPr>
              <a:t>d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，不断重复上述过程，如此下去，直到</a:t>
            </a:r>
            <a:r>
              <a:rPr lang="en-US" altLang="zh-CN" sz="2400" dirty="0" smtClean="0">
                <a:ea typeface="华文楷体" panose="02010600040101010101" pitchFamily="2" charset="-122"/>
              </a:rPr>
              <a:t>d=1(</a:t>
            </a:r>
            <a:r>
              <a:rPr lang="zh-CN" altLang="en-US" sz="2400" dirty="0" smtClean="0">
                <a:ea typeface="华文楷体" panose="02010600040101010101" pitchFamily="2" charset="-122"/>
              </a:rPr>
              <a:t>此时整个序列是一组</a:t>
            </a:r>
            <a:r>
              <a:rPr lang="en-US" altLang="zh-CN" sz="2400" dirty="0" smtClean="0">
                <a:ea typeface="华文楷体" panose="02010600040101010101" pitchFamily="2" charset="-122"/>
              </a:rPr>
              <a:t>)</a:t>
            </a:r>
            <a:r>
              <a:rPr lang="zh-CN" altLang="en-US" sz="2400" dirty="0" smtClean="0">
                <a:ea typeface="华文楷体" panose="02010600040101010101" pitchFamily="2" charset="-122"/>
              </a:rPr>
              <a:t>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4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 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示例 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7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1843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 smtClean="0">
                <a:ea typeface="华文楷体" panose="02010600040101010101" pitchFamily="2" charset="-122"/>
              </a:rPr>
              <a:t>&lt;</a:t>
            </a:r>
            <a:r>
              <a:rPr lang="zh-CN" altLang="en-US" sz="2000" b="1" dirty="0" smtClean="0">
                <a:ea typeface="华文楷体" panose="02010600040101010101" pitchFamily="2" charset="-122"/>
              </a:rPr>
              <a:t>初态</a:t>
            </a:r>
            <a:r>
              <a:rPr lang="en-US" altLang="zh-CN" sz="2000" b="1" dirty="0" smtClean="0">
                <a:ea typeface="华文楷体" panose="02010600040101010101" pitchFamily="2" charset="-122"/>
              </a:rPr>
              <a:t>&gt;                46   82   52   </a:t>
            </a:r>
            <a:r>
              <a:rPr lang="en-US" altLang="zh-CN" sz="2000" b="1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40</a:t>
            </a:r>
            <a:r>
              <a:rPr lang="en-US" altLang="zh-CN" sz="2000" b="1" dirty="0" smtClean="0">
                <a:ea typeface="华文楷体" panose="02010600040101010101" pitchFamily="2" charset="-122"/>
              </a:rPr>
              <a:t>   67   31   </a:t>
            </a:r>
            <a:r>
              <a:rPr lang="en-US" altLang="zh-CN" sz="2000" b="1" u="sng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40</a:t>
            </a:r>
            <a:r>
              <a:rPr lang="en-US" altLang="zh-CN" sz="2000" b="1" dirty="0" smtClean="0">
                <a:ea typeface="华文楷体" panose="02010600040101010101" pitchFamily="2" charset="-122"/>
              </a:rPr>
              <a:t>   73   53  76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 smtClean="0">
                <a:ea typeface="华文楷体" panose="02010600040101010101" pitchFamily="2" charset="-122"/>
              </a:rPr>
              <a:t>  d</a:t>
            </a:r>
            <a:r>
              <a:rPr lang="en-US" altLang="zh-CN" sz="2000" b="1" baseline="-25000" dirty="0" smtClean="0">
                <a:ea typeface="华文楷体" panose="02010600040101010101" pitchFamily="2" charset="-122"/>
              </a:rPr>
              <a:t>1</a:t>
            </a:r>
            <a:r>
              <a:rPr lang="en-US" altLang="zh-CN" sz="2000" b="1" dirty="0" smtClean="0">
                <a:ea typeface="华文楷体" panose="02010600040101010101" pitchFamily="2" charset="-122"/>
              </a:rPr>
              <a:t>=5                  31                               46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 smtClean="0">
                <a:ea typeface="华文楷体" panose="02010600040101010101" pitchFamily="2" charset="-122"/>
              </a:rPr>
              <a:t>                                   </a:t>
            </a:r>
            <a:r>
              <a:rPr lang="en-US" altLang="zh-CN" sz="2000" b="1" u="sng" dirty="0" smtClean="0">
                <a:ea typeface="华文楷体" panose="02010600040101010101" pitchFamily="2" charset="-122"/>
              </a:rPr>
              <a:t>40</a:t>
            </a:r>
            <a:r>
              <a:rPr lang="en-US" altLang="zh-CN" sz="2000" b="1" dirty="0" smtClean="0">
                <a:ea typeface="华文楷体" panose="02010600040101010101" pitchFamily="2" charset="-122"/>
              </a:rPr>
              <a:t>                              82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 smtClean="0">
                <a:ea typeface="华文楷体" panose="02010600040101010101" pitchFamily="2" charset="-122"/>
              </a:rPr>
              <a:t>                                          52                               73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 smtClean="0">
                <a:ea typeface="华文楷体" panose="02010600040101010101" pitchFamily="2" charset="-122"/>
              </a:rPr>
              <a:t>                                                 40                               53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 smtClean="0">
                <a:ea typeface="华文楷体" panose="02010600040101010101" pitchFamily="2" charset="-122"/>
              </a:rPr>
              <a:t>                                                       67                               76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000" b="1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 smtClean="0">
                <a:ea typeface="华文楷体" panose="02010600040101010101" pitchFamily="2" charset="-122"/>
              </a:rPr>
              <a:t>&lt;</a:t>
            </a:r>
            <a:r>
              <a:rPr lang="zh-CN" altLang="en-US" sz="2000" b="1" dirty="0" smtClean="0">
                <a:ea typeface="华文楷体" panose="02010600040101010101" pitchFamily="2" charset="-122"/>
              </a:rPr>
              <a:t>第一趟结果</a:t>
            </a:r>
            <a:r>
              <a:rPr lang="en-US" altLang="zh-CN" sz="2000" b="1" dirty="0" smtClean="0">
                <a:ea typeface="华文楷体" panose="02010600040101010101" pitchFamily="2" charset="-122"/>
              </a:rPr>
              <a:t>&gt;    31   </a:t>
            </a:r>
            <a:r>
              <a:rPr lang="en-US" altLang="zh-CN" sz="2000" b="1" u="sng" dirty="0" smtClean="0">
                <a:ea typeface="华文楷体" panose="02010600040101010101" pitchFamily="2" charset="-122"/>
              </a:rPr>
              <a:t>40</a:t>
            </a:r>
            <a:r>
              <a:rPr lang="en-US" altLang="zh-CN" sz="2000" b="1" dirty="0" smtClean="0">
                <a:ea typeface="华文楷体" panose="02010600040101010101" pitchFamily="2" charset="-122"/>
              </a:rPr>
              <a:t>    52   40    67   46   82   73   53  76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 smtClean="0">
                <a:ea typeface="华文楷体" panose="02010600040101010101" pitchFamily="2" charset="-122"/>
              </a:rPr>
              <a:t>  d</a:t>
            </a:r>
            <a:r>
              <a:rPr lang="en-US" altLang="zh-CN" sz="2000" b="1" baseline="-25000" dirty="0" smtClean="0">
                <a:ea typeface="华文楷体" panose="02010600040101010101" pitchFamily="2" charset="-122"/>
              </a:rPr>
              <a:t>2</a:t>
            </a:r>
            <a:r>
              <a:rPr lang="en-US" altLang="zh-CN" sz="2000" b="1" dirty="0" smtClean="0">
                <a:ea typeface="华文楷体" panose="02010600040101010101" pitchFamily="2" charset="-122"/>
              </a:rPr>
              <a:t>=3                 31                  40                  76                82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 smtClean="0">
                <a:ea typeface="华文楷体" panose="02010600040101010101" pitchFamily="2" charset="-122"/>
              </a:rPr>
              <a:t>                                  </a:t>
            </a:r>
            <a:r>
              <a:rPr lang="en-US" altLang="zh-CN" sz="2000" b="1" u="sng" dirty="0" smtClean="0">
                <a:ea typeface="华文楷体" panose="02010600040101010101" pitchFamily="2" charset="-122"/>
              </a:rPr>
              <a:t>40</a:t>
            </a:r>
            <a:r>
              <a:rPr lang="en-US" altLang="zh-CN" sz="2000" b="1" dirty="0" smtClean="0">
                <a:ea typeface="华文楷体" panose="02010600040101010101" pitchFamily="2" charset="-122"/>
              </a:rPr>
              <a:t>                   67                 73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 smtClean="0">
                <a:ea typeface="华文楷体" panose="02010600040101010101" pitchFamily="2" charset="-122"/>
              </a:rPr>
              <a:t>                                         46                   52                 53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000" b="1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 smtClean="0">
                <a:ea typeface="华文楷体" panose="02010600040101010101" pitchFamily="2" charset="-122"/>
              </a:rPr>
              <a:t>&lt;</a:t>
            </a:r>
            <a:r>
              <a:rPr lang="zh-CN" altLang="en-US" sz="2000" b="1" dirty="0" smtClean="0">
                <a:ea typeface="华文楷体" panose="02010600040101010101" pitchFamily="2" charset="-122"/>
              </a:rPr>
              <a:t>第二趟结果</a:t>
            </a:r>
            <a:r>
              <a:rPr lang="en-US" altLang="zh-CN" sz="2000" b="1" dirty="0" smtClean="0">
                <a:ea typeface="华文楷体" panose="02010600040101010101" pitchFamily="2" charset="-122"/>
              </a:rPr>
              <a:t>&gt;     31   </a:t>
            </a:r>
            <a:r>
              <a:rPr lang="en-US" altLang="zh-CN" sz="2000" b="1" u="sng" dirty="0" smtClean="0">
                <a:ea typeface="华文楷体" panose="02010600040101010101" pitchFamily="2" charset="-122"/>
              </a:rPr>
              <a:t>40</a:t>
            </a:r>
            <a:r>
              <a:rPr lang="en-US" altLang="zh-CN" sz="2000" b="1" dirty="0" smtClean="0">
                <a:ea typeface="华文楷体" panose="02010600040101010101" pitchFamily="2" charset="-122"/>
              </a:rPr>
              <a:t>    46   40    67   52   76  73   53  82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 smtClean="0">
                <a:ea typeface="华文楷体" panose="02010600040101010101" pitchFamily="2" charset="-122"/>
              </a:rPr>
              <a:t>  d</a:t>
            </a:r>
            <a:r>
              <a:rPr lang="en-US" altLang="zh-CN" sz="2000" b="1" baseline="-25000" dirty="0" smtClean="0">
                <a:ea typeface="华文楷体" panose="02010600040101010101" pitchFamily="2" charset="-122"/>
              </a:rPr>
              <a:t>3</a:t>
            </a:r>
            <a:r>
              <a:rPr lang="en-US" altLang="zh-CN" sz="2000" b="1" dirty="0" smtClean="0">
                <a:ea typeface="华文楷体" panose="02010600040101010101" pitchFamily="2" charset="-122"/>
              </a:rPr>
              <a:t>=1                  31   </a:t>
            </a:r>
            <a:r>
              <a:rPr lang="en-US" altLang="zh-CN" sz="2000" b="1" u="sng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40</a:t>
            </a:r>
            <a:r>
              <a:rPr lang="en-US" altLang="zh-CN" sz="2000" b="1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   40</a:t>
            </a:r>
            <a:r>
              <a:rPr lang="en-US" altLang="zh-CN" sz="2000" b="1" dirty="0" smtClean="0">
                <a:ea typeface="华文楷体" panose="02010600040101010101" pitchFamily="2" charset="-122"/>
              </a:rPr>
              <a:t>   46    52    53   67  73   76  82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000" b="1" dirty="0" smtClean="0">
              <a:ea typeface="华文楷体" panose="02010600040101010101" pitchFamily="2" charset="-122"/>
            </a:endParaRPr>
          </a:p>
        </p:txBody>
      </p:sp>
      <p:sp>
        <p:nvSpPr>
          <p:cNvPr id="18438" name="Text Box 4"/>
          <p:cNvSpPr txBox="1">
            <a:spLocks noChangeArrowheads="1"/>
          </p:cNvSpPr>
          <p:nvPr/>
        </p:nvSpPr>
        <p:spPr bwMode="auto">
          <a:xfrm>
            <a:off x="5791200" y="5486400"/>
            <a:ext cx="182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不稳定排序</a:t>
            </a:r>
          </a:p>
        </p:txBody>
      </p:sp>
      <p:sp>
        <p:nvSpPr>
          <p:cNvPr id="18439" name="Rectangle 5"/>
          <p:cNvSpPr>
            <a:spLocks noChangeArrowheads="1"/>
          </p:cNvSpPr>
          <p:nvPr/>
        </p:nvSpPr>
        <p:spPr bwMode="auto">
          <a:xfrm>
            <a:off x="838200" y="6040438"/>
            <a:ext cx="6810375" cy="6651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850900" indent="571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3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kumimoji="1" lang="zh-CN" altLang="zh-CN" sz="16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程序实现</a:t>
            </a:r>
            <a:r>
              <a:rPr kumimoji="1" lang="en-US" altLang="zh-CN" sz="16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:  </a:t>
            </a:r>
            <a:r>
              <a:rPr kumimoji="1" lang="zh-CN" altLang="zh-CN" sz="16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类似于直接插入排序的程序。</a:t>
            </a:r>
          </a:p>
          <a:p>
            <a:pPr lvl="3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kumimoji="1" lang="zh-CN" altLang="zh-CN" sz="16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     注意修改步长。</a:t>
            </a:r>
            <a:endParaRPr kumimoji="1" lang="zh-CN" altLang="en-US" sz="1600" b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14288" y="3048000"/>
            <a:ext cx="9144000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0" y="4648200"/>
            <a:ext cx="9144000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ln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altLang="zh-CN" sz="18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18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希</a:t>
            </a:r>
            <a:r>
              <a:rPr lang="zh-CN" altLang="en-US" sz="1800" dirty="0">
                <a:solidFill>
                  <a:srgbClr val="C00000"/>
                </a:solidFill>
                <a:ea typeface="华文楷体" panose="02010600040101010101" pitchFamily="2" charset="-122"/>
              </a:rPr>
              <a:t>尔</a:t>
            </a:r>
            <a:r>
              <a:rPr lang="zh-CN" altLang="en-US" sz="18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排序算法</a:t>
            </a:r>
            <a:r>
              <a:rPr lang="en-US" altLang="zh-CN" sz="18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]</a:t>
            </a:r>
          </a:p>
          <a:p>
            <a:pPr marL="0" indent="0">
              <a:buNone/>
            </a:pPr>
            <a:r>
              <a:rPr lang="en-US" altLang="zh-CN" sz="1800" dirty="0" smtClean="0">
                <a:ea typeface="华文楷体" panose="02010600040101010101" pitchFamily="2" charset="-122"/>
              </a:rPr>
              <a:t>void </a:t>
            </a:r>
            <a:r>
              <a:rPr lang="en-US" altLang="zh-CN" sz="1800" dirty="0" err="1" smtClean="0">
                <a:ea typeface="华文楷体" panose="02010600040101010101" pitchFamily="2" charset="-122"/>
              </a:rPr>
              <a:t>Shellsort</a:t>
            </a:r>
            <a:r>
              <a:rPr lang="en-US" altLang="zh-CN" sz="1800" dirty="0" smtClean="0">
                <a:ea typeface="华文楷体" panose="02010600040101010101" pitchFamily="2" charset="-122"/>
              </a:rPr>
              <a:t>(</a:t>
            </a:r>
            <a:r>
              <a:rPr lang="en-US" altLang="zh-CN" sz="1800" dirty="0" err="1" smtClean="0">
                <a:ea typeface="华文楷体" panose="02010600040101010101" pitchFamily="2" charset="-122"/>
              </a:rPr>
              <a:t>ElemtType</a:t>
            </a:r>
            <a:r>
              <a:rPr lang="en-US" altLang="zh-CN" sz="1800" dirty="0" smtClean="0">
                <a:ea typeface="华文楷体" panose="02010600040101010101" pitchFamily="2" charset="-122"/>
              </a:rPr>
              <a:t> a[], </a:t>
            </a:r>
            <a:r>
              <a:rPr lang="en-US" altLang="zh-CN" sz="1800" dirty="0" err="1" smtClean="0">
                <a:ea typeface="华文楷体" panose="02010600040101010101" pitchFamily="2" charset="-122"/>
              </a:rPr>
              <a:t>int</a:t>
            </a:r>
            <a:r>
              <a:rPr lang="en-US" altLang="zh-CN" sz="1800" dirty="0" smtClean="0">
                <a:ea typeface="华文楷体" panose="02010600040101010101" pitchFamily="2" charset="-122"/>
              </a:rPr>
              <a:t> n) //</a:t>
            </a:r>
            <a:r>
              <a:rPr lang="zh-CN" altLang="en-US" sz="1800" dirty="0" smtClean="0">
                <a:ea typeface="华文楷体" panose="02010600040101010101" pitchFamily="2" charset="-122"/>
              </a:rPr>
              <a:t>对</a:t>
            </a:r>
            <a:r>
              <a:rPr lang="en-US" altLang="zh-CN" sz="1800" dirty="0" smtClean="0">
                <a:ea typeface="华文楷体" panose="02010600040101010101" pitchFamily="2" charset="-122"/>
              </a:rPr>
              <a:t>a[1..n]</a:t>
            </a:r>
            <a:r>
              <a:rPr lang="zh-CN" altLang="en-US" sz="1800" dirty="0" smtClean="0">
                <a:ea typeface="华文楷体" panose="02010600040101010101" pitchFamily="2" charset="-122"/>
              </a:rPr>
              <a:t>排序</a:t>
            </a:r>
            <a:endParaRPr lang="en-US" altLang="zh-CN" sz="1800" dirty="0" smtClean="0"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1800" dirty="0" smtClean="0">
                <a:ea typeface="华文楷体" panose="0201060004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1800" dirty="0">
                <a:ea typeface="华文楷体" panose="02010600040101010101" pitchFamily="2" charset="-122"/>
              </a:rPr>
              <a:t> </a:t>
            </a:r>
            <a:r>
              <a:rPr lang="en-US" altLang="zh-CN" sz="1800" dirty="0" smtClean="0">
                <a:ea typeface="华文楷体" panose="02010600040101010101" pitchFamily="2" charset="-122"/>
              </a:rPr>
              <a:t>   </a:t>
            </a:r>
            <a:r>
              <a:rPr lang="en-US" altLang="zh-CN" sz="1800" dirty="0" err="1" smtClean="0">
                <a:ea typeface="华文楷体" panose="02010600040101010101" pitchFamily="2" charset="-122"/>
              </a:rPr>
              <a:t>int</a:t>
            </a:r>
            <a:r>
              <a:rPr lang="en-US" altLang="zh-CN" sz="1800" dirty="0" smtClean="0">
                <a:ea typeface="华文楷体" panose="02010600040101010101" pitchFamily="2" charset="-122"/>
              </a:rPr>
              <a:t> </a:t>
            </a:r>
            <a:r>
              <a:rPr lang="en-US" altLang="zh-CN" sz="1800" dirty="0" err="1" smtClean="0">
                <a:ea typeface="华文楷体" panose="02010600040101010101" pitchFamily="2" charset="-122"/>
              </a:rPr>
              <a:t>i,j,d</a:t>
            </a:r>
            <a:r>
              <a:rPr lang="en-US" altLang="zh-CN" sz="1800" dirty="0" smtClean="0">
                <a:ea typeface="华文楷体" panose="0201060004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1800" dirty="0" smtClean="0">
                <a:ea typeface="华文楷体" panose="02010600040101010101" pitchFamily="2" charset="-122"/>
              </a:rPr>
              <a:t>    for (d = n/2; d &gt;0; d </a:t>
            </a:r>
            <a:r>
              <a:rPr lang="en-US" altLang="zh-CN" sz="18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/=</a:t>
            </a:r>
            <a:r>
              <a:rPr lang="en-US" altLang="zh-CN" sz="1800" dirty="0" smtClean="0">
                <a:ea typeface="华文楷体" panose="02010600040101010101" pitchFamily="2" charset="-122"/>
              </a:rPr>
              <a:t>2) //</a:t>
            </a:r>
            <a:r>
              <a:rPr lang="zh-CN" altLang="en-US" sz="1800" dirty="0" smtClean="0">
                <a:ea typeface="华文楷体" panose="02010600040101010101" pitchFamily="2" charset="-122"/>
              </a:rPr>
              <a:t>一组流行但不好的增量 </a:t>
            </a:r>
            <a:r>
              <a:rPr lang="en-US" altLang="zh-CN" sz="1800" dirty="0" smtClean="0">
                <a:ea typeface="华文楷体" panose="02010600040101010101" pitchFamily="2" charset="-122"/>
              </a:rPr>
              <a:t>n/2,n/4,n/8….1</a:t>
            </a:r>
          </a:p>
          <a:p>
            <a:pPr marL="0" indent="0">
              <a:buNone/>
            </a:pPr>
            <a:r>
              <a:rPr lang="en-US" altLang="zh-CN" sz="1800" dirty="0">
                <a:ea typeface="华文楷体" panose="02010600040101010101" pitchFamily="2" charset="-122"/>
              </a:rPr>
              <a:t> </a:t>
            </a:r>
            <a:r>
              <a:rPr lang="en-US" altLang="zh-CN" sz="1800" dirty="0" smtClean="0">
                <a:ea typeface="华文楷体" panose="02010600040101010101" pitchFamily="2" charset="-122"/>
              </a:rPr>
              <a:t>       for (</a:t>
            </a:r>
            <a:r>
              <a:rPr lang="en-US" altLang="zh-CN" sz="18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1800" dirty="0" smtClean="0">
                <a:ea typeface="华文楷体" panose="02010600040101010101" pitchFamily="2" charset="-122"/>
              </a:rPr>
              <a:t>=d+1; </a:t>
            </a:r>
            <a:r>
              <a:rPr lang="en-US" altLang="zh-CN" sz="18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1800" dirty="0" smtClean="0">
                <a:ea typeface="华文楷体" panose="02010600040101010101" pitchFamily="2" charset="-122"/>
              </a:rPr>
              <a:t>&lt;=n; </a:t>
            </a:r>
            <a:r>
              <a:rPr lang="en-US" altLang="zh-CN" sz="18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1800" dirty="0" smtClean="0">
                <a:ea typeface="华文楷体" panose="02010600040101010101" pitchFamily="2" charset="-122"/>
              </a:rPr>
              <a:t>++) </a:t>
            </a:r>
          </a:p>
          <a:p>
            <a:pPr marL="0" indent="0">
              <a:buNone/>
            </a:pPr>
            <a:r>
              <a:rPr lang="en-US" altLang="zh-CN" sz="1800" dirty="0">
                <a:ea typeface="华文楷体" panose="02010600040101010101" pitchFamily="2" charset="-122"/>
              </a:rPr>
              <a:t> </a:t>
            </a:r>
            <a:r>
              <a:rPr lang="en-US" altLang="zh-CN" sz="1800" dirty="0" smtClean="0">
                <a:ea typeface="华文楷体" panose="02010600040101010101" pitchFamily="2" charset="-122"/>
              </a:rPr>
              <a:t>       {</a:t>
            </a:r>
          </a:p>
          <a:p>
            <a:pPr marL="0" indent="0">
              <a:buNone/>
            </a:pPr>
            <a:r>
              <a:rPr lang="en-US" altLang="zh-CN" sz="1800" dirty="0">
                <a:ea typeface="华文楷体" panose="02010600040101010101" pitchFamily="2" charset="-122"/>
              </a:rPr>
              <a:t> </a:t>
            </a:r>
            <a:r>
              <a:rPr lang="en-US" altLang="zh-CN" sz="1800" dirty="0" smtClean="0">
                <a:ea typeface="华文楷体" panose="02010600040101010101" pitchFamily="2" charset="-122"/>
              </a:rPr>
              <a:t>           </a:t>
            </a:r>
            <a:r>
              <a:rPr lang="en-US" altLang="zh-CN" sz="1800" dirty="0" err="1" smtClean="0">
                <a:ea typeface="华文楷体" panose="02010600040101010101" pitchFamily="2" charset="-122"/>
              </a:rPr>
              <a:t>ElemType</a:t>
            </a:r>
            <a:r>
              <a:rPr lang="en-US" altLang="zh-CN" sz="1800" dirty="0" smtClean="0">
                <a:ea typeface="华文楷体" panose="02010600040101010101" pitchFamily="2" charset="-122"/>
              </a:rPr>
              <a:t> </a:t>
            </a:r>
            <a:r>
              <a:rPr lang="en-US" altLang="zh-CN" sz="1800" dirty="0" err="1" smtClean="0">
                <a:ea typeface="华文楷体" panose="02010600040101010101" pitchFamily="2" charset="-122"/>
              </a:rPr>
              <a:t>tmp</a:t>
            </a:r>
            <a:r>
              <a:rPr lang="en-US" altLang="zh-CN" sz="1800" dirty="0" smtClean="0">
                <a:ea typeface="华文楷体" panose="02010600040101010101" pitchFamily="2" charset="-122"/>
              </a:rPr>
              <a:t> = a[</a:t>
            </a:r>
            <a:r>
              <a:rPr lang="en-US" altLang="zh-CN" sz="18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1800" dirty="0" smtClean="0">
                <a:ea typeface="华文楷体" panose="02010600040101010101" pitchFamily="2" charset="-122"/>
              </a:rPr>
              <a:t>];</a:t>
            </a:r>
          </a:p>
          <a:p>
            <a:pPr marL="0" indent="0">
              <a:buNone/>
            </a:pPr>
            <a:r>
              <a:rPr lang="en-US" altLang="zh-CN" sz="1800" dirty="0">
                <a:ea typeface="华文楷体" panose="02010600040101010101" pitchFamily="2" charset="-122"/>
              </a:rPr>
              <a:t> </a:t>
            </a:r>
            <a:r>
              <a:rPr lang="en-US" altLang="zh-CN" sz="1800" dirty="0" smtClean="0">
                <a:ea typeface="华文楷体" panose="02010600040101010101" pitchFamily="2" charset="-122"/>
              </a:rPr>
              <a:t>           for (j=</a:t>
            </a:r>
            <a:r>
              <a:rPr lang="en-US" altLang="zh-CN" sz="18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1800" dirty="0" smtClean="0">
                <a:ea typeface="华文楷体" panose="02010600040101010101" pitchFamily="2" charset="-122"/>
              </a:rPr>
              <a:t>; j&gt;=d; j </a:t>
            </a:r>
            <a:r>
              <a:rPr lang="en-US" altLang="zh-CN" sz="18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-=</a:t>
            </a:r>
            <a:r>
              <a:rPr lang="en-US" altLang="zh-CN" sz="1800" dirty="0" smtClean="0">
                <a:ea typeface="华文楷体" panose="02010600040101010101" pitchFamily="2" charset="-122"/>
              </a:rPr>
              <a:t> d)</a:t>
            </a:r>
          </a:p>
          <a:p>
            <a:pPr marL="0" indent="0">
              <a:buNone/>
            </a:pPr>
            <a:r>
              <a:rPr lang="en-US" altLang="zh-CN" sz="1800" dirty="0">
                <a:ea typeface="华文楷体" panose="02010600040101010101" pitchFamily="2" charset="-122"/>
              </a:rPr>
              <a:t> </a:t>
            </a:r>
            <a:r>
              <a:rPr lang="en-US" altLang="zh-CN" sz="1800" dirty="0" smtClean="0">
                <a:ea typeface="华文楷体" panose="02010600040101010101" pitchFamily="2" charset="-122"/>
              </a:rPr>
              <a:t>               if(</a:t>
            </a:r>
            <a:r>
              <a:rPr lang="en-US" altLang="zh-CN" sz="1800" dirty="0" err="1" smtClean="0">
                <a:ea typeface="华文楷体" panose="02010600040101010101" pitchFamily="2" charset="-122"/>
              </a:rPr>
              <a:t>tmp.key</a:t>
            </a:r>
            <a:r>
              <a:rPr lang="en-US" altLang="zh-CN" sz="1800" dirty="0" smtClean="0">
                <a:ea typeface="华文楷体" panose="02010600040101010101" pitchFamily="2" charset="-122"/>
              </a:rPr>
              <a:t> &lt; a[j-d].key)</a:t>
            </a:r>
          </a:p>
          <a:p>
            <a:pPr marL="0" indent="0">
              <a:buNone/>
            </a:pPr>
            <a:r>
              <a:rPr lang="en-US" altLang="zh-CN" sz="1800" dirty="0">
                <a:ea typeface="华文楷体" panose="02010600040101010101" pitchFamily="2" charset="-122"/>
              </a:rPr>
              <a:t> </a:t>
            </a:r>
            <a:r>
              <a:rPr lang="en-US" altLang="zh-CN" sz="1800" dirty="0" smtClean="0">
                <a:ea typeface="华文楷体" panose="02010600040101010101" pitchFamily="2" charset="-122"/>
              </a:rPr>
              <a:t>                   a[j] = a[j-d];</a:t>
            </a:r>
          </a:p>
          <a:p>
            <a:pPr marL="0" indent="0">
              <a:buNone/>
            </a:pPr>
            <a:r>
              <a:rPr lang="en-US" altLang="zh-CN" sz="1800" dirty="0">
                <a:ea typeface="华文楷体" panose="02010600040101010101" pitchFamily="2" charset="-122"/>
              </a:rPr>
              <a:t> </a:t>
            </a:r>
            <a:r>
              <a:rPr lang="en-US" altLang="zh-CN" sz="1800" dirty="0" smtClean="0">
                <a:ea typeface="华文楷体" panose="02010600040101010101" pitchFamily="2" charset="-122"/>
              </a:rPr>
              <a:t>               else</a:t>
            </a:r>
          </a:p>
          <a:p>
            <a:pPr marL="0" indent="0">
              <a:buNone/>
            </a:pPr>
            <a:r>
              <a:rPr lang="en-US" altLang="zh-CN" sz="1800" dirty="0">
                <a:ea typeface="华文楷体" panose="02010600040101010101" pitchFamily="2" charset="-122"/>
              </a:rPr>
              <a:t> </a:t>
            </a:r>
            <a:r>
              <a:rPr lang="en-US" altLang="zh-CN" sz="1800" dirty="0" smtClean="0">
                <a:ea typeface="华文楷体" panose="02010600040101010101" pitchFamily="2" charset="-122"/>
              </a:rPr>
              <a:t>                   break;</a:t>
            </a:r>
          </a:p>
          <a:p>
            <a:pPr marL="0" indent="0">
              <a:buNone/>
            </a:pPr>
            <a:r>
              <a:rPr lang="en-US" altLang="zh-CN" sz="1800" dirty="0">
                <a:ea typeface="华文楷体" panose="02010600040101010101" pitchFamily="2" charset="-122"/>
              </a:rPr>
              <a:t> </a:t>
            </a:r>
            <a:r>
              <a:rPr lang="en-US" altLang="zh-CN" sz="1800" dirty="0" smtClean="0">
                <a:ea typeface="华文楷体" panose="02010600040101010101" pitchFamily="2" charset="-122"/>
              </a:rPr>
              <a:t>               a[j] = </a:t>
            </a:r>
            <a:r>
              <a:rPr lang="en-US" altLang="zh-CN" sz="1800" dirty="0" err="1" smtClean="0">
                <a:ea typeface="华文楷体" panose="02010600040101010101" pitchFamily="2" charset="-122"/>
              </a:rPr>
              <a:t>Tmp</a:t>
            </a:r>
            <a:r>
              <a:rPr lang="en-US" altLang="zh-CN" sz="1800" dirty="0" smtClean="0">
                <a:ea typeface="华文楷体" panose="0201060004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1800" dirty="0">
                <a:ea typeface="华文楷体" panose="02010600040101010101" pitchFamily="2" charset="-122"/>
              </a:rPr>
              <a:t> </a:t>
            </a:r>
            <a:r>
              <a:rPr lang="en-US" altLang="zh-CN" sz="1800" dirty="0" smtClean="0">
                <a:ea typeface="华文楷体" panose="02010600040101010101" pitchFamily="2" charset="-122"/>
              </a:rPr>
              <a:t>       } </a:t>
            </a:r>
          </a:p>
          <a:p>
            <a:pPr marL="0" indent="0">
              <a:buNone/>
            </a:pPr>
            <a:r>
              <a:rPr lang="en-US" altLang="zh-CN" sz="1800" dirty="0">
                <a:ea typeface="华文楷体" panose="02010600040101010101" pitchFamily="2" charset="-122"/>
              </a:rPr>
              <a:t>}</a:t>
            </a:r>
            <a:endParaRPr lang="zh-CN" altLang="en-US" sz="1800" dirty="0">
              <a:ea typeface="华文楷体" panose="0201060004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 SCST</a:t>
            </a:r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3081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1946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性能分析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</a:p>
          <a:p>
            <a:pPr eaLnBrk="1" hangingPunct="1"/>
            <a:r>
              <a:rPr lang="zh-CN" altLang="en-US" sz="2400" dirty="0" smtClean="0">
                <a:ea typeface="华文楷体" panose="02010600040101010101" pitchFamily="2" charset="-122"/>
              </a:rPr>
              <a:t>时间复杂度是</a:t>
            </a:r>
            <a:r>
              <a:rPr lang="en-US" altLang="zh-CN" sz="2400" dirty="0" smtClean="0">
                <a:ea typeface="华文楷体" panose="02010600040101010101" pitchFamily="2" charset="-122"/>
              </a:rPr>
              <a:t>n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和</a:t>
            </a:r>
            <a:r>
              <a:rPr lang="en-US" altLang="zh-CN" sz="2400" dirty="0" smtClean="0">
                <a:ea typeface="华文楷体" panose="02010600040101010101" pitchFamily="2" charset="-122"/>
              </a:rPr>
              <a:t>d</a:t>
            </a:r>
            <a:r>
              <a:rPr lang="zh-CN" altLang="en-US" sz="2400" dirty="0" smtClean="0">
                <a:ea typeface="华文楷体" panose="02010600040101010101" pitchFamily="2" charset="-122"/>
              </a:rPr>
              <a:t>的函数</a:t>
            </a:r>
          </a:p>
          <a:p>
            <a:pPr eaLnBrk="1" hangingPunct="1"/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如何选择最佳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d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序列，目前尚未解决</a:t>
            </a:r>
          </a:p>
          <a:p>
            <a:pPr lvl="1" eaLnBrk="1" hangingPunct="1"/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最后一个增量值必须为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1</a:t>
            </a:r>
          </a:p>
          <a:p>
            <a:pPr lvl="1" eaLnBrk="1" hangingPunct="1"/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避免增量序列中的值（尤其是相邻的值）有</a:t>
            </a:r>
            <a:r>
              <a:rPr lang="zh-CN" altLang="en-US" sz="2400" dirty="0" smtClean="0">
                <a:solidFill>
                  <a:srgbClr val="C000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公因子</a:t>
            </a:r>
          </a:p>
          <a:p>
            <a:pPr eaLnBrk="1" hangingPunct="1"/>
            <a:endParaRPr lang="en-US" altLang="zh-CN" sz="24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/>
            <a:endParaRPr lang="en-US" altLang="zh-CN" sz="2400" dirty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/>
            <a:endParaRPr lang="en-US" altLang="zh-CN" sz="24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/>
            <a:endParaRPr lang="en-US" altLang="zh-CN" sz="2400" dirty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/>
            <a:endParaRPr lang="en-US" altLang="zh-CN" sz="24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实验结果：当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较大时，比较和移动次数约在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400" baseline="30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1.25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到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1.6n</a:t>
            </a:r>
            <a:r>
              <a:rPr lang="en-US" altLang="zh-CN" sz="2400" baseline="30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1.25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。</a:t>
            </a:r>
          </a:p>
          <a:p>
            <a:pPr eaLnBrk="1" hangingPunct="1"/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原地排序</a:t>
            </a:r>
            <a:endParaRPr lang="zh-CN" altLang="en-US" sz="24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b="1" dirty="0" smtClean="0">
              <a:solidFill>
                <a:srgbClr val="CC6600"/>
              </a:solidFill>
              <a:ea typeface="华文楷体" panose="02010600040101010101" pitchFamily="2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9550663"/>
              </p:ext>
            </p:extLst>
          </p:nvPr>
        </p:nvGraphicFramePr>
        <p:xfrm>
          <a:off x="685800" y="3429000"/>
          <a:ext cx="777240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3015">
                  <a:extLst>
                    <a:ext uri="{9D8B030D-6E8A-4147-A177-3AD203B41FA5}">
                      <a16:colId xmlns:a16="http://schemas.microsoft.com/office/drawing/2014/main" val="672048708"/>
                    </a:ext>
                  </a:extLst>
                </a:gridCol>
                <a:gridCol w="406837">
                  <a:extLst>
                    <a:ext uri="{9D8B030D-6E8A-4147-A177-3AD203B41FA5}">
                      <a16:colId xmlns:a16="http://schemas.microsoft.com/office/drawing/2014/main" val="1851126337"/>
                    </a:ext>
                  </a:extLst>
                </a:gridCol>
                <a:gridCol w="406836">
                  <a:extLst>
                    <a:ext uri="{9D8B030D-6E8A-4147-A177-3AD203B41FA5}">
                      <a16:colId xmlns:a16="http://schemas.microsoft.com/office/drawing/2014/main" val="2743357340"/>
                    </a:ext>
                  </a:extLst>
                </a:gridCol>
                <a:gridCol w="406837">
                  <a:extLst>
                    <a:ext uri="{9D8B030D-6E8A-4147-A177-3AD203B41FA5}">
                      <a16:colId xmlns:a16="http://schemas.microsoft.com/office/drawing/2014/main" val="1568331452"/>
                    </a:ext>
                  </a:extLst>
                </a:gridCol>
                <a:gridCol w="406836">
                  <a:extLst>
                    <a:ext uri="{9D8B030D-6E8A-4147-A177-3AD203B41FA5}">
                      <a16:colId xmlns:a16="http://schemas.microsoft.com/office/drawing/2014/main" val="2717091283"/>
                    </a:ext>
                  </a:extLst>
                </a:gridCol>
                <a:gridCol w="406837">
                  <a:extLst>
                    <a:ext uri="{9D8B030D-6E8A-4147-A177-3AD203B41FA5}">
                      <a16:colId xmlns:a16="http://schemas.microsoft.com/office/drawing/2014/main" val="2801214662"/>
                    </a:ext>
                  </a:extLst>
                </a:gridCol>
                <a:gridCol w="406836">
                  <a:extLst>
                    <a:ext uri="{9D8B030D-6E8A-4147-A177-3AD203B41FA5}">
                      <a16:colId xmlns:a16="http://schemas.microsoft.com/office/drawing/2014/main" val="1179700809"/>
                    </a:ext>
                  </a:extLst>
                </a:gridCol>
                <a:gridCol w="406837">
                  <a:extLst>
                    <a:ext uri="{9D8B030D-6E8A-4147-A177-3AD203B41FA5}">
                      <a16:colId xmlns:a16="http://schemas.microsoft.com/office/drawing/2014/main" val="4240332638"/>
                    </a:ext>
                  </a:extLst>
                </a:gridCol>
                <a:gridCol w="406837">
                  <a:extLst>
                    <a:ext uri="{9D8B030D-6E8A-4147-A177-3AD203B41FA5}">
                      <a16:colId xmlns:a16="http://schemas.microsoft.com/office/drawing/2014/main" val="607166788"/>
                    </a:ext>
                  </a:extLst>
                </a:gridCol>
                <a:gridCol w="406837">
                  <a:extLst>
                    <a:ext uri="{9D8B030D-6E8A-4147-A177-3AD203B41FA5}">
                      <a16:colId xmlns:a16="http://schemas.microsoft.com/office/drawing/2014/main" val="3114243754"/>
                    </a:ext>
                  </a:extLst>
                </a:gridCol>
                <a:gridCol w="406837">
                  <a:extLst>
                    <a:ext uri="{9D8B030D-6E8A-4147-A177-3AD203B41FA5}">
                      <a16:colId xmlns:a16="http://schemas.microsoft.com/office/drawing/2014/main" val="3535539423"/>
                    </a:ext>
                  </a:extLst>
                </a:gridCol>
                <a:gridCol w="406836">
                  <a:extLst>
                    <a:ext uri="{9D8B030D-6E8A-4147-A177-3AD203B41FA5}">
                      <a16:colId xmlns:a16="http://schemas.microsoft.com/office/drawing/2014/main" val="3616952967"/>
                    </a:ext>
                  </a:extLst>
                </a:gridCol>
                <a:gridCol w="406837">
                  <a:extLst>
                    <a:ext uri="{9D8B030D-6E8A-4147-A177-3AD203B41FA5}">
                      <a16:colId xmlns:a16="http://schemas.microsoft.com/office/drawing/2014/main" val="3825671210"/>
                    </a:ext>
                  </a:extLst>
                </a:gridCol>
                <a:gridCol w="406836">
                  <a:extLst>
                    <a:ext uri="{9D8B030D-6E8A-4147-A177-3AD203B41FA5}">
                      <a16:colId xmlns:a16="http://schemas.microsoft.com/office/drawing/2014/main" val="64395762"/>
                    </a:ext>
                  </a:extLst>
                </a:gridCol>
                <a:gridCol w="406837">
                  <a:extLst>
                    <a:ext uri="{9D8B030D-6E8A-4147-A177-3AD203B41FA5}">
                      <a16:colId xmlns:a16="http://schemas.microsoft.com/office/drawing/2014/main" val="1461340876"/>
                    </a:ext>
                  </a:extLst>
                </a:gridCol>
                <a:gridCol w="406836">
                  <a:extLst>
                    <a:ext uri="{9D8B030D-6E8A-4147-A177-3AD203B41FA5}">
                      <a16:colId xmlns:a16="http://schemas.microsoft.com/office/drawing/2014/main" val="3716831554"/>
                    </a:ext>
                  </a:extLst>
                </a:gridCol>
                <a:gridCol w="406837">
                  <a:extLst>
                    <a:ext uri="{9D8B030D-6E8A-4147-A177-3AD203B41FA5}">
                      <a16:colId xmlns:a16="http://schemas.microsoft.com/office/drawing/2014/main" val="29511848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baseline="0" dirty="0" smtClean="0">
                          <a:latin typeface="Times New Roman" panose="02020603050405020304" pitchFamily="18" charset="0"/>
                          <a:ea typeface="华文楷体" panose="02010600040101010101" pitchFamily="2" charset="-122"/>
                        </a:rPr>
                        <a:t>初态</a:t>
                      </a:r>
                      <a:endParaRPr lang="zh-CN" altLang="en-US" baseline="0" dirty="0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9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3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4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5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13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6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14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7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15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8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16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4659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aseline="0" dirty="0" smtClean="0">
                          <a:latin typeface="Times New Roman" panose="02020603050405020304" pitchFamily="18" charset="0"/>
                          <a:ea typeface="华文楷体" panose="02010600040101010101" pitchFamily="2" charset="-122"/>
                        </a:rPr>
                        <a:t>d=8</a:t>
                      </a:r>
                      <a:endParaRPr lang="zh-CN" altLang="en-US" baseline="0" dirty="0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9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3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4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5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13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6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14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7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15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8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16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449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aseline="0" dirty="0" smtClean="0">
                          <a:latin typeface="Times New Roman" panose="02020603050405020304" pitchFamily="18" charset="0"/>
                          <a:ea typeface="华文楷体" panose="02010600040101010101" pitchFamily="2" charset="-122"/>
                        </a:rPr>
                        <a:t>d=4</a:t>
                      </a:r>
                      <a:endParaRPr lang="zh-CN" altLang="en-US" baseline="0" dirty="0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9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3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4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5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13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6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14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7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15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8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16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4273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aseline="0" dirty="0" smtClean="0">
                          <a:latin typeface="Times New Roman" panose="02020603050405020304" pitchFamily="18" charset="0"/>
                          <a:ea typeface="华文楷体" panose="02010600040101010101" pitchFamily="2" charset="-122"/>
                        </a:rPr>
                        <a:t>d=2</a:t>
                      </a:r>
                      <a:endParaRPr lang="zh-CN" altLang="en-US" baseline="0" dirty="0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9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3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4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5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13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6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14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7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15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8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16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9400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aseline="0" dirty="0" smtClean="0">
                          <a:latin typeface="Times New Roman" panose="02020603050405020304" pitchFamily="18" charset="0"/>
                          <a:ea typeface="华文楷体" panose="02010600040101010101" pitchFamily="2" charset="-122"/>
                        </a:rPr>
                        <a:t>d=1</a:t>
                      </a:r>
                      <a:endParaRPr lang="zh-CN" altLang="en-US" baseline="0" dirty="0"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3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4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5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6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7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8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9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13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14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15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16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9862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z="2800" dirty="0" smtClean="0">
                <a:ea typeface="华文楷体" panose="02010600040101010101" pitchFamily="2" charset="-122"/>
              </a:rPr>
              <a:t>9.3 </a:t>
            </a:r>
            <a:r>
              <a:rPr lang="zh-CN" altLang="en-US" sz="2800" dirty="0" smtClean="0">
                <a:ea typeface="华文楷体" panose="02010600040101010101" pitchFamily="2" charset="-122"/>
              </a:rPr>
              <a:t>交换排序</a:t>
            </a:r>
          </a:p>
        </p:txBody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起泡排序</a:t>
            </a:r>
            <a:r>
              <a:rPr lang="en-US" altLang="zh-CN" sz="2400" b="1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(</a:t>
            </a:r>
            <a:r>
              <a:rPr lang="zh-CN" altLang="en-US" sz="2400" b="1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冒泡排序</a:t>
            </a:r>
            <a:r>
              <a:rPr lang="en-US" altLang="zh-CN" sz="2400" b="1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算法思想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将两个相邻记录的关键字进行比较，若为逆序则交换两者位置，小者往上浮，大者往下沉。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4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算法步骤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  <a:endParaRPr lang="en-US" altLang="zh-CN" sz="2400" dirty="0" smtClean="0">
              <a:solidFill>
                <a:srgbClr val="CC6600"/>
              </a:solidFill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记录</a:t>
            </a:r>
            <a:r>
              <a:rPr lang="en-US" altLang="zh-CN" sz="2400" dirty="0" smtClean="0">
                <a:ea typeface="华文楷体" panose="02010600040101010101" pitchFamily="2" charset="-122"/>
              </a:rPr>
              <a:t>1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和</a:t>
            </a:r>
            <a:r>
              <a:rPr lang="en-US" altLang="zh-CN" sz="2400" dirty="0" smtClean="0">
                <a:ea typeface="华文楷体" panose="02010600040101010101" pitchFamily="2" charset="-122"/>
              </a:rPr>
              <a:t>2</a:t>
            </a:r>
            <a:r>
              <a:rPr lang="zh-CN" altLang="en-US" sz="2400" dirty="0" smtClean="0">
                <a:ea typeface="华文楷体" panose="02010600040101010101" pitchFamily="2" charset="-122"/>
              </a:rPr>
              <a:t>、</a:t>
            </a:r>
            <a:r>
              <a:rPr lang="en-US" altLang="zh-CN" sz="2400" dirty="0" smtClean="0">
                <a:ea typeface="华文楷体" panose="02010600040101010101" pitchFamily="2" charset="-122"/>
              </a:rPr>
              <a:t>2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和</a:t>
            </a:r>
            <a:r>
              <a:rPr lang="en-US" altLang="zh-CN" sz="2400" dirty="0" smtClean="0">
                <a:ea typeface="华文楷体" panose="02010600040101010101" pitchFamily="2" charset="-122"/>
              </a:rPr>
              <a:t>3</a:t>
            </a:r>
            <a:r>
              <a:rPr lang="zh-CN" altLang="en-US" sz="2400" dirty="0" smtClean="0">
                <a:ea typeface="华文楷体" panose="02010600040101010101" pitchFamily="2" charset="-122"/>
              </a:rPr>
              <a:t>、</a:t>
            </a:r>
            <a:r>
              <a:rPr lang="en-US" altLang="zh-CN" sz="2400" dirty="0" smtClean="0">
                <a:ea typeface="华文楷体" panose="02010600040101010101" pitchFamily="2" charset="-122"/>
              </a:rPr>
              <a:t>……</a:t>
            </a:r>
            <a:r>
              <a:rPr lang="zh-CN" altLang="en-US" sz="2400" dirty="0" smtClean="0">
                <a:ea typeface="华文楷体" panose="02010600040101010101" pitchFamily="2" charset="-122"/>
              </a:rPr>
              <a:t>、</a:t>
            </a:r>
            <a:r>
              <a:rPr lang="en-US" altLang="zh-CN" sz="2400" dirty="0" smtClean="0">
                <a:ea typeface="华文楷体" panose="02010600040101010101" pitchFamily="2" charset="-122"/>
              </a:rPr>
              <a:t>(n-1)</a:t>
            </a:r>
            <a:r>
              <a:rPr lang="zh-CN" altLang="zh-CN" sz="2400" dirty="0" smtClean="0">
                <a:ea typeface="华文楷体" panose="02010600040101010101" pitchFamily="2" charset="-122"/>
              </a:rPr>
              <a:t>和</a:t>
            </a:r>
            <a:r>
              <a:rPr lang="en-US" altLang="zh-CN" sz="2400" dirty="0" smtClean="0">
                <a:ea typeface="华文楷体" panose="02010600040101010101" pitchFamily="2" charset="-122"/>
              </a:rPr>
              <a:t>n</a:t>
            </a:r>
            <a:r>
              <a:rPr lang="zh-CN" altLang="en-US" sz="2400" dirty="0" smtClean="0">
                <a:ea typeface="华文楷体" panose="02010600040101010101" pitchFamily="2" charset="-122"/>
              </a:rPr>
              <a:t>的关键字比较</a:t>
            </a:r>
            <a:r>
              <a:rPr lang="en-US" altLang="zh-CN" sz="2400" dirty="0" smtClean="0">
                <a:ea typeface="华文楷体" panose="02010600040101010101" pitchFamily="2" charset="-122"/>
              </a:rPr>
              <a:t>(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交换</a:t>
            </a:r>
            <a:r>
              <a:rPr lang="en-US" altLang="zh-CN" sz="2400" dirty="0" smtClean="0">
                <a:ea typeface="华文楷体" panose="02010600040101010101" pitchFamily="2" charset="-122"/>
              </a:rPr>
              <a:t>)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；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        记录</a:t>
            </a:r>
            <a:r>
              <a:rPr lang="en-US" altLang="zh-CN" sz="2400" dirty="0" smtClean="0">
                <a:ea typeface="华文楷体" panose="02010600040101010101" pitchFamily="2" charset="-122"/>
              </a:rPr>
              <a:t>1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和</a:t>
            </a:r>
            <a:r>
              <a:rPr lang="en-US" altLang="zh-CN" sz="2400" dirty="0" smtClean="0">
                <a:ea typeface="华文楷体" panose="02010600040101010101" pitchFamily="2" charset="-122"/>
              </a:rPr>
              <a:t>2</a:t>
            </a:r>
            <a:r>
              <a:rPr lang="zh-CN" altLang="en-US" sz="2400" dirty="0" smtClean="0">
                <a:ea typeface="华文楷体" panose="02010600040101010101" pitchFamily="2" charset="-122"/>
              </a:rPr>
              <a:t>、</a:t>
            </a:r>
            <a:r>
              <a:rPr lang="en-US" altLang="zh-CN" sz="2400" dirty="0" smtClean="0">
                <a:ea typeface="华文楷体" panose="02010600040101010101" pitchFamily="2" charset="-122"/>
              </a:rPr>
              <a:t>2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和</a:t>
            </a:r>
            <a:r>
              <a:rPr lang="en-US" altLang="zh-CN" sz="2400" dirty="0" smtClean="0">
                <a:ea typeface="华文楷体" panose="02010600040101010101" pitchFamily="2" charset="-122"/>
              </a:rPr>
              <a:t>3</a:t>
            </a:r>
            <a:r>
              <a:rPr lang="zh-CN" altLang="en-US" sz="2400" dirty="0" smtClean="0">
                <a:ea typeface="华文楷体" panose="02010600040101010101" pitchFamily="2" charset="-122"/>
              </a:rPr>
              <a:t>、</a:t>
            </a:r>
            <a:r>
              <a:rPr lang="en-US" altLang="zh-CN" sz="2400" dirty="0" smtClean="0">
                <a:ea typeface="华文楷体" panose="02010600040101010101" pitchFamily="2" charset="-122"/>
              </a:rPr>
              <a:t>……</a:t>
            </a:r>
            <a:r>
              <a:rPr lang="zh-CN" altLang="en-US" sz="2400" dirty="0" smtClean="0">
                <a:ea typeface="华文楷体" panose="02010600040101010101" pitchFamily="2" charset="-122"/>
              </a:rPr>
              <a:t>、</a:t>
            </a:r>
            <a:r>
              <a:rPr lang="en-US" altLang="zh-CN" sz="2400" dirty="0" smtClean="0">
                <a:ea typeface="华文楷体" panose="02010600040101010101" pitchFamily="2" charset="-122"/>
              </a:rPr>
              <a:t>(n-2)</a:t>
            </a:r>
            <a:r>
              <a:rPr lang="zh-CN" altLang="zh-CN" sz="2400" dirty="0" smtClean="0">
                <a:ea typeface="华文楷体" panose="02010600040101010101" pitchFamily="2" charset="-122"/>
              </a:rPr>
              <a:t>和</a:t>
            </a:r>
            <a:r>
              <a:rPr lang="en-US" altLang="zh-CN" sz="2400" dirty="0" smtClean="0">
                <a:ea typeface="华文楷体" panose="02010600040101010101" pitchFamily="2" charset="-122"/>
              </a:rPr>
              <a:t>(n-1)</a:t>
            </a:r>
            <a:r>
              <a:rPr lang="zh-CN" altLang="en-US" sz="2400" dirty="0" smtClean="0">
                <a:ea typeface="华文楷体" panose="02010600040101010101" pitchFamily="2" charset="-122"/>
              </a:rPr>
              <a:t>的关键字比较</a:t>
            </a:r>
            <a:r>
              <a:rPr lang="en-US" altLang="zh-CN" sz="2400" dirty="0" smtClean="0">
                <a:ea typeface="华文楷体" panose="02010600040101010101" pitchFamily="2" charset="-122"/>
              </a:rPr>
              <a:t>(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交换</a:t>
            </a:r>
            <a:r>
              <a:rPr lang="en-US" altLang="zh-CN" sz="2400" dirty="0" smtClean="0">
                <a:ea typeface="华文楷体" panose="02010600040101010101" pitchFamily="2" charset="-122"/>
              </a:rPr>
              <a:t>)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；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        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……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直到某一趟不出现交换操作为止。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8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215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52525"/>
            <a:ext cx="8763000" cy="524827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 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示例 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1" lang="en-US" altLang="zh-CN" sz="2800" dirty="0" smtClean="0">
                <a:ea typeface="华文楷体" panose="02010600040101010101" pitchFamily="2" charset="-122"/>
              </a:rPr>
              <a:t>&lt;</a:t>
            </a:r>
            <a:r>
              <a:rPr kumimoji="1" lang="zh-CN" altLang="en-US" sz="2800" dirty="0" smtClean="0">
                <a:ea typeface="华文楷体" panose="02010600040101010101" pitchFamily="2" charset="-122"/>
              </a:rPr>
              <a:t>初态</a:t>
            </a:r>
            <a:r>
              <a:rPr kumimoji="1" lang="en-US" altLang="zh-CN" sz="2800" dirty="0" smtClean="0">
                <a:ea typeface="华文楷体" panose="02010600040101010101" pitchFamily="2" charset="-122"/>
              </a:rPr>
              <a:t>&gt;     &lt;</a:t>
            </a:r>
            <a:r>
              <a:rPr kumimoji="1" lang="zh-CN" altLang="en-US" sz="2800" dirty="0" smtClean="0">
                <a:ea typeface="华文楷体" panose="02010600040101010101" pitchFamily="2" charset="-122"/>
              </a:rPr>
              <a:t>第一趟</a:t>
            </a:r>
            <a:r>
              <a:rPr kumimoji="1" lang="en-US" altLang="zh-CN" sz="2800" dirty="0" smtClean="0">
                <a:ea typeface="华文楷体" panose="02010600040101010101" pitchFamily="2" charset="-122"/>
              </a:rPr>
              <a:t>&gt;    &lt;</a:t>
            </a:r>
            <a:r>
              <a:rPr kumimoji="1" lang="zh-CN" altLang="en-US" sz="2800" dirty="0" smtClean="0">
                <a:ea typeface="华文楷体" panose="02010600040101010101" pitchFamily="2" charset="-122"/>
              </a:rPr>
              <a:t>第二趟</a:t>
            </a:r>
            <a:r>
              <a:rPr kumimoji="1" lang="en-US" altLang="zh-CN" sz="2800" dirty="0" smtClean="0">
                <a:ea typeface="华文楷体" panose="02010600040101010101" pitchFamily="2" charset="-122"/>
              </a:rPr>
              <a:t>&gt;   &lt;</a:t>
            </a:r>
            <a:r>
              <a:rPr kumimoji="1" lang="zh-CN" altLang="en-US" sz="2800" dirty="0" smtClean="0">
                <a:ea typeface="华文楷体" panose="02010600040101010101" pitchFamily="2" charset="-122"/>
              </a:rPr>
              <a:t>第三趟</a:t>
            </a:r>
            <a:r>
              <a:rPr kumimoji="1" lang="en-US" altLang="zh-CN" sz="2800" dirty="0" smtClean="0">
                <a:ea typeface="华文楷体" panose="02010600040101010101" pitchFamily="2" charset="-122"/>
              </a:rPr>
              <a:t>&gt;  &lt;</a:t>
            </a:r>
            <a:r>
              <a:rPr kumimoji="1" lang="zh-CN" altLang="en-US" sz="2800" dirty="0" smtClean="0">
                <a:ea typeface="华文楷体" panose="02010600040101010101" pitchFamily="2" charset="-122"/>
              </a:rPr>
              <a:t>第四趟</a:t>
            </a:r>
            <a:r>
              <a:rPr kumimoji="1" lang="en-US" altLang="zh-CN" sz="2800" dirty="0" smtClean="0">
                <a:ea typeface="华文楷体" panose="02010600040101010101" pitchFamily="2" charset="-122"/>
              </a:rPr>
              <a:t>&gt;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1" lang="en-US" altLang="zh-CN" sz="2800" dirty="0" smtClean="0">
                <a:ea typeface="华文楷体" panose="02010600040101010101" pitchFamily="2" charset="-122"/>
              </a:rPr>
              <a:t>        0              -4               -4                -6                 </a:t>
            </a:r>
            <a:r>
              <a:rPr kumimoji="1" lang="en-US" altLang="zh-CN" sz="2800" b="1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-6</a:t>
            </a:r>
            <a:endParaRPr kumimoji="1" lang="en-US" altLang="zh-CN" sz="28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1" lang="en-US" altLang="zh-CN" sz="2800" dirty="0" smtClean="0">
                <a:ea typeface="华文楷体" panose="02010600040101010101" pitchFamily="2" charset="-122"/>
              </a:rPr>
              <a:t>       </a:t>
            </a:r>
            <a:r>
              <a:rPr kumimoji="1" lang="en-US" altLang="zh-CN" sz="28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-4</a:t>
            </a:r>
            <a:r>
              <a:rPr kumimoji="1" lang="en-US" altLang="zh-CN" sz="2800" dirty="0" smtClean="0">
                <a:ea typeface="华文楷体" panose="02010600040101010101" pitchFamily="2" charset="-122"/>
              </a:rPr>
              <a:t>               0               -6                -4                 </a:t>
            </a:r>
            <a:r>
              <a:rPr kumimoji="1" lang="en-US" altLang="zh-CN" sz="28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-4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1" lang="en-US" altLang="zh-CN" sz="2800" dirty="0" smtClean="0">
                <a:ea typeface="华文楷体" panose="02010600040101010101" pitchFamily="2" charset="-122"/>
              </a:rPr>
              <a:t>        8              -6               </a:t>
            </a:r>
            <a:r>
              <a:rPr kumimoji="1" lang="en-US" altLang="zh-CN" sz="2800" u="sng" dirty="0" smtClean="0">
                <a:ea typeface="华文楷体" panose="02010600040101010101" pitchFamily="2" charset="-122"/>
              </a:rPr>
              <a:t>-4</a:t>
            </a:r>
            <a:r>
              <a:rPr kumimoji="1" lang="en-US" altLang="zh-CN" sz="2800" dirty="0" smtClean="0">
                <a:ea typeface="华文楷体" panose="02010600040101010101" pitchFamily="2" charset="-122"/>
              </a:rPr>
              <a:t>                </a:t>
            </a:r>
            <a:r>
              <a:rPr kumimoji="1" lang="en-US" altLang="zh-CN" sz="2800" u="sng" dirty="0" smtClean="0">
                <a:ea typeface="华文楷体" panose="02010600040101010101" pitchFamily="2" charset="-122"/>
              </a:rPr>
              <a:t>-4</a:t>
            </a:r>
            <a:r>
              <a:rPr kumimoji="1" lang="en-US" altLang="zh-CN" sz="2800" dirty="0" smtClean="0">
                <a:ea typeface="华文楷体" panose="02010600040101010101" pitchFamily="2" charset="-122"/>
              </a:rPr>
              <a:t>                 </a:t>
            </a:r>
            <a:r>
              <a:rPr kumimoji="1" lang="en-US" altLang="zh-CN" sz="2800" b="1" u="sng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-4</a:t>
            </a:r>
            <a:r>
              <a:rPr kumimoji="1" lang="en-US" altLang="zh-CN" sz="28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1" lang="en-US" altLang="zh-CN" sz="2800" dirty="0" smtClean="0">
                <a:ea typeface="华文楷体" panose="02010600040101010101" pitchFamily="2" charset="-122"/>
              </a:rPr>
              <a:t>       -6              </a:t>
            </a:r>
            <a:r>
              <a:rPr kumimoji="1" lang="en-US" altLang="zh-CN" sz="2800" u="sng" dirty="0" smtClean="0">
                <a:ea typeface="华文楷体" panose="02010600040101010101" pitchFamily="2" charset="-122"/>
              </a:rPr>
              <a:t>-4</a:t>
            </a:r>
            <a:r>
              <a:rPr kumimoji="1" lang="en-US" altLang="zh-CN" sz="2800" dirty="0" smtClean="0">
                <a:ea typeface="华文楷体" panose="02010600040101010101" pitchFamily="2" charset="-122"/>
              </a:rPr>
              <a:t>                0             </a:t>
            </a:r>
            <a:r>
              <a:rPr kumimoji="1" lang="en-US" altLang="zh-CN" sz="2800" b="1" dirty="0" smtClean="0">
                <a:ea typeface="华文楷体" panose="02010600040101010101" pitchFamily="2" charset="-122"/>
              </a:rPr>
              <a:t>    </a:t>
            </a:r>
            <a:r>
              <a:rPr kumimoji="1" lang="en-US" altLang="zh-CN" sz="2800" b="1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0                   0</a:t>
            </a:r>
            <a:endParaRPr kumimoji="1" lang="en-US" altLang="zh-CN" sz="28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1" lang="en-US" altLang="zh-CN" sz="2800" dirty="0" smtClean="0">
                <a:ea typeface="华文楷体" panose="02010600040101010101" pitchFamily="2" charset="-122"/>
              </a:rPr>
              <a:t>       </a:t>
            </a:r>
            <a:r>
              <a:rPr kumimoji="1" lang="en-US" altLang="zh-CN" sz="2800" u="sng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-4</a:t>
            </a:r>
            <a:r>
              <a:rPr kumimoji="1" lang="en-US" altLang="zh-CN" sz="2800" dirty="0" smtClean="0">
                <a:ea typeface="华文楷体" panose="02010600040101010101" pitchFamily="2" charset="-122"/>
              </a:rPr>
              <a:t>               1               </a:t>
            </a:r>
            <a:r>
              <a:rPr kumimoji="1" lang="en-US" altLang="zh-CN" sz="2800" b="1" dirty="0" smtClean="0">
                <a:ea typeface="华文楷体" panose="02010600040101010101" pitchFamily="2" charset="-122"/>
              </a:rPr>
              <a:t> </a:t>
            </a:r>
            <a:r>
              <a:rPr kumimoji="1" lang="en-US" altLang="zh-CN" sz="2800" b="1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1                 1                   1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1" lang="en-US" altLang="zh-CN" sz="2800" dirty="0" smtClean="0">
                <a:ea typeface="华文楷体" panose="02010600040101010101" pitchFamily="2" charset="-122"/>
              </a:rPr>
              <a:t>        1               </a:t>
            </a:r>
            <a:r>
              <a:rPr kumimoji="1" lang="en-US" altLang="zh-CN" sz="2800" b="1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8                8                 8                   8</a:t>
            </a:r>
            <a:endParaRPr kumimoji="1" lang="en-US" altLang="zh-CN" sz="2800" i="1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kumimoji="1" lang="en-US" altLang="zh-CN" sz="28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1" lang="en-US" altLang="zh-CN" sz="2800" dirty="0" smtClean="0">
                <a:ea typeface="华文楷体" panose="02010600040101010101" pitchFamily="2" charset="-122"/>
              </a:rPr>
              <a:t>  sorted             F                 </a:t>
            </a:r>
            <a:r>
              <a:rPr kumimoji="1" lang="en-US" altLang="zh-CN" sz="2800" dirty="0" err="1" smtClean="0">
                <a:ea typeface="华文楷体" panose="02010600040101010101" pitchFamily="2" charset="-122"/>
              </a:rPr>
              <a:t>F</a:t>
            </a:r>
            <a:r>
              <a:rPr kumimoji="1" lang="en-US" altLang="zh-CN" sz="2800" dirty="0" smtClean="0">
                <a:ea typeface="华文楷体" panose="02010600040101010101" pitchFamily="2" charset="-122"/>
              </a:rPr>
              <a:t>                </a:t>
            </a:r>
            <a:r>
              <a:rPr kumimoji="1" lang="en-US" altLang="zh-CN" sz="2800" dirty="0" err="1" smtClean="0">
                <a:ea typeface="华文楷体" panose="02010600040101010101" pitchFamily="2" charset="-122"/>
              </a:rPr>
              <a:t>F</a:t>
            </a:r>
            <a:r>
              <a:rPr kumimoji="1" lang="en-US" altLang="zh-CN" sz="2800" dirty="0" smtClean="0">
                <a:ea typeface="华文楷体" panose="02010600040101010101" pitchFamily="2" charset="-122"/>
              </a:rPr>
              <a:t>                   T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 b="1" dirty="0" smtClean="0">
              <a:solidFill>
                <a:srgbClr val="CC6600"/>
              </a:solidFill>
              <a:ea typeface="华文楷体" panose="02010600040101010101" pitchFamily="2" charset="-122"/>
            </a:endParaRPr>
          </a:p>
        </p:txBody>
      </p:sp>
      <p:sp>
        <p:nvSpPr>
          <p:cNvPr id="21510" name="Line 5"/>
          <p:cNvSpPr>
            <a:spLocks noChangeShapeType="1"/>
          </p:cNvSpPr>
          <p:nvPr/>
        </p:nvSpPr>
        <p:spPr bwMode="auto">
          <a:xfrm>
            <a:off x="14288" y="5410200"/>
            <a:ext cx="9129712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1512" name="Text Box 7"/>
          <p:cNvSpPr txBox="1">
            <a:spLocks noChangeArrowheads="1"/>
          </p:cNvSpPr>
          <p:nvPr/>
        </p:nvSpPr>
        <p:spPr bwMode="auto">
          <a:xfrm>
            <a:off x="8382000" y="3019425"/>
            <a:ext cx="6096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稳定排序</a:t>
            </a:r>
            <a:endParaRPr kumimoji="1" lang="zh-CN" altLang="en-US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1981200" y="1066800"/>
            <a:ext cx="0" cy="579120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810000" y="1066800"/>
            <a:ext cx="0" cy="579120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5486400" y="1066800"/>
            <a:ext cx="0" cy="579120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7239000" y="1066800"/>
            <a:ext cx="0" cy="579120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52525"/>
            <a:ext cx="8229600" cy="562927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[</a:t>
            </a:r>
            <a:r>
              <a:rPr lang="zh-CN" altLang="en-US" sz="2000" dirty="0" smtClean="0">
                <a:ea typeface="华文楷体" panose="02010600040101010101" pitchFamily="2" charset="-122"/>
              </a:rPr>
              <a:t>冒泡排序算法</a:t>
            </a:r>
            <a:r>
              <a:rPr lang="en-US" altLang="zh-CN" sz="2000" dirty="0" smtClean="0">
                <a:ea typeface="华文楷体" panose="02010600040101010101" pitchFamily="2" charset="-122"/>
              </a:rPr>
              <a:t>]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void 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BubbleSort</a:t>
            </a:r>
            <a:r>
              <a:rPr lang="en-US" altLang="zh-CN" sz="2000" dirty="0" smtClean="0">
                <a:ea typeface="华文楷体" panose="02010600040101010101" pitchFamily="2" charset="-122"/>
              </a:rPr>
              <a:t>(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ElemType</a:t>
            </a:r>
            <a:r>
              <a:rPr lang="en-US" altLang="zh-CN" sz="2000" dirty="0" smtClean="0">
                <a:ea typeface="华文楷体" panose="02010600040101010101" pitchFamily="2" charset="-122"/>
              </a:rPr>
              <a:t> </a:t>
            </a:r>
            <a:r>
              <a:rPr lang="en-US" altLang="zh-CN" sz="2000" dirty="0">
                <a:ea typeface="华文楷体" panose="02010600040101010101" pitchFamily="2" charset="-122"/>
              </a:rPr>
              <a:t>a</a:t>
            </a:r>
            <a:r>
              <a:rPr lang="en-US" altLang="zh-CN" sz="2000" dirty="0" smtClean="0">
                <a:ea typeface="华文楷体" panose="02010600040101010101" pitchFamily="2" charset="-122"/>
              </a:rPr>
              <a:t>[], 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int</a:t>
            </a:r>
            <a:r>
              <a:rPr lang="en-US" altLang="zh-CN" sz="2000" dirty="0" smtClean="0">
                <a:ea typeface="华文楷体" panose="02010600040101010101" pitchFamily="2" charset="-122"/>
              </a:rPr>
              <a:t> </a:t>
            </a:r>
            <a:r>
              <a:rPr lang="en-US" altLang="zh-CN" sz="2000" dirty="0">
                <a:ea typeface="华文楷体" panose="02010600040101010101" pitchFamily="2" charset="-122"/>
              </a:rPr>
              <a:t>n) </a:t>
            </a:r>
            <a:r>
              <a:rPr lang="en-US" altLang="zh-CN" sz="2000" dirty="0" smtClean="0">
                <a:ea typeface="华文楷体" panose="02010600040101010101" pitchFamily="2" charset="-122"/>
              </a:rPr>
              <a:t>//</a:t>
            </a:r>
            <a:r>
              <a:rPr lang="zh-CN" altLang="en-US" sz="2000" dirty="0" smtClean="0">
                <a:ea typeface="华文楷体" panose="02010600040101010101" pitchFamily="2" charset="-122"/>
              </a:rPr>
              <a:t> 自上而下冒泡</a:t>
            </a:r>
            <a:endParaRPr lang="en-US" altLang="zh-CN" sz="20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{ </a:t>
            </a:r>
            <a:endParaRPr lang="en-US" altLang="zh-CN" sz="2000" dirty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dirty="0">
                <a:ea typeface="华文楷体" panose="02010600040101010101" pitchFamily="2" charset="-122"/>
              </a:rPr>
              <a:t>    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int</a:t>
            </a:r>
            <a:r>
              <a:rPr lang="en-US" altLang="zh-CN" sz="2000" dirty="0" smtClean="0">
                <a:ea typeface="华文楷体" panose="02010600040101010101" pitchFamily="2" charset="-122"/>
              </a:rPr>
              <a:t> change = 1; 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dirty="0">
                <a:ea typeface="华文楷体" panose="02010600040101010101" pitchFamily="2" charset="-122"/>
              </a:rPr>
              <a:t> </a:t>
            </a:r>
            <a:r>
              <a:rPr lang="en-US" altLang="zh-CN" sz="2000" dirty="0" smtClean="0">
                <a:ea typeface="华文楷体" panose="02010600040101010101" pitchFamily="2" charset="-122"/>
              </a:rPr>
              <a:t>   low=1</a:t>
            </a:r>
            <a:r>
              <a:rPr lang="en-US" altLang="zh-CN" sz="2000" dirty="0">
                <a:ea typeface="华文楷体" panose="02010600040101010101" pitchFamily="2" charset="-122"/>
              </a:rPr>
              <a:t>; </a:t>
            </a:r>
            <a:endParaRPr lang="en-US" altLang="zh-CN" sz="20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dirty="0">
                <a:ea typeface="华文楷体" panose="02010600040101010101" pitchFamily="2" charset="-122"/>
              </a:rPr>
              <a:t> </a:t>
            </a:r>
            <a:r>
              <a:rPr lang="en-US" altLang="zh-CN" sz="2000" dirty="0" smtClean="0">
                <a:ea typeface="华文楷体" panose="02010600040101010101" pitchFamily="2" charset="-122"/>
              </a:rPr>
              <a:t>   high=n</a:t>
            </a:r>
            <a:r>
              <a:rPr lang="en-US" altLang="zh-CN" sz="2000" dirty="0">
                <a:ea typeface="华文楷体" panose="02010600040101010101" pitchFamily="2" charset="-122"/>
              </a:rPr>
              <a:t>; //</a:t>
            </a:r>
            <a:r>
              <a:rPr lang="zh-CN" altLang="en-US" sz="2000" dirty="0">
                <a:ea typeface="华文楷体" panose="02010600040101010101" pitchFamily="2" charset="-122"/>
              </a:rPr>
              <a:t>冒泡的上下界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000" dirty="0">
                <a:ea typeface="华文楷体" panose="02010600040101010101" pitchFamily="2" charset="-122"/>
              </a:rPr>
              <a:t>    </a:t>
            </a:r>
            <a:r>
              <a:rPr lang="en-US" altLang="zh-CN" sz="2000" dirty="0" smtClean="0">
                <a:ea typeface="华文楷体" panose="02010600040101010101" pitchFamily="2" charset="-122"/>
              </a:rPr>
              <a:t>while(low &lt; high &amp;&amp; </a:t>
            </a:r>
            <a:r>
              <a:rPr lang="en-US" altLang="zh-CN" sz="2000" dirty="0">
                <a:ea typeface="华文楷体" panose="02010600040101010101" pitchFamily="2" charset="-122"/>
              </a:rPr>
              <a:t>change)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dirty="0">
                <a:ea typeface="华文楷体" panose="02010600040101010101" pitchFamily="2" charset="-122"/>
              </a:rPr>
              <a:t>    { 	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dirty="0">
                <a:ea typeface="华文楷体" panose="02010600040101010101" pitchFamily="2" charset="-122"/>
              </a:rPr>
              <a:t>        change=0;              //</a:t>
            </a:r>
            <a:r>
              <a:rPr lang="zh-CN" altLang="en-US" sz="2000" dirty="0">
                <a:ea typeface="华文楷体" panose="02010600040101010101" pitchFamily="2" charset="-122"/>
              </a:rPr>
              <a:t>设不发生交换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000" dirty="0">
                <a:ea typeface="华文楷体" panose="02010600040101010101" pitchFamily="2" charset="-122"/>
              </a:rPr>
              <a:t>        </a:t>
            </a:r>
            <a:r>
              <a:rPr lang="en-US" altLang="zh-CN" sz="2000" dirty="0">
                <a:ea typeface="华文楷体" panose="02010600040101010101" pitchFamily="2" charset="-122"/>
              </a:rPr>
              <a:t>for(</a:t>
            </a:r>
            <a:r>
              <a:rPr lang="en-US" altLang="zh-CN" sz="2000" dirty="0" err="1">
                <a:ea typeface="华文楷体" panose="02010600040101010101" pitchFamily="2" charset="-122"/>
              </a:rPr>
              <a:t>i</a:t>
            </a:r>
            <a:r>
              <a:rPr lang="en-US" altLang="zh-CN" sz="2000" dirty="0">
                <a:ea typeface="华文楷体" panose="02010600040101010101" pitchFamily="2" charset="-122"/>
              </a:rPr>
              <a:t>=low; </a:t>
            </a:r>
            <a:r>
              <a:rPr lang="en-US" altLang="zh-CN" sz="2000" dirty="0" err="1">
                <a:ea typeface="华文楷体" panose="02010600040101010101" pitchFamily="2" charset="-122"/>
              </a:rPr>
              <a:t>i</a:t>
            </a:r>
            <a:r>
              <a:rPr lang="en-US" altLang="zh-CN" sz="2000" dirty="0">
                <a:ea typeface="华文楷体" panose="02010600040101010101" pitchFamily="2" charset="-122"/>
              </a:rPr>
              <a:t>&lt;high; </a:t>
            </a:r>
            <a:r>
              <a:rPr lang="en-US" altLang="zh-CN" sz="2000" dirty="0" err="1">
                <a:ea typeface="华文楷体" panose="02010600040101010101" pitchFamily="2" charset="-122"/>
              </a:rPr>
              <a:t>i</a:t>
            </a:r>
            <a:r>
              <a:rPr lang="en-US" altLang="zh-CN" sz="2000" dirty="0">
                <a:ea typeface="华文楷体" panose="02010600040101010101" pitchFamily="2" charset="-122"/>
              </a:rPr>
              <a:t>++)  //</a:t>
            </a:r>
            <a:r>
              <a:rPr lang="zh-CN" altLang="en-US" sz="2000" dirty="0">
                <a:ea typeface="华文楷体" panose="02010600040101010101" pitchFamily="2" charset="-122"/>
              </a:rPr>
              <a:t>从上向下起泡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000" dirty="0">
                <a:ea typeface="华文楷体" panose="02010600040101010101" pitchFamily="2" charset="-122"/>
              </a:rPr>
              <a:t>            </a:t>
            </a:r>
            <a:r>
              <a:rPr lang="en-US" altLang="zh-CN" sz="2000" dirty="0">
                <a:ea typeface="华文楷体" panose="02010600040101010101" pitchFamily="2" charset="-122"/>
              </a:rPr>
              <a:t>if(a[</a:t>
            </a:r>
            <a:r>
              <a:rPr lang="en-US" altLang="zh-CN" sz="2000" dirty="0" err="1">
                <a:ea typeface="华文楷体" panose="02010600040101010101" pitchFamily="2" charset="-122"/>
              </a:rPr>
              <a:t>i</a:t>
            </a:r>
            <a:r>
              <a:rPr lang="en-US" altLang="zh-CN" sz="2000" dirty="0">
                <a:ea typeface="华文楷体" panose="02010600040101010101" pitchFamily="2" charset="-122"/>
              </a:rPr>
              <a:t>].</a:t>
            </a:r>
            <a:r>
              <a:rPr lang="en-US" altLang="zh-CN" sz="2000" dirty="0" smtClean="0">
                <a:ea typeface="华文楷体" panose="02010600040101010101" pitchFamily="2" charset="-122"/>
              </a:rPr>
              <a:t>key &gt; a[i+1</a:t>
            </a:r>
            <a:r>
              <a:rPr lang="en-US" altLang="zh-CN" sz="2000" dirty="0">
                <a:ea typeface="华文楷体" panose="02010600040101010101" pitchFamily="2" charset="-122"/>
              </a:rPr>
              <a:t>].key</a:t>
            </a:r>
            <a:r>
              <a:rPr lang="en-US" altLang="zh-CN" sz="2000" dirty="0" smtClean="0">
                <a:ea typeface="华文楷体" panose="02010600040101010101" pitchFamily="2" charset="-122"/>
              </a:rPr>
              <a:t>)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dirty="0">
                <a:ea typeface="华文楷体" panose="02010600040101010101" pitchFamily="2" charset="-122"/>
              </a:rPr>
              <a:t> </a:t>
            </a:r>
            <a:r>
              <a:rPr lang="en-US" altLang="zh-CN" sz="2000" dirty="0" smtClean="0">
                <a:ea typeface="华文楷体" panose="02010600040101010101" pitchFamily="2" charset="-122"/>
              </a:rPr>
              <a:t>          {</a:t>
            </a:r>
            <a:endParaRPr lang="en-US" altLang="zh-CN" sz="2000" dirty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	</a:t>
            </a:r>
            <a:r>
              <a:rPr lang="en-US" altLang="zh-CN" sz="2000" dirty="0">
                <a:ea typeface="华文楷体" panose="02010600040101010101" pitchFamily="2" charset="-122"/>
              </a:rPr>
              <a:t> </a:t>
            </a:r>
            <a:r>
              <a:rPr lang="en-US" altLang="zh-CN" sz="2000" dirty="0" smtClean="0">
                <a:ea typeface="华文楷体" panose="02010600040101010101" pitchFamily="2" charset="-122"/>
              </a:rPr>
              <a:t>          swap</a:t>
            </a:r>
            <a:r>
              <a:rPr lang="en-US" altLang="zh-CN" sz="2000" dirty="0">
                <a:ea typeface="华文楷体" panose="02010600040101010101" pitchFamily="2" charset="-122"/>
              </a:rPr>
              <a:t>(&amp;a[</a:t>
            </a:r>
            <a:r>
              <a:rPr lang="en-US" altLang="zh-CN" sz="2000" dirty="0" err="1">
                <a:ea typeface="华文楷体" panose="02010600040101010101" pitchFamily="2" charset="-122"/>
              </a:rPr>
              <a:t>i</a:t>
            </a:r>
            <a:r>
              <a:rPr lang="en-US" altLang="zh-CN" sz="2000" dirty="0">
                <a:ea typeface="华文楷体" panose="02010600040101010101" pitchFamily="2" charset="-122"/>
              </a:rPr>
              <a:t>],&amp;a[i+1]); </a:t>
            </a:r>
            <a:endParaRPr lang="en-US" altLang="zh-CN" sz="20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             </a:t>
            </a:r>
            <a:r>
              <a:rPr lang="en-US" altLang="zh-CN" sz="2000" dirty="0">
                <a:ea typeface="华文楷体" panose="02010600040101010101" pitchFamily="2" charset="-122"/>
              </a:rPr>
              <a:t>change=1;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dirty="0">
                <a:ea typeface="华文楷体" panose="02010600040101010101" pitchFamily="2" charset="-122"/>
              </a:rPr>
              <a:t>	      } 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dirty="0">
                <a:ea typeface="华文楷体" panose="02010600040101010101" pitchFamily="2" charset="-122"/>
              </a:rPr>
              <a:t>	  //</a:t>
            </a:r>
            <a:r>
              <a:rPr lang="zh-CN" altLang="en-US" sz="2000" dirty="0">
                <a:ea typeface="华文楷体" panose="02010600040101010101" pitchFamily="2" charset="-122"/>
              </a:rPr>
              <a:t>有交换，修改标志</a:t>
            </a:r>
            <a:r>
              <a:rPr lang="en-US" altLang="zh-CN" sz="2000" dirty="0">
                <a:ea typeface="华文楷体" panose="02010600040101010101" pitchFamily="2" charset="-122"/>
              </a:rPr>
              <a:t>change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dirty="0">
                <a:ea typeface="华文楷体" panose="02010600040101010101" pitchFamily="2" charset="-122"/>
              </a:rPr>
              <a:t>        high--; //</a:t>
            </a:r>
            <a:r>
              <a:rPr lang="zh-CN" altLang="en-US" sz="2000" dirty="0">
                <a:ea typeface="华文楷体" panose="02010600040101010101" pitchFamily="2" charset="-122"/>
              </a:rPr>
              <a:t>修改上界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}</a:t>
            </a:r>
            <a:endParaRPr lang="en-US" altLang="zh-CN" sz="2000" dirty="0"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zh-CN" altLang="en-US" sz="200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 SCST</a:t>
            </a:r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88049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2253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性能分析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</a:p>
          <a:p>
            <a:pPr eaLnBrk="1" hangingPunct="1"/>
            <a:r>
              <a:rPr lang="zh-CN" altLang="en-US" sz="2400" dirty="0" smtClean="0">
                <a:ea typeface="华文楷体" panose="02010600040101010101" pitchFamily="2" charset="-122"/>
              </a:rPr>
              <a:t>最好情况</a:t>
            </a:r>
            <a:r>
              <a:rPr lang="en-US" altLang="zh-CN" sz="2400" dirty="0" smtClean="0">
                <a:ea typeface="华文楷体" panose="02010600040101010101" pitchFamily="2" charset="-122"/>
              </a:rPr>
              <a:t>(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原始数据按正序即非递减序排列</a:t>
            </a:r>
            <a:r>
              <a:rPr lang="en-US" altLang="zh-CN" sz="2400" dirty="0" smtClean="0">
                <a:ea typeface="华文楷体" panose="02010600040101010101" pitchFamily="2" charset="-122"/>
              </a:rPr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C</a:t>
            </a:r>
            <a:r>
              <a:rPr lang="en-US" altLang="zh-CN" sz="2400" baseline="-25000" dirty="0" err="1" smtClean="0">
                <a:ea typeface="华文楷体" panose="02010600040101010101" pitchFamily="2" charset="-122"/>
              </a:rPr>
              <a:t>min</a:t>
            </a:r>
            <a:r>
              <a:rPr lang="en-US" altLang="zh-CN" sz="2400" dirty="0" smtClean="0">
                <a:ea typeface="华文楷体" panose="02010600040101010101" pitchFamily="2" charset="-122"/>
              </a:rPr>
              <a:t>=n-1    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M</a:t>
            </a:r>
            <a:r>
              <a:rPr lang="en-US" altLang="zh-CN" sz="2400" baseline="-25000" dirty="0" err="1" smtClean="0">
                <a:ea typeface="华文楷体" panose="02010600040101010101" pitchFamily="2" charset="-122"/>
              </a:rPr>
              <a:t>min</a:t>
            </a:r>
            <a:r>
              <a:rPr lang="en-US" altLang="zh-CN" sz="2400" dirty="0" smtClean="0">
                <a:ea typeface="华文楷体" panose="02010600040101010101" pitchFamily="2" charset="-122"/>
              </a:rPr>
              <a:t>=0</a:t>
            </a:r>
          </a:p>
          <a:p>
            <a:pPr eaLnBrk="1" hangingPunct="1"/>
            <a:r>
              <a:rPr lang="zh-CN" altLang="en-US" sz="2400" dirty="0" smtClean="0">
                <a:ea typeface="华文楷体" panose="02010600040101010101" pitchFamily="2" charset="-122"/>
              </a:rPr>
              <a:t>最坏情况</a:t>
            </a:r>
            <a:r>
              <a:rPr lang="en-US" altLang="zh-CN" sz="2400" dirty="0" smtClean="0">
                <a:ea typeface="华文楷体" panose="02010600040101010101" pitchFamily="2" charset="-122"/>
              </a:rPr>
              <a:t>(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原始数据按逆序即非递增序排列</a:t>
            </a:r>
            <a:r>
              <a:rPr lang="en-US" altLang="zh-CN" sz="2400" dirty="0" smtClean="0">
                <a:ea typeface="华文楷体" panose="02010600040101010101" pitchFamily="2" charset="-122"/>
              </a:rPr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C</a:t>
            </a:r>
            <a:r>
              <a:rPr lang="en-US" altLang="zh-CN" sz="2400" baseline="-25000" dirty="0" err="1" smtClean="0">
                <a:ea typeface="华文楷体" panose="02010600040101010101" pitchFamily="2" charset="-122"/>
              </a:rPr>
              <a:t>max</a:t>
            </a:r>
            <a:r>
              <a:rPr lang="en-US" altLang="zh-CN" sz="2400" dirty="0" smtClean="0">
                <a:ea typeface="华文楷体" panose="02010600040101010101" pitchFamily="2" charset="-122"/>
              </a:rPr>
              <a:t>=n(n-1)/2       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M</a:t>
            </a:r>
            <a:r>
              <a:rPr lang="en-US" altLang="zh-CN" sz="2400" baseline="-25000" dirty="0" err="1" smtClean="0">
                <a:ea typeface="华文楷体" panose="02010600040101010101" pitchFamily="2" charset="-122"/>
              </a:rPr>
              <a:t>max</a:t>
            </a:r>
            <a:r>
              <a:rPr lang="en-US" altLang="zh-CN" sz="2400" dirty="0" smtClean="0">
                <a:ea typeface="华文楷体" panose="02010600040101010101" pitchFamily="2" charset="-122"/>
              </a:rPr>
              <a:t>=3n(n-1)/2</a:t>
            </a:r>
          </a:p>
          <a:p>
            <a:pPr eaLnBrk="1" hangingPunct="1"/>
            <a:r>
              <a:rPr lang="zh-CN" altLang="en-US" sz="2400" dirty="0" smtClean="0">
                <a:ea typeface="华文楷体" panose="02010600040101010101" pitchFamily="2" charset="-122"/>
              </a:rPr>
              <a:t>时间复杂度</a:t>
            </a:r>
            <a:r>
              <a:rPr lang="en-US" altLang="zh-CN" sz="2400" dirty="0" smtClean="0">
                <a:ea typeface="华文楷体" panose="02010600040101010101" pitchFamily="2" charset="-122"/>
              </a:rPr>
              <a:t>O(n</a:t>
            </a:r>
            <a:r>
              <a:rPr lang="en-US" altLang="zh-CN" sz="2400" baseline="30000" dirty="0" smtClean="0">
                <a:ea typeface="华文楷体" panose="02010600040101010101" pitchFamily="2" charset="-122"/>
              </a:rPr>
              <a:t>2</a:t>
            </a:r>
            <a:r>
              <a:rPr lang="en-US" altLang="zh-CN" sz="2400" dirty="0" smtClean="0">
                <a:ea typeface="华文楷体" panose="02010600040101010101" pitchFamily="2" charset="-122"/>
              </a:rPr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辅助空间复杂度</a:t>
            </a:r>
            <a:r>
              <a:rPr lang="en-US" altLang="zh-CN" sz="2400" dirty="0" smtClean="0">
                <a:ea typeface="华文楷体" panose="02010600040101010101" pitchFamily="2" charset="-122"/>
              </a:rPr>
              <a:t>O(1)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算法的改进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</a:p>
          <a:p>
            <a:pPr eaLnBrk="1" hangingPunct="1"/>
            <a:r>
              <a:rPr lang="zh-CN" altLang="en-US" sz="2400" dirty="0" smtClean="0">
                <a:ea typeface="华文楷体" panose="02010600040101010101" pitchFamily="2" charset="-122"/>
              </a:rPr>
              <a:t>每趟排序中，记录最后一次发生交换的位置</a:t>
            </a:r>
          </a:p>
          <a:p>
            <a:pPr eaLnBrk="1" hangingPunct="1"/>
            <a:r>
              <a:rPr lang="zh-CN" altLang="en-US" sz="2400" dirty="0" smtClean="0">
                <a:ea typeface="华文楷体" panose="02010600040101010101" pitchFamily="2" charset="-122"/>
              </a:rPr>
              <a:t>双向交替起泡，下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上，最轻升顶；上下，最重沉底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b="1" dirty="0" smtClean="0">
              <a:solidFill>
                <a:srgbClr val="CC6600"/>
              </a:solidFill>
              <a:ea typeface="华文楷体" panose="02010600040101010101" pitchFamily="2" charset="-122"/>
            </a:endParaRPr>
          </a:p>
        </p:txBody>
      </p:sp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1279525" y="6040438"/>
            <a:ext cx="4473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思考：双向起泡算法如何实现？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52525"/>
            <a:ext cx="8229600" cy="5629275"/>
          </a:xfrm>
          <a:ln>
            <a:solidFill>
              <a:schemeClr val="accent1"/>
            </a:solidFill>
          </a:ln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700" dirty="0" smtClean="0">
                <a:ea typeface="华文楷体" panose="02010600040101010101" pitchFamily="2" charset="-122"/>
              </a:rPr>
              <a:t>void BubbleSort2(</a:t>
            </a:r>
            <a:r>
              <a:rPr lang="en-US" altLang="zh-CN" sz="1700" dirty="0" err="1" smtClean="0">
                <a:ea typeface="华文楷体" panose="02010600040101010101" pitchFamily="2" charset="-122"/>
              </a:rPr>
              <a:t>ElemType</a:t>
            </a:r>
            <a:r>
              <a:rPr lang="en-US" altLang="zh-CN" sz="1700" dirty="0" smtClean="0">
                <a:ea typeface="华文楷体" panose="02010600040101010101" pitchFamily="2" charset="-122"/>
              </a:rPr>
              <a:t> a[],</a:t>
            </a:r>
            <a:r>
              <a:rPr lang="en-US" altLang="zh-CN" sz="1700" dirty="0" err="1" smtClean="0">
                <a:ea typeface="华文楷体" panose="02010600040101010101" pitchFamily="2" charset="-122"/>
              </a:rPr>
              <a:t>int</a:t>
            </a:r>
            <a:r>
              <a:rPr lang="en-US" altLang="zh-CN" sz="1700" dirty="0" smtClean="0">
                <a:ea typeface="华文楷体" panose="02010600040101010101" pitchFamily="2" charset="-122"/>
              </a:rPr>
              <a:t> n) //</a:t>
            </a:r>
            <a:r>
              <a:rPr lang="zh-CN" altLang="en-US" sz="1700" dirty="0" smtClean="0">
                <a:ea typeface="华文楷体" panose="02010600040101010101" pitchFamily="2" charset="-122"/>
              </a:rPr>
              <a:t>相邻两趟向相反方向起泡的冒泡排序算法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700" dirty="0" smtClean="0">
                <a:ea typeface="华文楷体" panose="02010600040101010101" pitchFamily="2" charset="-122"/>
              </a:rPr>
              <a:t>{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700" dirty="0">
                <a:ea typeface="华文楷体" panose="02010600040101010101" pitchFamily="2" charset="-122"/>
              </a:rPr>
              <a:t> </a:t>
            </a:r>
            <a:r>
              <a:rPr lang="en-US" altLang="zh-CN" sz="1700" dirty="0" smtClean="0">
                <a:ea typeface="华文楷体" panose="02010600040101010101" pitchFamily="2" charset="-122"/>
              </a:rPr>
              <a:t>   change=1; low=1; high=n; //</a:t>
            </a:r>
            <a:r>
              <a:rPr lang="zh-CN" altLang="en-US" sz="1700" dirty="0" smtClean="0">
                <a:ea typeface="华文楷体" panose="02010600040101010101" pitchFamily="2" charset="-122"/>
              </a:rPr>
              <a:t>冒泡的上下界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700" dirty="0" smtClean="0">
                <a:ea typeface="华文楷体" panose="02010600040101010101" pitchFamily="2" charset="-122"/>
              </a:rPr>
              <a:t>    </a:t>
            </a:r>
            <a:r>
              <a:rPr lang="en-US" altLang="zh-CN" sz="1700" dirty="0" smtClean="0">
                <a:ea typeface="华文楷体" panose="02010600040101010101" pitchFamily="2" charset="-122"/>
              </a:rPr>
              <a:t>while(low &lt; high &amp;&amp; change)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700" dirty="0" smtClean="0">
                <a:ea typeface="华文楷体" panose="02010600040101010101" pitchFamily="2" charset="-122"/>
              </a:rPr>
              <a:t>    { 	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700" dirty="0">
                <a:ea typeface="华文楷体" panose="02010600040101010101" pitchFamily="2" charset="-122"/>
              </a:rPr>
              <a:t> </a:t>
            </a:r>
            <a:r>
              <a:rPr lang="en-US" altLang="zh-CN" sz="1700" dirty="0" smtClean="0">
                <a:ea typeface="华文楷体" panose="02010600040101010101" pitchFamily="2" charset="-122"/>
              </a:rPr>
              <a:t>       change=0;              //</a:t>
            </a:r>
            <a:r>
              <a:rPr lang="zh-CN" altLang="en-US" sz="1700" dirty="0" smtClean="0">
                <a:ea typeface="华文楷体" panose="02010600040101010101" pitchFamily="2" charset="-122"/>
              </a:rPr>
              <a:t>设不发生交换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700" dirty="0" smtClean="0">
                <a:ea typeface="华文楷体" panose="02010600040101010101" pitchFamily="2" charset="-122"/>
              </a:rPr>
              <a:t>        </a:t>
            </a:r>
            <a:r>
              <a:rPr lang="en-US" altLang="zh-CN" sz="1700" dirty="0" smtClean="0">
                <a:ea typeface="华文楷体" panose="02010600040101010101" pitchFamily="2" charset="-122"/>
              </a:rPr>
              <a:t>for(</a:t>
            </a:r>
            <a:r>
              <a:rPr lang="en-US" altLang="zh-CN" sz="17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1700" dirty="0" smtClean="0">
                <a:ea typeface="华文楷体" panose="02010600040101010101" pitchFamily="2" charset="-122"/>
              </a:rPr>
              <a:t>=low; </a:t>
            </a:r>
            <a:r>
              <a:rPr lang="en-US" altLang="zh-CN" sz="17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1700" dirty="0" smtClean="0">
                <a:ea typeface="华文楷体" panose="02010600040101010101" pitchFamily="2" charset="-122"/>
              </a:rPr>
              <a:t>&lt;high; </a:t>
            </a:r>
            <a:r>
              <a:rPr lang="en-US" altLang="zh-CN" sz="17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1700" dirty="0" smtClean="0">
                <a:ea typeface="华文楷体" panose="02010600040101010101" pitchFamily="2" charset="-122"/>
              </a:rPr>
              <a:t>++)  //</a:t>
            </a:r>
            <a:r>
              <a:rPr lang="zh-CN" altLang="en-US" sz="1700" dirty="0" smtClean="0">
                <a:ea typeface="华文楷体" panose="02010600040101010101" pitchFamily="2" charset="-122"/>
              </a:rPr>
              <a:t>从上向下起泡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700" dirty="0" smtClean="0">
                <a:ea typeface="华文楷体" panose="02010600040101010101" pitchFamily="2" charset="-122"/>
              </a:rPr>
              <a:t>            </a:t>
            </a:r>
            <a:r>
              <a:rPr lang="en-US" altLang="zh-CN" sz="1700" dirty="0" smtClean="0">
                <a:ea typeface="华文楷体" panose="02010600040101010101" pitchFamily="2" charset="-122"/>
              </a:rPr>
              <a:t>if(a[</a:t>
            </a:r>
            <a:r>
              <a:rPr lang="en-US" altLang="zh-CN" sz="17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1700" dirty="0" smtClean="0">
                <a:ea typeface="华文楷体" panose="02010600040101010101" pitchFamily="2" charset="-122"/>
              </a:rPr>
              <a:t>].key&gt;a[i+1].key){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700" dirty="0" smtClean="0">
                <a:ea typeface="华文楷体" panose="02010600040101010101" pitchFamily="2" charset="-122"/>
              </a:rPr>
              <a:t>	</a:t>
            </a:r>
            <a:r>
              <a:rPr lang="en-US" altLang="zh-CN" sz="1700" dirty="0">
                <a:ea typeface="华文楷体" panose="02010600040101010101" pitchFamily="2" charset="-122"/>
              </a:rPr>
              <a:t> </a:t>
            </a:r>
            <a:r>
              <a:rPr lang="en-US" altLang="zh-CN" sz="1700" dirty="0" smtClean="0">
                <a:ea typeface="华文楷体" panose="02010600040101010101" pitchFamily="2" charset="-122"/>
              </a:rPr>
              <a:t>         swap(&amp;a[</a:t>
            </a:r>
            <a:r>
              <a:rPr lang="en-US" altLang="zh-CN" sz="17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1700" dirty="0" smtClean="0">
                <a:ea typeface="华文楷体" panose="02010600040101010101" pitchFamily="2" charset="-122"/>
              </a:rPr>
              <a:t>],&amp;a[i+1]);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700" dirty="0">
                <a:ea typeface="华文楷体" panose="02010600040101010101" pitchFamily="2" charset="-122"/>
              </a:rPr>
              <a:t> </a:t>
            </a:r>
            <a:r>
              <a:rPr lang="en-US" altLang="zh-CN" sz="1700" dirty="0" smtClean="0">
                <a:ea typeface="华文楷体" panose="02010600040101010101" pitchFamily="2" charset="-122"/>
              </a:rPr>
              <a:t>               change=1;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700" dirty="0" smtClean="0">
                <a:ea typeface="华文楷体" panose="02010600040101010101" pitchFamily="2" charset="-122"/>
              </a:rPr>
              <a:t>	</a:t>
            </a:r>
            <a:r>
              <a:rPr lang="en-US" altLang="zh-CN" sz="1700" dirty="0">
                <a:ea typeface="华文楷体" panose="02010600040101010101" pitchFamily="2" charset="-122"/>
              </a:rPr>
              <a:t> </a:t>
            </a:r>
            <a:r>
              <a:rPr lang="en-US" altLang="zh-CN" sz="1700" dirty="0" smtClean="0">
                <a:ea typeface="华文楷体" panose="02010600040101010101" pitchFamily="2" charset="-122"/>
              </a:rPr>
              <a:t>     }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700" dirty="0" smtClean="0">
                <a:ea typeface="华文楷体" panose="02010600040101010101" pitchFamily="2" charset="-122"/>
              </a:rPr>
              <a:t>	</a:t>
            </a:r>
            <a:r>
              <a:rPr lang="en-US" altLang="zh-CN" sz="1700" dirty="0">
                <a:ea typeface="华文楷体" panose="02010600040101010101" pitchFamily="2" charset="-122"/>
              </a:rPr>
              <a:t> </a:t>
            </a:r>
            <a:r>
              <a:rPr lang="en-US" altLang="zh-CN" sz="1700" dirty="0" smtClean="0">
                <a:ea typeface="华文楷体" panose="02010600040101010101" pitchFamily="2" charset="-122"/>
              </a:rPr>
              <a:t> //</a:t>
            </a:r>
            <a:r>
              <a:rPr lang="zh-CN" altLang="en-US" sz="1700" dirty="0" smtClean="0">
                <a:ea typeface="华文楷体" panose="02010600040101010101" pitchFamily="2" charset="-122"/>
              </a:rPr>
              <a:t>有交换，修改标志</a:t>
            </a:r>
            <a:r>
              <a:rPr lang="en-US" altLang="zh-CN" sz="1700" dirty="0" smtClean="0">
                <a:ea typeface="华文楷体" panose="02010600040101010101" pitchFamily="2" charset="-122"/>
              </a:rPr>
              <a:t>change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700" dirty="0" smtClean="0">
                <a:ea typeface="华文楷体" panose="02010600040101010101" pitchFamily="2" charset="-122"/>
              </a:rPr>
              <a:t>        high--; //</a:t>
            </a:r>
            <a:r>
              <a:rPr lang="zh-CN" altLang="en-US" sz="1700" dirty="0" smtClean="0">
                <a:ea typeface="华文楷体" panose="02010600040101010101" pitchFamily="2" charset="-122"/>
              </a:rPr>
              <a:t>修改上界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700" dirty="0" smtClean="0">
                <a:ea typeface="华文楷体" panose="02010600040101010101" pitchFamily="2" charset="-122"/>
              </a:rPr>
              <a:t>        </a:t>
            </a:r>
            <a:r>
              <a:rPr lang="en-US" altLang="zh-CN" sz="17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for(</a:t>
            </a:r>
            <a:r>
              <a:rPr lang="en-US" altLang="zh-CN" sz="1700" dirty="0" err="1" smtClean="0">
                <a:solidFill>
                  <a:srgbClr val="C00000"/>
                </a:solidFill>
                <a:ea typeface="华文楷体" panose="02010600040101010101" pitchFamily="2" charset="-122"/>
              </a:rPr>
              <a:t>i</a:t>
            </a:r>
            <a:r>
              <a:rPr lang="en-US" altLang="zh-CN" sz="17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=</a:t>
            </a:r>
            <a:r>
              <a:rPr lang="en-US" altLang="zh-CN" sz="1700" dirty="0" err="1" smtClean="0">
                <a:solidFill>
                  <a:srgbClr val="C00000"/>
                </a:solidFill>
                <a:ea typeface="华文楷体" panose="02010600040101010101" pitchFamily="2" charset="-122"/>
              </a:rPr>
              <a:t>high;i</a:t>
            </a:r>
            <a:r>
              <a:rPr lang="en-US" altLang="zh-CN" sz="17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&gt;</a:t>
            </a:r>
            <a:r>
              <a:rPr lang="en-US" altLang="zh-CN" sz="1700" dirty="0" err="1" smtClean="0">
                <a:solidFill>
                  <a:srgbClr val="C00000"/>
                </a:solidFill>
                <a:ea typeface="华文楷体" panose="02010600040101010101" pitchFamily="2" charset="-122"/>
              </a:rPr>
              <a:t>low;i</a:t>
            </a:r>
            <a:r>
              <a:rPr lang="en-US" altLang="zh-CN" sz="17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--) //</a:t>
            </a:r>
            <a:r>
              <a:rPr lang="zh-CN" altLang="en-US" sz="17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从下向上起泡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7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            </a:t>
            </a:r>
            <a:r>
              <a:rPr lang="en-US" altLang="zh-CN" sz="17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if(a[</a:t>
            </a:r>
            <a:r>
              <a:rPr lang="en-US" altLang="zh-CN" sz="1700" dirty="0" err="1" smtClean="0">
                <a:solidFill>
                  <a:srgbClr val="C00000"/>
                </a:solidFill>
                <a:ea typeface="华文楷体" panose="02010600040101010101" pitchFamily="2" charset="-122"/>
              </a:rPr>
              <a:t>i</a:t>
            </a:r>
            <a:r>
              <a:rPr lang="en-US" altLang="zh-CN" sz="17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].key&lt;a[i-1].key){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17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	</a:t>
            </a:r>
            <a:r>
              <a:rPr lang="en-US" altLang="zh-CN" sz="1700" dirty="0">
                <a:solidFill>
                  <a:srgbClr val="C00000"/>
                </a:solidFill>
                <a:ea typeface="华文楷体" panose="02010600040101010101" pitchFamily="2" charset="-122"/>
              </a:rPr>
              <a:t> </a:t>
            </a:r>
            <a:r>
              <a:rPr lang="en-US" altLang="zh-CN" sz="17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        </a:t>
            </a:r>
            <a:r>
              <a:rPr lang="en-US" altLang="zh-CN" sz="1700" dirty="0">
                <a:solidFill>
                  <a:srgbClr val="C00000"/>
                </a:solidFill>
                <a:ea typeface="华文楷体" panose="02010600040101010101" pitchFamily="2" charset="-122"/>
              </a:rPr>
              <a:t>swap(&amp;a[</a:t>
            </a:r>
            <a:r>
              <a:rPr lang="en-US" altLang="zh-CN" sz="1700" dirty="0" err="1">
                <a:solidFill>
                  <a:srgbClr val="C00000"/>
                </a:solidFill>
                <a:ea typeface="华文楷体" panose="02010600040101010101" pitchFamily="2" charset="-122"/>
              </a:rPr>
              <a:t>i</a:t>
            </a:r>
            <a:r>
              <a:rPr lang="en-US" altLang="zh-CN" sz="1700" dirty="0">
                <a:solidFill>
                  <a:srgbClr val="C00000"/>
                </a:solidFill>
                <a:ea typeface="华文楷体" panose="02010600040101010101" pitchFamily="2" charset="-122"/>
              </a:rPr>
              <a:t>], &amp;a[i-1]);                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1700" dirty="0">
                <a:solidFill>
                  <a:srgbClr val="C00000"/>
                </a:solidFill>
                <a:ea typeface="华文楷体" panose="02010600040101010101" pitchFamily="2" charset="-122"/>
              </a:rPr>
              <a:t> </a:t>
            </a:r>
            <a:r>
              <a:rPr lang="en-US" altLang="zh-CN" sz="17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               change=1;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7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	</a:t>
            </a:r>
            <a:r>
              <a:rPr lang="en-US" altLang="zh-CN" sz="1700" dirty="0">
                <a:solidFill>
                  <a:srgbClr val="C00000"/>
                </a:solidFill>
                <a:ea typeface="华文楷体" panose="02010600040101010101" pitchFamily="2" charset="-122"/>
              </a:rPr>
              <a:t> </a:t>
            </a:r>
            <a:r>
              <a:rPr lang="en-US" altLang="zh-CN" sz="17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    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7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        low++; //</a:t>
            </a:r>
            <a:r>
              <a:rPr lang="zh-CN" altLang="en-US" sz="17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修改下界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700" dirty="0" smtClean="0">
                <a:ea typeface="华文楷体" panose="02010600040101010101" pitchFamily="2" charset="-122"/>
              </a:rPr>
              <a:t>     </a:t>
            </a:r>
            <a:r>
              <a:rPr lang="en-US" altLang="zh-CN" sz="1700" dirty="0" smtClean="0">
                <a:ea typeface="华文楷体" panose="02010600040101010101" pitchFamily="2" charset="-122"/>
              </a:rPr>
              <a:t>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700" dirty="0" smtClean="0">
                <a:ea typeface="华文楷体" panose="02010600040101010101" pitchFamily="2" charset="-122"/>
              </a:rPr>
              <a:t>}</a:t>
            </a:r>
          </a:p>
        </p:txBody>
      </p:sp>
      <p:sp>
        <p:nvSpPr>
          <p:cNvPr id="34820" name="Text Box 4"/>
          <p:cNvSpPr txBox="1">
            <a:spLocks noChangeArrowheads="1"/>
          </p:cNvSpPr>
          <p:nvPr/>
        </p:nvSpPr>
        <p:spPr bwMode="auto">
          <a:xfrm>
            <a:off x="4759546" y="3429000"/>
            <a:ext cx="3696530" cy="120032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思考：如以双链表存储记录，双向起泡算法如何实现？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" dur="2000"/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2000"/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3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348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348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348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9" dur="2000"/>
                                        <p:tgtEl>
                                          <p:spTgt spid="348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348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5" dur="2000"/>
                                        <p:tgtEl>
                                          <p:spTgt spid="348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8" dur="2000"/>
                                        <p:tgtEl>
                                          <p:spTgt spid="3481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1" dur="2000"/>
                                        <p:tgtEl>
                                          <p:spTgt spid="3481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4" dur="2000"/>
                                        <p:tgtEl>
                                          <p:spTgt spid="3481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7" dur="2000"/>
                                        <p:tgtEl>
                                          <p:spTgt spid="3481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0" dur="2000"/>
                                        <p:tgtEl>
                                          <p:spTgt spid="34819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3" dur="2000"/>
                                        <p:tgtEl>
                                          <p:spTgt spid="34819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6" dur="2000"/>
                                        <p:tgtEl>
                                          <p:spTgt spid="34819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1" dur="2000"/>
                                        <p:tgtEl>
                                          <p:spTgt spid="3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256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52525"/>
            <a:ext cx="8229600" cy="54768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b="1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快速排序</a:t>
            </a:r>
            <a:r>
              <a:rPr lang="en-US" altLang="zh-CN" sz="2000" b="1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(</a:t>
            </a:r>
            <a:r>
              <a:rPr lang="zh-CN" altLang="en-US" sz="2000" b="1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分划交换排序</a:t>
            </a:r>
            <a:r>
              <a:rPr lang="en-US" altLang="zh-CN" sz="2000" b="1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/</a:t>
            </a:r>
            <a:r>
              <a:rPr lang="zh-CN" altLang="en-US" sz="2000" b="1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分治法</a:t>
            </a:r>
            <a:r>
              <a:rPr lang="en-US" altLang="zh-CN" sz="2000" b="1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0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分治算法原理</a:t>
            </a:r>
            <a:r>
              <a:rPr lang="en-US" altLang="zh-CN" sz="20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>
                <a:ea typeface="华文楷体" panose="02010600040101010101" pitchFamily="2" charset="-122"/>
              </a:rPr>
              <a:t>递归使用两个调用，每个调用大约处理一半信息</a:t>
            </a:r>
            <a:r>
              <a:rPr lang="en-US" altLang="zh-CN" sz="2000" dirty="0" smtClean="0">
                <a:ea typeface="华文楷体" panose="02010600040101010101" pitchFamily="2" charset="-122"/>
              </a:rPr>
              <a:t>(</a:t>
            </a:r>
            <a:r>
              <a:rPr lang="zh-CN" altLang="en-US" sz="2000" dirty="0" smtClean="0">
                <a:ea typeface="华文楷体" panose="02010600040101010101" pitchFamily="2" charset="-122"/>
              </a:rPr>
              <a:t>二叉树遍历，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Hanior</a:t>
            </a:r>
            <a:r>
              <a:rPr lang="zh-CN" altLang="en-US" sz="2000" dirty="0" smtClean="0">
                <a:ea typeface="华文楷体" panose="02010600040101010101" pitchFamily="2" charset="-122"/>
              </a:rPr>
              <a:t>塔</a:t>
            </a:r>
            <a:r>
              <a:rPr lang="en-US" altLang="zh-CN" sz="2000" dirty="0" smtClean="0">
                <a:ea typeface="华文楷体" panose="02010600040101010101" pitchFamily="2" charset="-122"/>
              </a:rPr>
              <a:t>)</a:t>
            </a:r>
            <a:r>
              <a:rPr lang="zh-CN" altLang="en-US" sz="2000" dirty="0" smtClean="0">
                <a:ea typeface="华文楷体" panose="02010600040101010101" pitchFamily="2" charset="-122"/>
              </a:rPr>
              <a:t>。</a:t>
            </a:r>
            <a:endParaRPr lang="en-US" altLang="zh-CN" sz="20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1)</a:t>
            </a:r>
            <a:r>
              <a:rPr lang="zh-CN" altLang="en-US" sz="2000" dirty="0" smtClean="0">
                <a:ea typeface="华文楷体" panose="02010600040101010101" pitchFamily="2" charset="-122"/>
              </a:rPr>
              <a:t>分解：将原问题分解为若干子问题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2)</a:t>
            </a:r>
            <a:r>
              <a:rPr lang="zh-CN" altLang="en-US" sz="2000" dirty="0" smtClean="0">
                <a:ea typeface="华文楷体" panose="02010600040101010101" pitchFamily="2" charset="-122"/>
              </a:rPr>
              <a:t>求解：递归地解各子问题，若子问题的规模足够小，则直接求解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3)</a:t>
            </a:r>
            <a:r>
              <a:rPr lang="zh-CN" altLang="en-US" sz="2000" dirty="0" smtClean="0">
                <a:ea typeface="华文楷体" panose="02010600040101010101" pitchFamily="2" charset="-122"/>
              </a:rPr>
              <a:t>组合：将各子问题的解组合成原问题的解</a:t>
            </a:r>
            <a:endParaRPr lang="en-US" altLang="zh-CN" sz="20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0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分治法性质</a:t>
            </a:r>
            <a:r>
              <a:rPr lang="en-US" altLang="zh-CN" sz="2000" b="1" dirty="0">
                <a:solidFill>
                  <a:srgbClr val="CC6600"/>
                </a:solidFill>
                <a:ea typeface="华文楷体" panose="02010600040101010101" pitchFamily="2" charset="-122"/>
              </a:rPr>
              <a:t>] </a:t>
            </a:r>
            <a:endParaRPr lang="en-US" altLang="zh-CN" sz="2000" b="1" dirty="0" smtClean="0">
              <a:solidFill>
                <a:srgbClr val="CC6600"/>
              </a:solidFill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000" dirty="0" smtClean="0">
                <a:ea typeface="华文楷体" panose="02010600040101010101" pitchFamily="2" charset="-122"/>
              </a:rPr>
              <a:t>把</a:t>
            </a:r>
            <a:r>
              <a:rPr lang="zh-CN" altLang="en-US" sz="2000" dirty="0">
                <a:ea typeface="华文楷体" panose="02010600040101010101" pitchFamily="2" charset="-122"/>
              </a:rPr>
              <a:t>大小为</a:t>
            </a:r>
            <a:r>
              <a:rPr lang="en-US" altLang="zh-CN" sz="2000" dirty="0">
                <a:ea typeface="华文楷体" panose="02010600040101010101" pitchFamily="2" charset="-122"/>
              </a:rPr>
              <a:t>n</a:t>
            </a:r>
            <a:r>
              <a:rPr lang="zh-CN" altLang="en-US" sz="2000" dirty="0">
                <a:ea typeface="华文楷体" panose="02010600040101010101" pitchFamily="2" charset="-122"/>
              </a:rPr>
              <a:t>的问题分解为两个独立非空部分的递归函数，它递归调用自身的次数不多于</a:t>
            </a:r>
            <a:r>
              <a:rPr lang="en-US" altLang="zh-CN" sz="2000" dirty="0">
                <a:ea typeface="华文楷体" panose="02010600040101010101" pitchFamily="2" charset="-122"/>
              </a:rPr>
              <a:t>n</a:t>
            </a:r>
            <a:r>
              <a:rPr lang="zh-CN" altLang="en-US" sz="2000" dirty="0">
                <a:ea typeface="华文楷体" panose="02010600040101010101" pitchFamily="2" charset="-122"/>
              </a:rPr>
              <a:t>次。</a:t>
            </a:r>
            <a:endParaRPr lang="en-US" altLang="zh-CN" sz="2000" dirty="0"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000" dirty="0">
                <a:ea typeface="华文楷体" panose="02010600040101010101" pitchFamily="2" charset="-122"/>
              </a:rPr>
              <a:t>如果两部分的大小分别为</a:t>
            </a:r>
            <a:r>
              <a:rPr lang="en-US" altLang="zh-CN" sz="2000" dirty="0">
                <a:ea typeface="华文楷体" panose="02010600040101010101" pitchFamily="2" charset="-122"/>
              </a:rPr>
              <a:t>k</a:t>
            </a:r>
            <a:r>
              <a:rPr lang="zh-CN" altLang="en-US" sz="2000" dirty="0">
                <a:ea typeface="华文楷体" panose="02010600040101010101" pitchFamily="2" charset="-122"/>
              </a:rPr>
              <a:t>和</a:t>
            </a:r>
            <a:r>
              <a:rPr lang="en-US" altLang="zh-CN" sz="2000" dirty="0">
                <a:ea typeface="华文楷体" panose="02010600040101010101" pitchFamily="2" charset="-122"/>
              </a:rPr>
              <a:t>n-k</a:t>
            </a:r>
            <a:r>
              <a:rPr lang="zh-CN" altLang="en-US" sz="2000" dirty="0">
                <a:ea typeface="华文楷体" panose="02010600040101010101" pitchFamily="2" charset="-122"/>
              </a:rPr>
              <a:t>，则递归总的调用次数为：</a:t>
            </a:r>
            <a:r>
              <a:rPr lang="en-US" altLang="zh-CN" sz="2000" dirty="0" err="1">
                <a:ea typeface="华文楷体" panose="02010600040101010101" pitchFamily="2" charset="-122"/>
              </a:rPr>
              <a:t>T</a:t>
            </a:r>
            <a:r>
              <a:rPr lang="en-US" altLang="zh-CN" sz="2000" baseline="-25000" dirty="0" err="1">
                <a:ea typeface="华文楷体" panose="02010600040101010101" pitchFamily="2" charset="-122"/>
              </a:rPr>
              <a:t>n</a:t>
            </a:r>
            <a:r>
              <a:rPr lang="en-US" altLang="zh-CN" sz="2000" dirty="0">
                <a:ea typeface="华文楷体" panose="02010600040101010101" pitchFamily="2" charset="-122"/>
              </a:rPr>
              <a:t>=T</a:t>
            </a:r>
            <a:r>
              <a:rPr lang="en-US" altLang="zh-CN" sz="2000" baseline="-25000" dirty="0">
                <a:ea typeface="华文楷体" panose="02010600040101010101" pitchFamily="2" charset="-122"/>
              </a:rPr>
              <a:t>k</a:t>
            </a:r>
            <a:r>
              <a:rPr lang="en-US" altLang="zh-CN" sz="2000" dirty="0">
                <a:ea typeface="华文楷体" panose="02010600040101010101" pitchFamily="2" charset="-122"/>
              </a:rPr>
              <a:t>+T</a:t>
            </a:r>
            <a:r>
              <a:rPr lang="en-US" altLang="zh-CN" sz="2000" baseline="-25000" dirty="0">
                <a:ea typeface="华文楷体" panose="02010600040101010101" pitchFamily="2" charset="-122"/>
              </a:rPr>
              <a:t>n-k</a:t>
            </a:r>
            <a:r>
              <a:rPr lang="en-US" altLang="zh-CN" sz="2000" dirty="0">
                <a:ea typeface="华文楷体" panose="02010600040101010101" pitchFamily="2" charset="-122"/>
              </a:rPr>
              <a:t>+1; T</a:t>
            </a:r>
            <a:r>
              <a:rPr lang="en-US" altLang="zh-CN" sz="2000" baseline="-25000" dirty="0">
                <a:ea typeface="华文楷体" panose="02010600040101010101" pitchFamily="2" charset="-122"/>
              </a:rPr>
              <a:t>1</a:t>
            </a:r>
            <a:r>
              <a:rPr lang="en-US" altLang="zh-CN" sz="2000" dirty="0">
                <a:ea typeface="华文楷体" panose="02010600040101010101" pitchFamily="2" charset="-122"/>
              </a:rPr>
              <a:t>=0</a:t>
            </a:r>
            <a:r>
              <a:rPr lang="zh-CN" altLang="en-US" sz="2000" dirty="0">
                <a:ea typeface="华文楷体" panose="02010600040101010101" pitchFamily="2" charset="-122"/>
              </a:rPr>
              <a:t>；通过归纳法可得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T</a:t>
            </a:r>
            <a:r>
              <a:rPr lang="en-US" altLang="zh-CN" sz="2000" baseline="-25000" dirty="0" err="1" smtClean="0">
                <a:ea typeface="华文楷体" panose="02010600040101010101" pitchFamily="2" charset="-122"/>
              </a:rPr>
              <a:t>n</a:t>
            </a:r>
            <a:r>
              <a:rPr lang="en-US" altLang="zh-CN" sz="2000" dirty="0" smtClean="0">
                <a:ea typeface="华文楷体" panose="02010600040101010101" pitchFamily="2" charset="-122"/>
              </a:rPr>
              <a:t>=n-1</a:t>
            </a:r>
            <a:r>
              <a:rPr lang="zh-CN" altLang="en-US" sz="2000" dirty="0" smtClean="0">
                <a:ea typeface="华文楷体" panose="02010600040101010101" pitchFamily="2" charset="-122"/>
              </a:rPr>
              <a:t>。</a:t>
            </a:r>
            <a:endParaRPr lang="en-US" altLang="zh-CN" sz="2000" b="1" dirty="0" smtClean="0">
              <a:solidFill>
                <a:srgbClr val="CC6600"/>
              </a:solidFill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0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快速排序算法思想</a:t>
            </a:r>
            <a:r>
              <a:rPr lang="en-US" altLang="zh-CN" sz="20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  <a:r>
              <a:rPr lang="en-US" altLang="zh-CN" sz="2000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     </a:t>
            </a:r>
            <a:r>
              <a:rPr lang="zh-CN" altLang="en-US" sz="2000" dirty="0" smtClean="0">
                <a:ea typeface="华文楷体" panose="02010600040101010101" pitchFamily="2" charset="-122"/>
              </a:rPr>
              <a:t>指定</a:t>
            </a:r>
            <a:r>
              <a:rPr lang="zh-CN" altLang="en-US" sz="2000" b="1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枢轴</a:t>
            </a:r>
            <a:r>
              <a:rPr lang="en-US" altLang="zh-CN" sz="2000" b="1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/</a:t>
            </a:r>
            <a:r>
              <a:rPr lang="zh-CN" altLang="en-US" sz="2000" b="1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支点</a:t>
            </a:r>
            <a:r>
              <a:rPr lang="en-US" altLang="zh-CN" sz="2000" b="1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/</a:t>
            </a:r>
            <a:r>
              <a:rPr lang="zh-CN" altLang="en-US" sz="2000" b="1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基准记录</a:t>
            </a:r>
            <a:r>
              <a:rPr lang="en-US" altLang="zh-CN" sz="2000" dirty="0" smtClean="0">
                <a:ea typeface="华文楷体" panose="02010600040101010101" pitchFamily="2" charset="-122"/>
              </a:rPr>
              <a:t>r[p](</a:t>
            </a:r>
            <a:r>
              <a:rPr lang="zh-CN" altLang="en-US" sz="2000" dirty="0" smtClean="0">
                <a:ea typeface="华文楷体" panose="02010600040101010101" pitchFamily="2" charset="-122"/>
              </a:rPr>
              <a:t>通常为第一个记录</a:t>
            </a:r>
            <a:r>
              <a:rPr lang="en-US" altLang="zh-CN" sz="2000" dirty="0" smtClean="0">
                <a:ea typeface="华文楷体" panose="02010600040101010101" pitchFamily="2" charset="-122"/>
              </a:rPr>
              <a:t>)</a:t>
            </a:r>
            <a:r>
              <a:rPr lang="zh-CN" altLang="en-US" sz="2000" dirty="0" smtClean="0">
                <a:ea typeface="华文楷体" panose="02010600040101010101" pitchFamily="2" charset="-122"/>
              </a:rPr>
              <a:t>，通过一趟排序将其放在正确的位置上，它把待排记录分割为独立的两部分，使得</a:t>
            </a:r>
          </a:p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>
                <a:ea typeface="华文楷体" panose="02010600040101010101" pitchFamily="2" charset="-122"/>
              </a:rPr>
              <a:t>    </a:t>
            </a:r>
            <a:r>
              <a:rPr lang="zh-CN" altLang="en-US" sz="2000" dirty="0" smtClean="0">
                <a:solidFill>
                  <a:schemeClr val="accent2"/>
                </a:solidFill>
                <a:latin typeface="楷体_GB2312" charset="-122"/>
                <a:ea typeface="楷体_GB2312" charset="-122"/>
              </a:rPr>
              <a:t>左边记录的关键字 </a:t>
            </a:r>
            <a:r>
              <a:rPr lang="zh-CN" altLang="en-US" sz="2000" dirty="0" smtClean="0">
                <a:solidFill>
                  <a:schemeClr val="accent2"/>
                </a:solidFill>
                <a:latin typeface="楷体_GB2312" charset="-122"/>
                <a:ea typeface="楷体_GB2312" charset="-122"/>
                <a:sym typeface="Symbol" panose="05050102010706020507" pitchFamily="18" charset="2"/>
              </a:rPr>
              <a:t> </a:t>
            </a:r>
            <a:r>
              <a:rPr lang="en-US" altLang="zh-CN" sz="2000" b="1" dirty="0" smtClean="0">
                <a:solidFill>
                  <a:schemeClr val="accent2"/>
                </a:solidFill>
                <a:latin typeface="楷体_GB2312" charset="-122"/>
                <a:ea typeface="楷体_GB2312" charset="-122"/>
                <a:sym typeface="Symbol" panose="05050102010706020507" pitchFamily="18" charset="2"/>
              </a:rPr>
              <a:t>r[p].key </a:t>
            </a:r>
            <a:r>
              <a:rPr lang="en-US" altLang="zh-CN" sz="2000" dirty="0" smtClean="0">
                <a:solidFill>
                  <a:schemeClr val="accent2"/>
                </a:solidFill>
                <a:latin typeface="楷体_GB2312" charset="-122"/>
                <a:ea typeface="楷体_GB2312" charset="-122"/>
                <a:sym typeface="Symbol" panose="05050102010706020507" pitchFamily="18" charset="2"/>
              </a:rPr>
              <a:t> </a:t>
            </a:r>
            <a:r>
              <a:rPr lang="zh-CN" altLang="en-US" sz="2000" dirty="0" smtClean="0">
                <a:solidFill>
                  <a:schemeClr val="accent2"/>
                </a:solidFill>
                <a:latin typeface="楷体_GB2312" charset="-122"/>
                <a:ea typeface="楷体_GB2312" charset="-122"/>
              </a:rPr>
              <a:t>右边记录的关键字</a:t>
            </a:r>
            <a:endParaRPr lang="zh-CN" altLang="en-US" sz="2000" dirty="0" smtClean="0">
              <a:latin typeface="楷体_GB2312" charset="-122"/>
              <a:ea typeface="楷体_GB231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>
                <a:ea typeface="华文楷体" panose="02010600040101010101" pitchFamily="2" charset="-122"/>
              </a:rPr>
              <a:t>    对左右两部分记录序列重复上述过程，依次类推，直到子序列中只剩下一个记录或不含记录为止。</a:t>
            </a:r>
            <a:r>
              <a:rPr lang="en-US" altLang="zh-CN" sz="2000" dirty="0" smtClean="0">
                <a:ea typeface="华文楷体" panose="02010600040101010101" pitchFamily="2" charset="-122"/>
              </a:rPr>
              <a:t>(</a:t>
            </a:r>
            <a:r>
              <a:rPr lang="zh-CN" altLang="en-US" sz="2000" dirty="0" smtClean="0">
                <a:ea typeface="华文楷体" panose="02010600040101010101" pitchFamily="2" charset="-122"/>
              </a:rPr>
              <a:t>可以用递归方法实现</a:t>
            </a:r>
            <a:r>
              <a:rPr lang="en-US" altLang="zh-CN" sz="2000" dirty="0" smtClean="0">
                <a:ea typeface="华文楷体" panose="02010600040101010101" pitchFamily="2" charset="-122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12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152525"/>
            <a:ext cx="8763000" cy="524827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 </a:t>
            </a:r>
            <a:r>
              <a:rPr lang="zh-CN" altLang="en-US" sz="20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示例 </a:t>
            </a:r>
            <a:r>
              <a:rPr lang="en-US" altLang="zh-CN" sz="20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1]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&lt;</a:t>
            </a:r>
            <a:r>
              <a:rPr lang="zh-CN" altLang="en-US" sz="2000" dirty="0" smtClean="0">
                <a:ea typeface="华文楷体" panose="02010600040101010101" pitchFamily="2" charset="-122"/>
              </a:rPr>
              <a:t>初态</a:t>
            </a:r>
            <a:r>
              <a:rPr lang="en-US" altLang="zh-CN" sz="2000" dirty="0" smtClean="0">
                <a:ea typeface="华文楷体" panose="02010600040101010101" pitchFamily="2" charset="-122"/>
              </a:rPr>
              <a:t>&gt;       { (</a:t>
            </a:r>
            <a:r>
              <a:rPr lang="en-US" altLang="zh-CN" sz="20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49</a:t>
            </a:r>
            <a:r>
              <a:rPr lang="en-US" altLang="zh-CN" sz="2000" dirty="0" smtClean="0">
                <a:ea typeface="华文楷体" panose="02010600040101010101" pitchFamily="2" charset="-122"/>
              </a:rPr>
              <a:t>)   38   65   97   76   13   27   </a:t>
            </a:r>
            <a:r>
              <a:rPr lang="en-US" altLang="zh-CN" sz="2000" u="sng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49</a:t>
            </a:r>
            <a:r>
              <a:rPr lang="en-US" altLang="zh-CN" sz="2000" dirty="0" smtClean="0">
                <a:ea typeface="华文楷体" panose="02010600040101010101" pitchFamily="2" charset="-122"/>
              </a:rPr>
              <a:t> 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   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tmp</a:t>
            </a:r>
            <a:r>
              <a:rPr lang="en-US" altLang="zh-CN" sz="2000" dirty="0" smtClean="0">
                <a:ea typeface="华文楷体" panose="02010600040101010101" pitchFamily="2" charset="-122"/>
              </a:rPr>
              <a:t>=49     left                                             right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                     27    38   65   97   76   13    ( )   </a:t>
            </a:r>
            <a:r>
              <a:rPr lang="en-US" altLang="zh-CN" sz="2000" u="sng" dirty="0" smtClean="0">
                <a:ea typeface="华文楷体" panose="02010600040101010101" pitchFamily="2" charset="-122"/>
              </a:rPr>
              <a:t>49</a:t>
            </a:r>
            <a:endParaRPr lang="en-US" altLang="zh-CN" sz="20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                     left                                     right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                     27   38    ( )   97   76   13    65    </a:t>
            </a:r>
            <a:r>
              <a:rPr lang="en-US" altLang="zh-CN" sz="2000" u="sng" dirty="0" smtClean="0">
                <a:ea typeface="华文楷体" panose="02010600040101010101" pitchFamily="2" charset="-122"/>
              </a:rPr>
              <a:t>49</a:t>
            </a:r>
            <a:endParaRPr lang="en-US" altLang="zh-CN" sz="20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                                    left                      right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                     27   38    13   97   76   ( )    65    </a:t>
            </a:r>
            <a:r>
              <a:rPr lang="en-US" altLang="zh-CN" sz="2000" u="sng" dirty="0" smtClean="0">
                <a:ea typeface="华文楷体" panose="02010600040101010101" pitchFamily="2" charset="-122"/>
              </a:rPr>
              <a:t>49</a:t>
            </a:r>
            <a:endParaRPr lang="en-US" altLang="zh-CN" sz="20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                                    left               right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                     27    38    13  ( )    76   97   65   </a:t>
            </a:r>
            <a:r>
              <a:rPr lang="en-US" altLang="zh-CN" sz="2000" u="sng" dirty="0" smtClean="0">
                <a:ea typeface="华文楷体" panose="02010600040101010101" pitchFamily="2" charset="-122"/>
              </a:rPr>
              <a:t>49</a:t>
            </a:r>
            <a:endParaRPr lang="en-US" altLang="zh-CN" sz="20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                                           left         right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&lt;</a:t>
            </a:r>
            <a:r>
              <a:rPr lang="zh-CN" altLang="en-US" sz="2000" dirty="0" smtClean="0">
                <a:ea typeface="华文楷体" panose="02010600040101010101" pitchFamily="2" charset="-122"/>
              </a:rPr>
              <a:t>一趟结束</a:t>
            </a:r>
            <a:r>
              <a:rPr lang="en-US" altLang="zh-CN" sz="2000" dirty="0" smtClean="0">
                <a:ea typeface="华文楷体" panose="02010600040101010101" pitchFamily="2" charset="-122"/>
              </a:rPr>
              <a:t>&gt;  {27   38   13}  </a:t>
            </a:r>
            <a:r>
              <a:rPr lang="en-US" altLang="zh-CN" sz="2000" b="1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49</a:t>
            </a:r>
            <a:r>
              <a:rPr lang="en-US" altLang="zh-CN" sz="2000" dirty="0" smtClean="0">
                <a:ea typeface="华文楷体" panose="02010600040101010101" pitchFamily="2" charset="-122"/>
              </a:rPr>
              <a:t>  {76  97   65   </a:t>
            </a:r>
            <a:r>
              <a:rPr lang="en-US" altLang="zh-CN" sz="2000" u="sng" dirty="0" smtClean="0">
                <a:ea typeface="华文楷体" panose="02010600040101010101" pitchFamily="2" charset="-122"/>
              </a:rPr>
              <a:t>49</a:t>
            </a:r>
            <a:r>
              <a:rPr lang="en-US" altLang="zh-CN" sz="2000" dirty="0" smtClean="0">
                <a:ea typeface="华文楷体" panose="02010600040101010101" pitchFamily="2" charset="-122"/>
              </a:rPr>
              <a:t>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0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000" dirty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&lt;</a:t>
            </a:r>
            <a:r>
              <a:rPr lang="zh-CN" altLang="en-US" sz="2000" dirty="0">
                <a:ea typeface="华文楷体" panose="02010600040101010101" pitchFamily="2" charset="-122"/>
              </a:rPr>
              <a:t>二</a:t>
            </a:r>
            <a:r>
              <a:rPr lang="zh-CN" altLang="en-US" sz="2000" dirty="0" smtClean="0">
                <a:ea typeface="华文楷体" panose="02010600040101010101" pitchFamily="2" charset="-122"/>
              </a:rPr>
              <a:t>趟</a:t>
            </a:r>
            <a:r>
              <a:rPr lang="zh-CN" altLang="en-US" sz="2000" dirty="0">
                <a:ea typeface="华文楷体" panose="02010600040101010101" pitchFamily="2" charset="-122"/>
              </a:rPr>
              <a:t>结束</a:t>
            </a:r>
            <a:r>
              <a:rPr lang="en-US" altLang="zh-CN" sz="2000" dirty="0">
                <a:ea typeface="华文楷体" panose="02010600040101010101" pitchFamily="2" charset="-122"/>
              </a:rPr>
              <a:t>&gt;  </a:t>
            </a:r>
            <a:r>
              <a:rPr lang="en-US" altLang="zh-CN" sz="2000" dirty="0" smtClean="0">
                <a:ea typeface="华文楷体" panose="02010600040101010101" pitchFamily="2" charset="-122"/>
              </a:rPr>
              <a:t>{13}   </a:t>
            </a:r>
            <a:r>
              <a:rPr lang="en-US" altLang="zh-CN" sz="2000" b="1" dirty="0" smtClean="0">
                <a:solidFill>
                  <a:srgbClr val="FF0000"/>
                </a:solidFill>
                <a:ea typeface="华文楷体" panose="02010600040101010101" pitchFamily="2" charset="-122"/>
              </a:rPr>
              <a:t>27</a:t>
            </a:r>
            <a:r>
              <a:rPr lang="en-US" altLang="zh-CN" sz="2000" dirty="0" smtClean="0">
                <a:ea typeface="华文楷体" panose="02010600040101010101" pitchFamily="2" charset="-122"/>
              </a:rPr>
              <a:t>   {38}  </a:t>
            </a:r>
            <a:r>
              <a:rPr lang="en-US" altLang="zh-CN" sz="2000" b="1" dirty="0">
                <a:solidFill>
                  <a:srgbClr val="FF3300"/>
                </a:solidFill>
                <a:ea typeface="华文楷体" panose="02010600040101010101" pitchFamily="2" charset="-122"/>
              </a:rPr>
              <a:t>49</a:t>
            </a:r>
            <a:r>
              <a:rPr lang="en-US" altLang="zh-CN" sz="2000" dirty="0">
                <a:ea typeface="华文楷体" panose="02010600040101010101" pitchFamily="2" charset="-122"/>
              </a:rPr>
              <a:t>  </a:t>
            </a:r>
            <a:r>
              <a:rPr lang="en-US" altLang="zh-CN" sz="2000" dirty="0" smtClean="0">
                <a:ea typeface="华文楷体" panose="02010600040101010101" pitchFamily="2" charset="-122"/>
              </a:rPr>
              <a:t>{</a:t>
            </a:r>
            <a:r>
              <a:rPr lang="en-US" altLang="zh-CN" sz="2000" u="sng" dirty="0" smtClean="0">
                <a:ea typeface="华文楷体" panose="02010600040101010101" pitchFamily="2" charset="-122"/>
              </a:rPr>
              <a:t>49</a:t>
            </a:r>
            <a:r>
              <a:rPr lang="en-US" altLang="zh-CN" sz="2000" dirty="0" smtClean="0">
                <a:ea typeface="华文楷体" panose="02010600040101010101" pitchFamily="2" charset="-122"/>
              </a:rPr>
              <a:t>   65}   </a:t>
            </a:r>
            <a:r>
              <a:rPr lang="en-US" altLang="zh-CN" sz="2000" b="1" dirty="0" smtClean="0">
                <a:solidFill>
                  <a:srgbClr val="FF0000"/>
                </a:solidFill>
                <a:ea typeface="华文楷体" panose="02010600040101010101" pitchFamily="2" charset="-122"/>
              </a:rPr>
              <a:t>76</a:t>
            </a:r>
            <a:r>
              <a:rPr lang="en-US" altLang="zh-CN" sz="2000" dirty="0" smtClean="0">
                <a:ea typeface="华文楷体" panose="02010600040101010101" pitchFamily="2" charset="-122"/>
              </a:rPr>
              <a:t>  {97}</a:t>
            </a:r>
            <a:endParaRPr lang="en-US" altLang="zh-CN" sz="2000" dirty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0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&lt;</a:t>
            </a:r>
            <a:r>
              <a:rPr lang="zh-CN" altLang="en-US" sz="2000" dirty="0" smtClean="0">
                <a:ea typeface="华文楷体" panose="02010600040101010101" pitchFamily="2" charset="-122"/>
              </a:rPr>
              <a:t>三趟</a:t>
            </a:r>
            <a:r>
              <a:rPr lang="zh-CN" altLang="en-US" sz="2000" dirty="0">
                <a:ea typeface="华文楷体" panose="02010600040101010101" pitchFamily="2" charset="-122"/>
              </a:rPr>
              <a:t>结束</a:t>
            </a:r>
            <a:r>
              <a:rPr lang="en-US" altLang="zh-CN" sz="2000" dirty="0">
                <a:ea typeface="华文楷体" panose="02010600040101010101" pitchFamily="2" charset="-122"/>
              </a:rPr>
              <a:t>&gt;  </a:t>
            </a:r>
            <a:r>
              <a:rPr lang="en-US" altLang="zh-CN" sz="2000" dirty="0" smtClean="0">
                <a:ea typeface="华文楷体" panose="02010600040101010101" pitchFamily="2" charset="-122"/>
              </a:rPr>
              <a:t>{13}   </a:t>
            </a:r>
            <a:r>
              <a:rPr lang="en-US" altLang="zh-CN" sz="2000" b="1" dirty="0">
                <a:solidFill>
                  <a:srgbClr val="FF0000"/>
                </a:solidFill>
                <a:ea typeface="华文楷体" panose="02010600040101010101" pitchFamily="2" charset="-122"/>
              </a:rPr>
              <a:t>27</a:t>
            </a:r>
            <a:r>
              <a:rPr lang="en-US" altLang="zh-CN" sz="2000" dirty="0">
                <a:ea typeface="华文楷体" panose="02010600040101010101" pitchFamily="2" charset="-122"/>
              </a:rPr>
              <a:t>   {38}  </a:t>
            </a:r>
            <a:r>
              <a:rPr lang="en-US" altLang="zh-CN" sz="2000" b="1" dirty="0">
                <a:solidFill>
                  <a:srgbClr val="FF3300"/>
                </a:solidFill>
                <a:ea typeface="华文楷体" panose="02010600040101010101" pitchFamily="2" charset="-122"/>
              </a:rPr>
              <a:t>49</a:t>
            </a:r>
            <a:r>
              <a:rPr lang="en-US" altLang="zh-CN" sz="2000" dirty="0">
                <a:ea typeface="华文楷体" panose="02010600040101010101" pitchFamily="2" charset="-122"/>
              </a:rPr>
              <a:t>  </a:t>
            </a:r>
            <a:r>
              <a:rPr lang="en-US" altLang="zh-CN" sz="2000" b="1" u="sng" dirty="0" smtClean="0">
                <a:solidFill>
                  <a:srgbClr val="FF0000"/>
                </a:solidFill>
                <a:ea typeface="华文楷体" panose="02010600040101010101" pitchFamily="2" charset="-122"/>
              </a:rPr>
              <a:t>49</a:t>
            </a:r>
            <a:r>
              <a:rPr lang="en-US" altLang="zh-CN" sz="2000" b="1" dirty="0" smtClean="0">
                <a:solidFill>
                  <a:srgbClr val="FF0000"/>
                </a:solidFill>
                <a:ea typeface="华文楷体" panose="02010600040101010101" pitchFamily="2" charset="-122"/>
              </a:rPr>
              <a:t> </a:t>
            </a:r>
            <a:r>
              <a:rPr lang="en-US" altLang="zh-CN" sz="2000" dirty="0" smtClean="0">
                <a:ea typeface="华文楷体" panose="02010600040101010101" pitchFamily="2" charset="-122"/>
              </a:rPr>
              <a:t>  {65}   </a:t>
            </a:r>
            <a:r>
              <a:rPr lang="en-US" altLang="zh-CN" sz="2000" b="1" dirty="0">
                <a:solidFill>
                  <a:srgbClr val="FF0000"/>
                </a:solidFill>
                <a:ea typeface="华文楷体" panose="02010600040101010101" pitchFamily="2" charset="-122"/>
              </a:rPr>
              <a:t>76</a:t>
            </a:r>
            <a:r>
              <a:rPr lang="en-US" altLang="zh-CN" sz="2000" dirty="0">
                <a:ea typeface="华文楷体" panose="02010600040101010101" pitchFamily="2" charset="-122"/>
              </a:rPr>
              <a:t>  {97</a:t>
            </a:r>
            <a:r>
              <a:rPr lang="en-US" altLang="zh-CN" sz="2000" dirty="0" smtClean="0">
                <a:ea typeface="华文楷体" panose="02010600040101010101" pitchFamily="2" charset="-122"/>
              </a:rPr>
              <a:t>} //</a:t>
            </a:r>
            <a:r>
              <a:rPr lang="zh-CN" altLang="en-US" sz="2000" dirty="0" smtClean="0">
                <a:ea typeface="华文楷体" panose="02010600040101010101" pitchFamily="2" charset="-122"/>
              </a:rPr>
              <a:t>所有子序列长度</a:t>
            </a:r>
            <a:r>
              <a:rPr lang="en-US" altLang="zh-CN" sz="2000" dirty="0" smtClean="0">
                <a:ea typeface="华文楷体" panose="02010600040101010101" pitchFamily="2" charset="-122"/>
              </a:rPr>
              <a:t>=0,1</a:t>
            </a:r>
            <a:r>
              <a:rPr lang="zh-CN" altLang="en-US" sz="2000" dirty="0">
                <a:ea typeface="华文楷体" panose="02010600040101010101" pitchFamily="2" charset="-122"/>
              </a:rPr>
              <a:t>结束</a:t>
            </a:r>
            <a:endParaRPr lang="en-US" altLang="zh-CN" sz="2000" dirty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000" dirty="0" smtClean="0">
              <a:ea typeface="华文楷体" panose="02010600040101010101" pitchFamily="2" charset="-122"/>
            </a:endParaRPr>
          </a:p>
        </p:txBody>
      </p:sp>
      <p:sp>
        <p:nvSpPr>
          <p:cNvPr id="26630" name="Rectangle 4"/>
          <p:cNvSpPr>
            <a:spLocks noChangeArrowheads="1"/>
          </p:cNvSpPr>
          <p:nvPr/>
        </p:nvSpPr>
        <p:spPr bwMode="auto">
          <a:xfrm>
            <a:off x="685800" y="1752600"/>
            <a:ext cx="8382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6631" name="Text Box 5"/>
          <p:cNvSpPr txBox="1">
            <a:spLocks noChangeArrowheads="1"/>
          </p:cNvSpPr>
          <p:nvPr/>
        </p:nvSpPr>
        <p:spPr bwMode="auto">
          <a:xfrm>
            <a:off x="2936875" y="4779963"/>
            <a:ext cx="1371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kumimoji="1" lang="en-US" altLang="zh-CN" sz="20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left =right)</a:t>
            </a:r>
            <a:endParaRPr kumimoji="1" lang="en-US" altLang="zh-CN" sz="2000" b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6632" name="Line 6"/>
          <p:cNvSpPr>
            <a:spLocks noChangeShapeType="1"/>
          </p:cNvSpPr>
          <p:nvPr/>
        </p:nvSpPr>
        <p:spPr bwMode="auto">
          <a:xfrm flipH="1">
            <a:off x="4648200" y="1905000"/>
            <a:ext cx="3048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6633" name="Line 7"/>
          <p:cNvSpPr>
            <a:spLocks noChangeShapeType="1"/>
          </p:cNvSpPr>
          <p:nvPr/>
        </p:nvSpPr>
        <p:spPr bwMode="auto">
          <a:xfrm>
            <a:off x="2251075" y="2514600"/>
            <a:ext cx="6858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6634" name="Line 8"/>
          <p:cNvSpPr>
            <a:spLocks noChangeShapeType="1"/>
          </p:cNvSpPr>
          <p:nvPr/>
        </p:nvSpPr>
        <p:spPr bwMode="auto">
          <a:xfrm flipH="1">
            <a:off x="4186846" y="3124200"/>
            <a:ext cx="243258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6635" name="Line 9"/>
          <p:cNvSpPr>
            <a:spLocks noChangeShapeType="1"/>
          </p:cNvSpPr>
          <p:nvPr/>
        </p:nvSpPr>
        <p:spPr bwMode="auto">
          <a:xfrm>
            <a:off x="3200400" y="3733800"/>
            <a:ext cx="152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6636" name="Line 10"/>
          <p:cNvSpPr>
            <a:spLocks noChangeShapeType="1"/>
          </p:cNvSpPr>
          <p:nvPr/>
        </p:nvSpPr>
        <p:spPr bwMode="auto">
          <a:xfrm flipH="1">
            <a:off x="3622675" y="4343400"/>
            <a:ext cx="4572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27653" name="Text Box 4"/>
          <p:cNvSpPr>
            <a:spLocks noGrp="1" noChangeArrowheads="1"/>
          </p:cNvSpPr>
          <p:nvPr>
            <p:ph type="body" idx="1"/>
          </p:nvPr>
        </p:nvSpPr>
        <p:spPr>
          <a:xfrm>
            <a:off x="457200" y="1152525"/>
            <a:ext cx="8229600" cy="1562100"/>
          </a:xfrm>
          <a:solidFill>
            <a:srgbClr val="CCFFCC"/>
          </a:solidFill>
          <a:ln cap="flat" algn="ctr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indent="0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 smtClean="0">
                <a:ea typeface="华文楷体" panose="02010600040101010101" pitchFamily="2" charset="-122"/>
              </a:rPr>
              <a:t>void </a:t>
            </a:r>
            <a:r>
              <a:rPr kumimoji="1" lang="en-US" altLang="zh-CN" sz="2400" dirty="0" err="1" smtClean="0">
                <a:ea typeface="华文楷体" panose="02010600040101010101" pitchFamily="2" charset="-122"/>
              </a:rPr>
              <a:t>QuickSort</a:t>
            </a:r>
            <a:r>
              <a:rPr kumimoji="1" lang="en-US" altLang="zh-CN" sz="2400" dirty="0" smtClean="0">
                <a:ea typeface="华文楷体" panose="02010600040101010101" pitchFamily="2" charset="-122"/>
              </a:rPr>
              <a:t> ( </a:t>
            </a:r>
            <a:r>
              <a:rPr kumimoji="1" lang="en-US" altLang="zh-CN" sz="2400" dirty="0" err="1" smtClean="0">
                <a:ea typeface="华文楷体" panose="02010600040101010101" pitchFamily="2" charset="-122"/>
              </a:rPr>
              <a:t>ElemType</a:t>
            </a:r>
            <a:r>
              <a:rPr kumimoji="1" lang="en-US" altLang="zh-CN" sz="2400" dirty="0" smtClean="0">
                <a:ea typeface="华文楷体" panose="02010600040101010101" pitchFamily="2" charset="-122"/>
              </a:rPr>
              <a:t> a[] </a:t>
            </a:r>
            <a:r>
              <a:rPr kumimoji="1" lang="en-US" altLang="zh-CN" sz="2400" dirty="0" err="1" smtClean="0">
                <a:ea typeface="华文楷体" panose="02010600040101010101" pitchFamily="2" charset="-122"/>
              </a:rPr>
              <a:t>int</a:t>
            </a:r>
            <a:r>
              <a:rPr kumimoji="1" lang="en-US" altLang="zh-CN" sz="2400" dirty="0" smtClean="0">
                <a:ea typeface="华文楷体" panose="02010600040101010101" pitchFamily="2" charset="-122"/>
              </a:rPr>
              <a:t> n )</a:t>
            </a:r>
          </a:p>
          <a:p>
            <a:pPr marL="0" indent="0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 smtClean="0">
                <a:ea typeface="华文楷体" panose="02010600040101010101" pitchFamily="2" charset="-122"/>
              </a:rPr>
              <a:t> {   </a:t>
            </a:r>
            <a:r>
              <a:rPr kumimoji="1" lang="en-US" altLang="zh-CN" sz="2400" dirty="0" err="1" smtClean="0">
                <a:ea typeface="华文楷体" panose="02010600040101010101" pitchFamily="2" charset="-122"/>
              </a:rPr>
              <a:t>QSort</a:t>
            </a:r>
            <a:r>
              <a:rPr kumimoji="1" lang="en-US" altLang="zh-CN" sz="2400" dirty="0" smtClean="0">
                <a:ea typeface="华文楷体" panose="02010600040101010101" pitchFamily="2" charset="-122"/>
              </a:rPr>
              <a:t> ( a, 1, n); }  // </a:t>
            </a:r>
            <a:r>
              <a:rPr kumimoji="1" lang="en-US" altLang="zh-CN" sz="2400" dirty="0" err="1" smtClean="0">
                <a:ea typeface="华文楷体" panose="02010600040101010101" pitchFamily="2" charset="-122"/>
              </a:rPr>
              <a:t>QuickSort</a:t>
            </a:r>
            <a:endParaRPr kumimoji="1" lang="en-US" altLang="zh-CN" sz="2400" dirty="0" smtClean="0">
              <a:ea typeface="华文楷体" panose="02010600040101010101" pitchFamily="2" charset="-122"/>
            </a:endParaRPr>
          </a:p>
          <a:p>
            <a:pPr marL="0" indent="0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 smtClean="0">
                <a:ea typeface="华文楷体" panose="02010600040101010101" pitchFamily="2" charset="-122"/>
              </a:rPr>
              <a:t>     // </a:t>
            </a:r>
            <a:r>
              <a:rPr kumimoji="1" lang="zh-CN" altLang="zh-CN" sz="2400" dirty="0" smtClean="0">
                <a:ea typeface="华文楷体" panose="02010600040101010101" pitchFamily="2" charset="-122"/>
              </a:rPr>
              <a:t>对顺序表 </a:t>
            </a:r>
            <a:r>
              <a:rPr kumimoji="1" lang="en-US" altLang="zh-CN" sz="2400" dirty="0" smtClean="0">
                <a:ea typeface="华文楷体" panose="02010600040101010101" pitchFamily="2" charset="-122"/>
              </a:rPr>
              <a:t>a[1..n]</a:t>
            </a:r>
            <a:r>
              <a:rPr kumimoji="1" lang="zh-CN" altLang="zh-CN" sz="2400" dirty="0" smtClean="0">
                <a:ea typeface="华文楷体" panose="02010600040101010101" pitchFamily="2" charset="-122"/>
              </a:rPr>
              <a:t>进行快速排序</a:t>
            </a:r>
            <a:endParaRPr kumimoji="1" lang="zh-CN" altLang="en-US" sz="2400" dirty="0" smtClean="0">
              <a:ea typeface="华文楷体" panose="02010600040101010101" pitchFamily="2" charset="-122"/>
            </a:endParaRPr>
          </a:p>
        </p:txBody>
      </p:sp>
      <p:sp>
        <p:nvSpPr>
          <p:cNvPr id="27654" name="Text Box 5"/>
          <p:cNvSpPr txBox="1">
            <a:spLocks noChangeArrowheads="1"/>
          </p:cNvSpPr>
          <p:nvPr/>
        </p:nvSpPr>
        <p:spPr bwMode="auto">
          <a:xfrm>
            <a:off x="533400" y="2895600"/>
            <a:ext cx="8153400" cy="3752850"/>
          </a:xfrm>
          <a:prstGeom prst="rect">
            <a:avLst/>
          </a:prstGeom>
          <a:solidFill>
            <a:srgbClr val="CCFFCC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v</a:t>
            </a:r>
            <a:r>
              <a:rPr kumimoji="1"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oid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QSort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( </a:t>
            </a:r>
            <a:r>
              <a:rPr kumimoji="1" lang="en-US" altLang="zh-CN" sz="24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ElemType</a:t>
            </a:r>
            <a:r>
              <a:rPr kumimoji="1"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a[]</a:t>
            </a:r>
            <a:r>
              <a:rPr kumimoji="1"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，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1"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left, 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</a:t>
            </a:r>
            <a:r>
              <a:rPr kumimoji="1"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right 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) </a:t>
            </a:r>
          </a:p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{  if  ( </a:t>
            </a:r>
            <a:r>
              <a:rPr kumimoji="1"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left 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&lt; </a:t>
            </a:r>
            <a:r>
              <a:rPr kumimoji="1"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right 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) </a:t>
            </a:r>
          </a:p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{ 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pivotloc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= </a:t>
            </a:r>
            <a:r>
              <a:rPr kumimoji="1"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Partition(a, left, right 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) ;</a:t>
            </a:r>
          </a:p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Qsort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1"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(a, left, 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pivotloc-1) ; </a:t>
            </a:r>
          </a:p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Qsort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1"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(a, 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pivotloc+1, </a:t>
            </a:r>
            <a:r>
              <a:rPr kumimoji="1"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right); 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}</a:t>
            </a:r>
          </a:p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}  //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QSort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286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286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1408" y="1039835"/>
            <a:ext cx="8229600" cy="5770811"/>
          </a:xfrm>
          <a:solidFill>
            <a:srgbClr val="CCFFCC"/>
          </a:solidFill>
          <a:ln cap="flat" algn="ctr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indent="0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8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[</a:t>
            </a:r>
            <a:r>
              <a:rPr kumimoji="1" lang="zh-CN" altLang="en-US" sz="18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一趟划分</a:t>
            </a:r>
            <a:r>
              <a:rPr kumimoji="1" lang="en-US" altLang="zh-CN" sz="18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]</a:t>
            </a:r>
          </a:p>
          <a:p>
            <a:pPr marL="0" indent="0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800" dirty="0" err="1" smtClean="0">
                <a:ea typeface="华文楷体" panose="02010600040101010101" pitchFamily="2" charset="-122"/>
              </a:rPr>
              <a:t>int</a:t>
            </a:r>
            <a:r>
              <a:rPr kumimoji="1" lang="en-US" altLang="zh-CN" sz="1800" dirty="0" smtClean="0">
                <a:ea typeface="华文楷体" panose="02010600040101010101" pitchFamily="2" charset="-122"/>
              </a:rPr>
              <a:t> Partition (</a:t>
            </a:r>
            <a:r>
              <a:rPr kumimoji="1" lang="en-US" altLang="zh-CN" sz="1800" dirty="0" err="1" smtClean="0">
                <a:ea typeface="华文楷体" panose="02010600040101010101" pitchFamily="2" charset="-122"/>
              </a:rPr>
              <a:t>ElemType</a:t>
            </a:r>
            <a:r>
              <a:rPr kumimoji="1" lang="en-US" altLang="zh-CN" sz="1800" dirty="0" smtClean="0">
                <a:ea typeface="华文楷体" panose="02010600040101010101" pitchFamily="2" charset="-122"/>
              </a:rPr>
              <a:t> a[], </a:t>
            </a:r>
            <a:r>
              <a:rPr kumimoji="1" lang="en-US" altLang="zh-CN" sz="1800" dirty="0" err="1" smtClean="0">
                <a:ea typeface="华文楷体" panose="02010600040101010101" pitchFamily="2" charset="-122"/>
              </a:rPr>
              <a:t>int</a:t>
            </a:r>
            <a:r>
              <a:rPr kumimoji="1" lang="en-US" altLang="zh-CN" sz="1800" dirty="0" smtClean="0">
                <a:ea typeface="华文楷体" panose="02010600040101010101" pitchFamily="2" charset="-122"/>
              </a:rPr>
              <a:t> left, </a:t>
            </a:r>
            <a:r>
              <a:rPr kumimoji="1" lang="en-US" altLang="zh-CN" sz="1800" dirty="0" err="1" smtClean="0">
                <a:ea typeface="华文楷体" panose="02010600040101010101" pitchFamily="2" charset="-122"/>
              </a:rPr>
              <a:t>int</a:t>
            </a:r>
            <a:r>
              <a:rPr kumimoji="1" lang="en-US" altLang="zh-CN" sz="1800" dirty="0" smtClean="0">
                <a:ea typeface="华文楷体" panose="02010600040101010101" pitchFamily="2" charset="-122"/>
              </a:rPr>
              <a:t>  right ) //</a:t>
            </a:r>
            <a:r>
              <a:rPr kumimoji="1" lang="zh-CN" altLang="en-US" sz="1800" dirty="0" smtClean="0">
                <a:ea typeface="华文楷体" panose="02010600040101010101" pitchFamily="2" charset="-122"/>
              </a:rPr>
              <a:t>返回枢纽记录的下标</a:t>
            </a:r>
            <a:endParaRPr kumimoji="1" lang="en-US" altLang="zh-CN" sz="1800" dirty="0" smtClean="0">
              <a:ea typeface="华文楷体" panose="02010600040101010101" pitchFamily="2" charset="-122"/>
            </a:endParaRPr>
          </a:p>
          <a:p>
            <a:pPr marL="0" indent="0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800" dirty="0" smtClean="0">
                <a:ea typeface="华文楷体" panose="02010600040101010101" pitchFamily="2" charset="-122"/>
              </a:rPr>
              <a:t>{ </a:t>
            </a:r>
          </a:p>
          <a:p>
            <a:pPr marL="0" indent="0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800" dirty="0">
                <a:ea typeface="华文楷体" panose="02010600040101010101" pitchFamily="2" charset="-122"/>
              </a:rPr>
              <a:t> </a:t>
            </a:r>
            <a:r>
              <a:rPr kumimoji="1" lang="en-US" altLang="zh-CN" sz="1800" dirty="0" smtClean="0">
                <a:ea typeface="华文楷体" panose="02010600040101010101" pitchFamily="2" charset="-122"/>
              </a:rPr>
              <a:t>   </a:t>
            </a:r>
            <a:r>
              <a:rPr kumimoji="1" lang="en-US" altLang="zh-CN" sz="1800" dirty="0" err="1" smtClean="0">
                <a:ea typeface="华文楷体" panose="02010600040101010101" pitchFamily="2" charset="-122"/>
              </a:rPr>
              <a:t>Elemtype</a:t>
            </a:r>
            <a:r>
              <a:rPr kumimoji="1" lang="en-US" altLang="zh-CN" sz="1800" dirty="0" smtClean="0">
                <a:ea typeface="华文楷体" panose="02010600040101010101" pitchFamily="2" charset="-122"/>
              </a:rPr>
              <a:t> </a:t>
            </a:r>
            <a:r>
              <a:rPr kumimoji="1" lang="en-US" altLang="zh-CN" sz="1800" dirty="0" err="1" smtClean="0">
                <a:ea typeface="华文楷体" panose="02010600040101010101" pitchFamily="2" charset="-122"/>
              </a:rPr>
              <a:t>tmp</a:t>
            </a:r>
            <a:r>
              <a:rPr kumimoji="1" lang="en-US" altLang="zh-CN" sz="1800" dirty="0" smtClean="0">
                <a:ea typeface="华文楷体" panose="02010600040101010101" pitchFamily="2" charset="-122"/>
              </a:rPr>
              <a:t> = a[left]; </a:t>
            </a:r>
            <a:r>
              <a:rPr kumimoji="1" lang="en-US" altLang="zh-CN" sz="1800" dirty="0" err="1" smtClean="0">
                <a:ea typeface="华文楷体" panose="02010600040101010101" pitchFamily="2" charset="-122"/>
              </a:rPr>
              <a:t>pivotkey</a:t>
            </a:r>
            <a:r>
              <a:rPr kumimoji="1" lang="en-US" altLang="zh-CN" sz="1800" dirty="0" smtClean="0">
                <a:ea typeface="华文楷体" panose="02010600040101010101" pitchFamily="2" charset="-122"/>
              </a:rPr>
              <a:t> = a[left].key;</a:t>
            </a:r>
          </a:p>
          <a:p>
            <a:pPr marL="0" indent="0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800" dirty="0" smtClean="0">
                <a:ea typeface="华文楷体" panose="02010600040101010101" pitchFamily="2" charset="-122"/>
              </a:rPr>
              <a:t>    while  ( left &lt; right ) </a:t>
            </a:r>
          </a:p>
          <a:p>
            <a:pPr marL="0" indent="0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800" dirty="0" smtClean="0">
                <a:ea typeface="华文楷体" panose="02010600040101010101" pitchFamily="2" charset="-122"/>
              </a:rPr>
              <a:t>    { </a:t>
            </a:r>
          </a:p>
          <a:p>
            <a:pPr marL="0" indent="0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800" dirty="0">
                <a:ea typeface="华文楷体" panose="02010600040101010101" pitchFamily="2" charset="-122"/>
              </a:rPr>
              <a:t> </a:t>
            </a:r>
            <a:r>
              <a:rPr kumimoji="1" lang="en-US" altLang="zh-CN" sz="1800" dirty="0" smtClean="0">
                <a:ea typeface="华文楷体" panose="02010600040101010101" pitchFamily="2" charset="-122"/>
              </a:rPr>
              <a:t>         while ( left &lt; right &amp;&amp; a[right].key &gt; </a:t>
            </a:r>
            <a:r>
              <a:rPr kumimoji="1" lang="en-US" altLang="zh-CN" sz="1800" dirty="0" err="1" smtClean="0">
                <a:ea typeface="华文楷体" panose="02010600040101010101" pitchFamily="2" charset="-122"/>
              </a:rPr>
              <a:t>pivotkey</a:t>
            </a:r>
            <a:r>
              <a:rPr kumimoji="1" lang="en-US" altLang="zh-CN" sz="1800" dirty="0" smtClean="0">
                <a:ea typeface="华文楷体" panose="02010600040101010101" pitchFamily="2" charset="-122"/>
              </a:rPr>
              <a:t> )  --right;</a:t>
            </a:r>
          </a:p>
          <a:p>
            <a:pPr marL="0" indent="0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800" dirty="0" smtClean="0">
                <a:ea typeface="华文楷体" panose="02010600040101010101" pitchFamily="2" charset="-122"/>
              </a:rPr>
              <a:t>          a[left] = a[right];</a:t>
            </a:r>
          </a:p>
          <a:p>
            <a:pPr marL="0" indent="0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800" dirty="0" smtClean="0">
                <a:ea typeface="华文楷体" panose="02010600040101010101" pitchFamily="2" charset="-122"/>
              </a:rPr>
              <a:t>          while ( left &lt; right &amp;&amp; a[low].key &lt; </a:t>
            </a:r>
            <a:r>
              <a:rPr kumimoji="1" lang="en-US" altLang="zh-CN" sz="1800" dirty="0" err="1" smtClean="0">
                <a:ea typeface="华文楷体" panose="02010600040101010101" pitchFamily="2" charset="-122"/>
              </a:rPr>
              <a:t>pivotkey</a:t>
            </a:r>
            <a:r>
              <a:rPr kumimoji="1" lang="en-US" altLang="zh-CN" sz="1800" dirty="0" smtClean="0">
                <a:ea typeface="华文楷体" panose="02010600040101010101" pitchFamily="2" charset="-122"/>
              </a:rPr>
              <a:t> )  ++left;</a:t>
            </a:r>
          </a:p>
          <a:p>
            <a:pPr marL="0" indent="0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800" dirty="0" smtClean="0">
                <a:ea typeface="华文楷体" panose="02010600040101010101" pitchFamily="2" charset="-122"/>
              </a:rPr>
              <a:t>          a[right] = a[left];</a:t>
            </a:r>
          </a:p>
          <a:p>
            <a:pPr marL="0" indent="0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800" dirty="0" smtClean="0">
                <a:ea typeface="华文楷体" panose="02010600040101010101" pitchFamily="2" charset="-122"/>
              </a:rPr>
              <a:t>     }</a:t>
            </a:r>
          </a:p>
          <a:p>
            <a:pPr marL="0" indent="0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800" dirty="0" smtClean="0">
                <a:ea typeface="华文楷体" panose="02010600040101010101" pitchFamily="2" charset="-122"/>
              </a:rPr>
              <a:t>     a[left</a:t>
            </a:r>
            <a:r>
              <a:rPr kumimoji="1" lang="en-US" altLang="zh-CN" sz="1800" dirty="0">
                <a:ea typeface="华文楷体" panose="02010600040101010101" pitchFamily="2" charset="-122"/>
              </a:rPr>
              <a:t>]= </a:t>
            </a:r>
            <a:r>
              <a:rPr kumimoji="1" lang="en-US" altLang="zh-CN" sz="1800" dirty="0" err="1" smtClean="0">
                <a:ea typeface="华文楷体" panose="02010600040101010101" pitchFamily="2" charset="-122"/>
              </a:rPr>
              <a:t>tmp</a:t>
            </a:r>
            <a:r>
              <a:rPr kumimoji="1" lang="en-US" altLang="zh-CN" sz="1800" dirty="0" smtClean="0">
                <a:ea typeface="华文楷体" panose="02010600040101010101" pitchFamily="2" charset="-122"/>
              </a:rPr>
              <a:t>; </a:t>
            </a:r>
          </a:p>
          <a:p>
            <a:pPr marL="0" indent="0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800" dirty="0">
                <a:ea typeface="华文楷体" panose="02010600040101010101" pitchFamily="2" charset="-122"/>
              </a:rPr>
              <a:t> </a:t>
            </a:r>
            <a:r>
              <a:rPr kumimoji="1" lang="en-US" altLang="zh-CN" sz="1800" dirty="0" smtClean="0">
                <a:ea typeface="华文楷体" panose="02010600040101010101" pitchFamily="2" charset="-122"/>
              </a:rPr>
              <a:t>   return left;</a:t>
            </a:r>
          </a:p>
          <a:p>
            <a:pPr marL="0" indent="0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800" dirty="0" smtClean="0">
                <a:ea typeface="华文楷体" panose="02010600040101010101" pitchFamily="2" charset="-122"/>
              </a:rPr>
              <a:t>}  // Partition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30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2970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性能分析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最坏情况</a:t>
            </a:r>
            <a:r>
              <a:rPr lang="en-US" altLang="zh-CN" sz="2400" dirty="0" smtClean="0">
                <a:ea typeface="华文楷体" panose="02010600040101010101" pitchFamily="2" charset="-122"/>
              </a:rPr>
              <a:t>(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原始数据正</a:t>
            </a:r>
            <a:r>
              <a:rPr lang="en-US" altLang="zh-CN" sz="2400" dirty="0" smtClean="0">
                <a:ea typeface="华文楷体" panose="02010600040101010101" pitchFamily="2" charset="-122"/>
              </a:rPr>
              <a:t>/</a:t>
            </a:r>
            <a:r>
              <a:rPr lang="zh-CN" altLang="en-US" sz="2400" dirty="0" smtClean="0">
                <a:ea typeface="华文楷体" panose="02010600040101010101" pitchFamily="2" charset="-122"/>
              </a:rPr>
              <a:t>逆序排列</a:t>
            </a:r>
            <a:r>
              <a:rPr lang="en-US" altLang="zh-CN" sz="2400" dirty="0" smtClean="0">
                <a:ea typeface="华文楷体" panose="02010600040101010101" pitchFamily="2" charset="-122"/>
              </a:rPr>
              <a:t>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C</a:t>
            </a:r>
            <a:r>
              <a:rPr lang="en-US" altLang="zh-CN" sz="2400" baseline="-25000" dirty="0" err="1" smtClean="0">
                <a:ea typeface="华文楷体" panose="02010600040101010101" pitchFamily="2" charset="-122"/>
              </a:rPr>
              <a:t>max</a:t>
            </a:r>
            <a:r>
              <a:rPr lang="en-US" altLang="zh-CN" sz="2400" dirty="0" smtClean="0">
                <a:ea typeface="华文楷体" panose="02010600040101010101" pitchFamily="2" charset="-122"/>
              </a:rPr>
              <a:t>=n(n-1)/2       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M</a:t>
            </a:r>
            <a:r>
              <a:rPr lang="en-US" altLang="zh-CN" sz="2400" baseline="-25000" dirty="0" err="1" smtClean="0">
                <a:ea typeface="华文楷体" panose="02010600040101010101" pitchFamily="2" charset="-122"/>
              </a:rPr>
              <a:t>max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 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 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C</a:t>
            </a:r>
            <a:r>
              <a:rPr lang="en-US" altLang="zh-CN" sz="2400" baseline="-25000" dirty="0" err="1" smtClean="0">
                <a:ea typeface="华文楷体" panose="02010600040101010101" pitchFamily="2" charset="-122"/>
              </a:rPr>
              <a:t>max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          </a:t>
            </a:r>
            <a:r>
              <a:rPr lang="en-US" altLang="zh-CN" sz="2400" b="1" dirty="0" smtClean="0">
                <a:ea typeface="华文楷体" panose="02010600040101010101" pitchFamily="2" charset="-122"/>
                <a:sym typeface="Symbol" panose="05050102010706020507" pitchFamily="18" charset="2"/>
              </a:rPr>
              <a:t>O(n</a:t>
            </a:r>
            <a:r>
              <a:rPr lang="en-US" altLang="zh-CN" sz="2400" b="1" baseline="30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400" b="1" dirty="0" smtClean="0">
                <a:ea typeface="华文楷体" panose="02010600040101010101" pitchFamily="2" charset="-122"/>
                <a:sym typeface="Symbol" panose="05050102010706020507" pitchFamily="18" charset="2"/>
              </a:rPr>
              <a:t>)</a:t>
            </a:r>
            <a:endParaRPr lang="en-US" altLang="zh-CN" sz="2400" dirty="0" smtClean="0">
              <a:solidFill>
                <a:schemeClr val="accent1"/>
              </a:solidFill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最好情况：每次划分的结果是基准的左、右两个无序子区间的长度大致相等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C</a:t>
            </a:r>
            <a:r>
              <a:rPr lang="en-US" altLang="zh-CN" sz="2400" baseline="-25000" dirty="0" err="1" smtClean="0">
                <a:ea typeface="华文楷体" panose="02010600040101010101" pitchFamily="2" charset="-122"/>
              </a:rPr>
              <a:t>min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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O(nlog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2</a:t>
            </a:r>
            <a:r>
              <a:rPr lang="en-US" altLang="zh-CN" sz="2400" dirty="0" smtClean="0">
                <a:ea typeface="华文楷体" panose="02010600040101010101" pitchFamily="2" charset="-122"/>
              </a:rPr>
              <a:t>n)       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M</a:t>
            </a:r>
            <a:r>
              <a:rPr lang="en-US" altLang="zh-CN" sz="2400" baseline="-25000" dirty="0" err="1" smtClean="0">
                <a:ea typeface="华文楷体" panose="02010600040101010101" pitchFamily="2" charset="-122"/>
              </a:rPr>
              <a:t>min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 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 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C</a:t>
            </a:r>
            <a:r>
              <a:rPr lang="en-US" altLang="zh-CN" sz="2400" baseline="-25000" dirty="0" err="1" smtClean="0">
                <a:ea typeface="华文楷体" panose="02010600040101010101" pitchFamily="2" charset="-122"/>
              </a:rPr>
              <a:t>min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          </a:t>
            </a:r>
            <a:r>
              <a:rPr lang="en-US" altLang="zh-CN" sz="2400" b="1" dirty="0" smtClean="0">
                <a:ea typeface="华文楷体" panose="02010600040101010101" pitchFamily="2" charset="-122"/>
                <a:sym typeface="Symbol" panose="05050102010706020507" pitchFamily="18" charset="2"/>
              </a:rPr>
              <a:t>O(nlog</a:t>
            </a:r>
            <a:r>
              <a:rPr lang="en-US" altLang="zh-CN" sz="2400" b="1" baseline="-25000" dirty="0" smtClean="0">
                <a:ea typeface="华文楷体" panose="02010600040101010101" pitchFamily="2" charset="-122"/>
              </a:rPr>
              <a:t>2</a:t>
            </a:r>
            <a:r>
              <a:rPr lang="en-US" altLang="zh-CN" sz="2400" b="1" dirty="0" smtClean="0">
                <a:ea typeface="华文楷体" panose="02010600040101010101" pitchFamily="2" charset="-122"/>
                <a:sym typeface="Symbol" panose="05050102010706020507" pitchFamily="18" charset="2"/>
              </a:rPr>
              <a:t>n)</a:t>
            </a:r>
            <a:endParaRPr lang="en-US" altLang="zh-CN" sz="2400" b="1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平均时间性能     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T</a:t>
            </a:r>
            <a:r>
              <a:rPr lang="en-US" altLang="zh-CN" sz="2400" baseline="-25000" dirty="0" err="1" smtClean="0">
                <a:ea typeface="华文楷体" panose="02010600040101010101" pitchFamily="2" charset="-122"/>
              </a:rPr>
              <a:t>avg</a:t>
            </a:r>
            <a:r>
              <a:rPr lang="en-US" altLang="zh-CN" sz="2400" dirty="0" smtClean="0">
                <a:ea typeface="华文楷体" panose="02010600040101010101" pitchFamily="2" charset="-122"/>
              </a:rPr>
              <a:t>(n)=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kn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</a:t>
            </a:r>
            <a:r>
              <a:rPr lang="en-US" altLang="zh-CN" sz="2400" dirty="0">
                <a:ea typeface="华文楷体" panose="02010600040101010101" pitchFamily="2" charset="-122"/>
              </a:rPr>
              <a:t>nlog</a:t>
            </a:r>
            <a:r>
              <a:rPr lang="en-US" altLang="zh-CN" sz="2400" baseline="-25000" dirty="0">
                <a:ea typeface="华文楷体" panose="02010600040101010101" pitchFamily="2" charset="-122"/>
              </a:rPr>
              <a:t>2</a:t>
            </a:r>
            <a:r>
              <a:rPr lang="en-US" altLang="zh-CN" sz="2400" dirty="0">
                <a:ea typeface="华文楷体" panose="02010600040101010101" pitchFamily="2" charset="-122"/>
              </a:rPr>
              <a:t>n</a:t>
            </a:r>
            <a:endParaRPr lang="en-US" altLang="zh-CN" sz="24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k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：某个常数；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n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：待排序序列中记录个数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        就平均时间而言，快速排序是目前被认为最好的一种内部排序方法。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4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辅助空间复杂度   最好情况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O(log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2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n)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               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最坏情况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O(n)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 b="1" dirty="0" smtClean="0">
              <a:solidFill>
                <a:srgbClr val="CC6600"/>
              </a:solidFill>
              <a:ea typeface="华文楷体" panose="02010600040101010101" pitchFamily="2" charset="-122"/>
            </a:endParaRPr>
          </a:p>
        </p:txBody>
      </p:sp>
      <p:sp>
        <p:nvSpPr>
          <p:cNvPr id="29702" name="Line 4"/>
          <p:cNvSpPr>
            <a:spLocks noChangeShapeType="1"/>
          </p:cNvSpPr>
          <p:nvPr/>
        </p:nvSpPr>
        <p:spPr bwMode="auto">
          <a:xfrm>
            <a:off x="6096000" y="4572000"/>
            <a:ext cx="25146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9703" name="Line 5"/>
          <p:cNvSpPr>
            <a:spLocks noChangeShapeType="1"/>
          </p:cNvSpPr>
          <p:nvPr/>
        </p:nvSpPr>
        <p:spPr bwMode="auto">
          <a:xfrm>
            <a:off x="6096000" y="4876800"/>
            <a:ext cx="9906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9704" name="Oval 6"/>
          <p:cNvSpPr>
            <a:spLocks noChangeArrowheads="1"/>
          </p:cNvSpPr>
          <p:nvPr/>
        </p:nvSpPr>
        <p:spPr bwMode="auto">
          <a:xfrm>
            <a:off x="7239000" y="4800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9705" name="Line 7"/>
          <p:cNvSpPr>
            <a:spLocks noChangeShapeType="1"/>
          </p:cNvSpPr>
          <p:nvPr/>
        </p:nvSpPr>
        <p:spPr bwMode="auto">
          <a:xfrm>
            <a:off x="7543800" y="4876800"/>
            <a:ext cx="10668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9706" name="Oval 8"/>
          <p:cNvSpPr>
            <a:spLocks noChangeArrowheads="1"/>
          </p:cNvSpPr>
          <p:nvPr/>
        </p:nvSpPr>
        <p:spPr bwMode="auto">
          <a:xfrm>
            <a:off x="7162800" y="5029200"/>
            <a:ext cx="304800" cy="3048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9707" name="Text Box 9"/>
          <p:cNvSpPr txBox="1">
            <a:spLocks noChangeArrowheads="1"/>
          </p:cNvSpPr>
          <p:nvPr/>
        </p:nvSpPr>
        <p:spPr bwMode="auto">
          <a:xfrm>
            <a:off x="7162800" y="5029200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9708" name="Line 10"/>
          <p:cNvSpPr>
            <a:spLocks noChangeShapeType="1"/>
          </p:cNvSpPr>
          <p:nvPr/>
        </p:nvSpPr>
        <p:spPr bwMode="auto">
          <a:xfrm flipH="1">
            <a:off x="6858000" y="5257800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9709" name="Line 11"/>
          <p:cNvSpPr>
            <a:spLocks noChangeShapeType="1"/>
          </p:cNvSpPr>
          <p:nvPr/>
        </p:nvSpPr>
        <p:spPr bwMode="auto">
          <a:xfrm>
            <a:off x="7467600" y="51816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9710" name="Oval 12"/>
          <p:cNvSpPr>
            <a:spLocks noChangeArrowheads="1"/>
          </p:cNvSpPr>
          <p:nvPr/>
        </p:nvSpPr>
        <p:spPr bwMode="auto">
          <a:xfrm>
            <a:off x="6324600" y="5486400"/>
            <a:ext cx="609600" cy="3810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9711" name="Text Box 13"/>
          <p:cNvSpPr txBox="1">
            <a:spLocks noChangeArrowheads="1"/>
          </p:cNvSpPr>
          <p:nvPr/>
        </p:nvSpPr>
        <p:spPr bwMode="auto">
          <a:xfrm>
            <a:off x="6400800" y="5486400"/>
            <a:ext cx="838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n/2</a:t>
            </a:r>
            <a:endParaRPr kumimoji="1" lang="en-US" altLang="zh-CN" sz="2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9712" name="Oval 14"/>
          <p:cNvSpPr>
            <a:spLocks noChangeArrowheads="1"/>
          </p:cNvSpPr>
          <p:nvPr/>
        </p:nvSpPr>
        <p:spPr bwMode="auto">
          <a:xfrm>
            <a:off x="7620000" y="5486400"/>
            <a:ext cx="609600" cy="3810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9713" name="Text Box 15"/>
          <p:cNvSpPr txBox="1">
            <a:spLocks noChangeArrowheads="1"/>
          </p:cNvSpPr>
          <p:nvPr/>
        </p:nvSpPr>
        <p:spPr bwMode="auto">
          <a:xfrm>
            <a:off x="7620000" y="5486400"/>
            <a:ext cx="838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n/2</a:t>
            </a:r>
            <a:endParaRPr kumimoji="1" lang="en-US" altLang="zh-CN" sz="2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9714" name="Line 16"/>
          <p:cNvSpPr>
            <a:spLocks noChangeShapeType="1"/>
          </p:cNvSpPr>
          <p:nvPr/>
        </p:nvSpPr>
        <p:spPr bwMode="auto">
          <a:xfrm flipH="1">
            <a:off x="6248400" y="5867400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9715" name="Line 17"/>
          <p:cNvSpPr>
            <a:spLocks noChangeShapeType="1"/>
          </p:cNvSpPr>
          <p:nvPr/>
        </p:nvSpPr>
        <p:spPr bwMode="auto">
          <a:xfrm>
            <a:off x="6705600" y="58674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9716" name="Line 18"/>
          <p:cNvSpPr>
            <a:spLocks noChangeShapeType="1"/>
          </p:cNvSpPr>
          <p:nvPr/>
        </p:nvSpPr>
        <p:spPr bwMode="auto">
          <a:xfrm flipH="1">
            <a:off x="7696200" y="58674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9717" name="Line 19"/>
          <p:cNvSpPr>
            <a:spLocks noChangeShapeType="1"/>
          </p:cNvSpPr>
          <p:nvPr/>
        </p:nvSpPr>
        <p:spPr bwMode="auto">
          <a:xfrm>
            <a:off x="8077200" y="58674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9718" name="Text Box 20"/>
          <p:cNvSpPr txBox="1">
            <a:spLocks noChangeArrowheads="1"/>
          </p:cNvSpPr>
          <p:nvPr/>
        </p:nvSpPr>
        <p:spPr bwMode="auto">
          <a:xfrm>
            <a:off x="8686800" y="4343400"/>
            <a:ext cx="45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b="1" dirty="0" smtClean="0">
                <a:solidFill>
                  <a:schemeClr val="accent1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endParaRPr kumimoji="1" lang="en-US" altLang="zh-CN" sz="2000" dirty="0">
              <a:solidFill>
                <a:schemeClr val="accent1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9719" name="Text Box 21"/>
          <p:cNvSpPr txBox="1">
            <a:spLocks noChangeArrowheads="1"/>
          </p:cNvSpPr>
          <p:nvPr/>
        </p:nvSpPr>
        <p:spPr bwMode="auto">
          <a:xfrm>
            <a:off x="6057900" y="5937235"/>
            <a:ext cx="2514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……        ……</a:t>
            </a:r>
          </a:p>
        </p:txBody>
      </p:sp>
      <p:sp>
        <p:nvSpPr>
          <p:cNvPr id="29720" name="Oval 22"/>
          <p:cNvSpPr>
            <a:spLocks noChangeArrowheads="1"/>
          </p:cNvSpPr>
          <p:nvPr/>
        </p:nvSpPr>
        <p:spPr bwMode="auto">
          <a:xfrm>
            <a:off x="7124700" y="6303947"/>
            <a:ext cx="381000" cy="3810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9721" name="Text Box 23"/>
          <p:cNvSpPr txBox="1">
            <a:spLocks noChangeArrowheads="1"/>
          </p:cNvSpPr>
          <p:nvPr/>
        </p:nvSpPr>
        <p:spPr bwMode="auto">
          <a:xfrm>
            <a:off x="7124700" y="6303947"/>
            <a:ext cx="68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</a:p>
        </p:txBody>
      </p:sp>
      <p:sp>
        <p:nvSpPr>
          <p:cNvPr id="29722" name="Oval 24"/>
          <p:cNvSpPr>
            <a:spLocks noChangeArrowheads="1"/>
          </p:cNvSpPr>
          <p:nvPr/>
        </p:nvSpPr>
        <p:spPr bwMode="auto">
          <a:xfrm>
            <a:off x="5829300" y="6303947"/>
            <a:ext cx="381000" cy="3810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9723" name="Text Box 25"/>
          <p:cNvSpPr txBox="1">
            <a:spLocks noChangeArrowheads="1"/>
          </p:cNvSpPr>
          <p:nvPr/>
        </p:nvSpPr>
        <p:spPr bwMode="auto">
          <a:xfrm>
            <a:off x="5829300" y="6303947"/>
            <a:ext cx="68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</a:p>
        </p:txBody>
      </p:sp>
      <p:sp>
        <p:nvSpPr>
          <p:cNvPr id="29724" name="Oval 26"/>
          <p:cNvSpPr>
            <a:spLocks noChangeArrowheads="1"/>
          </p:cNvSpPr>
          <p:nvPr/>
        </p:nvSpPr>
        <p:spPr bwMode="auto">
          <a:xfrm>
            <a:off x="8420100" y="6303947"/>
            <a:ext cx="381000" cy="3810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9725" name="Text Box 27"/>
          <p:cNvSpPr txBox="1">
            <a:spLocks noChangeArrowheads="1"/>
          </p:cNvSpPr>
          <p:nvPr/>
        </p:nvSpPr>
        <p:spPr bwMode="auto">
          <a:xfrm>
            <a:off x="8448952" y="6316662"/>
            <a:ext cx="68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</a:p>
        </p:txBody>
      </p:sp>
      <p:sp>
        <p:nvSpPr>
          <p:cNvPr id="32797" name="Text Box 29"/>
          <p:cNvSpPr txBox="1">
            <a:spLocks noChangeArrowheads="1"/>
          </p:cNvSpPr>
          <p:nvPr/>
        </p:nvSpPr>
        <p:spPr bwMode="auto">
          <a:xfrm>
            <a:off x="26193" y="6247607"/>
            <a:ext cx="580310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快速排序的最大递归深度是多少？最小递归深度是多少？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2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9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491" y="1181835"/>
            <a:ext cx="8915400" cy="4688581"/>
          </a:xfrm>
          <a:ln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altLang="zh-CN" sz="17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17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快速排序的非递归算法</a:t>
            </a:r>
            <a:r>
              <a:rPr lang="en-US" altLang="zh-CN" sz="17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]</a:t>
            </a:r>
          </a:p>
          <a:p>
            <a:pPr marL="0" indent="0">
              <a:buNone/>
            </a:pPr>
            <a:r>
              <a:rPr lang="en-US" altLang="zh-CN" sz="1700" dirty="0" smtClean="0">
                <a:ea typeface="华文楷体" panose="02010600040101010101" pitchFamily="2" charset="-122"/>
              </a:rPr>
              <a:t>#define push2(A,B) push(A); push(B);</a:t>
            </a:r>
          </a:p>
          <a:p>
            <a:pPr marL="0" indent="0">
              <a:buNone/>
            </a:pPr>
            <a:r>
              <a:rPr lang="en-US" altLang="zh-CN" sz="1700" dirty="0" smtClean="0">
                <a:ea typeface="华文楷体" panose="02010600040101010101" pitchFamily="2" charset="-122"/>
              </a:rPr>
              <a:t>void </a:t>
            </a:r>
            <a:r>
              <a:rPr kumimoji="1" lang="en-US" altLang="zh-CN" sz="1700" dirty="0" err="1">
                <a:ea typeface="华文楷体" panose="02010600040101010101" pitchFamily="2" charset="-122"/>
              </a:rPr>
              <a:t>QSort</a:t>
            </a:r>
            <a:r>
              <a:rPr kumimoji="1" lang="en-US" altLang="zh-CN" sz="1700" dirty="0">
                <a:ea typeface="华文楷体" panose="02010600040101010101" pitchFamily="2" charset="-122"/>
              </a:rPr>
              <a:t> ( </a:t>
            </a:r>
            <a:r>
              <a:rPr kumimoji="1" lang="en-US" altLang="zh-CN" sz="1700" dirty="0" err="1">
                <a:ea typeface="华文楷体" panose="02010600040101010101" pitchFamily="2" charset="-122"/>
              </a:rPr>
              <a:t>ElemType</a:t>
            </a:r>
            <a:r>
              <a:rPr kumimoji="1" lang="en-US" altLang="zh-CN" sz="1700" dirty="0">
                <a:ea typeface="华文楷体" panose="02010600040101010101" pitchFamily="2" charset="-122"/>
              </a:rPr>
              <a:t> a[]</a:t>
            </a:r>
            <a:r>
              <a:rPr kumimoji="1" lang="zh-CN" altLang="en-US" sz="1700" dirty="0">
                <a:ea typeface="华文楷体" panose="02010600040101010101" pitchFamily="2" charset="-122"/>
              </a:rPr>
              <a:t>，</a:t>
            </a:r>
            <a:r>
              <a:rPr kumimoji="1" lang="en-US" altLang="zh-CN" sz="1700" dirty="0" err="1">
                <a:ea typeface="华文楷体" panose="02010600040101010101" pitchFamily="2" charset="-122"/>
              </a:rPr>
              <a:t>int</a:t>
            </a:r>
            <a:r>
              <a:rPr kumimoji="1" lang="en-US" altLang="zh-CN" sz="1700" dirty="0">
                <a:ea typeface="华文楷体" panose="02010600040101010101" pitchFamily="2" charset="-122"/>
              </a:rPr>
              <a:t> left,  </a:t>
            </a:r>
            <a:r>
              <a:rPr kumimoji="1" lang="en-US" altLang="zh-CN" sz="1700" dirty="0" err="1">
                <a:ea typeface="华文楷体" panose="02010600040101010101" pitchFamily="2" charset="-122"/>
              </a:rPr>
              <a:t>int</a:t>
            </a:r>
            <a:r>
              <a:rPr kumimoji="1" lang="en-US" altLang="zh-CN" sz="1700" dirty="0">
                <a:ea typeface="华文楷体" panose="02010600040101010101" pitchFamily="2" charset="-122"/>
              </a:rPr>
              <a:t>  right ) </a:t>
            </a:r>
            <a:endParaRPr kumimoji="1" lang="en-US" altLang="zh-CN" sz="1700" dirty="0" smtClean="0"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kumimoji="1" lang="en-US" altLang="zh-CN" sz="1700" dirty="0" smtClean="0">
                <a:ea typeface="华文楷体" panose="02010600040101010101" pitchFamily="2" charset="-122"/>
              </a:rPr>
              <a:t>{</a:t>
            </a:r>
          </a:p>
          <a:p>
            <a:pPr marL="0" indent="0">
              <a:buNone/>
            </a:pPr>
            <a:r>
              <a:rPr kumimoji="1" lang="en-US" altLang="zh-CN" sz="1700" dirty="0" smtClean="0">
                <a:ea typeface="华文楷体" panose="02010600040101010101" pitchFamily="2" charset="-122"/>
              </a:rPr>
              <a:t>    </a:t>
            </a:r>
            <a:r>
              <a:rPr kumimoji="1" lang="en-US" altLang="zh-CN" sz="1700" dirty="0" err="1" smtClean="0">
                <a:ea typeface="华文楷体" panose="02010600040101010101" pitchFamily="2" charset="-122"/>
              </a:rPr>
              <a:t>int</a:t>
            </a:r>
            <a:r>
              <a:rPr kumimoji="1" lang="en-US" altLang="zh-CN" sz="1700" dirty="0" smtClean="0">
                <a:ea typeface="华文楷体" panose="02010600040101010101" pitchFamily="2" charset="-122"/>
              </a:rPr>
              <a:t> </a:t>
            </a:r>
            <a:r>
              <a:rPr kumimoji="1" lang="en-US" altLang="zh-CN" sz="1700" dirty="0" err="1">
                <a:ea typeface="华文楷体" panose="02010600040101010101" pitchFamily="2" charset="-122"/>
              </a:rPr>
              <a:t>pivotloc</a:t>
            </a:r>
            <a:r>
              <a:rPr kumimoji="1" lang="en-US" altLang="zh-CN" sz="1700" dirty="0" smtClean="0">
                <a:ea typeface="华文楷体" panose="02010600040101010101" pitchFamily="2" charset="-122"/>
              </a:rPr>
              <a:t>;</a:t>
            </a:r>
          </a:p>
          <a:p>
            <a:pPr marL="0" indent="0">
              <a:buNone/>
            </a:pPr>
            <a:r>
              <a:rPr kumimoji="1" lang="en-US" altLang="zh-CN" sz="1700" dirty="0">
                <a:ea typeface="华文楷体" panose="02010600040101010101" pitchFamily="2" charset="-122"/>
              </a:rPr>
              <a:t> </a:t>
            </a:r>
            <a:r>
              <a:rPr kumimoji="1" lang="en-US" altLang="zh-CN" sz="1700" dirty="0" smtClean="0">
                <a:ea typeface="华文楷体" panose="02010600040101010101" pitchFamily="2" charset="-122"/>
              </a:rPr>
              <a:t>   </a:t>
            </a:r>
            <a:r>
              <a:rPr kumimoji="1" lang="en-US" altLang="zh-CN" sz="1700" dirty="0" err="1" smtClean="0">
                <a:ea typeface="华文楷体" panose="02010600040101010101" pitchFamily="2" charset="-122"/>
              </a:rPr>
              <a:t>stackinit</a:t>
            </a:r>
            <a:r>
              <a:rPr kumimoji="1" lang="en-US" altLang="zh-CN" sz="1700" dirty="0" smtClean="0">
                <a:ea typeface="华文楷体" panose="02010600040101010101" pitchFamily="2" charset="-122"/>
              </a:rPr>
              <a:t>(); push2(left, right);</a:t>
            </a:r>
          </a:p>
          <a:p>
            <a:pPr marL="0" indent="0">
              <a:buNone/>
            </a:pPr>
            <a:r>
              <a:rPr kumimoji="1" lang="en-US" altLang="zh-CN" sz="1700" dirty="0">
                <a:ea typeface="华文楷体" panose="02010600040101010101" pitchFamily="2" charset="-122"/>
              </a:rPr>
              <a:t> </a:t>
            </a:r>
            <a:r>
              <a:rPr kumimoji="1" lang="en-US" altLang="zh-CN" sz="1700" dirty="0" smtClean="0">
                <a:ea typeface="华文楷体" panose="02010600040101010101" pitchFamily="2" charset="-122"/>
              </a:rPr>
              <a:t>   while (!</a:t>
            </a:r>
            <a:r>
              <a:rPr kumimoji="1" lang="en-US" altLang="zh-CN" sz="1700" dirty="0" err="1" smtClean="0">
                <a:ea typeface="华文楷体" panose="02010600040101010101" pitchFamily="2" charset="-122"/>
              </a:rPr>
              <a:t>stackempty</a:t>
            </a:r>
            <a:r>
              <a:rPr kumimoji="1" lang="en-US" altLang="zh-CN" sz="1700" dirty="0" smtClean="0">
                <a:ea typeface="华文楷体" panose="02010600040101010101" pitchFamily="2" charset="-122"/>
              </a:rPr>
              <a:t>())</a:t>
            </a:r>
          </a:p>
          <a:p>
            <a:pPr marL="0" indent="0">
              <a:buNone/>
            </a:pPr>
            <a:r>
              <a:rPr kumimoji="1" lang="en-US" altLang="zh-CN" sz="1700" dirty="0">
                <a:ea typeface="华文楷体" panose="02010600040101010101" pitchFamily="2" charset="-122"/>
              </a:rPr>
              <a:t> </a:t>
            </a:r>
            <a:r>
              <a:rPr kumimoji="1" lang="en-US" altLang="zh-CN" sz="1700" dirty="0" smtClean="0">
                <a:ea typeface="华文楷体" panose="02010600040101010101" pitchFamily="2" charset="-122"/>
              </a:rPr>
              <a:t>   {</a:t>
            </a:r>
          </a:p>
          <a:p>
            <a:pPr marL="0" indent="0">
              <a:buNone/>
            </a:pPr>
            <a:r>
              <a:rPr kumimoji="1" lang="en-US" altLang="zh-CN" sz="1700" dirty="0">
                <a:ea typeface="华文楷体" panose="02010600040101010101" pitchFamily="2" charset="-122"/>
              </a:rPr>
              <a:t> </a:t>
            </a:r>
            <a:r>
              <a:rPr kumimoji="1" lang="en-US" altLang="zh-CN" sz="1700" dirty="0" smtClean="0">
                <a:ea typeface="华文楷体" panose="02010600040101010101" pitchFamily="2" charset="-122"/>
              </a:rPr>
              <a:t>       left = pop(); right = pop();</a:t>
            </a:r>
          </a:p>
          <a:p>
            <a:pPr marL="0" indent="0">
              <a:buNone/>
            </a:pPr>
            <a:r>
              <a:rPr kumimoji="1" lang="en-US" altLang="zh-CN" sz="1700" dirty="0">
                <a:ea typeface="华文楷体" panose="02010600040101010101" pitchFamily="2" charset="-122"/>
              </a:rPr>
              <a:t> </a:t>
            </a:r>
            <a:r>
              <a:rPr kumimoji="1" lang="en-US" altLang="zh-CN" sz="1700" dirty="0" smtClean="0">
                <a:ea typeface="华文楷体" panose="02010600040101010101" pitchFamily="2" charset="-122"/>
              </a:rPr>
              <a:t>       if (left &lt;= right)     continue;</a:t>
            </a:r>
          </a:p>
          <a:p>
            <a:pPr marL="0" indent="0">
              <a:buNone/>
            </a:pPr>
            <a:r>
              <a:rPr kumimoji="1" lang="en-US" altLang="zh-CN" sz="1700" dirty="0">
                <a:ea typeface="华文楷体" panose="02010600040101010101" pitchFamily="2" charset="-122"/>
              </a:rPr>
              <a:t> </a:t>
            </a:r>
            <a:r>
              <a:rPr kumimoji="1" lang="en-US" altLang="zh-CN" sz="1700" dirty="0" smtClean="0">
                <a:ea typeface="华文楷体" panose="02010600040101010101" pitchFamily="2" charset="-122"/>
              </a:rPr>
              <a:t>       </a:t>
            </a:r>
            <a:r>
              <a:rPr kumimoji="1" lang="en-US" altLang="zh-CN" sz="1700" dirty="0" err="1" smtClean="0">
                <a:ea typeface="华文楷体" panose="02010600040101010101" pitchFamily="2" charset="-122"/>
              </a:rPr>
              <a:t>pivotloc</a:t>
            </a:r>
            <a:r>
              <a:rPr kumimoji="1" lang="en-US" altLang="zh-CN" sz="1700" dirty="0" smtClean="0">
                <a:ea typeface="华文楷体" panose="02010600040101010101" pitchFamily="2" charset="-122"/>
              </a:rPr>
              <a:t> = </a:t>
            </a:r>
            <a:r>
              <a:rPr kumimoji="1" lang="en-US" altLang="zh-CN" sz="1700" dirty="0">
                <a:ea typeface="华文楷体" panose="02010600040101010101" pitchFamily="2" charset="-122"/>
              </a:rPr>
              <a:t>Partition </a:t>
            </a:r>
            <a:r>
              <a:rPr kumimoji="1" lang="en-US" altLang="zh-CN" sz="1700" dirty="0" smtClean="0">
                <a:ea typeface="华文楷体" panose="02010600040101010101" pitchFamily="2" charset="-122"/>
              </a:rPr>
              <a:t>(a, left</a:t>
            </a:r>
            <a:r>
              <a:rPr kumimoji="1" lang="en-US" altLang="zh-CN" sz="1700" dirty="0">
                <a:ea typeface="华文楷体" panose="02010600040101010101" pitchFamily="2" charset="-122"/>
              </a:rPr>
              <a:t>, </a:t>
            </a:r>
            <a:r>
              <a:rPr kumimoji="1" lang="en-US" altLang="zh-CN" sz="1700" dirty="0" smtClean="0">
                <a:ea typeface="华文楷体" panose="02010600040101010101" pitchFamily="2" charset="-122"/>
              </a:rPr>
              <a:t>right </a:t>
            </a:r>
            <a:r>
              <a:rPr kumimoji="1" lang="en-US" altLang="zh-CN" sz="1700" dirty="0">
                <a:ea typeface="华文楷体" panose="02010600040101010101" pitchFamily="2" charset="-122"/>
              </a:rPr>
              <a:t>) </a:t>
            </a:r>
            <a:r>
              <a:rPr kumimoji="1" lang="en-US" altLang="zh-CN" sz="1700" dirty="0" smtClean="0">
                <a:ea typeface="华文楷体" panose="02010600040101010101" pitchFamily="2" charset="-122"/>
              </a:rPr>
              <a:t>;</a:t>
            </a:r>
          </a:p>
          <a:p>
            <a:pPr marL="0" indent="0">
              <a:buNone/>
            </a:pPr>
            <a:r>
              <a:rPr kumimoji="1" lang="en-US" altLang="zh-CN" sz="1700" dirty="0">
                <a:ea typeface="华文楷体" panose="02010600040101010101" pitchFamily="2" charset="-122"/>
              </a:rPr>
              <a:t> </a:t>
            </a:r>
            <a:r>
              <a:rPr kumimoji="1" lang="en-US" altLang="zh-CN" sz="1700" dirty="0" smtClean="0">
                <a:ea typeface="华文楷体" panose="02010600040101010101" pitchFamily="2" charset="-122"/>
              </a:rPr>
              <a:t>       if (</a:t>
            </a:r>
            <a:r>
              <a:rPr kumimoji="1" lang="en-US" altLang="zh-CN" sz="1700" dirty="0" err="1" smtClean="0">
                <a:ea typeface="华文楷体" panose="02010600040101010101" pitchFamily="2" charset="-122"/>
              </a:rPr>
              <a:t>pivotloc</a:t>
            </a:r>
            <a:r>
              <a:rPr kumimoji="1" lang="en-US" altLang="zh-CN" sz="1700" dirty="0" smtClean="0">
                <a:ea typeface="华文楷体" panose="02010600040101010101" pitchFamily="2" charset="-122"/>
              </a:rPr>
              <a:t>-left &gt; right - </a:t>
            </a:r>
            <a:r>
              <a:rPr kumimoji="1" lang="en-US" altLang="zh-CN" sz="1700" dirty="0" err="1">
                <a:ea typeface="华文楷体" panose="02010600040101010101" pitchFamily="2" charset="-122"/>
              </a:rPr>
              <a:t>pivotloc</a:t>
            </a:r>
            <a:r>
              <a:rPr kumimoji="1" lang="en-US" altLang="zh-CN" sz="1700" dirty="0" smtClean="0">
                <a:ea typeface="华文楷体" panose="02010600040101010101" pitchFamily="2" charset="-122"/>
              </a:rPr>
              <a:t>)   { push2(left, pivotloc-1);   push2(pivotloc+1,right); }</a:t>
            </a:r>
          </a:p>
          <a:p>
            <a:pPr marL="0" indent="0">
              <a:buNone/>
            </a:pPr>
            <a:r>
              <a:rPr kumimoji="1" lang="en-US" altLang="zh-CN" sz="1700" dirty="0">
                <a:ea typeface="华文楷体" panose="02010600040101010101" pitchFamily="2" charset="-122"/>
              </a:rPr>
              <a:t> </a:t>
            </a:r>
            <a:r>
              <a:rPr kumimoji="1" lang="en-US" altLang="zh-CN" sz="1700" dirty="0" smtClean="0">
                <a:ea typeface="华文楷体" panose="02010600040101010101" pitchFamily="2" charset="-122"/>
              </a:rPr>
              <a:t>       else    { push2(pivotloc+1,right);  push2(left</a:t>
            </a:r>
            <a:r>
              <a:rPr kumimoji="1" lang="en-US" altLang="zh-CN" sz="1700" dirty="0">
                <a:ea typeface="华文楷体" panose="02010600040101010101" pitchFamily="2" charset="-122"/>
              </a:rPr>
              <a:t>, pivotloc-1); </a:t>
            </a:r>
            <a:r>
              <a:rPr kumimoji="1" lang="en-US" altLang="zh-CN" sz="1700" dirty="0" smtClean="0">
                <a:ea typeface="华文楷体" panose="02010600040101010101" pitchFamily="2" charset="-122"/>
              </a:rPr>
              <a:t>} //</a:t>
            </a:r>
            <a:r>
              <a:rPr kumimoji="1" lang="zh-CN" altLang="en-US" sz="1700" dirty="0" smtClean="0">
                <a:ea typeface="华文楷体" panose="02010600040101010101" pitchFamily="2" charset="-122"/>
              </a:rPr>
              <a:t>子文件较小者压在栈顶先排序</a:t>
            </a:r>
            <a:endParaRPr kumimoji="1" lang="en-US" altLang="zh-CN" sz="1700" dirty="0" smtClean="0"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kumimoji="1" lang="en-US" altLang="zh-CN" sz="1700" dirty="0" smtClean="0">
                <a:ea typeface="华文楷体" panose="02010600040101010101" pitchFamily="2" charset="-122"/>
              </a:rPr>
              <a:t>    }</a:t>
            </a:r>
          </a:p>
          <a:p>
            <a:pPr marL="0" indent="0">
              <a:buNone/>
            </a:pPr>
            <a:r>
              <a:rPr kumimoji="1" lang="en-US" altLang="zh-CN" sz="1700" dirty="0" smtClean="0">
                <a:ea typeface="华文楷体" panose="02010600040101010101" pitchFamily="2" charset="-122"/>
              </a:rPr>
              <a:t>}</a:t>
            </a:r>
            <a:endParaRPr lang="zh-CN" altLang="en-US" sz="1700" dirty="0">
              <a:ea typeface="华文楷体" panose="0201060004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 SCST</a:t>
            </a:r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smtClean="0"/>
              <a:t>BUPT</a:t>
            </a:r>
            <a:endParaRPr lang="en-US" altLang="zh-CN" dirty="0"/>
          </a:p>
        </p:txBody>
      </p:sp>
      <p:sp>
        <p:nvSpPr>
          <p:cNvPr id="6" name="文本框 5"/>
          <p:cNvSpPr txBox="1"/>
          <p:nvPr/>
        </p:nvSpPr>
        <p:spPr>
          <a:xfrm>
            <a:off x="124287" y="6007090"/>
            <a:ext cx="8900604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性质</a:t>
            </a: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：包含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个元素的文件使用快速排序时，如果一趟划分得到的两</a:t>
            </a:r>
            <a:r>
              <a: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rPr>
              <a:t>个子</a:t>
            </a: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文件中规模</a:t>
            </a:r>
            <a:r>
              <a: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rPr>
              <a:t>较小者先排好</a:t>
            </a: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序，则栈中元素个数不会超过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log</a:t>
            </a:r>
            <a:r>
              <a:rPr lang="en-US" altLang="zh-CN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。</a:t>
            </a:r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85875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3072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算法的改进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  <a:endParaRPr lang="en-US" altLang="zh-CN" sz="2400" dirty="0" smtClean="0">
              <a:solidFill>
                <a:srgbClr val="CC6600"/>
              </a:solidFill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合理选择枢轴记录可改善性能。例如，</a:t>
            </a:r>
          </a:p>
          <a:p>
            <a:pPr lvl="1" eaLnBrk="1" hangingPunct="1"/>
            <a:r>
              <a:rPr lang="zh-CN" altLang="en-US" sz="2400" dirty="0" smtClean="0">
                <a:ea typeface="华文楷体" panose="02010600040101010101" pitchFamily="2" charset="-122"/>
              </a:rPr>
              <a:t>三者取中</a:t>
            </a:r>
          </a:p>
          <a:p>
            <a:pPr lvl="1" eaLnBrk="1" hangingPunct="1"/>
            <a:r>
              <a:rPr lang="zh-CN" altLang="en-US" sz="2400" dirty="0" smtClean="0">
                <a:ea typeface="华文楷体" panose="02010600040101010101" pitchFamily="2" charset="-122"/>
              </a:rPr>
              <a:t>随机产生</a:t>
            </a:r>
          </a:p>
          <a:p>
            <a:pPr lvl="1" eaLnBrk="1" hangingPunct="1"/>
            <a:endParaRPr lang="zh-CN" altLang="en-US" sz="24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算法的稳定性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是非稳定排序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反例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[ 2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，</a:t>
            </a:r>
            <a:r>
              <a:rPr lang="en-US" altLang="zh-CN" sz="2400" u="sng" dirty="0" smtClean="0">
                <a:ea typeface="华文楷体" panose="02010600040101010101" pitchFamily="2" charset="-122"/>
              </a:rPr>
              <a:t>2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，</a:t>
            </a:r>
            <a:r>
              <a:rPr lang="en-US" altLang="zh-CN" sz="2400" dirty="0" smtClean="0">
                <a:ea typeface="华文楷体" panose="02010600040101010101" pitchFamily="2" charset="-122"/>
              </a:rPr>
              <a:t>1 ]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：</a:t>
            </a:r>
            <a:r>
              <a:rPr lang="en-US" altLang="zh-CN" sz="2400" dirty="0" smtClean="0">
                <a:ea typeface="华文楷体" panose="02010600040101010101" pitchFamily="2" charset="-122"/>
              </a:rPr>
              <a:t>{1 </a:t>
            </a:r>
            <a:r>
              <a:rPr lang="en-US" altLang="zh-CN" sz="2400" u="sng" dirty="0" smtClean="0">
                <a:ea typeface="华文楷体" panose="02010600040101010101" pitchFamily="2" charset="-122"/>
              </a:rPr>
              <a:t>2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} </a:t>
            </a:r>
            <a:r>
              <a:rPr lang="en-US" altLang="zh-CN" sz="2400" b="1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2</a:t>
            </a:r>
            <a:r>
              <a:rPr lang="en-US" altLang="zh-CN" sz="2400" dirty="0" smtClean="0">
                <a:solidFill>
                  <a:schemeClr val="accent1"/>
                </a:solidFill>
                <a:ea typeface="华文楷体" panose="02010600040101010101" pitchFamily="2" charset="-122"/>
              </a:rPr>
              <a:t>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{  }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 smtClean="0">
              <a:ea typeface="华文楷体" panose="02010600040101010101" pitchFamily="2" charset="-122"/>
            </a:endParaRPr>
          </a:p>
        </p:txBody>
      </p:sp>
      <p:sp>
        <p:nvSpPr>
          <p:cNvPr id="30726" name="Text Box 4"/>
          <p:cNvSpPr txBox="1">
            <a:spLocks noChangeArrowheads="1"/>
          </p:cNvSpPr>
          <p:nvPr/>
        </p:nvSpPr>
        <p:spPr bwMode="auto">
          <a:xfrm>
            <a:off x="654050" y="5257800"/>
            <a:ext cx="606287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思考：分别用单链表、双向链表存储记录，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       快排算法如何实现？？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0488" y="1143000"/>
            <a:ext cx="4710112" cy="4043958"/>
          </a:xfrm>
          <a:ln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altLang="zh-CN" sz="1700" dirty="0">
                <a:solidFill>
                  <a:srgbClr val="C000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1700" dirty="0">
                <a:solidFill>
                  <a:srgbClr val="C00000"/>
                </a:solidFill>
                <a:ea typeface="华文楷体" panose="02010600040101010101" pitchFamily="2" charset="-122"/>
              </a:rPr>
              <a:t>三者取其中</a:t>
            </a:r>
            <a:r>
              <a:rPr lang="zh-CN" altLang="en-US" sz="17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的算法</a:t>
            </a:r>
            <a:r>
              <a:rPr lang="en-US" altLang="zh-CN" sz="17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]</a:t>
            </a:r>
            <a:endParaRPr lang="en-US" altLang="zh-CN" sz="1700" dirty="0">
              <a:solidFill>
                <a:srgbClr val="C00000"/>
              </a:solidFill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1700" dirty="0" err="1">
                <a:ea typeface="华文楷体" panose="02010600040101010101" pitchFamily="2" charset="-122"/>
              </a:rPr>
              <a:t>Elemtype</a:t>
            </a:r>
            <a:r>
              <a:rPr lang="en-US" altLang="zh-CN" sz="1700" dirty="0">
                <a:ea typeface="华文楷体" panose="02010600040101010101" pitchFamily="2" charset="-122"/>
              </a:rPr>
              <a:t> Media3(</a:t>
            </a:r>
            <a:r>
              <a:rPr lang="en-US" altLang="zh-CN" sz="1700" dirty="0" err="1">
                <a:ea typeface="华文楷体" panose="02010600040101010101" pitchFamily="2" charset="-122"/>
              </a:rPr>
              <a:t>ElemType</a:t>
            </a:r>
            <a:r>
              <a:rPr lang="en-US" altLang="zh-CN" sz="1700" dirty="0">
                <a:ea typeface="华文楷体" panose="02010600040101010101" pitchFamily="2" charset="-122"/>
              </a:rPr>
              <a:t> a[], </a:t>
            </a:r>
            <a:r>
              <a:rPr lang="en-US" altLang="zh-CN" sz="1700" dirty="0" err="1">
                <a:ea typeface="华文楷体" panose="02010600040101010101" pitchFamily="2" charset="-122"/>
              </a:rPr>
              <a:t>int</a:t>
            </a:r>
            <a:r>
              <a:rPr lang="en-US" altLang="zh-CN" sz="1700" dirty="0">
                <a:ea typeface="华文楷体" panose="02010600040101010101" pitchFamily="2" charset="-122"/>
              </a:rPr>
              <a:t> left, </a:t>
            </a:r>
            <a:r>
              <a:rPr lang="en-US" altLang="zh-CN" sz="1700" dirty="0" err="1">
                <a:ea typeface="华文楷体" panose="02010600040101010101" pitchFamily="2" charset="-122"/>
              </a:rPr>
              <a:t>int</a:t>
            </a:r>
            <a:r>
              <a:rPr lang="en-US" altLang="zh-CN" sz="1700" dirty="0">
                <a:ea typeface="华文楷体" panose="02010600040101010101" pitchFamily="2" charset="-122"/>
              </a:rPr>
              <a:t> right)</a:t>
            </a:r>
          </a:p>
          <a:p>
            <a:pPr marL="0" indent="0">
              <a:buNone/>
            </a:pPr>
            <a:r>
              <a:rPr lang="en-US" altLang="zh-CN" sz="1700" dirty="0">
                <a:ea typeface="华文楷体" panose="0201060004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1700" dirty="0">
                <a:ea typeface="华文楷体" panose="02010600040101010101" pitchFamily="2" charset="-122"/>
              </a:rPr>
              <a:t>    </a:t>
            </a:r>
            <a:r>
              <a:rPr lang="en-US" altLang="zh-CN" sz="1700" dirty="0" err="1">
                <a:ea typeface="华文楷体" panose="02010600040101010101" pitchFamily="2" charset="-122"/>
              </a:rPr>
              <a:t>int</a:t>
            </a:r>
            <a:r>
              <a:rPr lang="en-US" altLang="zh-CN" sz="1700" dirty="0">
                <a:ea typeface="华文楷体" panose="02010600040101010101" pitchFamily="2" charset="-122"/>
              </a:rPr>
              <a:t> mid = (left + right)/2;</a:t>
            </a:r>
          </a:p>
          <a:p>
            <a:pPr marL="0" indent="0">
              <a:buNone/>
            </a:pPr>
            <a:r>
              <a:rPr lang="en-US" altLang="zh-CN" sz="1700" dirty="0">
                <a:ea typeface="华文楷体" panose="02010600040101010101" pitchFamily="2" charset="-122"/>
              </a:rPr>
              <a:t>    if (a[left].key &gt; a[mid].key) </a:t>
            </a:r>
            <a:endParaRPr lang="en-US" altLang="zh-CN" sz="1700" dirty="0" smtClean="0"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1700" dirty="0">
                <a:ea typeface="华文楷体" panose="02010600040101010101" pitchFamily="2" charset="-122"/>
              </a:rPr>
              <a:t> </a:t>
            </a:r>
            <a:r>
              <a:rPr lang="en-US" altLang="zh-CN" sz="1700" dirty="0" smtClean="0">
                <a:ea typeface="华文楷体" panose="02010600040101010101" pitchFamily="2" charset="-122"/>
              </a:rPr>
              <a:t>       swap</a:t>
            </a:r>
            <a:r>
              <a:rPr lang="en-US" altLang="zh-CN" sz="1700" dirty="0">
                <a:ea typeface="华文楷体" panose="02010600040101010101" pitchFamily="2" charset="-122"/>
              </a:rPr>
              <a:t>(&amp;a[left], &amp;a[mid]);</a:t>
            </a:r>
          </a:p>
          <a:p>
            <a:pPr marL="0" indent="0">
              <a:buNone/>
            </a:pPr>
            <a:r>
              <a:rPr lang="en-US" altLang="zh-CN" sz="1700" dirty="0">
                <a:ea typeface="华文楷体" panose="02010600040101010101" pitchFamily="2" charset="-122"/>
              </a:rPr>
              <a:t>    if (a[left].key &gt; a[right].key) </a:t>
            </a:r>
            <a:endParaRPr lang="en-US" altLang="zh-CN" sz="1700" dirty="0" smtClean="0"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1700" dirty="0">
                <a:ea typeface="华文楷体" panose="02010600040101010101" pitchFamily="2" charset="-122"/>
              </a:rPr>
              <a:t> </a:t>
            </a:r>
            <a:r>
              <a:rPr lang="en-US" altLang="zh-CN" sz="1700" dirty="0" smtClean="0">
                <a:ea typeface="华文楷体" panose="02010600040101010101" pitchFamily="2" charset="-122"/>
              </a:rPr>
              <a:t>       swap</a:t>
            </a:r>
            <a:r>
              <a:rPr lang="en-US" altLang="zh-CN" sz="1700" dirty="0">
                <a:ea typeface="华文楷体" panose="02010600040101010101" pitchFamily="2" charset="-122"/>
              </a:rPr>
              <a:t>(&amp;a[right], &amp;a[left]);</a:t>
            </a:r>
          </a:p>
          <a:p>
            <a:pPr marL="0" indent="0">
              <a:buNone/>
            </a:pPr>
            <a:r>
              <a:rPr lang="en-US" altLang="zh-CN" sz="1700" dirty="0">
                <a:ea typeface="华文楷体" panose="02010600040101010101" pitchFamily="2" charset="-122"/>
              </a:rPr>
              <a:t>    if (a[mid].key &gt; a[right].key) </a:t>
            </a:r>
            <a:endParaRPr lang="en-US" altLang="zh-CN" sz="1700" dirty="0" smtClean="0"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1700" dirty="0">
                <a:ea typeface="华文楷体" panose="02010600040101010101" pitchFamily="2" charset="-122"/>
              </a:rPr>
              <a:t> </a:t>
            </a:r>
            <a:r>
              <a:rPr lang="en-US" altLang="zh-CN" sz="1700" dirty="0" smtClean="0">
                <a:ea typeface="华文楷体" panose="02010600040101010101" pitchFamily="2" charset="-122"/>
              </a:rPr>
              <a:t>       swap</a:t>
            </a:r>
            <a:r>
              <a:rPr lang="en-US" altLang="zh-CN" sz="1700" dirty="0">
                <a:ea typeface="华文楷体" panose="02010600040101010101" pitchFamily="2" charset="-122"/>
              </a:rPr>
              <a:t>(&amp;</a:t>
            </a:r>
            <a:r>
              <a:rPr lang="en-US" altLang="zh-CN" sz="1700" dirty="0" smtClean="0">
                <a:ea typeface="华文楷体" panose="02010600040101010101" pitchFamily="2" charset="-122"/>
              </a:rPr>
              <a:t>a[right], &amp;a[mid</a:t>
            </a:r>
            <a:r>
              <a:rPr lang="en-US" altLang="zh-CN" sz="1700" dirty="0">
                <a:ea typeface="华文楷体" panose="02010600040101010101" pitchFamily="2" charset="-122"/>
              </a:rPr>
              <a:t>]);</a:t>
            </a:r>
          </a:p>
          <a:p>
            <a:pPr marL="0" indent="0">
              <a:buNone/>
            </a:pPr>
            <a:r>
              <a:rPr lang="en-US" altLang="zh-CN" sz="1700" dirty="0">
                <a:ea typeface="华文楷体" panose="02010600040101010101" pitchFamily="2" charset="-122"/>
              </a:rPr>
              <a:t>    swap (&amp;a[mid], </a:t>
            </a:r>
            <a:r>
              <a:rPr lang="en-US" altLang="zh-CN" sz="1700" dirty="0" smtClean="0">
                <a:ea typeface="华文楷体" panose="02010600040101010101" pitchFamily="2" charset="-122"/>
              </a:rPr>
              <a:t>&amp;a[right-1</a:t>
            </a:r>
            <a:r>
              <a:rPr lang="en-US" altLang="zh-CN" sz="1700" dirty="0">
                <a:ea typeface="华文楷体" panose="02010600040101010101" pitchFamily="2" charset="-122"/>
              </a:rPr>
              <a:t>]); </a:t>
            </a:r>
            <a:r>
              <a:rPr lang="en-US" altLang="zh-CN" sz="1700" dirty="0" smtClean="0">
                <a:ea typeface="华文楷体" panose="02010600040101010101" pitchFamily="2" charset="-122"/>
              </a:rPr>
              <a:t>//</a:t>
            </a:r>
            <a:r>
              <a:rPr lang="zh-CN" altLang="en-US" sz="17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枢纽在</a:t>
            </a:r>
            <a:r>
              <a:rPr lang="en-US" altLang="zh-CN" sz="1700" dirty="0">
                <a:solidFill>
                  <a:srgbClr val="C00000"/>
                </a:solidFill>
                <a:ea typeface="华文楷体" panose="02010600040101010101" pitchFamily="2" charset="-122"/>
              </a:rPr>
              <a:t>right-1</a:t>
            </a:r>
          </a:p>
          <a:p>
            <a:pPr marL="0" indent="0">
              <a:buNone/>
            </a:pPr>
            <a:r>
              <a:rPr lang="en-US" altLang="zh-CN" sz="1700" dirty="0">
                <a:ea typeface="华文楷体" panose="02010600040101010101" pitchFamily="2" charset="-122"/>
              </a:rPr>
              <a:t>    return a[right-1].key; //</a:t>
            </a:r>
            <a:r>
              <a:rPr lang="zh-CN" altLang="en-US" sz="1700" dirty="0">
                <a:ea typeface="华文楷体" panose="02010600040101010101" pitchFamily="2" charset="-122"/>
              </a:rPr>
              <a:t>返回枢纽值</a:t>
            </a:r>
            <a:endParaRPr lang="en-US" altLang="zh-CN" sz="1700" dirty="0"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1700" dirty="0" smtClean="0">
                <a:ea typeface="华文楷体" panose="02010600040101010101" pitchFamily="2" charset="-122"/>
              </a:rPr>
              <a:t>}</a:t>
            </a:r>
            <a:r>
              <a:rPr lang="zh-CN" altLang="en-US" sz="1700" dirty="0">
                <a:solidFill>
                  <a:srgbClr val="C00000"/>
                </a:solidFill>
                <a:ea typeface="华文楷体" panose="02010600040101010101" pitchFamily="2" charset="-122"/>
              </a:rPr>
              <a:t>枢纽</a:t>
            </a:r>
            <a:endParaRPr lang="en-US" altLang="zh-CN" sz="1700" dirty="0" smtClean="0">
              <a:ea typeface="华文楷体" panose="0201060004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 SCST</a:t>
            </a:r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smtClean="0"/>
              <a:t>BUPT</a:t>
            </a:r>
            <a:endParaRPr lang="en-US" altLang="zh-CN" dirty="0"/>
          </a:p>
        </p:txBody>
      </p:sp>
      <p:sp>
        <p:nvSpPr>
          <p:cNvPr id="6" name="文本框 5"/>
          <p:cNvSpPr txBox="1"/>
          <p:nvPr/>
        </p:nvSpPr>
        <p:spPr>
          <a:xfrm>
            <a:off x="4876800" y="1143000"/>
            <a:ext cx="4199392" cy="569078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</a:pPr>
            <a:r>
              <a:rPr lang="en-US" altLang="zh-CN" sz="1700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[</a:t>
            </a:r>
            <a:r>
              <a:rPr lang="zh-CN" altLang="en-US" sz="1700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重写快速排序算法</a:t>
            </a:r>
            <a:r>
              <a:rPr lang="en-US" altLang="zh-CN" sz="1700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]</a:t>
            </a:r>
          </a:p>
          <a:p>
            <a:pPr>
              <a:spcBef>
                <a:spcPct val="20000"/>
              </a:spcBef>
              <a:buClr>
                <a:schemeClr val="hlink"/>
              </a:buClr>
            </a:pPr>
            <a:r>
              <a:rPr lang="en-US" altLang="zh-CN" sz="17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void </a:t>
            </a:r>
            <a:r>
              <a:rPr lang="en-US" altLang="zh-CN" sz="17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QSort</a:t>
            </a:r>
            <a:r>
              <a:rPr lang="en-US" altLang="zh-CN" sz="17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17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elemtype</a:t>
            </a:r>
            <a:r>
              <a:rPr lang="en-US" altLang="zh-CN" sz="17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1700" dirty="0">
                <a:latin typeface="Times New Roman" panose="02020603050405020304" pitchFamily="18" charset="0"/>
                <a:ea typeface="华文楷体" panose="02010600040101010101" pitchFamily="2" charset="-122"/>
              </a:rPr>
              <a:t>a[],</a:t>
            </a:r>
            <a:r>
              <a:rPr lang="en-US" altLang="zh-CN" sz="17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sz="17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left, </a:t>
            </a:r>
            <a:r>
              <a:rPr lang="en-US" altLang="zh-CN" sz="17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sz="17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right)</a:t>
            </a:r>
          </a:p>
          <a:p>
            <a:pPr>
              <a:spcBef>
                <a:spcPct val="20000"/>
              </a:spcBef>
              <a:buClr>
                <a:schemeClr val="hlink"/>
              </a:buClr>
            </a:pPr>
            <a:r>
              <a:rPr lang="en-US" altLang="zh-CN" sz="1700" dirty="0">
                <a:latin typeface="Times New Roman" panose="02020603050405020304" pitchFamily="18" charset="0"/>
                <a:ea typeface="华文楷体" panose="02010600040101010101" pitchFamily="2" charset="-122"/>
              </a:rPr>
              <a:t>{</a:t>
            </a:r>
          </a:p>
          <a:p>
            <a:pPr>
              <a:spcBef>
                <a:spcPct val="20000"/>
              </a:spcBef>
              <a:buClr>
                <a:schemeClr val="hlink"/>
              </a:buClr>
            </a:pPr>
            <a:r>
              <a:rPr lang="en-US" altLang="zh-CN" sz="17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</a:t>
            </a:r>
            <a:r>
              <a:rPr lang="en-US" altLang="zh-CN" sz="17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sz="17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17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i,j</a:t>
            </a:r>
            <a:r>
              <a:rPr lang="en-US" altLang="zh-CN" sz="1700" dirty="0">
                <a:latin typeface="Times New Roman" panose="02020603050405020304" pitchFamily="18" charset="0"/>
                <a:ea typeface="华文楷体" panose="02010600040101010101" pitchFamily="2" charset="-122"/>
              </a:rPr>
              <a:t>;</a:t>
            </a:r>
          </a:p>
          <a:p>
            <a:pPr>
              <a:spcBef>
                <a:spcPct val="20000"/>
              </a:spcBef>
              <a:buClr>
                <a:schemeClr val="hlink"/>
              </a:buClr>
            </a:pPr>
            <a:r>
              <a:rPr lang="en-US" altLang="zh-CN" sz="17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</a:t>
            </a:r>
            <a:r>
              <a:rPr lang="en-US" altLang="zh-CN" sz="17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ElemType</a:t>
            </a:r>
            <a:r>
              <a:rPr lang="en-US" altLang="zh-CN" sz="17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17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piviot</a:t>
            </a:r>
            <a:r>
              <a:rPr lang="en-US" altLang="zh-CN" sz="1700" dirty="0">
                <a:latin typeface="Times New Roman" panose="02020603050405020304" pitchFamily="18" charset="0"/>
                <a:ea typeface="华文楷体" panose="02010600040101010101" pitchFamily="2" charset="-122"/>
              </a:rPr>
              <a:t>;</a:t>
            </a:r>
          </a:p>
          <a:p>
            <a:pPr>
              <a:spcBef>
                <a:spcPct val="20000"/>
              </a:spcBef>
              <a:buClr>
                <a:schemeClr val="hlink"/>
              </a:buClr>
            </a:pPr>
            <a:r>
              <a:rPr lang="en-US" altLang="zh-CN" sz="17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</a:t>
            </a:r>
            <a:r>
              <a:rPr lang="en-US" altLang="zh-CN" sz="17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piviot</a:t>
            </a:r>
            <a:r>
              <a:rPr lang="en-US" altLang="zh-CN" sz="17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1700" dirty="0">
                <a:latin typeface="Times New Roman" panose="02020603050405020304" pitchFamily="18" charset="0"/>
                <a:ea typeface="华文楷体" panose="02010600040101010101" pitchFamily="2" charset="-122"/>
              </a:rPr>
              <a:t>=Media3(a, left, right);</a:t>
            </a:r>
          </a:p>
          <a:p>
            <a:pPr>
              <a:spcBef>
                <a:spcPct val="20000"/>
              </a:spcBef>
              <a:buClr>
                <a:schemeClr val="hlink"/>
              </a:buClr>
            </a:pPr>
            <a:r>
              <a:rPr lang="en-US" altLang="zh-CN" sz="17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</a:t>
            </a:r>
            <a:r>
              <a:rPr lang="en-US" altLang="zh-CN" sz="17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17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1700" dirty="0">
                <a:latin typeface="Times New Roman" panose="02020603050405020304" pitchFamily="18" charset="0"/>
                <a:ea typeface="华文楷体" panose="02010600040101010101" pitchFamily="2" charset="-122"/>
              </a:rPr>
              <a:t>= left; j = right-1;</a:t>
            </a:r>
          </a:p>
          <a:p>
            <a:pPr>
              <a:spcBef>
                <a:spcPct val="20000"/>
              </a:spcBef>
              <a:buClr>
                <a:schemeClr val="hlink"/>
              </a:buClr>
            </a:pPr>
            <a:r>
              <a:rPr lang="en-US" altLang="zh-CN" sz="17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</a:t>
            </a:r>
            <a:r>
              <a:rPr lang="en-US" altLang="zh-CN" sz="17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for(;;) //</a:t>
            </a:r>
            <a:r>
              <a:rPr lang="zh-CN" altLang="en-US" sz="17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一趟分割</a:t>
            </a:r>
            <a:endParaRPr lang="en-US" altLang="zh-CN" sz="17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</a:pPr>
            <a:r>
              <a:rPr lang="en-US" altLang="zh-CN" sz="17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</a:t>
            </a:r>
            <a:r>
              <a:rPr lang="en-US" altLang="zh-CN" sz="17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{</a:t>
            </a:r>
            <a:endParaRPr lang="en-US" altLang="zh-CN" sz="17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</a:pPr>
            <a:r>
              <a:rPr lang="en-US" altLang="zh-CN" sz="17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</a:t>
            </a:r>
            <a:r>
              <a:rPr lang="en-US" altLang="zh-CN" sz="17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while(a</a:t>
            </a:r>
            <a:r>
              <a:rPr lang="en-US" altLang="zh-CN" sz="1700" dirty="0">
                <a:latin typeface="Times New Roman" panose="02020603050405020304" pitchFamily="18" charset="0"/>
                <a:ea typeface="华文楷体" panose="02010600040101010101" pitchFamily="2" charset="-122"/>
              </a:rPr>
              <a:t>[++</a:t>
            </a:r>
            <a:r>
              <a:rPr lang="en-US" altLang="zh-CN" sz="17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17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].key </a:t>
            </a:r>
            <a:r>
              <a:rPr lang="en-US" altLang="zh-CN" sz="1700" dirty="0">
                <a:latin typeface="Times New Roman" panose="02020603050405020304" pitchFamily="18" charset="0"/>
                <a:ea typeface="华文楷体" panose="02010600040101010101" pitchFamily="2" charset="-122"/>
              </a:rPr>
              <a:t>&lt; </a:t>
            </a:r>
            <a:r>
              <a:rPr lang="en-US" altLang="zh-CN" sz="17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piviot.key</a:t>
            </a:r>
            <a:r>
              <a:rPr lang="en-US" altLang="zh-CN" sz="17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 </a:t>
            </a:r>
            <a:r>
              <a:rPr lang="en-US" altLang="zh-CN" sz="1700" dirty="0">
                <a:latin typeface="Times New Roman" panose="02020603050405020304" pitchFamily="18" charset="0"/>
                <a:ea typeface="华文楷体" panose="02010600040101010101" pitchFamily="2" charset="-122"/>
              </a:rPr>
              <a:t>{ </a:t>
            </a:r>
            <a:r>
              <a:rPr lang="en-US" altLang="zh-CN" sz="17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}//</a:t>
            </a:r>
            <a:r>
              <a:rPr lang="zh-CN" altLang="en-US" sz="1100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先自加</a:t>
            </a:r>
            <a:endParaRPr lang="en-US" altLang="zh-CN" sz="1100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</a:pPr>
            <a:r>
              <a:rPr lang="en-US" altLang="zh-CN" sz="17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</a:t>
            </a:r>
            <a:r>
              <a:rPr lang="en-US" altLang="zh-CN" sz="17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while(a</a:t>
            </a:r>
            <a:r>
              <a:rPr lang="en-US" altLang="zh-CN" sz="1700" dirty="0">
                <a:latin typeface="Times New Roman" panose="02020603050405020304" pitchFamily="18" charset="0"/>
                <a:ea typeface="华文楷体" panose="02010600040101010101" pitchFamily="2" charset="-122"/>
              </a:rPr>
              <a:t>[--j</a:t>
            </a:r>
            <a:r>
              <a:rPr lang="en-US" altLang="zh-CN" sz="17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].key </a:t>
            </a:r>
            <a:r>
              <a:rPr lang="en-US" altLang="zh-CN" sz="1700" dirty="0">
                <a:latin typeface="Times New Roman" panose="02020603050405020304" pitchFamily="18" charset="0"/>
                <a:ea typeface="华文楷体" panose="02010600040101010101" pitchFamily="2" charset="-122"/>
              </a:rPr>
              <a:t>&gt; </a:t>
            </a:r>
            <a:r>
              <a:rPr lang="en-US" altLang="zh-CN" sz="17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piviot.key</a:t>
            </a:r>
            <a:r>
              <a:rPr lang="en-US" altLang="zh-CN" sz="17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 </a:t>
            </a:r>
            <a:r>
              <a:rPr lang="en-US" altLang="zh-CN" sz="1700" dirty="0">
                <a:latin typeface="Times New Roman" panose="02020603050405020304" pitchFamily="18" charset="0"/>
                <a:ea typeface="华文楷体" panose="02010600040101010101" pitchFamily="2" charset="-122"/>
              </a:rPr>
              <a:t>{ }</a:t>
            </a:r>
          </a:p>
          <a:p>
            <a:pPr>
              <a:spcBef>
                <a:spcPct val="20000"/>
              </a:spcBef>
              <a:buClr>
                <a:schemeClr val="hlink"/>
              </a:buClr>
            </a:pPr>
            <a:r>
              <a:rPr lang="en-US" altLang="zh-CN" sz="17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</a:t>
            </a:r>
            <a:r>
              <a:rPr lang="en-US" altLang="zh-CN" sz="17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if(</a:t>
            </a:r>
            <a:r>
              <a:rPr lang="en-US" altLang="zh-CN" sz="17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17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&lt; j</a:t>
            </a:r>
            <a:r>
              <a:rPr lang="en-US" altLang="zh-CN" sz="1700" dirty="0">
                <a:latin typeface="Times New Roman" panose="02020603050405020304" pitchFamily="18" charset="0"/>
                <a:ea typeface="华文楷体" panose="02010600040101010101" pitchFamily="2" charset="-122"/>
              </a:rPr>
              <a:t>) swap(&amp;a[</a:t>
            </a:r>
            <a:r>
              <a:rPr lang="en-US" altLang="zh-CN" sz="17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1700" dirty="0">
                <a:latin typeface="Times New Roman" panose="02020603050405020304" pitchFamily="18" charset="0"/>
                <a:ea typeface="华文楷体" panose="02010600040101010101" pitchFamily="2" charset="-122"/>
              </a:rPr>
              <a:t>], &amp;a[j]);</a:t>
            </a:r>
          </a:p>
          <a:p>
            <a:pPr>
              <a:spcBef>
                <a:spcPct val="20000"/>
              </a:spcBef>
              <a:buClr>
                <a:schemeClr val="hlink"/>
              </a:buClr>
            </a:pPr>
            <a:r>
              <a:rPr lang="en-US" altLang="zh-CN" sz="17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</a:t>
            </a:r>
            <a:r>
              <a:rPr lang="en-US" altLang="zh-CN" sz="17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else </a:t>
            </a:r>
            <a:r>
              <a:rPr lang="en-US" altLang="zh-CN" sz="1700" dirty="0">
                <a:latin typeface="Times New Roman" panose="02020603050405020304" pitchFamily="18" charset="0"/>
                <a:ea typeface="华文楷体" panose="02010600040101010101" pitchFamily="2" charset="-122"/>
              </a:rPr>
              <a:t>break;</a:t>
            </a:r>
          </a:p>
          <a:p>
            <a:pPr>
              <a:spcBef>
                <a:spcPct val="20000"/>
              </a:spcBef>
              <a:buClr>
                <a:schemeClr val="hlink"/>
              </a:buClr>
            </a:pPr>
            <a:r>
              <a:rPr lang="en-US" altLang="zh-CN" sz="17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</a:t>
            </a:r>
            <a:r>
              <a:rPr lang="en-US" altLang="zh-CN" sz="17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}</a:t>
            </a:r>
            <a:endParaRPr lang="en-US" altLang="zh-CN" sz="17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</a:pPr>
            <a:r>
              <a:rPr lang="en-US" altLang="zh-CN" sz="17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</a:t>
            </a:r>
            <a:r>
              <a:rPr lang="en-US" altLang="zh-CN" sz="17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swap</a:t>
            </a:r>
            <a:r>
              <a:rPr lang="en-US" altLang="zh-CN" sz="1700" dirty="0">
                <a:latin typeface="Times New Roman" panose="02020603050405020304" pitchFamily="18" charset="0"/>
                <a:ea typeface="华文楷体" panose="02010600040101010101" pitchFamily="2" charset="-122"/>
              </a:rPr>
              <a:t>(&amp;a[</a:t>
            </a:r>
            <a:r>
              <a:rPr lang="en-US" altLang="zh-CN" sz="17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1700" dirty="0">
                <a:latin typeface="Times New Roman" panose="02020603050405020304" pitchFamily="18" charset="0"/>
                <a:ea typeface="华文楷体" panose="02010600040101010101" pitchFamily="2" charset="-122"/>
              </a:rPr>
              <a:t>], &amp;a[right-1</a:t>
            </a:r>
            <a:r>
              <a:rPr lang="en-US" altLang="zh-CN" sz="17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]); //</a:t>
            </a:r>
            <a:r>
              <a:rPr lang="zh-CN" altLang="en-US" sz="1700" dirty="0">
                <a:latin typeface="Times New Roman" panose="02020603050405020304" pitchFamily="18" charset="0"/>
                <a:ea typeface="华文楷体" panose="02010600040101010101" pitchFamily="2" charset="-122"/>
              </a:rPr>
              <a:t>枢纽</a:t>
            </a:r>
            <a:r>
              <a:rPr lang="zh-CN" altLang="en-US" sz="17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最终位置</a:t>
            </a:r>
            <a:endParaRPr lang="en-US" altLang="zh-CN" sz="17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</a:pPr>
            <a:r>
              <a:rPr lang="en-US" altLang="zh-CN" sz="17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17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</a:t>
            </a:r>
            <a:r>
              <a:rPr lang="en-US" altLang="zh-CN" sz="17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QSort</a:t>
            </a:r>
            <a:r>
              <a:rPr lang="en-US" altLang="zh-CN" sz="17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(a, left, i-1); </a:t>
            </a:r>
          </a:p>
          <a:p>
            <a:pPr>
              <a:spcBef>
                <a:spcPct val="20000"/>
              </a:spcBef>
              <a:buClr>
                <a:schemeClr val="hlink"/>
              </a:buClr>
            </a:pPr>
            <a:r>
              <a:rPr lang="en-US" altLang="zh-CN" sz="17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17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</a:t>
            </a:r>
            <a:r>
              <a:rPr lang="en-US" altLang="zh-CN" sz="17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QSort</a:t>
            </a:r>
            <a:r>
              <a:rPr lang="en-US" altLang="zh-CN" sz="17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(a</a:t>
            </a:r>
            <a:r>
              <a:rPr lang="en-US" altLang="zh-CN" sz="1700" dirty="0">
                <a:latin typeface="Times New Roman" panose="02020603050405020304" pitchFamily="18" charset="0"/>
                <a:ea typeface="华文楷体" panose="02010600040101010101" pitchFamily="2" charset="-122"/>
              </a:rPr>
              <a:t>, </a:t>
            </a:r>
            <a:r>
              <a:rPr lang="en-US" altLang="zh-CN" sz="17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i+1, right);    </a:t>
            </a:r>
          </a:p>
          <a:p>
            <a:pPr>
              <a:spcBef>
                <a:spcPct val="20000"/>
              </a:spcBef>
              <a:buClr>
                <a:schemeClr val="hlink"/>
              </a:buClr>
            </a:pPr>
            <a:r>
              <a:rPr lang="en-US" altLang="zh-CN" sz="17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}</a:t>
            </a:r>
            <a:endParaRPr lang="zh-CN" altLang="en-US" sz="17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0488" y="5306705"/>
            <a:ext cx="4710112" cy="124649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500" dirty="0">
                <a:latin typeface="Times New Roman" panose="02020603050405020304" pitchFamily="18" charset="0"/>
                <a:ea typeface="华文楷体" panose="02010600040101010101" pitchFamily="2" charset="-122"/>
              </a:rPr>
              <a:t>三者</a:t>
            </a:r>
            <a:r>
              <a:rPr lang="zh-CN" altLang="en-US" sz="15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中小</a:t>
            </a:r>
            <a:r>
              <a:rPr lang="zh-CN" altLang="en-US" sz="1500" dirty="0">
                <a:latin typeface="Times New Roman" panose="02020603050405020304" pitchFamily="18" charset="0"/>
                <a:ea typeface="华文楷体" panose="02010600040101010101" pitchFamily="2" charset="-122"/>
              </a:rPr>
              <a:t>者放在</a:t>
            </a:r>
            <a:r>
              <a:rPr lang="en-US" altLang="zh-CN" sz="1500" dirty="0">
                <a:latin typeface="Times New Roman" panose="02020603050405020304" pitchFamily="18" charset="0"/>
                <a:ea typeface="华文楷体" panose="02010600040101010101" pitchFamily="2" charset="-122"/>
              </a:rPr>
              <a:t>a[left]</a:t>
            </a:r>
            <a:r>
              <a:rPr lang="zh-CN" altLang="en-US" sz="1500" dirty="0">
                <a:latin typeface="Times New Roman" panose="02020603050405020304" pitchFamily="18" charset="0"/>
                <a:ea typeface="华文楷体" panose="02010600040101010101" pitchFamily="2" charset="-122"/>
              </a:rPr>
              <a:t>，最大</a:t>
            </a:r>
            <a:r>
              <a:rPr lang="zh-CN" altLang="en-US" sz="15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者放在</a:t>
            </a:r>
            <a:r>
              <a:rPr lang="en-US" altLang="zh-CN" sz="1500" dirty="0">
                <a:latin typeface="Times New Roman" panose="02020603050405020304" pitchFamily="18" charset="0"/>
                <a:ea typeface="华文楷体" panose="02010600040101010101" pitchFamily="2" charset="-122"/>
              </a:rPr>
              <a:t>a[right</a:t>
            </a:r>
            <a:r>
              <a:rPr lang="en-US" altLang="zh-CN" sz="15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]</a:t>
            </a:r>
            <a:r>
              <a:rPr lang="zh-CN" altLang="en-US" sz="15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，中值即枢纽放在</a:t>
            </a:r>
            <a:r>
              <a:rPr lang="en-US" altLang="zh-CN" sz="1500" dirty="0">
                <a:latin typeface="Times New Roman" panose="02020603050405020304" pitchFamily="18" charset="0"/>
                <a:ea typeface="华文楷体" panose="02010600040101010101" pitchFamily="2" charset="-122"/>
              </a:rPr>
              <a:t>a[right-1</a:t>
            </a:r>
            <a:r>
              <a:rPr lang="en-US" altLang="zh-CN" sz="15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]</a:t>
            </a:r>
            <a:r>
              <a:rPr lang="zh-CN" altLang="en-US" sz="15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，在分割阶段将分割指针</a:t>
            </a:r>
            <a:r>
              <a:rPr lang="en-US" altLang="zh-CN" sz="15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zh-CN" altLang="en-US" sz="15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和</a:t>
            </a:r>
            <a:r>
              <a:rPr lang="en-US" altLang="zh-CN" sz="15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j</a:t>
            </a:r>
            <a:r>
              <a:rPr lang="zh-CN" altLang="en-US" sz="15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初始化到</a:t>
            </a:r>
            <a:r>
              <a:rPr lang="en-US" altLang="zh-CN" sz="15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left+1,right-2</a:t>
            </a:r>
            <a:r>
              <a:rPr lang="zh-CN" altLang="en-US" sz="15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，因为</a:t>
            </a:r>
            <a:r>
              <a:rPr lang="en-US" altLang="zh-CN" sz="1500" dirty="0">
                <a:latin typeface="Times New Roman" panose="02020603050405020304" pitchFamily="18" charset="0"/>
                <a:ea typeface="华文楷体" panose="02010600040101010101" pitchFamily="2" charset="-122"/>
              </a:rPr>
              <a:t>a[left]</a:t>
            </a:r>
            <a:r>
              <a:rPr lang="zh-CN" altLang="en-US" sz="15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比枢纽小，所以它用作对</a:t>
            </a:r>
            <a:r>
              <a:rPr lang="en-US" altLang="zh-CN" sz="15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j</a:t>
            </a:r>
            <a:r>
              <a:rPr lang="zh-CN" altLang="en-US" sz="15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的警戒标记，不用担心</a:t>
            </a:r>
            <a:r>
              <a:rPr lang="en-US" altLang="zh-CN" sz="15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j</a:t>
            </a:r>
            <a:r>
              <a:rPr lang="zh-CN" altLang="en-US" sz="15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越界；由于</a:t>
            </a:r>
            <a:r>
              <a:rPr lang="en-US" altLang="zh-CN" sz="15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zh-CN" altLang="en-US" sz="15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会停在等于枢纽的地方，把枢纽</a:t>
            </a:r>
            <a:r>
              <a:rPr lang="zh-CN" altLang="en-US" sz="1500" dirty="0">
                <a:latin typeface="Times New Roman" panose="02020603050405020304" pitchFamily="18" charset="0"/>
                <a:ea typeface="华文楷体" panose="02010600040101010101" pitchFamily="2" charset="-122"/>
              </a:rPr>
              <a:t>放在</a:t>
            </a:r>
            <a:r>
              <a:rPr lang="en-US" altLang="zh-CN" sz="1500" dirty="0">
                <a:latin typeface="Times New Roman" panose="02020603050405020304" pitchFamily="18" charset="0"/>
                <a:ea typeface="华文楷体" panose="02010600040101010101" pitchFamily="2" charset="-122"/>
              </a:rPr>
              <a:t>a[right-1</a:t>
            </a:r>
            <a:r>
              <a:rPr lang="en-US" altLang="zh-CN" sz="15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]</a:t>
            </a:r>
            <a:r>
              <a:rPr lang="zh-CN" altLang="en-US" sz="15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，</a:t>
            </a:r>
            <a:r>
              <a:rPr lang="zh-CN" altLang="en-US" sz="15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它用</a:t>
            </a:r>
            <a:r>
              <a:rPr lang="zh-CN" altLang="en-US" sz="15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作对</a:t>
            </a:r>
            <a:r>
              <a:rPr lang="en-US" altLang="zh-CN" sz="15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zh-CN" altLang="en-US" sz="15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的</a:t>
            </a:r>
            <a:r>
              <a:rPr lang="zh-CN" altLang="en-US" sz="1500" dirty="0">
                <a:latin typeface="Times New Roman" panose="02020603050405020304" pitchFamily="18" charset="0"/>
                <a:ea typeface="华文楷体" panose="02010600040101010101" pitchFamily="2" charset="-122"/>
              </a:rPr>
              <a:t>警戒</a:t>
            </a:r>
            <a:r>
              <a:rPr lang="zh-CN" altLang="en-US" sz="15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标记。</a:t>
            </a:r>
            <a:endParaRPr lang="zh-CN" altLang="en-US" sz="1500" dirty="0">
              <a:solidFill>
                <a:srgbClr val="C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2560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52525"/>
                <a:ext cx="8305800" cy="5248275"/>
              </a:xfrm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sz="2400" dirty="0" smtClean="0">
                    <a:ea typeface="华文楷体" panose="02010600040101010101" pitchFamily="2" charset="-122"/>
                  </a:rPr>
                  <a:t>[</a:t>
                </a:r>
                <a:r>
                  <a:rPr lang="zh-CN" altLang="en-US" sz="2400" dirty="0" smtClean="0">
                    <a:ea typeface="华文楷体" panose="02010600040101010101" pitchFamily="2" charset="-122"/>
                  </a:rPr>
                  <a:t>选择问题</a:t>
                </a:r>
                <a:r>
                  <a:rPr lang="en-US" altLang="zh-CN" sz="2400" dirty="0" smtClean="0">
                    <a:ea typeface="华文楷体" panose="02010600040101010101" pitchFamily="2" charset="-122"/>
                  </a:rPr>
                  <a:t>]-Selection problem</a:t>
                </a:r>
                <a:r>
                  <a:rPr lang="zh-CN" altLang="en-US" sz="2400" dirty="0" smtClean="0">
                    <a:ea typeface="华文楷体" panose="02010600040101010101" pitchFamily="2" charset="-122"/>
                  </a:rPr>
                  <a:t>：在查找集</a:t>
                </a:r>
                <a:r>
                  <a:rPr lang="en-US" altLang="zh-CN" sz="2400" dirty="0" smtClean="0">
                    <a:ea typeface="华文楷体" panose="02010600040101010101" pitchFamily="2" charset="-122"/>
                  </a:rPr>
                  <a:t>S</a:t>
                </a:r>
                <a:r>
                  <a:rPr lang="zh-CN" altLang="en-US" sz="2400" dirty="0" smtClean="0">
                    <a:ea typeface="华文楷体" panose="02010600040101010101" pitchFamily="2" charset="-122"/>
                  </a:rPr>
                  <a:t>中找出第</a:t>
                </a:r>
                <a:r>
                  <a:rPr lang="en-US" altLang="zh-CN" sz="2400" dirty="0" smtClean="0">
                    <a:ea typeface="华文楷体" panose="02010600040101010101" pitchFamily="2" charset="-122"/>
                  </a:rPr>
                  <a:t>k</a:t>
                </a:r>
                <a:r>
                  <a:rPr lang="zh-CN" altLang="en-US" sz="2400" dirty="0" smtClean="0">
                    <a:ea typeface="华文楷体" panose="02010600040101010101" pitchFamily="2" charset="-122"/>
                  </a:rPr>
                  <a:t>个最小的元素。令</a:t>
                </a:r>
                <a:r>
                  <a:rPr lang="en-US" altLang="zh-CN" sz="2400" dirty="0" smtClean="0">
                    <a:ea typeface="华文楷体" panose="02010600040101010101" pitchFamily="2" charset="-122"/>
                    <a:sym typeface="Wingdings" panose="05000000000000000000" pitchFamily="2" charset="2"/>
                  </a:rPr>
                  <a:t>|S</a:t>
                </a:r>
                <a:r>
                  <a:rPr lang="en-US" altLang="zh-CN" sz="2400" baseline="-25000" dirty="0" smtClean="0">
                    <a:ea typeface="华文楷体" panose="02010600040101010101" pitchFamily="2" charset="-122"/>
                    <a:sym typeface="Wingdings" panose="05000000000000000000" pitchFamily="2" charset="2"/>
                  </a:rPr>
                  <a:t>i</a:t>
                </a:r>
                <a:r>
                  <a:rPr lang="en-US" altLang="zh-CN" sz="2400" dirty="0" smtClean="0">
                    <a:ea typeface="华文楷体" panose="02010600040101010101" pitchFamily="2" charset="-122"/>
                    <a:sym typeface="Wingdings" panose="05000000000000000000" pitchFamily="2" charset="2"/>
                  </a:rPr>
                  <a:t>|</a:t>
                </a:r>
                <a:r>
                  <a:rPr lang="zh-CN" altLang="en-US" sz="2400" dirty="0" smtClean="0">
                    <a:ea typeface="华文楷体" panose="02010600040101010101" pitchFamily="2" charset="-122"/>
                    <a:sym typeface="Wingdings" panose="05000000000000000000" pitchFamily="2" charset="2"/>
                  </a:rPr>
                  <a:t>为</a:t>
                </a:r>
                <a:r>
                  <a:rPr lang="en-US" altLang="zh-CN" sz="2400" dirty="0">
                    <a:ea typeface="华文楷体" panose="02010600040101010101" pitchFamily="2" charset="-122"/>
                    <a:sym typeface="Wingdings" panose="05000000000000000000" pitchFamily="2" charset="2"/>
                  </a:rPr>
                  <a:t>S</a:t>
                </a:r>
                <a:r>
                  <a:rPr lang="en-US" altLang="zh-CN" sz="2400" baseline="-25000" dirty="0">
                    <a:ea typeface="华文楷体" panose="02010600040101010101" pitchFamily="2" charset="-122"/>
                    <a:sym typeface="Wingdings" panose="05000000000000000000" pitchFamily="2" charset="2"/>
                  </a:rPr>
                  <a:t>i</a:t>
                </a:r>
                <a:r>
                  <a:rPr lang="en-US" altLang="zh-CN" sz="2400" dirty="0">
                    <a:ea typeface="华文楷体" panose="02010600040101010101" pitchFamily="2" charset="-122"/>
                    <a:sym typeface="Wingdings" panose="05000000000000000000" pitchFamily="2" charset="2"/>
                  </a:rPr>
                  <a:t>|</a:t>
                </a:r>
                <a:r>
                  <a:rPr lang="zh-CN" altLang="en-US" sz="2400" dirty="0" smtClean="0">
                    <a:ea typeface="华文楷体" panose="02010600040101010101" pitchFamily="2" charset="-122"/>
                    <a:sym typeface="Wingdings" panose="05000000000000000000" pitchFamily="2" charset="2"/>
                  </a:rPr>
                  <a:t>中元素个数。利用快速排序解决此问题的算法</a:t>
                </a:r>
                <a:r>
                  <a:rPr lang="en-US" altLang="zh-CN" sz="2400" dirty="0" err="1" smtClean="0">
                    <a:ea typeface="华文楷体" panose="02010600040101010101" pitchFamily="2" charset="-122"/>
                    <a:sym typeface="Wingdings" panose="05000000000000000000" pitchFamily="2" charset="2"/>
                  </a:rPr>
                  <a:t>Qselect</a:t>
                </a:r>
                <a:r>
                  <a:rPr lang="zh-CN" altLang="en-US" sz="2400" dirty="0" smtClean="0">
                    <a:ea typeface="华文楷体" panose="02010600040101010101" pitchFamily="2" charset="-122"/>
                    <a:sym typeface="Wingdings" panose="05000000000000000000" pitchFamily="2" charset="2"/>
                  </a:rPr>
                  <a:t>步骤：</a:t>
                </a:r>
                <a:endParaRPr lang="en-US" altLang="zh-CN" sz="2400" dirty="0" smtClean="0">
                  <a:ea typeface="华文楷体" panose="02010600040101010101" pitchFamily="2" charset="-122"/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ea typeface="华文楷体" panose="02010600040101010101" pitchFamily="2" charset="-122"/>
                    <a:sym typeface="Wingdings" panose="05000000000000000000" pitchFamily="2" charset="2"/>
                  </a:rPr>
                  <a:t>1. </a:t>
                </a:r>
                <a:r>
                  <a:rPr lang="zh-CN" altLang="en-US" sz="2400" dirty="0">
                    <a:ea typeface="华文楷体" panose="02010600040101010101" pitchFamily="2" charset="-122"/>
                    <a:sym typeface="Wingdings" panose="05000000000000000000" pitchFamily="2" charset="2"/>
                  </a:rPr>
                  <a:t>若</a:t>
                </a:r>
                <a:r>
                  <a:rPr lang="en-US" altLang="zh-CN" sz="2400" dirty="0" smtClean="0">
                    <a:ea typeface="华文楷体" panose="02010600040101010101" pitchFamily="2" charset="-122"/>
                    <a:sym typeface="Wingdings" panose="05000000000000000000" pitchFamily="2" charset="2"/>
                  </a:rPr>
                  <a:t>|S|=1</a:t>
                </a:r>
                <a:r>
                  <a:rPr lang="zh-CN" altLang="en-US" sz="2400" dirty="0" smtClean="0">
                    <a:ea typeface="华文楷体" panose="02010600040101010101" pitchFamily="2" charset="-122"/>
                    <a:sym typeface="Wingdings" panose="05000000000000000000" pitchFamily="2" charset="2"/>
                  </a:rPr>
                  <a:t>，则</a:t>
                </a:r>
                <a:r>
                  <a:rPr lang="en-US" altLang="zh-CN" sz="2400" dirty="0" smtClean="0">
                    <a:ea typeface="华文楷体" panose="02010600040101010101" pitchFamily="2" charset="-122"/>
                    <a:sym typeface="Wingdings" panose="05000000000000000000" pitchFamily="2" charset="2"/>
                  </a:rPr>
                  <a:t>k=1</a:t>
                </a:r>
                <a:r>
                  <a:rPr lang="zh-CN" altLang="en-US" sz="2400" dirty="0" smtClean="0">
                    <a:ea typeface="华文楷体" panose="02010600040101010101" pitchFamily="2" charset="-122"/>
                    <a:sym typeface="Wingdings" panose="05000000000000000000" pitchFamily="2" charset="2"/>
                  </a:rPr>
                  <a:t>，将</a:t>
                </a:r>
                <a:r>
                  <a:rPr lang="en-US" altLang="zh-CN" sz="2400" dirty="0" smtClean="0">
                    <a:ea typeface="华文楷体" panose="02010600040101010101" pitchFamily="2" charset="-122"/>
                    <a:sym typeface="Wingdings" panose="05000000000000000000" pitchFamily="2" charset="2"/>
                  </a:rPr>
                  <a:t>S</a:t>
                </a:r>
                <a:r>
                  <a:rPr lang="zh-CN" altLang="en-US" sz="2400" dirty="0" smtClean="0">
                    <a:ea typeface="华文楷体" panose="02010600040101010101" pitchFamily="2" charset="-122"/>
                    <a:sym typeface="Wingdings" panose="05000000000000000000" pitchFamily="2" charset="2"/>
                  </a:rPr>
                  <a:t>中的元素作为答案返回。若数组规模较小，则将</a:t>
                </a:r>
                <a:r>
                  <a:rPr lang="en-US" altLang="zh-CN" sz="2400" dirty="0" smtClean="0">
                    <a:ea typeface="华文楷体" panose="02010600040101010101" pitchFamily="2" charset="-122"/>
                    <a:sym typeface="Wingdings" panose="05000000000000000000" pitchFamily="2" charset="2"/>
                  </a:rPr>
                  <a:t>S</a:t>
                </a:r>
                <a:r>
                  <a:rPr lang="zh-CN" altLang="en-US" sz="2400" dirty="0" smtClean="0">
                    <a:ea typeface="华文楷体" panose="02010600040101010101" pitchFamily="2" charset="-122"/>
                    <a:sym typeface="Wingdings" panose="05000000000000000000" pitchFamily="2" charset="2"/>
                  </a:rPr>
                  <a:t>采用直接插入排序等算法排好序，并返回第</a:t>
                </a:r>
                <a:r>
                  <a:rPr lang="en-US" altLang="zh-CN" sz="2400" dirty="0" smtClean="0">
                    <a:ea typeface="华文楷体" panose="02010600040101010101" pitchFamily="2" charset="-122"/>
                    <a:sym typeface="Wingdings" panose="05000000000000000000" pitchFamily="2" charset="2"/>
                  </a:rPr>
                  <a:t>k</a:t>
                </a:r>
                <a:r>
                  <a:rPr lang="zh-CN" altLang="en-US" sz="2400" dirty="0" smtClean="0">
                    <a:ea typeface="华文楷体" panose="02010600040101010101" pitchFamily="2" charset="-122"/>
                    <a:sym typeface="Wingdings" panose="05000000000000000000" pitchFamily="2" charset="2"/>
                  </a:rPr>
                  <a:t>个最小元素。</a:t>
                </a:r>
                <a:endParaRPr lang="en-US" altLang="zh-CN" sz="2400" dirty="0" smtClean="0">
                  <a:ea typeface="华文楷体" panose="02010600040101010101" pitchFamily="2" charset="-122"/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ea typeface="华文楷体" panose="02010600040101010101" pitchFamily="2" charset="-122"/>
                    <a:sym typeface="Wingdings" panose="05000000000000000000" pitchFamily="2" charset="2"/>
                  </a:rPr>
                  <a:t>2. </a:t>
                </a:r>
                <a:r>
                  <a:rPr lang="zh-CN" altLang="en-US" sz="2400" dirty="0" smtClean="0">
                    <a:ea typeface="华文楷体" panose="02010600040101010101" pitchFamily="2" charset="-122"/>
                    <a:sym typeface="Wingdings" panose="05000000000000000000" pitchFamily="2" charset="2"/>
                  </a:rPr>
                  <a:t>选取一个枢纽</a:t>
                </a:r>
                <a:r>
                  <a:rPr lang="en-US" altLang="zh-CN" sz="2400" dirty="0" smtClean="0">
                    <a:ea typeface="华文楷体" panose="02010600040101010101" pitchFamily="2" charset="-122"/>
                    <a:sym typeface="Wingdings" panose="05000000000000000000" pitchFamily="2" charset="2"/>
                  </a:rPr>
                  <a:t>v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S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。</m:t>
                    </m:r>
                  </m:oMath>
                </a14:m>
                <a:endParaRPr lang="en-US" altLang="zh-CN" sz="2400" dirty="0" smtClean="0">
                  <a:ea typeface="华文楷体" panose="02010600040101010101" pitchFamily="2" charset="-122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ea typeface="华文楷体" panose="02010600040101010101" pitchFamily="2" charset="-122"/>
                  </a:rPr>
                  <a:t>3. </a:t>
                </a:r>
                <a:r>
                  <a:rPr lang="zh-CN" altLang="en-US" sz="2400" dirty="0" smtClean="0">
                    <a:ea typeface="华文楷体" panose="02010600040101010101" pitchFamily="2" charset="-122"/>
                  </a:rPr>
                  <a:t>将集合</a:t>
                </a:r>
                <a:r>
                  <a:rPr lang="en-US" altLang="zh-CN" sz="2400" dirty="0" smtClean="0">
                    <a:ea typeface="华文楷体" panose="02010600040101010101" pitchFamily="2" charset="-122"/>
                  </a:rPr>
                  <a:t>S-{v}</a:t>
                </a:r>
                <a:r>
                  <a:rPr lang="zh-CN" altLang="en-US" sz="2400" dirty="0" smtClean="0">
                    <a:ea typeface="华文楷体" panose="02010600040101010101" pitchFamily="2" charset="-122"/>
                  </a:rPr>
                  <a:t>分割成</a:t>
                </a:r>
                <a:r>
                  <a:rPr lang="en-US" altLang="zh-CN" sz="2400" dirty="0" smtClean="0">
                    <a:ea typeface="华文楷体" panose="02010600040101010101" pitchFamily="2" charset="-122"/>
                  </a:rPr>
                  <a:t>S</a:t>
                </a:r>
                <a:r>
                  <a:rPr lang="en-US" altLang="zh-CN" sz="2400" baseline="-25000" dirty="0" smtClean="0">
                    <a:ea typeface="华文楷体" panose="02010600040101010101" pitchFamily="2" charset="-122"/>
                  </a:rPr>
                  <a:t>1</a:t>
                </a:r>
                <a:r>
                  <a:rPr lang="zh-CN" altLang="en-US" sz="2400" dirty="0" smtClean="0">
                    <a:ea typeface="华文楷体" panose="02010600040101010101" pitchFamily="2" charset="-122"/>
                  </a:rPr>
                  <a:t>和</a:t>
                </a:r>
                <a:r>
                  <a:rPr lang="en-US" altLang="zh-CN" sz="2400" dirty="0" smtClean="0">
                    <a:ea typeface="华文楷体" panose="02010600040101010101" pitchFamily="2" charset="-122"/>
                  </a:rPr>
                  <a:t>S</a:t>
                </a:r>
                <a:r>
                  <a:rPr lang="en-US" altLang="zh-CN" sz="2400" baseline="-25000" dirty="0" smtClean="0">
                    <a:ea typeface="华文楷体" panose="02010600040101010101" pitchFamily="2" charset="-122"/>
                  </a:rPr>
                  <a:t>2</a:t>
                </a:r>
                <a:r>
                  <a:rPr lang="zh-CN" altLang="en-US" sz="2400" dirty="0" smtClean="0">
                    <a:ea typeface="华文楷体" panose="02010600040101010101" pitchFamily="2" charset="-122"/>
                  </a:rPr>
                  <a:t>。</a:t>
                </a:r>
                <a:endParaRPr lang="en-US" altLang="zh-CN" sz="2400" dirty="0" smtClean="0">
                  <a:ea typeface="华文楷体" panose="02010600040101010101" pitchFamily="2" charset="-122"/>
                </a:endParaRPr>
              </a:p>
              <a:p>
                <a:pPr marL="0" indent="0">
                  <a:buNone/>
                </a:pPr>
                <a:r>
                  <a:rPr lang="en-US" altLang="zh-CN" sz="2400" dirty="0" smtClean="0">
                    <a:ea typeface="华文楷体" panose="02010600040101010101" pitchFamily="2" charset="-122"/>
                  </a:rPr>
                  <a:t>4. </a:t>
                </a:r>
                <a:r>
                  <a:rPr lang="zh-CN" altLang="en-US" sz="2400" dirty="0">
                    <a:ea typeface="华文楷体" panose="02010600040101010101" pitchFamily="2" charset="-122"/>
                  </a:rPr>
                  <a:t>若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≤|</m:t>
                    </m:r>
                    <m:r>
                      <m:rPr>
                        <m:sty m:val="p"/>
                      </m:rP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n-US" altLang="zh-CN" sz="24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zh-CN" altLang="en-US" sz="2400" dirty="0">
                    <a:ea typeface="华文楷体" panose="02010600040101010101" pitchFamily="2" charset="-122"/>
                  </a:rPr>
                  <a:t>，</a:t>
                </a:r>
                <a:r>
                  <a:rPr lang="zh-CN" altLang="en-US" sz="2400" dirty="0" smtClean="0">
                    <a:ea typeface="华文楷体" panose="02010600040101010101" pitchFamily="2" charset="-122"/>
                  </a:rPr>
                  <a:t>则第</a:t>
                </a:r>
                <a:r>
                  <a:rPr lang="en-US" altLang="zh-CN" sz="2400" dirty="0" smtClean="0">
                    <a:ea typeface="华文楷体" panose="02010600040101010101" pitchFamily="2" charset="-122"/>
                  </a:rPr>
                  <a:t>k</a:t>
                </a:r>
                <a:r>
                  <a:rPr lang="zh-CN" altLang="en-US" sz="2400" dirty="0" smtClean="0">
                    <a:ea typeface="华文楷体" panose="02010600040101010101" pitchFamily="2" charset="-122"/>
                  </a:rPr>
                  <a:t>个最小元素必在</a:t>
                </a:r>
                <a:r>
                  <a:rPr lang="en-US" altLang="zh-CN" sz="2400" dirty="0">
                    <a:ea typeface="华文楷体" panose="02010600040101010101" pitchFamily="2" charset="-122"/>
                  </a:rPr>
                  <a:t>S</a:t>
                </a:r>
                <a:r>
                  <a:rPr lang="en-US" altLang="zh-CN" sz="2400" baseline="-25000" dirty="0">
                    <a:ea typeface="华文楷体" panose="02010600040101010101" pitchFamily="2" charset="-122"/>
                  </a:rPr>
                  <a:t>1</a:t>
                </a:r>
                <a:r>
                  <a:rPr lang="zh-CN" altLang="en-US" sz="2400" dirty="0" smtClean="0">
                    <a:ea typeface="华文楷体" panose="02010600040101010101" pitchFamily="2" charset="-122"/>
                  </a:rPr>
                  <a:t>中，则对</a:t>
                </a:r>
                <a:r>
                  <a:rPr lang="en-US" altLang="zh-CN" sz="2400" dirty="0">
                    <a:ea typeface="华文楷体" panose="02010600040101010101" pitchFamily="2" charset="-122"/>
                  </a:rPr>
                  <a:t>S</a:t>
                </a:r>
                <a:r>
                  <a:rPr lang="en-US" altLang="zh-CN" sz="2400" baseline="-25000" dirty="0">
                    <a:ea typeface="华文楷体" panose="02010600040101010101" pitchFamily="2" charset="-122"/>
                  </a:rPr>
                  <a:t>1</a:t>
                </a:r>
                <a:r>
                  <a:rPr lang="zh-CN" altLang="en-US" sz="2400" dirty="0" smtClean="0">
                    <a:ea typeface="华文楷体" panose="02010600040101010101" pitchFamily="2" charset="-122"/>
                  </a:rPr>
                  <a:t>递归求解；若</a:t>
                </a:r>
                <a:r>
                  <a:rPr lang="en-US" altLang="zh-CN" sz="2400" dirty="0" smtClean="0">
                    <a:ea typeface="华文楷体" panose="02010600040101010101" pitchFamily="2" charset="-122"/>
                  </a:rPr>
                  <a:t>k=1+</a:t>
                </a:r>
                <a:r>
                  <a:rPr lang="en-US" altLang="zh-CN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n-US" altLang="zh-CN" sz="2400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 smtClean="0">
                    <a:ea typeface="华文楷体" panose="02010600040101010101" pitchFamily="2" charset="-122"/>
                  </a:rPr>
                  <a:t>，则枢纽是第</a:t>
                </a:r>
                <a:r>
                  <a:rPr lang="en-US" altLang="zh-CN" sz="2400" dirty="0" smtClean="0">
                    <a:ea typeface="华文楷体" panose="02010600040101010101" pitchFamily="2" charset="-122"/>
                  </a:rPr>
                  <a:t>k</a:t>
                </a:r>
                <a:r>
                  <a:rPr lang="zh-CN" altLang="en-US" sz="2400" dirty="0" smtClean="0">
                    <a:ea typeface="华文楷体" panose="02010600040101010101" pitchFamily="2" charset="-122"/>
                  </a:rPr>
                  <a:t>个最小元素，返回枢纽。否则，</a:t>
                </a:r>
                <a:r>
                  <a:rPr lang="zh-CN" altLang="en-US" sz="2400" dirty="0">
                    <a:ea typeface="华文楷体" panose="02010600040101010101" pitchFamily="2" charset="-122"/>
                  </a:rPr>
                  <a:t>第</a:t>
                </a:r>
                <a:r>
                  <a:rPr lang="en-US" altLang="zh-CN" sz="2400" dirty="0">
                    <a:ea typeface="华文楷体" panose="02010600040101010101" pitchFamily="2" charset="-122"/>
                  </a:rPr>
                  <a:t>k</a:t>
                </a:r>
                <a:r>
                  <a:rPr lang="zh-CN" altLang="en-US" sz="2400" dirty="0">
                    <a:ea typeface="华文楷体" panose="02010600040101010101" pitchFamily="2" charset="-122"/>
                  </a:rPr>
                  <a:t>个最小元素必在</a:t>
                </a:r>
                <a:r>
                  <a:rPr lang="en-US" altLang="zh-CN" sz="2400" dirty="0" smtClean="0">
                    <a:ea typeface="华文楷体" panose="02010600040101010101" pitchFamily="2" charset="-122"/>
                  </a:rPr>
                  <a:t>S</a:t>
                </a:r>
                <a:r>
                  <a:rPr lang="en-US" altLang="zh-CN" sz="2400" baseline="-25000" dirty="0" smtClean="0">
                    <a:ea typeface="华文楷体" panose="02010600040101010101" pitchFamily="2" charset="-122"/>
                  </a:rPr>
                  <a:t>2</a:t>
                </a:r>
                <a:r>
                  <a:rPr lang="zh-CN" altLang="en-US" sz="2400" dirty="0" smtClean="0">
                    <a:ea typeface="华文楷体" panose="02010600040101010101" pitchFamily="2" charset="-122"/>
                  </a:rPr>
                  <a:t>中，它是</a:t>
                </a:r>
                <a:r>
                  <a:rPr lang="en-US" altLang="zh-CN" sz="2400" dirty="0">
                    <a:ea typeface="华文楷体" panose="02010600040101010101" pitchFamily="2" charset="-122"/>
                  </a:rPr>
                  <a:t>S</a:t>
                </a:r>
                <a:r>
                  <a:rPr lang="en-US" altLang="zh-CN" sz="2400" baseline="-25000" dirty="0">
                    <a:ea typeface="华文楷体" panose="02010600040101010101" pitchFamily="2" charset="-122"/>
                  </a:rPr>
                  <a:t>2</a:t>
                </a:r>
                <a:r>
                  <a:rPr lang="zh-CN" altLang="en-US" sz="2400" dirty="0" smtClean="0">
                    <a:ea typeface="华文楷体" panose="02010600040101010101" pitchFamily="2" charset="-122"/>
                  </a:rPr>
                  <a:t>中第</a:t>
                </a:r>
                <a:r>
                  <a:rPr lang="en-US" altLang="zh-CN" sz="2400" dirty="0" smtClean="0">
                    <a:ea typeface="华文楷体" panose="02010600040101010101" pitchFamily="2" charset="-122"/>
                  </a:rPr>
                  <a:t>(k-</a:t>
                </a:r>
                <a:r>
                  <a:rPr lang="en-US" altLang="zh-CN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n-US" altLang="zh-CN" sz="2400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dirty="0" smtClean="0">
                    <a:ea typeface="华文楷体" panose="02010600040101010101" pitchFamily="2" charset="-122"/>
                  </a:rPr>
                  <a:t>-1)</a:t>
                </a:r>
                <a:r>
                  <a:rPr lang="zh-CN" altLang="en-US" sz="2400" dirty="0" smtClean="0">
                    <a:ea typeface="华文楷体" panose="02010600040101010101" pitchFamily="2" charset="-122"/>
                  </a:rPr>
                  <a:t>个最小元素，对</a:t>
                </a:r>
                <a:r>
                  <a:rPr lang="en-US" altLang="zh-CN" sz="2400" dirty="0">
                    <a:ea typeface="华文楷体" panose="02010600040101010101" pitchFamily="2" charset="-122"/>
                  </a:rPr>
                  <a:t>S</a:t>
                </a:r>
                <a:r>
                  <a:rPr lang="en-US" altLang="zh-CN" sz="2400" baseline="-25000" dirty="0">
                    <a:ea typeface="华文楷体" panose="02010600040101010101" pitchFamily="2" charset="-122"/>
                  </a:rPr>
                  <a:t>2</a:t>
                </a:r>
                <a:r>
                  <a:rPr lang="zh-CN" altLang="en-US" sz="2400" dirty="0" smtClean="0">
                    <a:ea typeface="华文楷体" panose="02010600040101010101" pitchFamily="2" charset="-122"/>
                  </a:rPr>
                  <a:t>递归。</a:t>
                </a:r>
                <a:endParaRPr lang="zh-CN" altLang="en-US" sz="2400" dirty="0">
                  <a:ea typeface="华文楷体" panose="02010600040101010101" pitchFamily="2" charset="-122"/>
                </a:endParaRPr>
              </a:p>
              <a:p>
                <a:pPr marL="0" indent="0">
                  <a:buNone/>
                </a:pPr>
                <a:endParaRPr lang="en-US" altLang="zh-CN" sz="2400" dirty="0" smtClean="0"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52525"/>
                <a:ext cx="8305800" cy="5248275"/>
              </a:xfrm>
              <a:blipFill>
                <a:blip r:embed="rId2"/>
                <a:stretch>
                  <a:fillRect l="-1026" t="-927" r="-952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 SCST</a:t>
            </a:r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7412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52525"/>
            <a:ext cx="8229600" cy="5705475"/>
          </a:xfrm>
          <a:ln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altLang="zh-CN" sz="1400" dirty="0" smtClean="0">
                <a:ea typeface="华文楷体" panose="02010600040101010101" pitchFamily="2" charset="-122"/>
              </a:rPr>
              <a:t>#define Cutoff (3)</a:t>
            </a:r>
            <a:endParaRPr lang="en-US" altLang="zh-CN" sz="1400" dirty="0"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1400" dirty="0" smtClean="0">
                <a:ea typeface="华文楷体" panose="02010600040101010101" pitchFamily="2" charset="-122"/>
              </a:rPr>
              <a:t>void </a:t>
            </a:r>
            <a:r>
              <a:rPr lang="en-US" altLang="zh-CN" sz="1400" dirty="0" err="1" smtClean="0">
                <a:ea typeface="华文楷体" panose="02010600040101010101" pitchFamily="2" charset="-122"/>
              </a:rPr>
              <a:t>Qselect</a:t>
            </a:r>
            <a:r>
              <a:rPr lang="en-US" altLang="zh-CN" sz="1400" dirty="0" smtClean="0">
                <a:ea typeface="华文楷体" panose="02010600040101010101" pitchFamily="2" charset="-122"/>
              </a:rPr>
              <a:t>(</a:t>
            </a:r>
            <a:r>
              <a:rPr lang="en-US" altLang="zh-CN" sz="1400" dirty="0" err="1" smtClean="0">
                <a:ea typeface="华文楷体" panose="02010600040101010101" pitchFamily="2" charset="-122"/>
              </a:rPr>
              <a:t>ElemType</a:t>
            </a:r>
            <a:r>
              <a:rPr lang="en-US" altLang="zh-CN" sz="1400" dirty="0" smtClean="0">
                <a:ea typeface="华文楷体" panose="02010600040101010101" pitchFamily="2" charset="-122"/>
              </a:rPr>
              <a:t> a[], </a:t>
            </a:r>
            <a:r>
              <a:rPr lang="en-US" altLang="zh-CN" sz="1400" dirty="0" err="1" smtClean="0">
                <a:ea typeface="华文楷体" panose="02010600040101010101" pitchFamily="2" charset="-122"/>
              </a:rPr>
              <a:t>int</a:t>
            </a:r>
            <a:r>
              <a:rPr lang="en-US" altLang="zh-CN" sz="1400" dirty="0" smtClean="0">
                <a:ea typeface="华文楷体" panose="02010600040101010101" pitchFamily="2" charset="-122"/>
              </a:rPr>
              <a:t> k, </a:t>
            </a:r>
            <a:r>
              <a:rPr lang="en-US" altLang="zh-CN" sz="1400" dirty="0" err="1" smtClean="0">
                <a:ea typeface="华文楷体" panose="02010600040101010101" pitchFamily="2" charset="-122"/>
              </a:rPr>
              <a:t>int</a:t>
            </a:r>
            <a:r>
              <a:rPr lang="en-US" altLang="zh-CN" sz="1400" dirty="0" smtClean="0">
                <a:ea typeface="华文楷体" panose="02010600040101010101" pitchFamily="2" charset="-122"/>
              </a:rPr>
              <a:t> left, </a:t>
            </a:r>
            <a:r>
              <a:rPr lang="en-US" altLang="zh-CN" sz="1400" dirty="0" err="1" smtClean="0">
                <a:ea typeface="华文楷体" panose="02010600040101010101" pitchFamily="2" charset="-122"/>
              </a:rPr>
              <a:t>int</a:t>
            </a:r>
            <a:r>
              <a:rPr lang="en-US" altLang="zh-CN" sz="1400" dirty="0" smtClean="0">
                <a:ea typeface="华文楷体" panose="02010600040101010101" pitchFamily="2" charset="-122"/>
              </a:rPr>
              <a:t> right) //</a:t>
            </a:r>
            <a:r>
              <a:rPr lang="zh-CN" altLang="en-US" sz="1400" dirty="0" smtClean="0">
                <a:ea typeface="华文楷体" panose="02010600040101010101" pitchFamily="2" charset="-122"/>
              </a:rPr>
              <a:t> </a:t>
            </a:r>
            <a:endParaRPr lang="en-US" altLang="zh-CN" sz="1400" dirty="0" smtClean="0"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1400" dirty="0" smtClean="0">
                <a:ea typeface="华文楷体" panose="0201060004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1400" dirty="0">
                <a:ea typeface="华文楷体" panose="02010600040101010101" pitchFamily="2" charset="-122"/>
              </a:rPr>
              <a:t> </a:t>
            </a:r>
            <a:r>
              <a:rPr lang="en-US" altLang="zh-CN" sz="1400" dirty="0" smtClean="0">
                <a:ea typeface="华文楷体" panose="02010600040101010101" pitchFamily="2" charset="-122"/>
              </a:rPr>
              <a:t>   </a:t>
            </a:r>
            <a:r>
              <a:rPr lang="en-US" altLang="zh-CN" sz="1400" dirty="0" err="1" smtClean="0">
                <a:ea typeface="华文楷体" panose="02010600040101010101" pitchFamily="2" charset="-122"/>
              </a:rPr>
              <a:t>int</a:t>
            </a:r>
            <a:r>
              <a:rPr lang="en-US" altLang="zh-CN" sz="1400" dirty="0" smtClean="0">
                <a:ea typeface="华文楷体" panose="02010600040101010101" pitchFamily="2" charset="-122"/>
              </a:rPr>
              <a:t> </a:t>
            </a:r>
            <a:r>
              <a:rPr lang="en-US" altLang="zh-CN" sz="14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1400" dirty="0" smtClean="0">
                <a:ea typeface="华文楷体" panose="02010600040101010101" pitchFamily="2" charset="-122"/>
              </a:rPr>
              <a:t>, j;</a:t>
            </a:r>
          </a:p>
          <a:p>
            <a:pPr marL="0" indent="0">
              <a:buNone/>
            </a:pPr>
            <a:r>
              <a:rPr lang="en-US" altLang="zh-CN" sz="1400" dirty="0">
                <a:ea typeface="华文楷体" panose="02010600040101010101" pitchFamily="2" charset="-122"/>
              </a:rPr>
              <a:t> </a:t>
            </a:r>
            <a:r>
              <a:rPr lang="en-US" altLang="zh-CN" sz="1400" dirty="0" smtClean="0">
                <a:ea typeface="华文楷体" panose="02010600040101010101" pitchFamily="2" charset="-122"/>
              </a:rPr>
              <a:t>   </a:t>
            </a:r>
            <a:r>
              <a:rPr lang="en-US" altLang="zh-CN" sz="1400" dirty="0" err="1" smtClean="0">
                <a:ea typeface="华文楷体" panose="02010600040101010101" pitchFamily="2" charset="-122"/>
              </a:rPr>
              <a:t>ElemType</a:t>
            </a:r>
            <a:r>
              <a:rPr lang="en-US" altLang="zh-CN" sz="1400" dirty="0" smtClean="0">
                <a:ea typeface="华文楷体" panose="02010600040101010101" pitchFamily="2" charset="-122"/>
              </a:rPr>
              <a:t> Pivot;</a:t>
            </a:r>
          </a:p>
          <a:p>
            <a:pPr marL="0" indent="0">
              <a:buNone/>
            </a:pPr>
            <a:r>
              <a:rPr lang="en-US" altLang="zh-CN" sz="1400" dirty="0">
                <a:ea typeface="华文楷体" panose="02010600040101010101" pitchFamily="2" charset="-122"/>
              </a:rPr>
              <a:t> </a:t>
            </a:r>
            <a:r>
              <a:rPr lang="en-US" altLang="zh-CN" sz="1400" dirty="0" smtClean="0">
                <a:ea typeface="华文楷体" panose="02010600040101010101" pitchFamily="2" charset="-122"/>
              </a:rPr>
              <a:t>   if  (left +Cutoff &lt;= right)</a:t>
            </a:r>
          </a:p>
          <a:p>
            <a:pPr marL="0" indent="0">
              <a:buNone/>
            </a:pPr>
            <a:r>
              <a:rPr lang="en-US" altLang="zh-CN" sz="1400" dirty="0">
                <a:ea typeface="华文楷体" panose="02010600040101010101" pitchFamily="2" charset="-122"/>
              </a:rPr>
              <a:t> </a:t>
            </a:r>
            <a:r>
              <a:rPr lang="en-US" altLang="zh-CN" sz="1400" dirty="0" smtClean="0">
                <a:ea typeface="华文楷体" panose="02010600040101010101" pitchFamily="2" charset="-122"/>
              </a:rPr>
              <a:t>   {</a:t>
            </a:r>
          </a:p>
          <a:p>
            <a:pPr marL="0" indent="0">
              <a:buNone/>
            </a:pPr>
            <a:r>
              <a:rPr lang="en-US" altLang="zh-CN" sz="1400" dirty="0">
                <a:ea typeface="华文楷体" panose="02010600040101010101" pitchFamily="2" charset="-122"/>
              </a:rPr>
              <a:t> </a:t>
            </a:r>
            <a:r>
              <a:rPr lang="en-US" altLang="zh-CN" sz="1400" dirty="0" smtClean="0">
                <a:ea typeface="华文楷体" panose="02010600040101010101" pitchFamily="2" charset="-122"/>
              </a:rPr>
              <a:t>       Pivot = Media3(a, left, right);</a:t>
            </a:r>
          </a:p>
          <a:p>
            <a:pPr marL="0" indent="0">
              <a:buNone/>
            </a:pPr>
            <a:r>
              <a:rPr lang="en-US" altLang="zh-CN" sz="1400" dirty="0">
                <a:ea typeface="华文楷体" panose="02010600040101010101" pitchFamily="2" charset="-122"/>
              </a:rPr>
              <a:t> </a:t>
            </a:r>
            <a:r>
              <a:rPr lang="en-US" altLang="zh-CN" sz="1400" dirty="0" smtClean="0">
                <a:ea typeface="华文楷体" panose="02010600040101010101" pitchFamily="2" charset="-122"/>
              </a:rPr>
              <a:t>       </a:t>
            </a:r>
            <a:r>
              <a:rPr lang="en-US" altLang="zh-CN" sz="14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1400" dirty="0" smtClean="0">
                <a:ea typeface="华文楷体" panose="02010600040101010101" pitchFamily="2" charset="-122"/>
              </a:rPr>
              <a:t> = Left;  j = right -1;</a:t>
            </a:r>
          </a:p>
          <a:p>
            <a:pPr marL="0" indent="0">
              <a:buNone/>
            </a:pPr>
            <a:r>
              <a:rPr lang="en-US" altLang="zh-CN" sz="1400" dirty="0">
                <a:ea typeface="华文楷体" panose="02010600040101010101" pitchFamily="2" charset="-122"/>
              </a:rPr>
              <a:t> </a:t>
            </a:r>
            <a:r>
              <a:rPr lang="en-US" altLang="zh-CN" sz="1400" dirty="0" smtClean="0">
                <a:ea typeface="华文楷体" panose="02010600040101010101" pitchFamily="2" charset="-122"/>
              </a:rPr>
              <a:t>       for (;;)</a:t>
            </a:r>
          </a:p>
          <a:p>
            <a:pPr marL="0" indent="0">
              <a:buNone/>
            </a:pPr>
            <a:r>
              <a:rPr lang="en-US" altLang="zh-CN" sz="1400" dirty="0" smtClean="0">
                <a:ea typeface="华文楷体" panose="02010600040101010101" pitchFamily="2" charset="-122"/>
              </a:rPr>
              <a:t>        {</a:t>
            </a:r>
          </a:p>
          <a:p>
            <a:pPr marL="0" indent="0">
              <a:buNone/>
            </a:pPr>
            <a:r>
              <a:rPr lang="en-US" altLang="zh-CN" sz="1400" dirty="0">
                <a:ea typeface="华文楷体" panose="02010600040101010101" pitchFamily="2" charset="-122"/>
              </a:rPr>
              <a:t> </a:t>
            </a:r>
            <a:r>
              <a:rPr lang="en-US" altLang="zh-CN" sz="1400" dirty="0" smtClean="0">
                <a:ea typeface="华文楷体" panose="02010600040101010101" pitchFamily="2" charset="-122"/>
              </a:rPr>
              <a:t>           while (a[++</a:t>
            </a:r>
            <a:r>
              <a:rPr lang="en-US" altLang="zh-CN" sz="14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1400" dirty="0" smtClean="0">
                <a:ea typeface="华文楷体" panose="02010600040101010101" pitchFamily="2" charset="-122"/>
              </a:rPr>
              <a:t>] &lt; Pivot) {}</a:t>
            </a:r>
          </a:p>
          <a:p>
            <a:pPr marL="0" indent="0">
              <a:buNone/>
            </a:pPr>
            <a:r>
              <a:rPr lang="en-US" altLang="zh-CN" sz="1400" dirty="0">
                <a:ea typeface="华文楷体" panose="02010600040101010101" pitchFamily="2" charset="-122"/>
              </a:rPr>
              <a:t> </a:t>
            </a:r>
            <a:r>
              <a:rPr lang="en-US" altLang="zh-CN" sz="1400" dirty="0" smtClean="0">
                <a:ea typeface="华文楷体" panose="02010600040101010101" pitchFamily="2" charset="-122"/>
              </a:rPr>
              <a:t>           while (a[--j] &lt; Pivot) {} </a:t>
            </a:r>
          </a:p>
          <a:p>
            <a:pPr marL="0" indent="0">
              <a:buNone/>
            </a:pPr>
            <a:r>
              <a:rPr lang="en-US" altLang="zh-CN" sz="1400" dirty="0">
                <a:ea typeface="华文楷体" panose="02010600040101010101" pitchFamily="2" charset="-122"/>
              </a:rPr>
              <a:t> </a:t>
            </a:r>
            <a:r>
              <a:rPr lang="en-US" altLang="zh-CN" sz="1400" dirty="0" smtClean="0">
                <a:ea typeface="华文楷体" panose="02010600040101010101" pitchFamily="2" charset="-122"/>
              </a:rPr>
              <a:t>           if (</a:t>
            </a:r>
            <a:r>
              <a:rPr lang="en-US" altLang="zh-CN" sz="14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1400" dirty="0" smtClean="0">
                <a:ea typeface="华文楷体" panose="02010600040101010101" pitchFamily="2" charset="-122"/>
              </a:rPr>
              <a:t> &lt; j)    swap(&amp;a[</a:t>
            </a:r>
            <a:r>
              <a:rPr lang="en-US" altLang="zh-CN" sz="14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1400" dirty="0" smtClean="0">
                <a:ea typeface="华文楷体" panose="02010600040101010101" pitchFamily="2" charset="-122"/>
              </a:rPr>
              <a:t>], &amp;a[j]);</a:t>
            </a:r>
          </a:p>
          <a:p>
            <a:pPr marL="0" indent="0">
              <a:buNone/>
            </a:pPr>
            <a:r>
              <a:rPr lang="en-US" altLang="zh-CN" sz="1400" dirty="0">
                <a:ea typeface="华文楷体" panose="02010600040101010101" pitchFamily="2" charset="-122"/>
              </a:rPr>
              <a:t> </a:t>
            </a:r>
            <a:r>
              <a:rPr lang="en-US" altLang="zh-CN" sz="1400" dirty="0" smtClean="0">
                <a:ea typeface="华文楷体" panose="02010600040101010101" pitchFamily="2" charset="-122"/>
              </a:rPr>
              <a:t>           else    break;</a:t>
            </a:r>
          </a:p>
          <a:p>
            <a:pPr marL="0" indent="0">
              <a:buNone/>
            </a:pPr>
            <a:r>
              <a:rPr lang="en-US" altLang="zh-CN" sz="1400" dirty="0">
                <a:ea typeface="华文楷体" panose="02010600040101010101" pitchFamily="2" charset="-122"/>
              </a:rPr>
              <a:t> </a:t>
            </a:r>
            <a:r>
              <a:rPr lang="en-US" altLang="zh-CN" sz="1400" dirty="0" smtClean="0">
                <a:ea typeface="华文楷体" panose="02010600040101010101" pitchFamily="2" charset="-122"/>
              </a:rPr>
              <a:t>       }</a:t>
            </a:r>
          </a:p>
          <a:p>
            <a:pPr marL="0" indent="0">
              <a:buNone/>
            </a:pPr>
            <a:r>
              <a:rPr lang="en-US" altLang="zh-CN" sz="1400" dirty="0">
                <a:ea typeface="华文楷体" panose="02010600040101010101" pitchFamily="2" charset="-122"/>
              </a:rPr>
              <a:t> </a:t>
            </a:r>
            <a:r>
              <a:rPr lang="en-US" altLang="zh-CN" sz="1400" dirty="0" smtClean="0">
                <a:ea typeface="华文楷体" panose="02010600040101010101" pitchFamily="2" charset="-122"/>
              </a:rPr>
              <a:t>       swap (&amp;a[</a:t>
            </a:r>
            <a:r>
              <a:rPr lang="en-US" altLang="zh-CN" sz="14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1400" dirty="0" smtClean="0">
                <a:ea typeface="华文楷体" panose="02010600040101010101" pitchFamily="2" charset="-122"/>
              </a:rPr>
              <a:t>], &amp;a[right -1]);</a:t>
            </a:r>
          </a:p>
          <a:p>
            <a:pPr marL="0" indent="0">
              <a:buNone/>
            </a:pPr>
            <a:r>
              <a:rPr lang="en-US" altLang="zh-CN" sz="1400" dirty="0">
                <a:ea typeface="华文楷体" panose="02010600040101010101" pitchFamily="2" charset="-122"/>
              </a:rPr>
              <a:t> </a:t>
            </a:r>
            <a:r>
              <a:rPr lang="en-US" altLang="zh-CN" sz="1400" dirty="0" smtClean="0">
                <a:ea typeface="华文楷体" panose="02010600040101010101" pitchFamily="2" charset="-122"/>
              </a:rPr>
              <a:t>       if (k &lt;= </a:t>
            </a:r>
            <a:r>
              <a:rPr lang="en-US" altLang="zh-CN" sz="14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1400" dirty="0" smtClean="0">
                <a:ea typeface="华文楷体" panose="02010600040101010101" pitchFamily="2" charset="-122"/>
              </a:rPr>
              <a:t> )    </a:t>
            </a:r>
            <a:r>
              <a:rPr lang="en-US" altLang="zh-CN" sz="1400" dirty="0" err="1" smtClean="0">
                <a:ea typeface="华文楷体" panose="02010600040101010101" pitchFamily="2" charset="-122"/>
              </a:rPr>
              <a:t>Qselect</a:t>
            </a:r>
            <a:r>
              <a:rPr lang="en-US" altLang="zh-CN" sz="1400" dirty="0" smtClean="0">
                <a:ea typeface="华文楷体" panose="02010600040101010101" pitchFamily="2" charset="-122"/>
              </a:rPr>
              <a:t>(a, k, left, i-1);</a:t>
            </a:r>
          </a:p>
          <a:p>
            <a:pPr marL="0" indent="0">
              <a:buNone/>
            </a:pPr>
            <a:r>
              <a:rPr lang="en-US" altLang="zh-CN" sz="1400" dirty="0">
                <a:ea typeface="华文楷体" panose="02010600040101010101" pitchFamily="2" charset="-122"/>
              </a:rPr>
              <a:t> </a:t>
            </a:r>
            <a:r>
              <a:rPr lang="en-US" altLang="zh-CN" sz="1400" dirty="0" smtClean="0">
                <a:ea typeface="华文楷体" panose="02010600040101010101" pitchFamily="2" charset="-122"/>
              </a:rPr>
              <a:t>       else if ( k &gt; i+1)    </a:t>
            </a:r>
            <a:r>
              <a:rPr lang="en-US" altLang="zh-CN" sz="1400" dirty="0" err="1" smtClean="0">
                <a:ea typeface="华文楷体" panose="02010600040101010101" pitchFamily="2" charset="-122"/>
              </a:rPr>
              <a:t>Qselect</a:t>
            </a:r>
            <a:r>
              <a:rPr lang="en-US" altLang="zh-CN" sz="1400" dirty="0" smtClean="0">
                <a:ea typeface="华文楷体" panose="02010600040101010101" pitchFamily="2" charset="-122"/>
              </a:rPr>
              <a:t>(a, k, i+1, right);</a:t>
            </a:r>
          </a:p>
          <a:p>
            <a:pPr marL="0" indent="0">
              <a:buNone/>
            </a:pPr>
            <a:r>
              <a:rPr lang="en-US" altLang="zh-CN" sz="1400" dirty="0" smtClean="0">
                <a:ea typeface="华文楷体" panose="02010600040101010101" pitchFamily="2" charset="-122"/>
              </a:rPr>
              <a:t>    }</a:t>
            </a:r>
          </a:p>
          <a:p>
            <a:pPr marL="0" indent="0">
              <a:buNone/>
            </a:pPr>
            <a:r>
              <a:rPr lang="en-US" altLang="zh-CN" sz="1400" dirty="0">
                <a:ea typeface="华文楷体" panose="02010600040101010101" pitchFamily="2" charset="-122"/>
              </a:rPr>
              <a:t> </a:t>
            </a:r>
            <a:r>
              <a:rPr lang="en-US" altLang="zh-CN" sz="1400" dirty="0" smtClean="0">
                <a:ea typeface="华文楷体" panose="02010600040101010101" pitchFamily="2" charset="-122"/>
              </a:rPr>
              <a:t>   else    </a:t>
            </a:r>
            <a:r>
              <a:rPr lang="en-US" altLang="zh-CN" sz="1400" dirty="0" err="1" smtClean="0">
                <a:ea typeface="华文楷体" panose="02010600040101010101" pitchFamily="2" charset="-122"/>
              </a:rPr>
              <a:t>InsertSort</a:t>
            </a:r>
            <a:r>
              <a:rPr lang="en-US" altLang="zh-CN" sz="1400" dirty="0" smtClean="0">
                <a:ea typeface="华文楷体" panose="02010600040101010101" pitchFamily="2" charset="-122"/>
              </a:rPr>
              <a:t>(a, right-left+1)</a:t>
            </a:r>
          </a:p>
          <a:p>
            <a:pPr marL="0" indent="0">
              <a:buNone/>
            </a:pPr>
            <a:r>
              <a:rPr lang="en-US" altLang="zh-CN" sz="1400" dirty="0">
                <a:ea typeface="华文楷体" panose="02010600040101010101" pitchFamily="2" charset="-122"/>
              </a:rPr>
              <a:t>}</a:t>
            </a:r>
            <a:endParaRPr lang="zh-CN" altLang="en-US" sz="1400" dirty="0">
              <a:ea typeface="华文楷体" panose="0201060004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 SCST</a:t>
            </a:r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4495800" y="2590800"/>
            <a:ext cx="3976688" cy="31700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[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驱动程序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]</a:t>
            </a:r>
          </a:p>
          <a:p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利用</a:t>
            </a:r>
            <a:r>
              <a:rPr lang="en-US" altLang="zh-CN" sz="20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Qselect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(a,k,0,n-1)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调用程序时，数组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下标从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0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开始，则程序结束时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a[k-1]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为所求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。</a:t>
            </a:r>
            <a:endParaRPr lang="en-US" altLang="zh-CN" sz="20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[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时间性能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]</a:t>
            </a:r>
          </a:p>
          <a:p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最坏情况下时间复杂度为：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O(n</a:t>
            </a:r>
            <a:r>
              <a:rPr lang="en-US" altLang="zh-CN" sz="2000" baseline="30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</a:p>
          <a:p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平均情况下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时间复杂度为： 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O(n)</a:t>
            </a:r>
          </a:p>
          <a:p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平均每次划分为两个部分，因此，整个过程比较次数大约为：</a:t>
            </a:r>
            <a:endParaRPr lang="en-US" altLang="zh-CN" sz="20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r>
              <a:rPr lang="en-US" altLang="zh-CN" sz="20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n+n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/2+n/4+….=2n</a:t>
            </a:r>
            <a:endParaRPr lang="zh-CN" altLang="en-US" sz="2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7798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z="2800" dirty="0" smtClean="0">
                <a:ea typeface="华文楷体" panose="02010600040101010101" pitchFamily="2" charset="-122"/>
              </a:rPr>
              <a:t>9.4 </a:t>
            </a:r>
            <a:r>
              <a:rPr lang="zh-CN" altLang="en-US" sz="2800" dirty="0" smtClean="0">
                <a:ea typeface="华文楷体" panose="02010600040101010101" pitchFamily="2" charset="-122"/>
              </a:rPr>
              <a:t>选择排序</a:t>
            </a:r>
          </a:p>
        </p:txBody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1 </a:t>
            </a:r>
            <a:r>
              <a:rPr lang="zh-CN" altLang="en-US" sz="2400" b="1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简单选择排序</a:t>
            </a:r>
            <a:r>
              <a:rPr lang="en-US" altLang="zh-CN" sz="2400" b="1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(</a:t>
            </a:r>
            <a:r>
              <a:rPr lang="zh-CN" altLang="en-US" sz="2400" b="1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直接选择排序</a:t>
            </a:r>
            <a:r>
              <a:rPr lang="en-US" altLang="zh-CN" sz="2400" b="1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4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算法步骤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  <a:endParaRPr lang="en-US" altLang="zh-CN" sz="2400" dirty="0" smtClean="0">
              <a:solidFill>
                <a:srgbClr val="CC6600"/>
              </a:solidFill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第</a:t>
            </a:r>
            <a:r>
              <a:rPr lang="en-US" altLang="zh-CN" sz="2400" dirty="0" smtClean="0">
                <a:ea typeface="华文楷体" panose="02010600040101010101" pitchFamily="2" charset="-122"/>
              </a:rPr>
              <a:t>1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趟：从</a:t>
            </a:r>
            <a:r>
              <a:rPr lang="en-US" altLang="zh-CN" sz="2400" dirty="0" smtClean="0">
                <a:ea typeface="华文楷体" panose="02010600040101010101" pitchFamily="2" charset="-122"/>
              </a:rPr>
              <a:t>n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个记录中选关键字最小的记录，与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                第</a:t>
            </a:r>
            <a:r>
              <a:rPr lang="en-US" altLang="zh-CN" sz="2400" dirty="0" smtClean="0">
                <a:ea typeface="华文楷体" panose="02010600040101010101" pitchFamily="2" charset="-122"/>
              </a:rPr>
              <a:t>1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个记录交换；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第</a:t>
            </a:r>
            <a:r>
              <a:rPr lang="en-US" altLang="zh-CN" sz="2400" dirty="0" smtClean="0">
                <a:ea typeface="华文楷体" panose="02010600040101010101" pitchFamily="2" charset="-122"/>
              </a:rPr>
              <a:t>2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趟：从剩余的</a:t>
            </a:r>
            <a:r>
              <a:rPr lang="en-US" altLang="zh-CN" sz="2400" dirty="0" smtClean="0">
                <a:ea typeface="华文楷体" panose="02010600040101010101" pitchFamily="2" charset="-122"/>
              </a:rPr>
              <a:t>n-1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个记录中选关键字最小的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                记录，与第</a:t>
            </a:r>
            <a:r>
              <a:rPr lang="en-US" altLang="zh-CN" sz="2400" dirty="0" smtClean="0">
                <a:ea typeface="华文楷体" panose="02010600040101010101" pitchFamily="2" charset="-122"/>
              </a:rPr>
              <a:t>2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个记录交换；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……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第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i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趟：从剩余的</a:t>
            </a:r>
            <a:r>
              <a:rPr lang="en-US" altLang="zh-CN" sz="2400" dirty="0" smtClean="0">
                <a:ea typeface="华文楷体" panose="02010600040101010101" pitchFamily="2" charset="-122"/>
              </a:rPr>
              <a:t>n-i+1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个记录中选关键字最小的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                记录，与第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i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个记录交换；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……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直到第</a:t>
            </a:r>
            <a:r>
              <a:rPr lang="en-US" altLang="zh-CN" sz="2400" dirty="0" smtClean="0">
                <a:ea typeface="华文楷体" panose="02010600040101010101" pitchFamily="2" charset="-122"/>
              </a:rPr>
              <a:t>n-1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趟执行完为止。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4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算法描述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  <a:endParaRPr lang="en-US" altLang="zh-CN" sz="2400" dirty="0" smtClean="0">
              <a:solidFill>
                <a:srgbClr val="CC6600"/>
              </a:solidFill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400" dirty="0" smtClean="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327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32773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152400" y="1131587"/>
            <a:ext cx="6400800" cy="3191643"/>
          </a:xfrm>
          <a:noFill/>
          <a:ln w="9525" cap="flat" cmpd="sng" algn="ctr">
            <a:solidFill>
              <a:schemeClr val="accent1"/>
            </a:solidFill>
            <a:prstDash val="solid"/>
            <a:miter lim="800000"/>
            <a:headEnd/>
            <a:tailEnd/>
          </a:ln>
          <a:extLst/>
        </p:spPr>
        <p:txBody>
          <a:bodyPr wrap="square">
            <a:spAutoFit/>
          </a:bodyPr>
          <a:lstStyle/>
          <a:p>
            <a:pPr eaLnBrk="1" hangingPunct="1">
              <a:buNone/>
            </a:pPr>
            <a:r>
              <a:rPr kumimoji="1" lang="en-US" altLang="zh-CN" sz="19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[</a:t>
            </a:r>
            <a:r>
              <a:rPr kumimoji="1" lang="zh-CN" altLang="en-US" sz="19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简单选择排序</a:t>
            </a:r>
            <a:r>
              <a:rPr kumimoji="1" lang="en-US" altLang="zh-CN" sz="19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]</a:t>
            </a:r>
          </a:p>
          <a:p>
            <a:pPr eaLnBrk="1" hangingPunct="1">
              <a:buNone/>
            </a:pPr>
            <a:r>
              <a:rPr kumimoji="1" lang="en-US" altLang="zh-CN" sz="1900" dirty="0" smtClean="0">
                <a:ea typeface="华文楷体" panose="02010600040101010101" pitchFamily="2" charset="-122"/>
              </a:rPr>
              <a:t>void </a:t>
            </a:r>
            <a:r>
              <a:rPr kumimoji="1" lang="en-US" altLang="zh-CN" sz="1900" dirty="0" err="1">
                <a:ea typeface="华文楷体" panose="02010600040101010101" pitchFamily="2" charset="-122"/>
              </a:rPr>
              <a:t>SelectSort</a:t>
            </a:r>
            <a:r>
              <a:rPr kumimoji="1" lang="en-US" altLang="zh-CN" sz="1900" dirty="0" smtClean="0">
                <a:ea typeface="华文楷体" panose="02010600040101010101" pitchFamily="2" charset="-122"/>
              </a:rPr>
              <a:t> (</a:t>
            </a:r>
            <a:r>
              <a:rPr kumimoji="1" lang="en-US" altLang="zh-CN" sz="1900" dirty="0" err="1">
                <a:ea typeface="华文楷体" panose="02010600040101010101" pitchFamily="2" charset="-122"/>
              </a:rPr>
              <a:t>ElemType</a:t>
            </a:r>
            <a:r>
              <a:rPr kumimoji="1" lang="en-US" altLang="zh-CN" sz="1900" dirty="0">
                <a:ea typeface="华文楷体" panose="02010600040101010101" pitchFamily="2" charset="-122"/>
              </a:rPr>
              <a:t> a[], </a:t>
            </a:r>
            <a:r>
              <a:rPr kumimoji="1" lang="en-US" altLang="zh-CN" sz="1900" dirty="0" err="1">
                <a:ea typeface="华文楷体" panose="02010600040101010101" pitchFamily="2" charset="-122"/>
              </a:rPr>
              <a:t>int</a:t>
            </a:r>
            <a:r>
              <a:rPr kumimoji="1" lang="en-US" altLang="zh-CN" sz="1900" dirty="0">
                <a:ea typeface="华文楷体" panose="02010600040101010101" pitchFamily="2" charset="-122"/>
              </a:rPr>
              <a:t> left, </a:t>
            </a:r>
            <a:r>
              <a:rPr kumimoji="1" lang="en-US" altLang="zh-CN" sz="1900" dirty="0" err="1">
                <a:ea typeface="华文楷体" panose="02010600040101010101" pitchFamily="2" charset="-122"/>
              </a:rPr>
              <a:t>int</a:t>
            </a:r>
            <a:r>
              <a:rPr kumimoji="1" lang="en-US" altLang="zh-CN" sz="1900" dirty="0">
                <a:ea typeface="华文楷体" panose="02010600040101010101" pitchFamily="2" charset="-122"/>
              </a:rPr>
              <a:t> right</a:t>
            </a:r>
            <a:r>
              <a:rPr kumimoji="1" lang="en-US" altLang="zh-CN" sz="1900" dirty="0" smtClean="0">
                <a:ea typeface="华文楷体" panose="02010600040101010101" pitchFamily="2" charset="-122"/>
              </a:rPr>
              <a:t> )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1" lang="en-US" altLang="zh-CN" sz="1900" dirty="0" smtClean="0">
                <a:ea typeface="华文楷体" panose="02010600040101010101" pitchFamily="2" charset="-122"/>
              </a:rPr>
              <a:t>{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1" lang="en-US" altLang="zh-CN" sz="1900" dirty="0">
                <a:ea typeface="华文楷体" panose="02010600040101010101" pitchFamily="2" charset="-122"/>
              </a:rPr>
              <a:t> </a:t>
            </a:r>
            <a:r>
              <a:rPr kumimoji="1" lang="en-US" altLang="zh-CN" sz="1900" dirty="0" smtClean="0">
                <a:ea typeface="华文楷体" panose="02010600040101010101" pitchFamily="2" charset="-122"/>
              </a:rPr>
              <a:t>   for ( </a:t>
            </a:r>
            <a:r>
              <a:rPr kumimoji="1" lang="en-US" altLang="zh-CN" sz="1900" dirty="0" err="1" smtClean="0">
                <a:ea typeface="华文楷体" panose="02010600040101010101" pitchFamily="2" charset="-122"/>
              </a:rPr>
              <a:t>int</a:t>
            </a:r>
            <a:r>
              <a:rPr kumimoji="1" lang="en-US" altLang="zh-CN" sz="1900" dirty="0" smtClean="0">
                <a:ea typeface="华文楷体" panose="02010600040101010101" pitchFamily="2" charset="-122"/>
              </a:rPr>
              <a:t> </a:t>
            </a:r>
            <a:r>
              <a:rPr kumimoji="1" lang="en-US" altLang="zh-CN" sz="1900" dirty="0" err="1" smtClean="0">
                <a:ea typeface="华文楷体" panose="02010600040101010101" pitchFamily="2" charset="-122"/>
              </a:rPr>
              <a:t>i</a:t>
            </a:r>
            <a:r>
              <a:rPr kumimoji="1" lang="en-US" altLang="zh-CN" sz="1900" dirty="0" smtClean="0">
                <a:ea typeface="华文楷体" panose="02010600040101010101" pitchFamily="2" charset="-122"/>
              </a:rPr>
              <a:t> =left; </a:t>
            </a:r>
            <a:r>
              <a:rPr kumimoji="1" lang="en-US" altLang="zh-CN" sz="1900" dirty="0" err="1" smtClean="0">
                <a:ea typeface="华文楷体" panose="02010600040101010101" pitchFamily="2" charset="-122"/>
              </a:rPr>
              <a:t>i</a:t>
            </a:r>
            <a:r>
              <a:rPr kumimoji="1" lang="en-US" altLang="zh-CN" sz="1900" dirty="0" smtClean="0">
                <a:ea typeface="华文楷体" panose="02010600040101010101" pitchFamily="2" charset="-122"/>
              </a:rPr>
              <a:t> &lt;= right - 1; ++</a:t>
            </a:r>
            <a:r>
              <a:rPr kumimoji="1" lang="en-US" altLang="zh-CN" sz="1900" dirty="0" err="1" smtClean="0">
                <a:ea typeface="华文楷体" panose="02010600040101010101" pitchFamily="2" charset="-122"/>
              </a:rPr>
              <a:t>i</a:t>
            </a:r>
            <a:r>
              <a:rPr kumimoji="1" lang="en-US" altLang="zh-CN" sz="1900" dirty="0" smtClean="0">
                <a:ea typeface="华文楷体" panose="02010600040101010101" pitchFamily="2" charset="-122"/>
              </a:rPr>
              <a:t> )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1" lang="en-US" altLang="zh-CN" sz="1900" dirty="0" smtClean="0">
                <a:ea typeface="华文楷体" panose="02010600040101010101" pitchFamily="2" charset="-122"/>
              </a:rPr>
              <a:t>    {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1" lang="en-US" altLang="zh-CN" sz="1900" dirty="0">
                <a:ea typeface="华文楷体" panose="02010600040101010101" pitchFamily="2" charset="-122"/>
              </a:rPr>
              <a:t> </a:t>
            </a:r>
            <a:r>
              <a:rPr kumimoji="1" lang="en-US" altLang="zh-CN" sz="1900" dirty="0" smtClean="0">
                <a:ea typeface="华文楷体" panose="02010600040101010101" pitchFamily="2" charset="-122"/>
              </a:rPr>
              <a:t>       </a:t>
            </a:r>
            <a:r>
              <a:rPr kumimoji="1" lang="en-US" altLang="zh-CN" sz="1900" dirty="0" err="1" smtClean="0">
                <a:ea typeface="华文楷体" panose="02010600040101010101" pitchFamily="2" charset="-122"/>
              </a:rPr>
              <a:t>int</a:t>
            </a:r>
            <a:r>
              <a:rPr kumimoji="1" lang="en-US" altLang="zh-CN" sz="1900" dirty="0" smtClean="0">
                <a:ea typeface="华文楷体" panose="02010600040101010101" pitchFamily="2" charset="-122"/>
              </a:rPr>
              <a:t> j = </a:t>
            </a:r>
            <a:r>
              <a:rPr kumimoji="1" lang="en-US" altLang="zh-CN" sz="1900" dirty="0" err="1" smtClean="0">
                <a:ea typeface="华文楷体" panose="02010600040101010101" pitchFamily="2" charset="-122"/>
              </a:rPr>
              <a:t>SelectMinKey</a:t>
            </a:r>
            <a:r>
              <a:rPr kumimoji="1" lang="en-US" altLang="zh-CN" sz="1900" dirty="0" smtClean="0">
                <a:ea typeface="华文楷体" panose="02010600040101010101" pitchFamily="2" charset="-122"/>
              </a:rPr>
              <a:t> (a, </a:t>
            </a:r>
            <a:r>
              <a:rPr kumimoji="1" lang="en-US" altLang="zh-CN" sz="1900" dirty="0" err="1" smtClean="0">
                <a:ea typeface="华文楷体" panose="02010600040101010101" pitchFamily="2" charset="-122"/>
              </a:rPr>
              <a:t>i</a:t>
            </a:r>
            <a:r>
              <a:rPr kumimoji="1" lang="en-US" altLang="zh-CN" sz="1900" dirty="0" smtClean="0">
                <a:ea typeface="华文楷体" panose="02010600040101010101" pitchFamily="2" charset="-122"/>
              </a:rPr>
              <a:t>, right);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1" lang="en-US" altLang="zh-CN" sz="1900" dirty="0" smtClean="0">
                <a:ea typeface="华文楷体" panose="02010600040101010101" pitchFamily="2" charset="-122"/>
              </a:rPr>
              <a:t>        if ( </a:t>
            </a:r>
            <a:r>
              <a:rPr kumimoji="1" lang="en-US" altLang="zh-CN" sz="1900" dirty="0" err="1" smtClean="0">
                <a:ea typeface="华文楷体" panose="02010600040101010101" pitchFamily="2" charset="-122"/>
              </a:rPr>
              <a:t>i</a:t>
            </a:r>
            <a:r>
              <a:rPr kumimoji="1" lang="en-US" altLang="zh-CN" sz="1900" dirty="0" smtClean="0">
                <a:ea typeface="华文楷体" panose="02010600040101010101" pitchFamily="2" charset="-122"/>
              </a:rPr>
              <a:t> != j )  swap(&amp;a[</a:t>
            </a:r>
            <a:r>
              <a:rPr kumimoji="1" lang="en-US" altLang="zh-CN" sz="1900" dirty="0" err="1" smtClean="0">
                <a:ea typeface="华文楷体" panose="02010600040101010101" pitchFamily="2" charset="-122"/>
              </a:rPr>
              <a:t>i</a:t>
            </a:r>
            <a:r>
              <a:rPr kumimoji="1" lang="en-US" altLang="zh-CN" sz="1900" dirty="0" smtClean="0">
                <a:ea typeface="华文楷体" panose="02010600040101010101" pitchFamily="2" charset="-122"/>
              </a:rPr>
              <a:t>], &amp;a[j]);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1" lang="en-US" altLang="zh-CN" sz="1900" dirty="0" smtClean="0">
                <a:ea typeface="华文楷体" panose="02010600040101010101" pitchFamily="2" charset="-122"/>
              </a:rPr>
              <a:t>    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1" lang="en-US" altLang="zh-CN" sz="1900" dirty="0" smtClean="0">
                <a:ea typeface="华文楷体" panose="02010600040101010101" pitchFamily="2" charset="-122"/>
              </a:rPr>
              <a:t>}  // </a:t>
            </a:r>
            <a:r>
              <a:rPr kumimoji="1" lang="en-US" altLang="zh-CN" sz="1900" dirty="0" err="1" smtClean="0">
                <a:ea typeface="华文楷体" panose="02010600040101010101" pitchFamily="2" charset="-122"/>
              </a:rPr>
              <a:t>SelectSort</a:t>
            </a:r>
            <a:endParaRPr kumimoji="1" lang="en-US" altLang="zh-CN" sz="1900" dirty="0" smtClean="0">
              <a:ea typeface="华文楷体" panose="02010600040101010101" pitchFamily="2" charset="-122"/>
            </a:endParaRPr>
          </a:p>
        </p:txBody>
      </p:sp>
      <p:sp>
        <p:nvSpPr>
          <p:cNvPr id="32774" name="Text Box 4"/>
          <p:cNvSpPr txBox="1">
            <a:spLocks noChangeArrowheads="1"/>
          </p:cNvSpPr>
          <p:nvPr/>
        </p:nvSpPr>
        <p:spPr bwMode="auto">
          <a:xfrm>
            <a:off x="152400" y="4444354"/>
            <a:ext cx="6400799" cy="2372957"/>
          </a:xfrm>
          <a:prstGeom prst="rect">
            <a:avLst/>
          </a:prstGeom>
          <a:noFill/>
          <a:ln w="9525" algn="ctr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19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[</a:t>
            </a:r>
            <a:r>
              <a:rPr kumimoji="1" lang="zh-CN" altLang="en-US" sz="19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一趟选择</a:t>
            </a:r>
            <a:r>
              <a:rPr kumimoji="1" lang="en-US" altLang="zh-CN" sz="19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]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19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1" lang="en-US" altLang="zh-CN" sz="19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1" lang="en-US" altLang="zh-CN" sz="19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SelectMinKey</a:t>
            </a:r>
            <a:r>
              <a:rPr kumimoji="1" lang="en-US" altLang="zh-CN" sz="19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1" lang="en-US" altLang="zh-CN" sz="19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kumimoji="1" lang="en-US" altLang="zh-CN" sz="19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ElemType</a:t>
            </a:r>
            <a:r>
              <a:rPr kumimoji="1" lang="en-US" altLang="zh-CN" sz="19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a[], </a:t>
            </a:r>
            <a:r>
              <a:rPr kumimoji="1" lang="en-US" altLang="zh-CN" sz="19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1" lang="en-US" altLang="zh-CN" sz="19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left, </a:t>
            </a:r>
            <a:r>
              <a:rPr kumimoji="1" lang="en-US" altLang="zh-CN" sz="19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1" lang="en-US" altLang="zh-CN" sz="19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right )</a:t>
            </a:r>
            <a:endParaRPr kumimoji="1" lang="en-US" altLang="zh-CN" sz="19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1900" dirty="0">
                <a:latin typeface="Times New Roman" panose="02020603050405020304" pitchFamily="18" charset="0"/>
                <a:ea typeface="华文楷体" panose="02010600040101010101" pitchFamily="2" charset="-122"/>
              </a:rPr>
              <a:t>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19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</a:t>
            </a:r>
            <a:r>
              <a:rPr kumimoji="1" lang="en-US" altLang="zh-CN" sz="19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1" lang="en-US" altLang="zh-CN" sz="19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min = left;</a:t>
            </a:r>
            <a:endParaRPr kumimoji="1" lang="en-US" altLang="zh-CN" sz="19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19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for  </a:t>
            </a:r>
            <a:r>
              <a:rPr kumimoji="1" lang="en-US" altLang="zh-CN" sz="19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kumimoji="1" lang="en-US" altLang="zh-CN" sz="19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1" lang="en-US" altLang="zh-CN" sz="19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1" lang="en-US" altLang="zh-CN" sz="19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kumimoji="1" lang="en-US" altLang="zh-CN" sz="19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= left+1; </a:t>
            </a:r>
            <a:r>
              <a:rPr kumimoji="1" lang="en-US" altLang="zh-CN" sz="19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kumimoji="1" lang="en-US" altLang="zh-CN" sz="19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&lt;= right; </a:t>
            </a:r>
            <a:r>
              <a:rPr kumimoji="1" lang="en-US" altLang="zh-CN" sz="19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kumimoji="1" lang="en-US" altLang="zh-CN" sz="19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++)</a:t>
            </a:r>
            <a:endParaRPr kumimoji="1" lang="en-US" altLang="zh-CN" sz="19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19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if </a:t>
            </a:r>
            <a:r>
              <a:rPr kumimoji="1" lang="en-US" altLang="zh-CN" sz="19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(a[</a:t>
            </a:r>
            <a:r>
              <a:rPr kumimoji="1" lang="en-US" altLang="zh-CN" sz="19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kumimoji="1" lang="en-US" altLang="zh-CN" sz="19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].key &lt; a[min].key) min </a:t>
            </a:r>
            <a:r>
              <a:rPr kumimoji="1" lang="en-US" altLang="zh-CN" sz="1900" dirty="0">
                <a:latin typeface="Times New Roman" panose="02020603050405020304" pitchFamily="18" charset="0"/>
                <a:ea typeface="华文楷体" panose="02010600040101010101" pitchFamily="2" charset="-122"/>
              </a:rPr>
              <a:t>= </a:t>
            </a:r>
            <a:r>
              <a:rPr kumimoji="1" lang="en-US" altLang="zh-CN" sz="19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kumimoji="1" lang="en-US" altLang="zh-CN" sz="19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;</a:t>
            </a:r>
            <a:endParaRPr kumimoji="1" lang="en-US" altLang="zh-CN" sz="19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19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return </a:t>
            </a:r>
            <a:r>
              <a:rPr kumimoji="1" lang="en-US" altLang="zh-CN" sz="19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min; //</a:t>
            </a:r>
            <a:r>
              <a:rPr kumimoji="1" lang="zh-CN" altLang="en-US" sz="19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返回小者的下标</a:t>
            </a:r>
            <a:endParaRPr kumimoji="1" lang="en-US" altLang="zh-CN" sz="19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19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}</a:t>
            </a:r>
            <a:endParaRPr kumimoji="1" lang="en-US" altLang="zh-CN" sz="19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934200" y="1883242"/>
            <a:ext cx="2031325" cy="1477328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[</a:t>
            </a:r>
            <a:r>
              <a:rPr lang="zh-CN" altLang="en-US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主程序调用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]</a:t>
            </a:r>
          </a:p>
          <a:p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{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……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SelectSort</a:t>
            </a:r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(a,1,n);</a:t>
            </a:r>
          </a:p>
          <a:p>
            <a:r>
              <a:rPr lang="en-US" altLang="zh-CN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}</a:t>
            </a:r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3379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 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示例 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（</a:t>
            </a:r>
            <a:r>
              <a:rPr lang="en-US" altLang="zh-CN" sz="2400" dirty="0" smtClean="0">
                <a:ea typeface="华文楷体" panose="02010600040101010101" pitchFamily="2" charset="-122"/>
              </a:rPr>
              <a:t>n=8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）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&lt;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初态</a:t>
            </a:r>
            <a:r>
              <a:rPr lang="en-US" altLang="zh-CN" sz="2400" dirty="0" smtClean="0">
                <a:ea typeface="华文楷体" panose="02010600040101010101" pitchFamily="2" charset="-122"/>
              </a:rPr>
              <a:t>&gt;         </a:t>
            </a:r>
            <a:r>
              <a:rPr lang="en-US" altLang="zh-CN" sz="24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49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  38    65    97    76    </a:t>
            </a:r>
            <a:r>
              <a:rPr lang="en-US" altLang="zh-CN" sz="2400" u="sng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49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   13    27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&lt;</a:t>
            </a:r>
            <a:r>
              <a:rPr lang="zh-CN" altLang="en-US" sz="2400" dirty="0" smtClean="0">
                <a:ea typeface="华文楷体" panose="02010600040101010101" pitchFamily="2" charset="-122"/>
              </a:rPr>
              <a:t>第</a:t>
            </a:r>
            <a:r>
              <a:rPr lang="en-US" altLang="zh-CN" sz="2400" dirty="0" smtClean="0">
                <a:ea typeface="华文楷体" panose="02010600040101010101" pitchFamily="2" charset="-122"/>
              </a:rPr>
              <a:t>1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趟</a:t>
            </a:r>
            <a:r>
              <a:rPr lang="en-US" altLang="zh-CN" sz="2400" dirty="0" smtClean="0">
                <a:ea typeface="华文楷体" panose="02010600040101010101" pitchFamily="2" charset="-122"/>
              </a:rPr>
              <a:t>&gt;       </a:t>
            </a:r>
            <a:r>
              <a:rPr lang="en-US" altLang="zh-CN" sz="24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13</a:t>
            </a:r>
            <a:r>
              <a:rPr lang="en-US" altLang="zh-CN" sz="2400" dirty="0" smtClean="0">
                <a:solidFill>
                  <a:schemeClr val="accent1"/>
                </a:solidFill>
                <a:ea typeface="华文楷体" panose="02010600040101010101" pitchFamily="2" charset="-122"/>
              </a:rPr>
              <a:t> 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 38    65    97    76    </a:t>
            </a:r>
            <a:r>
              <a:rPr lang="en-US" altLang="zh-CN" sz="2400" u="sng" dirty="0" smtClean="0">
                <a:ea typeface="华文楷体" panose="02010600040101010101" pitchFamily="2" charset="-122"/>
              </a:rPr>
              <a:t>49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   49    27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&lt;</a:t>
            </a:r>
            <a:r>
              <a:rPr lang="zh-CN" altLang="en-US" sz="2400" dirty="0" smtClean="0">
                <a:ea typeface="华文楷体" panose="02010600040101010101" pitchFamily="2" charset="-122"/>
              </a:rPr>
              <a:t>第</a:t>
            </a:r>
            <a:r>
              <a:rPr lang="en-US" altLang="zh-CN" sz="2400" dirty="0" smtClean="0">
                <a:ea typeface="华文楷体" panose="02010600040101010101" pitchFamily="2" charset="-122"/>
              </a:rPr>
              <a:t>2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趟</a:t>
            </a:r>
            <a:r>
              <a:rPr lang="en-US" altLang="zh-CN" sz="2400" dirty="0" smtClean="0">
                <a:ea typeface="华文楷体" panose="02010600040101010101" pitchFamily="2" charset="-122"/>
              </a:rPr>
              <a:t>&gt;       </a:t>
            </a:r>
            <a:r>
              <a:rPr lang="en-US" altLang="zh-CN" sz="24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13    27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   65    97    76    </a:t>
            </a:r>
            <a:r>
              <a:rPr lang="en-US" altLang="zh-CN" sz="2400" u="sng" dirty="0" smtClean="0">
                <a:ea typeface="华文楷体" panose="02010600040101010101" pitchFamily="2" charset="-122"/>
              </a:rPr>
              <a:t>49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   49    38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&lt;</a:t>
            </a:r>
            <a:r>
              <a:rPr lang="zh-CN" altLang="en-US" sz="2400" dirty="0" smtClean="0">
                <a:ea typeface="华文楷体" panose="02010600040101010101" pitchFamily="2" charset="-122"/>
              </a:rPr>
              <a:t>第</a:t>
            </a:r>
            <a:r>
              <a:rPr lang="en-US" altLang="zh-CN" sz="2400" dirty="0" smtClean="0">
                <a:ea typeface="华文楷体" panose="02010600040101010101" pitchFamily="2" charset="-122"/>
              </a:rPr>
              <a:t>3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趟</a:t>
            </a:r>
            <a:r>
              <a:rPr lang="en-US" altLang="zh-CN" sz="2400" dirty="0" smtClean="0">
                <a:ea typeface="华文楷体" panose="02010600040101010101" pitchFamily="2" charset="-122"/>
              </a:rPr>
              <a:t>&gt;       </a:t>
            </a:r>
            <a:r>
              <a:rPr lang="en-US" altLang="zh-CN" sz="24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13    27    38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   97    76    </a:t>
            </a:r>
            <a:r>
              <a:rPr lang="en-US" altLang="zh-CN" sz="2400" u="sng" dirty="0" smtClean="0">
                <a:ea typeface="华文楷体" panose="02010600040101010101" pitchFamily="2" charset="-122"/>
              </a:rPr>
              <a:t>49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   49    65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&lt;</a:t>
            </a:r>
            <a:r>
              <a:rPr lang="zh-CN" altLang="en-US" sz="2400" dirty="0" smtClean="0">
                <a:ea typeface="华文楷体" panose="02010600040101010101" pitchFamily="2" charset="-122"/>
              </a:rPr>
              <a:t>第</a:t>
            </a:r>
            <a:r>
              <a:rPr lang="en-US" altLang="zh-CN" sz="2400" dirty="0" smtClean="0">
                <a:ea typeface="华文楷体" panose="02010600040101010101" pitchFamily="2" charset="-122"/>
              </a:rPr>
              <a:t>4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趟</a:t>
            </a:r>
            <a:r>
              <a:rPr lang="en-US" altLang="zh-CN" sz="2400" dirty="0" smtClean="0">
                <a:ea typeface="华文楷体" panose="02010600040101010101" pitchFamily="2" charset="-122"/>
              </a:rPr>
              <a:t>&gt;       </a:t>
            </a:r>
            <a:r>
              <a:rPr lang="en-US" altLang="zh-CN" sz="24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13    27    38    </a:t>
            </a:r>
            <a:r>
              <a:rPr lang="en-US" altLang="zh-CN" sz="2400" u="sng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49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   76    97    49    65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&lt;</a:t>
            </a:r>
            <a:r>
              <a:rPr lang="zh-CN" altLang="en-US" sz="2400" dirty="0" smtClean="0">
                <a:ea typeface="华文楷体" panose="02010600040101010101" pitchFamily="2" charset="-122"/>
              </a:rPr>
              <a:t>第</a:t>
            </a:r>
            <a:r>
              <a:rPr lang="en-US" altLang="zh-CN" sz="2400" dirty="0" smtClean="0">
                <a:ea typeface="华文楷体" panose="02010600040101010101" pitchFamily="2" charset="-122"/>
              </a:rPr>
              <a:t>5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趟</a:t>
            </a:r>
            <a:r>
              <a:rPr lang="en-US" altLang="zh-CN" sz="2400" dirty="0" smtClean="0">
                <a:ea typeface="华文楷体" panose="02010600040101010101" pitchFamily="2" charset="-122"/>
              </a:rPr>
              <a:t>&gt;       </a:t>
            </a:r>
            <a:r>
              <a:rPr lang="en-US" altLang="zh-CN" sz="24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13    27    38    </a:t>
            </a:r>
            <a:r>
              <a:rPr lang="en-US" altLang="zh-CN" sz="2400" u="sng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49</a:t>
            </a:r>
            <a:r>
              <a:rPr lang="en-US" altLang="zh-CN" sz="24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    49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   97    76    65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&lt;</a:t>
            </a:r>
            <a:r>
              <a:rPr lang="zh-CN" altLang="en-US" sz="2400" dirty="0" smtClean="0">
                <a:ea typeface="华文楷体" panose="02010600040101010101" pitchFamily="2" charset="-122"/>
              </a:rPr>
              <a:t>第</a:t>
            </a:r>
            <a:r>
              <a:rPr lang="en-US" altLang="zh-CN" sz="2400" dirty="0" smtClean="0">
                <a:ea typeface="华文楷体" panose="02010600040101010101" pitchFamily="2" charset="-122"/>
              </a:rPr>
              <a:t>6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趟</a:t>
            </a:r>
            <a:r>
              <a:rPr lang="en-US" altLang="zh-CN" sz="2400" dirty="0" smtClean="0">
                <a:ea typeface="华文楷体" panose="02010600040101010101" pitchFamily="2" charset="-122"/>
              </a:rPr>
              <a:t>&gt;       </a:t>
            </a:r>
            <a:r>
              <a:rPr lang="en-US" altLang="zh-CN" sz="24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13    27    38    </a:t>
            </a:r>
            <a:r>
              <a:rPr lang="en-US" altLang="zh-CN" sz="2400" u="sng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49</a:t>
            </a:r>
            <a:r>
              <a:rPr lang="en-US" altLang="zh-CN" sz="24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    49    65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   76    97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&lt;</a:t>
            </a:r>
            <a:r>
              <a:rPr lang="zh-CN" altLang="en-US" sz="2400" dirty="0" smtClean="0">
                <a:ea typeface="华文楷体" panose="02010600040101010101" pitchFamily="2" charset="-122"/>
              </a:rPr>
              <a:t>第</a:t>
            </a:r>
            <a:r>
              <a:rPr lang="en-US" altLang="zh-CN" sz="2400" dirty="0" smtClean="0">
                <a:ea typeface="华文楷体" panose="02010600040101010101" pitchFamily="2" charset="-122"/>
              </a:rPr>
              <a:t>7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趟</a:t>
            </a:r>
            <a:r>
              <a:rPr lang="en-US" altLang="zh-CN" sz="2400" dirty="0" smtClean="0">
                <a:ea typeface="华文楷体" panose="02010600040101010101" pitchFamily="2" charset="-122"/>
              </a:rPr>
              <a:t>&gt;       </a:t>
            </a:r>
            <a:r>
              <a:rPr lang="en-US" altLang="zh-CN" sz="24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13    27    38    </a:t>
            </a:r>
            <a:r>
              <a:rPr lang="en-US" altLang="zh-CN" sz="2400" u="sng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49</a:t>
            </a:r>
            <a:r>
              <a:rPr lang="en-US" altLang="zh-CN" sz="24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    49</a:t>
            </a:r>
            <a:r>
              <a:rPr lang="en-US" altLang="zh-CN" sz="2400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    65    76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   97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       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（每趟排序使有序区增加一个记录）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 smtClean="0">
              <a:ea typeface="华文楷体" panose="02010600040101010101" pitchFamily="2" charset="-122"/>
            </a:endParaRPr>
          </a:p>
        </p:txBody>
      </p:sp>
      <p:sp>
        <p:nvSpPr>
          <p:cNvPr id="33798" name="Text Box 4"/>
          <p:cNvSpPr txBox="1">
            <a:spLocks noChangeArrowheads="1"/>
          </p:cNvSpPr>
          <p:nvPr/>
        </p:nvSpPr>
        <p:spPr bwMode="auto">
          <a:xfrm>
            <a:off x="5867400" y="5638800"/>
            <a:ext cx="205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不稳定排序</a:t>
            </a:r>
            <a:endParaRPr kumimoji="1" lang="zh-CN" altLang="en-US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348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3482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性能分析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 smtClean="0">
                <a:ea typeface="华文楷体" panose="02010600040101010101" pitchFamily="2" charset="-122"/>
              </a:rPr>
              <a:t>总的比较次数与记录排列的初始状态无关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C=(n-1)+(n-2)+...+2+1=n(n-1)/2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 smtClean="0">
                <a:ea typeface="华文楷体" panose="02010600040101010101" pitchFamily="2" charset="-122"/>
              </a:rPr>
              <a:t>移动次数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初始记录逆序时：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M</a:t>
            </a:r>
            <a:r>
              <a:rPr lang="en-US" altLang="zh-CN" sz="2400" baseline="-25000" dirty="0" err="1" smtClean="0">
                <a:ea typeface="华文楷体" panose="02010600040101010101" pitchFamily="2" charset="-122"/>
              </a:rPr>
              <a:t>max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 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= 3</a:t>
            </a:r>
            <a:r>
              <a:rPr lang="en-US" altLang="zh-CN" sz="2400" dirty="0" smtClean="0">
                <a:ea typeface="华文楷体" panose="02010600040101010101" pitchFamily="2" charset="-122"/>
              </a:rPr>
              <a:t>(n-1)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初始记录正序时：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M</a:t>
            </a:r>
            <a:r>
              <a:rPr lang="en-US" altLang="zh-CN" sz="2400" baseline="-25000" dirty="0" err="1" smtClean="0">
                <a:ea typeface="华文楷体" panose="02010600040101010101" pitchFamily="2" charset="-122"/>
              </a:rPr>
              <a:t>min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 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= 0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 smtClean="0">
                <a:ea typeface="华文楷体" panose="02010600040101010101" pitchFamily="2" charset="-122"/>
              </a:rPr>
              <a:t>平均时间复杂度</a:t>
            </a:r>
            <a:r>
              <a:rPr lang="en-US" altLang="zh-CN" sz="2400" dirty="0" smtClean="0">
                <a:ea typeface="华文楷体" panose="02010600040101010101" pitchFamily="2" charset="-122"/>
              </a:rPr>
              <a:t>O(n</a:t>
            </a:r>
            <a:r>
              <a:rPr lang="en-US" altLang="zh-CN" sz="2400" baseline="30000" dirty="0" smtClean="0">
                <a:ea typeface="华文楷体" panose="02010600040101010101" pitchFamily="2" charset="-122"/>
              </a:rPr>
              <a:t>2</a:t>
            </a:r>
            <a:r>
              <a:rPr lang="en-US" altLang="zh-CN" sz="2400" dirty="0" smtClean="0">
                <a:ea typeface="华文楷体" panose="02010600040101010101" pitchFamily="2" charset="-122"/>
              </a:rPr>
              <a:t>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辅助空间复杂度</a:t>
            </a:r>
            <a:r>
              <a:rPr lang="en-US" altLang="zh-CN" sz="2400" dirty="0" smtClean="0">
                <a:ea typeface="华文楷体" panose="02010600040101010101" pitchFamily="2" charset="-122"/>
              </a:rPr>
              <a:t>O(1)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 dirty="0" smtClean="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43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BUPT</a:t>
            </a:r>
          </a:p>
        </p:txBody>
      </p:sp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>
          <a:xfrm>
            <a:off x="328875" y="-25137"/>
            <a:ext cx="8458200" cy="563563"/>
          </a:xfrm>
        </p:spPr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3584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593725" y="1524000"/>
            <a:ext cx="7772400" cy="5181600"/>
          </a:xfrm>
          <a:noFill/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算法思想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锦标赛名次产生过程。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较简单选择排序减少“比较”次数。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示例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                              23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4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         23                                       40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4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38                   23                      40        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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4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46           38    23            </a:t>
            </a:r>
            <a:r>
              <a:rPr lang="en-US" altLang="zh-CN" sz="2400" u="sng" dirty="0" smtClean="0">
                <a:ea typeface="华文楷体" panose="02010600040101010101" pitchFamily="2" charset="-122"/>
              </a:rPr>
              <a:t>38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      40         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</a:t>
            </a:r>
          </a:p>
        </p:txBody>
      </p:sp>
      <p:sp>
        <p:nvSpPr>
          <p:cNvPr id="35847" name="Line 5"/>
          <p:cNvSpPr>
            <a:spLocks noChangeShapeType="1"/>
          </p:cNvSpPr>
          <p:nvPr/>
        </p:nvSpPr>
        <p:spPr bwMode="auto">
          <a:xfrm flipV="1">
            <a:off x="898525" y="45720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48" name="Line 6"/>
          <p:cNvSpPr>
            <a:spLocks noChangeShapeType="1"/>
          </p:cNvSpPr>
          <p:nvPr/>
        </p:nvSpPr>
        <p:spPr bwMode="auto">
          <a:xfrm>
            <a:off x="1508125" y="4572000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49" name="Line 7"/>
          <p:cNvSpPr>
            <a:spLocks noChangeShapeType="1"/>
          </p:cNvSpPr>
          <p:nvPr/>
        </p:nvSpPr>
        <p:spPr bwMode="auto">
          <a:xfrm flipV="1">
            <a:off x="2651125" y="44958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50" name="Line 8"/>
          <p:cNvSpPr>
            <a:spLocks noChangeShapeType="1"/>
          </p:cNvSpPr>
          <p:nvPr/>
        </p:nvSpPr>
        <p:spPr bwMode="auto">
          <a:xfrm>
            <a:off x="3336925" y="4495800"/>
            <a:ext cx="457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51" name="Line 9"/>
          <p:cNvSpPr>
            <a:spLocks noChangeShapeType="1"/>
          </p:cNvSpPr>
          <p:nvPr/>
        </p:nvSpPr>
        <p:spPr bwMode="auto">
          <a:xfrm flipV="1">
            <a:off x="4860925" y="4572000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52" name="Line 10"/>
          <p:cNvSpPr>
            <a:spLocks noChangeShapeType="1"/>
          </p:cNvSpPr>
          <p:nvPr/>
        </p:nvSpPr>
        <p:spPr bwMode="auto">
          <a:xfrm>
            <a:off x="5394325" y="4572000"/>
            <a:ext cx="30480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53" name="Line 11"/>
          <p:cNvSpPr>
            <a:spLocks noChangeShapeType="1"/>
          </p:cNvSpPr>
          <p:nvPr/>
        </p:nvSpPr>
        <p:spPr bwMode="auto">
          <a:xfrm flipV="1">
            <a:off x="1508125" y="35814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54" name="Line 12"/>
          <p:cNvSpPr>
            <a:spLocks noChangeShapeType="1"/>
          </p:cNvSpPr>
          <p:nvPr/>
        </p:nvSpPr>
        <p:spPr bwMode="auto">
          <a:xfrm>
            <a:off x="2574925" y="35814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55" name="Line 13"/>
          <p:cNvSpPr>
            <a:spLocks noChangeShapeType="1"/>
          </p:cNvSpPr>
          <p:nvPr/>
        </p:nvSpPr>
        <p:spPr bwMode="auto">
          <a:xfrm flipV="1">
            <a:off x="5241925" y="36576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56" name="Line 14"/>
          <p:cNvSpPr>
            <a:spLocks noChangeShapeType="1"/>
          </p:cNvSpPr>
          <p:nvPr/>
        </p:nvSpPr>
        <p:spPr bwMode="auto">
          <a:xfrm flipH="1" flipV="1">
            <a:off x="5699125" y="3657600"/>
            <a:ext cx="304800" cy="533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57" name="Line 15"/>
          <p:cNvSpPr>
            <a:spLocks noChangeShapeType="1"/>
          </p:cNvSpPr>
          <p:nvPr/>
        </p:nvSpPr>
        <p:spPr bwMode="auto">
          <a:xfrm flipV="1">
            <a:off x="2422525" y="2667000"/>
            <a:ext cx="1371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58" name="Line 16"/>
          <p:cNvSpPr>
            <a:spLocks noChangeShapeType="1"/>
          </p:cNvSpPr>
          <p:nvPr/>
        </p:nvSpPr>
        <p:spPr bwMode="auto">
          <a:xfrm>
            <a:off x="4327525" y="2667000"/>
            <a:ext cx="1143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59" name="AutoShape 17"/>
          <p:cNvSpPr>
            <a:spLocks noChangeArrowheads="1"/>
          </p:cNvSpPr>
          <p:nvPr/>
        </p:nvSpPr>
        <p:spPr bwMode="auto">
          <a:xfrm>
            <a:off x="669925" y="3581400"/>
            <a:ext cx="152400" cy="762000"/>
          </a:xfrm>
          <a:prstGeom prst="upArrow">
            <a:avLst>
              <a:gd name="adj1" fmla="val 50000"/>
              <a:gd name="adj2" fmla="val 125000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2002" name="Text Box 18"/>
          <p:cNvSpPr txBox="1">
            <a:spLocks noChangeArrowheads="1"/>
          </p:cNvSpPr>
          <p:nvPr/>
        </p:nvSpPr>
        <p:spPr bwMode="auto">
          <a:xfrm>
            <a:off x="6994525" y="2362200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23</a:t>
            </a:r>
          </a:p>
        </p:txBody>
      </p:sp>
      <p:sp>
        <p:nvSpPr>
          <p:cNvPr id="42003" name="Text Box 19"/>
          <p:cNvSpPr txBox="1">
            <a:spLocks noChangeArrowheads="1"/>
          </p:cNvSpPr>
          <p:nvPr/>
        </p:nvSpPr>
        <p:spPr bwMode="auto">
          <a:xfrm>
            <a:off x="2422525" y="5029200"/>
            <a:ext cx="533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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2004" name="Text Box 20"/>
          <p:cNvSpPr txBox="1">
            <a:spLocks noChangeArrowheads="1"/>
          </p:cNvSpPr>
          <p:nvPr/>
        </p:nvSpPr>
        <p:spPr bwMode="auto">
          <a:xfrm>
            <a:off x="3108325" y="4114800"/>
            <a:ext cx="533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u="sng" dirty="0">
                <a:latin typeface="Times New Roman" panose="02020603050405020304" pitchFamily="18" charset="0"/>
                <a:ea typeface="华文楷体" panose="02010600040101010101" pitchFamily="2" charset="-122"/>
              </a:rPr>
              <a:t>38</a:t>
            </a:r>
          </a:p>
        </p:txBody>
      </p:sp>
      <p:sp>
        <p:nvSpPr>
          <p:cNvPr id="42005" name="Text Box 21"/>
          <p:cNvSpPr txBox="1">
            <a:spLocks noChangeArrowheads="1"/>
          </p:cNvSpPr>
          <p:nvPr/>
        </p:nvSpPr>
        <p:spPr bwMode="auto">
          <a:xfrm>
            <a:off x="2117725" y="3276600"/>
            <a:ext cx="533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38</a:t>
            </a:r>
          </a:p>
        </p:txBody>
      </p:sp>
      <p:sp>
        <p:nvSpPr>
          <p:cNvPr id="42006" name="Text Box 22"/>
          <p:cNvSpPr txBox="1">
            <a:spLocks noChangeArrowheads="1"/>
          </p:cNvSpPr>
          <p:nvPr/>
        </p:nvSpPr>
        <p:spPr bwMode="auto">
          <a:xfrm>
            <a:off x="3794125" y="2438400"/>
            <a:ext cx="533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38</a:t>
            </a:r>
          </a:p>
        </p:txBody>
      </p:sp>
      <p:sp>
        <p:nvSpPr>
          <p:cNvPr id="42007" name="Text Box 23"/>
          <p:cNvSpPr txBox="1">
            <a:spLocks noChangeArrowheads="1"/>
          </p:cNvSpPr>
          <p:nvPr/>
        </p:nvSpPr>
        <p:spPr bwMode="auto">
          <a:xfrm>
            <a:off x="6994525" y="28194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38</a:t>
            </a:r>
          </a:p>
        </p:txBody>
      </p:sp>
      <p:sp>
        <p:nvSpPr>
          <p:cNvPr id="42008" name="Text Box 24"/>
          <p:cNvSpPr txBox="1">
            <a:spLocks noChangeArrowheads="1"/>
          </p:cNvSpPr>
          <p:nvPr/>
        </p:nvSpPr>
        <p:spPr bwMode="auto">
          <a:xfrm>
            <a:off x="1660525" y="5029200"/>
            <a:ext cx="6096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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2009" name="Text Box 25"/>
          <p:cNvSpPr txBox="1">
            <a:spLocks noChangeArrowheads="1"/>
          </p:cNvSpPr>
          <p:nvPr/>
        </p:nvSpPr>
        <p:spPr bwMode="auto">
          <a:xfrm>
            <a:off x="1203325" y="4038600"/>
            <a:ext cx="6096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46</a:t>
            </a:r>
          </a:p>
        </p:txBody>
      </p:sp>
      <p:sp>
        <p:nvSpPr>
          <p:cNvPr id="42010" name="Text Box 26"/>
          <p:cNvSpPr txBox="1">
            <a:spLocks noChangeArrowheads="1"/>
          </p:cNvSpPr>
          <p:nvPr/>
        </p:nvSpPr>
        <p:spPr bwMode="auto">
          <a:xfrm>
            <a:off x="2117725" y="3276600"/>
            <a:ext cx="533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u="sng" dirty="0">
                <a:latin typeface="Times New Roman" panose="02020603050405020304" pitchFamily="18" charset="0"/>
                <a:ea typeface="华文楷体" panose="02010600040101010101" pitchFamily="2" charset="-122"/>
              </a:rPr>
              <a:t>38</a:t>
            </a:r>
          </a:p>
        </p:txBody>
      </p:sp>
      <p:sp>
        <p:nvSpPr>
          <p:cNvPr id="42011" name="Text Box 27"/>
          <p:cNvSpPr txBox="1">
            <a:spLocks noChangeArrowheads="1"/>
          </p:cNvSpPr>
          <p:nvPr/>
        </p:nvSpPr>
        <p:spPr bwMode="auto">
          <a:xfrm>
            <a:off x="3870325" y="2438400"/>
            <a:ext cx="533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u="sng" dirty="0">
                <a:latin typeface="Times New Roman" panose="02020603050405020304" pitchFamily="18" charset="0"/>
                <a:ea typeface="华文楷体" panose="02010600040101010101" pitchFamily="2" charset="-122"/>
              </a:rPr>
              <a:t>38</a:t>
            </a:r>
          </a:p>
        </p:txBody>
      </p:sp>
      <p:sp>
        <p:nvSpPr>
          <p:cNvPr id="42012" name="Text Box 28"/>
          <p:cNvSpPr txBox="1">
            <a:spLocks noChangeArrowheads="1"/>
          </p:cNvSpPr>
          <p:nvPr/>
        </p:nvSpPr>
        <p:spPr bwMode="auto">
          <a:xfrm>
            <a:off x="6994525" y="3352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u="sng" dirty="0">
                <a:latin typeface="Times New Roman" panose="02020603050405020304" pitchFamily="18" charset="0"/>
                <a:ea typeface="华文楷体" panose="02010600040101010101" pitchFamily="2" charset="-122"/>
              </a:rPr>
              <a:t>38</a:t>
            </a:r>
          </a:p>
        </p:txBody>
      </p:sp>
      <p:sp>
        <p:nvSpPr>
          <p:cNvPr id="42013" name="Text Box 29"/>
          <p:cNvSpPr txBox="1">
            <a:spLocks noChangeArrowheads="1"/>
          </p:cNvSpPr>
          <p:nvPr/>
        </p:nvSpPr>
        <p:spPr bwMode="auto">
          <a:xfrm>
            <a:off x="3641725" y="5105400"/>
            <a:ext cx="533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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2014" name="Text Box 30"/>
          <p:cNvSpPr txBox="1">
            <a:spLocks noChangeArrowheads="1"/>
          </p:cNvSpPr>
          <p:nvPr/>
        </p:nvSpPr>
        <p:spPr bwMode="auto">
          <a:xfrm>
            <a:off x="2971800" y="4114800"/>
            <a:ext cx="6096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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2015" name="Text Box 31"/>
          <p:cNvSpPr txBox="1">
            <a:spLocks noChangeArrowheads="1"/>
          </p:cNvSpPr>
          <p:nvPr/>
        </p:nvSpPr>
        <p:spPr bwMode="auto">
          <a:xfrm>
            <a:off x="2117725" y="3276600"/>
            <a:ext cx="533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46</a:t>
            </a:r>
          </a:p>
        </p:txBody>
      </p:sp>
      <p:sp>
        <p:nvSpPr>
          <p:cNvPr id="42016" name="Text Box 32"/>
          <p:cNvSpPr txBox="1">
            <a:spLocks noChangeArrowheads="1"/>
          </p:cNvSpPr>
          <p:nvPr/>
        </p:nvSpPr>
        <p:spPr bwMode="auto">
          <a:xfrm>
            <a:off x="3870325" y="2514600"/>
            <a:ext cx="533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40</a:t>
            </a:r>
          </a:p>
        </p:txBody>
      </p:sp>
      <p:sp>
        <p:nvSpPr>
          <p:cNvPr id="42017" name="Text Box 33"/>
          <p:cNvSpPr txBox="1">
            <a:spLocks noChangeArrowheads="1"/>
          </p:cNvSpPr>
          <p:nvPr/>
        </p:nvSpPr>
        <p:spPr bwMode="auto">
          <a:xfrm>
            <a:off x="6994525" y="38862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40</a:t>
            </a:r>
          </a:p>
        </p:txBody>
      </p:sp>
      <p:sp>
        <p:nvSpPr>
          <p:cNvPr id="42018" name="Text Box 34"/>
          <p:cNvSpPr txBox="1">
            <a:spLocks noChangeArrowheads="1"/>
          </p:cNvSpPr>
          <p:nvPr/>
        </p:nvSpPr>
        <p:spPr bwMode="auto">
          <a:xfrm>
            <a:off x="4937125" y="4114800"/>
            <a:ext cx="533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 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2019" name="Text Box 35"/>
          <p:cNvSpPr txBox="1">
            <a:spLocks noChangeArrowheads="1"/>
          </p:cNvSpPr>
          <p:nvPr/>
        </p:nvSpPr>
        <p:spPr bwMode="auto">
          <a:xfrm>
            <a:off x="4479925" y="5105400"/>
            <a:ext cx="533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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2020" name="Text Box 36"/>
          <p:cNvSpPr txBox="1">
            <a:spLocks noChangeArrowheads="1"/>
          </p:cNvSpPr>
          <p:nvPr/>
        </p:nvSpPr>
        <p:spPr bwMode="auto">
          <a:xfrm>
            <a:off x="5394325" y="3276600"/>
            <a:ext cx="4572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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2021" name="Text Box 37"/>
          <p:cNvSpPr txBox="1">
            <a:spLocks noChangeArrowheads="1"/>
          </p:cNvSpPr>
          <p:nvPr/>
        </p:nvSpPr>
        <p:spPr bwMode="auto">
          <a:xfrm>
            <a:off x="3870325" y="2438400"/>
            <a:ext cx="533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46</a:t>
            </a:r>
          </a:p>
        </p:txBody>
      </p:sp>
      <p:sp>
        <p:nvSpPr>
          <p:cNvPr id="42022" name="Text Box 38"/>
          <p:cNvSpPr txBox="1">
            <a:spLocks noChangeArrowheads="1"/>
          </p:cNvSpPr>
          <p:nvPr/>
        </p:nvSpPr>
        <p:spPr bwMode="auto">
          <a:xfrm>
            <a:off x="6994525" y="44196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46</a:t>
            </a:r>
          </a:p>
        </p:txBody>
      </p:sp>
      <p:sp>
        <p:nvSpPr>
          <p:cNvPr id="42023" name="Text Box 39"/>
          <p:cNvSpPr txBox="1">
            <a:spLocks noChangeArrowheads="1"/>
          </p:cNvSpPr>
          <p:nvPr/>
        </p:nvSpPr>
        <p:spPr bwMode="auto">
          <a:xfrm>
            <a:off x="669925" y="5029200"/>
            <a:ext cx="6096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</a:t>
            </a:r>
            <a:endParaRPr kumimoji="1"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2024" name="Text Box 40"/>
          <p:cNvSpPr txBox="1">
            <a:spLocks noChangeArrowheads="1"/>
          </p:cNvSpPr>
          <p:nvPr/>
        </p:nvSpPr>
        <p:spPr bwMode="auto">
          <a:xfrm>
            <a:off x="7576413" y="2141538"/>
            <a:ext cx="553998" cy="2201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稳定排序</a:t>
            </a: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5883" name="Line 41"/>
          <p:cNvSpPr>
            <a:spLocks noChangeShapeType="1"/>
          </p:cNvSpPr>
          <p:nvPr/>
        </p:nvSpPr>
        <p:spPr bwMode="auto">
          <a:xfrm>
            <a:off x="669925" y="4876800"/>
            <a:ext cx="723900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5845" name="Rectangle 3"/>
          <p:cNvSpPr>
            <a:spLocks noChangeArrowheads="1"/>
          </p:cNvSpPr>
          <p:nvPr/>
        </p:nvSpPr>
        <p:spPr bwMode="auto">
          <a:xfrm>
            <a:off x="593725" y="922338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 smtClean="0">
                <a:solidFill>
                  <a:schemeClr val="accent1"/>
                </a:solidFill>
                <a:latin typeface="Verdana" panose="020B0604030504040204" pitchFamily="34" charset="0"/>
                <a:ea typeface="华文楷体" panose="02010600040101010101" pitchFamily="2" charset="-122"/>
              </a:rPr>
              <a:t>2 </a:t>
            </a:r>
            <a:r>
              <a:rPr lang="zh-CN" altLang="en-US" sz="2400" dirty="0" smtClean="0">
                <a:solidFill>
                  <a:schemeClr val="accent1"/>
                </a:solidFill>
                <a:latin typeface="Verdana" panose="020B0604030504040204" pitchFamily="34" charset="0"/>
                <a:ea typeface="华文楷体" panose="02010600040101010101" pitchFamily="2" charset="-122"/>
              </a:rPr>
              <a:t>树形选择排序</a:t>
            </a:r>
            <a:r>
              <a:rPr lang="en-US" altLang="zh-CN" sz="2400" dirty="0" smtClean="0">
                <a:solidFill>
                  <a:schemeClr val="accent1"/>
                </a:solidFill>
                <a:latin typeface="Verdana" panose="020B0604030504040204" pitchFamily="34" charset="0"/>
                <a:ea typeface="华文楷体" panose="02010600040101010101" pitchFamily="2" charset="-122"/>
              </a:rPr>
              <a:t>(</a:t>
            </a:r>
            <a:r>
              <a:rPr lang="zh-CN" altLang="en-US" sz="2400" dirty="0" smtClean="0">
                <a:solidFill>
                  <a:schemeClr val="accent1"/>
                </a:solidFill>
                <a:latin typeface="Verdana" panose="020B0604030504040204" pitchFamily="34" charset="0"/>
                <a:ea typeface="华文楷体" panose="02010600040101010101" pitchFamily="2" charset="-122"/>
              </a:rPr>
              <a:t>锦标赛排序</a:t>
            </a:r>
            <a:r>
              <a:rPr lang="en-US" altLang="zh-CN" sz="2400" dirty="0" smtClean="0">
                <a:solidFill>
                  <a:schemeClr val="accent1"/>
                </a:solidFill>
                <a:latin typeface="Verdana" panose="020B0604030504040204" pitchFamily="34" charset="0"/>
                <a:ea typeface="华文楷体" panose="02010600040101010101" pitchFamily="2" charset="-122"/>
              </a:rPr>
              <a:t>)</a:t>
            </a:r>
            <a:endParaRPr lang="en-US" altLang="zh-CN" sz="2400" dirty="0">
              <a:solidFill>
                <a:schemeClr val="accent1"/>
              </a:solidFill>
              <a:latin typeface="Verdana" panose="020B0604030504040204" pitchFamily="34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420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420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420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420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420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75"/>
                                        <p:tgtEl>
                                          <p:spTgt spid="420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420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420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420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420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75"/>
                                        <p:tgtEl>
                                          <p:spTgt spid="42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500"/>
                                        <p:tgtEl>
                                          <p:spTgt spid="420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7" dur="500"/>
                                        <p:tgtEl>
                                          <p:spTgt spid="420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2" dur="500"/>
                                        <p:tgtEl>
                                          <p:spTgt spid="420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7" dur="500"/>
                                        <p:tgtEl>
                                          <p:spTgt spid="420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75"/>
                                        <p:tgtEl>
                                          <p:spTgt spid="420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7" dur="500"/>
                                        <p:tgtEl>
                                          <p:spTgt spid="420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2" dur="500"/>
                                        <p:tgtEl>
                                          <p:spTgt spid="420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7" dur="500"/>
                                        <p:tgtEl>
                                          <p:spTgt spid="420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2" dur="500"/>
                                        <p:tgtEl>
                                          <p:spTgt spid="420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75"/>
                                        <p:tgtEl>
                                          <p:spTgt spid="420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2" dur="500"/>
                                        <p:tgtEl>
                                          <p:spTgt spid="420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75"/>
                                        <p:tgtEl>
                                          <p:spTgt spid="420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02" grpId="0" build="p" autoUpdateAnimBg="0"/>
      <p:bldP spid="42003" grpId="0" animBg="1" autoUpdateAnimBg="0"/>
      <p:bldP spid="42004" grpId="0" animBg="1" autoUpdateAnimBg="0"/>
      <p:bldP spid="42005" grpId="0" animBg="1" autoUpdateAnimBg="0"/>
      <p:bldP spid="42006" grpId="0" animBg="1" autoUpdateAnimBg="0"/>
      <p:bldP spid="42007" grpId="0" build="p" autoUpdateAnimBg="0"/>
      <p:bldP spid="42008" grpId="0" animBg="1" autoUpdateAnimBg="0"/>
      <p:bldP spid="42009" grpId="0" animBg="1" autoUpdateAnimBg="0"/>
      <p:bldP spid="42010" grpId="0" animBg="1" autoUpdateAnimBg="0"/>
      <p:bldP spid="42011" grpId="0" animBg="1" autoUpdateAnimBg="0"/>
      <p:bldP spid="42012" grpId="0" build="p" autoUpdateAnimBg="0"/>
      <p:bldP spid="42013" grpId="0" animBg="1" autoUpdateAnimBg="0"/>
      <p:bldP spid="42014" grpId="0" animBg="1" autoUpdateAnimBg="0"/>
      <p:bldP spid="42015" grpId="0" animBg="1" autoUpdateAnimBg="0"/>
      <p:bldP spid="42016" grpId="0" animBg="1" autoUpdateAnimBg="0"/>
      <p:bldP spid="42017" grpId="0" build="p" autoUpdateAnimBg="0"/>
      <p:bldP spid="42018" grpId="0" animBg="1" autoUpdateAnimBg="0"/>
      <p:bldP spid="42019" grpId="0" animBg="1" autoUpdateAnimBg="0"/>
      <p:bldP spid="42020" grpId="0" animBg="1" autoUpdateAnimBg="0"/>
      <p:bldP spid="42021" grpId="0" animBg="1" autoUpdateAnimBg="0"/>
      <p:bldP spid="42022" grpId="0" build="p" autoUpdateAnimBg="0"/>
      <p:bldP spid="42023" grpId="0" animBg="1" autoUpdateAnimBg="0"/>
      <p:bldP spid="42024" grpId="0" build="p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368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性能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  <a:r>
              <a:rPr lang="en-US" altLang="zh-CN" sz="2400" b="1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 </a:t>
            </a:r>
            <a:r>
              <a:rPr lang="en-US" altLang="zh-CN" sz="2400" dirty="0" smtClean="0">
                <a:solidFill>
                  <a:srgbClr val="000066"/>
                </a:solidFill>
                <a:ea typeface="华文楷体" panose="02010600040101010101" pitchFamily="2" charset="-122"/>
              </a:rPr>
              <a:t>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除第一次外，每次都走了树的一条分支，故其时间复杂度为 </a:t>
            </a:r>
            <a:r>
              <a:rPr lang="en-US" altLang="zh-CN" sz="2400" i="1" dirty="0" smtClean="0">
                <a:ea typeface="华文楷体" panose="02010600040101010101" pitchFamily="2" charset="-122"/>
              </a:rPr>
              <a:t>O( n log</a:t>
            </a:r>
            <a:r>
              <a:rPr lang="en-US" altLang="zh-CN" sz="2400" i="1" baseline="-25000" dirty="0" smtClean="0">
                <a:ea typeface="华文楷体" panose="02010600040101010101" pitchFamily="2" charset="-122"/>
              </a:rPr>
              <a:t>2 </a:t>
            </a:r>
            <a:r>
              <a:rPr lang="en-US" altLang="zh-CN" sz="2400" i="1" dirty="0" smtClean="0">
                <a:ea typeface="华文楷体" panose="02010600040101010101" pitchFamily="2" charset="-122"/>
              </a:rPr>
              <a:t>n )</a:t>
            </a:r>
            <a:r>
              <a:rPr lang="zh-CN" altLang="en-US" sz="2400" dirty="0" smtClean="0">
                <a:ea typeface="华文楷体" panose="02010600040101010101" pitchFamily="2" charset="-122"/>
              </a:rPr>
              <a:t>。</a:t>
            </a:r>
            <a:endParaRPr lang="zh-CN" altLang="en-US" sz="2400" b="1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缺陷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]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辅助空间较多；需与“最大值”进行多余的比较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 smtClean="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3789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3 </a:t>
            </a:r>
            <a:r>
              <a:rPr lang="zh-CN" altLang="en-US" sz="2400" b="1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堆排序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特点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</a:p>
          <a:p>
            <a:pPr lvl="1" eaLnBrk="1" hangingPunct="1"/>
            <a:r>
              <a:rPr lang="zh-CN" altLang="en-US" sz="2400" dirty="0" smtClean="0">
                <a:ea typeface="华文楷体" panose="02010600040101010101" pitchFamily="2" charset="-122"/>
              </a:rPr>
              <a:t>较直接选择排序减少重复比较；</a:t>
            </a:r>
          </a:p>
          <a:p>
            <a:pPr lvl="1" eaLnBrk="1" hangingPunct="1"/>
            <a:r>
              <a:rPr lang="zh-CN" altLang="en-US" sz="2400" dirty="0" smtClean="0">
                <a:ea typeface="华文楷体" panose="02010600040101010101" pitchFamily="2" charset="-122"/>
              </a:rPr>
              <a:t>较树形选择排序减少辅助存储空间</a:t>
            </a:r>
            <a:r>
              <a:rPr lang="en-US" altLang="zh-CN" sz="2400" dirty="0" smtClean="0">
                <a:ea typeface="华文楷体" panose="02010600040101010101" pitchFamily="2" charset="-122"/>
              </a:rPr>
              <a:t>(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仅需一个</a:t>
            </a:r>
            <a:r>
              <a:rPr lang="en-US" altLang="zh-CN" sz="2400" dirty="0" smtClean="0">
                <a:ea typeface="华文楷体" panose="02010600040101010101" pitchFamily="2" charset="-122"/>
              </a:rPr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[(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二叉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)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堆的定义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    n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个关键字的序列</a:t>
            </a:r>
            <a:r>
              <a:rPr lang="en-US" altLang="zh-CN" sz="2400" dirty="0" smtClean="0">
                <a:ea typeface="华文楷体" panose="02010600040101010101" pitchFamily="2" charset="-122"/>
              </a:rPr>
              <a:t>(</a:t>
            </a:r>
            <a:r>
              <a:rPr lang="zh-CN" altLang="en-US" sz="2400" dirty="0" smtClean="0">
                <a:ea typeface="华文楷体" panose="02010600040101010101" pitchFamily="2" charset="-122"/>
              </a:rPr>
              <a:t>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k</a:t>
            </a:r>
            <a:r>
              <a:rPr lang="en-US" altLang="zh-CN" sz="2400" baseline="-25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, k</a:t>
            </a:r>
            <a:r>
              <a:rPr lang="en-US" altLang="zh-CN" sz="2400" baseline="-25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,..., 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 sz="2400" baseline="-250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400" baseline="-25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)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当且仅当满足下列条件之一：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(1)K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i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K</a:t>
            </a:r>
            <a:r>
              <a:rPr lang="en-US" altLang="zh-CN" sz="2400" baseline="-25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2i  </a:t>
            </a:r>
            <a:r>
              <a:rPr lang="zh-CN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且 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 sz="2400" baseline="-25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K</a:t>
            </a:r>
            <a:r>
              <a:rPr lang="en-US" altLang="zh-CN" sz="2400" baseline="-25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2i+1     </a:t>
            </a:r>
            <a:r>
              <a:rPr lang="zh-CN" altLang="en-US" sz="2400" b="1" dirty="0" smtClean="0">
                <a:solidFill>
                  <a:srgbClr val="FF33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小根</a:t>
            </a:r>
            <a:r>
              <a:rPr lang="en-US" altLang="zh-CN" sz="2400" b="1" dirty="0" smtClean="0">
                <a:solidFill>
                  <a:srgbClr val="FF33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(</a:t>
            </a:r>
            <a:r>
              <a:rPr lang="zh-CN" altLang="en-US" sz="2400" b="1" dirty="0" smtClean="0">
                <a:solidFill>
                  <a:srgbClr val="FF33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顶</a:t>
            </a:r>
            <a:r>
              <a:rPr lang="en-US" altLang="zh-CN" sz="2400" b="1" dirty="0" smtClean="0">
                <a:solidFill>
                  <a:srgbClr val="FF33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2400" b="1" dirty="0" smtClean="0">
                <a:solidFill>
                  <a:srgbClr val="FF33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堆</a:t>
            </a:r>
            <a:endParaRPr lang="zh-CN" altLang="en-US" sz="2400" b="1" dirty="0" smtClean="0">
              <a:solidFill>
                <a:srgbClr val="FF3300"/>
              </a:solidFill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(2)K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i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K</a:t>
            </a:r>
            <a:r>
              <a:rPr lang="en-US" altLang="zh-CN" sz="2400" baseline="-25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2i  </a:t>
            </a:r>
            <a:r>
              <a:rPr lang="zh-CN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且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K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i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K</a:t>
            </a:r>
            <a:r>
              <a:rPr lang="en-US" altLang="zh-CN" sz="2400" baseline="-25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2i+1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</a:t>
            </a:r>
            <a:r>
              <a:rPr lang="zh-CN" altLang="en-US" sz="2400" b="1" dirty="0" smtClean="0">
                <a:solidFill>
                  <a:srgbClr val="FF33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大根</a:t>
            </a:r>
            <a:r>
              <a:rPr lang="en-US" altLang="zh-CN" sz="2400" b="1" dirty="0" smtClean="0">
                <a:solidFill>
                  <a:srgbClr val="FF33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(</a:t>
            </a:r>
            <a:r>
              <a:rPr lang="zh-CN" altLang="en-US" sz="2400" b="1" dirty="0" smtClean="0">
                <a:solidFill>
                  <a:srgbClr val="FF33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顶</a:t>
            </a:r>
            <a:r>
              <a:rPr lang="en-US" altLang="zh-CN" sz="2400" b="1" dirty="0" smtClean="0">
                <a:solidFill>
                  <a:srgbClr val="FF33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2400" b="1" dirty="0" smtClean="0">
                <a:solidFill>
                  <a:srgbClr val="FF33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堆</a:t>
            </a:r>
            <a:endParaRPr lang="zh-CN" altLang="en-US" sz="2400" b="1" baseline="-25000" dirty="0" smtClean="0">
              <a:solidFill>
                <a:srgbClr val="FF3300"/>
              </a:solidFill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aseline="-25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 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则称该序列为一个堆。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b="1" dirty="0" smtClean="0">
              <a:solidFill>
                <a:srgbClr val="800000"/>
              </a:solidFill>
              <a:ea typeface="华文楷体" panose="02010600040101010101" pitchFamily="2" charset="-122"/>
            </a:endParaRPr>
          </a:p>
        </p:txBody>
      </p:sp>
      <p:sp>
        <p:nvSpPr>
          <p:cNvPr id="37894" name="Text Box 4"/>
          <p:cNvSpPr txBox="1">
            <a:spLocks noChangeArrowheads="1"/>
          </p:cNvSpPr>
          <p:nvPr/>
        </p:nvSpPr>
        <p:spPr bwMode="auto">
          <a:xfrm>
            <a:off x="5562600" y="4343400"/>
            <a:ext cx="259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( </a:t>
            </a:r>
            <a:r>
              <a:rPr kumimoji="1" lang="en-US" altLang="zh-CN" sz="2400" b="1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=1,2</a:t>
            </a:r>
            <a:r>
              <a:rPr kumimoji="1"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,..., </a:t>
            </a:r>
            <a:r>
              <a:rPr kumimoji="1" lang="en-US" altLang="zh-CN" sz="2400" b="1" dirty="0" smtClean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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n/2 )</a:t>
            </a:r>
            <a:endParaRPr kumimoji="1" lang="en-US" altLang="zh-CN" sz="2400" b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46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389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3891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示例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{ 96, 83, 27, 11, 9}     		                  </a:t>
            </a:r>
            <a:r>
              <a:rPr lang="zh-CN" altLang="en-US" sz="24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大根堆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{ 12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，</a:t>
            </a:r>
            <a:r>
              <a:rPr lang="en-US" altLang="zh-CN" sz="2400" dirty="0" smtClean="0">
                <a:ea typeface="华文楷体" panose="02010600040101010101" pitchFamily="2" charset="-122"/>
              </a:rPr>
              <a:t>36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，</a:t>
            </a:r>
            <a:r>
              <a:rPr lang="en-US" altLang="zh-CN" sz="2400" dirty="0" smtClean="0">
                <a:ea typeface="华文楷体" panose="02010600040101010101" pitchFamily="2" charset="-122"/>
              </a:rPr>
              <a:t>24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，</a:t>
            </a:r>
            <a:r>
              <a:rPr lang="en-US" altLang="zh-CN" sz="2400" dirty="0" smtClean="0">
                <a:ea typeface="华文楷体" panose="02010600040101010101" pitchFamily="2" charset="-122"/>
              </a:rPr>
              <a:t>85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，</a:t>
            </a:r>
            <a:r>
              <a:rPr lang="en-US" altLang="zh-CN" sz="2400" dirty="0" smtClean="0">
                <a:ea typeface="华文楷体" panose="02010600040101010101" pitchFamily="2" charset="-122"/>
              </a:rPr>
              <a:t>47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，</a:t>
            </a:r>
            <a:r>
              <a:rPr lang="en-US" altLang="zh-CN" sz="2400" dirty="0" smtClean="0">
                <a:ea typeface="华文楷体" panose="02010600040101010101" pitchFamily="2" charset="-122"/>
              </a:rPr>
              <a:t>30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，</a:t>
            </a:r>
            <a:r>
              <a:rPr lang="en-US" altLang="zh-CN" sz="2400" dirty="0" smtClean="0">
                <a:ea typeface="华文楷体" panose="02010600040101010101" pitchFamily="2" charset="-122"/>
              </a:rPr>
              <a:t>53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，</a:t>
            </a:r>
            <a:r>
              <a:rPr lang="en-US" altLang="zh-CN" sz="2400" dirty="0" smtClean="0">
                <a:ea typeface="华文楷体" panose="02010600040101010101" pitchFamily="2" charset="-122"/>
              </a:rPr>
              <a:t>91} </a:t>
            </a:r>
            <a:r>
              <a:rPr lang="zh-CN" altLang="en-US" sz="24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小根堆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 dirty="0" smtClean="0">
              <a:solidFill>
                <a:schemeClr val="accent2"/>
              </a:solidFill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 dirty="0" smtClean="0">
              <a:solidFill>
                <a:schemeClr val="accent2"/>
              </a:solidFill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 dirty="0" smtClean="0">
              <a:solidFill>
                <a:schemeClr val="accent2"/>
              </a:solidFill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 dirty="0" smtClean="0">
              <a:solidFill>
                <a:schemeClr val="accent2"/>
              </a:solidFill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 dirty="0" smtClean="0">
              <a:solidFill>
                <a:schemeClr val="accent2"/>
              </a:solidFill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 b="1" dirty="0" smtClean="0">
              <a:solidFill>
                <a:srgbClr val="CC6600"/>
              </a:solidFill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堆对应于完全二叉树的存储结构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]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 smtClean="0">
              <a:solidFill>
                <a:schemeClr val="accent2"/>
              </a:solidFill>
              <a:ea typeface="华文楷体" panose="02010600040101010101" pitchFamily="2" charset="-122"/>
            </a:endParaRPr>
          </a:p>
        </p:txBody>
      </p:sp>
      <p:sp>
        <p:nvSpPr>
          <p:cNvPr id="38918" name="Line 4"/>
          <p:cNvSpPr>
            <a:spLocks noChangeShapeType="1"/>
          </p:cNvSpPr>
          <p:nvPr/>
        </p:nvSpPr>
        <p:spPr bwMode="auto">
          <a:xfrm>
            <a:off x="1676400" y="3613150"/>
            <a:ext cx="304800" cy="609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8919" name="Line 5"/>
          <p:cNvSpPr>
            <a:spLocks noChangeShapeType="1"/>
          </p:cNvSpPr>
          <p:nvPr/>
        </p:nvSpPr>
        <p:spPr bwMode="auto">
          <a:xfrm>
            <a:off x="2286000" y="3155950"/>
            <a:ext cx="388938" cy="461963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8920" name="Line 6"/>
          <p:cNvSpPr>
            <a:spLocks noChangeShapeType="1"/>
          </p:cNvSpPr>
          <p:nvPr/>
        </p:nvSpPr>
        <p:spPr bwMode="auto">
          <a:xfrm flipH="1">
            <a:off x="1254125" y="3155950"/>
            <a:ext cx="803275" cy="1041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8921" name="Oval 7"/>
          <p:cNvSpPr>
            <a:spLocks noChangeArrowheads="1"/>
          </p:cNvSpPr>
          <p:nvPr/>
        </p:nvSpPr>
        <p:spPr bwMode="auto">
          <a:xfrm>
            <a:off x="1981200" y="2927350"/>
            <a:ext cx="457200" cy="381000"/>
          </a:xfrm>
          <a:prstGeom prst="ellipse">
            <a:avLst/>
          </a:prstGeom>
          <a:solidFill>
            <a:srgbClr val="FF0000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1" lang="en-US" altLang="zh-CN" sz="16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96</a:t>
            </a:r>
            <a:endParaRPr kumimoji="1" lang="en-US" altLang="zh-CN" sz="1600" b="1" u="sng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8922" name="Oval 8"/>
          <p:cNvSpPr>
            <a:spLocks noChangeArrowheads="1"/>
          </p:cNvSpPr>
          <p:nvPr/>
        </p:nvSpPr>
        <p:spPr bwMode="auto">
          <a:xfrm>
            <a:off x="1676400" y="3917950"/>
            <a:ext cx="457200" cy="381000"/>
          </a:xfrm>
          <a:prstGeom prst="ellipse">
            <a:avLst/>
          </a:prstGeom>
          <a:solidFill>
            <a:srgbClr val="FF0000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1" lang="en-US" altLang="zh-CN" sz="16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9</a:t>
            </a:r>
            <a:endParaRPr kumimoji="1" lang="en-US" altLang="zh-CN" sz="1600" b="1" u="sng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8923" name="Oval 9"/>
          <p:cNvSpPr>
            <a:spLocks noChangeArrowheads="1"/>
          </p:cNvSpPr>
          <p:nvPr/>
        </p:nvSpPr>
        <p:spPr bwMode="auto">
          <a:xfrm>
            <a:off x="1066800" y="3917950"/>
            <a:ext cx="457200" cy="381000"/>
          </a:xfrm>
          <a:prstGeom prst="ellipse">
            <a:avLst/>
          </a:prstGeom>
          <a:solidFill>
            <a:srgbClr val="FF0000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1" lang="en-US" altLang="zh-CN" sz="16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11</a:t>
            </a:r>
            <a:endParaRPr kumimoji="1" lang="en-US" altLang="zh-CN" sz="1600" b="1" u="sng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8924" name="Oval 10"/>
          <p:cNvSpPr>
            <a:spLocks noChangeArrowheads="1"/>
          </p:cNvSpPr>
          <p:nvPr/>
        </p:nvSpPr>
        <p:spPr bwMode="auto">
          <a:xfrm>
            <a:off x="1447800" y="3384550"/>
            <a:ext cx="457200" cy="381000"/>
          </a:xfrm>
          <a:prstGeom prst="ellipse">
            <a:avLst/>
          </a:prstGeom>
          <a:solidFill>
            <a:srgbClr val="FF0000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1" lang="en-US" altLang="zh-CN" sz="16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83</a:t>
            </a:r>
            <a:endParaRPr kumimoji="1" lang="en-US" altLang="zh-CN" sz="1600" b="1" u="sng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8925" name="Oval 11"/>
          <p:cNvSpPr>
            <a:spLocks noChangeArrowheads="1"/>
          </p:cNvSpPr>
          <p:nvPr/>
        </p:nvSpPr>
        <p:spPr bwMode="auto">
          <a:xfrm>
            <a:off x="2514600" y="3384550"/>
            <a:ext cx="457200" cy="381000"/>
          </a:xfrm>
          <a:prstGeom prst="ellipse">
            <a:avLst/>
          </a:prstGeom>
          <a:solidFill>
            <a:srgbClr val="FF0000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1" lang="en-US" altLang="zh-CN" sz="16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27</a:t>
            </a:r>
            <a:endParaRPr kumimoji="1" lang="en-US" altLang="zh-CN" sz="1600" b="1" u="sng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8926" name="Text Box 12"/>
          <p:cNvSpPr txBox="1">
            <a:spLocks noChangeArrowheads="1"/>
          </p:cNvSpPr>
          <p:nvPr/>
        </p:nvSpPr>
        <p:spPr bwMode="auto">
          <a:xfrm>
            <a:off x="1447800" y="3155950"/>
            <a:ext cx="3810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2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  2</a:t>
            </a:r>
            <a:endParaRPr kumimoji="1" lang="en-US" altLang="zh-CN" sz="2000" b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8927" name="Text Box 13"/>
          <p:cNvSpPr txBox="1">
            <a:spLocks noChangeArrowheads="1"/>
          </p:cNvSpPr>
          <p:nvPr/>
        </p:nvSpPr>
        <p:spPr bwMode="auto">
          <a:xfrm>
            <a:off x="2590800" y="3155950"/>
            <a:ext cx="3810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2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 3</a:t>
            </a:r>
            <a:endParaRPr kumimoji="1" lang="en-US" altLang="zh-CN" sz="2000" b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8928" name="Text Box 14"/>
          <p:cNvSpPr txBox="1">
            <a:spLocks noChangeArrowheads="1"/>
          </p:cNvSpPr>
          <p:nvPr/>
        </p:nvSpPr>
        <p:spPr bwMode="auto">
          <a:xfrm>
            <a:off x="1981200" y="2698750"/>
            <a:ext cx="3810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2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  1</a:t>
            </a:r>
            <a:endParaRPr kumimoji="1" lang="en-US" altLang="zh-CN" sz="2000" b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8929" name="Text Box 15"/>
          <p:cNvSpPr txBox="1">
            <a:spLocks noChangeArrowheads="1"/>
          </p:cNvSpPr>
          <p:nvPr/>
        </p:nvSpPr>
        <p:spPr bwMode="auto">
          <a:xfrm>
            <a:off x="1219200" y="3689350"/>
            <a:ext cx="3810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2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4</a:t>
            </a:r>
          </a:p>
        </p:txBody>
      </p:sp>
      <p:sp>
        <p:nvSpPr>
          <p:cNvPr id="38930" name="Text Box 16"/>
          <p:cNvSpPr txBox="1">
            <a:spLocks noChangeArrowheads="1"/>
          </p:cNvSpPr>
          <p:nvPr/>
        </p:nvSpPr>
        <p:spPr bwMode="auto">
          <a:xfrm>
            <a:off x="1828800" y="3689350"/>
            <a:ext cx="3810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2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5</a:t>
            </a:r>
          </a:p>
        </p:txBody>
      </p:sp>
      <p:sp>
        <p:nvSpPr>
          <p:cNvPr id="38931" name="Line 17"/>
          <p:cNvSpPr>
            <a:spLocks noChangeShapeType="1"/>
          </p:cNvSpPr>
          <p:nvPr/>
        </p:nvSpPr>
        <p:spPr bwMode="auto">
          <a:xfrm>
            <a:off x="5727700" y="3581400"/>
            <a:ext cx="304800" cy="609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8932" name="Line 18"/>
          <p:cNvSpPr>
            <a:spLocks noChangeShapeType="1"/>
          </p:cNvSpPr>
          <p:nvPr/>
        </p:nvSpPr>
        <p:spPr bwMode="auto">
          <a:xfrm flipH="1">
            <a:off x="6480175" y="3505200"/>
            <a:ext cx="238125" cy="6381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8933" name="Line 19"/>
          <p:cNvSpPr>
            <a:spLocks noChangeShapeType="1"/>
          </p:cNvSpPr>
          <p:nvPr/>
        </p:nvSpPr>
        <p:spPr bwMode="auto">
          <a:xfrm>
            <a:off x="6337300" y="3124200"/>
            <a:ext cx="827088" cy="9810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8934" name="Line 20"/>
          <p:cNvSpPr>
            <a:spLocks noChangeShapeType="1"/>
          </p:cNvSpPr>
          <p:nvPr/>
        </p:nvSpPr>
        <p:spPr bwMode="auto">
          <a:xfrm flipH="1">
            <a:off x="4889500" y="3124200"/>
            <a:ext cx="1219200" cy="1676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8935" name="Oval 21"/>
          <p:cNvSpPr>
            <a:spLocks noChangeArrowheads="1"/>
          </p:cNvSpPr>
          <p:nvPr/>
        </p:nvSpPr>
        <p:spPr bwMode="auto">
          <a:xfrm>
            <a:off x="6032500" y="2895600"/>
            <a:ext cx="457200" cy="381000"/>
          </a:xfrm>
          <a:prstGeom prst="ellipse">
            <a:avLst/>
          </a:prstGeom>
          <a:solidFill>
            <a:srgbClr val="FF0000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1" lang="en-US" altLang="zh-CN" sz="16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12</a:t>
            </a:r>
            <a:endParaRPr kumimoji="1" lang="en-US" altLang="zh-CN" sz="1600" b="1" u="sng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8936" name="Oval 22"/>
          <p:cNvSpPr>
            <a:spLocks noChangeArrowheads="1"/>
          </p:cNvSpPr>
          <p:nvPr/>
        </p:nvSpPr>
        <p:spPr bwMode="auto">
          <a:xfrm>
            <a:off x="5727700" y="3886200"/>
            <a:ext cx="457200" cy="381000"/>
          </a:xfrm>
          <a:prstGeom prst="ellipse">
            <a:avLst/>
          </a:prstGeom>
          <a:solidFill>
            <a:srgbClr val="FF0000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1" lang="en-US" altLang="zh-CN" sz="16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47</a:t>
            </a:r>
            <a:endParaRPr kumimoji="1" lang="en-US" altLang="zh-CN" sz="1600" b="1" u="sng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8937" name="Oval 23"/>
          <p:cNvSpPr>
            <a:spLocks noChangeArrowheads="1"/>
          </p:cNvSpPr>
          <p:nvPr/>
        </p:nvSpPr>
        <p:spPr bwMode="auto">
          <a:xfrm>
            <a:off x="5118100" y="3886200"/>
            <a:ext cx="457200" cy="381000"/>
          </a:xfrm>
          <a:prstGeom prst="ellipse">
            <a:avLst/>
          </a:prstGeom>
          <a:solidFill>
            <a:srgbClr val="FF0000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1" lang="en-US" altLang="zh-CN" sz="16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85</a:t>
            </a:r>
            <a:endParaRPr kumimoji="1" lang="en-US" altLang="zh-CN" sz="1600" b="1" u="sng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8938" name="Oval 24"/>
          <p:cNvSpPr>
            <a:spLocks noChangeArrowheads="1"/>
          </p:cNvSpPr>
          <p:nvPr/>
        </p:nvSpPr>
        <p:spPr bwMode="auto">
          <a:xfrm>
            <a:off x="4737100" y="4495800"/>
            <a:ext cx="457200" cy="381000"/>
          </a:xfrm>
          <a:prstGeom prst="ellipse">
            <a:avLst/>
          </a:prstGeom>
          <a:solidFill>
            <a:srgbClr val="FF0000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1" lang="en-US" altLang="zh-CN" sz="16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91</a:t>
            </a:r>
            <a:endParaRPr kumimoji="1" lang="en-US" altLang="zh-CN" sz="1600" b="1" u="sng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8939" name="Oval 25"/>
          <p:cNvSpPr>
            <a:spLocks noChangeArrowheads="1"/>
          </p:cNvSpPr>
          <p:nvPr/>
        </p:nvSpPr>
        <p:spPr bwMode="auto">
          <a:xfrm>
            <a:off x="5499100" y="3352800"/>
            <a:ext cx="457200" cy="381000"/>
          </a:xfrm>
          <a:prstGeom prst="ellipse">
            <a:avLst/>
          </a:prstGeom>
          <a:solidFill>
            <a:srgbClr val="FF0000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1" lang="en-US" altLang="zh-CN" sz="16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36</a:t>
            </a:r>
            <a:endParaRPr kumimoji="1" lang="en-US" altLang="zh-CN" sz="1600" b="1" u="sng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8940" name="Oval 26"/>
          <p:cNvSpPr>
            <a:spLocks noChangeArrowheads="1"/>
          </p:cNvSpPr>
          <p:nvPr/>
        </p:nvSpPr>
        <p:spPr bwMode="auto">
          <a:xfrm>
            <a:off x="6565900" y="3352800"/>
            <a:ext cx="457200" cy="381000"/>
          </a:xfrm>
          <a:prstGeom prst="ellipse">
            <a:avLst/>
          </a:prstGeom>
          <a:solidFill>
            <a:srgbClr val="FF0000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1" lang="en-US" altLang="zh-CN" sz="16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24</a:t>
            </a:r>
            <a:endParaRPr kumimoji="1" lang="en-US" altLang="zh-CN" sz="1600" b="1" u="sng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8941" name="Oval 27"/>
          <p:cNvSpPr>
            <a:spLocks noChangeArrowheads="1"/>
          </p:cNvSpPr>
          <p:nvPr/>
        </p:nvSpPr>
        <p:spPr bwMode="auto">
          <a:xfrm>
            <a:off x="6946900" y="3886200"/>
            <a:ext cx="457200" cy="381000"/>
          </a:xfrm>
          <a:prstGeom prst="ellipse">
            <a:avLst/>
          </a:prstGeom>
          <a:solidFill>
            <a:srgbClr val="FF0000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1" lang="en-US" altLang="zh-CN" sz="16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53</a:t>
            </a:r>
            <a:endParaRPr kumimoji="1" lang="en-US" altLang="zh-CN" sz="1600" b="1" u="sng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8942" name="Oval 28"/>
          <p:cNvSpPr>
            <a:spLocks noChangeArrowheads="1"/>
          </p:cNvSpPr>
          <p:nvPr/>
        </p:nvSpPr>
        <p:spPr bwMode="auto">
          <a:xfrm>
            <a:off x="6261100" y="3886200"/>
            <a:ext cx="457200" cy="381000"/>
          </a:xfrm>
          <a:prstGeom prst="ellipse">
            <a:avLst/>
          </a:prstGeom>
          <a:solidFill>
            <a:srgbClr val="FF0000"/>
          </a:solidFill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1" lang="en-US" altLang="zh-CN" sz="16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30</a:t>
            </a:r>
            <a:endParaRPr kumimoji="1" lang="en-US" altLang="zh-CN" sz="1600" b="1" u="sng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8943" name="Text Box 29"/>
          <p:cNvSpPr txBox="1">
            <a:spLocks noChangeArrowheads="1"/>
          </p:cNvSpPr>
          <p:nvPr/>
        </p:nvSpPr>
        <p:spPr bwMode="auto">
          <a:xfrm>
            <a:off x="6261100" y="3657600"/>
            <a:ext cx="3810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2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6</a:t>
            </a:r>
            <a:endParaRPr kumimoji="1" lang="en-US" altLang="zh-CN" sz="2000" b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8944" name="Text Box 30"/>
          <p:cNvSpPr txBox="1">
            <a:spLocks noChangeArrowheads="1"/>
          </p:cNvSpPr>
          <p:nvPr/>
        </p:nvSpPr>
        <p:spPr bwMode="auto">
          <a:xfrm>
            <a:off x="5499100" y="3124200"/>
            <a:ext cx="3810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2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endParaRPr kumimoji="1" lang="en-US" altLang="zh-CN" sz="2000" b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8945" name="Text Box 31"/>
          <p:cNvSpPr txBox="1">
            <a:spLocks noChangeArrowheads="1"/>
          </p:cNvSpPr>
          <p:nvPr/>
        </p:nvSpPr>
        <p:spPr bwMode="auto">
          <a:xfrm>
            <a:off x="7023100" y="3657600"/>
            <a:ext cx="3810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2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7</a:t>
            </a:r>
            <a:endParaRPr kumimoji="1" lang="en-US" altLang="zh-CN" sz="2000" b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8946" name="Text Box 32"/>
          <p:cNvSpPr txBox="1">
            <a:spLocks noChangeArrowheads="1"/>
          </p:cNvSpPr>
          <p:nvPr/>
        </p:nvSpPr>
        <p:spPr bwMode="auto">
          <a:xfrm>
            <a:off x="6642100" y="3124200"/>
            <a:ext cx="3810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2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3</a:t>
            </a:r>
            <a:endParaRPr kumimoji="1" lang="en-US" altLang="zh-CN" sz="2000" b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8947" name="Text Box 33"/>
          <p:cNvSpPr txBox="1">
            <a:spLocks noChangeArrowheads="1"/>
          </p:cNvSpPr>
          <p:nvPr/>
        </p:nvSpPr>
        <p:spPr bwMode="auto">
          <a:xfrm>
            <a:off x="6032500" y="2667000"/>
            <a:ext cx="3810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2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 1</a:t>
            </a:r>
            <a:endParaRPr kumimoji="1" lang="en-US" altLang="zh-CN" sz="2000" b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8948" name="Text Box 34"/>
          <p:cNvSpPr txBox="1">
            <a:spLocks noChangeArrowheads="1"/>
          </p:cNvSpPr>
          <p:nvPr/>
        </p:nvSpPr>
        <p:spPr bwMode="auto">
          <a:xfrm>
            <a:off x="4813300" y="4267200"/>
            <a:ext cx="3810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2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8</a:t>
            </a:r>
          </a:p>
        </p:txBody>
      </p:sp>
      <p:sp>
        <p:nvSpPr>
          <p:cNvPr id="38949" name="Text Box 35"/>
          <p:cNvSpPr txBox="1">
            <a:spLocks noChangeArrowheads="1"/>
          </p:cNvSpPr>
          <p:nvPr/>
        </p:nvSpPr>
        <p:spPr bwMode="auto">
          <a:xfrm>
            <a:off x="5270500" y="3657600"/>
            <a:ext cx="3810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2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4</a:t>
            </a:r>
          </a:p>
        </p:txBody>
      </p:sp>
      <p:sp>
        <p:nvSpPr>
          <p:cNvPr id="38950" name="Text Box 36"/>
          <p:cNvSpPr txBox="1">
            <a:spLocks noChangeArrowheads="1"/>
          </p:cNvSpPr>
          <p:nvPr/>
        </p:nvSpPr>
        <p:spPr bwMode="auto">
          <a:xfrm>
            <a:off x="5880100" y="3657600"/>
            <a:ext cx="3810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2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5</a:t>
            </a:r>
          </a:p>
        </p:txBody>
      </p:sp>
      <p:sp>
        <p:nvSpPr>
          <p:cNvPr id="38951" name="Text Box 37"/>
          <p:cNvSpPr txBox="1">
            <a:spLocks noChangeArrowheads="1"/>
          </p:cNvSpPr>
          <p:nvPr/>
        </p:nvSpPr>
        <p:spPr bwMode="auto">
          <a:xfrm>
            <a:off x="762000" y="5775325"/>
            <a:ext cx="3657600" cy="4064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96   83   27    38    11   9</a:t>
            </a:r>
          </a:p>
        </p:txBody>
      </p:sp>
      <p:sp>
        <p:nvSpPr>
          <p:cNvPr id="38952" name="Line 38"/>
          <p:cNvSpPr>
            <a:spLocks noChangeShapeType="1"/>
          </p:cNvSpPr>
          <p:nvPr/>
        </p:nvSpPr>
        <p:spPr bwMode="auto">
          <a:xfrm>
            <a:off x="1219200" y="5775325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8953" name="Line 39"/>
          <p:cNvSpPr>
            <a:spLocks noChangeShapeType="1"/>
          </p:cNvSpPr>
          <p:nvPr/>
        </p:nvSpPr>
        <p:spPr bwMode="auto">
          <a:xfrm>
            <a:off x="1676400" y="5775325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8954" name="Line 40"/>
          <p:cNvSpPr>
            <a:spLocks noChangeShapeType="1"/>
          </p:cNvSpPr>
          <p:nvPr/>
        </p:nvSpPr>
        <p:spPr bwMode="auto">
          <a:xfrm>
            <a:off x="2133600" y="5775325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8955" name="Line 41"/>
          <p:cNvSpPr>
            <a:spLocks noChangeShapeType="1"/>
          </p:cNvSpPr>
          <p:nvPr/>
        </p:nvSpPr>
        <p:spPr bwMode="auto">
          <a:xfrm>
            <a:off x="2667000" y="5775325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8956" name="Line 42"/>
          <p:cNvSpPr>
            <a:spLocks noChangeShapeType="1"/>
          </p:cNvSpPr>
          <p:nvPr/>
        </p:nvSpPr>
        <p:spPr bwMode="auto">
          <a:xfrm>
            <a:off x="3124200" y="5775325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8957" name="Text Box 43"/>
          <p:cNvSpPr txBox="1">
            <a:spLocks noChangeArrowheads="1"/>
          </p:cNvSpPr>
          <p:nvPr/>
        </p:nvSpPr>
        <p:spPr bwMode="auto">
          <a:xfrm>
            <a:off x="838200" y="6080125"/>
            <a:ext cx="3200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1     2     3      4      5     6</a:t>
            </a:r>
          </a:p>
        </p:txBody>
      </p:sp>
      <p:sp>
        <p:nvSpPr>
          <p:cNvPr id="38958" name="Line 44"/>
          <p:cNvSpPr>
            <a:spLocks noChangeShapeType="1"/>
          </p:cNvSpPr>
          <p:nvPr/>
        </p:nvSpPr>
        <p:spPr bwMode="auto">
          <a:xfrm>
            <a:off x="3581400" y="5775325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28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399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399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2482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堆排序基本思想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将初始文件</a:t>
            </a:r>
            <a:r>
              <a:rPr lang="en-US" altLang="zh-CN" sz="2400" dirty="0" smtClean="0">
                <a:ea typeface="华文楷体" panose="02010600040101010101" pitchFamily="2" charset="-122"/>
              </a:rPr>
              <a:t>a[1..n]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建成一个</a:t>
            </a:r>
            <a:r>
              <a:rPr lang="zh-CN" altLang="en-US" sz="2400" b="1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大根堆</a:t>
            </a:r>
            <a:r>
              <a:rPr lang="en-US" altLang="zh-CN" sz="2400" b="1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(</a:t>
            </a:r>
            <a:r>
              <a:rPr lang="zh-CN" altLang="en-US" sz="2400" b="1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小根堆</a:t>
            </a:r>
            <a:r>
              <a:rPr lang="en-US" altLang="zh-CN" sz="2400" b="1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)</a:t>
            </a:r>
            <a:r>
              <a:rPr lang="zh-CN" altLang="en-US" sz="2400" b="1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，要排成正序选大根</a:t>
            </a:r>
            <a:r>
              <a:rPr lang="zh-CN" altLang="en-US" sz="2400" b="1" dirty="0">
                <a:solidFill>
                  <a:schemeClr val="accent2"/>
                </a:solidFill>
                <a:ea typeface="华文楷体" panose="02010600040101010101" pitchFamily="2" charset="-122"/>
              </a:rPr>
              <a:t>堆，要排成逆序</a:t>
            </a:r>
            <a:r>
              <a:rPr lang="zh-CN" altLang="en-US" sz="2400" b="1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选小根堆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；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第</a:t>
            </a:r>
            <a:r>
              <a:rPr lang="en-US" altLang="zh-CN" sz="2400" dirty="0" smtClean="0">
                <a:ea typeface="华文楷体" panose="02010600040101010101" pitchFamily="2" charset="-122"/>
              </a:rPr>
              <a:t>1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趟：将关键字最</a:t>
            </a:r>
            <a:r>
              <a:rPr lang="zh-CN" altLang="en-US" sz="2400" dirty="0">
                <a:ea typeface="华文楷体" panose="02010600040101010101" pitchFamily="2" charset="-122"/>
              </a:rPr>
              <a:t>大</a:t>
            </a:r>
            <a:r>
              <a:rPr lang="en-US" altLang="zh-CN" sz="2400" b="1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(</a:t>
            </a:r>
            <a:r>
              <a:rPr lang="zh-CN" altLang="en-US" sz="2400" b="1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最小</a:t>
            </a:r>
            <a:r>
              <a:rPr lang="en-US" altLang="zh-CN" sz="2400" b="1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)</a:t>
            </a:r>
            <a:r>
              <a:rPr lang="zh-CN" altLang="en-US" sz="2400" dirty="0" smtClean="0">
                <a:ea typeface="华文楷体" panose="02010600040101010101" pitchFamily="2" charset="-122"/>
              </a:rPr>
              <a:t>的记录</a:t>
            </a:r>
            <a:r>
              <a:rPr lang="en-US" altLang="zh-CN" sz="2400" dirty="0" smtClean="0">
                <a:ea typeface="华文楷体" panose="02010600040101010101" pitchFamily="2" charset="-122"/>
              </a:rPr>
              <a:t>(</a:t>
            </a:r>
            <a:r>
              <a:rPr lang="zh-CN" altLang="zh-CN" sz="2400" dirty="0" smtClean="0">
                <a:ea typeface="华文楷体" panose="02010600040101010101" pitchFamily="2" charset="-122"/>
              </a:rPr>
              <a:t>堆顶</a:t>
            </a:r>
            <a:r>
              <a:rPr lang="en-US" altLang="zh-CN" sz="2400" dirty="0" smtClean="0">
                <a:ea typeface="华文楷体" panose="02010600040101010101" pitchFamily="2" charset="-122"/>
              </a:rPr>
              <a:t>)a[1]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与无序区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          的最后一个记录</a:t>
            </a:r>
            <a:r>
              <a:rPr lang="en-US" altLang="zh-CN" sz="2400" dirty="0" smtClean="0">
                <a:ea typeface="华文楷体" panose="02010600040101010101" pitchFamily="2" charset="-122"/>
              </a:rPr>
              <a:t>a[n]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交换；再将新的无序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          区</a:t>
            </a:r>
            <a:r>
              <a:rPr lang="en-US" altLang="zh-CN" sz="2400" dirty="0" smtClean="0">
                <a:ea typeface="华文楷体" panose="02010600040101010101" pitchFamily="2" charset="-122"/>
              </a:rPr>
              <a:t>a[1..n-1]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调整为堆；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第</a:t>
            </a:r>
            <a:r>
              <a:rPr lang="en-US" altLang="zh-CN" sz="2400" dirty="0" smtClean="0">
                <a:ea typeface="华文楷体" panose="02010600040101010101" pitchFamily="2" charset="-122"/>
              </a:rPr>
              <a:t>2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趟：将</a:t>
            </a:r>
            <a:r>
              <a:rPr lang="en-US" altLang="zh-CN" sz="2400" dirty="0" smtClean="0">
                <a:ea typeface="华文楷体" panose="02010600040101010101" pitchFamily="2" charset="-122"/>
              </a:rPr>
              <a:t>a[1]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与</a:t>
            </a:r>
            <a:r>
              <a:rPr lang="en-US" altLang="zh-CN" sz="2400" dirty="0" smtClean="0">
                <a:ea typeface="华文楷体" panose="02010600040101010101" pitchFamily="2" charset="-122"/>
              </a:rPr>
              <a:t>a[n-1]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交换；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          再将新的无序区</a:t>
            </a:r>
            <a:r>
              <a:rPr lang="en-US" altLang="zh-CN" sz="2400" dirty="0" smtClean="0">
                <a:ea typeface="华文楷体" panose="02010600040101010101" pitchFamily="2" charset="-122"/>
              </a:rPr>
              <a:t>a[1..n-2]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调整为堆；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......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第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i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趟：将</a:t>
            </a:r>
            <a:r>
              <a:rPr lang="en-US" altLang="zh-CN" sz="2400" dirty="0" smtClean="0">
                <a:ea typeface="华文楷体" panose="02010600040101010101" pitchFamily="2" charset="-122"/>
              </a:rPr>
              <a:t>a[1]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与</a:t>
            </a:r>
            <a:r>
              <a:rPr lang="en-US" altLang="zh-CN" sz="2400" dirty="0" smtClean="0">
                <a:ea typeface="华文楷体" panose="02010600040101010101" pitchFamily="2" charset="-122"/>
              </a:rPr>
              <a:t>a[n-i+1]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交换；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          再将新的无序区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          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a[1..n-i]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调整为堆；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......</a:t>
            </a:r>
            <a:r>
              <a:rPr lang="zh-CN" altLang="en-US" sz="2400" dirty="0" smtClean="0">
                <a:ea typeface="华文楷体" panose="02010600040101010101" pitchFamily="2" charset="-122"/>
              </a:rPr>
              <a:t>直到执行完第</a:t>
            </a:r>
            <a:r>
              <a:rPr lang="en-US" altLang="zh-CN" sz="2400" dirty="0" smtClean="0">
                <a:ea typeface="华文楷体" panose="02010600040101010101" pitchFamily="2" charset="-122"/>
              </a:rPr>
              <a:t>(n-1)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趟为止。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 b="1" dirty="0" smtClean="0">
              <a:solidFill>
                <a:srgbClr val="CC6600"/>
              </a:solidFill>
              <a:ea typeface="华文楷体" panose="02010600040101010101" pitchFamily="2" charset="-122"/>
            </a:endParaRPr>
          </a:p>
        </p:txBody>
      </p:sp>
      <p:sp>
        <p:nvSpPr>
          <p:cNvPr id="39942" name="Oval 4"/>
          <p:cNvSpPr>
            <a:spLocks noChangeArrowheads="1"/>
          </p:cNvSpPr>
          <p:nvPr/>
        </p:nvSpPr>
        <p:spPr bwMode="auto">
          <a:xfrm>
            <a:off x="7010400" y="43434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9943" name="Oval 5"/>
          <p:cNvSpPr>
            <a:spLocks noChangeArrowheads="1"/>
          </p:cNvSpPr>
          <p:nvPr/>
        </p:nvSpPr>
        <p:spPr bwMode="auto">
          <a:xfrm>
            <a:off x="6553200" y="48006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9944" name="Oval 6"/>
          <p:cNvSpPr>
            <a:spLocks noChangeArrowheads="1"/>
          </p:cNvSpPr>
          <p:nvPr/>
        </p:nvSpPr>
        <p:spPr bwMode="auto">
          <a:xfrm>
            <a:off x="7391400" y="48006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9945" name="Oval 7"/>
          <p:cNvSpPr>
            <a:spLocks noChangeArrowheads="1"/>
          </p:cNvSpPr>
          <p:nvPr/>
        </p:nvSpPr>
        <p:spPr bwMode="auto">
          <a:xfrm>
            <a:off x="5791200" y="59436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9946" name="Oval 8"/>
          <p:cNvSpPr>
            <a:spLocks noChangeArrowheads="1"/>
          </p:cNvSpPr>
          <p:nvPr/>
        </p:nvSpPr>
        <p:spPr bwMode="auto">
          <a:xfrm>
            <a:off x="6477000" y="59436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9947" name="Line 9"/>
          <p:cNvSpPr>
            <a:spLocks noChangeShapeType="1"/>
          </p:cNvSpPr>
          <p:nvPr/>
        </p:nvSpPr>
        <p:spPr bwMode="auto">
          <a:xfrm flipH="1">
            <a:off x="6781800" y="45720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9948" name="Line 10"/>
          <p:cNvSpPr>
            <a:spLocks noChangeShapeType="1"/>
          </p:cNvSpPr>
          <p:nvPr/>
        </p:nvSpPr>
        <p:spPr bwMode="auto">
          <a:xfrm>
            <a:off x="7315200" y="45720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9949" name="Line 11"/>
          <p:cNvSpPr>
            <a:spLocks noChangeShapeType="1"/>
          </p:cNvSpPr>
          <p:nvPr/>
        </p:nvSpPr>
        <p:spPr bwMode="auto">
          <a:xfrm flipH="1">
            <a:off x="6400800" y="51054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9950" name="Line 12"/>
          <p:cNvSpPr>
            <a:spLocks noChangeShapeType="1"/>
          </p:cNvSpPr>
          <p:nvPr/>
        </p:nvSpPr>
        <p:spPr bwMode="auto">
          <a:xfrm>
            <a:off x="6781800" y="51054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9951" name="Line 13"/>
          <p:cNvSpPr>
            <a:spLocks noChangeShapeType="1"/>
          </p:cNvSpPr>
          <p:nvPr/>
        </p:nvSpPr>
        <p:spPr bwMode="auto">
          <a:xfrm flipH="1">
            <a:off x="7315200" y="51054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9952" name="Line 14"/>
          <p:cNvSpPr>
            <a:spLocks noChangeShapeType="1"/>
          </p:cNvSpPr>
          <p:nvPr/>
        </p:nvSpPr>
        <p:spPr bwMode="auto">
          <a:xfrm>
            <a:off x="7696200" y="50292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9953" name="Line 15"/>
          <p:cNvSpPr>
            <a:spLocks noChangeShapeType="1"/>
          </p:cNvSpPr>
          <p:nvPr/>
        </p:nvSpPr>
        <p:spPr bwMode="auto">
          <a:xfrm flipV="1">
            <a:off x="6019800" y="57150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9954" name="Text Box 16"/>
          <p:cNvSpPr txBox="1">
            <a:spLocks noChangeArrowheads="1"/>
          </p:cNvSpPr>
          <p:nvPr/>
        </p:nvSpPr>
        <p:spPr bwMode="auto">
          <a:xfrm>
            <a:off x="6172200" y="5257800"/>
            <a:ext cx="1981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……   ……</a:t>
            </a:r>
          </a:p>
        </p:txBody>
      </p:sp>
      <p:sp>
        <p:nvSpPr>
          <p:cNvPr id="39955" name="Line 17"/>
          <p:cNvSpPr>
            <a:spLocks noChangeShapeType="1"/>
          </p:cNvSpPr>
          <p:nvPr/>
        </p:nvSpPr>
        <p:spPr bwMode="auto">
          <a:xfrm>
            <a:off x="6629400" y="5715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9956" name="Oval 18"/>
          <p:cNvSpPr>
            <a:spLocks noChangeArrowheads="1"/>
          </p:cNvSpPr>
          <p:nvPr/>
        </p:nvSpPr>
        <p:spPr bwMode="auto">
          <a:xfrm>
            <a:off x="7543800" y="5943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9957" name="Text Box 19"/>
          <p:cNvSpPr txBox="1">
            <a:spLocks noChangeArrowheads="1"/>
          </p:cNvSpPr>
          <p:nvPr/>
        </p:nvSpPr>
        <p:spPr bwMode="auto">
          <a:xfrm>
            <a:off x="6781800" y="579120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……</a:t>
            </a:r>
          </a:p>
        </p:txBody>
      </p:sp>
      <p:sp>
        <p:nvSpPr>
          <p:cNvPr id="39958" name="Line 20"/>
          <p:cNvSpPr>
            <a:spLocks noChangeShapeType="1"/>
          </p:cNvSpPr>
          <p:nvPr/>
        </p:nvSpPr>
        <p:spPr bwMode="auto">
          <a:xfrm>
            <a:off x="7620000" y="5715000"/>
            <a:ext cx="76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9959" name="Text Box 21"/>
          <p:cNvSpPr txBox="1">
            <a:spLocks noChangeArrowheads="1"/>
          </p:cNvSpPr>
          <p:nvPr/>
        </p:nvSpPr>
        <p:spPr bwMode="auto">
          <a:xfrm>
            <a:off x="6248400" y="419100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R[1]</a:t>
            </a:r>
          </a:p>
        </p:txBody>
      </p:sp>
      <p:sp>
        <p:nvSpPr>
          <p:cNvPr id="39960" name="Line 22"/>
          <p:cNvSpPr>
            <a:spLocks noChangeShapeType="1"/>
          </p:cNvSpPr>
          <p:nvPr/>
        </p:nvSpPr>
        <p:spPr bwMode="auto">
          <a:xfrm flipV="1">
            <a:off x="7924800" y="5105400"/>
            <a:ext cx="304800" cy="91440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9961" name="Line 23"/>
          <p:cNvSpPr>
            <a:spLocks noChangeShapeType="1"/>
          </p:cNvSpPr>
          <p:nvPr/>
        </p:nvSpPr>
        <p:spPr bwMode="auto">
          <a:xfrm flipH="1" flipV="1">
            <a:off x="7391400" y="4495800"/>
            <a:ext cx="838200" cy="60960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9962" name="Line 24"/>
          <p:cNvSpPr>
            <a:spLocks noChangeShapeType="1"/>
          </p:cNvSpPr>
          <p:nvPr/>
        </p:nvSpPr>
        <p:spPr bwMode="auto">
          <a:xfrm>
            <a:off x="7391400" y="4419600"/>
            <a:ext cx="990600" cy="22860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9963" name="Line 25"/>
          <p:cNvSpPr>
            <a:spLocks noChangeShapeType="1"/>
          </p:cNvSpPr>
          <p:nvPr/>
        </p:nvSpPr>
        <p:spPr bwMode="auto">
          <a:xfrm>
            <a:off x="8382000" y="4648200"/>
            <a:ext cx="0" cy="114300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39964" name="Line 26"/>
          <p:cNvSpPr>
            <a:spLocks noChangeShapeType="1"/>
          </p:cNvSpPr>
          <p:nvPr/>
        </p:nvSpPr>
        <p:spPr bwMode="auto">
          <a:xfrm flipH="1">
            <a:off x="7924800" y="5791200"/>
            <a:ext cx="457200" cy="38100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60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409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4096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堆排序需解决的两个问题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</a:p>
          <a:p>
            <a:pPr eaLnBrk="1" hangingPunct="1"/>
            <a:r>
              <a:rPr lang="zh-CN" altLang="en-US" sz="2400" dirty="0" smtClean="0">
                <a:ea typeface="华文楷体" panose="02010600040101010101" pitchFamily="2" charset="-122"/>
              </a:rPr>
              <a:t>如何由一个无序序列建成一个</a:t>
            </a:r>
            <a:r>
              <a:rPr lang="zh-CN" altLang="en-US" sz="2400" b="1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大（小）根堆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？</a:t>
            </a:r>
          </a:p>
          <a:p>
            <a:pPr eaLnBrk="1" hangingPunct="1"/>
            <a:r>
              <a:rPr lang="zh-CN" altLang="en-US" sz="2400" dirty="0" smtClean="0">
                <a:ea typeface="华文楷体" panose="02010600040101010101" pitchFamily="2" charset="-122"/>
              </a:rPr>
              <a:t>如何在输出堆顶元素之后，调整剩余元素，使之成为一个新的堆？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FF0066"/>
                </a:solidFill>
                <a:ea typeface="华文楷体" panose="02010600040101010101" pitchFamily="2" charset="-122"/>
              </a:rPr>
              <a:t>1</a:t>
            </a:r>
            <a:r>
              <a:rPr lang="zh-CN" altLang="en-US" sz="2400" b="1" dirty="0" smtClean="0">
                <a:solidFill>
                  <a:srgbClr val="FF0066"/>
                </a:solidFill>
                <a:ea typeface="华文楷体" panose="02010600040101010101" pitchFamily="2" charset="-122"/>
              </a:rPr>
              <a:t>）调整堆的方法</a:t>
            </a:r>
            <a:r>
              <a:rPr lang="en-US" altLang="zh-CN" sz="2400" b="1" dirty="0" smtClean="0">
                <a:solidFill>
                  <a:srgbClr val="FF0066"/>
                </a:solidFill>
                <a:ea typeface="华文楷体" panose="02010600040101010101" pitchFamily="2" charset="-122"/>
              </a:rPr>
              <a:t>——</a:t>
            </a:r>
            <a:r>
              <a:rPr lang="zh-CN" altLang="en-US" sz="2400" b="1" dirty="0" smtClean="0">
                <a:solidFill>
                  <a:srgbClr val="FF0066"/>
                </a:solidFill>
                <a:ea typeface="华文楷体" panose="02010600040101010101" pitchFamily="2" charset="-122"/>
              </a:rPr>
              <a:t>筛选</a:t>
            </a:r>
            <a:endParaRPr lang="zh-CN" altLang="en-US" sz="24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b="1" dirty="0" smtClean="0">
              <a:solidFill>
                <a:srgbClr val="CC6600"/>
              </a:solidFill>
              <a:ea typeface="华文楷体" panose="02010600040101010101" pitchFamily="2" charset="-122"/>
            </a:endParaRPr>
          </a:p>
        </p:txBody>
      </p:sp>
      <p:sp>
        <p:nvSpPr>
          <p:cNvPr id="40966" name="Freeform 4"/>
          <p:cNvSpPr>
            <a:spLocks/>
          </p:cNvSpPr>
          <p:nvPr/>
        </p:nvSpPr>
        <p:spPr bwMode="auto">
          <a:xfrm>
            <a:off x="6248400" y="3429000"/>
            <a:ext cx="2209800" cy="1752600"/>
          </a:xfrm>
          <a:custGeom>
            <a:avLst/>
            <a:gdLst>
              <a:gd name="T0" fmla="*/ 2147483646 w 1584"/>
              <a:gd name="T1" fmla="*/ 2147483646 h 1448"/>
              <a:gd name="T2" fmla="*/ 2147483646 w 1584"/>
              <a:gd name="T3" fmla="*/ 2147483646 h 1448"/>
              <a:gd name="T4" fmla="*/ 2147483646 w 1584"/>
              <a:gd name="T5" fmla="*/ 2147483646 h 1448"/>
              <a:gd name="T6" fmla="*/ 2147483646 w 1584"/>
              <a:gd name="T7" fmla="*/ 2147483646 h 1448"/>
              <a:gd name="T8" fmla="*/ 2147483646 w 1584"/>
              <a:gd name="T9" fmla="*/ 2147483646 h 1448"/>
              <a:gd name="T10" fmla="*/ 2147483646 w 1584"/>
              <a:gd name="T11" fmla="*/ 2147483646 h 1448"/>
              <a:gd name="T12" fmla="*/ 2147483646 w 1584"/>
              <a:gd name="T13" fmla="*/ 2147483646 h 1448"/>
              <a:gd name="T14" fmla="*/ 2147483646 w 1584"/>
              <a:gd name="T15" fmla="*/ 2147483646 h 1448"/>
              <a:gd name="T16" fmla="*/ 2147483646 w 1584"/>
              <a:gd name="T17" fmla="*/ 2147483646 h 1448"/>
              <a:gd name="T18" fmla="*/ 2147483646 w 1584"/>
              <a:gd name="T19" fmla="*/ 2147483646 h 1448"/>
              <a:gd name="T20" fmla="*/ 2147483646 w 1584"/>
              <a:gd name="T21" fmla="*/ 2147483646 h 1448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1584" h="1448">
                <a:moveTo>
                  <a:pt x="936" y="8"/>
                </a:moveTo>
                <a:cubicBezTo>
                  <a:pt x="816" y="16"/>
                  <a:pt x="600" y="32"/>
                  <a:pt x="456" y="104"/>
                </a:cubicBezTo>
                <a:cubicBezTo>
                  <a:pt x="312" y="176"/>
                  <a:pt x="144" y="272"/>
                  <a:pt x="72" y="440"/>
                </a:cubicBezTo>
                <a:cubicBezTo>
                  <a:pt x="0" y="608"/>
                  <a:pt x="8" y="952"/>
                  <a:pt x="24" y="1112"/>
                </a:cubicBezTo>
                <a:cubicBezTo>
                  <a:pt x="40" y="1272"/>
                  <a:pt x="32" y="1352"/>
                  <a:pt x="168" y="1400"/>
                </a:cubicBezTo>
                <a:cubicBezTo>
                  <a:pt x="304" y="1448"/>
                  <a:pt x="624" y="1416"/>
                  <a:pt x="840" y="1400"/>
                </a:cubicBezTo>
                <a:cubicBezTo>
                  <a:pt x="1056" y="1384"/>
                  <a:pt x="1344" y="1400"/>
                  <a:pt x="1464" y="1304"/>
                </a:cubicBezTo>
                <a:cubicBezTo>
                  <a:pt x="1584" y="1208"/>
                  <a:pt x="1560" y="976"/>
                  <a:pt x="1560" y="824"/>
                </a:cubicBezTo>
                <a:cubicBezTo>
                  <a:pt x="1560" y="672"/>
                  <a:pt x="1528" y="520"/>
                  <a:pt x="1464" y="392"/>
                </a:cubicBezTo>
                <a:cubicBezTo>
                  <a:pt x="1400" y="264"/>
                  <a:pt x="1272" y="112"/>
                  <a:pt x="1176" y="56"/>
                </a:cubicBezTo>
                <a:cubicBezTo>
                  <a:pt x="1080" y="0"/>
                  <a:pt x="1056" y="0"/>
                  <a:pt x="936" y="8"/>
                </a:cubicBezTo>
                <a:close/>
              </a:path>
            </a:pathLst>
          </a:cu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0967" name="Freeform 5"/>
          <p:cNvSpPr>
            <a:spLocks/>
          </p:cNvSpPr>
          <p:nvPr/>
        </p:nvSpPr>
        <p:spPr bwMode="auto">
          <a:xfrm>
            <a:off x="4572000" y="3962400"/>
            <a:ext cx="1295400" cy="1270000"/>
          </a:xfrm>
          <a:custGeom>
            <a:avLst/>
            <a:gdLst>
              <a:gd name="T0" fmla="*/ 2147483646 w 712"/>
              <a:gd name="T1" fmla="*/ 2147483646 h 800"/>
              <a:gd name="T2" fmla="*/ 2147483646 w 712"/>
              <a:gd name="T3" fmla="*/ 2147483646 h 800"/>
              <a:gd name="T4" fmla="*/ 2147483646 w 712"/>
              <a:gd name="T5" fmla="*/ 2147483646 h 800"/>
              <a:gd name="T6" fmla="*/ 2147483646 w 712"/>
              <a:gd name="T7" fmla="*/ 2147483646 h 800"/>
              <a:gd name="T8" fmla="*/ 2147483646 w 712"/>
              <a:gd name="T9" fmla="*/ 2147483646 h 800"/>
              <a:gd name="T10" fmla="*/ 2147483646 w 712"/>
              <a:gd name="T11" fmla="*/ 2147483646 h 800"/>
              <a:gd name="T12" fmla="*/ 2147483646 w 712"/>
              <a:gd name="T13" fmla="*/ 2147483646 h 8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12" h="800">
                <a:moveTo>
                  <a:pt x="456" y="72"/>
                </a:moveTo>
                <a:cubicBezTo>
                  <a:pt x="384" y="16"/>
                  <a:pt x="336" y="0"/>
                  <a:pt x="264" y="72"/>
                </a:cubicBezTo>
                <a:cubicBezTo>
                  <a:pt x="192" y="144"/>
                  <a:pt x="48" y="392"/>
                  <a:pt x="24" y="504"/>
                </a:cubicBezTo>
                <a:cubicBezTo>
                  <a:pt x="0" y="616"/>
                  <a:pt x="24" y="704"/>
                  <a:pt x="120" y="744"/>
                </a:cubicBezTo>
                <a:cubicBezTo>
                  <a:pt x="216" y="784"/>
                  <a:pt x="504" y="800"/>
                  <a:pt x="600" y="744"/>
                </a:cubicBezTo>
                <a:cubicBezTo>
                  <a:pt x="696" y="688"/>
                  <a:pt x="712" y="512"/>
                  <a:pt x="696" y="408"/>
                </a:cubicBezTo>
                <a:cubicBezTo>
                  <a:pt x="680" y="304"/>
                  <a:pt x="528" y="128"/>
                  <a:pt x="456" y="72"/>
                </a:cubicBezTo>
                <a:close/>
              </a:path>
            </a:pathLst>
          </a:cu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0968" name="Freeform 6"/>
          <p:cNvSpPr>
            <a:spLocks/>
          </p:cNvSpPr>
          <p:nvPr/>
        </p:nvSpPr>
        <p:spPr bwMode="auto">
          <a:xfrm>
            <a:off x="3467100" y="4000500"/>
            <a:ext cx="1130300" cy="1270000"/>
          </a:xfrm>
          <a:custGeom>
            <a:avLst/>
            <a:gdLst>
              <a:gd name="T0" fmla="*/ 2147483646 w 712"/>
              <a:gd name="T1" fmla="*/ 2147483646 h 800"/>
              <a:gd name="T2" fmla="*/ 2147483646 w 712"/>
              <a:gd name="T3" fmla="*/ 2147483646 h 800"/>
              <a:gd name="T4" fmla="*/ 2147483646 w 712"/>
              <a:gd name="T5" fmla="*/ 2147483646 h 800"/>
              <a:gd name="T6" fmla="*/ 2147483646 w 712"/>
              <a:gd name="T7" fmla="*/ 2147483646 h 800"/>
              <a:gd name="T8" fmla="*/ 2147483646 w 712"/>
              <a:gd name="T9" fmla="*/ 2147483646 h 800"/>
              <a:gd name="T10" fmla="*/ 2147483646 w 712"/>
              <a:gd name="T11" fmla="*/ 2147483646 h 800"/>
              <a:gd name="T12" fmla="*/ 2147483646 w 712"/>
              <a:gd name="T13" fmla="*/ 2147483646 h 8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12" h="800">
                <a:moveTo>
                  <a:pt x="456" y="72"/>
                </a:moveTo>
                <a:cubicBezTo>
                  <a:pt x="384" y="16"/>
                  <a:pt x="336" y="0"/>
                  <a:pt x="264" y="72"/>
                </a:cubicBezTo>
                <a:cubicBezTo>
                  <a:pt x="192" y="144"/>
                  <a:pt x="48" y="392"/>
                  <a:pt x="24" y="504"/>
                </a:cubicBezTo>
                <a:cubicBezTo>
                  <a:pt x="0" y="616"/>
                  <a:pt x="24" y="704"/>
                  <a:pt x="120" y="744"/>
                </a:cubicBezTo>
                <a:cubicBezTo>
                  <a:pt x="216" y="784"/>
                  <a:pt x="504" y="800"/>
                  <a:pt x="600" y="744"/>
                </a:cubicBezTo>
                <a:cubicBezTo>
                  <a:pt x="696" y="688"/>
                  <a:pt x="712" y="512"/>
                  <a:pt x="696" y="408"/>
                </a:cubicBezTo>
                <a:cubicBezTo>
                  <a:pt x="680" y="304"/>
                  <a:pt x="528" y="128"/>
                  <a:pt x="456" y="72"/>
                </a:cubicBezTo>
                <a:close/>
              </a:path>
            </a:pathLst>
          </a:cu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0969" name="Freeform 7"/>
          <p:cNvSpPr>
            <a:spLocks/>
          </p:cNvSpPr>
          <p:nvPr/>
        </p:nvSpPr>
        <p:spPr bwMode="auto">
          <a:xfrm>
            <a:off x="571500" y="3492500"/>
            <a:ext cx="2514600" cy="2298700"/>
          </a:xfrm>
          <a:custGeom>
            <a:avLst/>
            <a:gdLst>
              <a:gd name="T0" fmla="*/ 2147483646 w 1584"/>
              <a:gd name="T1" fmla="*/ 2147483646 h 1448"/>
              <a:gd name="T2" fmla="*/ 2147483646 w 1584"/>
              <a:gd name="T3" fmla="*/ 2147483646 h 1448"/>
              <a:gd name="T4" fmla="*/ 2147483646 w 1584"/>
              <a:gd name="T5" fmla="*/ 2147483646 h 1448"/>
              <a:gd name="T6" fmla="*/ 2147483646 w 1584"/>
              <a:gd name="T7" fmla="*/ 2147483646 h 1448"/>
              <a:gd name="T8" fmla="*/ 2147483646 w 1584"/>
              <a:gd name="T9" fmla="*/ 2147483646 h 1448"/>
              <a:gd name="T10" fmla="*/ 2147483646 w 1584"/>
              <a:gd name="T11" fmla="*/ 2147483646 h 1448"/>
              <a:gd name="T12" fmla="*/ 2147483646 w 1584"/>
              <a:gd name="T13" fmla="*/ 2147483646 h 1448"/>
              <a:gd name="T14" fmla="*/ 2147483646 w 1584"/>
              <a:gd name="T15" fmla="*/ 2147483646 h 1448"/>
              <a:gd name="T16" fmla="*/ 2147483646 w 1584"/>
              <a:gd name="T17" fmla="*/ 2147483646 h 1448"/>
              <a:gd name="T18" fmla="*/ 2147483646 w 1584"/>
              <a:gd name="T19" fmla="*/ 2147483646 h 1448"/>
              <a:gd name="T20" fmla="*/ 2147483646 w 1584"/>
              <a:gd name="T21" fmla="*/ 2147483646 h 1448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1584" h="1448">
                <a:moveTo>
                  <a:pt x="936" y="8"/>
                </a:moveTo>
                <a:cubicBezTo>
                  <a:pt x="816" y="16"/>
                  <a:pt x="600" y="32"/>
                  <a:pt x="456" y="104"/>
                </a:cubicBezTo>
                <a:cubicBezTo>
                  <a:pt x="312" y="176"/>
                  <a:pt x="144" y="272"/>
                  <a:pt x="72" y="440"/>
                </a:cubicBezTo>
                <a:cubicBezTo>
                  <a:pt x="0" y="608"/>
                  <a:pt x="8" y="952"/>
                  <a:pt x="24" y="1112"/>
                </a:cubicBezTo>
                <a:cubicBezTo>
                  <a:pt x="40" y="1272"/>
                  <a:pt x="32" y="1352"/>
                  <a:pt x="168" y="1400"/>
                </a:cubicBezTo>
                <a:cubicBezTo>
                  <a:pt x="304" y="1448"/>
                  <a:pt x="624" y="1416"/>
                  <a:pt x="840" y="1400"/>
                </a:cubicBezTo>
                <a:cubicBezTo>
                  <a:pt x="1056" y="1384"/>
                  <a:pt x="1344" y="1400"/>
                  <a:pt x="1464" y="1304"/>
                </a:cubicBezTo>
                <a:cubicBezTo>
                  <a:pt x="1584" y="1208"/>
                  <a:pt x="1560" y="976"/>
                  <a:pt x="1560" y="824"/>
                </a:cubicBezTo>
                <a:cubicBezTo>
                  <a:pt x="1560" y="672"/>
                  <a:pt x="1528" y="520"/>
                  <a:pt x="1464" y="392"/>
                </a:cubicBezTo>
                <a:cubicBezTo>
                  <a:pt x="1400" y="264"/>
                  <a:pt x="1272" y="112"/>
                  <a:pt x="1176" y="56"/>
                </a:cubicBezTo>
                <a:cubicBezTo>
                  <a:pt x="1080" y="0"/>
                  <a:pt x="1056" y="0"/>
                  <a:pt x="936" y="8"/>
                </a:cubicBezTo>
                <a:close/>
              </a:path>
            </a:pathLst>
          </a:cu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grpSp>
        <p:nvGrpSpPr>
          <p:cNvPr id="47112" name="Group 8"/>
          <p:cNvGrpSpPr>
            <a:grpSpLocks/>
          </p:cNvGrpSpPr>
          <p:nvPr/>
        </p:nvGrpSpPr>
        <p:grpSpPr bwMode="auto">
          <a:xfrm>
            <a:off x="762000" y="3657600"/>
            <a:ext cx="2162175" cy="1897063"/>
            <a:chOff x="2913" y="2718"/>
            <a:chExt cx="1362" cy="1195"/>
          </a:xfrm>
        </p:grpSpPr>
        <p:sp>
          <p:nvSpPr>
            <p:cNvPr id="41006" name="Oval 9"/>
            <p:cNvSpPr>
              <a:spLocks noChangeArrowheads="1"/>
            </p:cNvSpPr>
            <p:nvPr/>
          </p:nvSpPr>
          <p:spPr bwMode="auto">
            <a:xfrm>
              <a:off x="3620" y="2718"/>
              <a:ext cx="212" cy="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13</a:t>
              </a:r>
            </a:p>
          </p:txBody>
        </p:sp>
        <p:sp>
          <p:nvSpPr>
            <p:cNvPr id="41007" name="Oval 10"/>
            <p:cNvSpPr>
              <a:spLocks noChangeArrowheads="1"/>
            </p:cNvSpPr>
            <p:nvPr/>
          </p:nvSpPr>
          <p:spPr bwMode="auto">
            <a:xfrm>
              <a:off x="3938" y="3047"/>
              <a:ext cx="212" cy="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27</a:t>
              </a:r>
            </a:p>
          </p:txBody>
        </p:sp>
        <p:sp>
          <p:nvSpPr>
            <p:cNvPr id="41008" name="Oval 11"/>
            <p:cNvSpPr>
              <a:spLocks noChangeArrowheads="1"/>
            </p:cNvSpPr>
            <p:nvPr/>
          </p:nvSpPr>
          <p:spPr bwMode="auto">
            <a:xfrm>
              <a:off x="3278" y="3043"/>
              <a:ext cx="212" cy="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38</a:t>
              </a:r>
            </a:p>
          </p:txBody>
        </p:sp>
        <p:sp>
          <p:nvSpPr>
            <p:cNvPr id="41009" name="Oval 12"/>
            <p:cNvSpPr>
              <a:spLocks noChangeArrowheads="1"/>
            </p:cNvSpPr>
            <p:nvPr/>
          </p:nvSpPr>
          <p:spPr bwMode="auto">
            <a:xfrm>
              <a:off x="4063" y="3383"/>
              <a:ext cx="212" cy="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49</a:t>
              </a:r>
            </a:p>
          </p:txBody>
        </p:sp>
        <p:sp>
          <p:nvSpPr>
            <p:cNvPr id="41010" name="Oval 13"/>
            <p:cNvSpPr>
              <a:spLocks noChangeArrowheads="1"/>
            </p:cNvSpPr>
            <p:nvPr/>
          </p:nvSpPr>
          <p:spPr bwMode="auto">
            <a:xfrm>
              <a:off x="3737" y="3383"/>
              <a:ext cx="212" cy="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65</a:t>
              </a:r>
            </a:p>
          </p:txBody>
        </p:sp>
        <p:sp>
          <p:nvSpPr>
            <p:cNvPr id="41011" name="Oval 14"/>
            <p:cNvSpPr>
              <a:spLocks noChangeArrowheads="1"/>
            </p:cNvSpPr>
            <p:nvPr/>
          </p:nvSpPr>
          <p:spPr bwMode="auto">
            <a:xfrm>
              <a:off x="3411" y="3383"/>
              <a:ext cx="212" cy="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76</a:t>
              </a:r>
            </a:p>
          </p:txBody>
        </p:sp>
        <p:sp>
          <p:nvSpPr>
            <p:cNvPr id="41012" name="Oval 15"/>
            <p:cNvSpPr>
              <a:spLocks noChangeArrowheads="1"/>
            </p:cNvSpPr>
            <p:nvPr/>
          </p:nvSpPr>
          <p:spPr bwMode="auto">
            <a:xfrm>
              <a:off x="3085" y="3383"/>
              <a:ext cx="212" cy="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50</a:t>
              </a:r>
            </a:p>
          </p:txBody>
        </p:sp>
        <p:sp>
          <p:nvSpPr>
            <p:cNvPr id="41013" name="Oval 16"/>
            <p:cNvSpPr>
              <a:spLocks noChangeArrowheads="1"/>
            </p:cNvSpPr>
            <p:nvPr/>
          </p:nvSpPr>
          <p:spPr bwMode="auto">
            <a:xfrm>
              <a:off x="2913" y="3713"/>
              <a:ext cx="212" cy="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97</a:t>
              </a:r>
            </a:p>
          </p:txBody>
        </p:sp>
        <p:sp>
          <p:nvSpPr>
            <p:cNvPr id="41014" name="Line 17"/>
            <p:cNvSpPr>
              <a:spLocks noChangeShapeType="1"/>
            </p:cNvSpPr>
            <p:nvPr/>
          </p:nvSpPr>
          <p:spPr bwMode="auto">
            <a:xfrm flipH="1">
              <a:off x="3478" y="2889"/>
              <a:ext cx="178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41015" name="Line 18"/>
            <p:cNvSpPr>
              <a:spLocks noChangeShapeType="1"/>
            </p:cNvSpPr>
            <p:nvPr/>
          </p:nvSpPr>
          <p:spPr bwMode="auto">
            <a:xfrm flipH="1">
              <a:off x="3234" y="3233"/>
              <a:ext cx="122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41016" name="Line 19"/>
            <p:cNvSpPr>
              <a:spLocks noChangeShapeType="1"/>
            </p:cNvSpPr>
            <p:nvPr/>
          </p:nvSpPr>
          <p:spPr bwMode="auto">
            <a:xfrm flipH="1">
              <a:off x="3034" y="3566"/>
              <a:ext cx="111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41017" name="Line 20"/>
            <p:cNvSpPr>
              <a:spLocks noChangeShapeType="1"/>
            </p:cNvSpPr>
            <p:nvPr/>
          </p:nvSpPr>
          <p:spPr bwMode="auto">
            <a:xfrm>
              <a:off x="3800" y="2878"/>
              <a:ext cx="212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41018" name="Line 21"/>
            <p:cNvSpPr>
              <a:spLocks noChangeShapeType="1"/>
            </p:cNvSpPr>
            <p:nvPr/>
          </p:nvSpPr>
          <p:spPr bwMode="auto">
            <a:xfrm>
              <a:off x="4078" y="3244"/>
              <a:ext cx="111" cy="1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41019" name="Line 22"/>
            <p:cNvSpPr>
              <a:spLocks noChangeShapeType="1"/>
            </p:cNvSpPr>
            <p:nvPr/>
          </p:nvSpPr>
          <p:spPr bwMode="auto">
            <a:xfrm>
              <a:off x="3423" y="3222"/>
              <a:ext cx="89" cy="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41020" name="Line 23"/>
            <p:cNvSpPr>
              <a:spLocks noChangeShapeType="1"/>
            </p:cNvSpPr>
            <p:nvPr/>
          </p:nvSpPr>
          <p:spPr bwMode="auto">
            <a:xfrm flipH="1">
              <a:off x="3878" y="3255"/>
              <a:ext cx="145" cy="1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40971" name="Oval 24"/>
          <p:cNvSpPr>
            <a:spLocks noChangeArrowheads="1"/>
          </p:cNvSpPr>
          <p:nvPr/>
        </p:nvSpPr>
        <p:spPr bwMode="auto">
          <a:xfrm>
            <a:off x="4475163" y="3657600"/>
            <a:ext cx="336550" cy="3175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97</a:t>
            </a:r>
          </a:p>
        </p:txBody>
      </p:sp>
      <p:sp>
        <p:nvSpPr>
          <p:cNvPr id="40972" name="Oval 25"/>
          <p:cNvSpPr>
            <a:spLocks noChangeArrowheads="1"/>
          </p:cNvSpPr>
          <p:nvPr/>
        </p:nvSpPr>
        <p:spPr bwMode="auto">
          <a:xfrm>
            <a:off x="4979988" y="4179888"/>
            <a:ext cx="336550" cy="3175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27</a:t>
            </a:r>
          </a:p>
        </p:txBody>
      </p:sp>
      <p:sp>
        <p:nvSpPr>
          <p:cNvPr id="40973" name="Oval 26"/>
          <p:cNvSpPr>
            <a:spLocks noChangeArrowheads="1"/>
          </p:cNvSpPr>
          <p:nvPr/>
        </p:nvSpPr>
        <p:spPr bwMode="auto">
          <a:xfrm>
            <a:off x="3932238" y="4173538"/>
            <a:ext cx="336550" cy="3175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38</a:t>
            </a:r>
          </a:p>
        </p:txBody>
      </p:sp>
      <p:sp>
        <p:nvSpPr>
          <p:cNvPr id="40974" name="Oval 27"/>
          <p:cNvSpPr>
            <a:spLocks noChangeArrowheads="1"/>
          </p:cNvSpPr>
          <p:nvPr/>
        </p:nvSpPr>
        <p:spPr bwMode="auto">
          <a:xfrm>
            <a:off x="5178425" y="4713288"/>
            <a:ext cx="336550" cy="3175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49</a:t>
            </a:r>
          </a:p>
        </p:txBody>
      </p:sp>
      <p:sp>
        <p:nvSpPr>
          <p:cNvPr id="40975" name="Oval 28"/>
          <p:cNvSpPr>
            <a:spLocks noChangeArrowheads="1"/>
          </p:cNvSpPr>
          <p:nvPr/>
        </p:nvSpPr>
        <p:spPr bwMode="auto">
          <a:xfrm>
            <a:off x="4660900" y="4713288"/>
            <a:ext cx="336550" cy="3175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65</a:t>
            </a:r>
          </a:p>
        </p:txBody>
      </p:sp>
      <p:sp>
        <p:nvSpPr>
          <p:cNvPr id="40976" name="Oval 29"/>
          <p:cNvSpPr>
            <a:spLocks noChangeArrowheads="1"/>
          </p:cNvSpPr>
          <p:nvPr/>
        </p:nvSpPr>
        <p:spPr bwMode="auto">
          <a:xfrm>
            <a:off x="4143375" y="4713288"/>
            <a:ext cx="336550" cy="3175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76</a:t>
            </a:r>
          </a:p>
        </p:txBody>
      </p:sp>
      <p:sp>
        <p:nvSpPr>
          <p:cNvPr id="40977" name="Oval 30"/>
          <p:cNvSpPr>
            <a:spLocks noChangeArrowheads="1"/>
          </p:cNvSpPr>
          <p:nvPr/>
        </p:nvSpPr>
        <p:spPr bwMode="auto">
          <a:xfrm>
            <a:off x="3625850" y="4713288"/>
            <a:ext cx="336550" cy="3175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50</a:t>
            </a:r>
          </a:p>
        </p:txBody>
      </p:sp>
      <p:sp>
        <p:nvSpPr>
          <p:cNvPr id="40978" name="Oval 31"/>
          <p:cNvSpPr>
            <a:spLocks noChangeArrowheads="1"/>
          </p:cNvSpPr>
          <p:nvPr/>
        </p:nvSpPr>
        <p:spPr bwMode="auto">
          <a:xfrm>
            <a:off x="3352800" y="5237163"/>
            <a:ext cx="336550" cy="3175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13</a:t>
            </a:r>
          </a:p>
        </p:txBody>
      </p:sp>
      <p:sp>
        <p:nvSpPr>
          <p:cNvPr id="40979" name="Line 32"/>
          <p:cNvSpPr>
            <a:spLocks noChangeShapeType="1"/>
          </p:cNvSpPr>
          <p:nvPr/>
        </p:nvSpPr>
        <p:spPr bwMode="auto">
          <a:xfrm flipH="1">
            <a:off x="4249738" y="3929063"/>
            <a:ext cx="282575" cy="334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0980" name="Line 33"/>
          <p:cNvSpPr>
            <a:spLocks noChangeShapeType="1"/>
          </p:cNvSpPr>
          <p:nvPr/>
        </p:nvSpPr>
        <p:spPr bwMode="auto">
          <a:xfrm flipH="1">
            <a:off x="3862388" y="4475163"/>
            <a:ext cx="193675" cy="247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0981" name="Line 34"/>
          <p:cNvSpPr>
            <a:spLocks noChangeShapeType="1"/>
          </p:cNvSpPr>
          <p:nvPr/>
        </p:nvSpPr>
        <p:spPr bwMode="auto">
          <a:xfrm>
            <a:off x="4760913" y="3911600"/>
            <a:ext cx="336550" cy="334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0982" name="Line 35"/>
          <p:cNvSpPr>
            <a:spLocks noChangeShapeType="1"/>
          </p:cNvSpPr>
          <p:nvPr/>
        </p:nvSpPr>
        <p:spPr bwMode="auto">
          <a:xfrm>
            <a:off x="5202238" y="4492625"/>
            <a:ext cx="176212" cy="230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0983" name="Line 36"/>
          <p:cNvSpPr>
            <a:spLocks noChangeShapeType="1"/>
          </p:cNvSpPr>
          <p:nvPr/>
        </p:nvSpPr>
        <p:spPr bwMode="auto">
          <a:xfrm>
            <a:off x="4162425" y="4457700"/>
            <a:ext cx="141288" cy="246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0984" name="Line 37"/>
          <p:cNvSpPr>
            <a:spLocks noChangeShapeType="1"/>
          </p:cNvSpPr>
          <p:nvPr/>
        </p:nvSpPr>
        <p:spPr bwMode="auto">
          <a:xfrm flipH="1">
            <a:off x="4884738" y="4510088"/>
            <a:ext cx="230187" cy="230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0985" name="Oval 38"/>
          <p:cNvSpPr>
            <a:spLocks noChangeArrowheads="1"/>
          </p:cNvSpPr>
          <p:nvPr/>
        </p:nvSpPr>
        <p:spPr bwMode="auto">
          <a:xfrm>
            <a:off x="7294563" y="3581400"/>
            <a:ext cx="336550" cy="3175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27</a:t>
            </a:r>
          </a:p>
        </p:txBody>
      </p:sp>
      <p:sp>
        <p:nvSpPr>
          <p:cNvPr id="40986" name="Oval 39"/>
          <p:cNvSpPr>
            <a:spLocks noChangeArrowheads="1"/>
          </p:cNvSpPr>
          <p:nvPr/>
        </p:nvSpPr>
        <p:spPr bwMode="auto">
          <a:xfrm>
            <a:off x="7799388" y="4103688"/>
            <a:ext cx="336550" cy="3175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49</a:t>
            </a:r>
          </a:p>
        </p:txBody>
      </p:sp>
      <p:sp>
        <p:nvSpPr>
          <p:cNvPr id="40987" name="Oval 40"/>
          <p:cNvSpPr>
            <a:spLocks noChangeArrowheads="1"/>
          </p:cNvSpPr>
          <p:nvPr/>
        </p:nvSpPr>
        <p:spPr bwMode="auto">
          <a:xfrm>
            <a:off x="6751638" y="4097338"/>
            <a:ext cx="336550" cy="3175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38</a:t>
            </a:r>
          </a:p>
        </p:txBody>
      </p:sp>
      <p:sp>
        <p:nvSpPr>
          <p:cNvPr id="40988" name="Oval 41"/>
          <p:cNvSpPr>
            <a:spLocks noChangeArrowheads="1"/>
          </p:cNvSpPr>
          <p:nvPr/>
        </p:nvSpPr>
        <p:spPr bwMode="auto">
          <a:xfrm>
            <a:off x="7997825" y="4637088"/>
            <a:ext cx="336550" cy="3175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97</a:t>
            </a:r>
          </a:p>
        </p:txBody>
      </p:sp>
      <p:sp>
        <p:nvSpPr>
          <p:cNvPr id="40989" name="Oval 42"/>
          <p:cNvSpPr>
            <a:spLocks noChangeArrowheads="1"/>
          </p:cNvSpPr>
          <p:nvPr/>
        </p:nvSpPr>
        <p:spPr bwMode="auto">
          <a:xfrm>
            <a:off x="7480300" y="4637088"/>
            <a:ext cx="336550" cy="3175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65</a:t>
            </a:r>
          </a:p>
        </p:txBody>
      </p:sp>
      <p:sp>
        <p:nvSpPr>
          <p:cNvPr id="40990" name="Oval 43"/>
          <p:cNvSpPr>
            <a:spLocks noChangeArrowheads="1"/>
          </p:cNvSpPr>
          <p:nvPr/>
        </p:nvSpPr>
        <p:spPr bwMode="auto">
          <a:xfrm>
            <a:off x="6962775" y="4637088"/>
            <a:ext cx="336550" cy="3175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76</a:t>
            </a:r>
          </a:p>
        </p:txBody>
      </p:sp>
      <p:sp>
        <p:nvSpPr>
          <p:cNvPr id="40991" name="Oval 44"/>
          <p:cNvSpPr>
            <a:spLocks noChangeArrowheads="1"/>
          </p:cNvSpPr>
          <p:nvPr/>
        </p:nvSpPr>
        <p:spPr bwMode="auto">
          <a:xfrm>
            <a:off x="6445250" y="4637088"/>
            <a:ext cx="336550" cy="3175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50</a:t>
            </a:r>
          </a:p>
        </p:txBody>
      </p:sp>
      <p:sp>
        <p:nvSpPr>
          <p:cNvPr id="40992" name="Oval 45"/>
          <p:cNvSpPr>
            <a:spLocks noChangeArrowheads="1"/>
          </p:cNvSpPr>
          <p:nvPr/>
        </p:nvSpPr>
        <p:spPr bwMode="auto">
          <a:xfrm>
            <a:off x="6172200" y="5160963"/>
            <a:ext cx="336550" cy="3175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13</a:t>
            </a:r>
          </a:p>
        </p:txBody>
      </p:sp>
      <p:sp>
        <p:nvSpPr>
          <p:cNvPr id="40993" name="Line 46"/>
          <p:cNvSpPr>
            <a:spLocks noChangeShapeType="1"/>
          </p:cNvSpPr>
          <p:nvPr/>
        </p:nvSpPr>
        <p:spPr bwMode="auto">
          <a:xfrm flipH="1">
            <a:off x="7069138" y="3852863"/>
            <a:ext cx="282575" cy="334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0994" name="Line 47"/>
          <p:cNvSpPr>
            <a:spLocks noChangeShapeType="1"/>
          </p:cNvSpPr>
          <p:nvPr/>
        </p:nvSpPr>
        <p:spPr bwMode="auto">
          <a:xfrm flipH="1">
            <a:off x="6681788" y="4398963"/>
            <a:ext cx="193675" cy="247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0995" name="Line 48"/>
          <p:cNvSpPr>
            <a:spLocks noChangeShapeType="1"/>
          </p:cNvSpPr>
          <p:nvPr/>
        </p:nvSpPr>
        <p:spPr bwMode="auto">
          <a:xfrm>
            <a:off x="7580313" y="3835400"/>
            <a:ext cx="336550" cy="334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0996" name="Line 49"/>
          <p:cNvSpPr>
            <a:spLocks noChangeShapeType="1"/>
          </p:cNvSpPr>
          <p:nvPr/>
        </p:nvSpPr>
        <p:spPr bwMode="auto">
          <a:xfrm>
            <a:off x="8021638" y="4416425"/>
            <a:ext cx="176212" cy="230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0997" name="Line 50"/>
          <p:cNvSpPr>
            <a:spLocks noChangeShapeType="1"/>
          </p:cNvSpPr>
          <p:nvPr/>
        </p:nvSpPr>
        <p:spPr bwMode="auto">
          <a:xfrm>
            <a:off x="6981825" y="4381500"/>
            <a:ext cx="141288" cy="246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0998" name="Line 51"/>
          <p:cNvSpPr>
            <a:spLocks noChangeShapeType="1"/>
          </p:cNvSpPr>
          <p:nvPr/>
        </p:nvSpPr>
        <p:spPr bwMode="auto">
          <a:xfrm flipH="1">
            <a:off x="7704138" y="4433888"/>
            <a:ext cx="230187" cy="230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7156" name="Freeform 52"/>
          <p:cNvSpPr>
            <a:spLocks/>
          </p:cNvSpPr>
          <p:nvPr/>
        </p:nvSpPr>
        <p:spPr bwMode="auto">
          <a:xfrm>
            <a:off x="762000" y="3733800"/>
            <a:ext cx="1104900" cy="1535113"/>
          </a:xfrm>
          <a:custGeom>
            <a:avLst/>
            <a:gdLst>
              <a:gd name="T0" fmla="*/ 2147483646 w 696"/>
              <a:gd name="T1" fmla="*/ 0 h 967"/>
              <a:gd name="T2" fmla="*/ 2147483646 w 696"/>
              <a:gd name="T3" fmla="*/ 2147483646 h 967"/>
              <a:gd name="T4" fmla="*/ 2147483646 w 696"/>
              <a:gd name="T5" fmla="*/ 2147483646 h 967"/>
              <a:gd name="T6" fmla="*/ 2147483646 w 696"/>
              <a:gd name="T7" fmla="*/ 2147483646 h 967"/>
              <a:gd name="T8" fmla="*/ 2147483646 w 696"/>
              <a:gd name="T9" fmla="*/ 2147483646 h 96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96" h="967">
                <a:moveTo>
                  <a:pt x="696" y="0"/>
                </a:moveTo>
                <a:cubicBezTo>
                  <a:pt x="592" y="48"/>
                  <a:pt x="489" y="97"/>
                  <a:pt x="396" y="167"/>
                </a:cubicBezTo>
                <a:cubicBezTo>
                  <a:pt x="303" y="237"/>
                  <a:pt x="203" y="325"/>
                  <a:pt x="140" y="423"/>
                </a:cubicBezTo>
                <a:cubicBezTo>
                  <a:pt x="77" y="521"/>
                  <a:pt x="36" y="665"/>
                  <a:pt x="18" y="756"/>
                </a:cubicBezTo>
                <a:cubicBezTo>
                  <a:pt x="0" y="847"/>
                  <a:pt x="14" y="907"/>
                  <a:pt x="29" y="967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7157" name="Freeform 53"/>
          <p:cNvSpPr>
            <a:spLocks/>
          </p:cNvSpPr>
          <p:nvPr/>
        </p:nvSpPr>
        <p:spPr bwMode="auto">
          <a:xfrm>
            <a:off x="4876800" y="3733800"/>
            <a:ext cx="493713" cy="493713"/>
          </a:xfrm>
          <a:custGeom>
            <a:avLst/>
            <a:gdLst>
              <a:gd name="T0" fmla="*/ 0 w 311"/>
              <a:gd name="T1" fmla="*/ 0 h 311"/>
              <a:gd name="T2" fmla="*/ 2147483646 w 311"/>
              <a:gd name="T3" fmla="*/ 2147483646 h 311"/>
              <a:gd name="T4" fmla="*/ 2147483646 w 311"/>
              <a:gd name="T5" fmla="*/ 2147483646 h 31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11" h="311">
                <a:moveTo>
                  <a:pt x="0" y="0"/>
                </a:moveTo>
                <a:cubicBezTo>
                  <a:pt x="91" y="46"/>
                  <a:pt x="182" y="93"/>
                  <a:pt x="234" y="145"/>
                </a:cubicBezTo>
                <a:cubicBezTo>
                  <a:pt x="286" y="197"/>
                  <a:pt x="298" y="254"/>
                  <a:pt x="311" y="311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7158" name="Freeform 54"/>
          <p:cNvSpPr>
            <a:spLocks/>
          </p:cNvSpPr>
          <p:nvPr/>
        </p:nvSpPr>
        <p:spPr bwMode="auto">
          <a:xfrm>
            <a:off x="5410200" y="4343400"/>
            <a:ext cx="228600" cy="511175"/>
          </a:xfrm>
          <a:custGeom>
            <a:avLst/>
            <a:gdLst>
              <a:gd name="T0" fmla="*/ 0 w 144"/>
              <a:gd name="T1" fmla="*/ 0 h 322"/>
              <a:gd name="T2" fmla="*/ 2147483646 w 144"/>
              <a:gd name="T3" fmla="*/ 2147483646 h 322"/>
              <a:gd name="T4" fmla="*/ 2147483646 w 144"/>
              <a:gd name="T5" fmla="*/ 2147483646 h 32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" h="322">
                <a:moveTo>
                  <a:pt x="0" y="0"/>
                </a:moveTo>
                <a:cubicBezTo>
                  <a:pt x="50" y="39"/>
                  <a:pt x="100" y="79"/>
                  <a:pt x="122" y="133"/>
                </a:cubicBezTo>
                <a:cubicBezTo>
                  <a:pt x="144" y="187"/>
                  <a:pt x="137" y="296"/>
                  <a:pt x="133" y="322"/>
                </a:cubicBez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1002" name="Text Box 55"/>
          <p:cNvSpPr txBox="1">
            <a:spLocks noChangeArrowheads="1"/>
          </p:cNvSpPr>
          <p:nvPr/>
        </p:nvSpPr>
        <p:spPr bwMode="auto">
          <a:xfrm>
            <a:off x="1524000" y="5334000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堆</a:t>
            </a:r>
          </a:p>
        </p:txBody>
      </p:sp>
      <p:sp>
        <p:nvSpPr>
          <p:cNvPr id="41003" name="Text Box 56"/>
          <p:cNvSpPr txBox="1">
            <a:spLocks noChangeArrowheads="1"/>
          </p:cNvSpPr>
          <p:nvPr/>
        </p:nvSpPr>
        <p:spPr bwMode="auto">
          <a:xfrm>
            <a:off x="7162800" y="5029200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堆</a:t>
            </a:r>
          </a:p>
        </p:txBody>
      </p:sp>
      <p:sp>
        <p:nvSpPr>
          <p:cNvPr id="41004" name="Text Box 57"/>
          <p:cNvSpPr txBox="1">
            <a:spLocks noChangeArrowheads="1"/>
          </p:cNvSpPr>
          <p:nvPr/>
        </p:nvSpPr>
        <p:spPr bwMode="auto">
          <a:xfrm>
            <a:off x="3810000" y="4953000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堆</a:t>
            </a:r>
          </a:p>
        </p:txBody>
      </p:sp>
      <p:sp>
        <p:nvSpPr>
          <p:cNvPr id="41005" name="Text Box 58"/>
          <p:cNvSpPr txBox="1">
            <a:spLocks noChangeArrowheads="1"/>
          </p:cNvSpPr>
          <p:nvPr/>
        </p:nvSpPr>
        <p:spPr bwMode="auto">
          <a:xfrm>
            <a:off x="4876800" y="4953000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71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471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471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471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89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4198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FF0066"/>
                </a:solidFill>
                <a:ea typeface="华文楷体" panose="02010600040101010101" pitchFamily="2" charset="-122"/>
              </a:rPr>
              <a:t>2</a:t>
            </a:r>
            <a:r>
              <a:rPr lang="zh-CN" altLang="en-US" sz="2400" b="1" dirty="0" smtClean="0">
                <a:solidFill>
                  <a:srgbClr val="FF0066"/>
                </a:solidFill>
                <a:ea typeface="华文楷体" panose="02010600040101010101" pitchFamily="2" charset="-122"/>
              </a:rPr>
              <a:t>）将初始记录序列</a:t>
            </a:r>
            <a:r>
              <a:rPr lang="en-US" altLang="zh-CN" sz="2400" b="1" dirty="0" smtClean="0">
                <a:solidFill>
                  <a:srgbClr val="FF0066"/>
                </a:solidFill>
                <a:ea typeface="华文楷体" panose="02010600040101010101" pitchFamily="2" charset="-122"/>
              </a:rPr>
              <a:t>R[1..n]</a:t>
            </a:r>
            <a:r>
              <a:rPr lang="zh-CN" altLang="zh-CN" sz="2400" b="1" dirty="0" smtClean="0">
                <a:solidFill>
                  <a:srgbClr val="FF0066"/>
                </a:solidFill>
                <a:ea typeface="华文楷体" panose="02010600040101010101" pitchFamily="2" charset="-122"/>
              </a:rPr>
              <a:t>建成</a:t>
            </a:r>
            <a:r>
              <a:rPr lang="zh-CN" altLang="en-US" sz="2400" b="1" dirty="0" smtClean="0">
                <a:solidFill>
                  <a:srgbClr val="FF0066"/>
                </a:solidFill>
                <a:ea typeface="华文楷体" panose="02010600040101010101" pitchFamily="2" charset="-122"/>
              </a:rPr>
              <a:t>大</a:t>
            </a:r>
            <a:r>
              <a:rPr lang="en-US" altLang="zh-CN" sz="2400" b="1" dirty="0" smtClean="0">
                <a:solidFill>
                  <a:srgbClr val="FF0066"/>
                </a:solidFill>
                <a:ea typeface="华文楷体" panose="02010600040101010101" pitchFamily="2" charset="-122"/>
              </a:rPr>
              <a:t>(</a:t>
            </a:r>
            <a:r>
              <a:rPr lang="zh-CN" altLang="en-US" sz="2400" b="1" dirty="0" smtClean="0">
                <a:solidFill>
                  <a:srgbClr val="FF0066"/>
                </a:solidFill>
                <a:ea typeface="华文楷体" panose="02010600040101010101" pitchFamily="2" charset="-122"/>
              </a:rPr>
              <a:t>小</a:t>
            </a:r>
            <a:r>
              <a:rPr lang="en-US" altLang="zh-CN" sz="2400" b="1" dirty="0" smtClean="0">
                <a:solidFill>
                  <a:srgbClr val="FF0066"/>
                </a:solidFill>
                <a:ea typeface="华文楷体" panose="02010600040101010101" pitchFamily="2" charset="-122"/>
              </a:rPr>
              <a:t>)</a:t>
            </a:r>
            <a:r>
              <a:rPr lang="zh-CN" altLang="zh-CN" sz="2400" b="1" dirty="0" smtClean="0">
                <a:solidFill>
                  <a:srgbClr val="FF0066"/>
                </a:solidFill>
                <a:ea typeface="华文楷体" panose="02010600040101010101" pitchFamily="2" charset="-122"/>
              </a:rPr>
              <a:t>根堆</a:t>
            </a:r>
            <a:endParaRPr lang="zh-CN" altLang="en-US" sz="2400" b="1" dirty="0" smtClean="0">
              <a:solidFill>
                <a:srgbClr val="FF0066"/>
              </a:solidFill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依次把以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2400" dirty="0" smtClean="0">
                <a:ea typeface="华文楷体" panose="02010600040101010101" pitchFamily="2" charset="-122"/>
              </a:rPr>
              <a:t>=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</a:t>
            </a:r>
            <a:r>
              <a:rPr lang="en-US" altLang="zh-CN" sz="2400" dirty="0" smtClean="0">
                <a:ea typeface="华文楷体" panose="02010600040101010101" pitchFamily="2" charset="-122"/>
              </a:rPr>
              <a:t>n/2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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，</a:t>
            </a:r>
            <a:r>
              <a:rPr lang="en-US" altLang="zh-CN" sz="2400" dirty="0" smtClean="0">
                <a:ea typeface="华文楷体" panose="02010600040101010101" pitchFamily="2" charset="-122"/>
              </a:rPr>
              <a:t>n/2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-1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，</a:t>
            </a:r>
            <a:r>
              <a:rPr lang="en-US" altLang="zh-CN" sz="2400" dirty="0" smtClean="0">
                <a:ea typeface="华文楷体" panose="02010600040101010101" pitchFamily="2" charset="-122"/>
              </a:rPr>
              <a:t>n/2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-2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......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1</a:t>
            </a:r>
            <a:r>
              <a:rPr lang="zh-CN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为根的子树调整为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小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(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大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根</a:t>
            </a:r>
            <a:r>
              <a:rPr lang="zh-CN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堆，则完成了整个建堆的过程。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</a:t>
            </a:r>
            <a:r>
              <a:rPr lang="zh-CN" altLang="en-US" sz="2400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（</a:t>
            </a:r>
            <a:r>
              <a:rPr lang="en-US" altLang="zh-CN" sz="2400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49</a:t>
            </a:r>
            <a:r>
              <a:rPr lang="zh-CN" altLang="en-US" sz="2400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，</a:t>
            </a:r>
            <a:r>
              <a:rPr lang="en-US" altLang="zh-CN" sz="2400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38</a:t>
            </a:r>
            <a:r>
              <a:rPr lang="zh-CN" altLang="en-US" sz="2400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，</a:t>
            </a:r>
            <a:r>
              <a:rPr lang="en-US" altLang="zh-CN" sz="2400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65</a:t>
            </a:r>
            <a:r>
              <a:rPr lang="zh-CN" altLang="en-US" sz="2400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，</a:t>
            </a:r>
            <a:r>
              <a:rPr lang="en-US" altLang="zh-CN" sz="2400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97</a:t>
            </a:r>
            <a:r>
              <a:rPr lang="zh-CN" altLang="en-US" sz="2400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，</a:t>
            </a:r>
            <a:r>
              <a:rPr lang="en-US" altLang="zh-CN" sz="2400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76</a:t>
            </a:r>
            <a:r>
              <a:rPr lang="zh-CN" altLang="en-US" sz="2400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，</a:t>
            </a:r>
            <a:r>
              <a:rPr lang="en-US" altLang="zh-CN" sz="2400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13</a:t>
            </a:r>
            <a:r>
              <a:rPr lang="zh-CN" altLang="en-US" sz="2400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，</a:t>
            </a:r>
            <a:r>
              <a:rPr lang="en-US" altLang="zh-CN" sz="2400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27</a:t>
            </a:r>
            <a:r>
              <a:rPr lang="zh-CN" altLang="en-US" sz="2400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，</a:t>
            </a:r>
            <a:r>
              <a:rPr lang="en-US" altLang="zh-CN" sz="2400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50</a:t>
            </a:r>
            <a:r>
              <a:rPr lang="zh-CN" altLang="en-US" sz="2400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）</a:t>
            </a:r>
            <a:endParaRPr lang="zh-CN" altLang="zh-CN" sz="2400" dirty="0" smtClean="0">
              <a:solidFill>
                <a:srgbClr val="CC6600"/>
              </a:solidFill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b="1" dirty="0" smtClean="0">
              <a:solidFill>
                <a:srgbClr val="FF0066"/>
              </a:solidFill>
              <a:ea typeface="华文楷体" panose="02010600040101010101" pitchFamily="2" charset="-122"/>
            </a:endParaRPr>
          </a:p>
        </p:txBody>
      </p:sp>
      <p:grpSp>
        <p:nvGrpSpPr>
          <p:cNvPr id="48132" name="Group 4"/>
          <p:cNvGrpSpPr>
            <a:grpSpLocks/>
          </p:cNvGrpSpPr>
          <p:nvPr/>
        </p:nvGrpSpPr>
        <p:grpSpPr bwMode="auto">
          <a:xfrm>
            <a:off x="701675" y="2867025"/>
            <a:ext cx="2162175" cy="1897063"/>
            <a:chOff x="502" y="851"/>
            <a:chExt cx="1362" cy="1195"/>
          </a:xfrm>
        </p:grpSpPr>
        <p:sp>
          <p:nvSpPr>
            <p:cNvPr id="42059" name="Oval 5"/>
            <p:cNvSpPr>
              <a:spLocks noChangeArrowheads="1"/>
            </p:cNvSpPr>
            <p:nvPr/>
          </p:nvSpPr>
          <p:spPr bwMode="auto">
            <a:xfrm>
              <a:off x="1209" y="851"/>
              <a:ext cx="212" cy="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49</a:t>
              </a:r>
            </a:p>
          </p:txBody>
        </p:sp>
        <p:sp>
          <p:nvSpPr>
            <p:cNvPr id="42060" name="Oval 6"/>
            <p:cNvSpPr>
              <a:spLocks noChangeArrowheads="1"/>
            </p:cNvSpPr>
            <p:nvPr/>
          </p:nvSpPr>
          <p:spPr bwMode="auto">
            <a:xfrm>
              <a:off x="1527" y="1180"/>
              <a:ext cx="212" cy="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65</a:t>
              </a:r>
            </a:p>
          </p:txBody>
        </p:sp>
        <p:sp>
          <p:nvSpPr>
            <p:cNvPr id="42061" name="Oval 7"/>
            <p:cNvSpPr>
              <a:spLocks noChangeArrowheads="1"/>
            </p:cNvSpPr>
            <p:nvPr/>
          </p:nvSpPr>
          <p:spPr bwMode="auto">
            <a:xfrm>
              <a:off x="867" y="1176"/>
              <a:ext cx="212" cy="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38</a:t>
              </a:r>
            </a:p>
          </p:txBody>
        </p:sp>
        <p:sp>
          <p:nvSpPr>
            <p:cNvPr id="42062" name="Oval 8"/>
            <p:cNvSpPr>
              <a:spLocks noChangeArrowheads="1"/>
            </p:cNvSpPr>
            <p:nvPr/>
          </p:nvSpPr>
          <p:spPr bwMode="auto">
            <a:xfrm>
              <a:off x="1652" y="1516"/>
              <a:ext cx="212" cy="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27</a:t>
              </a:r>
            </a:p>
          </p:txBody>
        </p:sp>
        <p:sp>
          <p:nvSpPr>
            <p:cNvPr id="42063" name="Oval 9"/>
            <p:cNvSpPr>
              <a:spLocks noChangeArrowheads="1"/>
            </p:cNvSpPr>
            <p:nvPr/>
          </p:nvSpPr>
          <p:spPr bwMode="auto">
            <a:xfrm>
              <a:off x="1326" y="1516"/>
              <a:ext cx="212" cy="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13</a:t>
              </a:r>
            </a:p>
          </p:txBody>
        </p:sp>
        <p:sp>
          <p:nvSpPr>
            <p:cNvPr id="42064" name="Oval 10"/>
            <p:cNvSpPr>
              <a:spLocks noChangeArrowheads="1"/>
            </p:cNvSpPr>
            <p:nvPr/>
          </p:nvSpPr>
          <p:spPr bwMode="auto">
            <a:xfrm>
              <a:off x="1000" y="1516"/>
              <a:ext cx="212" cy="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76</a:t>
              </a:r>
            </a:p>
          </p:txBody>
        </p:sp>
        <p:sp>
          <p:nvSpPr>
            <p:cNvPr id="42065" name="Oval 11"/>
            <p:cNvSpPr>
              <a:spLocks noChangeArrowheads="1"/>
            </p:cNvSpPr>
            <p:nvPr/>
          </p:nvSpPr>
          <p:spPr bwMode="auto">
            <a:xfrm>
              <a:off x="674" y="1516"/>
              <a:ext cx="212" cy="200"/>
            </a:xfrm>
            <a:prstGeom prst="ellipse">
              <a:avLst/>
            </a:prstGeom>
            <a:noFill/>
            <a:ln w="9525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97</a:t>
              </a:r>
            </a:p>
          </p:txBody>
        </p:sp>
        <p:sp>
          <p:nvSpPr>
            <p:cNvPr id="42066" name="Oval 12"/>
            <p:cNvSpPr>
              <a:spLocks noChangeArrowheads="1"/>
            </p:cNvSpPr>
            <p:nvPr/>
          </p:nvSpPr>
          <p:spPr bwMode="auto">
            <a:xfrm>
              <a:off x="502" y="1846"/>
              <a:ext cx="212" cy="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50</a:t>
              </a:r>
            </a:p>
          </p:txBody>
        </p:sp>
        <p:sp>
          <p:nvSpPr>
            <p:cNvPr id="42067" name="Line 13"/>
            <p:cNvSpPr>
              <a:spLocks noChangeShapeType="1"/>
            </p:cNvSpPr>
            <p:nvPr/>
          </p:nvSpPr>
          <p:spPr bwMode="auto">
            <a:xfrm flipH="1">
              <a:off x="1067" y="1022"/>
              <a:ext cx="178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42068" name="Line 14"/>
            <p:cNvSpPr>
              <a:spLocks noChangeShapeType="1"/>
            </p:cNvSpPr>
            <p:nvPr/>
          </p:nvSpPr>
          <p:spPr bwMode="auto">
            <a:xfrm flipH="1">
              <a:off x="823" y="1366"/>
              <a:ext cx="122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42069" name="Line 15"/>
            <p:cNvSpPr>
              <a:spLocks noChangeShapeType="1"/>
            </p:cNvSpPr>
            <p:nvPr/>
          </p:nvSpPr>
          <p:spPr bwMode="auto">
            <a:xfrm flipH="1">
              <a:off x="623" y="1699"/>
              <a:ext cx="111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42070" name="Line 16"/>
            <p:cNvSpPr>
              <a:spLocks noChangeShapeType="1"/>
            </p:cNvSpPr>
            <p:nvPr/>
          </p:nvSpPr>
          <p:spPr bwMode="auto">
            <a:xfrm>
              <a:off x="1389" y="1011"/>
              <a:ext cx="212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42071" name="Line 17"/>
            <p:cNvSpPr>
              <a:spLocks noChangeShapeType="1"/>
            </p:cNvSpPr>
            <p:nvPr/>
          </p:nvSpPr>
          <p:spPr bwMode="auto">
            <a:xfrm>
              <a:off x="1667" y="1377"/>
              <a:ext cx="111" cy="1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42072" name="Line 18"/>
            <p:cNvSpPr>
              <a:spLocks noChangeShapeType="1"/>
            </p:cNvSpPr>
            <p:nvPr/>
          </p:nvSpPr>
          <p:spPr bwMode="auto">
            <a:xfrm>
              <a:off x="1012" y="1355"/>
              <a:ext cx="89" cy="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42073" name="Line 19"/>
            <p:cNvSpPr>
              <a:spLocks noChangeShapeType="1"/>
            </p:cNvSpPr>
            <p:nvPr/>
          </p:nvSpPr>
          <p:spPr bwMode="auto">
            <a:xfrm flipH="1">
              <a:off x="1467" y="1388"/>
              <a:ext cx="145" cy="1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48148" name="Freeform 20"/>
          <p:cNvSpPr>
            <a:spLocks/>
          </p:cNvSpPr>
          <p:nvPr/>
        </p:nvSpPr>
        <p:spPr bwMode="auto">
          <a:xfrm>
            <a:off x="685800" y="4038600"/>
            <a:ext cx="295275" cy="528638"/>
          </a:xfrm>
          <a:custGeom>
            <a:avLst/>
            <a:gdLst>
              <a:gd name="T0" fmla="*/ 2147483646 w 186"/>
              <a:gd name="T1" fmla="*/ 0 h 333"/>
              <a:gd name="T2" fmla="*/ 2147483646 w 186"/>
              <a:gd name="T3" fmla="*/ 2147483646 h 333"/>
              <a:gd name="T4" fmla="*/ 2147483646 w 186"/>
              <a:gd name="T5" fmla="*/ 2147483646 h 33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86" h="333">
                <a:moveTo>
                  <a:pt x="186" y="0"/>
                </a:moveTo>
                <a:cubicBezTo>
                  <a:pt x="123" y="27"/>
                  <a:pt x="60" y="55"/>
                  <a:pt x="30" y="111"/>
                </a:cubicBezTo>
                <a:cubicBezTo>
                  <a:pt x="0" y="167"/>
                  <a:pt x="4" y="250"/>
                  <a:pt x="8" y="333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grpSp>
        <p:nvGrpSpPr>
          <p:cNvPr id="48149" name="Group 21"/>
          <p:cNvGrpSpPr>
            <a:grpSpLocks/>
          </p:cNvGrpSpPr>
          <p:nvPr/>
        </p:nvGrpSpPr>
        <p:grpSpPr bwMode="auto">
          <a:xfrm>
            <a:off x="3324225" y="2825750"/>
            <a:ext cx="2162175" cy="1897063"/>
            <a:chOff x="2154" y="825"/>
            <a:chExt cx="1362" cy="1195"/>
          </a:xfrm>
        </p:grpSpPr>
        <p:sp>
          <p:nvSpPr>
            <p:cNvPr id="42044" name="Oval 22"/>
            <p:cNvSpPr>
              <a:spLocks noChangeArrowheads="1"/>
            </p:cNvSpPr>
            <p:nvPr/>
          </p:nvSpPr>
          <p:spPr bwMode="auto">
            <a:xfrm>
              <a:off x="2861" y="825"/>
              <a:ext cx="212" cy="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49</a:t>
              </a:r>
            </a:p>
          </p:txBody>
        </p:sp>
        <p:sp>
          <p:nvSpPr>
            <p:cNvPr id="42045" name="Oval 23"/>
            <p:cNvSpPr>
              <a:spLocks noChangeArrowheads="1"/>
            </p:cNvSpPr>
            <p:nvPr/>
          </p:nvSpPr>
          <p:spPr bwMode="auto">
            <a:xfrm>
              <a:off x="3179" y="1154"/>
              <a:ext cx="212" cy="200"/>
            </a:xfrm>
            <a:prstGeom prst="ellipse">
              <a:avLst/>
            </a:prstGeom>
            <a:noFill/>
            <a:ln w="9525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65</a:t>
              </a:r>
            </a:p>
          </p:txBody>
        </p:sp>
        <p:sp>
          <p:nvSpPr>
            <p:cNvPr id="42046" name="Oval 24"/>
            <p:cNvSpPr>
              <a:spLocks noChangeArrowheads="1"/>
            </p:cNvSpPr>
            <p:nvPr/>
          </p:nvSpPr>
          <p:spPr bwMode="auto">
            <a:xfrm>
              <a:off x="2519" y="1150"/>
              <a:ext cx="212" cy="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38</a:t>
              </a:r>
            </a:p>
          </p:txBody>
        </p:sp>
        <p:sp>
          <p:nvSpPr>
            <p:cNvPr id="42047" name="Oval 25"/>
            <p:cNvSpPr>
              <a:spLocks noChangeArrowheads="1"/>
            </p:cNvSpPr>
            <p:nvPr/>
          </p:nvSpPr>
          <p:spPr bwMode="auto">
            <a:xfrm>
              <a:off x="3304" y="1490"/>
              <a:ext cx="212" cy="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27</a:t>
              </a:r>
            </a:p>
          </p:txBody>
        </p:sp>
        <p:sp>
          <p:nvSpPr>
            <p:cNvPr id="42048" name="Oval 26"/>
            <p:cNvSpPr>
              <a:spLocks noChangeArrowheads="1"/>
            </p:cNvSpPr>
            <p:nvPr/>
          </p:nvSpPr>
          <p:spPr bwMode="auto">
            <a:xfrm>
              <a:off x="2978" y="1490"/>
              <a:ext cx="212" cy="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13</a:t>
              </a:r>
            </a:p>
          </p:txBody>
        </p:sp>
        <p:sp>
          <p:nvSpPr>
            <p:cNvPr id="42049" name="Oval 27"/>
            <p:cNvSpPr>
              <a:spLocks noChangeArrowheads="1"/>
            </p:cNvSpPr>
            <p:nvPr/>
          </p:nvSpPr>
          <p:spPr bwMode="auto">
            <a:xfrm>
              <a:off x="2652" y="1490"/>
              <a:ext cx="212" cy="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76</a:t>
              </a:r>
            </a:p>
          </p:txBody>
        </p:sp>
        <p:sp>
          <p:nvSpPr>
            <p:cNvPr id="42050" name="Oval 28"/>
            <p:cNvSpPr>
              <a:spLocks noChangeArrowheads="1"/>
            </p:cNvSpPr>
            <p:nvPr/>
          </p:nvSpPr>
          <p:spPr bwMode="auto">
            <a:xfrm>
              <a:off x="2326" y="1490"/>
              <a:ext cx="212" cy="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50</a:t>
              </a:r>
            </a:p>
          </p:txBody>
        </p:sp>
        <p:sp>
          <p:nvSpPr>
            <p:cNvPr id="42051" name="Oval 29"/>
            <p:cNvSpPr>
              <a:spLocks noChangeArrowheads="1"/>
            </p:cNvSpPr>
            <p:nvPr/>
          </p:nvSpPr>
          <p:spPr bwMode="auto">
            <a:xfrm>
              <a:off x="2154" y="1820"/>
              <a:ext cx="212" cy="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97</a:t>
              </a:r>
            </a:p>
          </p:txBody>
        </p:sp>
        <p:sp>
          <p:nvSpPr>
            <p:cNvPr id="42052" name="Line 30"/>
            <p:cNvSpPr>
              <a:spLocks noChangeShapeType="1"/>
            </p:cNvSpPr>
            <p:nvPr/>
          </p:nvSpPr>
          <p:spPr bwMode="auto">
            <a:xfrm flipH="1">
              <a:off x="2719" y="996"/>
              <a:ext cx="178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42053" name="Line 31"/>
            <p:cNvSpPr>
              <a:spLocks noChangeShapeType="1"/>
            </p:cNvSpPr>
            <p:nvPr/>
          </p:nvSpPr>
          <p:spPr bwMode="auto">
            <a:xfrm flipH="1">
              <a:off x="2475" y="1340"/>
              <a:ext cx="122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42054" name="Line 32"/>
            <p:cNvSpPr>
              <a:spLocks noChangeShapeType="1"/>
            </p:cNvSpPr>
            <p:nvPr/>
          </p:nvSpPr>
          <p:spPr bwMode="auto">
            <a:xfrm flipH="1">
              <a:off x="2275" y="1673"/>
              <a:ext cx="111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42055" name="Line 33"/>
            <p:cNvSpPr>
              <a:spLocks noChangeShapeType="1"/>
            </p:cNvSpPr>
            <p:nvPr/>
          </p:nvSpPr>
          <p:spPr bwMode="auto">
            <a:xfrm>
              <a:off x="3041" y="985"/>
              <a:ext cx="212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42056" name="Line 34"/>
            <p:cNvSpPr>
              <a:spLocks noChangeShapeType="1"/>
            </p:cNvSpPr>
            <p:nvPr/>
          </p:nvSpPr>
          <p:spPr bwMode="auto">
            <a:xfrm>
              <a:off x="3319" y="1351"/>
              <a:ext cx="111" cy="1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42057" name="Line 35"/>
            <p:cNvSpPr>
              <a:spLocks noChangeShapeType="1"/>
            </p:cNvSpPr>
            <p:nvPr/>
          </p:nvSpPr>
          <p:spPr bwMode="auto">
            <a:xfrm>
              <a:off x="2664" y="1329"/>
              <a:ext cx="89" cy="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42058" name="Line 36"/>
            <p:cNvSpPr>
              <a:spLocks noChangeShapeType="1"/>
            </p:cNvSpPr>
            <p:nvPr/>
          </p:nvSpPr>
          <p:spPr bwMode="auto">
            <a:xfrm flipH="1">
              <a:off x="3119" y="1362"/>
              <a:ext cx="145" cy="1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48165" name="Freeform 37"/>
          <p:cNvSpPr>
            <a:spLocks/>
          </p:cNvSpPr>
          <p:nvPr/>
        </p:nvSpPr>
        <p:spPr bwMode="auto">
          <a:xfrm>
            <a:off x="4649788" y="3473450"/>
            <a:ext cx="300037" cy="530225"/>
          </a:xfrm>
          <a:custGeom>
            <a:avLst/>
            <a:gdLst>
              <a:gd name="T0" fmla="*/ 2147483646 w 189"/>
              <a:gd name="T1" fmla="*/ 0 h 334"/>
              <a:gd name="T2" fmla="*/ 2147483646 w 189"/>
              <a:gd name="T3" fmla="*/ 2147483646 h 334"/>
              <a:gd name="T4" fmla="*/ 0 w 189"/>
              <a:gd name="T5" fmla="*/ 2147483646 h 33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89" h="334">
                <a:moveTo>
                  <a:pt x="189" y="0"/>
                </a:moveTo>
                <a:cubicBezTo>
                  <a:pt x="138" y="16"/>
                  <a:pt x="87" y="33"/>
                  <a:pt x="56" y="89"/>
                </a:cubicBezTo>
                <a:cubicBezTo>
                  <a:pt x="25" y="145"/>
                  <a:pt x="12" y="239"/>
                  <a:pt x="0" y="33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grpSp>
        <p:nvGrpSpPr>
          <p:cNvPr id="48166" name="Group 38"/>
          <p:cNvGrpSpPr>
            <a:grpSpLocks/>
          </p:cNvGrpSpPr>
          <p:nvPr/>
        </p:nvGrpSpPr>
        <p:grpSpPr bwMode="auto">
          <a:xfrm>
            <a:off x="6070600" y="2784475"/>
            <a:ext cx="2162175" cy="1897063"/>
            <a:chOff x="3884" y="799"/>
            <a:chExt cx="1362" cy="1195"/>
          </a:xfrm>
        </p:grpSpPr>
        <p:sp>
          <p:nvSpPr>
            <p:cNvPr id="42029" name="Oval 39"/>
            <p:cNvSpPr>
              <a:spLocks noChangeArrowheads="1"/>
            </p:cNvSpPr>
            <p:nvPr/>
          </p:nvSpPr>
          <p:spPr bwMode="auto">
            <a:xfrm>
              <a:off x="4591" y="799"/>
              <a:ext cx="212" cy="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49</a:t>
              </a:r>
            </a:p>
          </p:txBody>
        </p:sp>
        <p:sp>
          <p:nvSpPr>
            <p:cNvPr id="42030" name="Oval 40"/>
            <p:cNvSpPr>
              <a:spLocks noChangeArrowheads="1"/>
            </p:cNvSpPr>
            <p:nvPr/>
          </p:nvSpPr>
          <p:spPr bwMode="auto">
            <a:xfrm>
              <a:off x="4909" y="1128"/>
              <a:ext cx="212" cy="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13</a:t>
              </a:r>
            </a:p>
          </p:txBody>
        </p:sp>
        <p:sp>
          <p:nvSpPr>
            <p:cNvPr id="42031" name="Oval 41"/>
            <p:cNvSpPr>
              <a:spLocks noChangeArrowheads="1"/>
            </p:cNvSpPr>
            <p:nvPr/>
          </p:nvSpPr>
          <p:spPr bwMode="auto">
            <a:xfrm>
              <a:off x="4249" y="1124"/>
              <a:ext cx="212" cy="200"/>
            </a:xfrm>
            <a:prstGeom prst="ellipse">
              <a:avLst/>
            </a:prstGeom>
            <a:noFill/>
            <a:ln w="9525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38</a:t>
              </a:r>
            </a:p>
          </p:txBody>
        </p:sp>
        <p:sp>
          <p:nvSpPr>
            <p:cNvPr id="42032" name="Oval 42"/>
            <p:cNvSpPr>
              <a:spLocks noChangeArrowheads="1"/>
            </p:cNvSpPr>
            <p:nvPr/>
          </p:nvSpPr>
          <p:spPr bwMode="auto">
            <a:xfrm>
              <a:off x="5034" y="1464"/>
              <a:ext cx="212" cy="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27</a:t>
              </a:r>
            </a:p>
          </p:txBody>
        </p:sp>
        <p:sp>
          <p:nvSpPr>
            <p:cNvPr id="42033" name="Oval 43"/>
            <p:cNvSpPr>
              <a:spLocks noChangeArrowheads="1"/>
            </p:cNvSpPr>
            <p:nvPr/>
          </p:nvSpPr>
          <p:spPr bwMode="auto">
            <a:xfrm>
              <a:off x="4708" y="1464"/>
              <a:ext cx="212" cy="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65</a:t>
              </a:r>
            </a:p>
          </p:txBody>
        </p:sp>
        <p:sp>
          <p:nvSpPr>
            <p:cNvPr id="42034" name="Oval 44"/>
            <p:cNvSpPr>
              <a:spLocks noChangeArrowheads="1"/>
            </p:cNvSpPr>
            <p:nvPr/>
          </p:nvSpPr>
          <p:spPr bwMode="auto">
            <a:xfrm>
              <a:off x="4382" y="1464"/>
              <a:ext cx="212" cy="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76</a:t>
              </a:r>
            </a:p>
          </p:txBody>
        </p:sp>
        <p:sp>
          <p:nvSpPr>
            <p:cNvPr id="42035" name="Oval 45"/>
            <p:cNvSpPr>
              <a:spLocks noChangeArrowheads="1"/>
            </p:cNvSpPr>
            <p:nvPr/>
          </p:nvSpPr>
          <p:spPr bwMode="auto">
            <a:xfrm>
              <a:off x="4056" y="1464"/>
              <a:ext cx="212" cy="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50</a:t>
              </a:r>
            </a:p>
          </p:txBody>
        </p:sp>
        <p:sp>
          <p:nvSpPr>
            <p:cNvPr id="42036" name="Oval 46"/>
            <p:cNvSpPr>
              <a:spLocks noChangeArrowheads="1"/>
            </p:cNvSpPr>
            <p:nvPr/>
          </p:nvSpPr>
          <p:spPr bwMode="auto">
            <a:xfrm>
              <a:off x="3884" y="1794"/>
              <a:ext cx="212" cy="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97</a:t>
              </a:r>
            </a:p>
          </p:txBody>
        </p:sp>
        <p:sp>
          <p:nvSpPr>
            <p:cNvPr id="42037" name="Line 47"/>
            <p:cNvSpPr>
              <a:spLocks noChangeShapeType="1"/>
            </p:cNvSpPr>
            <p:nvPr/>
          </p:nvSpPr>
          <p:spPr bwMode="auto">
            <a:xfrm flipH="1">
              <a:off x="4449" y="970"/>
              <a:ext cx="178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42038" name="Line 48"/>
            <p:cNvSpPr>
              <a:spLocks noChangeShapeType="1"/>
            </p:cNvSpPr>
            <p:nvPr/>
          </p:nvSpPr>
          <p:spPr bwMode="auto">
            <a:xfrm flipH="1">
              <a:off x="4205" y="1314"/>
              <a:ext cx="122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42039" name="Line 49"/>
            <p:cNvSpPr>
              <a:spLocks noChangeShapeType="1"/>
            </p:cNvSpPr>
            <p:nvPr/>
          </p:nvSpPr>
          <p:spPr bwMode="auto">
            <a:xfrm flipH="1">
              <a:off x="4005" y="1647"/>
              <a:ext cx="111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42040" name="Line 50"/>
            <p:cNvSpPr>
              <a:spLocks noChangeShapeType="1"/>
            </p:cNvSpPr>
            <p:nvPr/>
          </p:nvSpPr>
          <p:spPr bwMode="auto">
            <a:xfrm>
              <a:off x="4771" y="959"/>
              <a:ext cx="212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42041" name="Line 51"/>
            <p:cNvSpPr>
              <a:spLocks noChangeShapeType="1"/>
            </p:cNvSpPr>
            <p:nvPr/>
          </p:nvSpPr>
          <p:spPr bwMode="auto">
            <a:xfrm>
              <a:off x="5049" y="1325"/>
              <a:ext cx="111" cy="1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42042" name="Line 52"/>
            <p:cNvSpPr>
              <a:spLocks noChangeShapeType="1"/>
            </p:cNvSpPr>
            <p:nvPr/>
          </p:nvSpPr>
          <p:spPr bwMode="auto">
            <a:xfrm>
              <a:off x="4394" y="1303"/>
              <a:ext cx="89" cy="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42043" name="Line 53"/>
            <p:cNvSpPr>
              <a:spLocks noChangeShapeType="1"/>
            </p:cNvSpPr>
            <p:nvPr/>
          </p:nvSpPr>
          <p:spPr bwMode="auto">
            <a:xfrm flipH="1">
              <a:off x="4849" y="1336"/>
              <a:ext cx="145" cy="1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</p:grpSp>
      <p:grpSp>
        <p:nvGrpSpPr>
          <p:cNvPr id="48182" name="Group 54"/>
          <p:cNvGrpSpPr>
            <a:grpSpLocks/>
          </p:cNvGrpSpPr>
          <p:nvPr/>
        </p:nvGrpSpPr>
        <p:grpSpPr bwMode="auto">
          <a:xfrm>
            <a:off x="746125" y="4656138"/>
            <a:ext cx="2162175" cy="1897062"/>
            <a:chOff x="357" y="2440"/>
            <a:chExt cx="1362" cy="1195"/>
          </a:xfrm>
        </p:grpSpPr>
        <p:sp>
          <p:nvSpPr>
            <p:cNvPr id="42014" name="Oval 55"/>
            <p:cNvSpPr>
              <a:spLocks noChangeArrowheads="1"/>
            </p:cNvSpPr>
            <p:nvPr/>
          </p:nvSpPr>
          <p:spPr bwMode="auto">
            <a:xfrm>
              <a:off x="1064" y="2440"/>
              <a:ext cx="212" cy="200"/>
            </a:xfrm>
            <a:prstGeom prst="ellipse">
              <a:avLst/>
            </a:prstGeom>
            <a:noFill/>
            <a:ln w="9525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49</a:t>
              </a:r>
            </a:p>
          </p:txBody>
        </p:sp>
        <p:sp>
          <p:nvSpPr>
            <p:cNvPr id="42015" name="Oval 56"/>
            <p:cNvSpPr>
              <a:spLocks noChangeArrowheads="1"/>
            </p:cNvSpPr>
            <p:nvPr/>
          </p:nvSpPr>
          <p:spPr bwMode="auto">
            <a:xfrm>
              <a:off x="1382" y="2769"/>
              <a:ext cx="212" cy="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13</a:t>
              </a:r>
            </a:p>
          </p:txBody>
        </p:sp>
        <p:sp>
          <p:nvSpPr>
            <p:cNvPr id="42016" name="Oval 57"/>
            <p:cNvSpPr>
              <a:spLocks noChangeArrowheads="1"/>
            </p:cNvSpPr>
            <p:nvPr/>
          </p:nvSpPr>
          <p:spPr bwMode="auto">
            <a:xfrm>
              <a:off x="722" y="2765"/>
              <a:ext cx="212" cy="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38</a:t>
              </a:r>
            </a:p>
          </p:txBody>
        </p:sp>
        <p:sp>
          <p:nvSpPr>
            <p:cNvPr id="42017" name="Oval 58"/>
            <p:cNvSpPr>
              <a:spLocks noChangeArrowheads="1"/>
            </p:cNvSpPr>
            <p:nvPr/>
          </p:nvSpPr>
          <p:spPr bwMode="auto">
            <a:xfrm>
              <a:off x="1507" y="3105"/>
              <a:ext cx="212" cy="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27</a:t>
              </a:r>
            </a:p>
          </p:txBody>
        </p:sp>
        <p:sp>
          <p:nvSpPr>
            <p:cNvPr id="42018" name="Oval 59"/>
            <p:cNvSpPr>
              <a:spLocks noChangeArrowheads="1"/>
            </p:cNvSpPr>
            <p:nvPr/>
          </p:nvSpPr>
          <p:spPr bwMode="auto">
            <a:xfrm>
              <a:off x="1181" y="3105"/>
              <a:ext cx="212" cy="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65</a:t>
              </a:r>
            </a:p>
          </p:txBody>
        </p:sp>
        <p:sp>
          <p:nvSpPr>
            <p:cNvPr id="42019" name="Oval 60"/>
            <p:cNvSpPr>
              <a:spLocks noChangeArrowheads="1"/>
            </p:cNvSpPr>
            <p:nvPr/>
          </p:nvSpPr>
          <p:spPr bwMode="auto">
            <a:xfrm>
              <a:off x="855" y="3105"/>
              <a:ext cx="212" cy="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76</a:t>
              </a:r>
            </a:p>
          </p:txBody>
        </p:sp>
        <p:sp>
          <p:nvSpPr>
            <p:cNvPr id="42020" name="Oval 61"/>
            <p:cNvSpPr>
              <a:spLocks noChangeArrowheads="1"/>
            </p:cNvSpPr>
            <p:nvPr/>
          </p:nvSpPr>
          <p:spPr bwMode="auto">
            <a:xfrm>
              <a:off x="529" y="3105"/>
              <a:ext cx="212" cy="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50</a:t>
              </a:r>
            </a:p>
          </p:txBody>
        </p:sp>
        <p:sp>
          <p:nvSpPr>
            <p:cNvPr id="42021" name="Oval 62"/>
            <p:cNvSpPr>
              <a:spLocks noChangeArrowheads="1"/>
            </p:cNvSpPr>
            <p:nvPr/>
          </p:nvSpPr>
          <p:spPr bwMode="auto">
            <a:xfrm>
              <a:off x="357" y="3435"/>
              <a:ext cx="212" cy="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97</a:t>
              </a:r>
            </a:p>
          </p:txBody>
        </p:sp>
        <p:sp>
          <p:nvSpPr>
            <p:cNvPr id="42022" name="Line 63"/>
            <p:cNvSpPr>
              <a:spLocks noChangeShapeType="1"/>
            </p:cNvSpPr>
            <p:nvPr/>
          </p:nvSpPr>
          <p:spPr bwMode="auto">
            <a:xfrm flipH="1">
              <a:off x="922" y="2611"/>
              <a:ext cx="178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42023" name="Line 64"/>
            <p:cNvSpPr>
              <a:spLocks noChangeShapeType="1"/>
            </p:cNvSpPr>
            <p:nvPr/>
          </p:nvSpPr>
          <p:spPr bwMode="auto">
            <a:xfrm flipH="1">
              <a:off x="678" y="2955"/>
              <a:ext cx="122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42024" name="Line 65"/>
            <p:cNvSpPr>
              <a:spLocks noChangeShapeType="1"/>
            </p:cNvSpPr>
            <p:nvPr/>
          </p:nvSpPr>
          <p:spPr bwMode="auto">
            <a:xfrm flipH="1">
              <a:off x="478" y="3288"/>
              <a:ext cx="111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42025" name="Line 66"/>
            <p:cNvSpPr>
              <a:spLocks noChangeShapeType="1"/>
            </p:cNvSpPr>
            <p:nvPr/>
          </p:nvSpPr>
          <p:spPr bwMode="auto">
            <a:xfrm>
              <a:off x="1244" y="2600"/>
              <a:ext cx="212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42026" name="Line 67"/>
            <p:cNvSpPr>
              <a:spLocks noChangeShapeType="1"/>
            </p:cNvSpPr>
            <p:nvPr/>
          </p:nvSpPr>
          <p:spPr bwMode="auto">
            <a:xfrm>
              <a:off x="1522" y="2966"/>
              <a:ext cx="111" cy="1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42027" name="Line 68"/>
            <p:cNvSpPr>
              <a:spLocks noChangeShapeType="1"/>
            </p:cNvSpPr>
            <p:nvPr/>
          </p:nvSpPr>
          <p:spPr bwMode="auto">
            <a:xfrm>
              <a:off x="867" y="2944"/>
              <a:ext cx="89" cy="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42028" name="Line 69"/>
            <p:cNvSpPr>
              <a:spLocks noChangeShapeType="1"/>
            </p:cNvSpPr>
            <p:nvPr/>
          </p:nvSpPr>
          <p:spPr bwMode="auto">
            <a:xfrm flipH="1">
              <a:off x="1322" y="2977"/>
              <a:ext cx="145" cy="1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48198" name="Freeform 70"/>
          <p:cNvSpPr>
            <a:spLocks/>
          </p:cNvSpPr>
          <p:nvPr/>
        </p:nvSpPr>
        <p:spPr bwMode="auto">
          <a:xfrm>
            <a:off x="2225675" y="4768850"/>
            <a:ext cx="476250" cy="511175"/>
          </a:xfrm>
          <a:custGeom>
            <a:avLst/>
            <a:gdLst>
              <a:gd name="T0" fmla="*/ 0 w 300"/>
              <a:gd name="T1" fmla="*/ 0 h 322"/>
              <a:gd name="T2" fmla="*/ 2147483646 w 300"/>
              <a:gd name="T3" fmla="*/ 2147483646 h 322"/>
              <a:gd name="T4" fmla="*/ 2147483646 w 300"/>
              <a:gd name="T5" fmla="*/ 2147483646 h 32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00" h="322">
                <a:moveTo>
                  <a:pt x="0" y="0"/>
                </a:moveTo>
                <a:cubicBezTo>
                  <a:pt x="75" y="23"/>
                  <a:pt x="150" y="46"/>
                  <a:pt x="200" y="100"/>
                </a:cubicBezTo>
                <a:cubicBezTo>
                  <a:pt x="250" y="154"/>
                  <a:pt x="283" y="289"/>
                  <a:pt x="300" y="32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48199" name="Freeform 71"/>
          <p:cNvSpPr>
            <a:spLocks/>
          </p:cNvSpPr>
          <p:nvPr/>
        </p:nvSpPr>
        <p:spPr bwMode="auto">
          <a:xfrm>
            <a:off x="2719388" y="5332413"/>
            <a:ext cx="244475" cy="530225"/>
          </a:xfrm>
          <a:custGeom>
            <a:avLst/>
            <a:gdLst>
              <a:gd name="T0" fmla="*/ 0 w 154"/>
              <a:gd name="T1" fmla="*/ 0 h 334"/>
              <a:gd name="T2" fmla="*/ 2147483646 w 154"/>
              <a:gd name="T3" fmla="*/ 2147483646 h 334"/>
              <a:gd name="T4" fmla="*/ 2147483646 w 154"/>
              <a:gd name="T5" fmla="*/ 2147483646 h 33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54" h="334">
                <a:moveTo>
                  <a:pt x="0" y="0"/>
                </a:moveTo>
                <a:cubicBezTo>
                  <a:pt x="57" y="11"/>
                  <a:pt x="114" y="22"/>
                  <a:pt x="134" y="78"/>
                </a:cubicBezTo>
                <a:cubicBezTo>
                  <a:pt x="154" y="134"/>
                  <a:pt x="128" y="295"/>
                  <a:pt x="122" y="33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grpSp>
        <p:nvGrpSpPr>
          <p:cNvPr id="48200" name="Group 72"/>
          <p:cNvGrpSpPr>
            <a:grpSpLocks/>
          </p:cNvGrpSpPr>
          <p:nvPr/>
        </p:nvGrpSpPr>
        <p:grpSpPr bwMode="auto">
          <a:xfrm>
            <a:off x="3860800" y="4613275"/>
            <a:ext cx="2162175" cy="1897063"/>
            <a:chOff x="1842" y="2436"/>
            <a:chExt cx="1362" cy="1195"/>
          </a:xfrm>
        </p:grpSpPr>
        <p:sp>
          <p:nvSpPr>
            <p:cNvPr id="41999" name="Oval 73"/>
            <p:cNvSpPr>
              <a:spLocks noChangeArrowheads="1"/>
            </p:cNvSpPr>
            <p:nvPr/>
          </p:nvSpPr>
          <p:spPr bwMode="auto">
            <a:xfrm>
              <a:off x="2549" y="2436"/>
              <a:ext cx="212" cy="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13</a:t>
              </a:r>
            </a:p>
          </p:txBody>
        </p:sp>
        <p:sp>
          <p:nvSpPr>
            <p:cNvPr id="42000" name="Oval 74"/>
            <p:cNvSpPr>
              <a:spLocks noChangeArrowheads="1"/>
            </p:cNvSpPr>
            <p:nvPr/>
          </p:nvSpPr>
          <p:spPr bwMode="auto">
            <a:xfrm>
              <a:off x="2867" y="2765"/>
              <a:ext cx="212" cy="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27</a:t>
              </a:r>
            </a:p>
          </p:txBody>
        </p:sp>
        <p:sp>
          <p:nvSpPr>
            <p:cNvPr id="42001" name="Oval 75"/>
            <p:cNvSpPr>
              <a:spLocks noChangeArrowheads="1"/>
            </p:cNvSpPr>
            <p:nvPr/>
          </p:nvSpPr>
          <p:spPr bwMode="auto">
            <a:xfrm>
              <a:off x="2207" y="2761"/>
              <a:ext cx="212" cy="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38</a:t>
              </a:r>
            </a:p>
          </p:txBody>
        </p:sp>
        <p:sp>
          <p:nvSpPr>
            <p:cNvPr id="42002" name="Oval 76"/>
            <p:cNvSpPr>
              <a:spLocks noChangeArrowheads="1"/>
            </p:cNvSpPr>
            <p:nvPr/>
          </p:nvSpPr>
          <p:spPr bwMode="auto">
            <a:xfrm>
              <a:off x="2992" y="3101"/>
              <a:ext cx="212" cy="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49</a:t>
              </a:r>
            </a:p>
          </p:txBody>
        </p:sp>
        <p:sp>
          <p:nvSpPr>
            <p:cNvPr id="42003" name="Oval 77"/>
            <p:cNvSpPr>
              <a:spLocks noChangeArrowheads="1"/>
            </p:cNvSpPr>
            <p:nvPr/>
          </p:nvSpPr>
          <p:spPr bwMode="auto">
            <a:xfrm>
              <a:off x="2666" y="3101"/>
              <a:ext cx="212" cy="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65</a:t>
              </a:r>
            </a:p>
          </p:txBody>
        </p:sp>
        <p:sp>
          <p:nvSpPr>
            <p:cNvPr id="42004" name="Oval 78"/>
            <p:cNvSpPr>
              <a:spLocks noChangeArrowheads="1"/>
            </p:cNvSpPr>
            <p:nvPr/>
          </p:nvSpPr>
          <p:spPr bwMode="auto">
            <a:xfrm>
              <a:off x="2340" y="3101"/>
              <a:ext cx="212" cy="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76</a:t>
              </a:r>
            </a:p>
          </p:txBody>
        </p:sp>
        <p:sp>
          <p:nvSpPr>
            <p:cNvPr id="42005" name="Oval 79"/>
            <p:cNvSpPr>
              <a:spLocks noChangeArrowheads="1"/>
            </p:cNvSpPr>
            <p:nvPr/>
          </p:nvSpPr>
          <p:spPr bwMode="auto">
            <a:xfrm>
              <a:off x="2014" y="3101"/>
              <a:ext cx="212" cy="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50</a:t>
              </a:r>
            </a:p>
          </p:txBody>
        </p:sp>
        <p:sp>
          <p:nvSpPr>
            <p:cNvPr id="42006" name="Oval 80"/>
            <p:cNvSpPr>
              <a:spLocks noChangeArrowheads="1"/>
            </p:cNvSpPr>
            <p:nvPr/>
          </p:nvSpPr>
          <p:spPr bwMode="auto">
            <a:xfrm>
              <a:off x="1842" y="3431"/>
              <a:ext cx="212" cy="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97</a:t>
              </a:r>
            </a:p>
          </p:txBody>
        </p:sp>
        <p:sp>
          <p:nvSpPr>
            <p:cNvPr id="42007" name="Line 81"/>
            <p:cNvSpPr>
              <a:spLocks noChangeShapeType="1"/>
            </p:cNvSpPr>
            <p:nvPr/>
          </p:nvSpPr>
          <p:spPr bwMode="auto">
            <a:xfrm flipH="1">
              <a:off x="2407" y="2607"/>
              <a:ext cx="178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42008" name="Line 82"/>
            <p:cNvSpPr>
              <a:spLocks noChangeShapeType="1"/>
            </p:cNvSpPr>
            <p:nvPr/>
          </p:nvSpPr>
          <p:spPr bwMode="auto">
            <a:xfrm flipH="1">
              <a:off x="2163" y="2951"/>
              <a:ext cx="122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42009" name="Line 83"/>
            <p:cNvSpPr>
              <a:spLocks noChangeShapeType="1"/>
            </p:cNvSpPr>
            <p:nvPr/>
          </p:nvSpPr>
          <p:spPr bwMode="auto">
            <a:xfrm flipH="1">
              <a:off x="1963" y="3284"/>
              <a:ext cx="111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42010" name="Line 84"/>
            <p:cNvSpPr>
              <a:spLocks noChangeShapeType="1"/>
            </p:cNvSpPr>
            <p:nvPr/>
          </p:nvSpPr>
          <p:spPr bwMode="auto">
            <a:xfrm>
              <a:off x="2729" y="2596"/>
              <a:ext cx="212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42011" name="Line 85"/>
            <p:cNvSpPr>
              <a:spLocks noChangeShapeType="1"/>
            </p:cNvSpPr>
            <p:nvPr/>
          </p:nvSpPr>
          <p:spPr bwMode="auto">
            <a:xfrm>
              <a:off x="3007" y="2962"/>
              <a:ext cx="111" cy="1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42012" name="Line 86"/>
            <p:cNvSpPr>
              <a:spLocks noChangeShapeType="1"/>
            </p:cNvSpPr>
            <p:nvPr/>
          </p:nvSpPr>
          <p:spPr bwMode="auto">
            <a:xfrm>
              <a:off x="2352" y="2940"/>
              <a:ext cx="89" cy="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42013" name="Line 87"/>
            <p:cNvSpPr>
              <a:spLocks noChangeShapeType="1"/>
            </p:cNvSpPr>
            <p:nvPr/>
          </p:nvSpPr>
          <p:spPr bwMode="auto">
            <a:xfrm flipH="1">
              <a:off x="2807" y="2973"/>
              <a:ext cx="145" cy="1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81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481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481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481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481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481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481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481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482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430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4301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5774"/>
            <a:ext cx="7772400" cy="5792226"/>
          </a:xfrm>
          <a:ln>
            <a:solidFill>
              <a:schemeClr val="accent1"/>
            </a:solidFill>
          </a:ln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16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16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堆顶输出后调整为大根堆的算法</a:t>
            </a:r>
            <a:r>
              <a:rPr lang="en-US" altLang="zh-CN" sz="16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1600" dirty="0" smtClean="0">
                <a:ea typeface="华文楷体" panose="02010600040101010101" pitchFamily="2" charset="-122"/>
              </a:rPr>
              <a:t>void adjust(</a:t>
            </a:r>
            <a:r>
              <a:rPr lang="en-US" altLang="zh-CN" sz="1600" dirty="0" err="1" smtClean="0">
                <a:ea typeface="华文楷体" panose="02010600040101010101" pitchFamily="2" charset="-122"/>
              </a:rPr>
              <a:t>ElemType</a:t>
            </a:r>
            <a:r>
              <a:rPr lang="en-US" altLang="zh-CN" sz="1600" dirty="0" smtClean="0">
                <a:ea typeface="华文楷体" panose="02010600040101010101" pitchFamily="2" charset="-122"/>
              </a:rPr>
              <a:t> a[],</a:t>
            </a:r>
            <a:r>
              <a:rPr lang="en-US" altLang="zh-CN" sz="1600" dirty="0">
                <a:ea typeface="华文楷体" panose="02010600040101010101" pitchFamily="2" charset="-122"/>
              </a:rPr>
              <a:t> </a:t>
            </a:r>
            <a:r>
              <a:rPr lang="en-US" altLang="zh-CN" sz="1600" dirty="0" err="1" smtClean="0">
                <a:ea typeface="华文楷体" panose="02010600040101010101" pitchFamily="2" charset="-122"/>
              </a:rPr>
              <a:t>int</a:t>
            </a:r>
            <a:r>
              <a:rPr lang="en-US" altLang="zh-CN" sz="1600" dirty="0" smtClean="0">
                <a:ea typeface="华文楷体" panose="02010600040101010101" pitchFamily="2" charset="-122"/>
              </a:rPr>
              <a:t> root, </a:t>
            </a:r>
            <a:r>
              <a:rPr lang="en-US" altLang="zh-CN" sz="1600" dirty="0" err="1" smtClean="0">
                <a:ea typeface="华文楷体" panose="02010600040101010101" pitchFamily="2" charset="-122"/>
              </a:rPr>
              <a:t>int</a:t>
            </a:r>
            <a:r>
              <a:rPr lang="en-US" altLang="zh-CN" sz="1600" dirty="0" smtClean="0">
                <a:ea typeface="华文楷体" panose="02010600040101010101" pitchFamily="2" charset="-122"/>
              </a:rPr>
              <a:t> end</a:t>
            </a:r>
            <a:r>
              <a:rPr lang="en-US" altLang="zh-CN" sz="1600" dirty="0" smtClean="0">
                <a:ea typeface="华文楷体" panose="02010600040101010101" pitchFamily="2" charset="-122"/>
              </a:rPr>
              <a:t>)   {</a:t>
            </a:r>
            <a:endParaRPr lang="en-US" altLang="zh-CN" sz="16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1600" dirty="0">
                <a:ea typeface="华文楷体" panose="02010600040101010101" pitchFamily="2" charset="-122"/>
              </a:rPr>
              <a:t> </a:t>
            </a:r>
            <a:r>
              <a:rPr lang="en-US" altLang="zh-CN" sz="1600" dirty="0" smtClean="0">
                <a:ea typeface="华文楷体" panose="02010600040101010101" pitchFamily="2" charset="-122"/>
              </a:rPr>
              <a:t>   </a:t>
            </a:r>
            <a:r>
              <a:rPr lang="en-US" altLang="zh-CN" sz="1600" dirty="0" err="1" smtClean="0">
                <a:ea typeface="华文楷体" panose="02010600040101010101" pitchFamily="2" charset="-122"/>
              </a:rPr>
              <a:t>int</a:t>
            </a:r>
            <a:r>
              <a:rPr lang="en-US" altLang="zh-CN" sz="1600" dirty="0" smtClean="0">
                <a:ea typeface="华文楷体" panose="02010600040101010101" pitchFamily="2" charset="-122"/>
              </a:rPr>
              <a:t> child = 2*root; //</a:t>
            </a:r>
            <a:r>
              <a:rPr lang="zh-CN" altLang="en-US" sz="1600" dirty="0" smtClean="0">
                <a:ea typeface="华文楷体" panose="02010600040101010101" pitchFamily="2" charset="-122"/>
              </a:rPr>
              <a:t>左子</a:t>
            </a:r>
            <a:endParaRPr lang="en-US" altLang="zh-CN" sz="16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1600" dirty="0">
                <a:ea typeface="华文楷体" panose="02010600040101010101" pitchFamily="2" charset="-122"/>
              </a:rPr>
              <a:t> </a:t>
            </a:r>
            <a:r>
              <a:rPr lang="en-US" altLang="zh-CN" sz="1600" dirty="0" smtClean="0">
                <a:ea typeface="华文楷体" panose="02010600040101010101" pitchFamily="2" charset="-122"/>
              </a:rPr>
              <a:t>   </a:t>
            </a:r>
            <a:r>
              <a:rPr lang="en-US" altLang="zh-CN" sz="1600" dirty="0" err="1" smtClean="0">
                <a:ea typeface="华文楷体" panose="02010600040101010101" pitchFamily="2" charset="-122"/>
              </a:rPr>
              <a:t>KeyType</a:t>
            </a:r>
            <a:r>
              <a:rPr lang="en-US" altLang="zh-CN" sz="1600" dirty="0" smtClean="0">
                <a:ea typeface="华文楷体" panose="02010600040101010101" pitchFamily="2" charset="-122"/>
              </a:rPr>
              <a:t> </a:t>
            </a:r>
            <a:r>
              <a:rPr lang="en-US" altLang="zh-CN" sz="1600" dirty="0" err="1" smtClean="0">
                <a:ea typeface="华文楷体" panose="02010600040101010101" pitchFamily="2" charset="-122"/>
              </a:rPr>
              <a:t>rootkey</a:t>
            </a:r>
            <a:r>
              <a:rPr lang="en-US" altLang="zh-CN" sz="1600" dirty="0" smtClean="0">
                <a:ea typeface="华文楷体" panose="02010600040101010101" pitchFamily="2" charset="-122"/>
              </a:rPr>
              <a:t> = a[root].key; //</a:t>
            </a:r>
            <a:r>
              <a:rPr lang="zh-CN" altLang="en-US" sz="1600" dirty="0" smtClean="0">
                <a:ea typeface="华文楷体" panose="02010600040101010101" pitchFamily="2" charset="-122"/>
              </a:rPr>
              <a:t>缓存堆顶元素关键字</a:t>
            </a:r>
            <a:endParaRPr lang="en-US" altLang="zh-CN" sz="16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zh-CN" sz="1600" dirty="0">
                <a:ea typeface="华文楷体" panose="02010600040101010101" pitchFamily="2" charset="-122"/>
              </a:rPr>
              <a:t> </a:t>
            </a:r>
            <a:r>
              <a:rPr lang="en-US" altLang="zh-CN" sz="1600" dirty="0" smtClean="0">
                <a:ea typeface="华文楷体" panose="02010600040101010101" pitchFamily="2" charset="-122"/>
              </a:rPr>
              <a:t>   </a:t>
            </a:r>
            <a:r>
              <a:rPr lang="en-US" altLang="zh-CN" sz="1600" dirty="0" err="1" smtClean="0">
                <a:ea typeface="华文楷体" panose="02010600040101010101" pitchFamily="2" charset="-122"/>
              </a:rPr>
              <a:t>ElemType</a:t>
            </a:r>
            <a:r>
              <a:rPr lang="en-US" altLang="zh-CN" sz="1600" dirty="0" smtClean="0">
                <a:ea typeface="华文楷体" panose="02010600040101010101" pitchFamily="2" charset="-122"/>
              </a:rPr>
              <a:t> </a:t>
            </a:r>
            <a:r>
              <a:rPr lang="en-US" altLang="zh-CN" sz="1600" dirty="0" err="1" smtClean="0">
                <a:ea typeface="华文楷体" panose="02010600040101010101" pitchFamily="2" charset="-122"/>
              </a:rPr>
              <a:t>tmp</a:t>
            </a:r>
            <a:r>
              <a:rPr lang="en-US" altLang="zh-CN" sz="1600" dirty="0" smtClean="0">
                <a:ea typeface="华文楷体" panose="02010600040101010101" pitchFamily="2" charset="-122"/>
              </a:rPr>
              <a:t> = </a:t>
            </a:r>
            <a:r>
              <a:rPr lang="en-US" altLang="zh-CN" sz="1600" dirty="0">
                <a:ea typeface="华文楷体" panose="02010600040101010101" pitchFamily="2" charset="-122"/>
              </a:rPr>
              <a:t>a[root]; //</a:t>
            </a:r>
            <a:r>
              <a:rPr lang="zh-CN" altLang="en-US" sz="1600" dirty="0">
                <a:ea typeface="华文楷体" panose="02010600040101010101" pitchFamily="2" charset="-122"/>
              </a:rPr>
              <a:t>缓存堆顶元素</a:t>
            </a:r>
            <a:endParaRPr lang="en-US" altLang="zh-CN" sz="16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1600" dirty="0">
                <a:ea typeface="华文楷体" panose="02010600040101010101" pitchFamily="2" charset="-122"/>
              </a:rPr>
              <a:t> </a:t>
            </a:r>
            <a:r>
              <a:rPr lang="en-US" altLang="zh-CN" sz="1600" dirty="0" smtClean="0">
                <a:ea typeface="华文楷体" panose="02010600040101010101" pitchFamily="2" charset="-122"/>
              </a:rPr>
              <a:t>   while (child &lt;= end)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1600" dirty="0" smtClean="0">
                <a:ea typeface="华文楷体" panose="02010600040101010101" pitchFamily="2" charset="-122"/>
              </a:rPr>
              <a:t>    {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zh-CN" sz="1600" dirty="0">
                <a:ea typeface="华文楷体" panose="02010600040101010101" pitchFamily="2" charset="-122"/>
              </a:rPr>
              <a:t> </a:t>
            </a:r>
            <a:r>
              <a:rPr lang="en-US" altLang="zh-CN" sz="1600" dirty="0" smtClean="0">
                <a:ea typeface="华文楷体" panose="02010600040101010101" pitchFamily="2" charset="-122"/>
              </a:rPr>
              <a:t>       if (child &lt; end &amp;&amp; a[child].key &lt; a[child+1].key)  child++; //</a:t>
            </a:r>
            <a:r>
              <a:rPr lang="zh-CN" altLang="en-US" sz="1600" dirty="0" smtClean="0">
                <a:ea typeface="华文楷体" panose="02010600040101010101" pitchFamily="2" charset="-122"/>
              </a:rPr>
              <a:t>找左右子中大者</a:t>
            </a:r>
            <a:endParaRPr lang="en-US" altLang="zh-CN" sz="16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zh-CN" sz="1600" dirty="0" smtClean="0">
                <a:ea typeface="华文楷体" panose="02010600040101010101" pitchFamily="2" charset="-122"/>
              </a:rPr>
              <a:t>        if (</a:t>
            </a:r>
            <a:r>
              <a:rPr lang="en-US" altLang="zh-CN" sz="1600" dirty="0" err="1" smtClean="0">
                <a:ea typeface="华文楷体" panose="02010600040101010101" pitchFamily="2" charset="-122"/>
              </a:rPr>
              <a:t>rootkey</a:t>
            </a:r>
            <a:r>
              <a:rPr lang="en-US" altLang="zh-CN" sz="1600" dirty="0" smtClean="0">
                <a:ea typeface="华文楷体" panose="02010600040101010101" pitchFamily="2" charset="-122"/>
              </a:rPr>
              <a:t> &gt; a[child].key) //</a:t>
            </a:r>
            <a:r>
              <a:rPr lang="zh-CN" altLang="en-US" sz="1600" dirty="0" smtClean="0">
                <a:ea typeface="华文楷体" panose="02010600040101010101" pitchFamily="2" charset="-122"/>
              </a:rPr>
              <a:t>堆顶元素比最大的子元素大</a:t>
            </a:r>
            <a:endParaRPr lang="en-US" altLang="zh-CN" sz="16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1600" dirty="0" smtClean="0">
                <a:ea typeface="华文楷体" panose="02010600040101010101" pitchFamily="2" charset="-122"/>
              </a:rPr>
              <a:t>            break;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1600" dirty="0">
                <a:ea typeface="华文楷体" panose="02010600040101010101" pitchFamily="2" charset="-122"/>
              </a:rPr>
              <a:t>        else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1600" dirty="0">
                <a:ea typeface="华文楷体" panose="02010600040101010101" pitchFamily="2" charset="-122"/>
              </a:rPr>
              <a:t> </a:t>
            </a:r>
            <a:r>
              <a:rPr lang="en-US" altLang="zh-CN" sz="1600" dirty="0" smtClean="0">
                <a:ea typeface="华文楷体" panose="02010600040101010101" pitchFamily="2" charset="-122"/>
              </a:rPr>
              <a:t>       {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1600" dirty="0">
                <a:ea typeface="华文楷体" panose="02010600040101010101" pitchFamily="2" charset="-122"/>
              </a:rPr>
              <a:t> </a:t>
            </a:r>
            <a:r>
              <a:rPr lang="en-US" altLang="zh-CN" sz="1600" dirty="0" smtClean="0">
                <a:ea typeface="华文楷体" panose="02010600040101010101" pitchFamily="2" charset="-122"/>
              </a:rPr>
              <a:t>           a[child/2] = a[child] //</a:t>
            </a:r>
            <a:r>
              <a:rPr lang="zh-CN" altLang="en-US" sz="1600" dirty="0" smtClean="0">
                <a:ea typeface="华文楷体" panose="02010600040101010101" pitchFamily="2" charset="-122"/>
              </a:rPr>
              <a:t>最大子上移覆盖双亲</a:t>
            </a:r>
            <a:endParaRPr lang="en-US" altLang="zh-CN" sz="16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1600" dirty="0">
                <a:ea typeface="华文楷体" panose="02010600040101010101" pitchFamily="2" charset="-122"/>
              </a:rPr>
              <a:t> </a:t>
            </a:r>
            <a:r>
              <a:rPr lang="en-US" altLang="zh-CN" sz="1600" dirty="0" smtClean="0">
                <a:ea typeface="华文楷体" panose="02010600040101010101" pitchFamily="2" charset="-122"/>
              </a:rPr>
              <a:t>       </a:t>
            </a:r>
            <a:r>
              <a:rPr lang="en-US" altLang="zh-CN" sz="1600" dirty="0" smtClean="0">
                <a:ea typeface="华文楷体" panose="02010600040101010101" pitchFamily="2" charset="-122"/>
              </a:rPr>
              <a:t> }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1600" b="1" dirty="0">
                <a:solidFill>
                  <a:srgbClr val="FF0000"/>
                </a:solidFill>
                <a:ea typeface="华文楷体" panose="02010600040101010101" pitchFamily="2" charset="-122"/>
              </a:rPr>
              <a:t> </a:t>
            </a:r>
            <a:r>
              <a:rPr lang="en-US" altLang="zh-CN" sz="1600" b="1" dirty="0" smtClean="0">
                <a:solidFill>
                  <a:srgbClr val="FF0000"/>
                </a:solidFill>
                <a:ea typeface="华文楷体" panose="02010600040101010101" pitchFamily="2" charset="-122"/>
              </a:rPr>
              <a:t>        child =child *2</a:t>
            </a:r>
            <a:r>
              <a:rPr lang="en-US" altLang="zh-CN" sz="1600" b="1" dirty="0">
                <a:solidFill>
                  <a:srgbClr val="FF0000"/>
                </a:solidFill>
                <a:ea typeface="华文楷体" panose="02010600040101010101" pitchFamily="2" charset="-122"/>
              </a:rPr>
              <a:t>;</a:t>
            </a:r>
            <a:endParaRPr lang="en-US" altLang="zh-CN" sz="1600" b="1" dirty="0" smtClean="0">
              <a:solidFill>
                <a:srgbClr val="FF0000"/>
              </a:solidFill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1600" dirty="0">
                <a:ea typeface="华文楷体" panose="02010600040101010101" pitchFamily="2" charset="-122"/>
              </a:rPr>
              <a:t> </a:t>
            </a:r>
            <a:r>
              <a:rPr lang="en-US" altLang="zh-CN" sz="1600" dirty="0" smtClean="0">
                <a:ea typeface="华文楷体" panose="02010600040101010101" pitchFamily="2" charset="-122"/>
              </a:rPr>
              <a:t>   }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1600" dirty="0">
                <a:ea typeface="华文楷体" panose="02010600040101010101" pitchFamily="2" charset="-122"/>
              </a:rPr>
              <a:t> </a:t>
            </a:r>
            <a:r>
              <a:rPr lang="en-US" altLang="zh-CN" sz="1600" dirty="0" smtClean="0">
                <a:ea typeface="华文楷体" panose="02010600040101010101" pitchFamily="2" charset="-122"/>
              </a:rPr>
              <a:t>   a[child/2] = </a:t>
            </a:r>
            <a:r>
              <a:rPr lang="en-US" altLang="zh-CN" sz="1600" dirty="0" err="1" smtClean="0">
                <a:ea typeface="华文楷体" panose="02010600040101010101" pitchFamily="2" charset="-122"/>
              </a:rPr>
              <a:t>tmp</a:t>
            </a:r>
            <a:r>
              <a:rPr lang="en-US" altLang="zh-CN" sz="1600" dirty="0" smtClean="0">
                <a:ea typeface="华文楷体" panose="02010600040101010101" pitchFamily="2" charset="-122"/>
              </a:rPr>
              <a:t>; //</a:t>
            </a:r>
            <a:r>
              <a:rPr lang="zh-CN" altLang="en-US" sz="1600" dirty="0" smtClean="0">
                <a:ea typeface="华文楷体" panose="02010600040101010101" pitchFamily="2" charset="-122"/>
              </a:rPr>
              <a:t>原堆顶元素放在最终位置</a:t>
            </a:r>
            <a:endParaRPr lang="en-US" altLang="zh-CN" sz="16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1600" dirty="0">
                <a:ea typeface="华文楷体" panose="02010600040101010101" pitchFamily="2" charset="-122"/>
              </a:rPr>
              <a:t>}</a:t>
            </a:r>
            <a:endParaRPr lang="en-US" altLang="zh-CN" sz="1600" dirty="0" smtClean="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00088" y="1208088"/>
            <a:ext cx="7086600" cy="4410075"/>
          </a:xfrm>
          <a:ln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altLang="zh-CN" sz="2000" b="1" dirty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0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堆排序算法</a:t>
            </a:r>
            <a:r>
              <a:rPr lang="en-US" altLang="zh-CN" sz="20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</a:p>
          <a:p>
            <a:pPr marL="0" indent="0"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void 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HeapSort</a:t>
            </a:r>
            <a:r>
              <a:rPr lang="en-US" altLang="zh-CN" sz="2000" dirty="0" smtClean="0">
                <a:ea typeface="华文楷体" panose="02010600040101010101" pitchFamily="2" charset="-122"/>
              </a:rPr>
              <a:t>(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ElemType</a:t>
            </a:r>
            <a:r>
              <a:rPr lang="en-US" altLang="zh-CN" sz="2000" dirty="0" smtClean="0">
                <a:ea typeface="华文楷体" panose="02010600040101010101" pitchFamily="2" charset="-122"/>
              </a:rPr>
              <a:t> a[], 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int</a:t>
            </a:r>
            <a:r>
              <a:rPr lang="en-US" altLang="zh-CN" sz="2000" dirty="0" smtClean="0">
                <a:ea typeface="华文楷体" panose="02010600040101010101" pitchFamily="2" charset="-122"/>
              </a:rPr>
              <a:t> n)</a:t>
            </a:r>
            <a:endParaRPr lang="en-US" altLang="zh-CN" sz="2000" dirty="0"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/>
              <a:t>{</a:t>
            </a:r>
          </a:p>
          <a:p>
            <a:pPr marL="0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</a:t>
            </a:r>
            <a:r>
              <a:rPr lang="en-US" altLang="zh-CN" sz="2000" dirty="0" err="1" smtClean="0"/>
              <a:t>i</a:t>
            </a:r>
            <a:r>
              <a:rPr lang="en-US" altLang="zh-CN" sz="2000" dirty="0" smtClean="0"/>
              <a:t>, j;</a:t>
            </a:r>
          </a:p>
          <a:p>
            <a:pPr marL="0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for (</a:t>
            </a:r>
            <a:r>
              <a:rPr lang="en-US" altLang="zh-CN" sz="2000" dirty="0" err="1" smtClean="0"/>
              <a:t>i</a:t>
            </a:r>
            <a:r>
              <a:rPr lang="en-US" altLang="zh-CN" sz="2000" dirty="0" smtClean="0"/>
              <a:t> = n/2; </a:t>
            </a:r>
            <a:r>
              <a:rPr lang="en-US" altLang="zh-CN" sz="2000" dirty="0" err="1" smtClean="0"/>
              <a:t>i</a:t>
            </a:r>
            <a:r>
              <a:rPr lang="en-US" altLang="zh-CN" sz="2000" dirty="0" smtClean="0"/>
              <a:t> &gt;0; </a:t>
            </a:r>
            <a:r>
              <a:rPr lang="en-US" altLang="zh-CN" sz="2000" dirty="0" err="1" smtClean="0"/>
              <a:t>i</a:t>
            </a:r>
            <a:r>
              <a:rPr lang="en-US" altLang="zh-CN" sz="2000" dirty="0" smtClean="0"/>
              <a:t>--)</a:t>
            </a:r>
          </a:p>
          <a:p>
            <a:pPr marL="0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   adjust(a, </a:t>
            </a:r>
            <a:r>
              <a:rPr lang="en-US" altLang="zh-CN" sz="2000" dirty="0" err="1" smtClean="0"/>
              <a:t>i</a:t>
            </a:r>
            <a:r>
              <a:rPr lang="en-US" altLang="zh-CN" sz="2000" dirty="0" smtClean="0"/>
              <a:t>, n);</a:t>
            </a:r>
          </a:p>
          <a:p>
            <a:pPr marL="0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for (</a:t>
            </a:r>
            <a:r>
              <a:rPr lang="en-US" altLang="zh-CN" sz="2000" dirty="0" err="1" smtClean="0"/>
              <a:t>i</a:t>
            </a:r>
            <a:r>
              <a:rPr lang="en-US" altLang="zh-CN" sz="2000" dirty="0" smtClean="0"/>
              <a:t> = n-1; </a:t>
            </a:r>
            <a:r>
              <a:rPr lang="en-US" altLang="zh-CN" sz="2000" dirty="0" err="1" smtClean="0"/>
              <a:t>i</a:t>
            </a:r>
            <a:r>
              <a:rPr lang="en-US" altLang="zh-CN" sz="2000" dirty="0" smtClean="0"/>
              <a:t> &gt; 0; </a:t>
            </a:r>
            <a:r>
              <a:rPr lang="en-US" altLang="zh-CN" sz="2000" dirty="0" err="1" smtClean="0"/>
              <a:t>i</a:t>
            </a:r>
            <a:r>
              <a:rPr lang="en-US" altLang="zh-CN" sz="2000" dirty="0" smtClean="0"/>
              <a:t>--)</a:t>
            </a:r>
          </a:p>
          <a:p>
            <a:pPr marL="0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{</a:t>
            </a:r>
          </a:p>
          <a:p>
            <a:pPr marL="0" indent="0">
              <a:buNone/>
            </a:pPr>
            <a:r>
              <a:rPr lang="en-US" altLang="zh-CN" sz="2000" dirty="0">
                <a:ea typeface="华文楷体" panose="02010600040101010101" pitchFamily="2" charset="-122"/>
              </a:rPr>
              <a:t> </a:t>
            </a:r>
            <a:r>
              <a:rPr lang="en-US" altLang="zh-CN" sz="2000" dirty="0" smtClean="0">
                <a:ea typeface="华文楷体" panose="02010600040101010101" pitchFamily="2" charset="-122"/>
              </a:rPr>
              <a:t>       swap(&amp;a[1], &amp;a[i+1]); //</a:t>
            </a:r>
            <a:r>
              <a:rPr lang="zh-CN" altLang="en-US" sz="2000" dirty="0" smtClean="0">
                <a:ea typeface="华文楷体" panose="02010600040101010101" pitchFamily="2" charset="-122"/>
              </a:rPr>
              <a:t>堆顶元素和最后一个交换位置</a:t>
            </a:r>
            <a:endParaRPr lang="en-US" altLang="zh-CN" sz="2000" dirty="0" smtClean="0"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ea typeface="华文楷体" panose="02010600040101010101" pitchFamily="2" charset="-122"/>
              </a:rPr>
              <a:t> </a:t>
            </a:r>
            <a:r>
              <a:rPr lang="en-US" altLang="zh-CN" sz="2000" dirty="0" smtClean="0">
                <a:ea typeface="华文楷体" panose="02010600040101010101" pitchFamily="2" charset="-122"/>
              </a:rPr>
              <a:t>       adjust(a,1,i);</a:t>
            </a:r>
          </a:p>
          <a:p>
            <a:pPr marL="0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}</a:t>
            </a:r>
          </a:p>
          <a:p>
            <a:pPr marL="0" indent="0">
              <a:buNone/>
            </a:pPr>
            <a:r>
              <a:rPr lang="en-US" altLang="zh-CN" sz="2000" dirty="0"/>
              <a:t>}</a:t>
            </a:r>
            <a:endParaRPr lang="zh-CN" altLang="en-US" sz="200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 SCST</a:t>
            </a:r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5865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2888" y="1103312"/>
            <a:ext cx="8229600" cy="5248275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0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算法实例</a:t>
            </a:r>
            <a:r>
              <a:rPr lang="en-US" altLang="zh-CN" sz="20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]</a:t>
            </a:r>
            <a:endParaRPr lang="zh-CN" altLang="en-US" sz="2000" dirty="0">
              <a:solidFill>
                <a:srgbClr val="C00000"/>
              </a:solidFill>
              <a:ea typeface="华文楷体" panose="0201060004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smtClean="0"/>
              <a:t>BUPT SCST</a:t>
            </a:r>
            <a:endParaRPr lang="en-US" altLang="zh-CN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</a:t>
            </a:r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04" y="1482781"/>
            <a:ext cx="1901907" cy="160366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6928" y="1501542"/>
            <a:ext cx="1902848" cy="160445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900" y="1501542"/>
            <a:ext cx="2028901" cy="171074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9843" y="1501543"/>
            <a:ext cx="2028901" cy="171074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88" y="3276601"/>
            <a:ext cx="1977026" cy="1667004"/>
          </a:xfrm>
          <a:prstGeom prst="rect">
            <a:avLst/>
          </a:prstGeom>
        </p:spPr>
      </p:pic>
      <p:grpSp>
        <p:nvGrpSpPr>
          <p:cNvPr id="13" name="Group 4"/>
          <p:cNvGrpSpPr>
            <a:grpSpLocks noChangeAspect="1"/>
          </p:cNvGrpSpPr>
          <p:nvPr/>
        </p:nvGrpSpPr>
        <p:grpSpPr bwMode="auto">
          <a:xfrm>
            <a:off x="2150341" y="3264675"/>
            <a:ext cx="1964459" cy="1657054"/>
            <a:chOff x="1490" y="2064"/>
            <a:chExt cx="1342" cy="1132"/>
          </a:xfrm>
        </p:grpSpPr>
        <p:sp>
          <p:nvSpPr>
            <p:cNvPr id="14" name="AutoShape 3"/>
            <p:cNvSpPr>
              <a:spLocks noChangeAspect="1" noChangeArrowheads="1" noTextEdit="1"/>
            </p:cNvSpPr>
            <p:nvPr/>
          </p:nvSpPr>
          <p:spPr bwMode="auto">
            <a:xfrm>
              <a:off x="1490" y="2064"/>
              <a:ext cx="1342" cy="1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Oval 5"/>
            <p:cNvSpPr>
              <a:spLocks noChangeArrowheads="1"/>
            </p:cNvSpPr>
            <p:nvPr/>
          </p:nvSpPr>
          <p:spPr bwMode="auto">
            <a:xfrm>
              <a:off x="2109" y="2067"/>
              <a:ext cx="157" cy="157"/>
            </a:xfrm>
            <a:prstGeom prst="ellipse">
              <a:avLst/>
            </a:pr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Oval 6"/>
            <p:cNvSpPr>
              <a:spLocks noChangeArrowheads="1"/>
            </p:cNvSpPr>
            <p:nvPr/>
          </p:nvSpPr>
          <p:spPr bwMode="auto">
            <a:xfrm>
              <a:off x="2109" y="2067"/>
              <a:ext cx="157" cy="157"/>
            </a:xfrm>
            <a:prstGeom prst="ellipse">
              <a:avLst/>
            </a:pr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Rectangle 7"/>
            <p:cNvSpPr>
              <a:spLocks noChangeArrowheads="1"/>
            </p:cNvSpPr>
            <p:nvPr/>
          </p:nvSpPr>
          <p:spPr bwMode="auto">
            <a:xfrm>
              <a:off x="2163" y="2118"/>
              <a:ext cx="74" cy="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26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" name="Rectangle 8"/>
            <p:cNvSpPr>
              <a:spLocks noChangeArrowheads="1"/>
            </p:cNvSpPr>
            <p:nvPr/>
          </p:nvSpPr>
          <p:spPr bwMode="auto">
            <a:xfrm>
              <a:off x="2044" y="2137"/>
              <a:ext cx="34" cy="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[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9" name="Rectangle 9"/>
            <p:cNvSpPr>
              <a:spLocks noChangeArrowheads="1"/>
            </p:cNvSpPr>
            <p:nvPr/>
          </p:nvSpPr>
          <p:spPr bwMode="auto">
            <a:xfrm>
              <a:off x="2056" y="2137"/>
              <a:ext cx="49" cy="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1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" name="Rectangle 10"/>
            <p:cNvSpPr>
              <a:spLocks noChangeArrowheads="1"/>
            </p:cNvSpPr>
            <p:nvPr/>
          </p:nvSpPr>
          <p:spPr bwMode="auto">
            <a:xfrm>
              <a:off x="2082" y="2137"/>
              <a:ext cx="35" cy="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]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" name="Oval 11"/>
            <p:cNvSpPr>
              <a:spLocks noChangeArrowheads="1"/>
            </p:cNvSpPr>
            <p:nvPr/>
          </p:nvSpPr>
          <p:spPr bwMode="auto">
            <a:xfrm>
              <a:off x="1869" y="2316"/>
              <a:ext cx="157" cy="157"/>
            </a:xfrm>
            <a:prstGeom prst="ellipse">
              <a:avLst/>
            </a:pr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Oval 12"/>
            <p:cNvSpPr>
              <a:spLocks noChangeArrowheads="1"/>
            </p:cNvSpPr>
            <p:nvPr/>
          </p:nvSpPr>
          <p:spPr bwMode="auto">
            <a:xfrm>
              <a:off x="1869" y="2316"/>
              <a:ext cx="157" cy="157"/>
            </a:xfrm>
            <a:prstGeom prst="ellipse">
              <a:avLst/>
            </a:pr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Rectangle 13"/>
            <p:cNvSpPr>
              <a:spLocks noChangeArrowheads="1"/>
            </p:cNvSpPr>
            <p:nvPr/>
          </p:nvSpPr>
          <p:spPr bwMode="auto">
            <a:xfrm>
              <a:off x="1923" y="2366"/>
              <a:ext cx="74" cy="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19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" name="Rectangle 14"/>
            <p:cNvSpPr>
              <a:spLocks noChangeArrowheads="1"/>
            </p:cNvSpPr>
            <p:nvPr/>
          </p:nvSpPr>
          <p:spPr bwMode="auto">
            <a:xfrm>
              <a:off x="1804" y="2384"/>
              <a:ext cx="34" cy="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[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5" name="Rectangle 15"/>
            <p:cNvSpPr>
              <a:spLocks noChangeArrowheads="1"/>
            </p:cNvSpPr>
            <p:nvPr/>
          </p:nvSpPr>
          <p:spPr bwMode="auto">
            <a:xfrm>
              <a:off x="1817" y="2384"/>
              <a:ext cx="48" cy="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2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6" name="Rectangle 16"/>
            <p:cNvSpPr>
              <a:spLocks noChangeArrowheads="1"/>
            </p:cNvSpPr>
            <p:nvPr/>
          </p:nvSpPr>
          <p:spPr bwMode="auto">
            <a:xfrm>
              <a:off x="1842" y="2384"/>
              <a:ext cx="35" cy="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]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7" name="Oval 17"/>
            <p:cNvSpPr>
              <a:spLocks noChangeArrowheads="1"/>
            </p:cNvSpPr>
            <p:nvPr/>
          </p:nvSpPr>
          <p:spPr bwMode="auto">
            <a:xfrm>
              <a:off x="2476" y="2297"/>
              <a:ext cx="156" cy="157"/>
            </a:xfrm>
            <a:prstGeom prst="ellipse">
              <a:avLst/>
            </a:pr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Oval 18"/>
            <p:cNvSpPr>
              <a:spLocks noChangeArrowheads="1"/>
            </p:cNvSpPr>
            <p:nvPr/>
          </p:nvSpPr>
          <p:spPr bwMode="auto">
            <a:xfrm>
              <a:off x="2476" y="2297"/>
              <a:ext cx="156" cy="157"/>
            </a:xfrm>
            <a:prstGeom prst="ellipse">
              <a:avLst/>
            </a:pr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Rectangle 19"/>
            <p:cNvSpPr>
              <a:spLocks noChangeArrowheads="1"/>
            </p:cNvSpPr>
            <p:nvPr/>
          </p:nvSpPr>
          <p:spPr bwMode="auto">
            <a:xfrm>
              <a:off x="2529" y="2347"/>
              <a:ext cx="75" cy="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11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0" name="Rectangle 20"/>
            <p:cNvSpPr>
              <a:spLocks noChangeArrowheads="1"/>
            </p:cNvSpPr>
            <p:nvPr/>
          </p:nvSpPr>
          <p:spPr bwMode="auto">
            <a:xfrm>
              <a:off x="2410" y="2367"/>
              <a:ext cx="35" cy="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[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1" name="Rectangle 21"/>
            <p:cNvSpPr>
              <a:spLocks noChangeArrowheads="1"/>
            </p:cNvSpPr>
            <p:nvPr/>
          </p:nvSpPr>
          <p:spPr bwMode="auto">
            <a:xfrm>
              <a:off x="2423" y="2367"/>
              <a:ext cx="48" cy="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3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2" name="Rectangle 22"/>
            <p:cNvSpPr>
              <a:spLocks noChangeArrowheads="1"/>
            </p:cNvSpPr>
            <p:nvPr/>
          </p:nvSpPr>
          <p:spPr bwMode="auto">
            <a:xfrm>
              <a:off x="2449" y="2367"/>
              <a:ext cx="34" cy="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]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3" name="Line 23"/>
            <p:cNvSpPr>
              <a:spLocks noChangeShapeType="1"/>
            </p:cNvSpPr>
            <p:nvPr/>
          </p:nvSpPr>
          <p:spPr bwMode="auto">
            <a:xfrm flipH="1">
              <a:off x="1988" y="2186"/>
              <a:ext cx="132" cy="141"/>
            </a:xfrm>
            <a:prstGeom prst="line">
              <a:avLst/>
            </a:pr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Line 24"/>
            <p:cNvSpPr>
              <a:spLocks noChangeShapeType="1"/>
            </p:cNvSpPr>
            <p:nvPr/>
          </p:nvSpPr>
          <p:spPr bwMode="auto">
            <a:xfrm>
              <a:off x="2258" y="2180"/>
              <a:ext cx="255" cy="129"/>
            </a:xfrm>
            <a:prstGeom prst="line">
              <a:avLst/>
            </a:pr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Oval 25"/>
            <p:cNvSpPr>
              <a:spLocks noChangeArrowheads="1"/>
            </p:cNvSpPr>
            <p:nvPr/>
          </p:nvSpPr>
          <p:spPr bwMode="auto">
            <a:xfrm>
              <a:off x="1729" y="2610"/>
              <a:ext cx="157" cy="156"/>
            </a:xfrm>
            <a:prstGeom prst="ellipse">
              <a:avLst/>
            </a:pr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Oval 26"/>
            <p:cNvSpPr>
              <a:spLocks noChangeArrowheads="1"/>
            </p:cNvSpPr>
            <p:nvPr/>
          </p:nvSpPr>
          <p:spPr bwMode="auto">
            <a:xfrm>
              <a:off x="1729" y="2610"/>
              <a:ext cx="157" cy="156"/>
            </a:xfrm>
            <a:prstGeom prst="ellipse">
              <a:avLst/>
            </a:pr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Rectangle 27"/>
            <p:cNvSpPr>
              <a:spLocks noChangeArrowheads="1"/>
            </p:cNvSpPr>
            <p:nvPr/>
          </p:nvSpPr>
          <p:spPr bwMode="auto">
            <a:xfrm>
              <a:off x="1783" y="2660"/>
              <a:ext cx="74" cy="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15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8" name="Rectangle 28"/>
            <p:cNvSpPr>
              <a:spLocks noChangeArrowheads="1"/>
            </p:cNvSpPr>
            <p:nvPr/>
          </p:nvSpPr>
          <p:spPr bwMode="auto">
            <a:xfrm>
              <a:off x="1663" y="2678"/>
              <a:ext cx="35" cy="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[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9" name="Rectangle 29"/>
            <p:cNvSpPr>
              <a:spLocks noChangeArrowheads="1"/>
            </p:cNvSpPr>
            <p:nvPr/>
          </p:nvSpPr>
          <p:spPr bwMode="auto">
            <a:xfrm>
              <a:off x="1676" y="2678"/>
              <a:ext cx="49" cy="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4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0" name="Rectangle 30"/>
            <p:cNvSpPr>
              <a:spLocks noChangeArrowheads="1"/>
            </p:cNvSpPr>
            <p:nvPr/>
          </p:nvSpPr>
          <p:spPr bwMode="auto">
            <a:xfrm>
              <a:off x="1702" y="2678"/>
              <a:ext cx="34" cy="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]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1" name="Oval 31"/>
            <p:cNvSpPr>
              <a:spLocks noChangeArrowheads="1"/>
            </p:cNvSpPr>
            <p:nvPr/>
          </p:nvSpPr>
          <p:spPr bwMode="auto">
            <a:xfrm>
              <a:off x="2072" y="2610"/>
              <a:ext cx="156" cy="156"/>
            </a:xfrm>
            <a:prstGeom prst="ellipse">
              <a:avLst/>
            </a:pr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Oval 32"/>
            <p:cNvSpPr>
              <a:spLocks noChangeArrowheads="1"/>
            </p:cNvSpPr>
            <p:nvPr/>
          </p:nvSpPr>
          <p:spPr bwMode="auto">
            <a:xfrm>
              <a:off x="2072" y="2610"/>
              <a:ext cx="156" cy="156"/>
            </a:xfrm>
            <a:prstGeom prst="ellipse">
              <a:avLst/>
            </a:pr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Rectangle 33"/>
            <p:cNvSpPr>
              <a:spLocks noChangeArrowheads="1"/>
            </p:cNvSpPr>
            <p:nvPr/>
          </p:nvSpPr>
          <p:spPr bwMode="auto">
            <a:xfrm>
              <a:off x="2138" y="2660"/>
              <a:ext cx="48" cy="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5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4" name="Rectangle 34"/>
            <p:cNvSpPr>
              <a:spLocks noChangeArrowheads="1"/>
            </p:cNvSpPr>
            <p:nvPr/>
          </p:nvSpPr>
          <p:spPr bwMode="auto">
            <a:xfrm>
              <a:off x="2006" y="2678"/>
              <a:ext cx="35" cy="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[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" name="Rectangle 35"/>
            <p:cNvSpPr>
              <a:spLocks noChangeArrowheads="1"/>
            </p:cNvSpPr>
            <p:nvPr/>
          </p:nvSpPr>
          <p:spPr bwMode="auto">
            <a:xfrm>
              <a:off x="2019" y="2678"/>
              <a:ext cx="48" cy="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6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5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" name="Rectangle 36"/>
            <p:cNvSpPr>
              <a:spLocks noChangeArrowheads="1"/>
            </p:cNvSpPr>
            <p:nvPr/>
          </p:nvSpPr>
          <p:spPr bwMode="auto">
            <a:xfrm>
              <a:off x="2045" y="2678"/>
              <a:ext cx="34" cy="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]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7" name="Line 37"/>
            <p:cNvSpPr>
              <a:spLocks noChangeShapeType="1"/>
            </p:cNvSpPr>
            <p:nvPr/>
          </p:nvSpPr>
          <p:spPr bwMode="auto">
            <a:xfrm flipH="1">
              <a:off x="1814" y="2469"/>
              <a:ext cx="112" cy="141"/>
            </a:xfrm>
            <a:prstGeom prst="line">
              <a:avLst/>
            </a:pr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Line 38"/>
            <p:cNvSpPr>
              <a:spLocks noChangeShapeType="1"/>
            </p:cNvSpPr>
            <p:nvPr/>
          </p:nvSpPr>
          <p:spPr bwMode="auto">
            <a:xfrm>
              <a:off x="1975" y="2467"/>
              <a:ext cx="146" cy="146"/>
            </a:xfrm>
            <a:prstGeom prst="line">
              <a:avLst/>
            </a:pr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Oval 39"/>
            <p:cNvSpPr>
              <a:spLocks noChangeArrowheads="1"/>
            </p:cNvSpPr>
            <p:nvPr/>
          </p:nvSpPr>
          <p:spPr bwMode="auto">
            <a:xfrm>
              <a:off x="2337" y="2597"/>
              <a:ext cx="157" cy="156"/>
            </a:xfrm>
            <a:prstGeom prst="ellipse">
              <a:avLst/>
            </a:pr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Oval 40"/>
            <p:cNvSpPr>
              <a:spLocks noChangeArrowheads="1"/>
            </p:cNvSpPr>
            <p:nvPr/>
          </p:nvSpPr>
          <p:spPr bwMode="auto">
            <a:xfrm>
              <a:off x="2337" y="2597"/>
              <a:ext cx="157" cy="156"/>
            </a:xfrm>
            <a:prstGeom prst="ellipse">
              <a:avLst/>
            </a:pr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Rectangle 41"/>
            <p:cNvSpPr>
              <a:spLocks noChangeArrowheads="1"/>
            </p:cNvSpPr>
            <p:nvPr/>
          </p:nvSpPr>
          <p:spPr bwMode="auto">
            <a:xfrm>
              <a:off x="2403" y="2647"/>
              <a:ext cx="49" cy="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1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2" name="Rectangle 42"/>
            <p:cNvSpPr>
              <a:spLocks noChangeArrowheads="1"/>
            </p:cNvSpPr>
            <p:nvPr/>
          </p:nvSpPr>
          <p:spPr bwMode="auto">
            <a:xfrm>
              <a:off x="2271" y="2666"/>
              <a:ext cx="35" cy="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[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3" name="Rectangle 43"/>
            <p:cNvSpPr>
              <a:spLocks noChangeArrowheads="1"/>
            </p:cNvSpPr>
            <p:nvPr/>
          </p:nvSpPr>
          <p:spPr bwMode="auto">
            <a:xfrm>
              <a:off x="2284" y="2666"/>
              <a:ext cx="49" cy="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6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" name="Rectangle 44"/>
            <p:cNvSpPr>
              <a:spLocks noChangeArrowheads="1"/>
            </p:cNvSpPr>
            <p:nvPr/>
          </p:nvSpPr>
          <p:spPr bwMode="auto">
            <a:xfrm>
              <a:off x="2310" y="2666"/>
              <a:ext cx="34" cy="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]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5" name="Oval 45"/>
            <p:cNvSpPr>
              <a:spLocks noChangeArrowheads="1"/>
            </p:cNvSpPr>
            <p:nvPr/>
          </p:nvSpPr>
          <p:spPr bwMode="auto">
            <a:xfrm>
              <a:off x="2673" y="2597"/>
              <a:ext cx="157" cy="156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Oval 46"/>
            <p:cNvSpPr>
              <a:spLocks noChangeArrowheads="1"/>
            </p:cNvSpPr>
            <p:nvPr/>
          </p:nvSpPr>
          <p:spPr bwMode="auto">
            <a:xfrm>
              <a:off x="2673" y="2597"/>
              <a:ext cx="157" cy="156"/>
            </a:xfrm>
            <a:prstGeom prst="ellipse">
              <a:avLst/>
            </a:pr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Rectangle 47"/>
            <p:cNvSpPr>
              <a:spLocks noChangeArrowheads="1"/>
            </p:cNvSpPr>
            <p:nvPr/>
          </p:nvSpPr>
          <p:spPr bwMode="auto">
            <a:xfrm>
              <a:off x="2727" y="2647"/>
              <a:ext cx="76" cy="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600" b="1" i="0" u="none" strike="noStrike" cap="none" normalizeH="0" baseline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Arial" panose="020B0604020202020204" pitchFamily="34" charset="0"/>
                </a:rPr>
                <a:t>48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8" name="Rectangle 48"/>
            <p:cNvSpPr>
              <a:spLocks noChangeArrowheads="1"/>
            </p:cNvSpPr>
            <p:nvPr/>
          </p:nvSpPr>
          <p:spPr bwMode="auto">
            <a:xfrm>
              <a:off x="2608" y="2666"/>
              <a:ext cx="34" cy="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[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9" name="Rectangle 49"/>
            <p:cNvSpPr>
              <a:spLocks noChangeArrowheads="1"/>
            </p:cNvSpPr>
            <p:nvPr/>
          </p:nvSpPr>
          <p:spPr bwMode="auto">
            <a:xfrm>
              <a:off x="2620" y="2666"/>
              <a:ext cx="49" cy="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7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0" name="Rectangle 50"/>
            <p:cNvSpPr>
              <a:spLocks noChangeArrowheads="1"/>
            </p:cNvSpPr>
            <p:nvPr/>
          </p:nvSpPr>
          <p:spPr bwMode="auto">
            <a:xfrm>
              <a:off x="2646" y="2666"/>
              <a:ext cx="35" cy="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]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1" name="Line 51"/>
            <p:cNvSpPr>
              <a:spLocks noChangeShapeType="1"/>
            </p:cNvSpPr>
            <p:nvPr/>
          </p:nvSpPr>
          <p:spPr bwMode="auto">
            <a:xfrm flipH="1">
              <a:off x="2422" y="2456"/>
              <a:ext cx="112" cy="141"/>
            </a:xfrm>
            <a:prstGeom prst="line">
              <a:avLst/>
            </a:pr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" name="Line 52"/>
            <p:cNvSpPr>
              <a:spLocks noChangeShapeType="1"/>
            </p:cNvSpPr>
            <p:nvPr/>
          </p:nvSpPr>
          <p:spPr bwMode="auto">
            <a:xfrm>
              <a:off x="2583" y="2454"/>
              <a:ext cx="146" cy="146"/>
            </a:xfrm>
            <a:prstGeom prst="line">
              <a:avLst/>
            </a:pr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" name="Oval 53"/>
            <p:cNvSpPr>
              <a:spLocks noChangeArrowheads="1"/>
            </p:cNvSpPr>
            <p:nvPr/>
          </p:nvSpPr>
          <p:spPr bwMode="auto">
            <a:xfrm>
              <a:off x="1582" y="2909"/>
              <a:ext cx="157" cy="157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" name="Oval 54"/>
            <p:cNvSpPr>
              <a:spLocks noChangeArrowheads="1"/>
            </p:cNvSpPr>
            <p:nvPr/>
          </p:nvSpPr>
          <p:spPr bwMode="auto">
            <a:xfrm>
              <a:off x="1582" y="2909"/>
              <a:ext cx="157" cy="157"/>
            </a:xfrm>
            <a:prstGeom prst="ellipse">
              <a:avLst/>
            </a:pr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Rectangle 55"/>
            <p:cNvSpPr>
              <a:spLocks noChangeArrowheads="1"/>
            </p:cNvSpPr>
            <p:nvPr/>
          </p:nvSpPr>
          <p:spPr bwMode="auto">
            <a:xfrm>
              <a:off x="1636" y="2958"/>
              <a:ext cx="76" cy="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600" b="1" i="0" u="none" strike="noStrike" cap="none" normalizeH="0" baseline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Arial" panose="020B0604020202020204" pitchFamily="34" charset="0"/>
                </a:rPr>
                <a:t>59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" name="Rectangle 56"/>
            <p:cNvSpPr>
              <a:spLocks noChangeArrowheads="1"/>
            </p:cNvSpPr>
            <p:nvPr/>
          </p:nvSpPr>
          <p:spPr bwMode="auto">
            <a:xfrm>
              <a:off x="1517" y="2979"/>
              <a:ext cx="34" cy="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[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7" name="Rectangle 57"/>
            <p:cNvSpPr>
              <a:spLocks noChangeArrowheads="1"/>
            </p:cNvSpPr>
            <p:nvPr/>
          </p:nvSpPr>
          <p:spPr bwMode="auto">
            <a:xfrm>
              <a:off x="1529" y="2979"/>
              <a:ext cx="49" cy="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8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8" name="Rectangle 58"/>
            <p:cNvSpPr>
              <a:spLocks noChangeArrowheads="1"/>
            </p:cNvSpPr>
            <p:nvPr/>
          </p:nvSpPr>
          <p:spPr bwMode="auto">
            <a:xfrm>
              <a:off x="1555" y="2979"/>
              <a:ext cx="35" cy="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]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9" name="Oval 59"/>
            <p:cNvSpPr>
              <a:spLocks noChangeArrowheads="1"/>
            </p:cNvSpPr>
            <p:nvPr/>
          </p:nvSpPr>
          <p:spPr bwMode="auto">
            <a:xfrm>
              <a:off x="1822" y="2917"/>
              <a:ext cx="157" cy="156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" name="Oval 60"/>
            <p:cNvSpPr>
              <a:spLocks noChangeArrowheads="1"/>
            </p:cNvSpPr>
            <p:nvPr/>
          </p:nvSpPr>
          <p:spPr bwMode="auto">
            <a:xfrm>
              <a:off x="1822" y="2917"/>
              <a:ext cx="157" cy="156"/>
            </a:xfrm>
            <a:prstGeom prst="ellipse">
              <a:avLst/>
            </a:pr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" name="Rectangle 61"/>
            <p:cNvSpPr>
              <a:spLocks noChangeArrowheads="1"/>
            </p:cNvSpPr>
            <p:nvPr/>
          </p:nvSpPr>
          <p:spPr bwMode="auto">
            <a:xfrm>
              <a:off x="1876" y="2967"/>
              <a:ext cx="76" cy="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600" b="1" i="0" u="none" strike="noStrike" cap="none" normalizeH="0" baseline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Arial" panose="020B0604020202020204" pitchFamily="34" charset="0"/>
                </a:rPr>
                <a:t>61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2" name="Rectangle 62"/>
            <p:cNvSpPr>
              <a:spLocks noChangeArrowheads="1"/>
            </p:cNvSpPr>
            <p:nvPr/>
          </p:nvSpPr>
          <p:spPr bwMode="auto">
            <a:xfrm>
              <a:off x="1756" y="2985"/>
              <a:ext cx="35" cy="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[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3" name="Rectangle 63"/>
            <p:cNvSpPr>
              <a:spLocks noChangeArrowheads="1"/>
            </p:cNvSpPr>
            <p:nvPr/>
          </p:nvSpPr>
          <p:spPr bwMode="auto">
            <a:xfrm>
              <a:off x="1769" y="2985"/>
              <a:ext cx="49" cy="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9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4" name="Rectangle 64"/>
            <p:cNvSpPr>
              <a:spLocks noChangeArrowheads="1"/>
            </p:cNvSpPr>
            <p:nvPr/>
          </p:nvSpPr>
          <p:spPr bwMode="auto">
            <a:xfrm>
              <a:off x="1795" y="2985"/>
              <a:ext cx="34" cy="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]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5" name="Line 65"/>
            <p:cNvSpPr>
              <a:spLocks noChangeShapeType="1"/>
            </p:cNvSpPr>
            <p:nvPr/>
          </p:nvSpPr>
          <p:spPr bwMode="auto">
            <a:xfrm flipH="1">
              <a:off x="1667" y="2763"/>
              <a:ext cx="117" cy="147"/>
            </a:xfrm>
            <a:prstGeom prst="line">
              <a:avLst/>
            </a:pr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" name="Line 66"/>
            <p:cNvSpPr>
              <a:spLocks noChangeShapeType="1"/>
            </p:cNvSpPr>
            <p:nvPr/>
          </p:nvSpPr>
          <p:spPr bwMode="auto">
            <a:xfrm>
              <a:off x="1818" y="2762"/>
              <a:ext cx="47" cy="163"/>
            </a:xfrm>
            <a:prstGeom prst="line">
              <a:avLst/>
            </a:pr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" name="Oval 67"/>
            <p:cNvSpPr>
              <a:spLocks noChangeArrowheads="1"/>
            </p:cNvSpPr>
            <p:nvPr/>
          </p:nvSpPr>
          <p:spPr bwMode="auto">
            <a:xfrm>
              <a:off x="2072" y="2904"/>
              <a:ext cx="156" cy="156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" name="Oval 68"/>
            <p:cNvSpPr>
              <a:spLocks noChangeArrowheads="1"/>
            </p:cNvSpPr>
            <p:nvPr/>
          </p:nvSpPr>
          <p:spPr bwMode="auto">
            <a:xfrm>
              <a:off x="2072" y="2904"/>
              <a:ext cx="156" cy="156"/>
            </a:xfrm>
            <a:prstGeom prst="ellipse">
              <a:avLst/>
            </a:pr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" name="Rectangle 69"/>
            <p:cNvSpPr>
              <a:spLocks noChangeArrowheads="1"/>
            </p:cNvSpPr>
            <p:nvPr/>
          </p:nvSpPr>
          <p:spPr bwMode="auto">
            <a:xfrm>
              <a:off x="2125" y="2954"/>
              <a:ext cx="76" cy="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600" b="1" i="0" u="none" strike="noStrike" cap="none" normalizeH="0" baseline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Arial" panose="020B0604020202020204" pitchFamily="34" charset="0"/>
                </a:rPr>
                <a:t>77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0" name="Rectangle 70"/>
            <p:cNvSpPr>
              <a:spLocks noChangeArrowheads="1"/>
            </p:cNvSpPr>
            <p:nvPr/>
          </p:nvSpPr>
          <p:spPr bwMode="auto">
            <a:xfrm>
              <a:off x="2018" y="2856"/>
              <a:ext cx="34" cy="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[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1" name="Rectangle 71"/>
            <p:cNvSpPr>
              <a:spLocks noChangeArrowheads="1"/>
            </p:cNvSpPr>
            <p:nvPr/>
          </p:nvSpPr>
          <p:spPr bwMode="auto">
            <a:xfrm>
              <a:off x="2031" y="2856"/>
              <a:ext cx="74" cy="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2" name="Rectangle 72"/>
            <p:cNvSpPr>
              <a:spLocks noChangeArrowheads="1"/>
            </p:cNvSpPr>
            <p:nvPr/>
          </p:nvSpPr>
          <p:spPr bwMode="auto">
            <a:xfrm>
              <a:off x="2082" y="2856"/>
              <a:ext cx="34" cy="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6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]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3" name="Line 73"/>
            <p:cNvSpPr>
              <a:spLocks noChangeShapeType="1"/>
            </p:cNvSpPr>
            <p:nvPr/>
          </p:nvSpPr>
          <p:spPr bwMode="auto">
            <a:xfrm flipH="1">
              <a:off x="2126" y="2764"/>
              <a:ext cx="42" cy="144"/>
            </a:xfrm>
            <a:prstGeom prst="line">
              <a:avLst/>
            </a:pr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4" name="Rectangle 74"/>
            <p:cNvSpPr>
              <a:spLocks noChangeArrowheads="1"/>
            </p:cNvSpPr>
            <p:nvPr/>
          </p:nvSpPr>
          <p:spPr bwMode="auto">
            <a:xfrm>
              <a:off x="2051" y="3120"/>
              <a:ext cx="242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6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华文楷体" panose="02010600040101010101" pitchFamily="2" charset="-122"/>
                  <a:ea typeface="华文楷体" panose="02010600040101010101" pitchFamily="2" charset="-122"/>
                </a:rPr>
                <a:t>第</a:t>
              </a:r>
              <a:r>
                <a:rPr kumimoji="0" lang="zh-CN" altLang="en-US" sz="6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华文楷体" panose="02010600040101010101" pitchFamily="2" charset="-122"/>
                  <a:ea typeface="华文楷体" panose="02010600040101010101" pitchFamily="2" charset="-122"/>
                </a:rPr>
                <a:t>四</a:t>
              </a:r>
              <a:r>
                <a:rPr kumimoji="0" lang="zh-CN" altLang="zh-CN" sz="6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华文楷体" panose="02010600040101010101" pitchFamily="2" charset="-122"/>
                  <a:ea typeface="华文楷体" panose="02010600040101010101" pitchFamily="2" charset="-122"/>
                </a:rPr>
                <a:t>趟排序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pic>
        <p:nvPicPr>
          <p:cNvPr id="85" name="图片 8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1793" y="3302776"/>
            <a:ext cx="1929007" cy="1626515"/>
          </a:xfrm>
          <a:prstGeom prst="rect">
            <a:avLst/>
          </a:prstGeom>
        </p:spPr>
      </p:pic>
      <p:pic>
        <p:nvPicPr>
          <p:cNvPr id="86" name="图片 8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7792" y="3270964"/>
            <a:ext cx="2024295" cy="1706861"/>
          </a:xfrm>
          <a:prstGeom prst="rect">
            <a:avLst/>
          </a:prstGeom>
        </p:spPr>
      </p:pic>
      <p:pic>
        <p:nvPicPr>
          <p:cNvPr id="87" name="图片 8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864" y="5061354"/>
            <a:ext cx="1940648" cy="1636330"/>
          </a:xfrm>
          <a:prstGeom prst="rect">
            <a:avLst/>
          </a:prstGeom>
        </p:spPr>
      </p:pic>
      <p:pic>
        <p:nvPicPr>
          <p:cNvPr id="88" name="图片 8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87529" y="5095887"/>
            <a:ext cx="1904449" cy="1605808"/>
          </a:xfrm>
          <a:prstGeom prst="rect">
            <a:avLst/>
          </a:prstGeom>
        </p:spPr>
      </p:pic>
      <p:pic>
        <p:nvPicPr>
          <p:cNvPr id="89" name="图片 8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03429" y="5095887"/>
            <a:ext cx="1865733" cy="1573163"/>
          </a:xfrm>
          <a:prstGeom prst="rect">
            <a:avLst/>
          </a:prstGeom>
        </p:spPr>
      </p:pic>
      <p:cxnSp>
        <p:nvCxnSpPr>
          <p:cNvPr id="91" name="直接连接符 90"/>
          <p:cNvCxnSpPr/>
          <p:nvPr/>
        </p:nvCxnSpPr>
        <p:spPr>
          <a:xfrm>
            <a:off x="14288" y="3212286"/>
            <a:ext cx="9144000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" name="直接连接符 91"/>
          <p:cNvCxnSpPr/>
          <p:nvPr/>
        </p:nvCxnSpPr>
        <p:spPr>
          <a:xfrm>
            <a:off x="0" y="4989711"/>
            <a:ext cx="9144000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/>
        </p:nvCxnSpPr>
        <p:spPr>
          <a:xfrm>
            <a:off x="2150341" y="1066800"/>
            <a:ext cx="0" cy="5754688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5" name="直接连接符 94"/>
          <p:cNvCxnSpPr/>
          <p:nvPr/>
        </p:nvCxnSpPr>
        <p:spPr>
          <a:xfrm>
            <a:off x="4343400" y="1066800"/>
            <a:ext cx="0" cy="5754688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/>
        </p:nvCxnSpPr>
        <p:spPr>
          <a:xfrm>
            <a:off x="6705600" y="1066800"/>
            <a:ext cx="0" cy="5754688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5726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440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44038" name="Text Box 4"/>
          <p:cNvSpPr txBox="1">
            <a:spLocks noChangeArrowheads="1"/>
          </p:cNvSpPr>
          <p:nvPr/>
        </p:nvSpPr>
        <p:spPr bwMode="auto">
          <a:xfrm>
            <a:off x="593725" y="4960938"/>
            <a:ext cx="18415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kumimoji="1" lang="zh-CN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381001" y="1371600"/>
                <a:ext cx="8229600" cy="5298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609600" indent="-609600" eaLnBrk="1" hangingPunct="1">
                  <a:lnSpc>
                    <a:spcPct val="80000"/>
                  </a:lnSpc>
                  <a:buFont typeface="Wingdings" panose="05000000000000000000" pitchFamily="2" charset="2"/>
                  <a:buNone/>
                </a:pPr>
                <a:r>
                  <a:rPr lang="en-US" altLang="zh-CN" sz="2400" b="1" dirty="0" smtClean="0">
                    <a:solidFill>
                      <a:srgbClr val="CC66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[</a:t>
                </a:r>
                <a:r>
                  <a:rPr lang="en-US" altLang="zh-CN" sz="2400" b="1" dirty="0" err="1" smtClean="0">
                    <a:solidFill>
                      <a:srgbClr val="CC66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HeapSort</a:t>
                </a:r>
                <a:r>
                  <a:rPr lang="zh-CN" altLang="en-US" sz="2400" b="1" dirty="0" smtClean="0">
                    <a:solidFill>
                      <a:srgbClr val="CC66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算法分析</a:t>
                </a:r>
                <a:r>
                  <a:rPr lang="en-US" altLang="zh-CN" sz="2400" b="1" dirty="0">
                    <a:solidFill>
                      <a:srgbClr val="CC66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]</a:t>
                </a:r>
              </a:p>
              <a:p>
                <a:pPr marL="609600" indent="-609600" eaLnBrk="1" hangingPunct="1">
                  <a:lnSpc>
                    <a:spcPct val="80000"/>
                  </a:lnSpc>
                  <a:buFont typeface="Wingdings" panose="05000000000000000000" pitchFamily="2" charset="2"/>
                  <a:buNone/>
                </a:pPr>
                <a:r>
                  <a:rPr lang="zh-CN" altLang="en-US" sz="2400" b="1" dirty="0">
                    <a:solidFill>
                      <a:srgbClr val="FF0066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时间性能分析</a:t>
                </a:r>
                <a:endParaRPr lang="en-US" altLang="zh-CN" sz="2400" b="1" dirty="0">
                  <a:solidFill>
                    <a:srgbClr val="FF0066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endParaRPr>
              </a:p>
              <a:p>
                <a:pPr marL="609600" indent="-609600" eaLnBrk="1" hangingPunct="1">
                  <a:lnSpc>
                    <a:spcPct val="80000"/>
                  </a:lnSpc>
                  <a:buNone/>
                </a:pPr>
                <a:r>
                  <a:rPr lang="zh-CN" altLang="en-US" sz="24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假设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k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−1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k</m:t>
                        </m:r>
                      </m:sup>
                    </m:sSup>
                    <m:r>
                      <a:rPr lang="zh-CN" altLang="en-US" sz="2400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，</m:t>
                    </m:r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则堆对应的完全二叉树有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k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层，第</a:t>
                </a:r>
                <a:r>
                  <a:rPr lang="en-US" altLang="zh-CN" sz="2400" dirty="0" err="1" smtClean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i</a:t>
                </a:r>
                <a:r>
                  <a:rPr lang="zh-CN" altLang="en-US" sz="2400" dirty="0" smtClean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层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的结点数</a:t>
                </a:r>
                <a:r>
                  <a:rPr lang="zh-CN" altLang="en-US" sz="2400" dirty="0" smtClean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为</a:t>
                </a:r>
                <a:r>
                  <a:rPr lang="en-US" altLang="zh-CN" sz="2400" dirty="0" smtClean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2</a:t>
                </a:r>
                <a:r>
                  <a:rPr lang="en-US" altLang="zh-CN" sz="2400" baseline="30000" dirty="0" smtClean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i-1</a:t>
                </a:r>
                <a:r>
                  <a:rPr lang="en-US" altLang="zh-CN" sz="2400" dirty="0" smtClean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(</a:t>
                </a:r>
                <a:r>
                  <a:rPr lang="zh-CN" altLang="en-US" sz="2400" dirty="0" smtClean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第</a:t>
                </a:r>
                <a:r>
                  <a:rPr lang="en-US" altLang="zh-CN" sz="2400" dirty="0" smtClean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k</a:t>
                </a:r>
                <a:r>
                  <a:rPr lang="zh-CN" altLang="en-US" sz="2400" dirty="0" smtClean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层可能不满</a:t>
                </a:r>
                <a:r>
                  <a:rPr lang="en-US" altLang="zh-CN" sz="2400" dirty="0" smtClean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)</a:t>
                </a:r>
                <a:r>
                  <a:rPr lang="zh-CN" altLang="en-US" sz="2400" dirty="0" smtClean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；</a:t>
                </a:r>
                <a:endParaRPr lang="en-US" altLang="zh-CN" sz="2400" dirty="0" smtClean="0">
                  <a:latin typeface="Times New Roman" panose="02020603050405020304" pitchFamily="18" charset="0"/>
                  <a:ea typeface="华文楷体" panose="02010600040101010101" pitchFamily="2" charset="-122"/>
                </a:endParaRPr>
              </a:p>
              <a:p>
                <a:pPr marL="609600" indent="-609600" eaLnBrk="1" hangingPunct="1">
                  <a:lnSpc>
                    <a:spcPct val="80000"/>
                  </a:lnSpc>
                  <a:buNone/>
                </a:pPr>
                <a:r>
                  <a:rPr lang="en-US" altLang="zh-CN" sz="2400" dirty="0" smtClean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 </a:t>
                </a:r>
                <a:r>
                  <a:rPr lang="en-US" altLang="zh-CN" sz="2400" dirty="0" err="1" smtClean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HeapSort</a:t>
                </a:r>
                <a:r>
                  <a:rPr lang="zh-CN" altLang="en-US" sz="2400" dirty="0" smtClean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第一个</a:t>
                </a:r>
                <a:r>
                  <a:rPr lang="en-US" altLang="zh-CN" sz="2400" dirty="0" smtClean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for</a:t>
                </a:r>
                <a:r>
                  <a:rPr lang="zh-CN" altLang="en-US" sz="2400" dirty="0" smtClean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循环实现建立大根堆的过程，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 </a:t>
                </a:r>
                <a:r>
                  <a:rPr lang="zh-CN" altLang="en-US" sz="2400" dirty="0" smtClean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函数</a:t>
                </a:r>
                <a:r>
                  <a:rPr lang="en-US" altLang="zh-CN" sz="2400" dirty="0" err="1" smtClean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HeapSort</a:t>
                </a:r>
                <a:r>
                  <a:rPr lang="zh-CN" altLang="en-US" sz="2400" dirty="0" smtClean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将在每个有儿子的结点上调用一次</a:t>
                </a:r>
                <a:r>
                  <a:rPr lang="en-US" altLang="zh-CN" sz="2400" dirty="0" smtClean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adjust</a:t>
                </a:r>
                <a:r>
                  <a:rPr lang="zh-CN" altLang="en-US" sz="2400" dirty="0" smtClean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函数。因此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建立大根堆的</a:t>
                </a:r>
                <a:r>
                  <a:rPr lang="zh-CN" altLang="en-US" sz="2400" dirty="0" smtClean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过程的时间开销为：</a:t>
                </a:r>
                <a:endParaRPr lang="en-US" altLang="zh-CN" sz="2400" dirty="0" smtClean="0">
                  <a:latin typeface="Times New Roman" panose="02020603050405020304" pitchFamily="18" charset="0"/>
                  <a:ea typeface="华文楷体" panose="02010600040101010101" pitchFamily="2" charset="-122"/>
                </a:endParaRPr>
              </a:p>
              <a:p>
                <a:pPr marL="609600" indent="-609600" eaLnBrk="1" hangingPunct="1">
                  <a:lnSpc>
                    <a:spcPct val="80000"/>
                  </a:lnSpc>
                  <a:buNone/>
                </a:pPr>
                <a:endParaRPr lang="en-US" altLang="zh-CN" sz="2400" dirty="0" smtClean="0">
                  <a:latin typeface="Times New Roman" panose="02020603050405020304" pitchFamily="18" charset="0"/>
                  <a:ea typeface="华文楷体" panose="02010600040101010101" pitchFamily="2" charset="-122"/>
                </a:endParaRPr>
              </a:p>
              <a:p>
                <a:pPr marL="609600" indent="-609600" eaLnBrk="1" hangingPunct="1">
                  <a:lnSpc>
                    <a:spcPct val="8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US" altLang="zh-CN" sz="24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i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𝑘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𝑖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−1</m:t>
                              </m:r>
                            </m:sup>
                          </m:sSup>
                        </m:e>
                      </m:nary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k</m:t>
                          </m:r>
                          <m:r>
                            <a:rPr lang="en-US" altLang="zh-CN" sz="2400" b="0" i="0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i</m:t>
                          </m:r>
                        </m:e>
                      </m:d>
                      <m:r>
                        <a:rPr lang="en-US" altLang="zh-CN" sz="2400" b="0" i="0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US" altLang="zh-CN" sz="24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i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𝑘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𝑘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−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𝑖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−1</m:t>
                              </m:r>
                            </m:sup>
                          </m:sSup>
                        </m:e>
                      </m:nary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𝑖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 ≤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nary>
                        <m:naryPr>
                          <m:chr m:val="∑"/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US" altLang="zh-CN" sz="24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i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华文楷体" panose="02010600040101010101" pitchFamily="2" charset="-122"/>
                            </a:rPr>
                            <m:t>𝑘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2</m:t>
                              </m:r>
                              <m:r>
                                <a:rPr lang="en-US" altLang="zh-CN" sz="2400" b="0" i="1" baseline="30000" smtClean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</a:rPr>
                                <m:t>𝑖</m:t>
                              </m:r>
                            </m:den>
                          </m:f>
                        </m:e>
                      </m:nary>
                      <m:r>
                        <a:rPr lang="en-US" altLang="zh-CN" sz="2400" b="0" i="0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&lt;2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n</m:t>
                      </m:r>
                      <m:r>
                        <a:rPr lang="en-US" altLang="zh-CN" sz="2400" b="0" i="0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O</m:t>
                      </m:r>
                      <m:r>
                        <a:rPr lang="en-US" altLang="zh-CN" sz="2400" b="0" i="0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2400" i="1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n</m:t>
                      </m:r>
                      <m:r>
                        <a:rPr lang="en-US" altLang="zh-CN" sz="2400" b="0" i="0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)</m:t>
                      </m:r>
                    </m:oMath>
                  </m:oMathPara>
                </a14:m>
                <a:endParaRPr lang="en-US" altLang="zh-CN" sz="2400" dirty="0">
                  <a:latin typeface="Times New Roman" panose="02020603050405020304" pitchFamily="18" charset="0"/>
                  <a:ea typeface="华文楷体" panose="02010600040101010101" pitchFamily="2" charset="-122"/>
                </a:endParaRPr>
              </a:p>
              <a:p>
                <a:pPr marL="609600" indent="-609600" eaLnBrk="1" hangingPunct="1">
                  <a:lnSpc>
                    <a:spcPct val="80000"/>
                  </a:lnSpc>
                  <a:buNone/>
                </a:pPr>
                <a:endParaRPr lang="en-US" altLang="zh-CN" sz="2400" dirty="0" smtClean="0">
                  <a:latin typeface="Times New Roman" panose="02020603050405020304" pitchFamily="18" charset="0"/>
                  <a:ea typeface="华文楷体" panose="02010600040101010101" pitchFamily="2" charset="-122"/>
                </a:endParaRPr>
              </a:p>
              <a:p>
                <a:pPr marL="609600" indent="-609600" eaLnBrk="1" hangingPunct="1">
                  <a:lnSpc>
                    <a:spcPct val="80000"/>
                  </a:lnSpc>
                  <a:buNone/>
                </a:pPr>
                <a:r>
                  <a:rPr lang="zh-CN" altLang="en-US" sz="2400" dirty="0" smtClean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在第二个</a:t>
                </a:r>
                <a:r>
                  <a:rPr lang="en-US" altLang="zh-CN" sz="2400" dirty="0" smtClean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for</a:t>
                </a:r>
                <a:r>
                  <a:rPr lang="zh-CN" altLang="en-US" sz="2400" dirty="0" smtClean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循环中，函数</a:t>
                </a:r>
                <a:r>
                  <a:rPr lang="en-US" altLang="zh-CN" sz="2400" dirty="0" err="1" smtClean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HeadSort</a:t>
                </a:r>
                <a:r>
                  <a:rPr lang="zh-CN" altLang="en-US" sz="2400" dirty="0" smtClean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共调用</a:t>
                </a:r>
                <a:r>
                  <a:rPr lang="en-US" altLang="zh-CN" sz="2400" dirty="0" smtClean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adjust</a:t>
                </a:r>
                <a:r>
                  <a:rPr lang="zh-CN" altLang="en-US" sz="2400" dirty="0" smtClean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函数</a:t>
                </a:r>
                <a:r>
                  <a:rPr lang="en-US" altLang="zh-CN" sz="2400" dirty="0" smtClean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n-1</a:t>
                </a:r>
                <a:r>
                  <a:rPr lang="zh-CN" altLang="en-US" sz="2400" dirty="0" smtClean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次，且完全二叉树的最大深度为</a:t>
                </a:r>
                <a:r>
                  <a:rPr lang="zh-CN" altLang="en-US" sz="2400" dirty="0" smtClean="0">
                    <a:latin typeface="Times New Roman" panose="02020603050405020304" pitchFamily="18" charset="0"/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⌈</a:t>
                </a:r>
                <a:r>
                  <a:rPr lang="en-US" altLang="zh-CN" sz="2400" dirty="0" smtClean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log2(n+1)</a:t>
                </a:r>
                <a:r>
                  <a:rPr lang="zh-CN" altLang="en-US" sz="2400" dirty="0" smtClean="0">
                    <a:latin typeface="Lucida Sans Unicode" panose="020B0602030504020204" pitchFamily="34" charset="0"/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⌉</a:t>
                </a:r>
                <a:r>
                  <a:rPr lang="zh-CN" altLang="en-US" sz="2400" dirty="0" smtClean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，因此该循环的时间复杂度为</a:t>
                </a:r>
                <a:r>
                  <a:rPr lang="en-US" altLang="zh-CN" sz="2400" dirty="0" smtClean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O(nlog</a:t>
                </a:r>
                <a:r>
                  <a:rPr lang="en-US" altLang="zh-CN" sz="2400" baseline="-25000" dirty="0" smtClean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2</a:t>
                </a:r>
                <a:r>
                  <a:rPr lang="en-US" altLang="zh-CN" sz="2400" dirty="0" smtClean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n)</a:t>
                </a:r>
                <a:r>
                  <a:rPr lang="zh-CN" altLang="en-US" sz="2400" dirty="0" smtClean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。</a:t>
                </a:r>
                <a:endParaRPr lang="en-US" altLang="zh-CN" sz="2400" dirty="0" smtClean="0">
                  <a:latin typeface="Times New Roman" panose="02020603050405020304" pitchFamily="18" charset="0"/>
                  <a:ea typeface="华文楷体" panose="02010600040101010101" pitchFamily="2" charset="-122"/>
                </a:endParaRPr>
              </a:p>
              <a:p>
                <a:pPr marL="609600" indent="-609600" eaLnBrk="1" hangingPunct="1">
                  <a:lnSpc>
                    <a:spcPct val="80000"/>
                  </a:lnSpc>
                  <a:buNone/>
                </a:pPr>
                <a:r>
                  <a:rPr lang="zh-CN" altLang="en-US" sz="2400" dirty="0" smtClean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因此总的时间开销为：</a:t>
                </a:r>
                <a:endParaRPr lang="en-US" altLang="zh-CN" sz="2400" dirty="0" smtClean="0">
                  <a:latin typeface="Times New Roman" panose="02020603050405020304" pitchFamily="18" charset="0"/>
                  <a:ea typeface="华文楷体" panose="02010600040101010101" pitchFamily="2" charset="-122"/>
                </a:endParaRPr>
              </a:p>
              <a:p>
                <a:pPr marL="609600" indent="-609600" eaLnBrk="1" hangingPunct="1">
                  <a:lnSpc>
                    <a:spcPct val="80000"/>
                  </a:lnSpc>
                  <a:buNone/>
                </a:pPr>
                <a:r>
                  <a:rPr lang="en-US" altLang="zh-CN" sz="2400" dirty="0" smtClean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O(n)+O(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nlog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2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n</a:t>
                </a:r>
                <a:r>
                  <a:rPr lang="en-US" altLang="zh-CN" sz="2400" dirty="0" smtClean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) = 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O(nlog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2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n)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华文楷体" panose="02010600040101010101" pitchFamily="2" charset="-122"/>
                  </a:rPr>
                  <a:t>。</a:t>
                </a:r>
                <a:endParaRPr lang="en-US" altLang="zh-CN" sz="2400" dirty="0" smtClean="0">
                  <a:latin typeface="Times New Roman" panose="02020603050405020304" pitchFamily="18" charset="0"/>
                  <a:ea typeface="华文楷体" panose="02010600040101010101" pitchFamily="2" charset="-122"/>
                </a:endParaRPr>
              </a:p>
              <a:p>
                <a:pPr marL="609600" indent="-609600" eaLnBrk="1" hangingPunct="1">
                  <a:lnSpc>
                    <a:spcPct val="80000"/>
                  </a:lnSpc>
                  <a:buNone/>
                </a:pPr>
                <a:endParaRPr lang="zh-CN" altLang="en-US" dirty="0">
                  <a:latin typeface="Times New Roman" panose="02020603050405020304" pitchFamily="18" charset="0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1" y="1371600"/>
                <a:ext cx="8229600" cy="5298758"/>
              </a:xfrm>
              <a:prstGeom prst="rect">
                <a:avLst/>
              </a:prstGeom>
              <a:blipFill>
                <a:blip r:embed="rId2"/>
                <a:stretch>
                  <a:fillRect l="-1185" t="-2301" r="-2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460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4608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solidFill>
                  <a:srgbClr val="FF0066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空间复杂度</a:t>
            </a:r>
            <a:endParaRPr lang="zh-CN" altLang="en-US" sz="24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辅助空间：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O(1)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solidFill>
                  <a:srgbClr val="FF0066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稳定性</a:t>
            </a:r>
          </a:p>
          <a:p>
            <a:pPr eaLnBrk="1" hangingPunct="1"/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不稳定排序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思考：若有</a:t>
            </a:r>
            <a:r>
              <a:rPr lang="en-US" altLang="zh-CN" sz="2400" b="1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N</a:t>
            </a:r>
            <a:r>
              <a:rPr lang="zh-CN" altLang="en-US" sz="2400" b="1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个元素已构成一个小根堆</a:t>
            </a:r>
            <a:r>
              <a:rPr lang="en-US" altLang="zh-CN" sz="2400" b="1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,  </a:t>
            </a:r>
            <a:r>
              <a:rPr lang="zh-CN" altLang="en-US" sz="2400" b="1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那么如果增加一个元素为</a:t>
            </a:r>
            <a:r>
              <a:rPr lang="en-US" altLang="zh-CN" sz="2400" b="1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K</a:t>
            </a:r>
            <a:r>
              <a:rPr lang="en-US" altLang="zh-CN" sz="2400" b="1" baseline="-250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n+1</a:t>
            </a:r>
            <a:r>
              <a:rPr lang="en-US" altLang="zh-CN" sz="2400" b="1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, </a:t>
            </a:r>
            <a:r>
              <a:rPr lang="zh-CN" altLang="en-US" sz="2400" b="1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如何在</a:t>
            </a:r>
            <a:r>
              <a:rPr lang="en-US" altLang="zh-CN" sz="2400" b="1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log</a:t>
            </a:r>
            <a:r>
              <a:rPr lang="en-US" altLang="zh-CN" sz="2400" b="1" baseline="-250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2</a:t>
            </a:r>
            <a:r>
              <a:rPr lang="en-US" altLang="zh-CN" sz="2400" b="1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n </a:t>
            </a:r>
            <a:r>
              <a:rPr lang="zh-CN" altLang="en-US" sz="2400" b="1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的时间内将其重新调整为堆</a:t>
            </a:r>
            <a:r>
              <a:rPr lang="en-US" altLang="zh-CN" sz="2400" b="1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?</a:t>
            </a:r>
            <a:endParaRPr lang="en-US" altLang="zh-CN" sz="2400" b="1" dirty="0" smtClean="0">
              <a:solidFill>
                <a:schemeClr val="accent2"/>
              </a:solidFill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b="1" dirty="0" smtClean="0">
              <a:solidFill>
                <a:schemeClr val="accent2"/>
              </a:solidFill>
              <a:ea typeface="华文楷体" panose="020106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52228" name="Text Box 4"/>
          <p:cNvSpPr txBox="1">
            <a:spLocks noChangeArrowheads="1"/>
          </p:cNvSpPr>
          <p:nvPr/>
        </p:nvSpPr>
        <p:spPr bwMode="auto">
          <a:xfrm>
            <a:off x="484554" y="4038600"/>
            <a:ext cx="8098692" cy="1495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K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kumimoji="1"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到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K</a:t>
            </a:r>
            <a:r>
              <a:rPr kumimoji="1" lang="en-US" altLang="zh-CN" sz="2400" baseline="-25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kumimoji="1"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是堆，在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K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n+1</a:t>
            </a:r>
            <a:r>
              <a:rPr kumimoji="1"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加入后，将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K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..K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n+1</a:t>
            </a:r>
            <a:r>
              <a:rPr kumimoji="1"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调成堆。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设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c=n+1,f=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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c/2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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,</a:t>
            </a:r>
            <a:r>
              <a:rPr kumimoji="1"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若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K</a:t>
            </a:r>
            <a:r>
              <a:rPr kumimoji="1" lang="en-US" altLang="zh-CN" sz="2400" baseline="-25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f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&lt;=K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c</a:t>
            </a:r>
            <a:r>
              <a:rPr kumimoji="1"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，则调整完成。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否则，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K</a:t>
            </a:r>
            <a:r>
              <a:rPr kumimoji="1" lang="en-US" altLang="zh-CN" sz="2400" baseline="-25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f</a:t>
            </a:r>
            <a:r>
              <a:rPr kumimoji="1"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与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K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c</a:t>
            </a:r>
            <a:r>
              <a:rPr kumimoji="1"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交换；之后，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c=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f,f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=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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c/2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</a:t>
            </a:r>
            <a:r>
              <a:rPr kumimoji="1"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，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继续比较，直到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K</a:t>
            </a:r>
            <a:r>
              <a:rPr kumimoji="1" lang="en-US" altLang="zh-CN" sz="2400" baseline="-25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f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&lt;=K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c</a:t>
            </a:r>
            <a:r>
              <a:rPr kumimoji="1"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，或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f=0</a:t>
            </a:r>
            <a:r>
              <a:rPr kumimoji="1"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，即为根结点，调整结束。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8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471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 sz="2800" dirty="0" smtClean="0">
                <a:ea typeface="华文楷体" panose="02010600040101010101" pitchFamily="2" charset="-122"/>
              </a:rPr>
              <a:t>9.5 </a:t>
            </a:r>
            <a:r>
              <a:rPr lang="zh-CN" altLang="en-US" sz="2800" dirty="0" smtClean="0">
                <a:ea typeface="华文楷体" panose="02010600040101010101" pitchFamily="2" charset="-122"/>
              </a:rPr>
              <a:t>归并排序</a:t>
            </a:r>
          </a:p>
        </p:txBody>
      </p:sp>
      <p:sp>
        <p:nvSpPr>
          <p:cNvPr id="4710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归并的概念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  <a:r>
              <a:rPr lang="en-US" altLang="zh-CN" sz="2400" b="1" dirty="0" smtClean="0">
                <a:ea typeface="华文楷体" panose="02010600040101010101" pitchFamily="2" charset="-122"/>
              </a:rPr>
              <a:t>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ea typeface="华文楷体" panose="02010600040101010101" pitchFamily="2" charset="-122"/>
              </a:rPr>
              <a:t>          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指将两个或两个以上的同序序列归并成一个序列的操作。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4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1  </a:t>
            </a:r>
            <a:r>
              <a:rPr lang="zh-CN" altLang="en-US" sz="2400" b="1" dirty="0" smtClean="0">
                <a:solidFill>
                  <a:srgbClr val="800000"/>
                </a:solidFill>
                <a:ea typeface="华文楷体" panose="02010600040101010101" pitchFamily="2" charset="-122"/>
              </a:rPr>
              <a:t>两路归并排序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算法思想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第</a:t>
            </a:r>
            <a:r>
              <a:rPr lang="en-US" altLang="zh-CN" sz="2400" dirty="0" smtClean="0">
                <a:ea typeface="华文楷体" panose="02010600040101010101" pitchFamily="2" charset="-122"/>
              </a:rPr>
              <a:t>1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趟：将待排序列</a:t>
            </a:r>
            <a:r>
              <a:rPr lang="en-US" altLang="zh-CN" sz="2400" dirty="0" smtClean="0">
                <a:ea typeface="华文楷体" panose="02010600040101010101" pitchFamily="2" charset="-122"/>
              </a:rPr>
              <a:t>R[1..n]</a:t>
            </a:r>
            <a:r>
              <a:rPr lang="zh-CN" altLang="en-US" sz="2400" dirty="0" smtClean="0">
                <a:ea typeface="华文楷体" panose="02010600040101010101" pitchFamily="2" charset="-122"/>
              </a:rPr>
              <a:t>看作</a:t>
            </a:r>
            <a:r>
              <a:rPr lang="en-US" altLang="zh-CN" sz="2400" dirty="0" smtClean="0">
                <a:ea typeface="华文楷体" panose="02010600040101010101" pitchFamily="2" charset="-122"/>
              </a:rPr>
              <a:t>n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个长度为</a:t>
            </a:r>
            <a:r>
              <a:rPr lang="en-US" altLang="zh-CN" sz="2400" dirty="0" smtClean="0">
                <a:ea typeface="华文楷体" panose="02010600040101010101" pitchFamily="2" charset="-122"/>
              </a:rPr>
              <a:t>1</a:t>
            </a:r>
            <a:r>
              <a:rPr lang="zh-CN" altLang="en-US" sz="2400" dirty="0" smtClean="0">
                <a:ea typeface="华文楷体" panose="02010600040101010101" pitchFamily="2" charset="-122"/>
              </a:rPr>
              <a:t>的有序子序列，两两归并，得到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</a:t>
            </a:r>
            <a:r>
              <a:rPr lang="en-US" altLang="zh-CN" sz="2400" dirty="0" smtClean="0">
                <a:ea typeface="华文楷体" panose="02010600040101010101" pitchFamily="2" charset="-122"/>
              </a:rPr>
              <a:t>n/2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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个长度为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2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的有序子序列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(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或最后一个子序列长度为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1)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；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第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2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趟：将上述</a:t>
            </a:r>
            <a:r>
              <a:rPr lang="en-US" altLang="zh-CN" sz="2400" dirty="0" smtClean="0">
                <a:ea typeface="华文楷体" panose="02010600040101010101" pitchFamily="2" charset="-122"/>
              </a:rPr>
              <a:t>n/2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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个有序子序列两两归并；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...…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直到合并成一个序列为止。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400" dirty="0" smtClean="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481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4813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示例 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  <a:r>
              <a:rPr lang="en-US" altLang="zh-CN" sz="2400" b="1" dirty="0" smtClean="0">
                <a:ea typeface="华文楷体" panose="02010600040101010101" pitchFamily="2" charset="-122"/>
              </a:rPr>
              <a:t>      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(n=7)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&lt;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初态</a:t>
            </a:r>
            <a:r>
              <a:rPr lang="en-US" altLang="zh-CN" sz="2400" dirty="0" smtClean="0">
                <a:ea typeface="华文楷体" panose="02010600040101010101" pitchFamily="2" charset="-122"/>
              </a:rPr>
              <a:t>&gt;      (</a:t>
            </a:r>
            <a:r>
              <a:rPr lang="en-US" altLang="zh-CN" sz="24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49</a:t>
            </a:r>
            <a:r>
              <a:rPr lang="en-US" altLang="zh-CN" sz="2400" dirty="0" smtClean="0">
                <a:ea typeface="华文楷体" panose="02010600040101010101" pitchFamily="2" charset="-122"/>
              </a:rPr>
              <a:t>)   (38)   (65)   (97)   (76)   (</a:t>
            </a:r>
            <a:r>
              <a:rPr lang="en-US" altLang="zh-CN" sz="2400" u="sng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49</a:t>
            </a:r>
            <a:r>
              <a:rPr lang="en-US" altLang="zh-CN" sz="2400" dirty="0" smtClean="0">
                <a:ea typeface="华文楷体" panose="02010600040101010101" pitchFamily="2" charset="-122"/>
              </a:rPr>
              <a:t>)   (13)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&lt;</a:t>
            </a:r>
            <a:r>
              <a:rPr lang="zh-CN" altLang="en-US" sz="2400" dirty="0" smtClean="0">
                <a:ea typeface="华文楷体" panose="02010600040101010101" pitchFamily="2" charset="-122"/>
              </a:rPr>
              <a:t>第</a:t>
            </a:r>
            <a:r>
              <a:rPr lang="en-US" altLang="zh-CN" sz="2400" dirty="0" smtClean="0">
                <a:ea typeface="华文楷体" panose="02010600040101010101" pitchFamily="2" charset="-122"/>
              </a:rPr>
              <a:t>1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趟</a:t>
            </a:r>
            <a:r>
              <a:rPr lang="en-US" altLang="zh-CN" sz="2400" dirty="0" smtClean="0">
                <a:ea typeface="华文楷体" panose="02010600040101010101" pitchFamily="2" charset="-122"/>
              </a:rPr>
              <a:t>&gt;    (38     49)    (65     97)   (</a:t>
            </a:r>
            <a:r>
              <a:rPr lang="en-US" altLang="zh-CN" sz="2400" u="sng" dirty="0" smtClean="0">
                <a:ea typeface="华文楷体" panose="02010600040101010101" pitchFamily="2" charset="-122"/>
              </a:rPr>
              <a:t>49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     76)   (13)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&lt;</a:t>
            </a:r>
            <a:r>
              <a:rPr lang="zh-CN" altLang="en-US" sz="2400" dirty="0" smtClean="0">
                <a:ea typeface="华文楷体" panose="02010600040101010101" pitchFamily="2" charset="-122"/>
              </a:rPr>
              <a:t>第</a:t>
            </a:r>
            <a:r>
              <a:rPr lang="en-US" altLang="zh-CN" sz="2400" dirty="0" smtClean="0">
                <a:ea typeface="华文楷体" panose="02010600040101010101" pitchFamily="2" charset="-122"/>
              </a:rPr>
              <a:t>2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趟</a:t>
            </a:r>
            <a:r>
              <a:rPr lang="en-US" altLang="zh-CN" sz="2400" dirty="0" smtClean="0">
                <a:ea typeface="华文楷体" panose="02010600040101010101" pitchFamily="2" charset="-122"/>
              </a:rPr>
              <a:t>&gt;    (38     49      65      97)   (13      </a:t>
            </a:r>
            <a:r>
              <a:rPr lang="en-US" altLang="zh-CN" sz="2400" u="sng" dirty="0" smtClean="0">
                <a:ea typeface="华文楷体" panose="02010600040101010101" pitchFamily="2" charset="-122"/>
              </a:rPr>
              <a:t>49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    76)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&lt;</a:t>
            </a:r>
            <a:r>
              <a:rPr lang="zh-CN" altLang="en-US" sz="2400" dirty="0" smtClean="0">
                <a:ea typeface="华文楷体" panose="02010600040101010101" pitchFamily="2" charset="-122"/>
              </a:rPr>
              <a:t>第</a:t>
            </a:r>
            <a:r>
              <a:rPr lang="en-US" altLang="zh-CN" sz="2400" dirty="0" smtClean="0">
                <a:ea typeface="华文楷体" panose="02010600040101010101" pitchFamily="2" charset="-122"/>
              </a:rPr>
              <a:t>3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趟</a:t>
            </a:r>
            <a:r>
              <a:rPr lang="en-US" altLang="zh-CN" sz="2400" dirty="0" smtClean="0">
                <a:ea typeface="华文楷体" panose="02010600040101010101" pitchFamily="2" charset="-122"/>
              </a:rPr>
              <a:t>&gt;    (13     38      49      </a:t>
            </a:r>
            <a:r>
              <a:rPr lang="en-US" altLang="zh-CN" sz="2400" u="sng" dirty="0" smtClean="0">
                <a:ea typeface="华文楷体" panose="02010600040101010101" pitchFamily="2" charset="-122"/>
              </a:rPr>
              <a:t>49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     65      76     97)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 b="1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 b="1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性能分析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 smtClean="0">
                <a:ea typeface="华文楷体" panose="02010600040101010101" pitchFamily="2" charset="-122"/>
              </a:rPr>
              <a:t>任何情况时间复杂度</a:t>
            </a:r>
            <a:r>
              <a:rPr lang="en-US" altLang="zh-CN" sz="2400" dirty="0" smtClean="0">
                <a:ea typeface="华文楷体" panose="02010600040101010101" pitchFamily="2" charset="-122"/>
              </a:rPr>
              <a:t>O(nlog</a:t>
            </a:r>
            <a:r>
              <a:rPr lang="en-US" altLang="zh-CN" sz="2400" baseline="-25000" dirty="0" smtClean="0">
                <a:ea typeface="华文楷体" panose="02010600040101010101" pitchFamily="2" charset="-122"/>
              </a:rPr>
              <a:t>2</a:t>
            </a:r>
            <a:r>
              <a:rPr lang="en-US" altLang="zh-CN" sz="2400" dirty="0" smtClean="0">
                <a:ea typeface="华文楷体" panose="02010600040101010101" pitchFamily="2" charset="-122"/>
              </a:rPr>
              <a:t>n)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 smtClean="0">
                <a:ea typeface="华文楷体" panose="02010600040101010101" pitchFamily="2" charset="-122"/>
              </a:rPr>
              <a:t>空间复杂度</a:t>
            </a:r>
            <a:r>
              <a:rPr lang="en-US" altLang="zh-CN" sz="2400" dirty="0" smtClean="0">
                <a:ea typeface="华文楷体" panose="02010600040101010101" pitchFamily="2" charset="-122"/>
              </a:rPr>
              <a:t>O(n)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 smtClean="0">
                <a:ea typeface="华文楷体" panose="02010600040101010101" pitchFamily="2" charset="-122"/>
              </a:rPr>
              <a:t>很少用于内部排序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 dirty="0" smtClean="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52524"/>
            <a:ext cx="8229600" cy="5629275"/>
          </a:xfrm>
          <a:ln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altLang="zh-CN" sz="1800" dirty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1800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归并数组中两个已排序的子表</a:t>
            </a:r>
            <a:r>
              <a:rPr lang="en-US" altLang="zh-CN" sz="1800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  <a:endParaRPr lang="en-US" altLang="zh-CN" sz="1800" dirty="0"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1800" dirty="0" smtClean="0">
                <a:ea typeface="华文楷体" panose="02010600040101010101" pitchFamily="2" charset="-122"/>
              </a:rPr>
              <a:t>//</a:t>
            </a:r>
            <a:r>
              <a:rPr lang="zh-CN" altLang="en-US" sz="1800" dirty="0" smtClean="0">
                <a:ea typeface="华文楷体" panose="02010600040101010101" pitchFamily="2" charset="-122"/>
              </a:rPr>
              <a:t>归并已排序的</a:t>
            </a:r>
            <a:r>
              <a:rPr lang="en-US" altLang="zh-CN" sz="1800" dirty="0" smtClean="0">
                <a:ea typeface="华文楷体" panose="02010600040101010101" pitchFamily="2" charset="-122"/>
              </a:rPr>
              <a:t>a[</a:t>
            </a:r>
            <a:r>
              <a:rPr lang="en-US" altLang="zh-CN" sz="1800" dirty="0" err="1" smtClean="0">
                <a:ea typeface="华文楷体" panose="02010600040101010101" pitchFamily="2" charset="-122"/>
              </a:rPr>
              <a:t>left..m</a:t>
            </a:r>
            <a:r>
              <a:rPr lang="en-US" altLang="zh-CN" sz="1800" dirty="0" smtClean="0">
                <a:ea typeface="华文楷体" panose="02010600040101010101" pitchFamily="2" charset="-122"/>
              </a:rPr>
              <a:t>] </a:t>
            </a:r>
            <a:r>
              <a:rPr lang="zh-CN" altLang="en-US" sz="1800" dirty="0" smtClean="0">
                <a:ea typeface="华文楷体" panose="02010600040101010101" pitchFamily="2" charset="-122"/>
              </a:rPr>
              <a:t>和</a:t>
            </a:r>
            <a:r>
              <a:rPr lang="en-US" altLang="zh-CN" sz="1800" dirty="0" smtClean="0">
                <a:ea typeface="华文楷体" panose="02010600040101010101" pitchFamily="2" charset="-122"/>
              </a:rPr>
              <a:t>a[m+1..right]</a:t>
            </a:r>
            <a:r>
              <a:rPr lang="zh-CN" altLang="en-US" sz="1800" dirty="0" smtClean="0">
                <a:ea typeface="华文楷体" panose="02010600040101010101" pitchFamily="2" charset="-122"/>
              </a:rPr>
              <a:t>，</a:t>
            </a:r>
            <a:r>
              <a:rPr lang="zh-CN" altLang="en-US" sz="1800" dirty="0">
                <a:ea typeface="华文楷体" panose="02010600040101010101" pitchFamily="2" charset="-122"/>
              </a:rPr>
              <a:t>排序</a:t>
            </a:r>
            <a:r>
              <a:rPr lang="zh-CN" altLang="en-US" sz="1800" dirty="0" smtClean="0">
                <a:ea typeface="华文楷体" panose="02010600040101010101" pitchFamily="2" charset="-122"/>
              </a:rPr>
              <a:t>结果存在</a:t>
            </a:r>
            <a:r>
              <a:rPr lang="en-US" altLang="zh-CN" sz="1800" dirty="0" smtClean="0">
                <a:ea typeface="华文楷体" panose="02010600040101010101" pitchFamily="2" charset="-122"/>
              </a:rPr>
              <a:t>sorted[</a:t>
            </a:r>
            <a:r>
              <a:rPr lang="en-US" altLang="zh-CN" sz="1800" dirty="0" err="1" smtClean="0">
                <a:ea typeface="华文楷体" panose="02010600040101010101" pitchFamily="2" charset="-122"/>
              </a:rPr>
              <a:t>left..right</a:t>
            </a:r>
            <a:r>
              <a:rPr lang="en-US" altLang="zh-CN" sz="1800" dirty="0" smtClean="0">
                <a:ea typeface="华文楷体" panose="02010600040101010101" pitchFamily="2" charset="-122"/>
              </a:rPr>
              <a:t>]</a:t>
            </a:r>
          </a:p>
          <a:p>
            <a:pPr marL="0" indent="0">
              <a:buNone/>
            </a:pPr>
            <a:r>
              <a:rPr lang="en-US" altLang="zh-CN" sz="1800" dirty="0" smtClean="0">
                <a:ea typeface="华文楷体" panose="02010600040101010101" pitchFamily="2" charset="-122"/>
              </a:rPr>
              <a:t>void merge(</a:t>
            </a:r>
            <a:r>
              <a:rPr lang="en-US" altLang="zh-CN" sz="1800" dirty="0" err="1" smtClean="0">
                <a:ea typeface="华文楷体" panose="02010600040101010101" pitchFamily="2" charset="-122"/>
              </a:rPr>
              <a:t>ElemType</a:t>
            </a:r>
            <a:r>
              <a:rPr lang="en-US" altLang="zh-CN" sz="1800" dirty="0" smtClean="0">
                <a:ea typeface="华文楷体" panose="02010600040101010101" pitchFamily="2" charset="-122"/>
              </a:rPr>
              <a:t> a</a:t>
            </a:r>
            <a:r>
              <a:rPr lang="en-US" altLang="zh-CN" sz="1800" dirty="0">
                <a:ea typeface="华文楷体" panose="02010600040101010101" pitchFamily="2" charset="-122"/>
              </a:rPr>
              <a:t>[], </a:t>
            </a:r>
            <a:r>
              <a:rPr lang="en-US" altLang="zh-CN" sz="1800" dirty="0" err="1">
                <a:ea typeface="华文楷体" panose="02010600040101010101" pitchFamily="2" charset="-122"/>
              </a:rPr>
              <a:t>ElemType</a:t>
            </a:r>
            <a:r>
              <a:rPr lang="en-US" altLang="zh-CN" sz="1800" dirty="0">
                <a:ea typeface="华文楷体" panose="02010600040101010101" pitchFamily="2" charset="-122"/>
              </a:rPr>
              <a:t> </a:t>
            </a:r>
            <a:r>
              <a:rPr lang="en-US" altLang="zh-CN" sz="1800" dirty="0" smtClean="0">
                <a:ea typeface="华文楷体" panose="02010600040101010101" pitchFamily="2" charset="-122"/>
              </a:rPr>
              <a:t>sorted[], </a:t>
            </a:r>
            <a:r>
              <a:rPr lang="en-US" altLang="zh-CN" sz="1800" dirty="0" err="1" smtClean="0">
                <a:ea typeface="华文楷体" panose="02010600040101010101" pitchFamily="2" charset="-122"/>
              </a:rPr>
              <a:t>int</a:t>
            </a:r>
            <a:r>
              <a:rPr lang="en-US" altLang="zh-CN" sz="1800" dirty="0" smtClean="0">
                <a:ea typeface="华文楷体" panose="02010600040101010101" pitchFamily="2" charset="-122"/>
              </a:rPr>
              <a:t> left, </a:t>
            </a:r>
            <a:r>
              <a:rPr lang="en-US" altLang="zh-CN" sz="1800" dirty="0" err="1" smtClean="0">
                <a:ea typeface="华文楷体" panose="02010600040101010101" pitchFamily="2" charset="-122"/>
              </a:rPr>
              <a:t>int</a:t>
            </a:r>
            <a:r>
              <a:rPr lang="en-US" altLang="zh-CN" sz="1800" dirty="0" smtClean="0">
                <a:ea typeface="华文楷体" panose="02010600040101010101" pitchFamily="2" charset="-122"/>
              </a:rPr>
              <a:t> m, </a:t>
            </a:r>
            <a:r>
              <a:rPr lang="en-US" altLang="zh-CN" sz="1800" dirty="0" err="1" smtClean="0">
                <a:ea typeface="华文楷体" panose="02010600040101010101" pitchFamily="2" charset="-122"/>
              </a:rPr>
              <a:t>int</a:t>
            </a:r>
            <a:r>
              <a:rPr lang="en-US" altLang="zh-CN" sz="1800" dirty="0" smtClean="0">
                <a:ea typeface="华文楷体" panose="02010600040101010101" pitchFamily="2" charset="-122"/>
              </a:rPr>
              <a:t> right)</a:t>
            </a:r>
          </a:p>
          <a:p>
            <a:pPr marL="0" indent="0">
              <a:buNone/>
            </a:pPr>
            <a:r>
              <a:rPr lang="en-US" altLang="zh-CN" sz="1800" dirty="0" smtClean="0">
                <a:ea typeface="华文楷体" panose="0201060004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1800" dirty="0" smtClean="0">
                <a:ea typeface="华文楷体" panose="02010600040101010101" pitchFamily="2" charset="-122"/>
              </a:rPr>
              <a:t>    </a:t>
            </a:r>
            <a:r>
              <a:rPr lang="en-US" altLang="zh-CN" sz="1800" dirty="0" err="1" smtClean="0">
                <a:ea typeface="华文楷体" panose="02010600040101010101" pitchFamily="2" charset="-122"/>
              </a:rPr>
              <a:t>int</a:t>
            </a:r>
            <a:r>
              <a:rPr lang="en-US" altLang="zh-CN" sz="1800" dirty="0" smtClean="0">
                <a:ea typeface="华文楷体" panose="02010600040101010101" pitchFamily="2" charset="-122"/>
              </a:rPr>
              <a:t> </a:t>
            </a:r>
            <a:r>
              <a:rPr lang="en-US" altLang="zh-CN" sz="18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1800" dirty="0" smtClean="0">
                <a:ea typeface="华文楷体" panose="02010600040101010101" pitchFamily="2" charset="-122"/>
              </a:rPr>
              <a:t>, j, k, t;</a:t>
            </a:r>
          </a:p>
          <a:p>
            <a:pPr marL="0" indent="0">
              <a:buNone/>
            </a:pPr>
            <a:r>
              <a:rPr lang="en-US" altLang="zh-CN" sz="1800" dirty="0">
                <a:ea typeface="华文楷体" panose="02010600040101010101" pitchFamily="2" charset="-122"/>
              </a:rPr>
              <a:t> </a:t>
            </a:r>
            <a:r>
              <a:rPr lang="en-US" altLang="zh-CN" sz="1800" dirty="0" smtClean="0">
                <a:ea typeface="华文楷体" panose="02010600040101010101" pitchFamily="2" charset="-122"/>
              </a:rPr>
              <a:t>   j = m+1;  </a:t>
            </a:r>
            <a:r>
              <a:rPr lang="en-US" altLang="zh-CN" sz="18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1800" dirty="0" smtClean="0">
                <a:ea typeface="华文楷体" panose="02010600040101010101" pitchFamily="2" charset="-122"/>
              </a:rPr>
              <a:t> = k = left;</a:t>
            </a:r>
          </a:p>
          <a:p>
            <a:pPr marL="0" indent="0">
              <a:buNone/>
            </a:pPr>
            <a:r>
              <a:rPr lang="en-US" altLang="zh-CN" sz="1800" dirty="0">
                <a:ea typeface="华文楷体" panose="02010600040101010101" pitchFamily="2" charset="-122"/>
              </a:rPr>
              <a:t> </a:t>
            </a:r>
            <a:r>
              <a:rPr lang="en-US" altLang="zh-CN" sz="1800" dirty="0" smtClean="0">
                <a:ea typeface="华文楷体" panose="02010600040101010101" pitchFamily="2" charset="-122"/>
              </a:rPr>
              <a:t>   while(</a:t>
            </a:r>
            <a:r>
              <a:rPr lang="en-US" altLang="zh-CN" sz="18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1800" dirty="0" smtClean="0">
                <a:ea typeface="华文楷体" panose="02010600040101010101" pitchFamily="2" charset="-122"/>
              </a:rPr>
              <a:t>&lt;=m &amp;&amp; j&lt;=right)</a:t>
            </a:r>
          </a:p>
          <a:p>
            <a:pPr marL="0" indent="0">
              <a:buNone/>
            </a:pPr>
            <a:r>
              <a:rPr lang="en-US" altLang="zh-CN" sz="1800" dirty="0">
                <a:ea typeface="华文楷体" panose="02010600040101010101" pitchFamily="2" charset="-122"/>
              </a:rPr>
              <a:t> </a:t>
            </a:r>
            <a:r>
              <a:rPr lang="en-US" altLang="zh-CN" sz="1800" dirty="0" smtClean="0">
                <a:ea typeface="华文楷体" panose="02010600040101010101" pitchFamily="2" charset="-122"/>
              </a:rPr>
              <a:t>   {</a:t>
            </a:r>
          </a:p>
          <a:p>
            <a:pPr marL="0" indent="0">
              <a:buNone/>
            </a:pPr>
            <a:r>
              <a:rPr lang="en-US" altLang="zh-CN" sz="1800" dirty="0">
                <a:ea typeface="华文楷体" panose="02010600040101010101" pitchFamily="2" charset="-122"/>
              </a:rPr>
              <a:t> </a:t>
            </a:r>
            <a:r>
              <a:rPr lang="en-US" altLang="zh-CN" sz="1800" dirty="0" smtClean="0">
                <a:ea typeface="华文楷体" panose="02010600040101010101" pitchFamily="2" charset="-122"/>
              </a:rPr>
              <a:t>       if (a[</a:t>
            </a:r>
            <a:r>
              <a:rPr lang="en-US" altLang="zh-CN" sz="18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1800" dirty="0" smtClean="0">
                <a:ea typeface="华文楷体" panose="02010600040101010101" pitchFamily="2" charset="-122"/>
              </a:rPr>
              <a:t>].key &lt;= a[j].key)    sorted[k++]=a[</a:t>
            </a:r>
            <a:r>
              <a:rPr lang="en-US" altLang="zh-CN" sz="18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1800" dirty="0" smtClean="0">
                <a:ea typeface="华文楷体" panose="02010600040101010101" pitchFamily="2" charset="-122"/>
              </a:rPr>
              <a:t>++];</a:t>
            </a:r>
          </a:p>
          <a:p>
            <a:pPr marL="0" indent="0">
              <a:buNone/>
            </a:pPr>
            <a:r>
              <a:rPr lang="en-US" altLang="zh-CN" sz="1800" dirty="0">
                <a:ea typeface="华文楷体" panose="02010600040101010101" pitchFamily="2" charset="-122"/>
              </a:rPr>
              <a:t> </a:t>
            </a:r>
            <a:r>
              <a:rPr lang="en-US" altLang="zh-CN" sz="1800" dirty="0" smtClean="0">
                <a:ea typeface="华文楷体" panose="02010600040101010101" pitchFamily="2" charset="-122"/>
              </a:rPr>
              <a:t>       else    sorted[k++] = a[</a:t>
            </a:r>
            <a:r>
              <a:rPr lang="en-US" altLang="zh-CN" sz="1800" dirty="0" err="1" smtClean="0">
                <a:ea typeface="华文楷体" panose="02010600040101010101" pitchFamily="2" charset="-122"/>
              </a:rPr>
              <a:t>j++</a:t>
            </a:r>
            <a:r>
              <a:rPr lang="en-US" altLang="zh-CN" sz="1800" dirty="0" smtClean="0">
                <a:ea typeface="华文楷体" panose="02010600040101010101" pitchFamily="2" charset="-122"/>
              </a:rPr>
              <a:t>];</a:t>
            </a:r>
          </a:p>
          <a:p>
            <a:pPr marL="0" indent="0">
              <a:buNone/>
            </a:pPr>
            <a:r>
              <a:rPr lang="en-US" altLang="zh-CN" sz="1800" dirty="0">
                <a:ea typeface="华文楷体" panose="02010600040101010101" pitchFamily="2" charset="-122"/>
              </a:rPr>
              <a:t> </a:t>
            </a:r>
            <a:r>
              <a:rPr lang="en-US" altLang="zh-CN" sz="1800" dirty="0" smtClean="0">
                <a:ea typeface="华文楷体" panose="02010600040101010101" pitchFamily="2" charset="-122"/>
              </a:rPr>
              <a:t>   }</a:t>
            </a:r>
          </a:p>
          <a:p>
            <a:pPr marL="0" indent="0">
              <a:buNone/>
            </a:pPr>
            <a:r>
              <a:rPr lang="en-US" altLang="zh-CN" sz="1800" dirty="0">
                <a:ea typeface="华文楷体" panose="02010600040101010101" pitchFamily="2" charset="-122"/>
              </a:rPr>
              <a:t> </a:t>
            </a:r>
            <a:r>
              <a:rPr lang="en-US" altLang="zh-CN" sz="1800" dirty="0" smtClean="0">
                <a:ea typeface="华文楷体" panose="02010600040101010101" pitchFamily="2" charset="-122"/>
              </a:rPr>
              <a:t>   if (</a:t>
            </a:r>
            <a:r>
              <a:rPr lang="en-US" altLang="zh-CN" sz="18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1800" dirty="0" smtClean="0">
                <a:ea typeface="华文楷体" panose="02010600040101010101" pitchFamily="2" charset="-122"/>
              </a:rPr>
              <a:t>&lt;m)    </a:t>
            </a:r>
          </a:p>
          <a:p>
            <a:pPr marL="0" indent="0">
              <a:buNone/>
            </a:pPr>
            <a:r>
              <a:rPr lang="en-US" altLang="zh-CN" sz="1800" dirty="0">
                <a:ea typeface="华文楷体" panose="02010600040101010101" pitchFamily="2" charset="-122"/>
              </a:rPr>
              <a:t> </a:t>
            </a:r>
            <a:r>
              <a:rPr lang="en-US" altLang="zh-CN" sz="1800" dirty="0" smtClean="0">
                <a:ea typeface="华文楷体" panose="02010600040101010101" pitchFamily="2" charset="-122"/>
              </a:rPr>
              <a:t>       for (t= j; t&lt;=right; t++)    sorted[</a:t>
            </a:r>
            <a:r>
              <a:rPr lang="en-US" altLang="zh-CN" sz="1800" dirty="0" err="1" smtClean="0">
                <a:ea typeface="华文楷体" panose="02010600040101010101" pitchFamily="2" charset="-122"/>
              </a:rPr>
              <a:t>k+t-j</a:t>
            </a:r>
            <a:r>
              <a:rPr lang="en-US" altLang="zh-CN" sz="1800" dirty="0" smtClean="0">
                <a:ea typeface="华文楷体" panose="02010600040101010101" pitchFamily="2" charset="-122"/>
              </a:rPr>
              <a:t>] = a[t]; //</a:t>
            </a:r>
            <a:r>
              <a:rPr lang="zh-CN" altLang="en-US" sz="1800" dirty="0" smtClean="0">
                <a:ea typeface="华文楷体" panose="02010600040101010101" pitchFamily="2" charset="-122"/>
              </a:rPr>
              <a:t>后半段还有剩余</a:t>
            </a:r>
            <a:endParaRPr lang="en-US" altLang="zh-CN" sz="1800" dirty="0" smtClean="0"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1800" dirty="0" smtClean="0">
                <a:ea typeface="华文楷体" panose="02010600040101010101" pitchFamily="2" charset="-122"/>
              </a:rPr>
              <a:t>    else</a:t>
            </a:r>
          </a:p>
          <a:p>
            <a:pPr marL="0" indent="0">
              <a:buNone/>
            </a:pPr>
            <a:r>
              <a:rPr lang="en-US" altLang="zh-CN" sz="1800" dirty="0">
                <a:ea typeface="华文楷体" panose="02010600040101010101" pitchFamily="2" charset="-122"/>
              </a:rPr>
              <a:t> </a:t>
            </a:r>
            <a:r>
              <a:rPr lang="en-US" altLang="zh-CN" sz="1800" dirty="0" smtClean="0">
                <a:ea typeface="华文楷体" panose="02010600040101010101" pitchFamily="2" charset="-122"/>
              </a:rPr>
              <a:t>       for(t=</a:t>
            </a:r>
            <a:r>
              <a:rPr lang="en-US" altLang="zh-CN" sz="18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1800" dirty="0" smtClean="0">
                <a:ea typeface="华文楷体" panose="02010600040101010101" pitchFamily="2" charset="-122"/>
              </a:rPr>
              <a:t>; t&lt;=m; t++)     sorted[</a:t>
            </a:r>
            <a:r>
              <a:rPr lang="en-US" altLang="zh-CN" sz="1800" dirty="0" err="1" smtClean="0">
                <a:ea typeface="华文楷体" panose="02010600040101010101" pitchFamily="2" charset="-122"/>
              </a:rPr>
              <a:t>k+t-i</a:t>
            </a:r>
            <a:r>
              <a:rPr lang="en-US" altLang="zh-CN" sz="1800" dirty="0" smtClean="0">
                <a:ea typeface="华文楷体" panose="02010600040101010101" pitchFamily="2" charset="-122"/>
              </a:rPr>
              <a:t>] = a[t];//</a:t>
            </a:r>
            <a:r>
              <a:rPr lang="zh-CN" altLang="en-US" sz="1800" dirty="0" smtClean="0">
                <a:ea typeface="华文楷体" panose="02010600040101010101" pitchFamily="2" charset="-122"/>
              </a:rPr>
              <a:t>前半</a:t>
            </a:r>
            <a:r>
              <a:rPr lang="zh-CN" altLang="en-US" sz="1800" dirty="0">
                <a:ea typeface="华文楷体" panose="02010600040101010101" pitchFamily="2" charset="-122"/>
              </a:rPr>
              <a:t>段还有</a:t>
            </a:r>
            <a:r>
              <a:rPr lang="zh-CN" altLang="en-US" sz="1800" dirty="0" smtClean="0">
                <a:ea typeface="华文楷体" panose="02010600040101010101" pitchFamily="2" charset="-122"/>
              </a:rPr>
              <a:t>剩余</a:t>
            </a:r>
            <a:endParaRPr lang="en-US" altLang="zh-CN" sz="1800" dirty="0" smtClean="0"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1800" dirty="0">
                <a:ea typeface="华文楷体" panose="02010600040101010101" pitchFamily="2" charset="-122"/>
              </a:rPr>
              <a:t>}</a:t>
            </a:r>
            <a:endParaRPr lang="zh-CN" altLang="en-US" sz="1800" dirty="0">
              <a:ea typeface="华文楷体" panose="0201060004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smtClean="0"/>
              <a:t>BUPT SCST</a:t>
            </a:r>
            <a:endParaRPr lang="en-US" altLang="zh-CN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5733727" y="2501116"/>
            <a:ext cx="2743200" cy="218521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1700" dirty="0">
                <a:latin typeface="Times New Roman" panose="02020603050405020304" pitchFamily="18" charset="0"/>
                <a:ea typeface="华文楷体" panose="02010600040101010101" pitchFamily="2" charset="-122"/>
              </a:rPr>
              <a:t>Merge</a:t>
            </a:r>
            <a:r>
              <a:rPr lang="zh-CN" altLang="en-US" sz="17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函数分析：每次</a:t>
            </a:r>
            <a:r>
              <a:rPr lang="en-US" altLang="zh-CN" sz="17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while</a:t>
            </a:r>
            <a:r>
              <a:rPr lang="zh-CN" altLang="en-US" sz="17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循环的操作都有一个记录加入结果表</a:t>
            </a:r>
            <a:r>
              <a:rPr lang="en-US" altLang="zh-CN" sz="17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sorted</a:t>
            </a:r>
            <a:r>
              <a:rPr lang="zh-CN" altLang="en-US" sz="17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中，</a:t>
            </a:r>
            <a:r>
              <a:rPr lang="en-US" altLang="zh-CN" sz="17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17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sorted</a:t>
            </a:r>
            <a:r>
              <a:rPr lang="zh-CN" altLang="en-US" sz="17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表大小为</a:t>
            </a:r>
            <a:r>
              <a:rPr lang="en-US" altLang="zh-CN" sz="1700" dirty="0">
                <a:latin typeface="Times New Roman" panose="02020603050405020304" pitchFamily="18" charset="0"/>
                <a:ea typeface="华文楷体" panose="02010600040101010101" pitchFamily="2" charset="-122"/>
              </a:rPr>
              <a:t>right-left+1</a:t>
            </a:r>
            <a:r>
              <a:rPr lang="en-US" altLang="zh-CN" sz="17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;</a:t>
            </a:r>
            <a:r>
              <a:rPr lang="zh-CN" altLang="en-US" sz="17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因此</a:t>
            </a:r>
            <a:r>
              <a:rPr lang="en-US" altLang="zh-CN" sz="17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while</a:t>
            </a:r>
            <a:r>
              <a:rPr lang="zh-CN" altLang="en-US" sz="17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循环执行次数为为</a:t>
            </a:r>
            <a:r>
              <a:rPr lang="en-US" altLang="zh-CN" sz="17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right-left+1</a:t>
            </a:r>
            <a:r>
              <a:rPr lang="zh-CN" altLang="en-US" sz="17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；</a:t>
            </a:r>
            <a:r>
              <a:rPr lang="en-US" altLang="zh-CN" sz="17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merge</a:t>
            </a:r>
            <a:r>
              <a:rPr lang="zh-CN" altLang="en-US" sz="17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函数的时间复杂度可表示为</a:t>
            </a:r>
            <a:r>
              <a:rPr lang="en-US" altLang="zh-CN" sz="17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O(right-left+1)</a:t>
            </a:r>
            <a:r>
              <a:rPr lang="zh-CN" altLang="en-US" sz="17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。</a:t>
            </a:r>
            <a:endParaRPr lang="zh-CN" altLang="en-US" sz="17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7894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en-US" altLang="zh-CN" sz="2400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一趟归并算法</a:t>
            </a:r>
            <a:r>
              <a:rPr lang="en-US" altLang="zh-CN" sz="2400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  <a:endParaRPr lang="en-US" altLang="zh-CN" sz="2400" dirty="0"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 SCST</a:t>
            </a:r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304801" y="1841912"/>
            <a:ext cx="8650978" cy="40934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</a:pP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是记录个数，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length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是子序列长度</a:t>
            </a:r>
            <a:endParaRPr lang="en-US" altLang="zh-CN" sz="2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</a:pPr>
            <a:r>
              <a:rPr lang="en-US" altLang="zh-CN" sz="20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merge_pass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0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ElemType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a[], </a:t>
            </a:r>
            <a:r>
              <a:rPr lang="en-US" altLang="zh-CN" sz="20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ElemType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&amp;sorted[], </a:t>
            </a:r>
            <a:r>
              <a:rPr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n, </a:t>
            </a:r>
            <a:r>
              <a:rPr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length)</a:t>
            </a:r>
          </a:p>
          <a:p>
            <a:pPr>
              <a:spcBef>
                <a:spcPct val="20000"/>
              </a:spcBef>
              <a:buClr>
                <a:schemeClr val="hlink"/>
              </a:buClr>
            </a:pP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{</a:t>
            </a:r>
          </a:p>
          <a:p>
            <a:pPr>
              <a:spcBef>
                <a:spcPct val="20000"/>
              </a:spcBef>
              <a:buClr>
                <a:schemeClr val="hlink"/>
              </a:buClr>
            </a:pP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</a:t>
            </a:r>
            <a:r>
              <a:rPr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i,j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;</a:t>
            </a:r>
          </a:p>
          <a:p>
            <a:pPr>
              <a:spcBef>
                <a:spcPct val="20000"/>
              </a:spcBef>
              <a:buClr>
                <a:schemeClr val="hlink"/>
              </a:buClr>
            </a:pP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for (</a:t>
            </a:r>
            <a:r>
              <a:rPr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= 0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; </a:t>
            </a:r>
            <a:r>
              <a:rPr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&lt;= n-2*length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; </a:t>
            </a:r>
            <a:r>
              <a:rPr lang="en-US" altLang="zh-CN" sz="20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+= 2*length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 //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取长度为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length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的两个归并段归并</a:t>
            </a:r>
            <a:endParaRPr lang="en-US" altLang="zh-CN" sz="20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</a:pP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merge(a, sorted, </a:t>
            </a:r>
            <a:r>
              <a:rPr lang="en-US" altLang="zh-CN" sz="20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, i+length-1, i+2*length-1);</a:t>
            </a:r>
          </a:p>
          <a:p>
            <a:pPr>
              <a:spcBef>
                <a:spcPct val="20000"/>
              </a:spcBef>
              <a:buClr>
                <a:schemeClr val="hlink"/>
              </a:buClr>
            </a:pP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if ( </a:t>
            </a:r>
            <a:r>
              <a:rPr lang="en-US" altLang="zh-CN" sz="20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i+length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&lt; n ) 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//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还剩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两个归并段归并，一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个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长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length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，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一个不足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length</a:t>
            </a:r>
            <a:endParaRPr lang="en-US" altLang="zh-CN" sz="20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</a:pP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merge(a, sorted, </a:t>
            </a:r>
            <a:r>
              <a:rPr lang="en-US" altLang="zh-CN" sz="20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, i+length-1, n-1); </a:t>
            </a:r>
          </a:p>
          <a:p>
            <a:pPr>
              <a:spcBef>
                <a:spcPct val="20000"/>
              </a:spcBef>
              <a:buClr>
                <a:schemeClr val="hlink"/>
              </a:buClr>
            </a:pP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else</a:t>
            </a:r>
          </a:p>
          <a:p>
            <a:pPr>
              <a:spcBef>
                <a:spcPct val="20000"/>
              </a:spcBef>
              <a:buClr>
                <a:schemeClr val="hlink"/>
              </a:buClr>
            </a:pP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for(j = </a:t>
            </a:r>
            <a:r>
              <a:rPr lang="en-US" altLang="zh-CN" sz="20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; j&lt;n; </a:t>
            </a:r>
            <a:r>
              <a:rPr lang="en-US" altLang="zh-CN" sz="20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j++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 sorted[</a:t>
            </a:r>
            <a:r>
              <a:rPr lang="en-US" altLang="zh-CN" sz="20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] = a[j];//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只剩一个归并段，拷贝不归并</a:t>
            </a:r>
            <a:endParaRPr lang="en-US" altLang="zh-CN" sz="2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</a:pP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}</a:t>
            </a:r>
            <a:endParaRPr lang="zh-CN" altLang="en-US" sz="2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019300" y="6002566"/>
            <a:ext cx="5029200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由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merge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函数的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分析可知：</a:t>
            </a:r>
            <a:r>
              <a:rPr lang="en-US" altLang="zh-CN" sz="20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merge_pass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函数的复杂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度即所用归并段的长度之和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: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O(n)</a:t>
            </a:r>
            <a:endParaRPr lang="zh-CN" altLang="en-US" sz="2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37706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400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归并的迭代算法</a:t>
            </a:r>
            <a:r>
              <a:rPr lang="en-US" altLang="zh-CN" sz="2400" dirty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  <a:endParaRPr lang="en-US" altLang="zh-CN" sz="2400" dirty="0"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smtClean="0"/>
              <a:t>BUPT SCST</a:t>
            </a:r>
            <a:endParaRPr lang="en-US" altLang="zh-CN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609600" y="1828800"/>
            <a:ext cx="4142481" cy="40934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对文件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a[]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进行归并 自底向上归并</a:t>
            </a:r>
            <a:endParaRPr lang="en-US" altLang="zh-CN" sz="20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r>
              <a:rPr lang="en-US" altLang="zh-CN" sz="20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mergesort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0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ElemType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&amp;a[], </a:t>
            </a:r>
            <a:r>
              <a:rPr lang="en-US" altLang="zh-CN" sz="20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n)</a:t>
            </a:r>
          </a:p>
          <a:p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{</a:t>
            </a:r>
          </a:p>
          <a:p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</a:t>
            </a:r>
            <a:r>
              <a:rPr lang="en-US" altLang="zh-CN" sz="20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length = 1; //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当前趟归并段长度</a:t>
            </a:r>
            <a:endParaRPr lang="en-US" altLang="zh-CN" sz="20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</a:t>
            </a:r>
            <a:r>
              <a:rPr lang="en-US" altLang="zh-CN" sz="20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ElemType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extra[MAX_SIZE];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while (length &lt; n)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{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</a:t>
            </a:r>
            <a:r>
              <a:rPr lang="en-US" altLang="zh-CN" sz="20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merge_pass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(list, extra, n, length);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length *=2;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</a:t>
            </a:r>
            <a:r>
              <a:rPr lang="en-US" altLang="zh-CN" sz="20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merge_pass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extra, list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, n, length);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length *=2;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}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}</a:t>
            </a:r>
            <a:endParaRPr lang="zh-CN" altLang="en-US" sz="2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043488" y="1828800"/>
            <a:ext cx="3429000" cy="378565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20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mergesort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函数分析：归并排序是在输入记录上执行若干趟归并操作，其中第一趟归并长度为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的子序列，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第二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趟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归并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长度为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的子序列，第</a:t>
            </a:r>
            <a:r>
              <a:rPr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趟归并长度为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sz="2000" baseline="30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i-1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的子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序列，因此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总归并趟数为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⌈log</a:t>
            </a:r>
            <a:r>
              <a:rPr lang="en-US" altLang="zh-CN" sz="200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n⌉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，每一趟归并时间开销为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O(n)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，因此总的时间开销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为：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O(nlog</a:t>
            </a:r>
            <a:r>
              <a:rPr lang="en-US" altLang="zh-CN" sz="2000" baseline="-25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n).</a:t>
            </a:r>
          </a:p>
          <a:p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空间开销：归并要用到一个等长空间缓存中间结果 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O(n)</a:t>
            </a:r>
            <a:endParaRPr lang="zh-CN" altLang="en-US" sz="2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5983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52525"/>
            <a:ext cx="8229600" cy="5476875"/>
          </a:xfrm>
          <a:ln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[</a:t>
            </a:r>
            <a:r>
              <a:rPr lang="zh-CN" altLang="en-US" sz="2000" dirty="0" smtClean="0">
                <a:ea typeface="华文楷体" panose="02010600040101010101" pitchFamily="2" charset="-122"/>
              </a:rPr>
              <a:t>原位归并</a:t>
            </a:r>
            <a:r>
              <a:rPr lang="en-US" altLang="zh-CN" sz="2000" dirty="0" smtClean="0">
                <a:ea typeface="华文楷体" panose="02010600040101010101" pitchFamily="2" charset="-122"/>
              </a:rPr>
              <a:t>-</a:t>
            </a:r>
            <a:r>
              <a:rPr lang="zh-CN" altLang="en-US" sz="2000" dirty="0" smtClean="0">
                <a:ea typeface="华文楷体" panose="02010600040101010101" pitchFamily="2" charset="-122"/>
              </a:rPr>
              <a:t>重写</a:t>
            </a:r>
            <a:r>
              <a:rPr lang="en-US" altLang="zh-CN" sz="2000" dirty="0">
                <a:ea typeface="华文楷体" panose="02010600040101010101" pitchFamily="2" charset="-122"/>
              </a:rPr>
              <a:t>merge</a:t>
            </a:r>
            <a:r>
              <a:rPr lang="zh-CN" altLang="en-US" sz="2000" dirty="0">
                <a:ea typeface="华文楷体" panose="02010600040101010101" pitchFamily="2" charset="-122"/>
              </a:rPr>
              <a:t>函数</a:t>
            </a:r>
            <a:r>
              <a:rPr lang="en-US" altLang="zh-CN" sz="2000" dirty="0">
                <a:ea typeface="华文楷体" panose="02010600040101010101" pitchFamily="2" charset="-122"/>
              </a:rPr>
              <a:t>]</a:t>
            </a:r>
          </a:p>
          <a:p>
            <a:pPr marL="0" indent="0">
              <a:buNone/>
            </a:pPr>
            <a:r>
              <a:rPr lang="en-US" altLang="zh-CN" sz="2000" dirty="0">
                <a:ea typeface="华文楷体" panose="02010600040101010101" pitchFamily="2" charset="-122"/>
              </a:rPr>
              <a:t>//</a:t>
            </a:r>
            <a:r>
              <a:rPr lang="zh-CN" altLang="en-US" sz="2000" dirty="0">
                <a:ea typeface="华文楷体" panose="02010600040101010101" pitchFamily="2" charset="-122"/>
              </a:rPr>
              <a:t>归并已排序的</a:t>
            </a:r>
            <a:r>
              <a:rPr lang="en-US" altLang="zh-CN" sz="2000" dirty="0">
                <a:ea typeface="华文楷体" panose="02010600040101010101" pitchFamily="2" charset="-122"/>
              </a:rPr>
              <a:t>a[</a:t>
            </a:r>
            <a:r>
              <a:rPr lang="en-US" altLang="zh-CN" sz="2000" dirty="0" err="1">
                <a:ea typeface="华文楷体" panose="02010600040101010101" pitchFamily="2" charset="-122"/>
              </a:rPr>
              <a:t>left..m</a:t>
            </a:r>
            <a:r>
              <a:rPr lang="en-US" altLang="zh-CN" sz="2000" dirty="0">
                <a:ea typeface="华文楷体" panose="02010600040101010101" pitchFamily="2" charset="-122"/>
              </a:rPr>
              <a:t>] </a:t>
            </a:r>
            <a:r>
              <a:rPr lang="zh-CN" altLang="en-US" sz="2000" dirty="0">
                <a:ea typeface="华文楷体" panose="02010600040101010101" pitchFamily="2" charset="-122"/>
              </a:rPr>
              <a:t>和</a:t>
            </a:r>
            <a:r>
              <a:rPr lang="en-US" altLang="zh-CN" sz="2000" dirty="0">
                <a:ea typeface="华文楷体" panose="02010600040101010101" pitchFamily="2" charset="-122"/>
              </a:rPr>
              <a:t>a[m+1..right]</a:t>
            </a:r>
            <a:r>
              <a:rPr lang="zh-CN" altLang="en-US" sz="2000" dirty="0">
                <a:ea typeface="华文楷体" panose="02010600040101010101" pitchFamily="2" charset="-122"/>
              </a:rPr>
              <a:t>，排序</a:t>
            </a:r>
            <a:r>
              <a:rPr lang="zh-CN" altLang="en-US" sz="2000" dirty="0" smtClean="0">
                <a:ea typeface="华文楷体" panose="02010600040101010101" pitchFamily="2" charset="-122"/>
              </a:rPr>
              <a:t>结果</a:t>
            </a:r>
            <a:r>
              <a:rPr lang="zh-CN" altLang="en-US" sz="2000" dirty="0">
                <a:ea typeface="华文楷体" panose="02010600040101010101" pitchFamily="2" charset="-122"/>
              </a:rPr>
              <a:t>还</a:t>
            </a:r>
            <a:r>
              <a:rPr lang="zh-CN" altLang="en-US" sz="2000" dirty="0" smtClean="0">
                <a:ea typeface="华文楷体" panose="02010600040101010101" pitchFamily="2" charset="-122"/>
              </a:rPr>
              <a:t>存在</a:t>
            </a:r>
            <a:r>
              <a:rPr lang="en-US" altLang="zh-CN" sz="2000" dirty="0" smtClean="0">
                <a:ea typeface="华文楷体" panose="02010600040101010101" pitchFamily="2" charset="-122"/>
              </a:rPr>
              <a:t>a[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left</a:t>
            </a:r>
            <a:r>
              <a:rPr lang="en-US" altLang="zh-CN" sz="2000" dirty="0" err="1">
                <a:ea typeface="华文楷体" panose="02010600040101010101" pitchFamily="2" charset="-122"/>
              </a:rPr>
              <a:t>..right</a:t>
            </a:r>
            <a:r>
              <a:rPr lang="en-US" altLang="zh-CN" sz="2000" dirty="0">
                <a:ea typeface="华文楷体" panose="02010600040101010101" pitchFamily="2" charset="-122"/>
              </a:rPr>
              <a:t>]</a:t>
            </a:r>
          </a:p>
          <a:p>
            <a:pPr marL="0" indent="0">
              <a:buNone/>
            </a:pPr>
            <a:r>
              <a:rPr lang="en-US" altLang="zh-CN" sz="2000" dirty="0">
                <a:ea typeface="华文楷体" panose="02010600040101010101" pitchFamily="2" charset="-122"/>
              </a:rPr>
              <a:t>void merge(</a:t>
            </a:r>
            <a:r>
              <a:rPr lang="en-US" altLang="zh-CN" sz="2000" dirty="0" err="1">
                <a:ea typeface="华文楷体" panose="02010600040101010101" pitchFamily="2" charset="-122"/>
              </a:rPr>
              <a:t>ElemType</a:t>
            </a:r>
            <a:r>
              <a:rPr lang="en-US" altLang="zh-CN" sz="2000" dirty="0">
                <a:ea typeface="华文楷体" panose="02010600040101010101" pitchFamily="2" charset="-122"/>
              </a:rPr>
              <a:t> a[], 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int</a:t>
            </a:r>
            <a:r>
              <a:rPr lang="en-US" altLang="zh-CN" sz="2000" dirty="0" smtClean="0">
                <a:ea typeface="华文楷体" panose="02010600040101010101" pitchFamily="2" charset="-122"/>
              </a:rPr>
              <a:t> </a:t>
            </a:r>
            <a:r>
              <a:rPr lang="en-US" altLang="zh-CN" sz="2000" dirty="0">
                <a:ea typeface="华文楷体" panose="02010600040101010101" pitchFamily="2" charset="-122"/>
              </a:rPr>
              <a:t>left, </a:t>
            </a:r>
            <a:r>
              <a:rPr lang="en-US" altLang="zh-CN" sz="2000" dirty="0" err="1">
                <a:ea typeface="华文楷体" panose="02010600040101010101" pitchFamily="2" charset="-122"/>
              </a:rPr>
              <a:t>int</a:t>
            </a:r>
            <a:r>
              <a:rPr lang="en-US" altLang="zh-CN" sz="2000" dirty="0">
                <a:ea typeface="华文楷体" panose="02010600040101010101" pitchFamily="2" charset="-122"/>
              </a:rPr>
              <a:t> m, </a:t>
            </a:r>
            <a:r>
              <a:rPr lang="en-US" altLang="zh-CN" sz="2000" dirty="0" err="1">
                <a:ea typeface="华文楷体" panose="02010600040101010101" pitchFamily="2" charset="-122"/>
              </a:rPr>
              <a:t>int</a:t>
            </a:r>
            <a:r>
              <a:rPr lang="en-US" altLang="zh-CN" sz="2000" dirty="0">
                <a:ea typeface="华文楷体" panose="02010600040101010101" pitchFamily="2" charset="-122"/>
              </a:rPr>
              <a:t> right)</a:t>
            </a:r>
          </a:p>
          <a:p>
            <a:pPr marL="0" indent="0">
              <a:buNone/>
            </a:pPr>
            <a:r>
              <a:rPr lang="en-US" altLang="zh-CN" sz="2000" dirty="0" smtClean="0"/>
              <a:t>{</a:t>
            </a:r>
          </a:p>
          <a:p>
            <a:pPr marL="0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</a:t>
            </a:r>
            <a:r>
              <a:rPr lang="en-US" altLang="zh-CN" sz="2000" dirty="0" err="1" smtClean="0"/>
              <a:t>ElemType</a:t>
            </a:r>
            <a:r>
              <a:rPr lang="en-US" altLang="zh-CN" sz="2000" dirty="0" smtClean="0"/>
              <a:t> aux;</a:t>
            </a:r>
          </a:p>
          <a:p>
            <a:pPr marL="0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for (</a:t>
            </a:r>
            <a:r>
              <a:rPr lang="en-US" altLang="zh-CN" sz="2000" dirty="0" err="1" smtClean="0"/>
              <a:t>i</a:t>
            </a:r>
            <a:r>
              <a:rPr lang="en-US" altLang="zh-CN" sz="2000" dirty="0" smtClean="0"/>
              <a:t> = m+1; </a:t>
            </a:r>
            <a:r>
              <a:rPr lang="en-US" altLang="zh-CN" sz="2000" dirty="0" err="1" smtClean="0"/>
              <a:t>i</a:t>
            </a:r>
            <a:r>
              <a:rPr lang="en-US" altLang="zh-CN" sz="2000" dirty="0" smtClean="0"/>
              <a:t> &gt; left; </a:t>
            </a:r>
            <a:r>
              <a:rPr lang="en-US" altLang="zh-CN" sz="2000" dirty="0" err="1" smtClean="0"/>
              <a:t>i</a:t>
            </a:r>
            <a:r>
              <a:rPr lang="en-US" altLang="zh-CN" sz="2000" dirty="0" smtClean="0"/>
              <a:t>--)</a:t>
            </a:r>
          </a:p>
          <a:p>
            <a:pPr marL="0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   aux[i-1] = a[i-1];</a:t>
            </a:r>
          </a:p>
          <a:p>
            <a:pPr marL="0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for (j = m; j &lt; right; </a:t>
            </a:r>
            <a:r>
              <a:rPr lang="en-US" altLang="zh-CN" sz="2000" dirty="0" err="1" smtClean="0"/>
              <a:t>j++</a:t>
            </a:r>
            <a:r>
              <a:rPr lang="en-US" altLang="zh-CN" sz="2000" dirty="0" smtClean="0"/>
              <a:t>)</a:t>
            </a:r>
          </a:p>
          <a:p>
            <a:pPr marL="0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   aux[</a:t>
            </a:r>
            <a:r>
              <a:rPr lang="en-US" altLang="zh-CN" sz="2000" dirty="0" err="1" smtClean="0"/>
              <a:t>r+m-j</a:t>
            </a:r>
            <a:r>
              <a:rPr lang="en-US" altLang="zh-CN" sz="2000" dirty="0" smtClean="0"/>
              <a:t>] = a[j+1];</a:t>
            </a:r>
          </a:p>
          <a:p>
            <a:pPr marL="0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for (k = left; k &lt; right; k++)</a:t>
            </a:r>
          </a:p>
          <a:p>
            <a:pPr marL="0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   if (aux[</a:t>
            </a:r>
            <a:r>
              <a:rPr lang="en-US" altLang="zh-CN" sz="2000" dirty="0"/>
              <a:t>j</a:t>
            </a:r>
            <a:r>
              <a:rPr lang="en-US" altLang="zh-CN" sz="2000" dirty="0" smtClean="0"/>
              <a:t>].key &lt; aux[</a:t>
            </a:r>
            <a:r>
              <a:rPr lang="en-US" altLang="zh-CN" sz="2000" dirty="0" err="1" smtClean="0"/>
              <a:t>i</a:t>
            </a:r>
            <a:r>
              <a:rPr lang="en-US" altLang="zh-CN" sz="2000" dirty="0" smtClean="0"/>
              <a:t>].key)</a:t>
            </a:r>
          </a:p>
          <a:p>
            <a:pPr marL="0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       a[k] = aux[j--];</a:t>
            </a:r>
          </a:p>
          <a:p>
            <a:pPr marL="0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   else </a:t>
            </a:r>
          </a:p>
          <a:p>
            <a:pPr marL="0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       a[k] = aux[</a:t>
            </a:r>
            <a:r>
              <a:rPr lang="en-US" altLang="zh-CN" sz="2000" dirty="0" err="1" smtClean="0"/>
              <a:t>j++</a:t>
            </a:r>
            <a:r>
              <a:rPr lang="en-US" altLang="zh-CN" sz="2000" dirty="0" smtClean="0"/>
              <a:t>];</a:t>
            </a:r>
          </a:p>
          <a:p>
            <a:pPr marL="0" indent="0">
              <a:buNone/>
            </a:pPr>
            <a:r>
              <a:rPr lang="en-US" altLang="zh-CN" sz="2000" dirty="0" smtClean="0"/>
              <a:t>}</a:t>
            </a:r>
            <a:endParaRPr lang="zh-CN" altLang="en-US" sz="200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 SCST</a:t>
            </a:r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4243388" y="2720955"/>
            <a:ext cx="4443412" cy="193899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原位归并的好处：</a:t>
            </a:r>
            <a:endParaRPr lang="en-US" altLang="zh-CN" sz="20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非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原位归并每个循环都要处理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a[</a:t>
            </a:r>
            <a:r>
              <a:rPr lang="en-US" altLang="zh-CN" sz="2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left..m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] 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和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a[m+1..right]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是否越界。</a:t>
            </a:r>
            <a:endParaRPr lang="en-US" altLang="zh-CN" sz="2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原位归并：原数组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前后两部分分别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按照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倒序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复制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到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辅助数组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aux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，这样最大元素成为监视哨，减少边界处理。</a:t>
            </a:r>
          </a:p>
        </p:txBody>
      </p:sp>
    </p:spTree>
    <p:extLst>
      <p:ext uri="{BB962C8B-B14F-4D97-AF65-F5344CB8AC3E}">
        <p14:creationId xmlns:p14="http://schemas.microsoft.com/office/powerpoint/2010/main" val="306691959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1625" y="1395424"/>
            <a:ext cx="6005512" cy="4126205"/>
          </a:xfrm>
          <a:ln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[</a:t>
            </a:r>
            <a:r>
              <a:rPr lang="zh-CN" altLang="en-US" sz="2400" dirty="0" smtClean="0">
                <a:ea typeface="华文楷体" panose="02010600040101010101" pitchFamily="2" charset="-122"/>
              </a:rPr>
              <a:t>重写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mergesort</a:t>
            </a:r>
            <a:r>
              <a:rPr lang="en-US" altLang="zh-CN" sz="2400" dirty="0" smtClean="0">
                <a:ea typeface="华文楷体" panose="02010600040101010101" pitchFamily="2" charset="-122"/>
              </a:rPr>
              <a:t>-</a:t>
            </a:r>
            <a:r>
              <a:rPr lang="zh-CN" altLang="en-US" sz="2400" b="1" dirty="0" smtClean="0">
                <a:solidFill>
                  <a:srgbClr val="FF0000"/>
                </a:solidFill>
                <a:ea typeface="华文楷体" panose="02010600040101010101" pitchFamily="2" charset="-122"/>
              </a:rPr>
              <a:t>自顶向下</a:t>
            </a:r>
            <a:r>
              <a:rPr lang="zh-CN" altLang="en-US" sz="2400" dirty="0">
                <a:ea typeface="华文楷体" panose="02010600040101010101" pitchFamily="2" charset="-122"/>
              </a:rPr>
              <a:t>的归并</a:t>
            </a:r>
            <a:r>
              <a:rPr lang="en-US" altLang="zh-CN" sz="2400" dirty="0">
                <a:ea typeface="华文楷体" panose="02010600040101010101" pitchFamily="2" charset="-122"/>
              </a:rPr>
              <a:t>]</a:t>
            </a:r>
          </a:p>
          <a:p>
            <a:pPr marL="0" indent="0">
              <a:buNone/>
            </a:pPr>
            <a:r>
              <a:rPr lang="en-US" altLang="zh-CN" sz="2400" dirty="0">
                <a:ea typeface="华文楷体" panose="02010600040101010101" pitchFamily="2" charset="-122"/>
              </a:rPr>
              <a:t>void </a:t>
            </a:r>
            <a:r>
              <a:rPr lang="en-US" altLang="zh-CN" sz="2400" dirty="0" err="1">
                <a:ea typeface="华文楷体" panose="02010600040101010101" pitchFamily="2" charset="-122"/>
              </a:rPr>
              <a:t>mergesort</a:t>
            </a:r>
            <a:r>
              <a:rPr lang="en-US" altLang="zh-CN" sz="2400" dirty="0">
                <a:ea typeface="华文楷体" panose="02010600040101010101" pitchFamily="2" charset="-122"/>
              </a:rPr>
              <a:t>(</a:t>
            </a:r>
            <a:r>
              <a:rPr lang="en-US" altLang="zh-CN" sz="2400" dirty="0" err="1">
                <a:ea typeface="华文楷体" panose="02010600040101010101" pitchFamily="2" charset="-122"/>
              </a:rPr>
              <a:t>ElemType</a:t>
            </a:r>
            <a:r>
              <a:rPr lang="en-US" altLang="zh-CN" sz="2400" dirty="0">
                <a:ea typeface="华文楷体" panose="02010600040101010101" pitchFamily="2" charset="-122"/>
              </a:rPr>
              <a:t> a[], </a:t>
            </a:r>
            <a:r>
              <a:rPr lang="en-US" altLang="zh-CN" sz="2400" dirty="0" err="1">
                <a:ea typeface="华文楷体" panose="02010600040101010101" pitchFamily="2" charset="-122"/>
              </a:rPr>
              <a:t>int</a:t>
            </a:r>
            <a:r>
              <a:rPr lang="en-US" altLang="zh-CN" sz="2400" dirty="0">
                <a:ea typeface="华文楷体" panose="02010600040101010101" pitchFamily="2" charset="-122"/>
              </a:rPr>
              <a:t> left, </a:t>
            </a:r>
            <a:r>
              <a:rPr lang="en-US" altLang="zh-CN" sz="2400" dirty="0" err="1">
                <a:ea typeface="华文楷体" panose="02010600040101010101" pitchFamily="2" charset="-122"/>
              </a:rPr>
              <a:t>int</a:t>
            </a:r>
            <a:r>
              <a:rPr lang="en-US" altLang="zh-CN" sz="2400" dirty="0">
                <a:ea typeface="华文楷体" panose="02010600040101010101" pitchFamily="2" charset="-122"/>
              </a:rPr>
              <a:t> right)</a:t>
            </a:r>
          </a:p>
          <a:p>
            <a:pPr marL="0" indent="0">
              <a:buNone/>
            </a:pPr>
            <a:r>
              <a:rPr lang="en-US" altLang="zh-CN" sz="2400" dirty="0">
                <a:ea typeface="华文楷体" panose="0201060004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400" dirty="0">
                <a:ea typeface="华文楷体" panose="02010600040101010101" pitchFamily="2" charset="-122"/>
              </a:rPr>
              <a:t>    </a:t>
            </a:r>
            <a:r>
              <a:rPr lang="en-US" altLang="zh-CN" sz="2400" dirty="0" err="1">
                <a:ea typeface="华文楷体" panose="02010600040101010101" pitchFamily="2" charset="-122"/>
              </a:rPr>
              <a:t>int</a:t>
            </a:r>
            <a:r>
              <a:rPr lang="en-US" altLang="zh-CN" sz="2400" dirty="0">
                <a:ea typeface="华文楷体" panose="02010600040101010101" pitchFamily="2" charset="-122"/>
              </a:rPr>
              <a:t> m = (left + right)/2;</a:t>
            </a:r>
          </a:p>
          <a:p>
            <a:pPr marL="0" indent="0">
              <a:buNone/>
            </a:pPr>
            <a:r>
              <a:rPr lang="en-US" altLang="zh-CN" sz="2400" dirty="0">
                <a:ea typeface="华文楷体" panose="02010600040101010101" pitchFamily="2" charset="-122"/>
              </a:rPr>
              <a:t>    if (right &lt;= left) return;</a:t>
            </a:r>
          </a:p>
          <a:p>
            <a:pPr marL="0" indent="0">
              <a:buNone/>
            </a:pPr>
            <a:r>
              <a:rPr lang="en-US" altLang="zh-CN" sz="2400" dirty="0">
                <a:ea typeface="华文楷体" panose="02010600040101010101" pitchFamily="2" charset="-122"/>
              </a:rPr>
              <a:t>    </a:t>
            </a:r>
            <a:r>
              <a:rPr lang="en-US" altLang="zh-CN" sz="2400" dirty="0" err="1">
                <a:ea typeface="华文楷体" panose="02010600040101010101" pitchFamily="2" charset="-122"/>
              </a:rPr>
              <a:t>mergesort</a:t>
            </a:r>
            <a:r>
              <a:rPr lang="en-US" altLang="zh-CN" sz="2400" dirty="0">
                <a:ea typeface="华文楷体" panose="02010600040101010101" pitchFamily="2" charset="-122"/>
              </a:rPr>
              <a:t>(a, left, m);</a:t>
            </a:r>
          </a:p>
          <a:p>
            <a:pPr marL="0" indent="0">
              <a:buNone/>
            </a:pPr>
            <a:r>
              <a:rPr lang="en-US" altLang="zh-CN" sz="2400" dirty="0">
                <a:ea typeface="华文楷体" panose="02010600040101010101" pitchFamily="2" charset="-122"/>
              </a:rPr>
              <a:t>    </a:t>
            </a:r>
            <a:r>
              <a:rPr lang="en-US" altLang="zh-CN" sz="2400" dirty="0" err="1">
                <a:ea typeface="华文楷体" panose="02010600040101010101" pitchFamily="2" charset="-122"/>
              </a:rPr>
              <a:t>mergesort</a:t>
            </a:r>
            <a:r>
              <a:rPr lang="en-US" altLang="zh-CN" sz="2400" dirty="0">
                <a:ea typeface="华文楷体" panose="02010600040101010101" pitchFamily="2" charset="-122"/>
              </a:rPr>
              <a:t>(a, m+1, right);</a:t>
            </a:r>
          </a:p>
          <a:p>
            <a:pPr marL="0" indent="0">
              <a:buNone/>
            </a:pPr>
            <a:r>
              <a:rPr lang="en-US" altLang="zh-CN" sz="2400" dirty="0">
                <a:ea typeface="华文楷体" panose="02010600040101010101" pitchFamily="2" charset="-122"/>
              </a:rPr>
              <a:t>    merge(a, left, m, right);</a:t>
            </a:r>
          </a:p>
          <a:p>
            <a:pPr marL="0" indent="0">
              <a:buNone/>
            </a:pPr>
            <a:r>
              <a:rPr lang="en-US" altLang="zh-CN" sz="2400" dirty="0">
                <a:ea typeface="华文楷体" panose="02010600040101010101" pitchFamily="2" charset="-122"/>
              </a:rPr>
              <a:t>}</a:t>
            </a:r>
            <a:endParaRPr lang="zh-CN" altLang="en-US" sz="2400" dirty="0">
              <a:ea typeface="华文楷体" panose="0201060004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 SCST</a:t>
            </a:r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>
          <a:xfrm>
            <a:off x="152400" y="847579"/>
            <a:ext cx="8458200" cy="228600"/>
          </a:xfrm>
        </p:spPr>
        <p:txBody>
          <a:bodyPr/>
          <a:lstStyle/>
          <a:p>
            <a:pPr>
              <a:defRPr/>
            </a:pPr>
            <a:r>
              <a:rPr lang="en-US" altLang="zh-CN" smtClean="0"/>
              <a:t>BUPT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6629400" y="1981200"/>
            <a:ext cx="2362200" cy="295465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自顶向下归并的方法：将归并文件分成两部分，这两部分分别递归得到结果后，这两个结果合并成最终结果。</a:t>
            </a:r>
            <a:endParaRPr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29988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52525"/>
            <a:ext cx="8229600" cy="3952875"/>
          </a:xfrm>
          <a:ln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altLang="zh-CN" sz="2400" dirty="0">
                <a:ea typeface="华文楷体" panose="02010600040101010101" pitchFamily="2" charset="-122"/>
              </a:rPr>
              <a:t>[</a:t>
            </a:r>
            <a:r>
              <a:rPr lang="zh-CN" altLang="en-US" sz="2400" dirty="0">
                <a:ea typeface="华文楷体" panose="02010600040101010101" pitchFamily="2" charset="-122"/>
              </a:rPr>
              <a:t>重写</a:t>
            </a:r>
            <a:r>
              <a:rPr lang="en-US" altLang="zh-CN" sz="2400" dirty="0" err="1">
                <a:ea typeface="华文楷体" panose="02010600040101010101" pitchFamily="2" charset="-122"/>
              </a:rPr>
              <a:t>mergesort</a:t>
            </a:r>
            <a:r>
              <a:rPr lang="en-US" altLang="zh-CN" sz="2400" dirty="0">
                <a:ea typeface="华文楷体" panose="02010600040101010101" pitchFamily="2" charset="-122"/>
              </a:rPr>
              <a:t>-</a:t>
            </a:r>
            <a:r>
              <a:rPr lang="zh-CN" altLang="en-US" sz="2400" b="1" dirty="0" smtClean="0">
                <a:solidFill>
                  <a:srgbClr val="FF0000"/>
                </a:solidFill>
                <a:ea typeface="华文楷体" panose="02010600040101010101" pitchFamily="2" charset="-122"/>
              </a:rPr>
              <a:t>自底向上</a:t>
            </a:r>
            <a:r>
              <a:rPr lang="zh-CN" altLang="en-US" sz="2400" dirty="0" smtClean="0">
                <a:ea typeface="华文楷体" panose="02010600040101010101" pitchFamily="2" charset="-122"/>
              </a:rPr>
              <a:t>的</a:t>
            </a:r>
            <a:r>
              <a:rPr lang="zh-CN" altLang="en-US" sz="2400" dirty="0">
                <a:ea typeface="华文楷体" panose="02010600040101010101" pitchFamily="2" charset="-122"/>
              </a:rPr>
              <a:t>归并</a:t>
            </a:r>
            <a:r>
              <a:rPr lang="en-US" altLang="zh-CN" sz="2400" dirty="0">
                <a:ea typeface="华文楷体" panose="02010600040101010101" pitchFamily="2" charset="-122"/>
              </a:rPr>
              <a:t>]</a:t>
            </a:r>
          </a:p>
          <a:p>
            <a:pPr marL="0" indent="0">
              <a:buNone/>
            </a:pPr>
            <a:r>
              <a:rPr lang="en-US" altLang="zh-CN" sz="2400" dirty="0" smtClean="0"/>
              <a:t>#define min(A, B) (A &lt; B) ? A : B</a:t>
            </a:r>
          </a:p>
          <a:p>
            <a:pPr marL="0" indent="0">
              <a:buNone/>
            </a:pPr>
            <a:r>
              <a:rPr lang="en-US" altLang="zh-CN" sz="2400" dirty="0" smtClean="0"/>
              <a:t>void </a:t>
            </a:r>
            <a:r>
              <a:rPr lang="en-US" altLang="zh-CN" sz="2400" dirty="0" err="1" smtClean="0"/>
              <a:t>mergesortBU</a:t>
            </a:r>
            <a:r>
              <a:rPr lang="en-US" altLang="zh-CN" sz="2400" dirty="0" smtClean="0"/>
              <a:t>(</a:t>
            </a:r>
            <a:r>
              <a:rPr lang="en-US" altLang="zh-CN" sz="2400" dirty="0" err="1" smtClean="0"/>
              <a:t>ElemType</a:t>
            </a:r>
            <a:r>
              <a:rPr lang="en-US" altLang="zh-CN" sz="2400" dirty="0" smtClean="0"/>
              <a:t> a[], 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left, 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right)</a:t>
            </a:r>
          </a:p>
          <a:p>
            <a:pPr marL="0" indent="0">
              <a:buNone/>
            </a:pPr>
            <a:r>
              <a:rPr lang="en-US" altLang="zh-CN" sz="2400" dirty="0" smtClean="0"/>
              <a:t>{</a:t>
            </a:r>
          </a:p>
          <a:p>
            <a:pPr marL="0" indent="0">
              <a:buNone/>
            </a:pPr>
            <a:r>
              <a:rPr lang="en-US" altLang="zh-CN" sz="2400" dirty="0"/>
              <a:t> </a:t>
            </a:r>
            <a:r>
              <a:rPr lang="en-US" altLang="zh-CN" sz="2400" dirty="0" smtClean="0"/>
              <a:t>   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, m;</a:t>
            </a:r>
            <a:r>
              <a:rPr lang="en-US" altLang="zh-CN" sz="2400" dirty="0">
                <a:ea typeface="华文楷体" panose="02010600040101010101" pitchFamily="2" charset="-122"/>
              </a:rPr>
              <a:t>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//m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记录归并段长度，初始</a:t>
            </a:r>
            <a:r>
              <a:rPr lang="zh-CN" altLang="en-US" sz="2400" dirty="0">
                <a:ea typeface="华文楷体" panose="02010600040101010101" pitchFamily="2" charset="-122"/>
              </a:rPr>
              <a:t>每归并段长</a:t>
            </a:r>
            <a:r>
              <a:rPr lang="en-US" altLang="zh-CN" sz="2400" dirty="0">
                <a:ea typeface="华文楷体" panose="02010600040101010101" pitchFamily="2" charset="-122"/>
              </a:rPr>
              <a:t>1</a:t>
            </a:r>
          </a:p>
          <a:p>
            <a:pPr marL="0" indent="0">
              <a:buNone/>
            </a:pPr>
            <a:r>
              <a:rPr lang="en-US" altLang="zh-CN" sz="2400" dirty="0" smtClean="0"/>
              <a:t>    for (m = 1; m &lt;= right-1; m = </a:t>
            </a:r>
            <a:r>
              <a:rPr lang="en-US" altLang="zh-CN" sz="2400" dirty="0" err="1">
                <a:ea typeface="华文楷体" panose="02010600040101010101" pitchFamily="2" charset="-122"/>
              </a:rPr>
              <a:t>m+m</a:t>
            </a:r>
            <a:r>
              <a:rPr lang="en-US" altLang="zh-CN" sz="2400" dirty="0">
                <a:ea typeface="华文楷体" panose="02010600040101010101" pitchFamily="2" charset="-122"/>
              </a:rPr>
              <a:t>) </a:t>
            </a:r>
            <a:endParaRPr lang="en-US" altLang="zh-CN" sz="2400" dirty="0" smtClean="0"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2400" dirty="0">
                <a:ea typeface="华文楷体" panose="02010600040101010101" pitchFamily="2" charset="-122"/>
              </a:rPr>
              <a:t>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      </a:t>
            </a:r>
            <a:r>
              <a:rPr lang="en-US" altLang="zh-CN" sz="2400" dirty="0" smtClean="0"/>
              <a:t>for (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 = left; 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 &lt;= right –m; 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 +=</a:t>
            </a:r>
            <a:r>
              <a:rPr lang="en-US" altLang="zh-CN" sz="2400" dirty="0" err="1" smtClean="0"/>
              <a:t>m+m</a:t>
            </a:r>
            <a:r>
              <a:rPr lang="en-US" altLang="zh-CN" sz="2400" dirty="0" smtClean="0"/>
              <a:t>)</a:t>
            </a:r>
          </a:p>
          <a:p>
            <a:pPr marL="0" indent="0">
              <a:buNone/>
            </a:pPr>
            <a:r>
              <a:rPr lang="en-US" altLang="zh-CN" sz="2400" dirty="0" smtClean="0"/>
              <a:t>            merge(a, 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, i+m-1, min(i+m+m-1, right));</a:t>
            </a:r>
          </a:p>
          <a:p>
            <a:pPr marL="0" indent="0">
              <a:buNone/>
            </a:pPr>
            <a:r>
              <a:rPr lang="en-US" altLang="zh-CN" sz="2400" dirty="0"/>
              <a:t>}</a:t>
            </a:r>
            <a:endParaRPr lang="zh-CN" altLang="en-US" sz="240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 SCST</a:t>
            </a:r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457200" y="5191125"/>
            <a:ext cx="8229600" cy="163121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自底向下的归并：将文件中元素看成是大小为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的有序子表，进行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1-1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归并，产生大小为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的有序子表，进行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2-2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归并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…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依次</a:t>
            </a:r>
            <a:r>
              <a:rPr lang="zh-CN" altLang="en-US" sz="2000">
                <a:latin typeface="Times New Roman" panose="02020603050405020304" pitchFamily="18" charset="0"/>
                <a:ea typeface="华文楷体" panose="02010600040101010101" pitchFamily="2" charset="-122"/>
              </a:rPr>
              <a:t>类推</a:t>
            </a:r>
            <a:r>
              <a:rPr lang="zh-CN" altLang="en-US" sz="200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，直到最后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整个表有序。</a:t>
            </a:r>
            <a:endParaRPr lang="en-US" altLang="zh-CN" sz="2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在进行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m-m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归并后，下一趟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m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加倍。仅当文件大小是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m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的偶数倍时，最后子文件大小为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m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。因此每趟最后的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归并是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m-x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归并，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x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小于等于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m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。</a:t>
            </a:r>
            <a:endParaRPr lang="zh-CN" altLang="en-US" sz="2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1858472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076325"/>
            <a:ext cx="8229600" cy="5248275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静态链表归并</a:t>
            </a:r>
            <a:r>
              <a:rPr lang="zh-CN" altLang="en-US" sz="2400" dirty="0">
                <a:solidFill>
                  <a:srgbClr val="CC6600"/>
                </a:solidFill>
                <a:ea typeface="华文楷体" panose="02010600040101010101" pitchFamily="2" charset="-122"/>
              </a:rPr>
              <a:t>的递归算法</a:t>
            </a:r>
            <a:r>
              <a:rPr lang="en-US" altLang="zh-CN" sz="2400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  <a:endParaRPr lang="en-US" altLang="zh-CN" sz="2400" dirty="0">
              <a:solidFill>
                <a:srgbClr val="CC6600"/>
              </a:solidFill>
              <a:ea typeface="华文楷体" panose="0201060004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 SCST</a:t>
            </a:r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76200" y="1464945"/>
            <a:ext cx="4596024" cy="29546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5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在递归算法中将记录结构做一个小的修改，添加一个指针域。</a:t>
            </a:r>
            <a:endParaRPr lang="en-US" altLang="zh-CN" sz="15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kumimoji="1" lang="en-US" altLang="zh-CN" sz="15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15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typedef</a:t>
            </a:r>
            <a:r>
              <a:rPr kumimoji="1" lang="en-US" altLang="zh-CN" sz="15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1" lang="en-US" altLang="zh-CN" sz="15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struct</a:t>
            </a:r>
            <a:r>
              <a:rPr kumimoji="1" lang="en-US" altLang="zh-CN" sz="15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15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{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15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</a:t>
            </a:r>
            <a:r>
              <a:rPr kumimoji="1" lang="en-US" altLang="zh-CN" sz="15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KeyType</a:t>
            </a:r>
            <a:r>
              <a:rPr kumimoji="1" lang="en-US" altLang="zh-CN" sz="15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key;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15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</a:t>
            </a:r>
            <a:r>
              <a:rPr kumimoji="1" lang="en-US" altLang="zh-CN" sz="15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InfoType</a:t>
            </a:r>
            <a:r>
              <a:rPr kumimoji="1" lang="en-US" altLang="zh-CN" sz="15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kumimoji="1" lang="en-US" altLang="zh-CN" sz="15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otherinfo</a:t>
            </a:r>
            <a:r>
              <a:rPr kumimoji="1" lang="en-US" altLang="zh-CN" sz="15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1500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</a:t>
            </a:r>
            <a:r>
              <a:rPr kumimoji="1" lang="en-US" altLang="zh-CN" sz="1500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kumimoji="1" lang="en-US" altLang="zh-CN" sz="1500" dirty="0" smtClean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next;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en-US" altLang="zh-CN" sz="15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} </a:t>
            </a:r>
            <a:r>
              <a:rPr kumimoji="1" lang="en-US" altLang="zh-CN" sz="15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ElemType</a:t>
            </a:r>
            <a:r>
              <a:rPr kumimoji="1" lang="en-US" altLang="zh-CN" sz="15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kumimoji="1" lang="en-US" altLang="zh-CN" sz="15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zh-CN" altLang="en-US" sz="15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指针域</a:t>
            </a:r>
            <a:r>
              <a:rPr kumimoji="1" lang="en-US" altLang="zh-CN" sz="15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next</a:t>
            </a:r>
            <a:r>
              <a:rPr kumimoji="1" lang="zh-CN" altLang="en-US" sz="15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是整形的，初始化</a:t>
            </a:r>
            <a:r>
              <a:rPr kumimoji="1" lang="en-US" altLang="zh-CN" sz="15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a[</a:t>
            </a:r>
            <a:r>
              <a:rPr kumimoji="1" lang="en-US" altLang="zh-CN" sz="15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kumimoji="1" lang="en-US" altLang="zh-CN" sz="15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].next =-1</a:t>
            </a:r>
            <a:r>
              <a:rPr kumimoji="1" lang="zh-CN" altLang="en-US" sz="15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。</a:t>
            </a:r>
            <a:endParaRPr kumimoji="1" lang="en-US" altLang="zh-CN" sz="15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zh-CN" altLang="en-US" sz="15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函数</a:t>
            </a:r>
            <a:r>
              <a:rPr kumimoji="1" lang="en-US" altLang="zh-CN" sz="15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rmerge</a:t>
            </a:r>
            <a:r>
              <a:rPr kumimoji="1" lang="zh-CN" altLang="en-US" sz="15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实现递归算法，返回一个指向已排序序列起始位置</a:t>
            </a:r>
            <a:r>
              <a:rPr kumimoji="1" lang="en-US" altLang="zh-CN" sz="15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zh-CN" altLang="en-US" sz="15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函数</a:t>
            </a:r>
            <a:r>
              <a:rPr kumimoji="1" lang="en-US" altLang="zh-CN" sz="15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listmerge</a:t>
            </a:r>
            <a:r>
              <a:rPr kumimoji="1" lang="zh-CN" altLang="en-US" sz="15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输入两个已排序链表</a:t>
            </a:r>
            <a:r>
              <a:rPr kumimoji="1" lang="en-US" altLang="zh-CN" sz="15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first</a:t>
            </a:r>
            <a:r>
              <a:rPr kumimoji="1" lang="zh-CN" altLang="en-US" sz="15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和</a:t>
            </a:r>
            <a:r>
              <a:rPr kumimoji="1" lang="en-US" altLang="zh-CN" sz="15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second</a:t>
            </a:r>
            <a:r>
              <a:rPr kumimoji="1" lang="zh-CN" altLang="en-US" sz="15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，返回一个整数；整数表示已归并排序单链表的起始位置。</a:t>
            </a:r>
            <a:endParaRPr lang="zh-CN" altLang="en-US" sz="15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6200" y="4395787"/>
            <a:ext cx="4596024" cy="246221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sz="1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1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rmerge</a:t>
            </a:r>
            <a:r>
              <a:rPr lang="en-US" altLang="zh-CN" sz="1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1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ElemType</a:t>
            </a:r>
            <a:r>
              <a:rPr lang="en-US" altLang="zh-CN" sz="1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1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&amp;a</a:t>
            </a:r>
            <a:r>
              <a:rPr lang="en-US" altLang="zh-CN" sz="1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[], </a:t>
            </a:r>
            <a:r>
              <a:rPr lang="en-US" altLang="zh-CN" sz="1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sz="1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1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left, </a:t>
            </a:r>
            <a:r>
              <a:rPr lang="en-US" altLang="zh-CN" sz="1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sz="1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1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right)</a:t>
            </a:r>
            <a:endParaRPr lang="en-US" altLang="zh-CN" sz="1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r>
              <a:rPr lang="en-US" altLang="zh-CN" sz="1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{//</a:t>
            </a:r>
            <a:r>
              <a:rPr lang="zh-CN" altLang="en-US" sz="1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自顶向下划分 </a:t>
            </a:r>
            <a:r>
              <a:rPr lang="en-US" altLang="zh-CN" sz="1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- </a:t>
            </a:r>
            <a:r>
              <a:rPr lang="zh-CN" altLang="en-US" sz="1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分</a:t>
            </a:r>
            <a:r>
              <a:rPr lang="zh-CN" altLang="en-US" sz="1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治法</a:t>
            </a:r>
            <a:endParaRPr lang="en-US" altLang="zh-CN" sz="1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r>
              <a:rPr lang="en-US" altLang="zh-CN" sz="1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</a:t>
            </a:r>
            <a:r>
              <a:rPr lang="en-US" altLang="zh-CN" sz="1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sz="1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middle;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if (</a:t>
            </a:r>
            <a:r>
              <a:rPr lang="en-US" altLang="zh-CN" sz="1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left </a:t>
            </a:r>
            <a:r>
              <a:rPr lang="en-US" altLang="zh-CN" sz="1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&gt;= </a:t>
            </a:r>
            <a:r>
              <a:rPr lang="en-US" altLang="zh-CN" sz="1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right) </a:t>
            </a:r>
            <a:r>
              <a:rPr lang="en-US" altLang="zh-CN" sz="1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return </a:t>
            </a:r>
            <a:r>
              <a:rPr lang="en-US" altLang="zh-CN" sz="1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left; //</a:t>
            </a:r>
            <a:r>
              <a:rPr lang="zh-CN" altLang="en-US" sz="1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序列长</a:t>
            </a:r>
            <a:r>
              <a:rPr lang="en-US" altLang="zh-CN" sz="1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1or 0</a:t>
            </a:r>
            <a:r>
              <a:rPr lang="zh-CN" altLang="en-US" sz="1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有序，退出</a:t>
            </a:r>
            <a:endParaRPr lang="en-US" altLang="zh-CN" sz="1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r>
              <a:rPr lang="en-US" altLang="zh-CN" sz="1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else 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{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middle = (</a:t>
            </a:r>
            <a:r>
              <a:rPr lang="en-US" altLang="zh-CN" sz="1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left </a:t>
            </a:r>
            <a:r>
              <a:rPr lang="en-US" altLang="zh-CN" sz="1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+ </a:t>
            </a:r>
            <a:r>
              <a:rPr lang="en-US" altLang="zh-CN" sz="1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right)/</a:t>
            </a:r>
            <a:r>
              <a:rPr lang="en-US" altLang="zh-CN" sz="1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2;</a:t>
            </a:r>
          </a:p>
          <a:p>
            <a:r>
              <a:rPr lang="en-US" altLang="zh-CN" sz="1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 return </a:t>
            </a:r>
            <a:r>
              <a:rPr lang="en-US" altLang="zh-CN" sz="14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listmerge</a:t>
            </a:r>
            <a:r>
              <a:rPr lang="en-US" altLang="zh-CN" sz="1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(a, </a:t>
            </a:r>
            <a:r>
              <a:rPr lang="en-US" altLang="zh-CN" sz="14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rmerge</a:t>
            </a:r>
            <a:r>
              <a:rPr lang="en-US" altLang="zh-CN" sz="1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14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a,left,middle</a:t>
            </a:r>
            <a:r>
              <a:rPr lang="en-US" altLang="zh-CN" sz="1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),</a:t>
            </a:r>
          </a:p>
          <a:p>
            <a:r>
              <a:rPr lang="en-US" altLang="zh-CN" sz="1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                       </a:t>
            </a:r>
            <a:r>
              <a:rPr lang="en-US" altLang="zh-CN" sz="14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rmerge</a:t>
            </a:r>
            <a:r>
              <a:rPr lang="en-US" altLang="zh-CN" sz="1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(a,middle+1,right));</a:t>
            </a:r>
          </a:p>
          <a:p>
            <a:r>
              <a:rPr lang="en-US" altLang="zh-CN" sz="1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</a:t>
            </a:r>
            <a:r>
              <a:rPr lang="en-US" altLang="zh-CN" sz="1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}</a:t>
            </a:r>
          </a:p>
          <a:p>
            <a:r>
              <a:rPr lang="en-US" altLang="zh-CN" sz="1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}</a:t>
            </a:r>
            <a:endParaRPr lang="zh-CN" altLang="en-US" sz="1400" dirty="0"/>
          </a:p>
        </p:txBody>
      </p:sp>
      <p:sp>
        <p:nvSpPr>
          <p:cNvPr id="8" name="文本框 7"/>
          <p:cNvSpPr txBox="1"/>
          <p:nvPr/>
        </p:nvSpPr>
        <p:spPr>
          <a:xfrm>
            <a:off x="4800600" y="1405433"/>
            <a:ext cx="4267200" cy="526297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6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listmerge</a:t>
            </a:r>
            <a:r>
              <a:rPr lang="en-US" altLang="zh-CN" sz="16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16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ElemType</a:t>
            </a:r>
            <a:r>
              <a:rPr lang="en-US" altLang="zh-CN" sz="16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&amp;a</a:t>
            </a:r>
            <a:r>
              <a: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</a:rPr>
              <a:t>[], </a:t>
            </a:r>
            <a:r>
              <a:rPr lang="en-US" altLang="zh-CN" sz="16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first, </a:t>
            </a:r>
            <a:r>
              <a:rPr lang="en-US" altLang="zh-CN" sz="16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second)</a:t>
            </a:r>
          </a:p>
          <a:p>
            <a:r>
              <a:rPr lang="en-US" altLang="zh-CN" sz="16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{ //</a:t>
            </a:r>
            <a:r>
              <a:rPr lang="zh-CN" altLang="en-US" sz="16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元素存放在</a:t>
            </a:r>
            <a:r>
              <a:rPr lang="en-US" altLang="zh-CN" sz="16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a[0..n-1] a[n]</a:t>
            </a:r>
            <a:r>
              <a:rPr lang="zh-CN" altLang="en-US" sz="16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头结点</a:t>
            </a:r>
            <a:endParaRPr lang="en-US" altLang="zh-CN" sz="16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</a:t>
            </a:r>
            <a:r>
              <a:rPr lang="en-US" altLang="zh-CN" sz="16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int</a:t>
            </a:r>
            <a:r>
              <a: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start = n</a:t>
            </a:r>
            <a:r>
              <a:rPr lang="en-US" altLang="zh-CN" sz="16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; //start</a:t>
            </a:r>
            <a:r>
              <a:rPr lang="zh-CN" altLang="en-US" sz="16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指向排好序链表的首元素</a:t>
            </a:r>
            <a:endParaRPr lang="en-US" altLang="zh-CN" sz="16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while (first != -1 &amp;&amp; second != -1)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</a:t>
            </a:r>
            <a:r>
              <a:rPr lang="en-US" altLang="zh-CN" sz="16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if (a[first].key &lt;= a[second].key)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16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{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16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a[start].next = first; 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16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start =first;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16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first = a[first].next;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16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//first</a:t>
            </a:r>
            <a:r>
              <a:rPr lang="zh-CN" altLang="en-US" sz="16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指向第一归并段表下一个待插入元素</a:t>
            </a:r>
            <a:r>
              <a: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16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</a:p>
          <a:p>
            <a:r>
              <a:rPr lang="en-US" altLang="zh-CN" sz="16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 }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16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else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16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{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16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a[start].next = second;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16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start = second;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16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second = a[second].next;</a:t>
            </a:r>
          </a:p>
          <a:p>
            <a:r>
              <a:rPr lang="en-US" altLang="zh-CN" sz="16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 }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16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if (first = -1) a[start].next = second;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16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else    a[start].next = first;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16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     </a:t>
            </a:r>
            <a:r>
              <a:rPr lang="en-US" altLang="zh-CN" sz="16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retrun</a:t>
            </a:r>
            <a:r>
              <a:rPr lang="en-US" altLang="zh-CN" sz="16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a[n].next;</a:t>
            </a:r>
            <a:endParaRPr lang="en-US" altLang="zh-CN" sz="16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</a:rPr>
              <a:t>}</a:t>
            </a:r>
            <a:endParaRPr lang="zh-CN" altLang="en-US" sz="16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1602770" y="1905000"/>
            <a:ext cx="3048000" cy="738344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accent1"/>
            </a:solidFill>
            <a:miter lim="800000"/>
            <a:headEnd/>
            <a:tailEnd/>
          </a:ln>
          <a:effectLst/>
          <a:extLst/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zh-CN" altLang="en-US" sz="1600" dirty="0">
                <a:latin typeface="Times New Roman" panose="02020603050405020304" pitchFamily="18" charset="0"/>
                <a:ea typeface="华文楷体" panose="02010600040101010101" pitchFamily="2" charset="-122"/>
              </a:rPr>
              <a:t>时间复杂度：</a:t>
            </a:r>
            <a:r>
              <a:rPr kumimoji="1" lang="en-US" altLang="zh-CN" sz="16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O(nlog</a:t>
            </a:r>
            <a:r>
              <a:rPr kumimoji="1" lang="en-US" altLang="zh-CN" sz="1600" b="1" baseline="-25000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kumimoji="1" lang="en-US" altLang="zh-CN" sz="16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1" lang="zh-CN" altLang="en-US" sz="1600" dirty="0">
                <a:latin typeface="Times New Roman" panose="02020603050405020304" pitchFamily="18" charset="0"/>
                <a:ea typeface="华文楷体" panose="02010600040101010101" pitchFamily="2" charset="-122"/>
              </a:rPr>
              <a:t>空间复杂度：</a:t>
            </a:r>
            <a:r>
              <a:rPr kumimoji="1" lang="en-US" altLang="zh-CN" sz="1600" b="1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O(n)---</a:t>
            </a:r>
            <a:r>
              <a:rPr kumimoji="1" lang="zh-CN" altLang="en-US" sz="16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键值不需要做移动</a:t>
            </a:r>
            <a:r>
              <a:rPr kumimoji="1" lang="zh-CN" altLang="en-US" sz="1600" b="1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，但有额外指针空间</a:t>
            </a:r>
            <a:endParaRPr kumimoji="1" lang="zh-CN" altLang="en-US" sz="1600" b="1" dirty="0">
              <a:solidFill>
                <a:schemeClr val="accent2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99826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7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512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512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8588" y="1212850"/>
            <a:ext cx="8939212" cy="524827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000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静态单</a:t>
            </a:r>
            <a:r>
              <a:rPr lang="zh-CN" altLang="en-US" sz="2000" dirty="0">
                <a:solidFill>
                  <a:srgbClr val="CC6600"/>
                </a:solidFill>
                <a:ea typeface="华文楷体" panose="02010600040101010101" pitchFamily="2" charset="-122"/>
              </a:rPr>
              <a:t>链表归并的实例</a:t>
            </a:r>
            <a:r>
              <a:rPr lang="en-US" altLang="zh-CN" sz="2000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</a:p>
          <a:p>
            <a:pPr eaLnBrk="1" hangingPunct="1">
              <a:buNone/>
            </a:pPr>
            <a:r>
              <a:rPr lang="zh-CN" altLang="en-US" sz="2000" dirty="0" smtClean="0">
                <a:ea typeface="华文楷体" panose="02010600040101010101" pitchFamily="2" charset="-122"/>
              </a:rPr>
              <a:t>假设输入序列为</a:t>
            </a:r>
            <a:r>
              <a:rPr lang="en-US" altLang="zh-CN" sz="2000" dirty="0" smtClean="0">
                <a:ea typeface="华文楷体" panose="02010600040101010101" pitchFamily="2" charset="-122"/>
              </a:rPr>
              <a:t>(38,27,43,3,8,82,10)</a:t>
            </a:r>
            <a:r>
              <a:rPr lang="zh-CN" altLang="en-US" sz="2000" dirty="0" smtClean="0">
                <a:ea typeface="华文楷体" panose="02010600040101010101" pitchFamily="2" charset="-122"/>
              </a:rPr>
              <a:t>每次递归调用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rmerge</a:t>
            </a:r>
            <a:r>
              <a:rPr lang="zh-CN" altLang="en-US" sz="2000" dirty="0" smtClean="0">
                <a:ea typeface="华文楷体" panose="02010600040101010101" pitchFamily="2" charset="-122"/>
              </a:rPr>
              <a:t>时都将当前下标从</a:t>
            </a:r>
            <a:r>
              <a:rPr lang="en-US" altLang="zh-CN" sz="2000" dirty="0" smtClean="0">
                <a:ea typeface="华文楷体" panose="02010600040101010101" pitchFamily="2" charset="-122"/>
              </a:rPr>
              <a:t>left</a:t>
            </a:r>
            <a:r>
              <a:rPr lang="zh-CN" altLang="en-US" sz="2000" dirty="0" smtClean="0">
                <a:ea typeface="华文楷体" panose="02010600040101010101" pitchFamily="2" charset="-122"/>
              </a:rPr>
              <a:t>到</a:t>
            </a:r>
            <a:r>
              <a:rPr lang="en-US" altLang="zh-CN" sz="2000" dirty="0" smtClean="0">
                <a:ea typeface="华文楷体" panose="02010600040101010101" pitchFamily="2" charset="-122"/>
              </a:rPr>
              <a:t>right</a:t>
            </a:r>
            <a:r>
              <a:rPr lang="zh-CN" altLang="en-US" sz="2000" dirty="0" smtClean="0">
                <a:ea typeface="华文楷体" panose="02010600040101010101" pitchFamily="2" charset="-122"/>
              </a:rPr>
              <a:t>划分成两个子序列（</a:t>
            </a:r>
            <a:r>
              <a:rPr lang="zh-CN" altLang="en-US" sz="20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分治法</a:t>
            </a:r>
            <a:r>
              <a:rPr lang="zh-CN" altLang="en-US" sz="2000" dirty="0" smtClean="0">
                <a:ea typeface="华文楷体" panose="02010600040101010101" pitchFamily="2" charset="-122"/>
              </a:rPr>
              <a:t>），</a:t>
            </a:r>
            <a:r>
              <a:rPr lang="zh-CN" altLang="en-US" sz="2000" dirty="0">
                <a:ea typeface="华文楷体" panose="02010600040101010101" pitchFamily="2" charset="-122"/>
              </a:rPr>
              <a:t>两</a:t>
            </a:r>
            <a:r>
              <a:rPr lang="zh-CN" altLang="en-US" sz="2000" dirty="0" smtClean="0">
                <a:ea typeface="华文楷体" panose="02010600040101010101" pitchFamily="2" charset="-122"/>
              </a:rPr>
              <a:t>个子序列下标范围</a:t>
            </a:r>
            <a:r>
              <a:rPr lang="en-US" altLang="zh-CN" sz="2000" dirty="0" smtClean="0">
                <a:ea typeface="华文楷体" panose="02010600040101010101" pitchFamily="2" charset="-122"/>
                <a:cs typeface="Lucida Sans Unicode" panose="020B0602030504020204" pitchFamily="34" charset="0"/>
              </a:rPr>
              <a:t>⌊</a:t>
            </a:r>
            <a:r>
              <a:rPr lang="en-US" altLang="zh-CN" sz="2000" dirty="0" smtClean="0">
                <a:ea typeface="华文楷体" panose="02010600040101010101" pitchFamily="2" charset="-122"/>
              </a:rPr>
              <a:t> left</a:t>
            </a:r>
            <a:r>
              <a:rPr lang="en-US" altLang="zh-CN" sz="2000" dirty="0">
                <a:ea typeface="华文楷体" panose="02010600040101010101" pitchFamily="2" charset="-122"/>
              </a:rPr>
              <a:t>..(</a:t>
            </a:r>
            <a:r>
              <a:rPr lang="en-US" altLang="zh-CN" sz="2000" dirty="0" err="1">
                <a:ea typeface="华文楷体" panose="02010600040101010101" pitchFamily="2" charset="-122"/>
              </a:rPr>
              <a:t>left+right</a:t>
            </a:r>
            <a:r>
              <a:rPr lang="en-US" altLang="zh-CN" sz="2000" dirty="0">
                <a:ea typeface="华文楷体" panose="02010600040101010101" pitchFamily="2" charset="-122"/>
              </a:rPr>
              <a:t>)/2 </a:t>
            </a:r>
            <a:r>
              <a:rPr lang="en-US" altLang="zh-CN" sz="2000" dirty="0" smtClean="0">
                <a:ea typeface="华文楷体" panose="02010600040101010101" pitchFamily="2" charset="-122"/>
                <a:cs typeface="Lucida Sans Unicode" panose="020B0602030504020204" pitchFamily="34" charset="0"/>
              </a:rPr>
              <a:t>⌋</a:t>
            </a:r>
            <a:r>
              <a:rPr lang="zh-CN" altLang="en-US" sz="2000" dirty="0" smtClean="0">
                <a:ea typeface="华文楷体" panose="02010600040101010101" pitchFamily="2" charset="-122"/>
              </a:rPr>
              <a:t>和</a:t>
            </a:r>
            <a:r>
              <a:rPr lang="en-US" altLang="zh-CN" sz="2000" dirty="0">
                <a:ea typeface="华文楷体" panose="02010600040101010101" pitchFamily="2" charset="-122"/>
                <a:cs typeface="Lucida Sans Unicode" panose="020B0602030504020204" pitchFamily="34" charset="0"/>
              </a:rPr>
              <a:t>⌊</a:t>
            </a:r>
            <a:r>
              <a:rPr lang="en-US" altLang="zh-CN" sz="2000" dirty="0">
                <a:ea typeface="华文楷体" panose="02010600040101010101" pitchFamily="2" charset="-122"/>
              </a:rPr>
              <a:t> (</a:t>
            </a:r>
            <a:r>
              <a:rPr lang="en-US" altLang="zh-CN" sz="2000" dirty="0" err="1">
                <a:ea typeface="华文楷体" panose="02010600040101010101" pitchFamily="2" charset="-122"/>
              </a:rPr>
              <a:t>left+right</a:t>
            </a:r>
            <a:r>
              <a:rPr lang="en-US" altLang="zh-CN" sz="2000" dirty="0">
                <a:ea typeface="华文楷体" panose="02010600040101010101" pitchFamily="2" charset="-122"/>
              </a:rPr>
              <a:t>)/2 </a:t>
            </a:r>
            <a:r>
              <a:rPr lang="en-US" altLang="zh-CN" sz="2000" dirty="0" smtClean="0">
                <a:ea typeface="华文楷体" panose="02010600040101010101" pitchFamily="2" charset="-122"/>
                <a:cs typeface="Lucida Sans Unicode" panose="020B0602030504020204" pitchFamily="34" charset="0"/>
              </a:rPr>
              <a:t>⌋+1..right</a:t>
            </a:r>
            <a:r>
              <a:rPr lang="zh-CN" altLang="en-US" sz="2000" dirty="0" smtClean="0">
                <a:ea typeface="华文楷体" panose="02010600040101010101" pitchFamily="2" charset="-122"/>
                <a:cs typeface="Lucida Sans Unicode" panose="020B0602030504020204" pitchFamily="34" charset="0"/>
              </a:rPr>
              <a:t>。然后分别对这些子序列进行递归，直到子序列长度为</a:t>
            </a:r>
            <a:r>
              <a:rPr lang="en-US" altLang="zh-CN" sz="2000" dirty="0" smtClean="0">
                <a:ea typeface="华文楷体" panose="02010600040101010101" pitchFamily="2" charset="-122"/>
                <a:cs typeface="Lucida Sans Unicode" panose="020B0602030504020204" pitchFamily="34" charset="0"/>
              </a:rPr>
              <a:t>0</a:t>
            </a:r>
            <a:r>
              <a:rPr lang="zh-CN" altLang="en-US" sz="2000" dirty="0" smtClean="0">
                <a:ea typeface="华文楷体" panose="02010600040101010101" pitchFamily="2" charset="-122"/>
                <a:cs typeface="Lucida Sans Unicode" panose="020B0602030504020204" pitchFamily="34" charset="0"/>
              </a:rPr>
              <a:t>或者</a:t>
            </a:r>
            <a:r>
              <a:rPr lang="en-US" altLang="zh-CN" sz="2000" dirty="0" smtClean="0">
                <a:ea typeface="华文楷体" panose="02010600040101010101" pitchFamily="2" charset="-122"/>
                <a:cs typeface="Lucida Sans Unicode" panose="020B0602030504020204" pitchFamily="34" charset="0"/>
              </a:rPr>
              <a:t>1</a:t>
            </a:r>
            <a:r>
              <a:rPr lang="zh-CN" altLang="en-US" sz="2000" dirty="0" smtClean="0">
                <a:ea typeface="华文楷体" panose="02010600040101010101" pitchFamily="2" charset="-122"/>
                <a:cs typeface="Lucida Sans Unicode" panose="020B0602030504020204" pitchFamily="34" charset="0"/>
              </a:rPr>
              <a:t>，再归并其结果。</a:t>
            </a:r>
            <a:endParaRPr lang="en-US" altLang="zh-CN" sz="2000" dirty="0">
              <a:ea typeface="华文楷体" panose="02010600040101010101" pitchFamily="2" charset="-122"/>
            </a:endParaRPr>
          </a:p>
        </p:txBody>
      </p:sp>
      <p:pic>
        <p:nvPicPr>
          <p:cNvPr id="8" name="Picture 4" descr="mer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981" y="2895600"/>
            <a:ext cx="4036219" cy="3885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直接连接符 2"/>
          <p:cNvCxnSpPr/>
          <p:nvPr/>
        </p:nvCxnSpPr>
        <p:spPr>
          <a:xfrm>
            <a:off x="0" y="5105400"/>
            <a:ext cx="9144000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6400800" y="3836987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划分</a:t>
            </a:r>
            <a:endParaRPr lang="zh-CN" altLang="en-US" sz="2400" b="1" dirty="0">
              <a:solidFill>
                <a:srgbClr val="C00000"/>
              </a:solidFill>
              <a:ea typeface="华文楷体" panose="0201060004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400799" y="550538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合并</a:t>
            </a:r>
            <a:endParaRPr lang="zh-CN" altLang="en-US" sz="2400" b="1" dirty="0">
              <a:solidFill>
                <a:srgbClr val="C00000"/>
              </a:solidFill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smtClean="0">
                <a:ea typeface="华文楷体" panose="02010600040101010101" pitchFamily="2" charset="-122"/>
              </a:rPr>
              <a:t>[</a:t>
            </a:r>
            <a:r>
              <a:rPr lang="zh-CN" altLang="en-US" dirty="0" smtClean="0">
                <a:ea typeface="华文楷体" panose="02010600040101010101" pitchFamily="2" charset="-122"/>
              </a:rPr>
              <a:t>单链表的归并</a:t>
            </a:r>
            <a:r>
              <a:rPr lang="en-US" altLang="zh-CN" dirty="0" smtClean="0">
                <a:ea typeface="华文楷体" panose="02010600040101010101" pitchFamily="2" charset="-122"/>
              </a:rPr>
              <a:t>]</a:t>
            </a:r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 SCST</a:t>
            </a:r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481442" y="1860481"/>
            <a:ext cx="3865161" cy="378565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[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结点结构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]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node 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next;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elemtype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typedef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typedef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 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Position;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typedef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*List;</a:t>
            </a:r>
            <a:endParaRPr lang="zh-CN" altLang="en-US" sz="2400" dirty="0"/>
          </a:p>
        </p:txBody>
      </p:sp>
      <p:sp>
        <p:nvSpPr>
          <p:cNvPr id="7" name="文本框 6"/>
          <p:cNvSpPr txBox="1"/>
          <p:nvPr/>
        </p:nvSpPr>
        <p:spPr>
          <a:xfrm>
            <a:off x="4421201" y="1189037"/>
            <a:ext cx="4646599" cy="56323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1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[</a:t>
            </a:r>
            <a:r>
              <a:rPr lang="zh-CN" altLang="en-US" sz="21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两个有序单链表的归并</a:t>
            </a:r>
            <a:r>
              <a:rPr lang="en-US" altLang="zh-CN" sz="21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]</a:t>
            </a:r>
          </a:p>
          <a:p>
            <a:r>
              <a:rPr lang="en-US" altLang="zh-CN" sz="21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List merge(List a, list b)</a:t>
            </a:r>
          </a:p>
          <a:p>
            <a:r>
              <a:rPr lang="en-US" altLang="zh-CN" sz="21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2100" dirty="0" smtClean="0">
                <a:ea typeface="华文楷体" panose="02010600040101010101" pitchFamily="2" charset="-122"/>
              </a:rPr>
              <a:t>//</a:t>
            </a:r>
            <a:r>
              <a:rPr lang="zh-CN" altLang="en-US" sz="2100" dirty="0">
                <a:ea typeface="华文楷体" panose="02010600040101010101" pitchFamily="2" charset="-122"/>
              </a:rPr>
              <a:t>不带头结点</a:t>
            </a:r>
            <a:endParaRPr lang="en-US" altLang="zh-CN" sz="2100" dirty="0">
              <a:ea typeface="华文楷体" panose="02010600040101010101" pitchFamily="2" charset="-122"/>
            </a:endParaRPr>
          </a:p>
          <a:p>
            <a:r>
              <a:rPr lang="en-US" altLang="zh-CN" sz="21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Node head;</a:t>
            </a:r>
          </a:p>
          <a:p>
            <a:r>
              <a:rPr lang="en-US" altLang="zh-CN" sz="21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1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List c = &amp;head;</a:t>
            </a:r>
          </a:p>
          <a:p>
            <a:r>
              <a:rPr lang="en-US" altLang="zh-CN" sz="21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1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while ((a != NULL) &amp;&amp; (b </a:t>
            </a:r>
            <a:r>
              <a:rPr lang="en-US" altLang="zh-CN" sz="21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!= NULL</a:t>
            </a:r>
            <a:r>
              <a:rPr lang="en-US" altLang="zh-CN" sz="21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))</a:t>
            </a:r>
          </a:p>
          <a:p>
            <a:r>
              <a:rPr lang="en-US" altLang="zh-CN" sz="21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1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if (a-&gt;</a:t>
            </a:r>
            <a:r>
              <a:rPr lang="en-US" altLang="zh-CN" sz="2100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data.key</a:t>
            </a:r>
            <a:r>
              <a:rPr lang="en-US" altLang="zh-CN" sz="21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&lt; b-&gt;</a:t>
            </a:r>
            <a:r>
              <a:rPr lang="en-US" altLang="zh-CN" sz="2100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data.key</a:t>
            </a:r>
            <a:r>
              <a:rPr lang="en-US" altLang="zh-CN" sz="21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21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{</a:t>
            </a:r>
          </a:p>
          <a:p>
            <a:r>
              <a:rPr lang="en-US" altLang="zh-CN" sz="21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1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c-&gt;next = a; c=a; a = a-&gt;next;</a:t>
            </a:r>
          </a:p>
          <a:p>
            <a:r>
              <a:rPr lang="en-US" altLang="zh-CN" sz="21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1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}</a:t>
            </a:r>
          </a:p>
          <a:p>
            <a:r>
              <a:rPr lang="en-US" altLang="zh-CN" sz="21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1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else</a:t>
            </a:r>
          </a:p>
          <a:p>
            <a:r>
              <a:rPr lang="en-US" altLang="zh-CN" sz="21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1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{</a:t>
            </a:r>
          </a:p>
          <a:p>
            <a:r>
              <a:rPr lang="en-US" altLang="zh-CN" sz="21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1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c-&gt;next = b; c = b; b = b-&gt;next;</a:t>
            </a:r>
          </a:p>
          <a:p>
            <a:r>
              <a:rPr lang="en-US" altLang="zh-CN" sz="21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1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}</a:t>
            </a:r>
          </a:p>
          <a:p>
            <a:r>
              <a:rPr lang="en-US" altLang="zh-CN" sz="21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1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c-&gt;next = (a == NULL) ? b: a;</a:t>
            </a:r>
          </a:p>
          <a:p>
            <a:r>
              <a:rPr lang="en-US" altLang="zh-CN" sz="21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1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return </a:t>
            </a:r>
            <a:r>
              <a:rPr lang="en-US" altLang="zh-CN" sz="2100" dirty="0" err="1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head.next</a:t>
            </a:r>
            <a:r>
              <a:rPr lang="en-US" altLang="zh-CN" sz="2100" dirty="0" smtClean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;</a:t>
            </a:r>
          </a:p>
          <a:p>
            <a:r>
              <a:rPr lang="en-US" altLang="zh-CN" sz="21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}</a:t>
            </a:r>
            <a:endParaRPr lang="zh-CN" altLang="en-US" sz="21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611760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200" y="1219200"/>
            <a:ext cx="4724400" cy="5562600"/>
          </a:xfrm>
          <a:ln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[</a:t>
            </a:r>
            <a:r>
              <a:rPr lang="zh-CN" altLang="en-US" sz="2000" dirty="0" smtClean="0">
                <a:ea typeface="华文楷体" panose="02010600040101010101" pitchFamily="2" charset="-122"/>
              </a:rPr>
              <a:t>自顶向下单链表归并排序</a:t>
            </a:r>
            <a:r>
              <a:rPr lang="en-US" altLang="zh-CN" sz="2000" dirty="0" smtClean="0">
                <a:ea typeface="华文楷体" panose="02010600040101010101" pitchFamily="2" charset="-122"/>
              </a:rPr>
              <a:t>]</a:t>
            </a:r>
          </a:p>
          <a:p>
            <a:pPr marL="0" indent="0"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List 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mergesort</a:t>
            </a:r>
            <a:r>
              <a:rPr lang="en-US" altLang="zh-CN" sz="2000" dirty="0" smtClean="0">
                <a:ea typeface="华文楷体" panose="02010600040101010101" pitchFamily="2" charset="-122"/>
              </a:rPr>
              <a:t>(List c)//</a:t>
            </a:r>
            <a:r>
              <a:rPr lang="zh-CN" altLang="en-US" sz="2000" dirty="0" smtClean="0">
                <a:ea typeface="华文楷体" panose="02010600040101010101" pitchFamily="2" charset="-122"/>
              </a:rPr>
              <a:t>不带头结点</a:t>
            </a:r>
            <a:endParaRPr lang="en-US" altLang="zh-CN" sz="2000" dirty="0" smtClean="0"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ea typeface="华文楷体" panose="02010600040101010101" pitchFamily="2" charset="-122"/>
              </a:rPr>
              <a:t> </a:t>
            </a:r>
            <a:r>
              <a:rPr lang="en-US" altLang="zh-CN" sz="2000" dirty="0" smtClean="0">
                <a:ea typeface="华文楷体" panose="02010600040101010101" pitchFamily="2" charset="-122"/>
              </a:rPr>
              <a:t>   List a, b; </a:t>
            </a:r>
            <a:endParaRPr lang="en-US" altLang="zh-CN" sz="2000" dirty="0"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 if (c == NULL || c-&gt;next == NULL )  </a:t>
            </a:r>
          </a:p>
          <a:p>
            <a:pPr marL="0" indent="0">
              <a:buNone/>
            </a:pPr>
            <a:r>
              <a:rPr lang="en-US" altLang="zh-CN" sz="2000" dirty="0">
                <a:ea typeface="华文楷体" panose="02010600040101010101" pitchFamily="2" charset="-122"/>
              </a:rPr>
              <a:t> </a:t>
            </a:r>
            <a:r>
              <a:rPr lang="en-US" altLang="zh-CN" sz="2000" dirty="0" smtClean="0">
                <a:ea typeface="华文楷体" panose="02010600040101010101" pitchFamily="2" charset="-122"/>
              </a:rPr>
              <a:t>       return c;</a:t>
            </a:r>
          </a:p>
          <a:p>
            <a:pPr marL="0" indent="0">
              <a:buNone/>
            </a:pPr>
            <a:r>
              <a:rPr lang="en-US" altLang="zh-CN" sz="2000" dirty="0">
                <a:ea typeface="华文楷体" panose="02010600040101010101" pitchFamily="2" charset="-122"/>
              </a:rPr>
              <a:t> </a:t>
            </a:r>
            <a:r>
              <a:rPr lang="en-US" altLang="zh-CN" sz="2000" dirty="0" smtClean="0">
                <a:ea typeface="华文楷体" panose="02010600040101010101" pitchFamily="2" charset="-122"/>
              </a:rPr>
              <a:t>   a = c; b = c-&gt;next;</a:t>
            </a:r>
          </a:p>
          <a:p>
            <a:pPr marL="0" indent="0">
              <a:buNone/>
            </a:pPr>
            <a:r>
              <a:rPr lang="en-US" altLang="zh-CN" sz="2000" dirty="0">
                <a:ea typeface="华文楷体" panose="02010600040101010101" pitchFamily="2" charset="-122"/>
              </a:rPr>
              <a:t> </a:t>
            </a:r>
            <a:r>
              <a:rPr lang="en-US" altLang="zh-CN" sz="2000" dirty="0" smtClean="0">
                <a:ea typeface="华文楷体" panose="02010600040101010101" pitchFamily="2" charset="-122"/>
              </a:rPr>
              <a:t>   while ((b) &amp;&amp; (b-&gt;next))</a:t>
            </a:r>
          </a:p>
          <a:p>
            <a:pPr marL="0" indent="0"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 {</a:t>
            </a:r>
          </a:p>
          <a:p>
            <a:pPr marL="0" indent="0">
              <a:buNone/>
            </a:pPr>
            <a:r>
              <a:rPr lang="en-US" altLang="zh-CN" sz="2000" dirty="0">
                <a:ea typeface="华文楷体" panose="02010600040101010101" pitchFamily="2" charset="-122"/>
              </a:rPr>
              <a:t> </a:t>
            </a:r>
            <a:r>
              <a:rPr lang="en-US" altLang="zh-CN" sz="2000" dirty="0" smtClean="0">
                <a:ea typeface="华文楷体" panose="02010600040101010101" pitchFamily="2" charset="-122"/>
              </a:rPr>
              <a:t>       c = c-&gt;next; </a:t>
            </a:r>
          </a:p>
          <a:p>
            <a:pPr marL="0" indent="0">
              <a:buNone/>
            </a:pPr>
            <a:r>
              <a:rPr lang="en-US" altLang="zh-CN" sz="2000" dirty="0">
                <a:ea typeface="华文楷体" panose="02010600040101010101" pitchFamily="2" charset="-122"/>
              </a:rPr>
              <a:t> </a:t>
            </a:r>
            <a:r>
              <a:rPr lang="en-US" altLang="zh-CN" sz="2000" dirty="0" smtClean="0">
                <a:ea typeface="华文楷体" panose="02010600040101010101" pitchFamily="2" charset="-122"/>
              </a:rPr>
              <a:t>       b = b-&gt;next-&gt;next;</a:t>
            </a:r>
          </a:p>
          <a:p>
            <a:pPr marL="0" indent="0">
              <a:buNone/>
            </a:pPr>
            <a:r>
              <a:rPr lang="en-US" altLang="zh-CN" sz="2000" dirty="0">
                <a:ea typeface="华文楷体" panose="02010600040101010101" pitchFamily="2" charset="-122"/>
              </a:rPr>
              <a:t> </a:t>
            </a:r>
            <a:r>
              <a:rPr lang="en-US" altLang="zh-CN" sz="2000" dirty="0" smtClean="0">
                <a:ea typeface="华文楷体" panose="02010600040101010101" pitchFamily="2" charset="-122"/>
              </a:rPr>
              <a:t>   }</a:t>
            </a:r>
          </a:p>
          <a:p>
            <a:pPr marL="0" indent="0">
              <a:buNone/>
            </a:pPr>
            <a:r>
              <a:rPr lang="en-US" altLang="zh-CN" sz="2000" dirty="0">
                <a:ea typeface="华文楷体" panose="02010600040101010101" pitchFamily="2" charset="-122"/>
              </a:rPr>
              <a:t> </a:t>
            </a:r>
            <a:r>
              <a:rPr lang="en-US" altLang="zh-CN" sz="2000" dirty="0" smtClean="0">
                <a:ea typeface="华文楷体" panose="02010600040101010101" pitchFamily="2" charset="-122"/>
              </a:rPr>
              <a:t>   b = c-&gt;next; c-&gt;next = NULL;</a:t>
            </a:r>
          </a:p>
          <a:p>
            <a:pPr marL="0" indent="0">
              <a:buNone/>
            </a:pPr>
            <a:r>
              <a:rPr lang="en-US" altLang="zh-CN" sz="2000" dirty="0">
                <a:ea typeface="华文楷体" panose="02010600040101010101" pitchFamily="2" charset="-122"/>
              </a:rPr>
              <a:t> </a:t>
            </a:r>
            <a:r>
              <a:rPr lang="en-US" altLang="zh-CN" sz="2000" dirty="0" smtClean="0">
                <a:ea typeface="华文楷体" panose="02010600040101010101" pitchFamily="2" charset="-122"/>
              </a:rPr>
              <a:t>   return merge(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mergesort</a:t>
            </a:r>
            <a:r>
              <a:rPr lang="en-US" altLang="zh-CN" sz="2000" dirty="0" smtClean="0">
                <a:ea typeface="华文楷体" panose="02010600040101010101" pitchFamily="2" charset="-122"/>
              </a:rPr>
              <a:t>(a), 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mergesort</a:t>
            </a:r>
            <a:r>
              <a:rPr lang="en-US" altLang="zh-CN" sz="2000" dirty="0" smtClean="0">
                <a:ea typeface="华文楷体" panose="02010600040101010101" pitchFamily="2" charset="-122"/>
              </a:rPr>
              <a:t>(b));</a:t>
            </a:r>
          </a:p>
          <a:p>
            <a:pPr marL="0" indent="0">
              <a:buNone/>
            </a:pPr>
            <a:r>
              <a:rPr lang="en-US" altLang="zh-CN" sz="2000" dirty="0">
                <a:ea typeface="华文楷体" panose="02010600040101010101" pitchFamily="2" charset="-122"/>
              </a:rPr>
              <a:t>}</a:t>
            </a:r>
            <a:endParaRPr lang="zh-CN" altLang="en-US" sz="2000" dirty="0">
              <a:ea typeface="华文楷体" panose="0201060004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 SCST</a:t>
            </a:r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4953000" y="1824970"/>
            <a:ext cx="4038600" cy="193899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1. 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程序把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c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指向的表分为两部分：一部分由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指向，一部分由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b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指向；</a:t>
            </a:r>
            <a:endParaRPr lang="en-US" altLang="zh-CN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2. 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分别对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和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b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递归排序；</a:t>
            </a:r>
            <a:endParaRPr lang="en-US" altLang="zh-CN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3. 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使用</a:t>
            </a:r>
            <a:r>
              <a:rPr lang="en-US" altLang="zh-CN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merge</a:t>
            </a:r>
            <a:r>
              <a:rPr lang="zh-CN" altLang="en-US" sz="24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得到最终结果。</a:t>
            </a:r>
            <a:endParaRPr lang="en-US" altLang="zh-CN" sz="24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705049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smtClean="0"/>
              <a:t>BUPT SCST</a:t>
            </a:r>
            <a:endParaRPr lang="en-US" altLang="zh-CN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</a:t>
            </a:r>
            <a:endParaRPr lang="en-US" altLang="zh-CN"/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304799" y="1162612"/>
            <a:ext cx="4299531" cy="5542988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[</a:t>
            </a:r>
            <a:r>
              <a:rPr lang="zh-CN" altLang="en-US" sz="2000" dirty="0" smtClean="0">
                <a:ea typeface="华文楷体" panose="02010600040101010101" pitchFamily="2" charset="-122"/>
              </a:rPr>
              <a:t>自底向上单链表归并排序</a:t>
            </a:r>
            <a:r>
              <a:rPr lang="en-US" altLang="zh-CN" sz="2000" dirty="0" smtClean="0">
                <a:ea typeface="华文楷体" panose="02010600040101010101" pitchFamily="2" charset="-122"/>
              </a:rPr>
              <a:t>]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List 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mergesort</a:t>
            </a:r>
            <a:r>
              <a:rPr lang="en-US" altLang="zh-CN" sz="2000" dirty="0" smtClean="0">
                <a:ea typeface="华文楷体" panose="02010600040101010101" pitchFamily="2" charset="-122"/>
              </a:rPr>
              <a:t>(List t)  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 List u;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000" dirty="0">
                <a:ea typeface="华文楷体" panose="02010600040101010101" pitchFamily="2" charset="-122"/>
              </a:rPr>
              <a:t> </a:t>
            </a:r>
            <a:r>
              <a:rPr lang="en-US" altLang="zh-CN" sz="2000" dirty="0" smtClean="0">
                <a:ea typeface="华文楷体" panose="02010600040101010101" pitchFamily="2" charset="-122"/>
              </a:rPr>
              <a:t>   for(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Qinit</a:t>
            </a:r>
            <a:r>
              <a:rPr lang="en-US" altLang="zh-CN" sz="2000" dirty="0" smtClean="0">
                <a:ea typeface="华文楷体" panose="02010600040101010101" pitchFamily="2" charset="-122"/>
              </a:rPr>
              <a:t>(); t; t = u) 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     u = t-&gt;next;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000" dirty="0">
                <a:ea typeface="华文楷体" panose="02010600040101010101" pitchFamily="2" charset="-122"/>
              </a:rPr>
              <a:t> </a:t>
            </a:r>
            <a:r>
              <a:rPr lang="en-US" altLang="zh-CN" sz="2000" dirty="0" smtClean="0">
                <a:ea typeface="华文楷体" panose="02010600040101010101" pitchFamily="2" charset="-122"/>
              </a:rPr>
              <a:t>       t-&gt;next = NULL;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000" dirty="0">
                <a:ea typeface="华文楷体" panose="02010600040101010101" pitchFamily="2" charset="-122"/>
              </a:rPr>
              <a:t> </a:t>
            </a:r>
            <a:r>
              <a:rPr lang="en-US" altLang="zh-CN" sz="2000" dirty="0" smtClean="0">
                <a:ea typeface="华文楷体" panose="02010600040101010101" pitchFamily="2" charset="-122"/>
              </a:rPr>
              <a:t>       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Qput</a:t>
            </a:r>
            <a:r>
              <a:rPr lang="en-US" altLang="zh-CN" sz="2000" dirty="0" smtClean="0">
                <a:ea typeface="华文楷体" panose="02010600040101010101" pitchFamily="2" charset="-122"/>
              </a:rPr>
              <a:t>(t); //</a:t>
            </a:r>
            <a:r>
              <a:rPr lang="zh-CN" altLang="en-US" sz="2000" dirty="0" smtClean="0">
                <a:ea typeface="华文楷体" panose="02010600040101010101" pitchFamily="2" charset="-122"/>
              </a:rPr>
              <a:t>入队列</a:t>
            </a:r>
            <a:endParaRPr lang="en-US" altLang="zh-CN" sz="2000" dirty="0" smtClean="0">
              <a:ea typeface="华文楷体" panose="0201060004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000" dirty="0">
                <a:ea typeface="华文楷体" panose="02010600040101010101" pitchFamily="2" charset="-122"/>
              </a:rPr>
              <a:t> </a:t>
            </a:r>
            <a:r>
              <a:rPr lang="en-US" altLang="zh-CN" sz="2000" dirty="0" smtClean="0">
                <a:ea typeface="华文楷体" panose="02010600040101010101" pitchFamily="2" charset="-122"/>
              </a:rPr>
              <a:t>   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000" dirty="0">
                <a:ea typeface="华文楷体" panose="02010600040101010101" pitchFamily="2" charset="-122"/>
              </a:rPr>
              <a:t> </a:t>
            </a:r>
            <a:r>
              <a:rPr lang="en-US" altLang="zh-CN" sz="2000" dirty="0" smtClean="0">
                <a:ea typeface="华文楷体" panose="02010600040101010101" pitchFamily="2" charset="-122"/>
              </a:rPr>
              <a:t>   t = 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Qget</a:t>
            </a:r>
            <a:r>
              <a:rPr lang="en-US" altLang="zh-CN" sz="2000" dirty="0" smtClean="0">
                <a:ea typeface="华文楷体" panose="02010600040101010101" pitchFamily="2" charset="-122"/>
              </a:rPr>
              <a:t>(); //</a:t>
            </a:r>
            <a:r>
              <a:rPr lang="zh-CN" altLang="en-US" sz="2000" dirty="0" smtClean="0">
                <a:ea typeface="华文楷体" panose="02010600040101010101" pitchFamily="2" charset="-122"/>
              </a:rPr>
              <a:t>出队列</a:t>
            </a:r>
            <a:endParaRPr lang="en-US" altLang="zh-CN" sz="2000" dirty="0" smtClean="0">
              <a:ea typeface="华文楷体" panose="0201060004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000" dirty="0">
                <a:ea typeface="华文楷体" panose="02010600040101010101" pitchFamily="2" charset="-122"/>
              </a:rPr>
              <a:t> </a:t>
            </a:r>
            <a:r>
              <a:rPr lang="en-US" altLang="zh-CN" sz="2000" dirty="0" smtClean="0">
                <a:ea typeface="华文楷体" panose="02010600040101010101" pitchFamily="2" charset="-122"/>
              </a:rPr>
              <a:t>   while (!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Qempty</a:t>
            </a:r>
            <a:r>
              <a:rPr lang="en-US" altLang="zh-CN" sz="2000" dirty="0" smtClean="0">
                <a:ea typeface="华文楷体" panose="02010600040101010101" pitchFamily="2" charset="-122"/>
              </a:rPr>
              <a:t>()) 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     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Qput</a:t>
            </a:r>
            <a:r>
              <a:rPr lang="en-US" altLang="zh-CN" sz="2000" dirty="0" smtClean="0">
                <a:ea typeface="华文楷体" panose="02010600040101010101" pitchFamily="2" charset="-122"/>
              </a:rPr>
              <a:t>(t); </a:t>
            </a:r>
          </a:p>
          <a:p>
            <a:pPr marL="0" indent="0">
              <a:buNone/>
            </a:pPr>
            <a:r>
              <a:rPr lang="en-US" altLang="zh-CN" sz="2000" dirty="0">
                <a:ea typeface="华文楷体" panose="02010600040101010101" pitchFamily="2" charset="-122"/>
              </a:rPr>
              <a:t> </a:t>
            </a:r>
            <a:r>
              <a:rPr lang="en-US" altLang="zh-CN" sz="2000" dirty="0" smtClean="0">
                <a:ea typeface="华文楷体" panose="02010600040101010101" pitchFamily="2" charset="-122"/>
              </a:rPr>
              <a:t>       t = merge(</a:t>
            </a:r>
            <a:r>
              <a:rPr lang="en-US" altLang="zh-CN" sz="2000" dirty="0" err="1" smtClean="0">
                <a:ea typeface="华文楷体" panose="02010600040101010101" pitchFamily="2" charset="-122"/>
              </a:rPr>
              <a:t>Qget</a:t>
            </a:r>
            <a:r>
              <a:rPr lang="en-US" altLang="zh-CN" sz="2000" dirty="0" smtClean="0">
                <a:ea typeface="华文楷体" panose="02010600040101010101" pitchFamily="2" charset="-122"/>
              </a:rPr>
              <a:t>(),</a:t>
            </a:r>
            <a:r>
              <a:rPr lang="en-US" altLang="zh-CN" sz="2000" dirty="0">
                <a:ea typeface="华文楷体" panose="02010600040101010101" pitchFamily="2" charset="-122"/>
              </a:rPr>
              <a:t> </a:t>
            </a:r>
            <a:r>
              <a:rPr lang="en-US" altLang="zh-CN" sz="2000" dirty="0" err="1">
                <a:ea typeface="华文楷体" panose="02010600040101010101" pitchFamily="2" charset="-122"/>
              </a:rPr>
              <a:t>Qget</a:t>
            </a:r>
            <a:r>
              <a:rPr lang="en-US" altLang="zh-CN" sz="2000" dirty="0" smtClean="0">
                <a:ea typeface="华文楷体" panose="02010600040101010101" pitchFamily="2" charset="-122"/>
              </a:rPr>
              <a:t>());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000" dirty="0">
                <a:ea typeface="华文楷体" panose="02010600040101010101" pitchFamily="2" charset="-122"/>
              </a:rPr>
              <a:t> </a:t>
            </a:r>
            <a:r>
              <a:rPr lang="en-US" altLang="zh-CN" sz="2000" dirty="0" smtClean="0">
                <a:ea typeface="华文楷体" panose="02010600040101010101" pitchFamily="2" charset="-122"/>
              </a:rPr>
              <a:t>   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    return t;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000" dirty="0" smtClean="0">
                <a:ea typeface="华文楷体" panose="02010600040101010101" pitchFamily="2" charset="-122"/>
              </a:rPr>
              <a:t>}</a:t>
            </a:r>
            <a:endParaRPr lang="zh-CN" altLang="en-US" sz="2000" dirty="0">
              <a:ea typeface="华文楷体" panose="0201060004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029201" y="1752600"/>
            <a:ext cx="3962400" cy="406265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程序使用队列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Q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来实现自底向上的归并，队列元素为有序链表，元素的初始表长为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。</a:t>
            </a:r>
            <a:endParaRPr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程序从队列中取出两个有序链表，将它们归并完成后，归并结果放回队列中。继续这一过程，直到队列中只有一个元素。每一趟有序表的长度加倍。</a:t>
            </a:r>
            <a:endParaRPr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7634675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7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53252" name="Rectangle 2"/>
          <p:cNvSpPr>
            <a:spLocks noChangeArrowheads="1"/>
          </p:cNvSpPr>
          <p:nvPr/>
        </p:nvSpPr>
        <p:spPr bwMode="auto">
          <a:xfrm>
            <a:off x="82550" y="990600"/>
            <a:ext cx="8661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800000"/>
                </a:solidFill>
                <a:latin typeface="Verdana" panose="020B0604030504040204" pitchFamily="34" charset="0"/>
                <a:ea typeface="华文楷体" panose="02010600040101010101" pitchFamily="2" charset="-122"/>
              </a:rPr>
              <a:t>3  </a:t>
            </a:r>
            <a:r>
              <a:rPr lang="zh-CN" altLang="en-US" sz="2400" dirty="0">
                <a:solidFill>
                  <a:srgbClr val="800000"/>
                </a:solidFill>
                <a:latin typeface="Verdana" panose="020B0604030504040204" pitchFamily="34" charset="0"/>
                <a:ea typeface="华文楷体" panose="02010600040101010101" pitchFamily="2" charset="-122"/>
              </a:rPr>
              <a:t>自然两路归并排序</a:t>
            </a:r>
          </a:p>
        </p:txBody>
      </p:sp>
      <p:sp>
        <p:nvSpPr>
          <p:cNvPr id="53253" name="Rectangle 3"/>
          <p:cNvSpPr>
            <a:spLocks noChangeArrowheads="1"/>
          </p:cNvSpPr>
          <p:nvPr/>
        </p:nvSpPr>
        <p:spPr bwMode="auto">
          <a:xfrm>
            <a:off x="304800" y="1600200"/>
            <a:ext cx="8596313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CC66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[</a:t>
            </a:r>
            <a:r>
              <a:rPr lang="zh-CN" altLang="en-US" sz="2400" b="1" dirty="0">
                <a:solidFill>
                  <a:srgbClr val="CC66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特点</a:t>
            </a:r>
            <a:r>
              <a:rPr lang="en-US" altLang="zh-CN" sz="2400" b="1" dirty="0">
                <a:solidFill>
                  <a:srgbClr val="CC66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]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以游程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自然的有序段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作为子序列进行归并，可以比直接两路归并更有效。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CC66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[</a:t>
            </a:r>
            <a:r>
              <a:rPr lang="zh-CN" altLang="en-US" sz="2400" b="1" dirty="0">
                <a:solidFill>
                  <a:srgbClr val="CC66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示例</a:t>
            </a:r>
            <a:r>
              <a:rPr lang="en-US" altLang="zh-CN" sz="2400" b="1" dirty="0">
                <a:solidFill>
                  <a:srgbClr val="CC66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]</a:t>
            </a:r>
            <a:r>
              <a:rPr lang="en-US" altLang="zh-CN" sz="2400" dirty="0">
                <a:solidFill>
                  <a:srgbClr val="CC66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 </a:t>
            </a:r>
            <a:endParaRPr lang="en-US" altLang="zh-CN" sz="2800" b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53254" name="Text Box 4"/>
          <p:cNvSpPr txBox="1">
            <a:spLocks noChangeArrowheads="1"/>
          </p:cNvSpPr>
          <p:nvPr/>
        </p:nvSpPr>
        <p:spPr bwMode="auto">
          <a:xfrm>
            <a:off x="5867400" y="6019800"/>
            <a:ext cx="2122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不稳定排序</a:t>
            </a:r>
          </a:p>
        </p:txBody>
      </p:sp>
      <p:pic>
        <p:nvPicPr>
          <p:cNvPr id="5325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971800"/>
            <a:ext cx="6710363" cy="296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542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2800" dirty="0" smtClean="0">
                <a:ea typeface="华文楷体" panose="02010600040101010101" pitchFamily="2" charset="-122"/>
              </a:rPr>
              <a:t>9.7 </a:t>
            </a:r>
            <a:r>
              <a:rPr lang="zh-CN" altLang="en-US" sz="2800" dirty="0" smtClean="0">
                <a:ea typeface="华文楷体" panose="02010600040101010101" pitchFamily="2" charset="-122"/>
              </a:rPr>
              <a:t>基数排序</a:t>
            </a:r>
          </a:p>
        </p:txBody>
      </p:sp>
      <p:sp>
        <p:nvSpPr>
          <p:cNvPr id="5427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特点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通过“分配”和“收集”过程来实现排序，时间复杂度可以突破基于关键字比较一类方法的下界</a:t>
            </a:r>
            <a:r>
              <a:rPr lang="en-US" altLang="zh-CN" sz="2400" dirty="0" smtClean="0">
                <a:ea typeface="华文楷体" panose="02010600040101010101" pitchFamily="2" charset="-122"/>
              </a:rPr>
              <a:t>O(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nlgn</a:t>
            </a:r>
            <a:r>
              <a:rPr lang="en-US" altLang="zh-CN" sz="2400" dirty="0" smtClean="0">
                <a:ea typeface="华文楷体" panose="02010600040101010101" pitchFamily="2" charset="-122"/>
              </a:rPr>
              <a:t>)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，达到</a:t>
            </a:r>
            <a:r>
              <a:rPr lang="en-US" altLang="zh-CN" sz="2400" dirty="0" smtClean="0">
                <a:ea typeface="华文楷体" panose="02010600040101010101" pitchFamily="2" charset="-122"/>
              </a:rPr>
              <a:t>O(n)</a:t>
            </a:r>
            <a:r>
              <a:rPr lang="zh-CN" altLang="en-US" sz="2400" dirty="0" smtClean="0">
                <a:ea typeface="华文楷体" panose="02010600040101010101" pitchFamily="2" charset="-122"/>
              </a:rPr>
              <a:t>。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方法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借助多关键字排序的思想对单关键字排序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多关键字排序示例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  <a:r>
              <a:rPr lang="en-US" altLang="zh-CN" sz="2400" b="1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  </a:t>
            </a:r>
            <a:r>
              <a:rPr lang="en-US" altLang="zh-CN" sz="2400" b="1" dirty="0" smtClean="0">
                <a:ea typeface="华文楷体" panose="02010600040101010101" pitchFamily="2" charset="-122"/>
              </a:rPr>
              <a:t>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扑克牌排序</a:t>
            </a:r>
            <a:r>
              <a:rPr lang="en-US" altLang="zh-CN" sz="2400" dirty="0" smtClean="0">
                <a:ea typeface="华文楷体" panose="02010600040101010101" pitchFamily="2" charset="-122"/>
              </a:rPr>
              <a:t>(</a:t>
            </a:r>
            <a:r>
              <a:rPr lang="zh-CN" altLang="en-US" sz="2400" dirty="0" smtClean="0">
                <a:ea typeface="华文楷体" panose="02010600040101010101" pitchFamily="2" charset="-122"/>
              </a:rPr>
              <a:t>点数</a:t>
            </a:r>
            <a:r>
              <a:rPr lang="en-US" altLang="zh-CN" sz="2400" dirty="0" smtClean="0">
                <a:ea typeface="华文楷体" panose="02010600040101010101" pitchFamily="2" charset="-122"/>
              </a:rPr>
              <a:t>+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花色</a:t>
            </a:r>
            <a:r>
              <a:rPr lang="en-US" altLang="zh-CN" sz="2400" dirty="0" smtClean="0">
                <a:ea typeface="华文楷体" panose="02010600040101010101" pitchFamily="2" charset="-122"/>
              </a:rPr>
              <a:t>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   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双关键字    花色：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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&lt;</a:t>
            </a:r>
            <a:r>
              <a:rPr lang="en-US" altLang="zh-CN" sz="2400" dirty="0" smtClean="0">
                <a:solidFill>
                  <a:srgbClr val="FF33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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&lt;</a:t>
            </a:r>
            <a:r>
              <a:rPr lang="en-US" altLang="zh-CN" sz="2400" dirty="0" smtClean="0">
                <a:solidFill>
                  <a:srgbClr val="FF33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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&lt;    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                       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点数：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2&lt;3&lt;…&lt;Q&lt;K&lt;A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    “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花色”地位高于“面值”</a:t>
            </a:r>
            <a:endParaRPr lang="zh-CN" altLang="en-US" sz="24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</a:t>
            </a:r>
            <a:r>
              <a:rPr lang="zh-CN" altLang="en-US" sz="2400" b="1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最高位优先法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：按花色分成</a:t>
            </a:r>
            <a:r>
              <a:rPr lang="en-US" altLang="zh-CN" sz="2400" dirty="0" smtClean="0">
                <a:ea typeface="华文楷体" panose="02010600040101010101" pitchFamily="2" charset="-122"/>
              </a:rPr>
              <a:t>4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堆；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    </a:t>
            </a:r>
            <a:r>
              <a:rPr lang="zh-CN" altLang="en-US" sz="2400" b="1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（</a:t>
            </a:r>
            <a:r>
              <a:rPr lang="en-US" altLang="zh-CN" sz="2400" b="1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MSD</a:t>
            </a:r>
            <a:r>
              <a:rPr lang="zh-CN" altLang="en-US" sz="2400" b="1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法）</a:t>
            </a:r>
            <a:r>
              <a:rPr lang="zh-CN" altLang="en-US" sz="2400" dirty="0" smtClean="0">
                <a:ea typeface="华文楷体" panose="02010600040101010101" pitchFamily="2" charset="-122"/>
              </a:rPr>
              <a:t>   对每一堆：按面值分堆；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                                               从小到大排序；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                            按花色从小到大排序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400" dirty="0" smtClean="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553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5530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最低位优先法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： 按点数大小分成</a:t>
            </a:r>
            <a:r>
              <a:rPr lang="en-US" altLang="zh-CN" sz="2400" dirty="0" smtClean="0">
                <a:ea typeface="华文楷体" panose="02010600040101010101" pitchFamily="2" charset="-122"/>
              </a:rPr>
              <a:t>13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堆；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 </a:t>
            </a:r>
            <a:r>
              <a:rPr lang="zh-CN" altLang="en-US" sz="2400" b="1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（</a:t>
            </a:r>
            <a:r>
              <a:rPr lang="en-US" altLang="zh-CN" sz="2400" b="1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LSD</a:t>
            </a:r>
            <a:r>
              <a:rPr lang="zh-CN" altLang="en-US" sz="2400" b="1" dirty="0" smtClean="0">
                <a:solidFill>
                  <a:srgbClr val="FF3300"/>
                </a:solidFill>
                <a:ea typeface="华文楷体" panose="02010600040101010101" pitchFamily="2" charset="-122"/>
              </a:rPr>
              <a:t>法）</a:t>
            </a:r>
            <a:r>
              <a:rPr lang="zh-CN" altLang="en-US" sz="2400" dirty="0" smtClean="0">
                <a:ea typeface="华文楷体" panose="02010600040101010101" pitchFamily="2" charset="-122"/>
              </a:rPr>
              <a:t>    按点数从小到大收集起来；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                         再按花色分成四堆；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                         按花色从小到大收集起来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4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[MSD</a:t>
            </a:r>
            <a:r>
              <a:rPr lang="zh-CN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与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LSD</a:t>
            </a:r>
            <a:r>
              <a:rPr lang="zh-CN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不同特点]</a:t>
            </a:r>
          </a:p>
          <a:p>
            <a:pPr eaLnBrk="1" hangingPunct="1">
              <a:lnSpc>
                <a:spcPct val="90000"/>
              </a:lnSpc>
            </a:pPr>
            <a:r>
              <a:rPr lang="zh-CN" altLang="zh-CN" sz="2400" dirty="0" smtClean="0">
                <a:ea typeface="华文楷体" panose="02010600040101010101" pitchFamily="2" charset="-122"/>
              </a:rPr>
              <a:t>按</a:t>
            </a:r>
            <a:r>
              <a:rPr lang="en-US" altLang="zh-CN" sz="2400" dirty="0" smtClean="0">
                <a:ea typeface="华文楷体" panose="02010600040101010101" pitchFamily="2" charset="-122"/>
              </a:rPr>
              <a:t>MSD</a:t>
            </a:r>
            <a:r>
              <a:rPr lang="zh-CN" altLang="zh-CN" sz="2400" dirty="0" smtClean="0">
                <a:ea typeface="华文楷体" panose="02010600040101010101" pitchFamily="2" charset="-122"/>
              </a:rPr>
              <a:t>排序，必须将序列逐层分割成若干子序列，然后对各子序列分别排序</a:t>
            </a:r>
          </a:p>
          <a:p>
            <a:pPr eaLnBrk="1" hangingPunct="1">
              <a:lnSpc>
                <a:spcPct val="90000"/>
              </a:lnSpc>
            </a:pPr>
            <a:r>
              <a:rPr lang="zh-CN" altLang="zh-CN" sz="2400" dirty="0" smtClean="0">
                <a:ea typeface="华文楷体" panose="02010600040101010101" pitchFamily="2" charset="-122"/>
              </a:rPr>
              <a:t>按</a:t>
            </a:r>
            <a:r>
              <a:rPr lang="en-US" altLang="zh-CN" sz="2400" dirty="0" smtClean="0">
                <a:ea typeface="华文楷体" panose="02010600040101010101" pitchFamily="2" charset="-122"/>
              </a:rPr>
              <a:t>LSD</a:t>
            </a:r>
            <a:r>
              <a:rPr lang="zh-CN" altLang="zh-CN" sz="2400" dirty="0" smtClean="0">
                <a:ea typeface="华文楷体" panose="02010600040101010101" pitchFamily="2" charset="-122"/>
              </a:rPr>
              <a:t>排序，不必分成子序列，对每个关键字都是整个序列参加排序；并且可不通过关键字比较，而通过若干次分配与收集实现排序</a:t>
            </a:r>
            <a:endParaRPr lang="zh-CN" altLang="en-US" sz="24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 dirty="0" smtClean="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BUPT SCST</a:t>
            </a:r>
          </a:p>
        </p:txBody>
      </p:sp>
      <p:sp>
        <p:nvSpPr>
          <p:cNvPr id="7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563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563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9100" y="1160185"/>
            <a:ext cx="8229600" cy="3030815"/>
          </a:xfrm>
          <a:ln>
            <a:solidFill>
              <a:srgbClr val="00B050"/>
            </a:solidFill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基数排序算法思想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  <a:r>
              <a:rPr lang="en-US" altLang="zh-CN" sz="2400" b="1" dirty="0" smtClean="0">
                <a:ea typeface="华文楷体" panose="02010600040101010101" pitchFamily="2" charset="-122"/>
              </a:rPr>
              <a:t> 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借鉴</a:t>
            </a:r>
            <a:r>
              <a:rPr lang="en-US" altLang="zh-CN" sz="2400" dirty="0" smtClean="0">
                <a:ea typeface="华文楷体" panose="02010600040101010101" pitchFamily="2" charset="-122"/>
              </a:rPr>
              <a:t>LSD</a:t>
            </a:r>
            <a:r>
              <a:rPr lang="zh-CN" altLang="en-US" sz="2400" dirty="0" smtClean="0">
                <a:ea typeface="华文楷体" panose="02010600040101010101" pitchFamily="2" charset="-122"/>
              </a:rPr>
              <a:t>法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    设参加排序的序列为</a:t>
            </a:r>
            <a:r>
              <a:rPr lang="en-US" altLang="zh-CN" sz="2400" dirty="0" smtClean="0">
                <a:ea typeface="华文楷体" panose="02010600040101010101" pitchFamily="2" charset="-122"/>
              </a:rPr>
              <a:t>K=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{K</a:t>
            </a:r>
            <a:r>
              <a:rPr lang="en-US" altLang="zh-CN" sz="2400" baseline="-25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, K</a:t>
            </a:r>
            <a:r>
              <a:rPr lang="en-US" altLang="zh-CN" sz="2400" baseline="-25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,..., 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 sz="2400" baseline="-250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}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，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      其中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 sz="2400" baseline="-25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是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d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位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rd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进制的数，</a:t>
            </a:r>
            <a:r>
              <a:rPr lang="en-US" altLang="zh-CN" sz="2400" b="1" dirty="0" err="1" smtClean="0">
                <a:solidFill>
                  <a:srgbClr val="FF33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rd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称为</a:t>
            </a:r>
            <a:r>
              <a:rPr lang="zh-CN" altLang="en-US" sz="2400" b="1" dirty="0" smtClean="0">
                <a:solidFill>
                  <a:srgbClr val="FF33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基数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；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      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d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由所有元素中最长的一个元素的位数计量，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      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 sz="2400" baseline="-25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= K</a:t>
            </a:r>
            <a:r>
              <a:rPr lang="en-US" altLang="zh-CN" sz="2400" baseline="-25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2400" baseline="30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K</a:t>
            </a:r>
            <a:r>
              <a:rPr lang="en-US" altLang="zh-CN" sz="2400" baseline="-25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2400" baseline="30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... K</a:t>
            </a:r>
            <a:r>
              <a:rPr lang="en-US" altLang="zh-CN" sz="2400" baseline="-25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2400" baseline="30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d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 baseline="300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   </a:t>
            </a:r>
            <a:r>
              <a:rPr lang="zh-CN" altLang="en-US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从低位到高位依次对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 sz="2400" baseline="300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j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(j=d, d-1, ..., 1)</a:t>
            </a:r>
            <a:r>
              <a:rPr lang="zh-CN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根据基数分配，再按基数递增序收集，则可得有序序列。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[例 ]</a:t>
            </a:r>
            <a:r>
              <a:rPr lang="zh-CN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(1)</a:t>
            </a:r>
            <a:r>
              <a:rPr lang="zh-CN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K={3621 </a:t>
            </a:r>
            <a:r>
              <a:rPr lang="en-US" altLang="zh-CN" sz="2400" dirty="0" smtClean="0">
                <a:solidFill>
                  <a:schemeClr val="accent2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 0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724  8385  </a:t>
            </a:r>
            <a:r>
              <a:rPr lang="en-US" altLang="zh-CN" sz="2400" dirty="0" smtClean="0">
                <a:solidFill>
                  <a:schemeClr val="accent2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00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75  </a:t>
            </a:r>
            <a:r>
              <a:rPr lang="en-US" altLang="zh-CN" sz="2400" dirty="0" smtClean="0">
                <a:solidFill>
                  <a:schemeClr val="accent2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514  7368 </a:t>
            </a:r>
            <a:r>
              <a:rPr lang="en-US" altLang="zh-CN" sz="2400" dirty="0" smtClean="0">
                <a:solidFill>
                  <a:schemeClr val="accent1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dirty="0" smtClean="0">
                <a:solidFill>
                  <a:schemeClr val="accent2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000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8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rd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=10, d=4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(2) K={Zhang  Wang    Li       Zhao</a:t>
            </a:r>
            <a:r>
              <a:rPr lang="en-US" altLang="zh-CN" sz="2400" dirty="0" smtClean="0">
                <a:solidFill>
                  <a:schemeClr val="accent2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      </a:t>
            </a:r>
            <a:r>
              <a:rPr lang="en-US" altLang="zh-CN" sz="24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rd</a:t>
            </a:r>
            <a:r>
              <a:rPr lang="en-US" altLang="zh-CN" sz="24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=27, d=5</a:t>
            </a:r>
            <a:endParaRPr lang="en-US" altLang="zh-CN" sz="2400" baseline="-25000" dirty="0" smtClean="0">
              <a:ea typeface="华文楷体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 dirty="0" smtClean="0">
              <a:ea typeface="华文楷体" panose="02010600040101010101" pitchFamily="2" charset="-122"/>
            </a:endParaRPr>
          </a:p>
        </p:txBody>
      </p:sp>
      <p:sp>
        <p:nvSpPr>
          <p:cNvPr id="56326" name="Text Box 4"/>
          <p:cNvSpPr txBox="1">
            <a:spLocks noChangeArrowheads="1"/>
          </p:cNvSpPr>
          <p:nvPr/>
        </p:nvSpPr>
        <p:spPr bwMode="auto">
          <a:xfrm>
            <a:off x="2057400" y="3124200"/>
            <a:ext cx="1828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000" dirty="0">
                <a:solidFill>
                  <a:schemeClr val="accent2"/>
                </a:solidFill>
                <a:latin typeface="楷体_GB2312" charset="-122"/>
                <a:ea typeface="楷体_GB2312" charset="-122"/>
              </a:rPr>
              <a:t>高       低</a:t>
            </a:r>
            <a:endParaRPr kumimoji="1" lang="zh-CN" altLang="en-US" sz="2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56327" name="Line 5"/>
          <p:cNvSpPr>
            <a:spLocks noChangeShapeType="1"/>
          </p:cNvSpPr>
          <p:nvPr/>
        </p:nvSpPr>
        <p:spPr bwMode="auto">
          <a:xfrm flipH="1">
            <a:off x="2362200" y="3200400"/>
            <a:ext cx="990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4200" y="5486400"/>
            <a:ext cx="762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 flipH="1">
            <a:off x="3733800" y="5486400"/>
            <a:ext cx="762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810000" y="5486400"/>
            <a:ext cx="762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886200" y="5486400"/>
            <a:ext cx="762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4876800" y="5486400"/>
            <a:ext cx="762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19100" y="4191000"/>
            <a:ext cx="8229600" cy="2362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7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573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5734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基数排序示例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  <a:r>
              <a:rPr lang="en-US" altLang="zh-CN" sz="2400" b="1" dirty="0" smtClean="0">
                <a:ea typeface="华文楷体" panose="02010600040101010101" pitchFamily="2" charset="-122"/>
              </a:rPr>
              <a:t>   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{ 477  241  467  </a:t>
            </a:r>
            <a:r>
              <a:rPr lang="en-US" altLang="zh-CN" sz="24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5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 363  81  </a:t>
            </a:r>
            <a:r>
              <a:rPr lang="en-US" altLang="zh-CN" sz="2400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 </a:t>
            </a:r>
            <a:r>
              <a:rPr lang="en-US" altLang="zh-CN" sz="2400" u="sng" dirty="0" smtClean="0">
                <a:solidFill>
                  <a:schemeClr val="accent2"/>
                </a:solidFill>
                <a:ea typeface="华文楷体" panose="02010600040101010101" pitchFamily="2" charset="-122"/>
              </a:rPr>
              <a:t>5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}</a:t>
            </a:r>
          </a:p>
        </p:txBody>
      </p:sp>
      <p:sp>
        <p:nvSpPr>
          <p:cNvPr id="57350" name="Text Box 4"/>
          <p:cNvSpPr txBox="1">
            <a:spLocks noChangeArrowheads="1"/>
          </p:cNvSpPr>
          <p:nvPr/>
        </p:nvSpPr>
        <p:spPr bwMode="auto">
          <a:xfrm>
            <a:off x="7239000" y="1006475"/>
            <a:ext cx="1066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 dirty="0" err="1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rd</a:t>
            </a:r>
            <a:r>
              <a:rPr kumimoji="1"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=10 d=3</a:t>
            </a:r>
            <a:endParaRPr kumimoji="1" lang="en-US" altLang="zh-CN" sz="2400" b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pic>
        <p:nvPicPr>
          <p:cNvPr id="5735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709738"/>
            <a:ext cx="7486650" cy="507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BUPT SCST</a:t>
            </a:r>
          </a:p>
        </p:txBody>
      </p:sp>
      <p:sp>
        <p:nvSpPr>
          <p:cNvPr id="20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583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数据结构</a:t>
            </a:r>
            <a:r>
              <a:rPr lang="en-US" altLang="zh-CN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  <a:r>
              <a:rPr lang="zh-CN" altLang="en-US" sz="24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：一般采用链式结构存储</a:t>
            </a:r>
          </a:p>
          <a:p>
            <a:pPr eaLnBrk="1" hangingPunct="1"/>
            <a:r>
              <a:rPr lang="zh-CN" altLang="en-US" sz="2400" dirty="0" smtClean="0">
                <a:ea typeface="华文楷体" panose="02010600040101010101" pitchFamily="2" charset="-122"/>
              </a:rPr>
              <a:t>主：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ElemType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a[1..n]</a:t>
            </a:r>
          </a:p>
          <a:p>
            <a:pPr lvl="1" eaLnBrk="1" hangingPunct="1"/>
            <a:r>
              <a:rPr lang="zh-CN" altLang="en-US" sz="2400" dirty="0" smtClean="0">
                <a:ea typeface="华文楷体" panose="02010600040101010101" pitchFamily="2" charset="-122"/>
              </a:rPr>
              <a:t>数据域</a:t>
            </a:r>
            <a:r>
              <a:rPr lang="en-US" altLang="zh-CN" sz="2400" dirty="0" smtClean="0">
                <a:ea typeface="华文楷体" panose="02010600040101010101" pitchFamily="2" charset="-122"/>
              </a:rPr>
              <a:t>( key + 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otheritem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)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：记录</a:t>
            </a:r>
            <a:endParaRPr lang="en-US" altLang="zh-CN" sz="2400" dirty="0" smtClean="0">
              <a:ea typeface="华文楷体" panose="02010600040101010101" pitchFamily="2" charset="-122"/>
            </a:endParaRPr>
          </a:p>
          <a:p>
            <a:pPr lvl="1" eaLnBrk="1" hangingPunct="1"/>
            <a:r>
              <a:rPr lang="zh-CN" altLang="en-US" sz="2400" b="1" dirty="0" smtClean="0">
                <a:solidFill>
                  <a:schemeClr val="accent1"/>
                </a:solidFill>
                <a:ea typeface="华文楷体" panose="02010600040101010101" pitchFamily="2" charset="-122"/>
              </a:rPr>
              <a:t>指针域</a:t>
            </a:r>
            <a:r>
              <a:rPr lang="en-US" altLang="en-US" sz="2400" b="1" dirty="0" smtClean="0">
                <a:solidFill>
                  <a:schemeClr val="accent1"/>
                </a:solidFill>
              </a:rPr>
              <a:t>( </a:t>
            </a:r>
            <a:r>
              <a:rPr lang="en-US" altLang="zh-CN" sz="2400" b="1" dirty="0">
                <a:solidFill>
                  <a:schemeClr val="accent1"/>
                </a:solidFill>
                <a:ea typeface="华文楷体" panose="02010600040101010101" pitchFamily="2" charset="-122"/>
              </a:rPr>
              <a:t>next )</a:t>
            </a:r>
            <a:r>
              <a:rPr lang="zh-CN" altLang="en-US" sz="2400" b="1" dirty="0">
                <a:solidFill>
                  <a:schemeClr val="accent1"/>
                </a:solidFill>
                <a:ea typeface="华文楷体" panose="02010600040101010101" pitchFamily="2" charset="-122"/>
              </a:rPr>
              <a:t>：下一个记录的序号</a:t>
            </a:r>
            <a:endParaRPr lang="en-US" altLang="zh-CN" sz="2400" b="1" dirty="0">
              <a:solidFill>
                <a:schemeClr val="accent1"/>
              </a:solidFill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kumimoji="1" lang="en-US" altLang="zh-CN" sz="2400" dirty="0" err="1">
                <a:ea typeface="华文楷体" panose="02010600040101010101" pitchFamily="2" charset="-122"/>
              </a:rPr>
              <a:t>typedef</a:t>
            </a:r>
            <a:r>
              <a:rPr kumimoji="1" lang="en-US" altLang="zh-CN" sz="2400" dirty="0">
                <a:ea typeface="华文楷体" panose="02010600040101010101" pitchFamily="2" charset="-122"/>
              </a:rPr>
              <a:t> </a:t>
            </a:r>
            <a:r>
              <a:rPr kumimoji="1" lang="en-US" altLang="zh-CN" sz="2400" dirty="0" err="1">
                <a:ea typeface="华文楷体" panose="02010600040101010101" pitchFamily="2" charset="-122"/>
              </a:rPr>
              <a:t>struct</a:t>
            </a:r>
            <a:r>
              <a:rPr kumimoji="1" lang="en-US" altLang="zh-CN" sz="2400" dirty="0">
                <a:ea typeface="华文楷体" panose="02010600040101010101" pitchFamily="2" charset="-122"/>
              </a:rPr>
              <a:t> { 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kumimoji="1" lang="en-US" altLang="zh-CN" sz="2400" dirty="0">
                <a:ea typeface="华文楷体" panose="02010600040101010101" pitchFamily="2" charset="-122"/>
              </a:rPr>
              <a:t>   </a:t>
            </a:r>
            <a:r>
              <a:rPr kumimoji="1" lang="en-US" altLang="zh-CN" sz="2400" dirty="0" err="1">
                <a:ea typeface="华文楷体" panose="02010600040101010101" pitchFamily="2" charset="-122"/>
              </a:rPr>
              <a:t>KeyType</a:t>
            </a:r>
            <a:r>
              <a:rPr kumimoji="1" lang="en-US" altLang="zh-CN" sz="2400" dirty="0">
                <a:ea typeface="华文楷体" panose="02010600040101010101" pitchFamily="2" charset="-122"/>
              </a:rPr>
              <a:t>  key;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kumimoji="1" lang="en-US" altLang="zh-CN" sz="2400" dirty="0">
                <a:ea typeface="华文楷体" panose="02010600040101010101" pitchFamily="2" charset="-122"/>
              </a:rPr>
              <a:t>   </a:t>
            </a:r>
            <a:r>
              <a:rPr kumimoji="1" lang="en-US" altLang="zh-CN" sz="2400" dirty="0" err="1">
                <a:ea typeface="华文楷体" panose="02010600040101010101" pitchFamily="2" charset="-122"/>
              </a:rPr>
              <a:t>InfoType</a:t>
            </a:r>
            <a:r>
              <a:rPr kumimoji="1" lang="en-US" altLang="zh-CN" sz="2400" dirty="0">
                <a:ea typeface="华文楷体" panose="02010600040101010101" pitchFamily="2" charset="-122"/>
              </a:rPr>
              <a:t> </a:t>
            </a:r>
            <a:r>
              <a:rPr kumimoji="1" lang="en-US" altLang="zh-CN" sz="2400" dirty="0" err="1">
                <a:ea typeface="华文楷体" panose="02010600040101010101" pitchFamily="2" charset="-122"/>
              </a:rPr>
              <a:t>otherinfo</a:t>
            </a:r>
            <a:r>
              <a:rPr kumimoji="1" lang="en-US" altLang="zh-CN" sz="2400" dirty="0" smtClean="0">
                <a:ea typeface="华文楷体" panose="02010600040101010101" pitchFamily="2" charset="-122"/>
              </a:rPr>
              <a:t>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kumimoji="1" lang="en-US" altLang="zh-CN" sz="2400" dirty="0">
                <a:solidFill>
                  <a:schemeClr val="accent1"/>
                </a:solidFill>
                <a:ea typeface="华文楷体" panose="02010600040101010101" pitchFamily="2" charset="-122"/>
              </a:rPr>
              <a:t> </a:t>
            </a:r>
            <a:r>
              <a:rPr kumimoji="1" lang="en-US" altLang="zh-CN" sz="2400" dirty="0" smtClean="0">
                <a:solidFill>
                  <a:schemeClr val="accent1"/>
                </a:solidFill>
                <a:ea typeface="华文楷体" panose="02010600040101010101" pitchFamily="2" charset="-122"/>
              </a:rPr>
              <a:t>  </a:t>
            </a:r>
            <a:r>
              <a:rPr kumimoji="1" lang="en-US" altLang="zh-CN" sz="2400" b="1" dirty="0" err="1" smtClean="0">
                <a:solidFill>
                  <a:schemeClr val="accent1"/>
                </a:solidFill>
                <a:ea typeface="华文楷体" panose="02010600040101010101" pitchFamily="2" charset="-122"/>
              </a:rPr>
              <a:t>int</a:t>
            </a:r>
            <a:r>
              <a:rPr kumimoji="1" lang="en-US" altLang="zh-CN" sz="2400" b="1" dirty="0" smtClean="0">
                <a:solidFill>
                  <a:schemeClr val="accent1"/>
                </a:solidFill>
                <a:ea typeface="华文楷体" panose="02010600040101010101" pitchFamily="2" charset="-122"/>
              </a:rPr>
              <a:t>  next</a:t>
            </a:r>
            <a:r>
              <a:rPr kumimoji="1" lang="en-US" altLang="zh-CN" sz="2400" b="1" dirty="0">
                <a:solidFill>
                  <a:schemeClr val="accent1"/>
                </a:solidFill>
                <a:ea typeface="华文楷体" panose="02010600040101010101" pitchFamily="2" charset="-122"/>
              </a:rPr>
              <a:t>;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kumimoji="1" lang="en-US" altLang="zh-CN" sz="2400" dirty="0">
                <a:ea typeface="华文楷体" panose="02010600040101010101" pitchFamily="2" charset="-122"/>
              </a:rPr>
              <a:t>} </a:t>
            </a:r>
            <a:r>
              <a:rPr kumimoji="1" lang="en-US" altLang="zh-CN" sz="2400" dirty="0" err="1">
                <a:ea typeface="华文楷体" panose="02010600040101010101" pitchFamily="2" charset="-122"/>
              </a:rPr>
              <a:t>ElemType</a:t>
            </a:r>
            <a:r>
              <a:rPr kumimoji="1" lang="en-US" altLang="zh-CN" sz="2400" dirty="0">
                <a:ea typeface="华文楷体" panose="02010600040101010101" pitchFamily="2" charset="-122"/>
              </a:rPr>
              <a:t>;</a:t>
            </a:r>
          </a:p>
          <a:p>
            <a:pPr marL="457200" lvl="1" indent="0" eaLnBrk="1" hangingPunct="1"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</a:t>
            </a:r>
            <a:endParaRPr lang="zh-CN" altLang="en-US" sz="2400" dirty="0" smtClean="0">
              <a:ea typeface="华文楷体" panose="02010600040101010101" pitchFamily="2" charset="-122"/>
            </a:endParaRPr>
          </a:p>
          <a:p>
            <a:pPr eaLnBrk="1" hangingPunct="1"/>
            <a:r>
              <a:rPr lang="zh-CN" altLang="en-US" sz="2400" dirty="0" smtClean="0">
                <a:ea typeface="华文楷体" panose="02010600040101010101" pitchFamily="2" charset="-122"/>
              </a:rPr>
              <a:t>辅：</a:t>
            </a:r>
            <a:r>
              <a:rPr lang="en-US" altLang="zh-CN" sz="2400" dirty="0" smtClean="0">
                <a:ea typeface="华文楷体" panose="02010600040101010101" pitchFamily="2" charset="-122"/>
              </a:rPr>
              <a:t>front[0..rd-1]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各链式队列头指针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       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rear[0..rd-1]  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各链式队列尾指针</a:t>
            </a:r>
            <a:endParaRPr lang="en-US" altLang="zh-CN" sz="24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 dirty="0" smtClean="0">
              <a:ea typeface="华文楷体" panose="02010600040101010101" pitchFamily="2" charset="-122"/>
            </a:endParaRPr>
          </a:p>
        </p:txBody>
      </p:sp>
      <p:sp>
        <p:nvSpPr>
          <p:cNvPr id="58374" name="Text Box 4"/>
          <p:cNvSpPr txBox="1">
            <a:spLocks noChangeArrowheads="1"/>
          </p:cNvSpPr>
          <p:nvPr/>
        </p:nvSpPr>
        <p:spPr bwMode="auto">
          <a:xfrm>
            <a:off x="6324600" y="1676400"/>
            <a:ext cx="2514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key </a:t>
            </a:r>
            <a:r>
              <a:rPr kumimoji="1" lang="en-US" altLang="zh-CN" sz="2000" dirty="0" err="1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otheritem</a:t>
            </a:r>
            <a:r>
              <a:rPr kumimoji="1"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next</a:t>
            </a:r>
            <a:endParaRPr kumimoji="1" lang="en-US" altLang="zh-CN" sz="2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58375" name="Rectangle 5"/>
          <p:cNvSpPr>
            <a:spLocks noChangeArrowheads="1"/>
          </p:cNvSpPr>
          <p:nvPr/>
        </p:nvSpPr>
        <p:spPr bwMode="auto">
          <a:xfrm>
            <a:off x="6400800" y="2057400"/>
            <a:ext cx="144780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58376" name="Line 6"/>
          <p:cNvSpPr>
            <a:spLocks noChangeShapeType="1"/>
          </p:cNvSpPr>
          <p:nvPr/>
        </p:nvSpPr>
        <p:spPr bwMode="auto">
          <a:xfrm>
            <a:off x="6400800" y="22860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58377" name="Line 7"/>
          <p:cNvSpPr>
            <a:spLocks noChangeShapeType="1"/>
          </p:cNvSpPr>
          <p:nvPr/>
        </p:nvSpPr>
        <p:spPr bwMode="auto">
          <a:xfrm>
            <a:off x="6400800" y="25146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58379" name="Text Box 9"/>
          <p:cNvSpPr txBox="1">
            <a:spLocks noChangeArrowheads="1"/>
          </p:cNvSpPr>
          <p:nvPr/>
        </p:nvSpPr>
        <p:spPr bwMode="auto">
          <a:xfrm>
            <a:off x="6096000" y="1981200"/>
            <a:ext cx="457200" cy="1436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kumimoji="1" lang="en-US" altLang="zh-CN" sz="16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kumimoji="1" lang="en-US" altLang="zh-CN" sz="16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600" dirty="0"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endParaRPr kumimoji="1"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58380" name="Rectangle 10"/>
          <p:cNvSpPr>
            <a:spLocks noChangeArrowheads="1"/>
          </p:cNvSpPr>
          <p:nvPr/>
        </p:nvSpPr>
        <p:spPr bwMode="auto">
          <a:xfrm>
            <a:off x="6477000" y="3733800"/>
            <a:ext cx="533400" cy="1371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58381" name="Rectangle 11"/>
          <p:cNvSpPr>
            <a:spLocks noChangeArrowheads="1"/>
          </p:cNvSpPr>
          <p:nvPr/>
        </p:nvSpPr>
        <p:spPr bwMode="auto">
          <a:xfrm>
            <a:off x="8077200" y="3733800"/>
            <a:ext cx="533400" cy="1371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58382" name="Text Box 12"/>
          <p:cNvSpPr txBox="1">
            <a:spLocks noChangeArrowheads="1"/>
          </p:cNvSpPr>
          <p:nvPr/>
        </p:nvSpPr>
        <p:spPr bwMode="auto">
          <a:xfrm>
            <a:off x="6019800" y="3733800"/>
            <a:ext cx="533400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6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0</a:t>
            </a:r>
            <a:endParaRPr kumimoji="1" lang="en-US" altLang="zh-CN" sz="16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kumimoji="1" lang="en-US" altLang="zh-CN" sz="16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kumimoji="1" lang="en-US" altLang="zh-CN" sz="16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6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rd-1</a:t>
            </a:r>
            <a:endParaRPr kumimoji="1"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58383" name="Line 13"/>
          <p:cNvSpPr>
            <a:spLocks noChangeShapeType="1"/>
          </p:cNvSpPr>
          <p:nvPr/>
        </p:nvSpPr>
        <p:spPr bwMode="auto">
          <a:xfrm>
            <a:off x="6477000" y="39624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58384" name="Line 14"/>
          <p:cNvSpPr>
            <a:spLocks noChangeShapeType="1"/>
          </p:cNvSpPr>
          <p:nvPr/>
        </p:nvSpPr>
        <p:spPr bwMode="auto">
          <a:xfrm>
            <a:off x="6477000" y="4191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58385" name="Line 15"/>
          <p:cNvSpPr>
            <a:spLocks noChangeShapeType="1"/>
          </p:cNvSpPr>
          <p:nvPr/>
        </p:nvSpPr>
        <p:spPr bwMode="auto">
          <a:xfrm>
            <a:off x="8077200" y="39624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58386" name="Line 16"/>
          <p:cNvSpPr>
            <a:spLocks noChangeShapeType="1"/>
          </p:cNvSpPr>
          <p:nvPr/>
        </p:nvSpPr>
        <p:spPr bwMode="auto">
          <a:xfrm>
            <a:off x="8077200" y="4191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58387" name="Text Box 17"/>
          <p:cNvSpPr txBox="1">
            <a:spLocks noChangeArrowheads="1"/>
          </p:cNvSpPr>
          <p:nvPr/>
        </p:nvSpPr>
        <p:spPr bwMode="auto">
          <a:xfrm>
            <a:off x="6463314" y="1361900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a[1..n]</a:t>
            </a:r>
            <a:endParaRPr kumimoji="1" lang="en-US" altLang="zh-CN" sz="2400" b="1" dirty="0">
              <a:solidFill>
                <a:schemeClr val="accent2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58388" name="Text Box 18"/>
          <p:cNvSpPr txBox="1">
            <a:spLocks noChangeArrowheads="1"/>
          </p:cNvSpPr>
          <p:nvPr/>
        </p:nvSpPr>
        <p:spPr bwMode="auto">
          <a:xfrm>
            <a:off x="6019800" y="3344009"/>
            <a:ext cx="3124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b="1" dirty="0" smtClean="0">
                <a:solidFill>
                  <a:schemeClr val="accent2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front[0..rd-1]   rear[0..rd-1]</a:t>
            </a:r>
            <a:endParaRPr kumimoji="1" lang="en-US" altLang="zh-CN" sz="2000" b="1" dirty="0">
              <a:solidFill>
                <a:schemeClr val="accent2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848600" y="2057400"/>
            <a:ext cx="471488" cy="127952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cxnSp>
        <p:nvCxnSpPr>
          <p:cNvPr id="4" name="直接连接符 3"/>
          <p:cNvCxnSpPr/>
          <p:nvPr/>
        </p:nvCxnSpPr>
        <p:spPr>
          <a:xfrm>
            <a:off x="7818268" y="2286000"/>
            <a:ext cx="487532" cy="0"/>
          </a:xfrm>
          <a:prstGeom prst="line">
            <a:avLst/>
          </a:prstGeom>
          <a:noFill/>
          <a:ln w="38100">
            <a:solidFill>
              <a:schemeClr val="accent1"/>
            </a:solidFill>
          </a:ln>
        </p:spPr>
      </p:cxnSp>
      <p:cxnSp>
        <p:nvCxnSpPr>
          <p:cNvPr id="6" name="直接连接符 5"/>
          <p:cNvCxnSpPr/>
          <p:nvPr/>
        </p:nvCxnSpPr>
        <p:spPr>
          <a:xfrm>
            <a:off x="7848600" y="2514600"/>
            <a:ext cx="471488" cy="0"/>
          </a:xfrm>
          <a:prstGeom prst="line">
            <a:avLst/>
          </a:prstGeom>
          <a:noFill/>
          <a:ln w="38100">
            <a:solidFill>
              <a:schemeClr val="accent1"/>
            </a:solidFill>
          </a:ln>
        </p:spPr>
      </p:cxnSp>
      <p:cxnSp>
        <p:nvCxnSpPr>
          <p:cNvPr id="8" name="直接连接符 7"/>
          <p:cNvCxnSpPr/>
          <p:nvPr/>
        </p:nvCxnSpPr>
        <p:spPr>
          <a:xfrm>
            <a:off x="6019800" y="1066800"/>
            <a:ext cx="0" cy="579120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0" y="4953000"/>
            <a:ext cx="6019800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3" name="Text Box 12"/>
          <p:cNvSpPr txBox="1">
            <a:spLocks noChangeArrowheads="1"/>
          </p:cNvSpPr>
          <p:nvPr/>
        </p:nvSpPr>
        <p:spPr bwMode="auto">
          <a:xfrm>
            <a:off x="7620000" y="3713460"/>
            <a:ext cx="457200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6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  0</a:t>
            </a:r>
            <a:endParaRPr kumimoji="1" lang="en-US" altLang="zh-CN" sz="16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kumimoji="1" lang="en-US" altLang="zh-CN" sz="16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endParaRPr kumimoji="1" lang="en-US" altLang="zh-CN" sz="16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16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rd-1</a:t>
            </a:r>
            <a:endParaRPr kumimoji="1" lang="en-US" altLang="zh-CN" sz="18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>
            <a:off x="5867400" y="2667000"/>
            <a:ext cx="1981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V="1">
            <a:off x="2133600" y="3048000"/>
            <a:ext cx="5638800" cy="1143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2590800" y="4343400"/>
            <a:ext cx="2954655" cy="369332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ea typeface="华文楷体" panose="02010600040101010101" pitchFamily="2" charset="-122"/>
              </a:rPr>
              <a:t>和链表归并的数据结构一样</a:t>
            </a:r>
            <a:endParaRPr lang="zh-CN" altLang="en-US" dirty="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1079161"/>
            <a:ext cx="8686800" cy="570263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200" dirty="0" err="1" smtClean="0">
                <a:ea typeface="华文楷体" panose="02010600040101010101" pitchFamily="2" charset="-122"/>
              </a:rPr>
              <a:t>int</a:t>
            </a:r>
            <a:r>
              <a:rPr lang="en-US" altLang="zh-CN" sz="1200" dirty="0" smtClean="0">
                <a:ea typeface="华文楷体" panose="02010600040101010101" pitchFamily="2" charset="-122"/>
              </a:rPr>
              <a:t> </a:t>
            </a:r>
            <a:r>
              <a:rPr lang="en-US" altLang="zh-CN" sz="1200" dirty="0" err="1">
                <a:ea typeface="华文楷体" panose="02010600040101010101" pitchFamily="2" charset="-122"/>
              </a:rPr>
              <a:t>RadixSort</a:t>
            </a:r>
            <a:r>
              <a:rPr lang="en-US" altLang="zh-CN" sz="1200" dirty="0">
                <a:ea typeface="华文楷体" panose="02010600040101010101" pitchFamily="2" charset="-122"/>
              </a:rPr>
              <a:t> (</a:t>
            </a:r>
            <a:r>
              <a:rPr lang="en-US" altLang="zh-CN" sz="1200" dirty="0" err="1">
                <a:ea typeface="华文楷体" panose="02010600040101010101" pitchFamily="2" charset="-122"/>
              </a:rPr>
              <a:t>ElemType</a:t>
            </a:r>
            <a:r>
              <a:rPr lang="en-US" altLang="zh-CN" sz="1200" dirty="0">
                <a:ea typeface="华文楷体" panose="02010600040101010101" pitchFamily="2" charset="-122"/>
              </a:rPr>
              <a:t> </a:t>
            </a:r>
            <a:r>
              <a:rPr lang="en-US" altLang="zh-CN" sz="1200" dirty="0" smtClean="0">
                <a:ea typeface="华文楷体" panose="02010600040101010101" pitchFamily="2" charset="-122"/>
              </a:rPr>
              <a:t>&amp;a</a:t>
            </a:r>
            <a:r>
              <a:rPr lang="en-US" altLang="zh-CN" sz="1200" dirty="0">
                <a:ea typeface="华文楷体" panose="02010600040101010101" pitchFamily="2" charset="-122"/>
              </a:rPr>
              <a:t>[], </a:t>
            </a:r>
            <a:r>
              <a:rPr lang="en-US" altLang="zh-CN" sz="1200" dirty="0" err="1">
                <a:ea typeface="华文楷体" panose="02010600040101010101" pitchFamily="2" charset="-122"/>
              </a:rPr>
              <a:t>int</a:t>
            </a:r>
            <a:r>
              <a:rPr lang="en-US" altLang="zh-CN" sz="1200" dirty="0">
                <a:ea typeface="华文楷体" panose="02010600040101010101" pitchFamily="2" charset="-122"/>
              </a:rPr>
              <a:t> d, </a:t>
            </a:r>
            <a:r>
              <a:rPr lang="en-US" altLang="zh-CN" sz="1200" dirty="0" err="1">
                <a:ea typeface="华文楷体" panose="02010600040101010101" pitchFamily="2" charset="-122"/>
              </a:rPr>
              <a:t>int</a:t>
            </a:r>
            <a:r>
              <a:rPr lang="en-US" altLang="zh-CN" sz="1200" dirty="0">
                <a:ea typeface="华文楷体" panose="02010600040101010101" pitchFamily="2" charset="-122"/>
              </a:rPr>
              <a:t> </a:t>
            </a:r>
            <a:r>
              <a:rPr lang="en-US" altLang="zh-CN" sz="1200" dirty="0" err="1" smtClean="0">
                <a:ea typeface="华文楷体" panose="02010600040101010101" pitchFamily="2" charset="-122"/>
              </a:rPr>
              <a:t>rd</a:t>
            </a:r>
            <a:r>
              <a:rPr lang="en-US" altLang="zh-CN" sz="1200" dirty="0" smtClean="0">
                <a:ea typeface="华文楷体" panose="02010600040101010101" pitchFamily="2" charset="-122"/>
              </a:rPr>
              <a:t>, </a:t>
            </a:r>
            <a:r>
              <a:rPr lang="en-US" altLang="zh-CN" sz="1200" dirty="0" err="1">
                <a:ea typeface="华文楷体" panose="02010600040101010101" pitchFamily="2" charset="-122"/>
              </a:rPr>
              <a:t>int</a:t>
            </a:r>
            <a:r>
              <a:rPr lang="en-US" altLang="zh-CN" sz="1200" dirty="0">
                <a:ea typeface="华文楷体" panose="02010600040101010101" pitchFamily="2" charset="-122"/>
              </a:rPr>
              <a:t> n)//</a:t>
            </a:r>
            <a:r>
              <a:rPr lang="zh-CN" altLang="en-US" sz="1200" dirty="0">
                <a:ea typeface="华文楷体" panose="02010600040101010101" pitchFamily="2" charset="-122"/>
              </a:rPr>
              <a:t>对</a:t>
            </a:r>
            <a:r>
              <a:rPr lang="en-US" altLang="zh-CN" sz="1200" dirty="0">
                <a:ea typeface="华文楷体" panose="02010600040101010101" pitchFamily="2" charset="-122"/>
              </a:rPr>
              <a:t>a[1..n]</a:t>
            </a:r>
            <a:r>
              <a:rPr lang="zh-CN" altLang="en-US" sz="1200" dirty="0">
                <a:ea typeface="华文楷体" panose="02010600040101010101" pitchFamily="2" charset="-122"/>
              </a:rPr>
              <a:t>按</a:t>
            </a:r>
            <a:r>
              <a:rPr lang="en-US" altLang="zh-CN" sz="1200" dirty="0">
                <a:ea typeface="华文楷体" panose="02010600040101010101" pitchFamily="2" charset="-122"/>
              </a:rPr>
              <a:t>d</a:t>
            </a:r>
            <a:r>
              <a:rPr lang="zh-CN" altLang="en-US" sz="1200" dirty="0">
                <a:ea typeface="华文楷体" panose="02010600040101010101" pitchFamily="2" charset="-122"/>
              </a:rPr>
              <a:t>位</a:t>
            </a:r>
            <a:r>
              <a:rPr lang="en-US" altLang="zh-CN" sz="1200" dirty="0" err="1" smtClean="0">
                <a:ea typeface="华文楷体" panose="02010600040101010101" pitchFamily="2" charset="-122"/>
              </a:rPr>
              <a:t>rd</a:t>
            </a:r>
            <a:r>
              <a:rPr lang="zh-CN" altLang="en-US" sz="1200" dirty="0" smtClean="0">
                <a:ea typeface="华文楷体" panose="02010600040101010101" pitchFamily="2" charset="-122"/>
              </a:rPr>
              <a:t>进制进行</a:t>
            </a:r>
            <a:r>
              <a:rPr lang="zh-CN" altLang="en-US" sz="1200" b="1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基数排序</a:t>
            </a:r>
            <a:r>
              <a:rPr lang="zh-CN" altLang="en-US" sz="1200" dirty="0" smtClean="0">
                <a:ea typeface="华文楷体" panose="02010600040101010101" pitchFamily="2" charset="-122"/>
              </a:rPr>
              <a:t>，</a:t>
            </a:r>
            <a:r>
              <a:rPr lang="zh-CN" altLang="en-US" sz="1200" dirty="0">
                <a:ea typeface="华文楷体" panose="02010600040101010101" pitchFamily="2" charset="-122"/>
              </a:rPr>
              <a:t>函数</a:t>
            </a:r>
            <a:r>
              <a:rPr lang="zh-CN" altLang="en-US" sz="1200" dirty="0" smtClean="0">
                <a:ea typeface="华文楷体" panose="02010600040101010101" pitchFamily="2" charset="-122"/>
              </a:rPr>
              <a:t>返回</a:t>
            </a:r>
            <a:r>
              <a:rPr lang="zh-CN" altLang="en-US" sz="1200" dirty="0">
                <a:ea typeface="华文楷体" panose="02010600040101010101" pitchFamily="2" charset="-122"/>
              </a:rPr>
              <a:t>链表头</a:t>
            </a:r>
            <a:endParaRPr lang="en-US" altLang="zh-CN" sz="1200" dirty="0"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ea typeface="华文楷体" panose="02010600040101010101" pitchFamily="2" charset="-122"/>
              </a:rPr>
              <a:t>{ //</a:t>
            </a:r>
            <a:r>
              <a:rPr lang="zh-CN" altLang="en-US" sz="1200" dirty="0">
                <a:solidFill>
                  <a:srgbClr val="C00000"/>
                </a:solidFill>
                <a:ea typeface="华文楷体" panose="02010600040101010101" pitchFamily="2" charset="-122"/>
              </a:rPr>
              <a:t>说明：程序中使用的函数</a:t>
            </a:r>
            <a:r>
              <a:rPr lang="en-US" altLang="zh-CN" sz="1200" dirty="0" err="1">
                <a:solidFill>
                  <a:srgbClr val="C00000"/>
                </a:solidFill>
                <a:ea typeface="华文楷体" panose="02010600040101010101" pitchFamily="2" charset="-122"/>
              </a:rPr>
              <a:t>int</a:t>
            </a:r>
            <a:r>
              <a:rPr lang="en-US" altLang="zh-CN" sz="1200" dirty="0">
                <a:solidFill>
                  <a:srgbClr val="C00000"/>
                </a:solidFill>
                <a:ea typeface="华文楷体" panose="02010600040101010101" pitchFamily="2" charset="-122"/>
              </a:rPr>
              <a:t> digit(a[</a:t>
            </a:r>
            <a:r>
              <a:rPr lang="en-US" altLang="zh-CN" sz="1200" dirty="0" err="1">
                <a:solidFill>
                  <a:srgbClr val="C00000"/>
                </a:solidFill>
                <a:ea typeface="华文楷体" panose="02010600040101010101" pitchFamily="2" charset="-122"/>
              </a:rPr>
              <a:t>i</a:t>
            </a:r>
            <a:r>
              <a:rPr lang="en-US" altLang="zh-CN" sz="1200" dirty="0">
                <a:solidFill>
                  <a:srgbClr val="C00000"/>
                </a:solidFill>
                <a:ea typeface="华文楷体" panose="02010600040101010101" pitchFamily="2" charset="-122"/>
              </a:rPr>
              <a:t>],</a:t>
            </a:r>
            <a:r>
              <a:rPr lang="en-US" altLang="zh-CN" sz="1200" dirty="0" err="1">
                <a:solidFill>
                  <a:srgbClr val="C00000"/>
                </a:solidFill>
                <a:ea typeface="华文楷体" panose="02010600040101010101" pitchFamily="2" charset="-122"/>
              </a:rPr>
              <a:t>j,rd</a:t>
            </a:r>
            <a:r>
              <a:rPr lang="en-US" altLang="zh-CN" sz="1200" dirty="0">
                <a:solidFill>
                  <a:srgbClr val="C00000"/>
                </a:solidFill>
                <a:ea typeface="华文楷体" panose="02010600040101010101" pitchFamily="2" charset="-122"/>
              </a:rPr>
              <a:t>)</a:t>
            </a:r>
            <a:r>
              <a:rPr lang="zh-CN" altLang="en-US" sz="1200" dirty="0">
                <a:solidFill>
                  <a:srgbClr val="C00000"/>
                </a:solidFill>
                <a:ea typeface="华文楷体" panose="02010600040101010101" pitchFamily="2" charset="-122"/>
              </a:rPr>
              <a:t>，其返回值为</a:t>
            </a:r>
            <a:r>
              <a:rPr lang="en-US" altLang="zh-CN" sz="1200" dirty="0" err="1">
                <a:solidFill>
                  <a:srgbClr val="C00000"/>
                </a:solidFill>
                <a:ea typeface="华文楷体" panose="02010600040101010101" pitchFamily="2" charset="-122"/>
              </a:rPr>
              <a:t>rd</a:t>
            </a:r>
            <a:r>
              <a:rPr lang="zh-CN" altLang="en-US" sz="1200" dirty="0">
                <a:solidFill>
                  <a:srgbClr val="C00000"/>
                </a:solidFill>
                <a:ea typeface="华文楷体" panose="02010600040101010101" pitchFamily="2" charset="-122"/>
              </a:rPr>
              <a:t>进制下，</a:t>
            </a:r>
            <a:r>
              <a:rPr lang="en-US" altLang="zh-CN" sz="1200" dirty="0">
                <a:solidFill>
                  <a:srgbClr val="C00000"/>
                </a:solidFill>
                <a:ea typeface="华文楷体" panose="02010600040101010101" pitchFamily="2" charset="-122"/>
              </a:rPr>
              <a:t>a[</a:t>
            </a:r>
            <a:r>
              <a:rPr lang="en-US" altLang="zh-CN" sz="1200" dirty="0" err="1">
                <a:solidFill>
                  <a:srgbClr val="C00000"/>
                </a:solidFill>
                <a:ea typeface="华文楷体" panose="02010600040101010101" pitchFamily="2" charset="-122"/>
              </a:rPr>
              <a:t>i</a:t>
            </a:r>
            <a:r>
              <a:rPr lang="en-US" altLang="zh-CN" sz="1200" dirty="0">
                <a:solidFill>
                  <a:srgbClr val="C00000"/>
                </a:solidFill>
                <a:ea typeface="华文楷体" panose="02010600040101010101" pitchFamily="2" charset="-122"/>
              </a:rPr>
              <a:t>]</a:t>
            </a:r>
            <a:r>
              <a:rPr lang="zh-CN" altLang="en-US" sz="1200" dirty="0">
                <a:solidFill>
                  <a:srgbClr val="C00000"/>
                </a:solidFill>
                <a:ea typeface="华文楷体" panose="02010600040101010101" pitchFamily="2" charset="-122"/>
              </a:rPr>
              <a:t>的</a:t>
            </a:r>
            <a:r>
              <a:rPr lang="en-US" altLang="zh-CN" sz="1200" dirty="0">
                <a:solidFill>
                  <a:srgbClr val="C00000"/>
                </a:solidFill>
                <a:ea typeface="华文楷体" panose="02010600040101010101" pitchFamily="2" charset="-122"/>
              </a:rPr>
              <a:t>key</a:t>
            </a:r>
            <a:r>
              <a:rPr lang="zh-CN" altLang="en-US" sz="1200" dirty="0">
                <a:solidFill>
                  <a:srgbClr val="C00000"/>
                </a:solidFill>
                <a:ea typeface="华文楷体" panose="02010600040101010101" pitchFamily="2" charset="-122"/>
              </a:rPr>
              <a:t>的第</a:t>
            </a:r>
            <a:r>
              <a:rPr lang="en-US" altLang="zh-CN" sz="1200" dirty="0">
                <a:solidFill>
                  <a:srgbClr val="C00000"/>
                </a:solidFill>
                <a:ea typeface="华文楷体" panose="02010600040101010101" pitchFamily="2" charset="-122"/>
              </a:rPr>
              <a:t>j</a:t>
            </a:r>
            <a:r>
              <a:rPr lang="zh-CN" altLang="en-US" sz="1200" dirty="0">
                <a:solidFill>
                  <a:srgbClr val="C00000"/>
                </a:solidFill>
                <a:ea typeface="华文楷体" panose="02010600040101010101" pitchFamily="2" charset="-122"/>
              </a:rPr>
              <a:t>位，值</a:t>
            </a:r>
            <a:r>
              <a:rPr lang="en-US" altLang="zh-CN" sz="1200" dirty="0">
                <a:solidFill>
                  <a:srgbClr val="C00000"/>
                </a:solidFill>
                <a:ea typeface="华文楷体" panose="02010600040101010101" pitchFamily="2" charset="-122"/>
              </a:rPr>
              <a:t>0..</a:t>
            </a:r>
            <a:r>
              <a:rPr lang="en-US" altLang="zh-CN" sz="12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rd-1</a:t>
            </a:r>
          </a:p>
          <a:p>
            <a:pPr marL="0" indent="0">
              <a:buNone/>
            </a:pPr>
            <a:r>
              <a:rPr lang="en-US" altLang="zh-CN" sz="1200" dirty="0">
                <a:ea typeface="华文楷体" panose="02010600040101010101" pitchFamily="2" charset="-122"/>
              </a:rPr>
              <a:t> </a:t>
            </a:r>
            <a:r>
              <a:rPr lang="en-US" altLang="zh-CN" sz="1200" dirty="0" smtClean="0">
                <a:ea typeface="华文楷体" panose="02010600040101010101" pitchFamily="2" charset="-122"/>
              </a:rPr>
              <a:t>   </a:t>
            </a:r>
            <a:r>
              <a:rPr lang="en-US" altLang="zh-CN" sz="1200" dirty="0" err="1" smtClean="0">
                <a:ea typeface="华文楷体" panose="02010600040101010101" pitchFamily="2" charset="-122"/>
              </a:rPr>
              <a:t>int</a:t>
            </a:r>
            <a:r>
              <a:rPr lang="en-US" altLang="zh-CN" sz="1200" dirty="0" smtClean="0">
                <a:ea typeface="华文楷体" panose="02010600040101010101" pitchFamily="2" charset="-122"/>
              </a:rPr>
              <a:t> front[</a:t>
            </a:r>
            <a:r>
              <a:rPr lang="en-US" altLang="zh-CN" sz="1200" dirty="0" err="1" smtClean="0">
                <a:ea typeface="华文楷体" panose="02010600040101010101" pitchFamily="2" charset="-122"/>
              </a:rPr>
              <a:t>rd</a:t>
            </a:r>
            <a:r>
              <a:rPr lang="en-US" altLang="zh-CN" sz="1200" dirty="0" smtClean="0">
                <a:ea typeface="华文楷体" panose="02010600040101010101" pitchFamily="2" charset="-122"/>
              </a:rPr>
              <a:t>], rear[</a:t>
            </a:r>
            <a:r>
              <a:rPr lang="en-US" altLang="zh-CN" sz="1200" dirty="0" err="1" smtClean="0">
                <a:ea typeface="华文楷体" panose="02010600040101010101" pitchFamily="2" charset="-122"/>
              </a:rPr>
              <a:t>rd</a:t>
            </a:r>
            <a:r>
              <a:rPr lang="en-US" altLang="zh-CN" sz="1200" dirty="0" smtClean="0">
                <a:ea typeface="华文楷体" panose="02010600040101010101" pitchFamily="2" charset="-122"/>
              </a:rPr>
              <a:t>]; //</a:t>
            </a:r>
            <a:r>
              <a:rPr lang="zh-CN" altLang="en-US" sz="1200" dirty="0" smtClean="0">
                <a:ea typeface="华文楷体" panose="02010600040101010101" pitchFamily="2" charset="-122"/>
              </a:rPr>
              <a:t>取值范围</a:t>
            </a:r>
            <a:r>
              <a:rPr lang="en-US" altLang="zh-CN" sz="1200" dirty="0" smtClean="0">
                <a:ea typeface="华文楷体" panose="02010600040101010101" pitchFamily="2" charset="-122"/>
              </a:rPr>
              <a:t>0..rd-1</a:t>
            </a:r>
          </a:p>
          <a:p>
            <a:pPr marL="0" indent="0">
              <a:buNone/>
            </a:pPr>
            <a:r>
              <a:rPr lang="en-US" altLang="zh-CN" sz="1200" dirty="0">
                <a:ea typeface="华文楷体" panose="02010600040101010101" pitchFamily="2" charset="-122"/>
              </a:rPr>
              <a:t> </a:t>
            </a:r>
            <a:r>
              <a:rPr lang="en-US" altLang="zh-CN" sz="1200" dirty="0" smtClean="0">
                <a:ea typeface="华文楷体" panose="02010600040101010101" pitchFamily="2" charset="-122"/>
              </a:rPr>
              <a:t>   </a:t>
            </a:r>
            <a:r>
              <a:rPr lang="en-US" altLang="zh-CN" sz="1200" dirty="0" err="1" smtClean="0">
                <a:ea typeface="华文楷体" panose="02010600040101010101" pitchFamily="2" charset="-122"/>
              </a:rPr>
              <a:t>int</a:t>
            </a:r>
            <a:r>
              <a:rPr lang="en-US" altLang="zh-CN" sz="1200" dirty="0" smtClean="0">
                <a:ea typeface="华文楷体" panose="02010600040101010101" pitchFamily="2" charset="-122"/>
              </a:rPr>
              <a:t> </a:t>
            </a:r>
            <a:r>
              <a:rPr lang="en-US" altLang="zh-CN" sz="12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1200" dirty="0" smtClean="0">
                <a:ea typeface="华文楷体" panose="02010600040101010101" pitchFamily="2" charset="-122"/>
              </a:rPr>
              <a:t>, bin, current, first, last;</a:t>
            </a:r>
          </a:p>
          <a:p>
            <a:pPr marL="0" indent="0">
              <a:buNone/>
            </a:pPr>
            <a:r>
              <a:rPr lang="en-US" altLang="zh-CN" sz="1200" dirty="0">
                <a:ea typeface="华文楷体" panose="02010600040101010101" pitchFamily="2" charset="-122"/>
              </a:rPr>
              <a:t> </a:t>
            </a:r>
            <a:r>
              <a:rPr lang="en-US" altLang="zh-CN" sz="1200" dirty="0" smtClean="0">
                <a:ea typeface="华文楷体" panose="02010600040101010101" pitchFamily="2" charset="-122"/>
              </a:rPr>
              <a:t>   first = 1; //</a:t>
            </a:r>
            <a:r>
              <a:rPr lang="zh-CN" altLang="en-US" sz="1200" dirty="0" smtClean="0">
                <a:ea typeface="华文楷体" panose="02010600040101010101" pitchFamily="2" charset="-122"/>
              </a:rPr>
              <a:t>链表头赋初值</a:t>
            </a:r>
            <a:endParaRPr lang="en-US" altLang="zh-CN" sz="1200" dirty="0" smtClean="0"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>
                <a:ea typeface="华文楷体" panose="02010600040101010101" pitchFamily="2" charset="-122"/>
              </a:rPr>
              <a:t> </a:t>
            </a:r>
            <a:r>
              <a:rPr lang="en-US" altLang="zh-CN" sz="1200" dirty="0" smtClean="0">
                <a:ea typeface="华文楷体" panose="02010600040101010101" pitchFamily="2" charset="-122"/>
              </a:rPr>
              <a:t>   for(</a:t>
            </a:r>
            <a:r>
              <a:rPr lang="en-US" altLang="zh-CN" sz="12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1200" dirty="0" smtClean="0">
                <a:ea typeface="华文楷体" panose="02010600040101010101" pitchFamily="2" charset="-122"/>
              </a:rPr>
              <a:t> = 1; </a:t>
            </a:r>
            <a:r>
              <a:rPr lang="en-US" altLang="zh-CN" sz="12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1200" dirty="0" smtClean="0">
                <a:ea typeface="华文楷体" panose="02010600040101010101" pitchFamily="2" charset="-122"/>
              </a:rPr>
              <a:t>&lt; n; </a:t>
            </a:r>
            <a:r>
              <a:rPr lang="en-US" altLang="zh-CN" sz="12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1200" dirty="0" smtClean="0">
                <a:ea typeface="华文楷体" panose="02010600040101010101" pitchFamily="2" charset="-122"/>
              </a:rPr>
              <a:t>++) a[</a:t>
            </a:r>
            <a:r>
              <a:rPr lang="en-US" altLang="zh-CN" sz="12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1200" dirty="0" smtClean="0">
                <a:ea typeface="华文楷体" panose="02010600040101010101" pitchFamily="2" charset="-122"/>
              </a:rPr>
              <a:t>].next = </a:t>
            </a:r>
            <a:r>
              <a:rPr lang="en-US" altLang="zh-CN" sz="1200" b="1" dirty="0" smtClean="0">
                <a:solidFill>
                  <a:srgbClr val="FF0000"/>
                </a:solidFill>
                <a:ea typeface="华文楷体" panose="02010600040101010101" pitchFamily="2" charset="-122"/>
              </a:rPr>
              <a:t>i+1</a:t>
            </a:r>
            <a:r>
              <a:rPr lang="en-US" altLang="zh-CN" sz="1200" dirty="0" smtClean="0">
                <a:ea typeface="华文楷体" panose="02010600040101010101" pitchFamily="2" charset="-122"/>
              </a:rPr>
              <a:t>; //</a:t>
            </a:r>
            <a:r>
              <a:rPr lang="zh-CN" altLang="en-US" sz="1200" dirty="0" smtClean="0">
                <a:ea typeface="华文楷体" panose="02010600040101010101" pitchFamily="2" charset="-122"/>
              </a:rPr>
              <a:t>初始化</a:t>
            </a:r>
            <a:r>
              <a:rPr lang="en-US" altLang="zh-CN" sz="1200" dirty="0" smtClean="0">
                <a:ea typeface="华文楷体" panose="02010600040101010101" pitchFamily="2" charset="-122"/>
              </a:rPr>
              <a:t>next</a:t>
            </a:r>
            <a:r>
              <a:rPr lang="zh-CN" altLang="en-US" sz="1200" dirty="0" smtClean="0">
                <a:ea typeface="华文楷体" panose="02010600040101010101" pitchFamily="2" charset="-122"/>
              </a:rPr>
              <a:t>指针域</a:t>
            </a:r>
            <a:endParaRPr lang="en-US" altLang="zh-CN" sz="1200" dirty="0" smtClean="0"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>
                <a:ea typeface="华文楷体" panose="02010600040101010101" pitchFamily="2" charset="-122"/>
              </a:rPr>
              <a:t> </a:t>
            </a:r>
            <a:r>
              <a:rPr lang="en-US" altLang="zh-CN" sz="1200" dirty="0" smtClean="0">
                <a:ea typeface="华文楷体" panose="02010600040101010101" pitchFamily="2" charset="-122"/>
              </a:rPr>
              <a:t>   a[n].next = 0; //</a:t>
            </a:r>
            <a:r>
              <a:rPr lang="zh-CN" altLang="en-US" sz="1200" dirty="0" smtClean="0">
                <a:ea typeface="华文楷体" panose="02010600040101010101" pitchFamily="2" charset="-122"/>
              </a:rPr>
              <a:t>表示第</a:t>
            </a:r>
            <a:r>
              <a:rPr lang="en-US" altLang="zh-CN" sz="1200" dirty="0" smtClean="0">
                <a:ea typeface="华文楷体" panose="02010600040101010101" pitchFamily="2" charset="-122"/>
              </a:rPr>
              <a:t>n</a:t>
            </a:r>
            <a:r>
              <a:rPr lang="zh-CN" altLang="en-US" sz="1200" dirty="0" smtClean="0">
                <a:ea typeface="华文楷体" panose="02010600040101010101" pitchFamily="2" charset="-122"/>
              </a:rPr>
              <a:t>项后继为空；</a:t>
            </a:r>
            <a:endParaRPr lang="en-US" altLang="zh-CN" sz="1200" dirty="0" smtClean="0"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>
                <a:ea typeface="华文楷体" panose="02010600040101010101" pitchFamily="2" charset="-122"/>
              </a:rPr>
              <a:t> </a:t>
            </a:r>
            <a:r>
              <a:rPr lang="en-US" altLang="zh-CN" sz="1200" dirty="0" smtClean="0">
                <a:ea typeface="华文楷体" panose="02010600040101010101" pitchFamily="2" charset="-122"/>
              </a:rPr>
              <a:t>   for(</a:t>
            </a:r>
            <a:r>
              <a:rPr lang="en-US" altLang="zh-CN" sz="12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1200" dirty="0" smtClean="0">
                <a:ea typeface="华文楷体" panose="02010600040101010101" pitchFamily="2" charset="-122"/>
              </a:rPr>
              <a:t> = d-1; </a:t>
            </a:r>
            <a:r>
              <a:rPr lang="en-US" altLang="zh-CN" sz="12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1200" dirty="0" smtClean="0">
                <a:ea typeface="华文楷体" panose="02010600040101010101" pitchFamily="2" charset="-122"/>
              </a:rPr>
              <a:t>&gt;=0; </a:t>
            </a:r>
            <a:r>
              <a:rPr lang="en-US" altLang="zh-CN" sz="1200" dirty="0" err="1" smtClean="0">
                <a:ea typeface="华文楷体" panose="02010600040101010101" pitchFamily="2" charset="-122"/>
              </a:rPr>
              <a:t>i</a:t>
            </a:r>
            <a:r>
              <a:rPr lang="en-US" altLang="zh-CN" sz="1200" dirty="0" smtClean="0">
                <a:ea typeface="华文楷体" panose="02010600040101010101" pitchFamily="2" charset="-122"/>
              </a:rPr>
              <a:t>--)    { //</a:t>
            </a:r>
            <a:r>
              <a:rPr lang="zh-CN" altLang="en-US" sz="1200" dirty="0" smtClean="0">
                <a:ea typeface="华文楷体" panose="02010600040101010101" pitchFamily="2" charset="-122"/>
              </a:rPr>
              <a:t>按第</a:t>
            </a:r>
            <a:r>
              <a:rPr lang="en-US" altLang="zh-CN" sz="1200" dirty="0" err="1" smtClean="0">
                <a:ea typeface="华文楷体" panose="02010600040101010101" pitchFamily="2" charset="-122"/>
              </a:rPr>
              <a:t>i</a:t>
            </a:r>
            <a:r>
              <a:rPr lang="zh-CN" altLang="en-US" sz="1200" dirty="0" smtClean="0">
                <a:ea typeface="华文楷体" panose="02010600040101010101" pitchFamily="2" charset="-122"/>
              </a:rPr>
              <a:t>位排序</a:t>
            </a:r>
            <a:endParaRPr lang="en-US" altLang="zh-CN" sz="1200" dirty="0" smtClean="0"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>
                <a:ea typeface="华文楷体" panose="02010600040101010101" pitchFamily="2" charset="-122"/>
              </a:rPr>
              <a:t> </a:t>
            </a:r>
            <a:r>
              <a:rPr lang="en-US" altLang="zh-CN" sz="1200" dirty="0" smtClean="0">
                <a:ea typeface="华文楷体" panose="02010600040101010101" pitchFamily="2" charset="-122"/>
              </a:rPr>
              <a:t>       for (bin =0; bin &lt; </a:t>
            </a:r>
            <a:r>
              <a:rPr lang="en-US" altLang="zh-CN" sz="1200" dirty="0" err="1" smtClean="0">
                <a:ea typeface="华文楷体" panose="02010600040101010101" pitchFamily="2" charset="-122"/>
              </a:rPr>
              <a:t>rd</a:t>
            </a:r>
            <a:r>
              <a:rPr lang="en-US" altLang="zh-CN" sz="1200" dirty="0" smtClean="0">
                <a:ea typeface="华文楷体" panose="02010600040101010101" pitchFamily="2" charset="-122"/>
              </a:rPr>
              <a:t>; bin ++)    front[bin] = 0; //</a:t>
            </a:r>
            <a:r>
              <a:rPr lang="zh-CN" altLang="en-US" sz="1200" dirty="0" smtClean="0">
                <a:ea typeface="华文楷体" panose="02010600040101010101" pitchFamily="2" charset="-122"/>
              </a:rPr>
              <a:t>队头指针初始化</a:t>
            </a:r>
            <a:endParaRPr lang="en-US" altLang="zh-CN" sz="1200" dirty="0" smtClean="0"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>
                <a:ea typeface="华文楷体" panose="02010600040101010101" pitchFamily="2" charset="-122"/>
              </a:rPr>
              <a:t> </a:t>
            </a:r>
            <a:r>
              <a:rPr lang="en-US" altLang="zh-CN" sz="1200" dirty="0" smtClean="0">
                <a:ea typeface="华文楷体" panose="02010600040101010101" pitchFamily="2" charset="-122"/>
              </a:rPr>
              <a:t>       for (current = first; current; current = a[current].next)    { //</a:t>
            </a:r>
            <a:r>
              <a:rPr lang="zh-CN" altLang="en-US" sz="1200" dirty="0" smtClean="0">
                <a:ea typeface="华文楷体" panose="02010600040101010101" pitchFamily="2" charset="-122"/>
              </a:rPr>
              <a:t>每次从链表中取一个元素</a:t>
            </a:r>
            <a:r>
              <a:rPr lang="zh-CN" altLang="en-US" sz="12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分配</a:t>
            </a:r>
            <a:endParaRPr lang="en-US" altLang="zh-CN" sz="1200" dirty="0" smtClean="0">
              <a:solidFill>
                <a:srgbClr val="C00000"/>
              </a:solidFill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ea typeface="华文楷体" panose="02010600040101010101" pitchFamily="2" charset="-122"/>
              </a:rPr>
              <a:t>            bin = digit(a[</a:t>
            </a:r>
            <a:r>
              <a:rPr lang="en-US" altLang="zh-CN" sz="1200" b="1" u="sng" dirty="0" smtClean="0">
                <a:solidFill>
                  <a:srgbClr val="FFC000"/>
                </a:solidFill>
                <a:ea typeface="华文楷体" panose="02010600040101010101" pitchFamily="2" charset="-122"/>
              </a:rPr>
              <a:t>current</a:t>
            </a:r>
            <a:r>
              <a:rPr lang="en-US" altLang="zh-CN" sz="1200" dirty="0" smtClean="0">
                <a:ea typeface="华文楷体" panose="02010600040101010101" pitchFamily="2" charset="-122"/>
              </a:rPr>
              <a:t>],</a:t>
            </a:r>
            <a:r>
              <a:rPr lang="en-US" altLang="zh-CN" sz="1200" dirty="0" err="1" smtClean="0">
                <a:ea typeface="华文楷体" panose="02010600040101010101" pitchFamily="2" charset="-122"/>
              </a:rPr>
              <a:t>j,rd</a:t>
            </a:r>
            <a:r>
              <a:rPr lang="en-US" altLang="zh-CN" sz="1200" dirty="0" smtClean="0">
                <a:ea typeface="华文楷体" panose="02010600040101010101" pitchFamily="2" charset="-122"/>
              </a:rPr>
              <a:t>); //</a:t>
            </a:r>
            <a:r>
              <a:rPr lang="zh-CN" altLang="en-US" sz="1200" dirty="0" smtClean="0">
                <a:ea typeface="华文楷体" panose="02010600040101010101" pitchFamily="2" charset="-122"/>
              </a:rPr>
              <a:t>返回值</a:t>
            </a:r>
            <a:r>
              <a:rPr lang="en-US" altLang="zh-CN" sz="1200" dirty="0" smtClean="0">
                <a:ea typeface="华文楷体" panose="02010600040101010101" pitchFamily="2" charset="-122"/>
              </a:rPr>
              <a:t>0..rd-1</a:t>
            </a:r>
            <a:r>
              <a:rPr lang="zh-CN" altLang="en-US" sz="1200" dirty="0" smtClean="0">
                <a:ea typeface="华文楷体" panose="02010600040101010101" pitchFamily="2" charset="-122"/>
              </a:rPr>
              <a:t>中的一个</a:t>
            </a:r>
            <a:endParaRPr lang="en-US" altLang="zh-CN" sz="1200" dirty="0" smtClean="0"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ea typeface="华文楷体" panose="02010600040101010101" pitchFamily="2" charset="-122"/>
              </a:rPr>
              <a:t>            if (front[bin] == 0)   front[bin] = current;</a:t>
            </a:r>
          </a:p>
          <a:p>
            <a:pPr marL="0" indent="0">
              <a:buNone/>
            </a:pPr>
            <a:r>
              <a:rPr lang="en-US" altLang="zh-CN" sz="1200" dirty="0" smtClean="0">
                <a:ea typeface="华文楷体" panose="02010600040101010101" pitchFamily="2" charset="-122"/>
              </a:rPr>
              <a:t>            else    a[</a:t>
            </a:r>
            <a:r>
              <a:rPr lang="en-US" altLang="zh-CN" sz="1200" b="1" dirty="0" smtClean="0">
                <a:solidFill>
                  <a:srgbClr val="FF0000"/>
                </a:solidFill>
                <a:ea typeface="华文楷体" panose="02010600040101010101" pitchFamily="2" charset="-122"/>
              </a:rPr>
              <a:t>rear[bin</a:t>
            </a:r>
            <a:r>
              <a:rPr lang="en-US" altLang="zh-CN" sz="1200" dirty="0" smtClean="0">
                <a:ea typeface="华文楷体" panose="02010600040101010101" pitchFamily="2" charset="-122"/>
              </a:rPr>
              <a:t>]].next = current; //</a:t>
            </a:r>
            <a:r>
              <a:rPr lang="zh-CN" altLang="en-US" sz="1200" dirty="0" smtClean="0">
                <a:ea typeface="华文楷体" panose="02010600040101010101" pitchFamily="2" charset="-122"/>
              </a:rPr>
              <a:t>改写当前分配元素在队列中的前驱元素的后继指针，使得其后继指向当前元素。</a:t>
            </a:r>
            <a:endParaRPr lang="en-US" altLang="zh-CN" sz="1200" dirty="0" smtClean="0"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ea typeface="华文楷体" panose="02010600040101010101" pitchFamily="2" charset="-122"/>
              </a:rPr>
              <a:t>            rear[bin] = current; //</a:t>
            </a:r>
            <a:r>
              <a:rPr lang="zh-CN" altLang="en-US" sz="1200" dirty="0" smtClean="0">
                <a:ea typeface="华文楷体" panose="02010600040101010101" pitchFamily="2" charset="-122"/>
              </a:rPr>
              <a:t>分配当前元素到队列</a:t>
            </a:r>
            <a:endParaRPr lang="en-US" altLang="zh-CN" sz="1200" dirty="0" smtClean="0"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>
                <a:ea typeface="华文楷体" panose="02010600040101010101" pitchFamily="2" charset="-122"/>
              </a:rPr>
              <a:t> </a:t>
            </a:r>
            <a:r>
              <a:rPr lang="en-US" altLang="zh-CN" sz="1200" dirty="0" smtClean="0">
                <a:ea typeface="华文楷体" panose="02010600040101010101" pitchFamily="2" charset="-122"/>
              </a:rPr>
              <a:t>       }</a:t>
            </a:r>
          </a:p>
          <a:p>
            <a:pPr marL="0" indent="0">
              <a:buNone/>
            </a:pPr>
            <a:r>
              <a:rPr lang="en-US" altLang="zh-CN" sz="1200" dirty="0" smtClean="0">
                <a:ea typeface="华文楷体" panose="02010600040101010101" pitchFamily="2" charset="-122"/>
              </a:rPr>
              <a:t>        for (bin = 0; !front[bin]; bin ++) ; //</a:t>
            </a:r>
            <a:r>
              <a:rPr lang="zh-CN" altLang="en-US" sz="1200" dirty="0" smtClean="0">
                <a:ea typeface="华文楷体" panose="02010600040101010101" pitchFamily="2" charset="-122"/>
              </a:rPr>
              <a:t>找到第一个非空队列开始</a:t>
            </a:r>
            <a:r>
              <a:rPr lang="zh-CN" altLang="en-US" sz="1200" dirty="0">
                <a:ea typeface="华文楷体" panose="02010600040101010101" pitchFamily="2" charset="-122"/>
              </a:rPr>
              <a:t>准备</a:t>
            </a:r>
            <a:r>
              <a:rPr lang="zh-CN" altLang="en-US" sz="1200" dirty="0" smtClean="0">
                <a:ea typeface="华文楷体" panose="02010600040101010101" pitchFamily="2" charset="-122"/>
              </a:rPr>
              <a:t>收集</a:t>
            </a:r>
            <a:endParaRPr lang="en-US" altLang="zh-CN" sz="1200" dirty="0" smtClean="0"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>
                <a:ea typeface="华文楷体" panose="02010600040101010101" pitchFamily="2" charset="-122"/>
              </a:rPr>
              <a:t> </a:t>
            </a:r>
            <a:r>
              <a:rPr lang="en-US" altLang="zh-CN" sz="1200" dirty="0" smtClean="0">
                <a:ea typeface="华文楷体" panose="02010600040101010101" pitchFamily="2" charset="-122"/>
              </a:rPr>
              <a:t>       first = front[bin];  last = rear[bin]; </a:t>
            </a:r>
          </a:p>
          <a:p>
            <a:pPr marL="0" indent="0">
              <a:buNone/>
            </a:pPr>
            <a:r>
              <a:rPr lang="en-US" altLang="zh-CN" sz="1200" dirty="0">
                <a:ea typeface="华文楷体" panose="02010600040101010101" pitchFamily="2" charset="-122"/>
              </a:rPr>
              <a:t> </a:t>
            </a:r>
            <a:r>
              <a:rPr lang="en-US" altLang="zh-CN" sz="1200" dirty="0" smtClean="0">
                <a:ea typeface="华文楷体" panose="02010600040101010101" pitchFamily="2" charset="-122"/>
              </a:rPr>
              <a:t>       for (</a:t>
            </a:r>
            <a:r>
              <a:rPr lang="en-US" altLang="zh-CN" sz="1200" b="1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bin++; </a:t>
            </a:r>
            <a:r>
              <a:rPr lang="en-US" altLang="zh-CN" sz="1200" dirty="0" smtClean="0">
                <a:ea typeface="华文楷体" panose="02010600040101010101" pitchFamily="2" charset="-122"/>
              </a:rPr>
              <a:t>bin &lt; </a:t>
            </a:r>
            <a:r>
              <a:rPr lang="en-US" altLang="zh-CN" sz="1200" dirty="0" err="1" smtClean="0">
                <a:ea typeface="华文楷体" panose="02010600040101010101" pitchFamily="2" charset="-122"/>
              </a:rPr>
              <a:t>rd</a:t>
            </a:r>
            <a:r>
              <a:rPr lang="en-US" altLang="zh-CN" sz="1200" dirty="0" smtClean="0">
                <a:ea typeface="华文楷体" panose="02010600040101010101" pitchFamily="2" charset="-122"/>
              </a:rPr>
              <a:t>; bin++)  //</a:t>
            </a:r>
            <a:r>
              <a:rPr lang="zh-CN" altLang="en-US" sz="12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收集</a:t>
            </a:r>
            <a:endParaRPr lang="en-US" altLang="zh-CN" sz="1200" dirty="0" smtClean="0">
              <a:solidFill>
                <a:srgbClr val="C00000"/>
              </a:solidFill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>
                <a:ea typeface="华文楷体" panose="02010600040101010101" pitchFamily="2" charset="-122"/>
              </a:rPr>
              <a:t> </a:t>
            </a:r>
            <a:r>
              <a:rPr lang="en-US" altLang="zh-CN" sz="1200" dirty="0" smtClean="0">
                <a:ea typeface="华文楷体" panose="02010600040101010101" pitchFamily="2" charset="-122"/>
              </a:rPr>
              <a:t>           if (front[bin])    {</a:t>
            </a:r>
          </a:p>
          <a:p>
            <a:pPr marL="0" indent="0">
              <a:buNone/>
            </a:pPr>
            <a:r>
              <a:rPr lang="en-US" altLang="zh-CN" sz="1200" dirty="0">
                <a:ea typeface="华文楷体" panose="02010600040101010101" pitchFamily="2" charset="-122"/>
              </a:rPr>
              <a:t> </a:t>
            </a:r>
            <a:r>
              <a:rPr lang="en-US" altLang="zh-CN" sz="1200" dirty="0" smtClean="0">
                <a:ea typeface="华文楷体" panose="02010600040101010101" pitchFamily="2" charset="-122"/>
              </a:rPr>
              <a:t>               a[last].next = front[bin]; //</a:t>
            </a:r>
            <a:r>
              <a:rPr lang="zh-CN" altLang="en-US" sz="1200" dirty="0" smtClean="0">
                <a:ea typeface="华文楷体" panose="02010600040101010101" pitchFamily="2" charset="-122"/>
              </a:rPr>
              <a:t>两个队列首尾相连；</a:t>
            </a:r>
            <a:endParaRPr lang="en-US" altLang="zh-CN" sz="1200" dirty="0" smtClean="0"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>
                <a:ea typeface="华文楷体" panose="02010600040101010101" pitchFamily="2" charset="-122"/>
              </a:rPr>
              <a:t> </a:t>
            </a:r>
            <a:r>
              <a:rPr lang="en-US" altLang="zh-CN" sz="1200" dirty="0" smtClean="0">
                <a:ea typeface="华文楷体" panose="02010600040101010101" pitchFamily="2" charset="-122"/>
              </a:rPr>
              <a:t>               last = rear[bin];</a:t>
            </a:r>
          </a:p>
          <a:p>
            <a:pPr marL="0" indent="0">
              <a:buNone/>
            </a:pPr>
            <a:r>
              <a:rPr lang="en-US" altLang="zh-CN" sz="1200" dirty="0">
                <a:ea typeface="华文楷体" panose="02010600040101010101" pitchFamily="2" charset="-122"/>
              </a:rPr>
              <a:t> </a:t>
            </a:r>
            <a:r>
              <a:rPr lang="en-US" altLang="zh-CN" sz="1200" dirty="0" smtClean="0">
                <a:ea typeface="华文楷体" panose="02010600040101010101" pitchFamily="2" charset="-122"/>
              </a:rPr>
              <a:t>           }</a:t>
            </a:r>
          </a:p>
          <a:p>
            <a:pPr marL="0" indent="0">
              <a:buNone/>
            </a:pPr>
            <a:r>
              <a:rPr lang="en-US" altLang="zh-CN" sz="1200" dirty="0">
                <a:ea typeface="华文楷体" panose="02010600040101010101" pitchFamily="2" charset="-122"/>
              </a:rPr>
              <a:t> </a:t>
            </a:r>
            <a:r>
              <a:rPr lang="en-US" altLang="zh-CN" sz="1200" dirty="0" smtClean="0">
                <a:ea typeface="华文楷体" panose="02010600040101010101" pitchFamily="2" charset="-122"/>
              </a:rPr>
              <a:t>       a[last].next = 0; //</a:t>
            </a:r>
            <a:r>
              <a:rPr lang="zh-CN" altLang="en-US" sz="1200" dirty="0" smtClean="0">
                <a:ea typeface="华文楷体" panose="02010600040101010101" pitchFamily="2" charset="-122"/>
              </a:rPr>
              <a:t>链表表尾</a:t>
            </a:r>
            <a:r>
              <a:rPr lang="en-US" altLang="zh-CN" sz="1200" dirty="0" smtClean="0">
                <a:ea typeface="华文楷体" panose="02010600040101010101" pitchFamily="2" charset="-122"/>
              </a:rPr>
              <a:t>next</a:t>
            </a:r>
            <a:r>
              <a:rPr lang="zh-CN" altLang="en-US" sz="1200" dirty="0" smtClean="0">
                <a:ea typeface="华文楷体" panose="02010600040101010101" pitchFamily="2" charset="-122"/>
              </a:rPr>
              <a:t>置空，收集完成，也标志着一趟排序结束。</a:t>
            </a:r>
            <a:endParaRPr lang="en-US" altLang="zh-CN" sz="1200" dirty="0" smtClean="0"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>
                <a:ea typeface="华文楷体" panose="02010600040101010101" pitchFamily="2" charset="-122"/>
              </a:rPr>
              <a:t> </a:t>
            </a:r>
            <a:r>
              <a:rPr lang="en-US" altLang="zh-CN" sz="1200" dirty="0" smtClean="0">
                <a:ea typeface="华文楷体" panose="02010600040101010101" pitchFamily="2" charset="-122"/>
              </a:rPr>
              <a:t>   }</a:t>
            </a:r>
          </a:p>
          <a:p>
            <a:pPr marL="0" indent="0">
              <a:buNone/>
            </a:pPr>
            <a:r>
              <a:rPr lang="en-US" altLang="zh-CN" sz="1200" dirty="0">
                <a:ea typeface="华文楷体" panose="02010600040101010101" pitchFamily="2" charset="-122"/>
              </a:rPr>
              <a:t> </a:t>
            </a:r>
            <a:r>
              <a:rPr lang="en-US" altLang="zh-CN" sz="1200" dirty="0" smtClean="0">
                <a:ea typeface="华文楷体" panose="02010600040101010101" pitchFamily="2" charset="-122"/>
              </a:rPr>
              <a:t>   return first; //</a:t>
            </a:r>
            <a:r>
              <a:rPr lang="zh-CN" altLang="en-US" sz="1200" dirty="0" smtClean="0">
                <a:ea typeface="华文楷体" panose="02010600040101010101" pitchFamily="2" charset="-122"/>
              </a:rPr>
              <a:t>返回链表头指针</a:t>
            </a:r>
            <a:endParaRPr lang="en-US" altLang="zh-CN" sz="1200" dirty="0"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>
                <a:ea typeface="华文楷体" panose="02010600040101010101" pitchFamily="2" charset="-122"/>
              </a:rPr>
              <a:t>}</a:t>
            </a:r>
            <a:endParaRPr lang="zh-CN" altLang="en-US" sz="1200" dirty="0">
              <a:ea typeface="华文楷体" panose="0201060004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 SCST</a:t>
            </a:r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</a:t>
            </a:r>
            <a:endParaRPr lang="en-US" altLang="zh-CN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5174942" y="4038600"/>
            <a:ext cx="3892858" cy="1833693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2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12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性能分析</a:t>
            </a:r>
            <a:r>
              <a:rPr lang="en-US" altLang="zh-CN" sz="1200" b="1" dirty="0" smtClean="0">
                <a:solidFill>
                  <a:srgbClr val="CC6600"/>
                </a:solidFill>
                <a:ea typeface="华文楷体" panose="02010600040101010101" pitchFamily="2" charset="-122"/>
              </a:rPr>
              <a:t>]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1200" dirty="0" smtClean="0">
                <a:ea typeface="华文楷体" panose="02010600040101010101" pitchFamily="2" charset="-122"/>
              </a:rPr>
              <a:t>每一趟：分配</a:t>
            </a:r>
            <a:r>
              <a:rPr lang="en-US" altLang="zh-CN" sz="1200" b="1" dirty="0" smtClean="0">
                <a:ea typeface="华文楷体" panose="02010600040101010101" pitchFamily="2" charset="-122"/>
              </a:rPr>
              <a:t>O(n)</a:t>
            </a:r>
            <a:r>
              <a:rPr lang="en-US" altLang="zh-CN" sz="1200" dirty="0" smtClean="0">
                <a:ea typeface="华文楷体" panose="02010600040101010101" pitchFamily="2" charset="-122"/>
              </a:rPr>
              <a:t>  </a:t>
            </a:r>
            <a:r>
              <a:rPr lang="zh-CN" altLang="en-US" sz="1200" dirty="0" smtClean="0">
                <a:ea typeface="华文楷体" panose="02010600040101010101" pitchFamily="2" charset="-122"/>
              </a:rPr>
              <a:t>收集</a:t>
            </a:r>
            <a:r>
              <a:rPr lang="en-US" altLang="zh-CN" sz="1200" b="1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O(</a:t>
            </a:r>
            <a:r>
              <a:rPr lang="en-US" altLang="zh-CN" sz="1200" b="1" dirty="0" err="1" smtClean="0">
                <a:solidFill>
                  <a:srgbClr val="C00000"/>
                </a:solidFill>
                <a:ea typeface="华文楷体" panose="02010600040101010101" pitchFamily="2" charset="-122"/>
              </a:rPr>
              <a:t>rd</a:t>
            </a:r>
            <a:r>
              <a:rPr lang="en-US" altLang="zh-CN" sz="1200" b="1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200" dirty="0" smtClean="0">
                <a:ea typeface="华文楷体" panose="02010600040101010101" pitchFamily="2" charset="-122"/>
              </a:rPr>
              <a:t>   d</a:t>
            </a:r>
            <a:r>
              <a:rPr lang="zh-CN" altLang="zh-CN" sz="1200" dirty="0" smtClean="0">
                <a:ea typeface="华文楷体" panose="02010600040101010101" pitchFamily="2" charset="-122"/>
              </a:rPr>
              <a:t>趟总计：</a:t>
            </a:r>
            <a:r>
              <a:rPr lang="en-US" altLang="zh-CN" sz="1200" b="1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O(d(</a:t>
            </a:r>
            <a:r>
              <a:rPr lang="en-US" altLang="zh-CN" sz="1200" b="1" dirty="0" err="1" smtClean="0">
                <a:solidFill>
                  <a:srgbClr val="C00000"/>
                </a:solidFill>
                <a:ea typeface="华文楷体" panose="02010600040101010101" pitchFamily="2" charset="-122"/>
              </a:rPr>
              <a:t>n+rd</a:t>
            </a:r>
            <a:r>
              <a:rPr lang="en-US" altLang="zh-CN" sz="1200" b="1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))</a:t>
            </a:r>
            <a:r>
              <a:rPr lang="en-US" altLang="zh-CN" sz="1200" b="1" dirty="0" smtClean="0">
                <a:solidFill>
                  <a:srgbClr val="C00000"/>
                </a:solidFill>
                <a:ea typeface="华文楷体" panose="02010600040101010101" pitchFamily="2" charset="-122"/>
                <a:sym typeface="Symbol" panose="05050102010706020507" pitchFamily="18" charset="2"/>
              </a:rPr>
              <a:t>O(n)   </a:t>
            </a:r>
            <a:r>
              <a:rPr lang="zh-CN" altLang="en-US" sz="12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通常</a:t>
            </a:r>
            <a:r>
              <a:rPr lang="en-US" altLang="zh-CN" sz="12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d, </a:t>
            </a:r>
            <a:r>
              <a:rPr lang="en-US" altLang="zh-CN" sz="1200" dirty="0" err="1" smtClean="0">
                <a:ea typeface="华文楷体" panose="02010600040101010101" pitchFamily="2" charset="-122"/>
                <a:sym typeface="Symbol" panose="05050102010706020507" pitchFamily="18" charset="2"/>
              </a:rPr>
              <a:t>rd</a:t>
            </a:r>
            <a:r>
              <a:rPr lang="zh-CN" altLang="en-US" sz="12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均为常数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1200" dirty="0" smtClean="0">
                <a:ea typeface="华文楷体" panose="02010600040101010101" pitchFamily="2" charset="-122"/>
              </a:rPr>
              <a:t>辅助空间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1200" dirty="0" smtClean="0">
                <a:ea typeface="华文楷体" panose="02010600040101010101" pitchFamily="2" charset="-122"/>
              </a:rPr>
              <a:t>n</a:t>
            </a:r>
            <a:r>
              <a:rPr lang="zh-CN" altLang="zh-CN" sz="1200" dirty="0" smtClean="0">
                <a:ea typeface="华文楷体" panose="02010600040101010101" pitchFamily="2" charset="-122"/>
              </a:rPr>
              <a:t>个指针域空间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zh-CN" sz="1200" dirty="0" smtClean="0">
                <a:ea typeface="华文楷体" panose="02010600040101010101" pitchFamily="2" charset="-122"/>
              </a:rPr>
              <a:t>队头指针数组</a:t>
            </a:r>
            <a:r>
              <a:rPr lang="en-US" altLang="zh-CN" sz="1200" dirty="0" smtClean="0">
                <a:ea typeface="华文楷体" panose="02010600040101010101" pitchFamily="2" charset="-122"/>
              </a:rPr>
              <a:t>front[0..rd-1]</a:t>
            </a:r>
            <a:r>
              <a:rPr lang="zh-CN" altLang="en-US" sz="1200" dirty="0" smtClean="0">
                <a:ea typeface="华文楷体" panose="02010600040101010101" pitchFamily="2" charset="-122"/>
              </a:rPr>
              <a:t>和</a:t>
            </a:r>
            <a:r>
              <a:rPr lang="zh-CN" altLang="zh-CN" sz="1200" dirty="0" smtClean="0">
                <a:ea typeface="华文楷体" panose="02010600040101010101" pitchFamily="2" charset="-122"/>
              </a:rPr>
              <a:t>队尾指针数组</a:t>
            </a:r>
            <a:r>
              <a:rPr lang="en-US" altLang="zh-CN" sz="1200" dirty="0" smtClean="0">
                <a:ea typeface="华文楷体" panose="02010600040101010101" pitchFamily="2" charset="-122"/>
              </a:rPr>
              <a:t>rear[0..rd-1]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200" dirty="0" smtClean="0">
                <a:ea typeface="华文楷体" panose="02010600040101010101" pitchFamily="2" charset="-122"/>
              </a:rPr>
              <a:t>    </a:t>
            </a:r>
            <a:r>
              <a:rPr lang="zh-CN" altLang="en-US" sz="1200" dirty="0" smtClean="0">
                <a:ea typeface="华文楷体" panose="02010600040101010101" pitchFamily="2" charset="-122"/>
              </a:rPr>
              <a:t>辅助空间复杂度：</a:t>
            </a:r>
            <a:r>
              <a:rPr lang="en-US" altLang="zh-CN" sz="1200" b="1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O(</a:t>
            </a:r>
            <a:r>
              <a:rPr lang="en-US" altLang="zh-CN" sz="1200" b="1" dirty="0" err="1" smtClean="0">
                <a:solidFill>
                  <a:srgbClr val="C00000"/>
                </a:solidFill>
                <a:ea typeface="华文楷体" panose="02010600040101010101" pitchFamily="2" charset="-122"/>
              </a:rPr>
              <a:t>rd+n</a:t>
            </a:r>
            <a:r>
              <a:rPr lang="en-US" altLang="zh-CN" sz="1200" b="1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)</a:t>
            </a:r>
            <a:endParaRPr lang="en-US" altLang="zh-CN" sz="2400" b="1" dirty="0" smtClean="0">
              <a:solidFill>
                <a:srgbClr val="C00000"/>
              </a:solidFill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7498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18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604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2800" dirty="0" smtClean="0">
                <a:ea typeface="华文楷体" panose="02010600040101010101" pitchFamily="2" charset="-122"/>
              </a:rPr>
              <a:t>9.7 </a:t>
            </a:r>
            <a:r>
              <a:rPr lang="zh-CN" altLang="en-US" sz="2800" dirty="0" smtClean="0">
                <a:ea typeface="华文楷体" panose="02010600040101010101" pitchFamily="2" charset="-122"/>
              </a:rPr>
              <a:t>各种内部排序算法的比较</a:t>
            </a:r>
          </a:p>
        </p:txBody>
      </p:sp>
      <p:sp>
        <p:nvSpPr>
          <p:cNvPr id="60421" name="Rectangle 3"/>
          <p:cNvSpPr>
            <a:spLocks noChangeArrowheads="1"/>
          </p:cNvSpPr>
          <p:nvPr/>
        </p:nvSpPr>
        <p:spPr bwMode="auto">
          <a:xfrm>
            <a:off x="533400" y="1524000"/>
            <a:ext cx="8001000" cy="449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200" b="1" dirty="0">
                <a:solidFill>
                  <a:srgbClr val="CC66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排序方法 </a:t>
            </a:r>
            <a:r>
              <a:rPr lang="zh-CN" altLang="en-US" sz="2200" b="1" dirty="0" smtClean="0">
                <a:solidFill>
                  <a:srgbClr val="CC66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最好</a:t>
            </a:r>
            <a:r>
              <a:rPr lang="zh-CN" altLang="en-US" sz="2200" b="1" dirty="0">
                <a:solidFill>
                  <a:srgbClr val="CC66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时间  </a:t>
            </a:r>
            <a:r>
              <a:rPr lang="zh-CN" altLang="en-US" sz="2200" b="1" dirty="0" smtClean="0">
                <a:solidFill>
                  <a:srgbClr val="CC66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</a:t>
            </a:r>
            <a:r>
              <a:rPr lang="zh-CN" altLang="en-US" sz="2200" b="1" dirty="0">
                <a:solidFill>
                  <a:srgbClr val="CC66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平均时间 </a:t>
            </a:r>
            <a:r>
              <a:rPr lang="zh-CN" altLang="en-US" sz="2200" b="1" dirty="0" smtClean="0">
                <a:solidFill>
                  <a:srgbClr val="CC66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</a:t>
            </a:r>
            <a:r>
              <a:rPr lang="zh-CN" altLang="en-US" sz="2200" b="1" dirty="0">
                <a:solidFill>
                  <a:srgbClr val="CC66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最坏时间 </a:t>
            </a:r>
            <a:r>
              <a:rPr lang="zh-CN" altLang="en-US" sz="2200" b="1" dirty="0" smtClean="0">
                <a:solidFill>
                  <a:srgbClr val="CC66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</a:t>
            </a:r>
            <a:r>
              <a:rPr lang="zh-CN" altLang="en-US" sz="2200" b="1" dirty="0">
                <a:solidFill>
                  <a:srgbClr val="CC66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辅助</a:t>
            </a:r>
            <a:r>
              <a:rPr lang="zh-CN" altLang="en-US" sz="2200" b="1" dirty="0" smtClean="0">
                <a:solidFill>
                  <a:srgbClr val="CC66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空间  </a:t>
            </a:r>
            <a:r>
              <a:rPr lang="zh-CN" altLang="en-US" sz="2200" b="1" dirty="0">
                <a:solidFill>
                  <a:srgbClr val="CC66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稳定性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200" b="1" dirty="0">
              <a:solidFill>
                <a:srgbClr val="CC66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200" b="1" dirty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直接插入 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O(n)                O(n</a:t>
            </a:r>
            <a:r>
              <a:rPr lang="en-US" altLang="zh-CN" sz="2000" baseline="30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)              O(n</a:t>
            </a:r>
            <a:r>
              <a:rPr lang="en-US" altLang="zh-CN" sz="2000" baseline="30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)             O(1)              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</a:t>
            </a:r>
            <a:endParaRPr lang="en-US" altLang="zh-CN" sz="2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200" b="1" dirty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希尔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                 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O(n</a:t>
            </a:r>
            <a:r>
              <a:rPr lang="en-US" altLang="zh-CN" sz="2000" baseline="30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1.3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)                                   O(1)              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</a:t>
            </a:r>
            <a:endParaRPr lang="en-US" altLang="zh-CN" sz="2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200" b="1" dirty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冒泡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O(n)                O(n</a:t>
            </a:r>
            <a:r>
              <a:rPr lang="en-US" altLang="zh-CN" sz="2000" baseline="30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)               O(n</a:t>
            </a:r>
            <a:r>
              <a:rPr lang="en-US" altLang="zh-CN" sz="2000" baseline="30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)            O(1)              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</a:t>
            </a:r>
            <a:endParaRPr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200" b="1" dirty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快速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O(nlog</a:t>
            </a:r>
            <a:r>
              <a:rPr lang="en-US" altLang="zh-CN" sz="200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n)       O(nlog</a:t>
            </a:r>
            <a:r>
              <a:rPr lang="en-US" altLang="zh-CN" sz="200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n)         O(n</a:t>
            </a:r>
            <a:r>
              <a:rPr lang="en-US" altLang="zh-CN" sz="2000" baseline="30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)           O(log</a:t>
            </a:r>
            <a:r>
              <a:rPr lang="en-US" altLang="zh-CN" sz="200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n)         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</a:t>
            </a:r>
            <a:endParaRPr lang="en-US" altLang="zh-CN" sz="2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200" b="1" dirty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简单选择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O(n</a:t>
            </a:r>
            <a:r>
              <a:rPr lang="en-US" altLang="zh-CN" sz="2000" baseline="30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)              O(n</a:t>
            </a:r>
            <a:r>
              <a:rPr lang="en-US" altLang="zh-CN" sz="2000" baseline="30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)              O(n</a:t>
            </a:r>
            <a:r>
              <a:rPr lang="en-US" altLang="zh-CN" sz="2000" baseline="30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)               O(1)              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</a:t>
            </a:r>
            <a:endParaRPr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200" b="1" dirty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堆</a:t>
            </a:r>
            <a:r>
              <a:rPr lang="zh-CN" altLang="en-US" sz="22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  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O(nlog</a:t>
            </a:r>
            <a:r>
              <a:rPr lang="en-US" altLang="zh-CN" sz="200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n)       O(nlog</a:t>
            </a:r>
            <a:r>
              <a:rPr lang="en-US" altLang="zh-CN" sz="200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n)       O(nlog</a:t>
            </a:r>
            <a:r>
              <a:rPr lang="en-US" altLang="zh-CN" sz="200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n)       O(1)              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endParaRPr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200" b="1" dirty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归并</a:t>
            </a:r>
            <a:r>
              <a:rPr lang="zh-CN" altLang="en-US" sz="22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  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O(nlog</a:t>
            </a:r>
            <a:r>
              <a:rPr lang="en-US" altLang="zh-CN" sz="200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n)       O(nlog</a:t>
            </a:r>
            <a:r>
              <a:rPr lang="en-US" altLang="zh-CN" sz="200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n)       O(nlog</a:t>
            </a:r>
            <a:r>
              <a:rPr lang="en-US" altLang="zh-CN" sz="2000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n)        O(n)             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</a:t>
            </a:r>
            <a:endParaRPr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200" b="1" dirty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基数 </a:t>
            </a:r>
            <a:r>
              <a:rPr lang="zh-CN" altLang="en-US" sz="22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  </a:t>
            </a:r>
            <a:r>
              <a:rPr lang="zh-CN" altLang="en-US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O(d(</a:t>
            </a:r>
            <a:r>
              <a:rPr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rd+n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)) O(d(</a:t>
            </a:r>
            <a:r>
              <a:rPr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rd+n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))  O(d(</a:t>
            </a:r>
            <a:r>
              <a:rPr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rd+n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)) O(</a:t>
            </a:r>
            <a:r>
              <a:rPr lang="en-US" altLang="zh-CN" sz="24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rd+n</a:t>
            </a:r>
            <a:r>
              <a:rPr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</a:rPr>
              <a:t>)      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</a:t>
            </a:r>
          </a:p>
        </p:txBody>
      </p:sp>
      <p:sp>
        <p:nvSpPr>
          <p:cNvPr id="60422" name="Line 4"/>
          <p:cNvSpPr>
            <a:spLocks noChangeShapeType="1"/>
          </p:cNvSpPr>
          <p:nvPr/>
        </p:nvSpPr>
        <p:spPr bwMode="auto">
          <a:xfrm>
            <a:off x="533400" y="228600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60423" name="Line 5"/>
          <p:cNvSpPr>
            <a:spLocks noChangeShapeType="1"/>
          </p:cNvSpPr>
          <p:nvPr/>
        </p:nvSpPr>
        <p:spPr bwMode="auto">
          <a:xfrm>
            <a:off x="533400" y="281940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60424" name="Line 6"/>
          <p:cNvSpPr>
            <a:spLocks noChangeShapeType="1"/>
          </p:cNvSpPr>
          <p:nvPr/>
        </p:nvSpPr>
        <p:spPr bwMode="auto">
          <a:xfrm>
            <a:off x="533400" y="320040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60425" name="Line 7"/>
          <p:cNvSpPr>
            <a:spLocks noChangeShapeType="1"/>
          </p:cNvSpPr>
          <p:nvPr/>
        </p:nvSpPr>
        <p:spPr bwMode="auto">
          <a:xfrm>
            <a:off x="533400" y="365760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60426" name="Line 8"/>
          <p:cNvSpPr>
            <a:spLocks noChangeShapeType="1"/>
          </p:cNvSpPr>
          <p:nvPr/>
        </p:nvSpPr>
        <p:spPr bwMode="auto">
          <a:xfrm>
            <a:off x="533400" y="411480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60427" name="Line 9"/>
          <p:cNvSpPr>
            <a:spLocks noChangeShapeType="1"/>
          </p:cNvSpPr>
          <p:nvPr/>
        </p:nvSpPr>
        <p:spPr bwMode="auto">
          <a:xfrm>
            <a:off x="533400" y="457200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60428" name="Line 10"/>
          <p:cNvSpPr>
            <a:spLocks noChangeShapeType="1"/>
          </p:cNvSpPr>
          <p:nvPr/>
        </p:nvSpPr>
        <p:spPr bwMode="auto">
          <a:xfrm>
            <a:off x="533400" y="495300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60429" name="Line 11"/>
          <p:cNvSpPr>
            <a:spLocks noChangeShapeType="1"/>
          </p:cNvSpPr>
          <p:nvPr/>
        </p:nvSpPr>
        <p:spPr bwMode="auto">
          <a:xfrm>
            <a:off x="533400" y="541020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60430" name="Line 12"/>
          <p:cNvSpPr>
            <a:spLocks noChangeShapeType="1"/>
          </p:cNvSpPr>
          <p:nvPr/>
        </p:nvSpPr>
        <p:spPr bwMode="auto">
          <a:xfrm>
            <a:off x="1828800" y="15240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60431" name="Line 13"/>
          <p:cNvSpPr>
            <a:spLocks noChangeShapeType="1"/>
          </p:cNvSpPr>
          <p:nvPr/>
        </p:nvSpPr>
        <p:spPr bwMode="auto">
          <a:xfrm>
            <a:off x="3276600" y="15240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60432" name="Line 14"/>
          <p:cNvSpPr>
            <a:spLocks noChangeShapeType="1"/>
          </p:cNvSpPr>
          <p:nvPr/>
        </p:nvSpPr>
        <p:spPr bwMode="auto">
          <a:xfrm>
            <a:off x="4724400" y="15240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60433" name="Line 15"/>
          <p:cNvSpPr>
            <a:spLocks noChangeShapeType="1"/>
          </p:cNvSpPr>
          <p:nvPr/>
        </p:nvSpPr>
        <p:spPr bwMode="auto">
          <a:xfrm>
            <a:off x="6172200" y="15240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60434" name="Line 16"/>
          <p:cNvSpPr>
            <a:spLocks noChangeShapeType="1"/>
          </p:cNvSpPr>
          <p:nvPr/>
        </p:nvSpPr>
        <p:spPr bwMode="auto">
          <a:xfrm>
            <a:off x="7391400" y="15240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614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6144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dirty="0" smtClean="0">
                <a:ea typeface="华文楷体" panose="02010600040101010101" pitchFamily="2" charset="-122"/>
              </a:rPr>
              <a:t>按平均时间排序方法分为四类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  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O(n</a:t>
            </a:r>
            <a:r>
              <a:rPr lang="en-US" altLang="zh-CN" sz="2400" baseline="30000" dirty="0" smtClean="0">
                <a:ea typeface="华文楷体" panose="02010600040101010101" pitchFamily="2" charset="-122"/>
              </a:rPr>
              <a:t>2</a:t>
            </a:r>
            <a:r>
              <a:rPr lang="en-US" altLang="zh-CN" sz="2400" dirty="0" smtClean="0">
                <a:ea typeface="华文楷体" panose="02010600040101010101" pitchFamily="2" charset="-122"/>
              </a:rPr>
              <a:t>)</a:t>
            </a:r>
            <a:r>
              <a:rPr lang="zh-CN" altLang="en-US" sz="2400" dirty="0" smtClean="0">
                <a:ea typeface="华文楷体" panose="02010600040101010101" pitchFamily="2" charset="-122"/>
              </a:rPr>
              <a:t>、</a:t>
            </a:r>
            <a:r>
              <a:rPr lang="en-US" altLang="zh-CN" sz="2400" dirty="0" smtClean="0">
                <a:ea typeface="华文楷体" panose="02010600040101010101" pitchFamily="2" charset="-122"/>
              </a:rPr>
              <a:t>O(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nlgn</a:t>
            </a:r>
            <a:r>
              <a:rPr lang="en-US" altLang="zh-CN" sz="2400" dirty="0" smtClean="0">
                <a:ea typeface="华文楷体" panose="02010600040101010101" pitchFamily="2" charset="-122"/>
              </a:rPr>
              <a:t>)</a:t>
            </a:r>
            <a:r>
              <a:rPr lang="zh-CN" altLang="en-US" sz="2400" dirty="0" smtClean="0">
                <a:ea typeface="华文楷体" panose="02010600040101010101" pitchFamily="2" charset="-122"/>
              </a:rPr>
              <a:t>、</a:t>
            </a:r>
            <a:r>
              <a:rPr lang="en-US" altLang="zh-CN" sz="2400" dirty="0" smtClean="0">
                <a:ea typeface="华文楷体" panose="02010600040101010101" pitchFamily="2" charset="-122"/>
              </a:rPr>
              <a:t>O(n</a:t>
            </a:r>
            <a:r>
              <a:rPr lang="en-US" altLang="zh-CN" sz="2400" baseline="30000" dirty="0" smtClean="0">
                <a:ea typeface="华文楷体" panose="02010600040101010101" pitchFamily="2" charset="-122"/>
              </a:rPr>
              <a:t>1+</a:t>
            </a:r>
            <a:r>
              <a:rPr lang="en-US" altLang="zh-CN" sz="2400" baseline="30000" dirty="0" smtClean="0">
                <a:ea typeface="华文楷体" panose="0201060004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2400" dirty="0" smtClean="0">
                <a:ea typeface="华文楷体" panose="02010600040101010101" pitchFamily="2" charset="-122"/>
              </a:rPr>
              <a:t>)</a:t>
            </a:r>
            <a:r>
              <a:rPr lang="zh-CN" altLang="en-US" sz="2400" dirty="0" smtClean="0">
                <a:ea typeface="华文楷体" panose="02010600040101010101" pitchFamily="2" charset="-122"/>
              </a:rPr>
              <a:t>、</a:t>
            </a:r>
            <a:r>
              <a:rPr lang="en-US" altLang="zh-CN" sz="2400" dirty="0" smtClean="0">
                <a:ea typeface="华文楷体" panose="02010600040101010101" pitchFamily="2" charset="-122"/>
              </a:rPr>
              <a:t>O(n)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 smtClean="0">
                <a:ea typeface="华文楷体" panose="02010600040101010101" pitchFamily="2" charset="-122"/>
              </a:rPr>
              <a:t>快速排序是目前基于比较的内部排序中最好的方法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 smtClean="0">
                <a:ea typeface="华文楷体" panose="02010600040101010101" pitchFamily="2" charset="-122"/>
              </a:rPr>
              <a:t>关键字随机分布时，快速排序的平均时间最短，堆排序次之，但后者所需的辅助空间少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 smtClean="0">
                <a:ea typeface="华文楷体" panose="02010600040101010101" pitchFamily="2" charset="-122"/>
              </a:rPr>
              <a:t>当</a:t>
            </a:r>
            <a:r>
              <a:rPr lang="en-US" altLang="zh-CN" sz="2400" dirty="0" smtClean="0">
                <a:ea typeface="华文楷体" panose="02010600040101010101" pitchFamily="2" charset="-122"/>
              </a:rPr>
              <a:t>n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较小时如</a:t>
            </a:r>
            <a:r>
              <a:rPr lang="en-US" altLang="zh-CN" sz="2400" dirty="0" smtClean="0">
                <a:ea typeface="华文楷体" panose="02010600040101010101" pitchFamily="2" charset="-122"/>
              </a:rPr>
              <a:t>(n&lt;50)</a:t>
            </a:r>
            <a:r>
              <a:rPr lang="zh-CN" altLang="en-US" sz="2400" dirty="0" smtClean="0">
                <a:ea typeface="华文楷体" panose="02010600040101010101" pitchFamily="2" charset="-122"/>
              </a:rPr>
              <a:t>，可采用直接插入或简单选择排序，前者是稳定排序，但后者通常记录移动次数少于前者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 smtClean="0">
                <a:ea typeface="华文楷体" panose="02010600040101010101" pitchFamily="2" charset="-122"/>
              </a:rPr>
              <a:t>当</a:t>
            </a:r>
            <a:r>
              <a:rPr lang="en-US" altLang="zh-CN" sz="2400" dirty="0" smtClean="0">
                <a:ea typeface="华文楷体" panose="02010600040101010101" pitchFamily="2" charset="-122"/>
              </a:rPr>
              <a:t>n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较大时，应采用时间复杂度为</a:t>
            </a:r>
            <a:r>
              <a:rPr lang="en-US" altLang="zh-CN" sz="2400" dirty="0" smtClean="0">
                <a:ea typeface="华文楷体" panose="02010600040101010101" pitchFamily="2" charset="-122"/>
              </a:rPr>
              <a:t>O(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nlgn</a:t>
            </a:r>
            <a:r>
              <a:rPr lang="en-US" altLang="zh-CN" sz="2400" dirty="0" smtClean="0">
                <a:ea typeface="华文楷体" panose="02010600040101010101" pitchFamily="2" charset="-122"/>
              </a:rPr>
              <a:t>)</a:t>
            </a:r>
            <a:r>
              <a:rPr lang="zh-CN" altLang="en-US" sz="2400" dirty="0" smtClean="0">
                <a:ea typeface="华文楷体" panose="02010600040101010101" pitchFamily="2" charset="-122"/>
              </a:rPr>
              <a:t>的排序方法</a:t>
            </a:r>
            <a:r>
              <a:rPr lang="en-US" altLang="zh-CN" sz="2400" dirty="0" smtClean="0">
                <a:ea typeface="华文楷体" panose="02010600040101010101" pitchFamily="2" charset="-122"/>
              </a:rPr>
              <a:t>(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主要为快速排序和堆排序</a:t>
            </a:r>
            <a:r>
              <a:rPr lang="en-US" altLang="zh-CN" sz="2400" dirty="0" smtClean="0">
                <a:ea typeface="华文楷体" panose="02010600040101010101" pitchFamily="2" charset="-122"/>
              </a:rPr>
              <a:t>)</a:t>
            </a:r>
            <a:r>
              <a:rPr lang="zh-CN" altLang="en-US" sz="2400" dirty="0" smtClean="0">
                <a:ea typeface="华文楷体" panose="02010600040101010101" pitchFamily="2" charset="-122"/>
              </a:rPr>
              <a:t>或者基数排序的方法，但后者对关键字的结构有一定要求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 smtClean="0">
                <a:ea typeface="华文楷体" panose="02010600040101010101" pitchFamily="2" charset="-122"/>
              </a:rPr>
              <a:t>当</a:t>
            </a:r>
            <a:r>
              <a:rPr lang="en-US" altLang="zh-CN" sz="2400" dirty="0" smtClean="0">
                <a:ea typeface="华文楷体" panose="02010600040101010101" pitchFamily="2" charset="-122"/>
              </a:rPr>
              <a:t>n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较大时，为避免顺序存储时大量移动记录的时间开销，可考虑用链表作为存储结构（如插入排序、归并排序、基数排序）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 dirty="0" smtClean="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9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624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6246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 smtClean="0">
                <a:ea typeface="华文楷体" panose="02010600040101010101" pitchFamily="2" charset="-122"/>
              </a:rPr>
              <a:t>快速排序和堆排序难于在链表上实现，可以采用地址排序的方法，之后再按辅助表的次序重排各记录</a:t>
            </a:r>
          </a:p>
          <a:p>
            <a:pPr eaLnBrk="1" hangingPunct="1"/>
            <a:r>
              <a:rPr lang="zh-CN" altLang="en-US" sz="2400" dirty="0" smtClean="0">
                <a:ea typeface="华文楷体" panose="02010600040101010101" pitchFamily="2" charset="-122"/>
              </a:rPr>
              <a:t>文件初态基本按正序排列时，应选用直接插入、冒泡或随机的快速排序</a:t>
            </a:r>
          </a:p>
          <a:p>
            <a:pPr eaLnBrk="1" hangingPunct="1"/>
            <a:r>
              <a:rPr lang="zh-CN" altLang="en-US" sz="2400" dirty="0" smtClean="0">
                <a:ea typeface="华文楷体" panose="02010600040101010101" pitchFamily="2" charset="-122"/>
              </a:rPr>
              <a:t>选择排序方法应综合考虑各种因素</a:t>
            </a:r>
          </a:p>
          <a:p>
            <a:pPr eaLnBrk="1" hangingPunct="1"/>
            <a:endParaRPr lang="zh-CN" altLang="en-US" sz="2400" dirty="0" smtClean="0">
              <a:ea typeface="华文楷体" panose="0201060004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讨论：假设有 </a:t>
            </a:r>
            <a:r>
              <a:rPr lang="en-US" altLang="zh-CN" sz="2400" dirty="0" smtClean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 </a:t>
            </a:r>
            <a:r>
              <a:rPr lang="zh-CN" altLang="en-US" sz="2400" dirty="0" smtClean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个值不同的元素存于顺序结构中，要求不经排序选出前</a:t>
            </a:r>
            <a:r>
              <a:rPr lang="en-US" altLang="zh-CN" sz="2400" dirty="0" smtClean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k (k&lt;&lt;n) </a:t>
            </a:r>
            <a:r>
              <a:rPr lang="zh-CN" altLang="en-US" sz="2400" dirty="0" smtClean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个最小元素，问哪些方法可用，哪些方法比较次数最少？</a:t>
            </a:r>
          </a:p>
        </p:txBody>
      </p:sp>
      <p:grpSp>
        <p:nvGrpSpPr>
          <p:cNvPr id="68612" name="Group 4"/>
          <p:cNvGrpSpPr>
            <a:grpSpLocks/>
          </p:cNvGrpSpPr>
          <p:nvPr/>
        </p:nvGrpSpPr>
        <p:grpSpPr bwMode="auto">
          <a:xfrm>
            <a:off x="685800" y="4800600"/>
            <a:ext cx="7391400" cy="1920875"/>
            <a:chOff x="480" y="2602"/>
            <a:chExt cx="4656" cy="1210"/>
          </a:xfrm>
        </p:grpSpPr>
        <p:sp>
          <p:nvSpPr>
            <p:cNvPr id="62471" name="Text Box 5"/>
            <p:cNvSpPr txBox="1">
              <a:spLocks noChangeArrowheads="1"/>
            </p:cNvSpPr>
            <p:nvPr/>
          </p:nvSpPr>
          <p:spPr bwMode="auto">
            <a:xfrm>
              <a:off x="480" y="2602"/>
              <a:ext cx="4656" cy="121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Char char="•"/>
              </a:pPr>
              <a:r>
                <a:rPr kumimoji="1" lang="en-US" altLang="zh-CN" sz="18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  </a:t>
              </a:r>
              <a:r>
                <a:rPr kumimoji="1" lang="zh-CN" altLang="en-US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选择排序或冒泡排序：</a:t>
              </a: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k</a:t>
              </a:r>
              <a:r>
                <a:rPr kumimoji="1" lang="zh-CN" altLang="en-US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趟（数据比较次数约为</a:t>
              </a:r>
              <a:r>
                <a:rPr kumimoji="1" lang="en-US" altLang="zh-CN" sz="2000" dirty="0" err="1">
                  <a:latin typeface="Times New Roman" panose="02020603050405020304" pitchFamily="18" charset="0"/>
                  <a:ea typeface="华文楷体" panose="02010600040101010101" pitchFamily="2" charset="-122"/>
                </a:rPr>
                <a:t>kn</a:t>
              </a:r>
              <a:r>
                <a:rPr kumimoji="1" lang="zh-CN" altLang="en-US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次）；</a:t>
              </a:r>
              <a:endParaRPr kumimoji="1" lang="en-US" altLang="en-US" sz="20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Char char="•"/>
              </a:pPr>
              <a:r>
                <a:rPr kumimoji="1" lang="zh-CN" altLang="en-US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  快速排序：每次仅对第一个子序列划分，直至子序列长度小于等于</a:t>
              </a: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k</a:t>
              </a:r>
              <a:r>
                <a:rPr kumimoji="1" lang="zh-CN" altLang="en-US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；长度不足</a:t>
              </a: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k</a:t>
              </a:r>
              <a:r>
                <a:rPr kumimoji="1" lang="zh-CN" altLang="en-US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，则再对其后的子序列划分出补足的长度即可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zh-CN" altLang="en-US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  （平均对数据比较</a:t>
              </a: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2n</a:t>
              </a:r>
              <a:r>
                <a:rPr kumimoji="1" lang="zh-CN" altLang="en-US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次）</a:t>
              </a:r>
              <a:endParaRPr kumimoji="1" lang="en-US" altLang="en-US" sz="20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Char char="•"/>
              </a:pPr>
              <a:r>
                <a:rPr kumimoji="1" lang="zh-CN" altLang="en-US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  堆排序：先建小根堆，</a:t>
              </a: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k-1</a:t>
              </a:r>
              <a:r>
                <a:rPr kumimoji="1" lang="zh-CN" altLang="en-US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次堆调整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zh-CN" altLang="en-US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（数据比较次数约为</a:t>
              </a: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4n+(k-1)log</a:t>
              </a:r>
              <a:r>
                <a:rPr kumimoji="1" lang="en-US" altLang="zh-CN" sz="2000" baseline="-25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2</a:t>
              </a:r>
              <a:r>
                <a:rPr kumimoji="1" lang="en-US" altLang="zh-CN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n</a:t>
              </a:r>
              <a:r>
                <a:rPr kumimoji="1" lang="zh-CN" altLang="en-US" sz="2000" dirty="0">
                  <a:latin typeface="Times New Roman" panose="02020603050405020304" pitchFamily="18" charset="0"/>
                  <a:ea typeface="华文楷体" panose="02010600040101010101" pitchFamily="2" charset="-122"/>
                </a:rPr>
                <a:t>）</a:t>
              </a:r>
              <a:endParaRPr kumimoji="1" lang="zh-CN" altLang="en-US" sz="18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62472" name="Line 6"/>
            <p:cNvSpPr>
              <a:spLocks noChangeShapeType="1"/>
            </p:cNvSpPr>
            <p:nvPr/>
          </p:nvSpPr>
          <p:spPr bwMode="auto">
            <a:xfrm>
              <a:off x="3312" y="3312"/>
              <a:ext cx="153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  <p:sp>
          <p:nvSpPr>
            <p:cNvPr id="62473" name="Oval 7"/>
            <p:cNvSpPr>
              <a:spLocks noChangeArrowheads="1"/>
            </p:cNvSpPr>
            <p:nvPr/>
          </p:nvSpPr>
          <p:spPr bwMode="auto">
            <a:xfrm>
              <a:off x="4032" y="3264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dirty="0"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52525"/>
            <a:ext cx="4191000" cy="523875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[</a:t>
            </a:r>
            <a:r>
              <a:rPr lang="zh-CN" altLang="en-US" sz="24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排序的一般下界</a:t>
            </a:r>
            <a:r>
              <a:rPr lang="en-US" altLang="zh-CN" sz="2400" dirty="0" smtClean="0">
                <a:solidFill>
                  <a:srgbClr val="C00000"/>
                </a:solidFill>
                <a:ea typeface="华文楷体" panose="02010600040101010101" pitchFamily="2" charset="-122"/>
              </a:rPr>
              <a:t>]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 SCST</a:t>
            </a:r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308429" y="1676400"/>
            <a:ext cx="3200400" cy="19389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决策树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(Decision Tree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</a:p>
          <a:p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是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用于证明下界的抽象概念，它是一棵二叉树，结点表示的是在元素之间一组可能的排序，它与已经进行的排序一致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。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143000"/>
            <a:ext cx="5701994" cy="565467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88686" y="3810000"/>
            <a:ext cx="3356429" cy="286232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ABC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三元素排序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决策树</a:t>
            </a:r>
            <a:endParaRPr lang="en-US" altLang="zh-CN" sz="2000" dirty="0" smtClean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初始状态在根结点，表示未进行任何比较，第一次比较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和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B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，比较结果呈现两种可能；若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A&lt;B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，则三种可能留下，算法到达结点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，接下来比较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和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C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，若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A&lt;C</a:t>
            </a:r>
            <a:r>
              <a:rPr lang="zh-CN" altLang="en-US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，算法进入结点</a:t>
            </a:r>
            <a:r>
              <a:rPr lang="en-US" altLang="zh-CN" sz="2000" dirty="0" smtClean="0">
                <a:latin typeface="Times New Roman" panose="02020603050405020304" pitchFamily="18" charset="0"/>
                <a:ea typeface="华文楷体" panose="02010600040101010101" pitchFamily="2" charset="-122"/>
              </a:rPr>
              <a:t>5…..</a:t>
            </a:r>
          </a:p>
          <a:p>
            <a:endParaRPr lang="zh-CN" altLang="en-US" sz="20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46143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01283" y="1164419"/>
                <a:ext cx="8686800" cy="5617381"/>
              </a:xfrm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sz="2100" dirty="0">
                    <a:solidFill>
                      <a:srgbClr val="C00000"/>
                    </a:solidFill>
                    <a:ea typeface="华文楷体" panose="02010600040101010101" pitchFamily="2" charset="-122"/>
                  </a:rPr>
                  <a:t>[</a:t>
                </a:r>
                <a:r>
                  <a:rPr lang="zh-CN" altLang="en-US" sz="2100" dirty="0">
                    <a:solidFill>
                      <a:srgbClr val="C00000"/>
                    </a:solidFill>
                    <a:ea typeface="华文楷体" panose="02010600040101010101" pitchFamily="2" charset="-122"/>
                  </a:rPr>
                  <a:t>排序的一般下界</a:t>
                </a:r>
                <a:r>
                  <a:rPr lang="en-US" altLang="zh-CN" sz="2100" dirty="0">
                    <a:solidFill>
                      <a:srgbClr val="C00000"/>
                    </a:solidFill>
                    <a:ea typeface="华文楷体" panose="02010600040101010101" pitchFamily="2" charset="-122"/>
                  </a:rPr>
                  <a:t>]</a:t>
                </a:r>
              </a:p>
              <a:p>
                <a:pPr marL="0" indent="0">
                  <a:buNone/>
                </a:pPr>
                <a:r>
                  <a:rPr lang="zh-CN" altLang="en-US" sz="2100" dirty="0" smtClean="0">
                    <a:ea typeface="华文楷体" panose="02010600040101010101" pitchFamily="2" charset="-122"/>
                  </a:rPr>
                  <a:t>定理</a:t>
                </a:r>
                <a:r>
                  <a:rPr lang="en-US" altLang="zh-CN" sz="2100" dirty="0" smtClean="0">
                    <a:ea typeface="华文楷体" panose="02010600040101010101" pitchFamily="2" charset="-122"/>
                  </a:rPr>
                  <a:t>1</a:t>
                </a:r>
                <a:r>
                  <a:rPr lang="zh-CN" altLang="en-US" sz="2100" dirty="0" smtClean="0">
                    <a:ea typeface="华文楷体" panose="02010600040101010101" pitchFamily="2" charset="-122"/>
                  </a:rPr>
                  <a:t>：只使用元素间比较的任何排序算法在最坏情况下至少需要进行</a:t>
                </a:r>
                <a:r>
                  <a:rPr lang="zh-CN" altLang="en-US" sz="2100" dirty="0" smtClean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⌈</a:t>
                </a:r>
                <a:r>
                  <a:rPr lang="en-US" altLang="zh-CN" sz="2100" dirty="0" smtClean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log</a:t>
                </a:r>
                <a:r>
                  <a:rPr lang="en-US" altLang="zh-CN" sz="2100" baseline="-25000" dirty="0" smtClean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2</a:t>
                </a:r>
                <a:r>
                  <a:rPr lang="en-US" altLang="zh-CN" sz="2100" dirty="0" smtClean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(n!)</a:t>
                </a:r>
                <a:r>
                  <a:rPr lang="zh-CN" altLang="en-US" sz="2100" dirty="0" smtClean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⌉次比较。</a:t>
                </a:r>
                <a:endParaRPr lang="en-US" altLang="zh-CN" sz="2100" dirty="0" smtClean="0">
                  <a:ea typeface="华文楷体" panose="02010600040101010101" pitchFamily="2" charset="-122"/>
                  <a:cs typeface="Lucida Sans Unicode" panose="020B0602030504020204" pitchFamily="34" charset="0"/>
                </a:endParaRPr>
              </a:p>
              <a:p>
                <a:pPr marL="0" indent="0">
                  <a:buNone/>
                </a:pPr>
                <a:r>
                  <a:rPr lang="zh-CN" altLang="en-US" sz="2100" dirty="0" smtClean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证明：对</a:t>
                </a:r>
                <a:r>
                  <a:rPr lang="en-US" altLang="zh-CN" sz="2100" dirty="0" smtClean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n</a:t>
                </a:r>
                <a:r>
                  <a:rPr lang="zh-CN" altLang="en-US" sz="2100" dirty="0" smtClean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个元素的决策树必然有</a:t>
                </a:r>
                <a:r>
                  <a:rPr lang="en-US" altLang="zh-CN" sz="2100" dirty="0" smtClean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n!</a:t>
                </a:r>
                <a:r>
                  <a:rPr lang="zh-CN" altLang="en-US" sz="2100" dirty="0" smtClean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个叶子结点，具有</a:t>
                </a:r>
                <a:r>
                  <a:rPr lang="en-US" altLang="zh-CN" sz="2100" dirty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n!</a:t>
                </a:r>
                <a:r>
                  <a:rPr lang="zh-CN" altLang="en-US" sz="2100" dirty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个</a:t>
                </a:r>
                <a:r>
                  <a:rPr lang="zh-CN" altLang="en-US" sz="2100" dirty="0" smtClean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叶子的二叉</a:t>
                </a:r>
                <a:r>
                  <a:rPr lang="zh-CN" altLang="en-US" sz="2100" dirty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决策</a:t>
                </a:r>
                <a:r>
                  <a:rPr lang="zh-CN" altLang="en-US" sz="2100" dirty="0" smtClean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树高度至少是</a:t>
                </a:r>
                <a:r>
                  <a:rPr lang="zh-CN" altLang="en-US" sz="2100" dirty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⌈</a:t>
                </a:r>
                <a:r>
                  <a:rPr lang="en-US" altLang="zh-CN" sz="2100" dirty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log</a:t>
                </a:r>
                <a:r>
                  <a:rPr lang="en-US" altLang="zh-CN" sz="2100" baseline="-25000" dirty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2</a:t>
                </a:r>
                <a:r>
                  <a:rPr lang="en-US" altLang="zh-CN" sz="2100" dirty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(n!)</a:t>
                </a:r>
                <a:r>
                  <a:rPr lang="zh-CN" altLang="en-US" sz="2100" dirty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⌉ </a:t>
                </a:r>
                <a:r>
                  <a:rPr lang="zh-CN" altLang="en-US" sz="2100" dirty="0" smtClean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；而比较次数最多为决策树的高度，因此</a:t>
                </a:r>
                <a:r>
                  <a:rPr lang="zh-CN" altLang="en-US" sz="2100" dirty="0">
                    <a:ea typeface="华文楷体" panose="02010600040101010101" pitchFamily="2" charset="-122"/>
                  </a:rPr>
                  <a:t>在最坏情况下至少需要进行</a:t>
                </a:r>
                <a:r>
                  <a:rPr lang="zh-CN" altLang="en-US" sz="2100" dirty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⌈</a:t>
                </a:r>
                <a:r>
                  <a:rPr lang="en-US" altLang="zh-CN" sz="2100" dirty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log</a:t>
                </a:r>
                <a:r>
                  <a:rPr lang="en-US" altLang="zh-CN" sz="2100" baseline="-25000" dirty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2</a:t>
                </a:r>
                <a:r>
                  <a:rPr lang="en-US" altLang="zh-CN" sz="2100" dirty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(n!)</a:t>
                </a:r>
                <a:r>
                  <a:rPr lang="zh-CN" altLang="en-US" sz="2100" dirty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⌉次比较</a:t>
                </a:r>
                <a:r>
                  <a:rPr lang="zh-CN" altLang="en-US" sz="2100" dirty="0" smtClean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。</a:t>
                </a:r>
                <a:endParaRPr lang="en-US" altLang="zh-CN" sz="2100" dirty="0" smtClean="0">
                  <a:ea typeface="华文楷体" panose="02010600040101010101" pitchFamily="2" charset="-122"/>
                  <a:cs typeface="Lucida Sans Unicode" panose="020B0602030504020204" pitchFamily="34" charset="0"/>
                </a:endParaRPr>
              </a:p>
              <a:p>
                <a:pPr marL="0" indent="0">
                  <a:buNone/>
                </a:pPr>
                <a:endParaRPr lang="en-US" altLang="zh-CN" sz="2100" dirty="0" smtClean="0">
                  <a:ea typeface="华文楷体" panose="02010600040101010101" pitchFamily="2" charset="-122"/>
                  <a:cs typeface="Lucida Sans Unicode" panose="020B0602030504020204" pitchFamily="34" charset="0"/>
                </a:endParaRPr>
              </a:p>
              <a:p>
                <a:pPr marL="0" indent="0">
                  <a:buNone/>
                </a:pPr>
                <a:r>
                  <a:rPr lang="zh-CN" altLang="en-US" sz="2100" dirty="0" smtClean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定理</a:t>
                </a:r>
                <a:r>
                  <a:rPr lang="en-US" altLang="zh-CN" sz="2100" dirty="0" smtClean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2</a:t>
                </a:r>
                <a:r>
                  <a:rPr lang="zh-CN" altLang="en-US" sz="2100" dirty="0" smtClean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：</a:t>
                </a:r>
                <a:r>
                  <a:rPr lang="zh-CN" altLang="en-US" sz="2100" dirty="0">
                    <a:ea typeface="华文楷体" panose="02010600040101010101" pitchFamily="2" charset="-122"/>
                  </a:rPr>
                  <a:t>只使用元素间比较的任何排序</a:t>
                </a:r>
                <a:r>
                  <a:rPr lang="zh-CN" altLang="en-US" sz="2100" dirty="0" smtClean="0">
                    <a:ea typeface="华文楷体" panose="02010600040101010101" pitchFamily="2" charset="-122"/>
                  </a:rPr>
                  <a:t>算法</a:t>
                </a:r>
                <a:r>
                  <a:rPr lang="zh-CN" altLang="en-US" sz="2100" dirty="0">
                    <a:ea typeface="华文楷体" panose="02010600040101010101" pitchFamily="2" charset="-122"/>
                  </a:rPr>
                  <a:t>需要</a:t>
                </a:r>
                <a:r>
                  <a:rPr lang="zh-CN" altLang="en-US" sz="2100" dirty="0" smtClean="0">
                    <a:ea typeface="华文楷体" panose="02010600040101010101" pitchFamily="2" charset="-122"/>
                  </a:rPr>
                  <a:t>进行</a:t>
                </a:r>
                <a:r>
                  <a:rPr lang="el-GR" altLang="zh-CN" sz="2100" dirty="0" smtClean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Ω</a:t>
                </a:r>
                <a:r>
                  <a:rPr lang="en-US" altLang="zh-CN" sz="2100" dirty="0" smtClean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(nlog</a:t>
                </a:r>
                <a:r>
                  <a:rPr lang="en-US" altLang="zh-CN" sz="2100" baseline="-25000" dirty="0" smtClean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2</a:t>
                </a:r>
                <a:r>
                  <a:rPr lang="en-US" altLang="zh-CN" sz="2100" dirty="0" smtClean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n)</a:t>
                </a:r>
                <a:r>
                  <a:rPr lang="zh-CN" altLang="en-US" sz="2100" dirty="0" smtClean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次比较。</a:t>
                </a:r>
                <a:endParaRPr lang="en-US" altLang="zh-CN" sz="2100" dirty="0" smtClean="0">
                  <a:ea typeface="华文楷体" panose="02010600040101010101" pitchFamily="2" charset="-122"/>
                  <a:cs typeface="Lucida Sans Unicode" panose="020B0602030504020204" pitchFamily="34" charset="0"/>
                </a:endParaRPr>
              </a:p>
              <a:p>
                <a:pPr marL="0" indent="0">
                  <a:buNone/>
                </a:pPr>
                <a:r>
                  <a:rPr lang="zh-CN" altLang="en-US" sz="2100" dirty="0" smtClean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证明：由定理</a:t>
                </a:r>
                <a:r>
                  <a:rPr lang="en-US" altLang="zh-CN" sz="2100" dirty="0" smtClean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1</a:t>
                </a:r>
                <a:r>
                  <a:rPr lang="zh-CN" altLang="en-US" sz="2100" dirty="0" smtClean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知，至少需要</a:t>
                </a:r>
                <a:r>
                  <a:rPr lang="en-US" altLang="zh-CN" sz="2100" dirty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log</a:t>
                </a:r>
                <a:r>
                  <a:rPr lang="en-US" altLang="zh-CN" sz="2100" baseline="-25000" dirty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2</a:t>
                </a:r>
                <a:r>
                  <a:rPr lang="en-US" altLang="zh-CN" sz="2100" dirty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(n</a:t>
                </a:r>
                <a:r>
                  <a:rPr lang="en-US" altLang="zh-CN" sz="2100" dirty="0" smtClean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!)</a:t>
                </a:r>
                <a:r>
                  <a:rPr lang="zh-CN" altLang="en-US" sz="2100" dirty="0" smtClean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次比较。</a:t>
                </a:r>
                <a:endParaRPr lang="en-US" altLang="zh-CN" sz="2100" dirty="0" smtClean="0">
                  <a:ea typeface="华文楷体" panose="02010600040101010101" pitchFamily="2" charset="-122"/>
                  <a:cs typeface="Lucida Sans Unicode" panose="020B0602030504020204" pitchFamily="34" charset="0"/>
                </a:endParaRPr>
              </a:p>
              <a:p>
                <a:pPr marL="0" indent="0">
                  <a:buNone/>
                </a:pPr>
                <a:r>
                  <a:rPr lang="en-US" altLang="zh-CN" sz="2100" dirty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 log</a:t>
                </a:r>
                <a:r>
                  <a:rPr lang="en-US" altLang="zh-CN" sz="2100" baseline="-25000" dirty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2</a:t>
                </a:r>
                <a:r>
                  <a:rPr lang="en-US" altLang="zh-CN" sz="2100" dirty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(n</a:t>
                </a:r>
                <a:r>
                  <a:rPr lang="en-US" altLang="zh-CN" sz="2100" dirty="0" smtClean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!) = log</a:t>
                </a:r>
                <a:r>
                  <a:rPr lang="en-US" altLang="zh-CN" sz="2100" baseline="-25000" dirty="0" smtClean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2</a:t>
                </a:r>
                <a:r>
                  <a:rPr lang="en-US" altLang="zh-CN" sz="2100" dirty="0" smtClean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(n(n-1)(n-2)…(2)(1))</a:t>
                </a:r>
              </a:p>
              <a:p>
                <a:pPr marL="0" indent="0">
                  <a:buNone/>
                </a:pPr>
                <a:r>
                  <a:rPr lang="en-US" altLang="zh-CN" sz="2100" dirty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 </a:t>
                </a:r>
                <a:r>
                  <a:rPr lang="en-US" altLang="zh-CN" sz="2100" dirty="0" smtClean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            = log</a:t>
                </a:r>
                <a:r>
                  <a:rPr lang="en-US" altLang="zh-CN" sz="2100" baseline="-25000" dirty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2</a:t>
                </a:r>
                <a:r>
                  <a:rPr lang="en-US" altLang="zh-CN" sz="2100" dirty="0" smtClean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n +log</a:t>
                </a:r>
                <a:r>
                  <a:rPr lang="en-US" altLang="zh-CN" sz="2100" baseline="-25000" dirty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2</a:t>
                </a:r>
                <a:r>
                  <a:rPr lang="en-US" altLang="zh-CN" sz="2100" dirty="0" smtClean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(n-1) + log</a:t>
                </a:r>
                <a:r>
                  <a:rPr lang="en-US" altLang="zh-CN" sz="2100" baseline="-25000" dirty="0" smtClean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2</a:t>
                </a:r>
                <a:r>
                  <a:rPr lang="en-US" altLang="zh-CN" sz="2100" dirty="0" smtClean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(n-2) +…+</a:t>
                </a:r>
                <a:r>
                  <a:rPr lang="en-US" altLang="zh-CN" sz="2100" dirty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 </a:t>
                </a:r>
                <a:r>
                  <a:rPr lang="en-US" altLang="zh-CN" sz="2100" dirty="0" smtClean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log</a:t>
                </a:r>
                <a:r>
                  <a:rPr lang="en-US" altLang="zh-CN" sz="2100" baseline="-25000" dirty="0" smtClean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2</a:t>
                </a:r>
                <a:r>
                  <a:rPr lang="en-US" altLang="zh-CN" sz="2100" dirty="0" smtClean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(2) + log</a:t>
                </a:r>
                <a:r>
                  <a:rPr lang="en-US" altLang="zh-CN" sz="2100" baseline="-25000" dirty="0" smtClean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2</a:t>
                </a:r>
                <a:r>
                  <a:rPr lang="en-US" altLang="zh-CN" sz="2100" dirty="0" smtClean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(1)</a:t>
                </a:r>
              </a:p>
              <a:p>
                <a:pPr marL="0" indent="0">
                  <a:buNone/>
                </a:pPr>
                <a:r>
                  <a:rPr lang="en-US" altLang="zh-CN" sz="2100" dirty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 </a:t>
                </a:r>
                <a:r>
                  <a:rPr lang="en-US" altLang="zh-CN" sz="2100" dirty="0" smtClean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            </a:t>
                </a:r>
                <a14:m>
                  <m:oMath xmlns:m="http://schemas.openxmlformats.org/officeDocument/2006/math">
                    <m:r>
                      <a:rPr lang="en-US" altLang="zh-CN" sz="21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≥</m:t>
                    </m:r>
                  </m:oMath>
                </a14:m>
                <a:r>
                  <a:rPr lang="zh-CN" altLang="en-US" sz="2100" dirty="0" smtClean="0">
                    <a:ea typeface="华文楷体" panose="02010600040101010101" pitchFamily="2" charset="-122"/>
                  </a:rPr>
                  <a:t> </a:t>
                </a:r>
                <a:r>
                  <a:rPr lang="en-US" altLang="zh-CN" sz="2100" dirty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log</a:t>
                </a:r>
                <a:r>
                  <a:rPr lang="en-US" altLang="zh-CN" sz="2100" baseline="-25000" dirty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2</a:t>
                </a:r>
                <a:r>
                  <a:rPr lang="en-US" altLang="zh-CN" sz="2100" dirty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n +log</a:t>
                </a:r>
                <a:r>
                  <a:rPr lang="en-US" altLang="zh-CN" sz="2100" baseline="-25000" dirty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2</a:t>
                </a:r>
                <a:r>
                  <a:rPr lang="en-US" altLang="zh-CN" sz="2100" dirty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(n-1) + log</a:t>
                </a:r>
                <a:r>
                  <a:rPr lang="en-US" altLang="zh-CN" sz="2100" baseline="-25000" dirty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2</a:t>
                </a:r>
                <a:r>
                  <a:rPr lang="en-US" altLang="zh-CN" sz="2100" dirty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(n-2) +…+ </a:t>
                </a:r>
                <a:r>
                  <a:rPr lang="en-US" altLang="zh-CN" sz="2100" dirty="0" smtClean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log</a:t>
                </a:r>
                <a:r>
                  <a:rPr lang="en-US" altLang="zh-CN" sz="2100" baseline="-25000" dirty="0" smtClean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2</a:t>
                </a:r>
                <a:r>
                  <a:rPr lang="en-US" altLang="zh-CN" sz="2100" dirty="0" smtClean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(n/2)</a:t>
                </a:r>
              </a:p>
              <a:p>
                <a:pPr marL="0" indent="0">
                  <a:buNone/>
                </a:pPr>
                <a:r>
                  <a:rPr lang="en-US" altLang="zh-CN" sz="2100" dirty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 </a:t>
                </a:r>
                <a:r>
                  <a:rPr lang="en-US" altLang="zh-CN" sz="2100" dirty="0" smtClean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            </a:t>
                </a:r>
                <a14:m>
                  <m:oMath xmlns:m="http://schemas.openxmlformats.org/officeDocument/2006/math">
                    <m:r>
                      <a:rPr lang="en-US" altLang="zh-CN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≥</m:t>
                    </m:r>
                  </m:oMath>
                </a14:m>
                <a:r>
                  <a:rPr lang="zh-CN" altLang="en-US" sz="2100" dirty="0" smtClean="0">
                    <a:ea typeface="华文楷体" panose="02010600040101010101" pitchFamily="2" charset="-122"/>
                  </a:rPr>
                  <a:t> </a:t>
                </a:r>
                <a:r>
                  <a:rPr lang="en-US" altLang="zh-CN" sz="2100" dirty="0" smtClean="0">
                    <a:ea typeface="华文楷体" panose="02010600040101010101" pitchFamily="2" charset="-122"/>
                  </a:rPr>
                  <a:t>(</a:t>
                </a:r>
                <a:r>
                  <a:rPr lang="en-US" altLang="zh-CN" sz="2100" dirty="0" smtClean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n/2)*log</a:t>
                </a:r>
                <a:r>
                  <a:rPr lang="en-US" altLang="zh-CN" sz="2100" baseline="-25000" dirty="0" smtClean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2</a:t>
                </a:r>
                <a:r>
                  <a:rPr lang="en-US" altLang="zh-CN" sz="2100" dirty="0" smtClean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(n/2)</a:t>
                </a:r>
              </a:p>
              <a:p>
                <a:pPr marL="0" indent="0">
                  <a:buNone/>
                </a:pPr>
                <a:r>
                  <a:rPr lang="en-US" altLang="zh-CN" sz="2100" dirty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 </a:t>
                </a:r>
                <a:r>
                  <a:rPr lang="en-US" altLang="zh-CN" sz="2100" dirty="0" smtClean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            </a:t>
                </a:r>
                <a14:m>
                  <m:oMath xmlns:m="http://schemas.openxmlformats.org/officeDocument/2006/math">
                    <m:r>
                      <a:rPr lang="en-US" altLang="zh-CN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 panose="020B0602030504020204" pitchFamily="34" charset="0"/>
                      </a:rPr>
                      <m:t>≥</m:t>
                    </m:r>
                  </m:oMath>
                </a14:m>
                <a:r>
                  <a:rPr lang="zh-CN" altLang="en-US" sz="2100" dirty="0">
                    <a:ea typeface="华文楷体" panose="02010600040101010101" pitchFamily="2" charset="-122"/>
                  </a:rPr>
                  <a:t> </a:t>
                </a:r>
                <a:r>
                  <a:rPr lang="en-US" altLang="zh-CN" sz="2100" dirty="0">
                    <a:ea typeface="华文楷体" panose="02010600040101010101" pitchFamily="2" charset="-122"/>
                  </a:rPr>
                  <a:t>(</a:t>
                </a:r>
                <a:r>
                  <a:rPr lang="en-US" altLang="zh-CN" sz="2100" dirty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n/2)*</a:t>
                </a:r>
                <a:r>
                  <a:rPr lang="en-US" altLang="zh-CN" sz="2100" dirty="0" smtClean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log</a:t>
                </a:r>
                <a:r>
                  <a:rPr lang="en-US" altLang="zh-CN" sz="2100" baseline="-25000" dirty="0" smtClean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2</a:t>
                </a:r>
                <a:r>
                  <a:rPr lang="en-US" altLang="zh-CN" sz="2100" dirty="0" smtClean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(n) –n/2</a:t>
                </a:r>
              </a:p>
              <a:p>
                <a:pPr marL="0" indent="0">
                  <a:buNone/>
                </a:pPr>
                <a:r>
                  <a:rPr lang="en-US" altLang="zh-CN" sz="2100" dirty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 </a:t>
                </a:r>
                <a:r>
                  <a:rPr lang="en-US" altLang="zh-CN" sz="2100" dirty="0" smtClean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            = </a:t>
                </a:r>
                <a:r>
                  <a:rPr lang="el-GR" altLang="zh-CN" sz="2100" dirty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Ω</a:t>
                </a:r>
                <a:r>
                  <a:rPr lang="en-US" altLang="zh-CN" sz="2100" dirty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(nlog</a:t>
                </a:r>
                <a:r>
                  <a:rPr lang="en-US" altLang="zh-CN" sz="2100" baseline="-25000" dirty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2</a:t>
                </a:r>
                <a:r>
                  <a:rPr lang="en-US" altLang="zh-CN" sz="2100" dirty="0">
                    <a:ea typeface="华文楷体" panose="02010600040101010101" pitchFamily="2" charset="-122"/>
                    <a:cs typeface="Lucida Sans Unicode" panose="020B0602030504020204" pitchFamily="34" charset="0"/>
                  </a:rPr>
                  <a:t>n)</a:t>
                </a:r>
              </a:p>
              <a:p>
                <a:pPr marL="0" indent="0">
                  <a:buNone/>
                </a:pPr>
                <a:endParaRPr lang="zh-CN" altLang="en-US" sz="2100" dirty="0"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1283" y="1164419"/>
                <a:ext cx="8686800" cy="5617381"/>
              </a:xfrm>
              <a:blipFill>
                <a:blip r:embed="rId2"/>
                <a:stretch>
                  <a:fillRect l="-771" t="-649" b="-1732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 SCST</a:t>
            </a:r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BUPT</a:t>
            </a:r>
            <a:endParaRPr lang="en-US" altLang="zh-CN"/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304800" y="3429000"/>
            <a:ext cx="8686800" cy="7620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1588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665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 smtClean="0">
                <a:ea typeface="华文楷体" panose="02010600040101010101" pitchFamily="2" charset="-122"/>
              </a:rPr>
              <a:t>作业</a:t>
            </a:r>
          </a:p>
        </p:txBody>
      </p:sp>
      <p:sp>
        <p:nvSpPr>
          <p:cNvPr id="6656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812800" indent="-8128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400" dirty="0" smtClean="0">
              <a:ea typeface="华文楷体" panose="02010600040101010101" pitchFamily="2" charset="-122"/>
            </a:endParaRPr>
          </a:p>
          <a:p>
            <a:pPr marL="812800" indent="-8128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1.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全国有</a:t>
            </a:r>
            <a:r>
              <a:rPr lang="en-US" altLang="zh-CN" sz="2400" dirty="0" smtClean="0">
                <a:ea typeface="华文楷体" panose="02010600040101010101" pitchFamily="2" charset="-122"/>
              </a:rPr>
              <a:t>10000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人参加物理竞赛，只录取成绩优异的前</a:t>
            </a:r>
            <a:r>
              <a:rPr lang="en-US" altLang="zh-CN" sz="2400" dirty="0" smtClean="0">
                <a:ea typeface="华文楷体" panose="02010600040101010101" pitchFamily="2" charset="-122"/>
              </a:rPr>
              <a:t>10</a:t>
            </a:r>
            <a:r>
              <a:rPr lang="zh-CN" altLang="en-US" sz="2400" dirty="0" smtClean="0">
                <a:ea typeface="华文楷体" panose="02010600040101010101" pitchFamily="2" charset="-122"/>
              </a:rPr>
              <a:t>名，不需排出名次。问此种情况下，用何种排序方法速度最快？为什么？</a:t>
            </a:r>
          </a:p>
          <a:p>
            <a:pPr marL="812800" indent="-812800"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2.</a:t>
            </a:r>
            <a:r>
              <a:rPr lang="zh-CN" altLang="en-US" sz="2400" dirty="0" smtClean="0">
                <a:ea typeface="华文楷体" panose="02010600040101010101" pitchFamily="2" charset="-122"/>
              </a:rPr>
              <a:t>若待排序列用带头结点的单链表存储，试给出简单选择排序算法。</a:t>
            </a:r>
          </a:p>
          <a:p>
            <a:pPr marL="812800" indent="-812800" eaLnBrk="1" hangingPunct="1">
              <a:buFont typeface="Wingdings" panose="05000000000000000000" pitchFamily="2" charset="2"/>
              <a:buNone/>
            </a:pPr>
            <a:r>
              <a:rPr lang="en-US" altLang="zh-CN" sz="2400" dirty="0" err="1" smtClean="0">
                <a:ea typeface="华文楷体" panose="02010600040101010101" pitchFamily="2" charset="-122"/>
              </a:rPr>
              <a:t>typedef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  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struct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  node {</a:t>
            </a:r>
          </a:p>
          <a:p>
            <a:pPr marL="812800" indent="-812800"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int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    key;</a:t>
            </a:r>
          </a:p>
          <a:p>
            <a:pPr marL="812800" indent="-812800" eaLnBrk="1" hangingPunct="1">
              <a:buNone/>
            </a:pPr>
            <a:r>
              <a:rPr kumimoji="1" lang="en-US" altLang="zh-CN" sz="2400" dirty="0" smtClean="0">
                <a:ea typeface="华文楷体" panose="02010600040101010101" pitchFamily="2" charset="-122"/>
              </a:rPr>
              <a:t>    </a:t>
            </a:r>
            <a:r>
              <a:rPr kumimoji="1" lang="en-US" altLang="zh-CN" sz="2400" dirty="0" err="1" smtClean="0">
                <a:ea typeface="华文楷体" panose="02010600040101010101" pitchFamily="2" charset="-122"/>
              </a:rPr>
              <a:t>InfoType</a:t>
            </a:r>
            <a:r>
              <a:rPr kumimoji="1" lang="en-US" altLang="zh-CN" sz="2400" dirty="0" smtClean="0">
                <a:ea typeface="华文楷体" panose="02010600040101010101" pitchFamily="2" charset="-122"/>
              </a:rPr>
              <a:t> </a:t>
            </a:r>
            <a:r>
              <a:rPr kumimoji="1" lang="en-US" altLang="zh-CN" sz="2400" dirty="0" err="1">
                <a:ea typeface="华文楷体" panose="02010600040101010101" pitchFamily="2" charset="-122"/>
              </a:rPr>
              <a:t>otherinfo</a:t>
            </a:r>
            <a:r>
              <a:rPr kumimoji="1" lang="en-US" altLang="zh-CN" sz="2400" dirty="0" smtClean="0">
                <a:ea typeface="华文楷体" panose="02010600040101010101" pitchFamily="2" charset="-122"/>
              </a:rPr>
              <a:t>;</a:t>
            </a:r>
            <a:endParaRPr lang="en-US" altLang="zh-CN" sz="2400" dirty="0" smtClean="0">
              <a:ea typeface="华文楷体" panose="02010600040101010101" pitchFamily="2" charset="-122"/>
            </a:endParaRPr>
          </a:p>
          <a:p>
            <a:pPr marL="812800" indent="-812800" eaLnBrk="1" hangingPunct="1"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    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struct</a:t>
            </a:r>
            <a:r>
              <a:rPr lang="en-US" altLang="zh-CN" sz="2400" dirty="0" smtClean="0">
                <a:ea typeface="华文楷体" panose="02010600040101010101" pitchFamily="2" charset="-122"/>
              </a:rPr>
              <a:t> </a:t>
            </a:r>
            <a:r>
              <a:rPr lang="en-US" altLang="zh-CN" sz="2400" dirty="0">
                <a:ea typeface="华文楷体" panose="02010600040101010101" pitchFamily="2" charset="-122"/>
              </a:rPr>
              <a:t>node   </a:t>
            </a:r>
            <a:r>
              <a:rPr lang="en-US" altLang="zh-CN" sz="2400" dirty="0" smtClean="0">
                <a:ea typeface="华文楷体" panose="02010600040101010101" pitchFamily="2" charset="-122"/>
              </a:rPr>
              <a:t>*next;</a:t>
            </a:r>
          </a:p>
          <a:p>
            <a:pPr marL="812800" indent="-812800"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} node,   *pointer;</a:t>
            </a:r>
          </a:p>
          <a:p>
            <a:pPr marL="812800" indent="-812800"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华文楷体" panose="02010600040101010101" pitchFamily="2" charset="-122"/>
              </a:rPr>
              <a:t>void </a:t>
            </a:r>
            <a:r>
              <a:rPr lang="en-US" altLang="zh-CN" sz="2400" dirty="0" err="1" smtClean="0">
                <a:ea typeface="华文楷体" panose="02010600040101010101" pitchFamily="2" charset="-122"/>
              </a:rPr>
              <a:t>selectsort</a:t>
            </a:r>
            <a:r>
              <a:rPr lang="en-US" altLang="zh-CN" sz="2400" dirty="0" smtClean="0">
                <a:ea typeface="华文楷体" panose="02010600040101010101" pitchFamily="2" charset="-122"/>
              </a:rPr>
              <a:t>(pointer &amp;h)//h</a:t>
            </a:r>
            <a:r>
              <a:rPr lang="zh-CN" altLang="en-US" sz="2400" dirty="0" smtClean="0">
                <a:ea typeface="华文楷体" panose="02010600040101010101" pitchFamily="2" charset="-122"/>
              </a:rPr>
              <a:t>为头指针</a:t>
            </a:r>
          </a:p>
          <a:p>
            <a:pPr marL="812800" indent="-812800" eaLnBrk="1" hangingPunct="1">
              <a:buFont typeface="Wingdings" panose="05000000000000000000" pitchFamily="2" charset="2"/>
              <a:buNone/>
            </a:pPr>
            <a:endParaRPr lang="zh-CN" altLang="en-US" sz="2400" dirty="0" smtClean="0">
              <a:ea typeface="华文楷体" panose="02010600040101010101" pitchFamily="2" charset="-122"/>
            </a:endParaRPr>
          </a:p>
          <a:p>
            <a:pPr marL="812800" indent="-812800" eaLnBrk="1" hangingPunct="1">
              <a:buFont typeface="Wingdings" panose="05000000000000000000" pitchFamily="2" charset="2"/>
              <a:buNone/>
            </a:pPr>
            <a:endParaRPr lang="zh-CN" altLang="en-US" sz="2400" dirty="0" smtClean="0">
              <a:ea typeface="华文楷体" panose="02010600040101010101" pitchFamily="2" charset="-122"/>
            </a:endParaRPr>
          </a:p>
          <a:p>
            <a:pPr marL="812800" indent="-81280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 smtClean="0">
                <a:ea typeface="华文楷体" panose="02010600040101010101" pitchFamily="2" charset="-122"/>
              </a:rPr>
              <a:t> </a:t>
            </a:r>
          </a:p>
          <a:p>
            <a:pPr marL="812800" indent="-812800" eaLnBrk="1" hangingPunct="1">
              <a:lnSpc>
                <a:spcPct val="80000"/>
              </a:lnSpc>
            </a:pPr>
            <a:endParaRPr lang="zh-CN" altLang="en-US" sz="2400" dirty="0" smtClean="0">
              <a:ea typeface="华文楷体" panose="02010600040101010101" pitchFamily="2" charset="-122"/>
            </a:endParaRPr>
          </a:p>
          <a:p>
            <a:pPr marL="812800" indent="-812800" eaLnBrk="1" hangingPunct="1">
              <a:lnSpc>
                <a:spcPct val="80000"/>
              </a:lnSpc>
            </a:pPr>
            <a:endParaRPr lang="en-US" altLang="zh-CN" sz="2400" dirty="0" smtClean="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 SCST</a:t>
            </a:r>
          </a:p>
        </p:txBody>
      </p:sp>
      <p:sp>
        <p:nvSpPr>
          <p:cNvPr id="5" name="日期占位符 5"/>
          <p:cNvSpPr>
            <a:spLocks noGrp="1"/>
          </p:cNvSpPr>
          <p:nvPr>
            <p:ph type="dt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BUPT</a:t>
            </a:r>
          </a:p>
        </p:txBody>
      </p:sp>
      <p:sp>
        <p:nvSpPr>
          <p:cNvPr id="675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dirty="0" smtClean="0">
              <a:ea typeface="华文楷体" panose="02010600040101010101" pitchFamily="2" charset="-122"/>
            </a:endParaRPr>
          </a:p>
        </p:txBody>
      </p:sp>
      <p:sp>
        <p:nvSpPr>
          <p:cNvPr id="6758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 dirty="0" smtClean="0">
                <a:ea typeface="华文楷体" panose="02010600040101010101" pitchFamily="2" charset="-122"/>
              </a:rPr>
              <a:t>3.</a:t>
            </a:r>
            <a:r>
              <a:rPr lang="zh-CN" altLang="en-US" sz="1800" dirty="0" smtClean="0">
                <a:ea typeface="华文楷体" panose="02010600040101010101" pitchFamily="2" charset="-122"/>
              </a:rPr>
              <a:t>请编写出算法，借助于快速排序的算法思想，在一组无序的记录中查找给定关键字值等于</a:t>
            </a:r>
            <a:r>
              <a:rPr lang="en-US" altLang="zh-CN" sz="1800" dirty="0" smtClean="0">
                <a:ea typeface="华文楷体" panose="02010600040101010101" pitchFamily="2" charset="-122"/>
              </a:rPr>
              <a:t>k</a:t>
            </a:r>
            <a:r>
              <a:rPr lang="zh-CN" altLang="en-US" sz="1800" dirty="0" smtClean="0">
                <a:ea typeface="华文楷体" panose="02010600040101010101" pitchFamily="2" charset="-122"/>
              </a:rPr>
              <a:t>的记录是记录序列中第几大的数。设此组记录存于数组</a:t>
            </a:r>
            <a:r>
              <a:rPr lang="en-US" altLang="zh-CN" sz="1800" dirty="0" smtClean="0">
                <a:ea typeface="华文楷体" panose="02010600040101010101" pitchFamily="2" charset="-122"/>
              </a:rPr>
              <a:t>r[</a:t>
            </a:r>
            <a:r>
              <a:rPr lang="en-US" altLang="zh-CN" sz="1800" dirty="0" err="1" smtClean="0">
                <a:ea typeface="华文楷体" panose="02010600040101010101" pitchFamily="2" charset="-122"/>
              </a:rPr>
              <a:t>low..high</a:t>
            </a:r>
            <a:r>
              <a:rPr lang="en-US" altLang="zh-CN" sz="1800" dirty="0" smtClean="0">
                <a:ea typeface="华文楷体" panose="02010600040101010101" pitchFamily="2" charset="-122"/>
              </a:rPr>
              <a:t>]</a:t>
            </a:r>
            <a:r>
              <a:rPr lang="zh-CN" altLang="en-US" sz="1800" dirty="0" smtClean="0">
                <a:ea typeface="华文楷体" panose="02010600040101010101" pitchFamily="2" charset="-122"/>
              </a:rPr>
              <a:t>中，若查找成功，则返回该记录是</a:t>
            </a:r>
            <a:r>
              <a:rPr lang="en-US" altLang="zh-CN" sz="1800" dirty="0" smtClean="0">
                <a:ea typeface="华文楷体" panose="02010600040101010101" pitchFamily="2" charset="-122"/>
              </a:rPr>
              <a:t>r</a:t>
            </a:r>
            <a:r>
              <a:rPr lang="zh-CN" altLang="en-US" sz="1800" dirty="0" smtClean="0">
                <a:ea typeface="华文楷体" panose="02010600040101010101" pitchFamily="2" charset="-122"/>
              </a:rPr>
              <a:t>数组中第几大的数，否则返回</a:t>
            </a:r>
            <a:r>
              <a:rPr lang="en-US" altLang="zh-CN" sz="1800" dirty="0" smtClean="0">
                <a:ea typeface="华文楷体" panose="02010600040101010101" pitchFamily="2" charset="-122"/>
              </a:rPr>
              <a:t>0</a:t>
            </a:r>
            <a:r>
              <a:rPr lang="zh-CN" altLang="en-US" sz="1800" dirty="0" smtClean="0">
                <a:ea typeface="华文楷体" panose="02010600040101010101" pitchFamily="2" charset="-122"/>
              </a:rPr>
              <a:t>。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 b="1" dirty="0" err="1" smtClean="0">
                <a:ea typeface="华文楷体" panose="02010600040101010101" pitchFamily="2" charset="-122"/>
              </a:rPr>
              <a:t>int</a:t>
            </a:r>
            <a:r>
              <a:rPr lang="en-US" altLang="zh-CN" sz="1600" b="1" dirty="0" smtClean="0">
                <a:ea typeface="华文楷体" panose="02010600040101010101" pitchFamily="2" charset="-122"/>
              </a:rPr>
              <a:t> Index (</a:t>
            </a:r>
            <a:r>
              <a:rPr lang="en-US" altLang="zh-CN" sz="1600" b="1" dirty="0" err="1" smtClean="0">
                <a:ea typeface="华文楷体" panose="02010600040101010101" pitchFamily="2" charset="-122"/>
              </a:rPr>
              <a:t>ElemType</a:t>
            </a:r>
            <a:r>
              <a:rPr lang="en-US" altLang="zh-CN" sz="1600" b="1" dirty="0" smtClean="0">
                <a:ea typeface="华文楷体" panose="02010600040101010101" pitchFamily="2" charset="-122"/>
              </a:rPr>
              <a:t>  r[], </a:t>
            </a:r>
            <a:r>
              <a:rPr lang="en-US" altLang="zh-CN" sz="1600" b="1" dirty="0" err="1" smtClean="0">
                <a:ea typeface="华文楷体" panose="02010600040101010101" pitchFamily="2" charset="-122"/>
              </a:rPr>
              <a:t>int</a:t>
            </a:r>
            <a:r>
              <a:rPr lang="en-US" altLang="zh-CN" sz="1600" b="1" dirty="0" smtClean="0">
                <a:ea typeface="华文楷体" panose="02010600040101010101" pitchFamily="2" charset="-122"/>
              </a:rPr>
              <a:t>  low, </a:t>
            </a:r>
            <a:r>
              <a:rPr lang="en-US" altLang="zh-CN" sz="1600" b="1" dirty="0" err="1" smtClean="0">
                <a:ea typeface="华文楷体" panose="02010600040101010101" pitchFamily="2" charset="-122"/>
              </a:rPr>
              <a:t>int</a:t>
            </a:r>
            <a:r>
              <a:rPr lang="en-US" altLang="zh-CN" sz="1600" b="1" dirty="0" smtClean="0">
                <a:ea typeface="华文楷体" panose="02010600040101010101" pitchFamily="2" charset="-122"/>
              </a:rPr>
              <a:t>  high,  </a:t>
            </a:r>
            <a:r>
              <a:rPr lang="en-US" altLang="zh-CN" sz="1600" b="1" dirty="0" err="1" smtClean="0">
                <a:ea typeface="华文楷体" panose="02010600040101010101" pitchFamily="2" charset="-122"/>
              </a:rPr>
              <a:t>int</a:t>
            </a:r>
            <a:r>
              <a:rPr lang="en-US" altLang="zh-CN" sz="1600" b="1" dirty="0" smtClean="0">
                <a:ea typeface="华文楷体" panose="02010600040101010101" pitchFamily="2" charset="-122"/>
              </a:rPr>
              <a:t>   k)</a:t>
            </a:r>
            <a:endParaRPr lang="en-US" altLang="zh-CN" sz="16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1800" dirty="0" smtClean="0">
                <a:ea typeface="华文楷体" panose="02010600040101010101" pitchFamily="2" charset="-122"/>
              </a:rPr>
              <a:t>       //</a:t>
            </a:r>
            <a:r>
              <a:rPr lang="en-US" altLang="zh-CN" sz="1800" dirty="0">
                <a:ea typeface="华文楷体" panose="02010600040101010101" pitchFamily="2" charset="-122"/>
              </a:rPr>
              <a:t> </a:t>
            </a:r>
            <a:r>
              <a:rPr lang="en-US" altLang="zh-CN" sz="1800" dirty="0" err="1" smtClean="0">
                <a:ea typeface="华文楷体" panose="02010600040101010101" pitchFamily="2" charset="-122"/>
              </a:rPr>
              <a:t>ElemType</a:t>
            </a:r>
            <a:r>
              <a:rPr lang="zh-CN" altLang="en-US" sz="1800" dirty="0" smtClean="0">
                <a:ea typeface="华文楷体" panose="02010600040101010101" pitchFamily="2" charset="-122"/>
              </a:rPr>
              <a:t>结构参见</a:t>
            </a:r>
            <a:r>
              <a:rPr lang="en-US" altLang="zh-CN" sz="1800" dirty="0" smtClean="0">
                <a:ea typeface="华文楷体" panose="02010600040101010101" pitchFamily="2" charset="-122"/>
              </a:rPr>
              <a:t>PPT  P6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18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 dirty="0" smtClean="0">
                <a:ea typeface="华文楷体" panose="02010600040101010101" pitchFamily="2" charset="-122"/>
              </a:rPr>
              <a:t>4.</a:t>
            </a:r>
            <a:r>
              <a:rPr lang="zh-CN" altLang="en-US" sz="1800" dirty="0" smtClean="0">
                <a:ea typeface="华文楷体" panose="02010600040101010101" pitchFamily="2" charset="-122"/>
              </a:rPr>
              <a:t>以关键码序列</a:t>
            </a:r>
            <a:r>
              <a:rPr lang="en-US" altLang="zh-CN" sz="1800" dirty="0" smtClean="0">
                <a:ea typeface="华文楷体" panose="02010600040101010101" pitchFamily="2" charset="-122"/>
              </a:rPr>
              <a:t>(503, 087, 512, 061, 908, 170, 897, 275, 653, 426)</a:t>
            </a:r>
            <a:r>
              <a:rPr lang="zh-CN" altLang="en-US" sz="1800" dirty="0" smtClean="0">
                <a:ea typeface="华文楷体" panose="02010600040101010101" pitchFamily="2" charset="-122"/>
              </a:rPr>
              <a:t>为例，手工执行以下排序算法，写出每一趟排序结束时的关键码状态：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800" dirty="0" smtClean="0">
                <a:ea typeface="华文楷体" panose="02010600040101010101" pitchFamily="2" charset="-122"/>
              </a:rPr>
              <a:t>          </a:t>
            </a:r>
            <a:r>
              <a:rPr lang="en-US" altLang="zh-CN" sz="1800" dirty="0" smtClean="0">
                <a:ea typeface="华文楷体" panose="02010600040101010101" pitchFamily="2" charset="-122"/>
              </a:rPr>
              <a:t>(1) </a:t>
            </a:r>
            <a:r>
              <a:rPr lang="zh-CN" altLang="en-US" sz="1800" dirty="0" smtClean="0">
                <a:ea typeface="华文楷体" panose="02010600040101010101" pitchFamily="2" charset="-122"/>
              </a:rPr>
              <a:t>直接插入排序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800" dirty="0" smtClean="0">
                <a:ea typeface="华文楷体" panose="02010600040101010101" pitchFamily="2" charset="-122"/>
              </a:rPr>
              <a:t>          </a:t>
            </a:r>
            <a:r>
              <a:rPr lang="en-US" altLang="zh-CN" sz="1800" dirty="0" smtClean="0">
                <a:ea typeface="华文楷体" panose="02010600040101010101" pitchFamily="2" charset="-122"/>
              </a:rPr>
              <a:t>(2) </a:t>
            </a:r>
            <a:r>
              <a:rPr lang="zh-CN" altLang="en-US" sz="1800" dirty="0" smtClean="0">
                <a:ea typeface="华文楷体" panose="02010600040101010101" pitchFamily="2" charset="-122"/>
              </a:rPr>
              <a:t>希尔排序</a:t>
            </a:r>
            <a:r>
              <a:rPr lang="en-US" altLang="zh-CN" sz="1800" dirty="0" smtClean="0">
                <a:ea typeface="华文楷体" panose="02010600040101010101" pitchFamily="2" charset="-122"/>
              </a:rPr>
              <a:t>(d[1]=5, d[2]=3, d[3]=1)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 dirty="0" smtClean="0">
                <a:ea typeface="华文楷体" panose="02010600040101010101" pitchFamily="2" charset="-122"/>
              </a:rPr>
              <a:t>          (3) </a:t>
            </a:r>
            <a:r>
              <a:rPr lang="zh-CN" altLang="en-US" sz="1800" dirty="0" smtClean="0">
                <a:ea typeface="华文楷体" panose="02010600040101010101" pitchFamily="2" charset="-122"/>
              </a:rPr>
              <a:t>快速排序</a:t>
            </a:r>
            <a:r>
              <a:rPr lang="en-US" altLang="zh-CN" sz="1800" dirty="0" smtClean="0">
                <a:ea typeface="华文楷体" panose="02010600040101010101" pitchFamily="2" charset="-122"/>
              </a:rPr>
              <a:t>(</a:t>
            </a:r>
            <a:r>
              <a:rPr lang="zh-CN" altLang="en-US" sz="1800" dirty="0" smtClean="0">
                <a:ea typeface="华文楷体" panose="02010600040101010101" pitchFamily="2" charset="-122"/>
              </a:rPr>
              <a:t>第一个记录为基准记录</a:t>
            </a:r>
            <a:r>
              <a:rPr lang="en-US" altLang="zh-CN" sz="1800" dirty="0" smtClean="0">
                <a:ea typeface="华文楷体" panose="02010600040101010101" pitchFamily="2" charset="-122"/>
              </a:rPr>
              <a:t>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 dirty="0" smtClean="0">
                <a:ea typeface="华文楷体" panose="02010600040101010101" pitchFamily="2" charset="-122"/>
              </a:rPr>
              <a:t>          (4) </a:t>
            </a:r>
            <a:r>
              <a:rPr lang="zh-CN" altLang="en-US" sz="1800" dirty="0" smtClean="0">
                <a:ea typeface="华文楷体" panose="02010600040101010101" pitchFamily="2" charset="-122"/>
              </a:rPr>
              <a:t>堆排序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800" dirty="0" smtClean="0">
                <a:ea typeface="华文楷体" panose="02010600040101010101" pitchFamily="2" charset="-122"/>
              </a:rPr>
              <a:t>          </a:t>
            </a:r>
            <a:r>
              <a:rPr lang="en-US" altLang="zh-CN" sz="1800" dirty="0" smtClean="0">
                <a:ea typeface="华文楷体" panose="02010600040101010101" pitchFamily="2" charset="-122"/>
              </a:rPr>
              <a:t>(5) </a:t>
            </a:r>
            <a:r>
              <a:rPr lang="zh-CN" altLang="en-US" sz="1800" dirty="0" smtClean="0">
                <a:ea typeface="华文楷体" panose="02010600040101010101" pitchFamily="2" charset="-122"/>
              </a:rPr>
              <a:t>归并排序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800" dirty="0" smtClean="0">
                <a:ea typeface="华文楷体" panose="02010600040101010101" pitchFamily="2" charset="-122"/>
              </a:rPr>
              <a:t>          </a:t>
            </a:r>
            <a:r>
              <a:rPr lang="en-US" altLang="zh-CN" sz="1800" dirty="0" smtClean="0">
                <a:ea typeface="华文楷体" panose="02010600040101010101" pitchFamily="2" charset="-122"/>
              </a:rPr>
              <a:t>(6) </a:t>
            </a:r>
            <a:r>
              <a:rPr lang="zh-CN" altLang="en-US" sz="1800" dirty="0" smtClean="0">
                <a:ea typeface="华文楷体" panose="02010600040101010101" pitchFamily="2" charset="-122"/>
              </a:rPr>
              <a:t>基数排序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1800" dirty="0" smtClean="0"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1800" dirty="0" smtClean="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国外精美的的PPT模板及图标之二">
  <a:themeElements>
    <a:clrScheme name="国外精美的的PPT模板及图标之二 1">
      <a:dk1>
        <a:srgbClr val="163794"/>
      </a:dk1>
      <a:lt1>
        <a:srgbClr val="FFFFFF"/>
      </a:lt1>
      <a:dk2>
        <a:srgbClr val="000000"/>
      </a:dk2>
      <a:lt2>
        <a:srgbClr val="C0C0C0"/>
      </a:lt2>
      <a:accent1>
        <a:srgbClr val="009999"/>
      </a:accent1>
      <a:accent2>
        <a:srgbClr val="990000"/>
      </a:accent2>
      <a:accent3>
        <a:srgbClr val="FFFFFF"/>
      </a:accent3>
      <a:accent4>
        <a:srgbClr val="112D7E"/>
      </a:accent4>
      <a:accent5>
        <a:srgbClr val="AACACA"/>
      </a:accent5>
      <a:accent6>
        <a:srgbClr val="8A0000"/>
      </a:accent6>
      <a:hlink>
        <a:srgbClr val="6699FF"/>
      </a:hlink>
      <a:folHlink>
        <a:srgbClr val="969696"/>
      </a:folHlink>
    </a:clrScheme>
    <a:fontScheme name="国外精美的的PPT模板及图标之二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国外精美的的PPT模板及图标之二 1">
        <a:dk1>
          <a:srgbClr val="163794"/>
        </a:dk1>
        <a:lt1>
          <a:srgbClr val="FFFFFF"/>
        </a:lt1>
        <a:dk2>
          <a:srgbClr val="000000"/>
        </a:dk2>
        <a:lt2>
          <a:srgbClr val="C0C0C0"/>
        </a:lt2>
        <a:accent1>
          <a:srgbClr val="009999"/>
        </a:accent1>
        <a:accent2>
          <a:srgbClr val="990000"/>
        </a:accent2>
        <a:accent3>
          <a:srgbClr val="FFFFFF"/>
        </a:accent3>
        <a:accent4>
          <a:srgbClr val="112D7E"/>
        </a:accent4>
        <a:accent5>
          <a:srgbClr val="AACACA"/>
        </a:accent5>
        <a:accent6>
          <a:srgbClr val="8A0000"/>
        </a:accent6>
        <a:hlink>
          <a:srgbClr val="66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国外精美的的PPT模板及图标之二 2">
        <a:dk1>
          <a:srgbClr val="29698D"/>
        </a:dk1>
        <a:lt1>
          <a:srgbClr val="FFFFFF"/>
        </a:lt1>
        <a:dk2>
          <a:srgbClr val="000000"/>
        </a:dk2>
        <a:lt2>
          <a:srgbClr val="A1BABD"/>
        </a:lt2>
        <a:accent1>
          <a:srgbClr val="FF5050"/>
        </a:accent1>
        <a:accent2>
          <a:srgbClr val="FF9933"/>
        </a:accent2>
        <a:accent3>
          <a:srgbClr val="FFFFFF"/>
        </a:accent3>
        <a:accent4>
          <a:srgbClr val="215978"/>
        </a:accent4>
        <a:accent5>
          <a:srgbClr val="FFB3B3"/>
        </a:accent5>
        <a:accent6>
          <a:srgbClr val="E78A2D"/>
        </a:accent6>
        <a:hlink>
          <a:srgbClr val="00CC99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国外精美的的PPT模板及图标之二 3">
        <a:dk1>
          <a:srgbClr val="666699"/>
        </a:dk1>
        <a:lt1>
          <a:srgbClr val="FFFFFF"/>
        </a:lt1>
        <a:dk2>
          <a:srgbClr val="000000"/>
        </a:dk2>
        <a:lt2>
          <a:srgbClr val="C0C0C0"/>
        </a:lt2>
        <a:accent1>
          <a:srgbClr val="72B88E"/>
        </a:accent1>
        <a:accent2>
          <a:srgbClr val="C78DD7"/>
        </a:accent2>
        <a:accent3>
          <a:srgbClr val="FFFFFF"/>
        </a:accent3>
        <a:accent4>
          <a:srgbClr val="565682"/>
        </a:accent4>
        <a:accent5>
          <a:srgbClr val="BCD8C6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 Template</Template>
  <TotalTime>2617</TotalTime>
  <Words>9853</Words>
  <Application>Microsoft Office PowerPoint</Application>
  <PresentationFormat>全屏显示(4:3)</PresentationFormat>
  <Paragraphs>1444</Paragraphs>
  <Slides>76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76</vt:i4>
      </vt:variant>
    </vt:vector>
  </HeadingPairs>
  <TitlesOfParts>
    <vt:vector size="89" baseType="lpstr">
      <vt:lpstr>等线</vt:lpstr>
      <vt:lpstr>黑体</vt:lpstr>
      <vt:lpstr>华文楷体</vt:lpstr>
      <vt:lpstr>楷体_GB2312</vt:lpstr>
      <vt:lpstr>宋体</vt:lpstr>
      <vt:lpstr>Arial</vt:lpstr>
      <vt:lpstr>Cambria Math</vt:lpstr>
      <vt:lpstr>Lucida Sans Unicode</vt:lpstr>
      <vt:lpstr>Symbol</vt:lpstr>
      <vt:lpstr>Times New Roman</vt:lpstr>
      <vt:lpstr>Verdana</vt:lpstr>
      <vt:lpstr>Wingdings</vt:lpstr>
      <vt:lpstr>国外精美的的PPT模板及图标之二</vt:lpstr>
      <vt:lpstr>第九章 排序</vt:lpstr>
      <vt:lpstr>9.1 基本概念与术语</vt:lpstr>
      <vt:lpstr>PowerPoint 演示文稿</vt:lpstr>
      <vt:lpstr>PowerPoint 演示文稿</vt:lpstr>
      <vt:lpstr>PowerPoint 演示文稿</vt:lpstr>
      <vt:lpstr>PowerPoint 演示文稿</vt:lpstr>
      <vt:lpstr>9.2 插入排序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9.3 交换排序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9.4 选择排序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9.5 归并排序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9.7 基数排序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9.7 各种内部排序算法的比较</vt:lpstr>
      <vt:lpstr>PowerPoint 演示文稿</vt:lpstr>
      <vt:lpstr>PowerPoint 演示文稿</vt:lpstr>
      <vt:lpstr>PowerPoint 演示文稿</vt:lpstr>
      <vt:lpstr>PowerPoint 演示文稿</vt:lpstr>
      <vt:lpstr>作业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sunnylife</dc:creator>
  <cp:lastModifiedBy>sunnylife</cp:lastModifiedBy>
  <cp:revision>370</cp:revision>
  <cp:lastPrinted>1601-01-01T00:00:00Z</cp:lastPrinted>
  <dcterms:created xsi:type="dcterms:W3CDTF">1601-01-01T00:00:00Z</dcterms:created>
  <dcterms:modified xsi:type="dcterms:W3CDTF">2024-12-26T02:15:10Z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